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Adding New Cycle or Mission Profile</a:t>
            </a:r>
          </a:p>
          <a:p>
            <a:r>
              <a:t>for Vehicle Types in BharatVECTO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Process Guide with System Architecture and Impact Analysis</a:t>
            </a:r>
          </a:p>
          <a:p/>
          <a:p>
            <a:r>
              <a:t>VECTO Development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BharatVECTO?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VECTO: Vehicle Energy Consumption Calculation TOol</a:t>
            </a:r>
          </a:p>
          <a:p>
            <a:pPr>
              <a:defRPr sz="1800"/>
            </a:pPr>
            <a:r>
              <a:t>Official EU vehicle simulator for Heavy Duty Vehicles (HDVs)</a:t>
            </a:r>
          </a:p>
          <a:p>
            <a:pPr>
              <a:defRPr sz="1800"/>
            </a:pPr>
            <a:r>
              <a:t>Certifies CO₂ emissions and fuel consumption</a:t>
            </a:r>
          </a:p>
          <a:p>
            <a:pPr>
              <a:defRPr sz="1800"/>
            </a:pPr>
            <a:r>
              <a:t>Mandatory for trucks since January 2019 (EU Regulation 2017/2400)</a:t>
            </a:r>
          </a:p>
          <a:p>
            <a:pPr>
              <a:defRPr sz="1800"/>
            </a:pPr>
            <a:r>
              <a:t>Uses standardized driving cycles to simulate real-world conditions</a:t>
            </a:r>
          </a:p>
          <a:p>
            <a:pPr>
              <a:defRPr sz="1800"/>
            </a:pPr>
            <a:r>
              <a:t>Written in C# / .NET Framework 4.5+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Driving Cycles &amp; Mission Profiles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Driving Cycle: Standardized speed-time or speed-distance profile</a:t>
            </a:r>
          </a:p>
          <a:p>
            <a:pPr>
              <a:defRPr sz="1800"/>
            </a:pPr>
            <a:r>
              <a:t>Represents typical vehicle operation patterns</a:t>
            </a:r>
          </a:p>
          <a:p>
            <a:pPr>
              <a:defRPr sz="1800"/>
            </a:pPr>
            <a:r>
              <a:t>Mission Profile: Operational scenario for specific vehicle use cases</a:t>
            </a:r>
          </a:p>
          <a:p>
            <a:pPr>
              <a:defRPr sz="1800"/>
            </a:pPr>
            <a:r>
              <a:t>Components: Speed, gradient, distance, stopping times, auxiliary loads</a:t>
            </a:r>
          </a:p>
          <a:p>
            <a:pPr>
              <a:defRPr sz="1800"/>
            </a:pPr>
            <a:r>
              <a:t>Purpose: Ensure consistent, reproducible testing for regulatory compliance</a:t>
            </a:r>
          </a:p>
          <a:p>
            <a:pPr>
              <a:defRPr sz="1800"/>
            </a:pPr>
            <a:r>
              <a:t>Different vehicle types and missions use different cycles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Mission Types in VECTO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TRUCK MISSIONS:</a:t>
            </a:r>
          </a:p>
          <a:p>
            <a:pPr>
              <a:defRPr sz="1600"/>
            </a:pPr>
            <a:r>
              <a:t>• LongHaul - Long-distance freight</a:t>
            </a:r>
          </a:p>
          <a:p>
            <a:pPr>
              <a:defRPr sz="1600"/>
            </a:pPr>
            <a:r>
              <a:t>• RegionalDelivery - Regional distribution</a:t>
            </a:r>
          </a:p>
          <a:p>
            <a:pPr>
              <a:defRPr sz="1600"/>
            </a:pPr>
            <a:r>
              <a:t>• UrbanDelivery - City delivery</a:t>
            </a:r>
          </a:p>
          <a:p>
            <a:pPr>
              <a:defRPr sz="1600"/>
            </a:pPr>
            <a:r>
              <a:t>• MunicipalUtility - Municipal services</a:t>
            </a:r>
          </a:p>
          <a:p>
            <a:pPr>
              <a:defRPr sz="1600"/>
            </a:pPr>
            <a:r>
              <a:t>• Construction - Construction 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BUS/COACH MISSIONS:</a:t>
            </a:r>
          </a:p>
          <a:p>
            <a:pPr>
              <a:defRPr sz="1600"/>
            </a:pPr>
            <a:r>
              <a:t>• HeavyUrban - Dense city routes</a:t>
            </a:r>
          </a:p>
          <a:p>
            <a:pPr>
              <a:defRPr sz="1600"/>
            </a:pPr>
            <a:r>
              <a:t>• Urban - City bus operations</a:t>
            </a:r>
          </a:p>
          <a:p>
            <a:pPr>
              <a:defRPr sz="1600"/>
            </a:pPr>
            <a:r>
              <a:t>• Suburban - Suburban routes</a:t>
            </a:r>
          </a:p>
          <a:p>
            <a:pPr>
              <a:defRPr sz="1600"/>
            </a:pPr>
            <a:r>
              <a:t>• Interurban - Inter-city connections</a:t>
            </a:r>
          </a:p>
          <a:p>
            <a:pPr>
              <a:defRPr sz="1600"/>
            </a:pPr>
            <a:r>
              <a:t>• Coach - Long-distance services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System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400"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┌──────────────────────────────────────────────────────┐</a:t>
            </a:r>
            <a:br/>
            <a:r>
              <a:t>│            VECTO Application (GUI/Console)            │</a:t>
            </a:r>
            <a:br/>
            <a:r>
              <a:t>└─────────────────────┬────────────────────────────────┘</a:t>
            </a:r>
            <a:br/>
            <a:r>
              <a:t>                      │</a:t>
            </a:r>
            <a:br/>
            <a:r>
              <a:t>                      ▼</a:t>
            </a:r>
            <a:br/>
            <a:r>
              <a:t>┌──────────────────────────────────────────────────────┐</a:t>
            </a:r>
            <a:br/>
            <a:r>
              <a:t>│          VectoRunDataFactoryFactory                   │</a:t>
            </a:r>
            <a:br/>
            <a:r>
              <a:t>│   (Routes to appropriate factory based on vehicle)    │</a:t>
            </a:r>
            <a:br/>
            <a:r>
              <a:t>└─────────────────────┬────────────────────────────────┘</a:t>
            </a:r>
            <a:br/>
            <a:r>
              <a:t>                      │</a:t>
            </a:r>
            <a:br/>
            <a:r>
              <a:t>        ┌─────────────┴─────────────┐</a:t>
            </a:r>
            <a:br/>
            <a:r>
              <a:t>        ▼                           ▼</a:t>
            </a:r>
            <a:br/>
            <a:r>
              <a:t>┌───────────────────┐     ┌───────────────────────────┐</a:t>
            </a:r>
            <a:br/>
            <a:r>
              <a:t>│ Declaration Mode  │     │ Engineering Mode Factory  │</a:t>
            </a:r>
            <a:br/>
            <a:r>
              <a:t>│ Factory           │     │                           │</a:t>
            </a:r>
            <a:br/>
            <a:r>
              <a:t>└────────┬──────────┘     └───────────────────────────┘</a:t>
            </a:r>
            <a:br/>
            <a:r>
              <a:t>         │</a:t>
            </a:r>
            <a:br/>
            <a:r>
              <a:t>         ▼</a:t>
            </a:r>
            <a:br/>
            <a:r>
              <a:t>┌──────────────────────────────────────────────────────┐</a:t>
            </a:r>
            <a:br/>
            <a:r>
              <a:t>│        DeclarationCycleFactory                        │</a:t>
            </a:r>
            <a:br/>
            <a:r>
              <a:t>│  (Retrieves default cycles from embedded resources)   │</a:t>
            </a:r>
            <a:br/>
            <a:r>
              <a:t>└─────────────────────┬────────────────────────────────┘</a:t>
            </a:r>
            <a:br/>
            <a:r>
              <a:t>                      │</a:t>
            </a:r>
            <a:br/>
            <a:r>
              <a:t>                      ▼</a:t>
            </a:r>
            <a:br/>
            <a:r>
              <a:t>┌──────────────────────────────────────────────────────┐</a:t>
            </a:r>
            <a:br/>
            <a:r>
              <a:t>│   Embedded Mission Cycle Resources (.vdri files)     │</a:t>
            </a:r>
            <a:br/>
            <a:r>
              <a:t>│   VectoCore/Resources/Declaration/MissionCycles/     │</a:t>
            </a:r>
            <a:br/>
            <a:r>
              <a:t>└──────────────────────────────────────────────────────┘</a:t>
            </a:r>
            <a:b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Components &amp; Their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DeclarationCycleFactory: Retrieves default cycles, caches for performance</a:t>
            </a:r>
          </a:p>
          <a:p>
            <a:pPr>
              <a:defRPr sz="1800"/>
            </a:pPr>
            <a:r>
              <a:t>2. DrivingCycleDataReader: Parses .vdri files, auto-detects cycle type</a:t>
            </a:r>
          </a:p>
          <a:p>
            <a:pPr>
              <a:defRPr sz="1800"/>
            </a:pPr>
            <a:r>
              <a:t>3. VectoRunDataFactoryFactory: Factory pattern routing to vehicle-specific factories</a:t>
            </a:r>
          </a:p>
          <a:p>
            <a:pPr>
              <a:defRPr sz="1800"/>
            </a:pPr>
            <a:r>
              <a:t>4. Mission.cs: Defines mission properties (loads, passengers, trailers)</a:t>
            </a:r>
          </a:p>
          <a:p>
            <a:pPr>
              <a:defRPr sz="1800"/>
            </a:pPr>
            <a:r>
              <a:t>5. MissionType enum: Defines all available mission types</a:t>
            </a:r>
          </a:p>
          <a:p>
            <a:pPr>
              <a:defRPr sz="1800"/>
            </a:pPr>
            <a:r>
              <a:t>6. Embedded Resources: Cycle files stored as embedded resources in assembly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Overview: Adding a New Cycle (8 Steps)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Step 1: Define cycle parameters and mission requirements</a:t>
            </a:r>
          </a:p>
          <a:p>
            <a:pPr>
              <a:defRPr sz="1800"/>
            </a:pPr>
            <a:r>
              <a:t>Step 2: Create cycle file (.vdri format) with proper headers</a:t>
            </a:r>
          </a:p>
          <a:p>
            <a:pPr>
              <a:defRPr sz="1800"/>
            </a:pPr>
            <a:r>
              <a:t>Step 3: Embed resource or add to file system</a:t>
            </a:r>
          </a:p>
          <a:p>
            <a:pPr>
              <a:defRPr sz="1800"/>
            </a:pPr>
            <a:r>
              <a:t>Step 4: Update factory classes (if adding new mission type)</a:t>
            </a:r>
          </a:p>
          <a:p>
            <a:pPr>
              <a:defRPr sz="1800"/>
            </a:pPr>
            <a:r>
              <a:t>Step 5: Write comprehensive unit tests</a:t>
            </a:r>
          </a:p>
          <a:p>
            <a:pPr>
              <a:defRPr sz="1800"/>
            </a:pPr>
            <a:r>
              <a:t>Step 6: Run integration tests with generic vehicles</a:t>
            </a:r>
          </a:p>
          <a:p>
            <a:pPr>
              <a:defRPr sz="1800"/>
            </a:pPr>
            <a:r>
              <a:t>Step 7: Validate results against specifications</a:t>
            </a:r>
          </a:p>
          <a:p>
            <a:pPr>
              <a:defRPr sz="1800"/>
            </a:pPr>
            <a:r>
              <a:t>Step 8: Deploy with documentation and release notes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Steps 1-2: Define &amp; Create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400">
                <a:latin typeface="Courier New"/>
              </a:defRPr>
            </a:pPr>
            <a:r>
              <a:t>Step 1: Define Parameters</a:t>
            </a:r>
            <a:br/>
            <a:r>
              <a:t>• Cycle Type: DistanceBased, EngineOnly, MeasuredSpeed, VTP, PTO</a:t>
            </a:r>
            <a:br/>
            <a:r>
              <a:t>• Mission Type: Choose from existing or create new</a:t>
            </a:r>
            <a:br/>
            <a:r>
              <a:t>• Data Requirements: speed, gradient, distance, stops</a:t>
            </a:r>
            <a:br/>
            <a:r>
              <a:t>• Regulatory compliance requirements</a:t>
            </a:r>
            <a:br/>
            <a:br/>
            <a:r>
              <a:t>Step 2: Create Cycle File (.vdri)</a:t>
            </a:r>
            <a:br/>
            <a:r>
              <a:t>Example Distance-Based format:</a:t>
            </a:r>
            <a:br/>
            <a:r>
              <a:t>&lt;s&gt;,&lt;v&gt;,&lt;grad&gt;,&lt;stop&gt;</a:t>
            </a:r>
            <a:br/>
            <a:r>
              <a:t>0,0,0,10</a:t>
            </a:r>
            <a:br/>
            <a:r>
              <a:t>100,30,0,0</a:t>
            </a:r>
            <a:br/>
            <a:r>
              <a:t>500,50,0.005,0</a:t>
            </a:r>
            <a:br/>
            <a:r>
              <a:t>1000,70,0.01,0</a:t>
            </a:r>
            <a:br/>
            <a:r>
              <a:t>1500,0,0,15</a:t>
            </a:r>
            <a:br/>
            <a:br/>
            <a:r>
              <a:t>Headers: &lt;s&gt;=distance(m), &lt;v&gt;=speed(km/h), </a:t>
            </a:r>
            <a:br/>
            <a:r>
              <a:t>         &lt;grad&gt;=gradient(rad), &lt;stop&gt;=stop time(s)</a:t>
            </a:r>
            <a:b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Steps 3-4: Embedding Resource &amp; Updating Factory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Step 3 - Embed as Resource:</a:t>
            </a:r>
          </a:p>
          <a:p>
            <a:pPr>
              <a:defRPr sz="1800"/>
            </a:pPr>
            <a:r>
              <a:t>• Add file to: VectoCore/Resources/Declaration/MissionCycles/</a:t>
            </a:r>
          </a:p>
          <a:p>
            <a:pPr>
              <a:defRPr sz="1800"/>
            </a:pPr>
            <a:r>
              <a:t>• Set Build Action to 'Embedded Resource' in Visual Studio</a:t>
            </a:r>
          </a:p>
          <a:p>
            <a:pPr>
              <a:defRPr sz="1800"/>
            </a:pPr>
            <a:r>
              <a:t>• Naming: {MissionType}.vdri (e.g., LongHaul.vdri)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Step 4 - Update Factory (if NEW mission type):</a:t>
            </a:r>
          </a:p>
          <a:p>
            <a:pPr>
              <a:defRPr sz="1800"/>
            </a:pPr>
            <a:r>
              <a:t>• Update MissionType enum in VectoCommon/Models/</a:t>
            </a:r>
          </a:p>
          <a:p>
            <a:pPr>
              <a:defRPr sz="1800"/>
            </a:pPr>
            <a:r>
              <a:t>• Update MissionTypeHelper with display name</a:t>
            </a:r>
          </a:p>
          <a:p>
            <a:pPr>
              <a:defRPr sz="1800"/>
            </a:pPr>
            <a:r>
              <a:t>• DeclarationCycleFactory auto-detects by convention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Cascading Effects: Code Changes Required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Primary Changes:</a:t>
            </a:r>
          </a:p>
          <a:p>
            <a:pPr>
              <a:defRPr sz="1800"/>
            </a:pPr>
            <a:r>
              <a:t>• MissionType enum addition triggers compilation across entire solution</a:t>
            </a:r>
          </a:p>
          <a:p>
            <a:pPr>
              <a:defRPr sz="1800"/>
            </a:pPr>
            <a:r>
              <a:t>• All switch statements on MissionType need updating (compiler enforced)</a:t>
            </a:r>
          </a:p>
          <a:p>
            <a:pPr>
              <a:defRPr sz="1800"/>
            </a:pPr>
            <a:r>
              <a:t>• Factory methods must handle new mission type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Secondary Effects:</a:t>
            </a:r>
          </a:p>
          <a:p>
            <a:pPr>
              <a:defRPr sz="1800"/>
            </a:pPr>
            <a:r>
              <a:t>• GUI components: dropdown lists, mission selection dialogs</a:t>
            </a:r>
          </a:p>
          <a:p>
            <a:pPr>
              <a:defRPr sz="1800"/>
            </a:pPr>
            <a:r>
              <a:t>• Report generators: need to format new mission results</a:t>
            </a:r>
          </a:p>
          <a:p>
            <a:pPr>
              <a:defRPr sz="1800"/>
            </a:pPr>
            <a:r>
              <a:t>• Validation logic: weighting factors, load combinations</a:t>
            </a:r>
          </a:p>
          <a:p>
            <a:pPr>
              <a:defRPr sz="1800"/>
            </a:pPr>
            <a:r>
              <a:t>• XML serialization/deserialization schemas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Integration with Simulation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400">
                <a:latin typeface="Courier New"/>
              </a:defRPr>
            </a:pPr>
            <a:r>
              <a:t>Cycle Integration with Simulation Pipeline:</a:t>
            </a:r>
            <a:br/>
            <a:br/>
            <a:r>
              <a:t>┌──────────────┐    ┌──────────────────┐    ┌─────────────┐</a:t>
            </a:r>
            <a:br/>
            <a:r>
              <a:t>│ Cycle File   │───&gt;│ DrivingCycleData │───&gt;│ Simulation  │</a:t>
            </a:r>
            <a:br/>
            <a:r>
              <a:t>│ (.vdri)      │    │ Object           │    │ Engine      │</a:t>
            </a:r>
            <a:br/>
            <a:r>
              <a:t>└──────────────┘    └──────────────────┘    └──────┬──────┘</a:t>
            </a:r>
            <a:br/>
            <a:r>
              <a:t>                                                    │</a:t>
            </a:r>
            <a:br/>
            <a:r>
              <a:t>         ┌──────────────────────────────────────────┘</a:t>
            </a:r>
            <a:br/>
            <a:r>
              <a:t>         │</a:t>
            </a:r>
            <a:br/>
            <a:r>
              <a:t>         ▼</a:t>
            </a:r>
            <a:br/>
            <a:r>
              <a:t>    ┌────────────────────────────────────────────────────┐</a:t>
            </a:r>
            <a:br/>
            <a:r>
              <a:t>    │ Simulation Components:                             │</a:t>
            </a:r>
            <a:br/>
            <a:r>
              <a:t>    │  • PowertrainBuilder: configures powertrain        │</a:t>
            </a:r>
            <a:br/>
            <a:r>
              <a:t>    │  • VehicleModel: applies vehicle parameters        │</a:t>
            </a:r>
            <a:br/>
            <a:r>
              <a:t>    │  • EngineModel: processes speed/load from cycle    │</a:t>
            </a:r>
            <a:br/>
            <a:r>
              <a:t>    │  • TransmissionModel: gear selection per cycle pt  │</a:t>
            </a:r>
            <a:br/>
            <a:r>
              <a:t>    │  • AuxiliaryModel: auxiliary loads from cycle      │</a:t>
            </a:r>
            <a:br/>
            <a:r>
              <a:t>    │  • ResultCalculator: computes CO2, fuel, energy    │</a:t>
            </a:r>
            <a:br/>
            <a:r>
              <a:t>    └────────────────────────────────────────────────────┘</a:t>
            </a:r>
            <a:b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6: Integration Testing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Test Categories:</a:t>
            </a:r>
          </a:p>
          <a:p>
            <a:pPr>
              <a:defRPr sz="1800"/>
            </a:pPr>
            <a:r>
              <a:t>• Unit Tests: Cycle file parsing, header detection, data validation</a:t>
            </a:r>
          </a:p>
          <a:p>
            <a:pPr>
              <a:defRPr sz="1800"/>
            </a:pPr>
            <a:r>
              <a:t>• Factory Tests: Cycle retrieval, caching, multiple mission handling</a:t>
            </a:r>
          </a:p>
          <a:p>
            <a:pPr>
              <a:defRPr sz="1800"/>
            </a:pPr>
            <a:r>
              <a:t>• Integration Tests: Full simulation runs with generic vehicles</a:t>
            </a:r>
          </a:p>
          <a:p>
            <a:pPr>
              <a:defRPr sz="1800"/>
            </a:pPr>
            <a:r>
              <a:t>• Regression Tests: Ensure existing cycles remain unaffected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Testing Tools:</a:t>
            </a:r>
          </a:p>
          <a:p>
            <a:pPr>
              <a:defRPr sz="1800"/>
            </a:pPr>
            <a:r>
              <a:t>• NUnit framework for unit and integration tests</a:t>
            </a:r>
          </a:p>
          <a:p>
            <a:pPr>
              <a:defRPr sz="1800"/>
            </a:pPr>
            <a:r>
              <a:t>• VECTO GUI for manual validation</a:t>
            </a:r>
          </a:p>
          <a:p>
            <a:pPr>
              <a:defRPr sz="1800"/>
            </a:pPr>
            <a:r>
              <a:t>• Generic vehicle files in 'Generic Vehicles/Declaration Mode/'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7: Validation &amp; Impact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Physical Validation:</a:t>
            </a:r>
          </a:p>
          <a:p>
            <a:pPr>
              <a:defRPr sz="1800"/>
            </a:pPr>
            <a:r>
              <a:t>• Speed values achievable for vehicle type</a:t>
            </a:r>
          </a:p>
          <a:p>
            <a:pPr>
              <a:defRPr sz="1800"/>
            </a:pPr>
            <a:r>
              <a:t>• Gradient values within realistic ranges (-10% to +10%)</a:t>
            </a:r>
          </a:p>
          <a:p>
            <a:pPr>
              <a:defRPr sz="1800"/>
            </a:pPr>
            <a:r>
              <a:t>• Energy balance correctness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Regulatory Compliance:</a:t>
            </a:r>
          </a:p>
          <a:p>
            <a:pPr>
              <a:defRPr sz="1800"/>
            </a:pPr>
            <a:r>
              <a:t>• Meets EU certification requirements</a:t>
            </a:r>
          </a:p>
          <a:p>
            <a:pPr>
              <a:defRPr sz="1800"/>
            </a:pPr>
            <a:r>
              <a:t>• Proper documentation and audit trail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Impact Assessment:</a:t>
            </a:r>
          </a:p>
          <a:p>
            <a:pPr>
              <a:defRPr sz="1800"/>
            </a:pPr>
            <a:r>
              <a:t>• Backwards compatibility with existing vehicles</a:t>
            </a:r>
          </a:p>
          <a:p>
            <a:pPr>
              <a:defRPr sz="1800"/>
            </a:pPr>
            <a:r>
              <a:t>• Performance impact on simulation runtime</a:t>
            </a:r>
          </a:p>
          <a:p>
            <a:pPr>
              <a:defRPr sz="1800"/>
            </a:pPr>
            <a:r>
              <a:t>• Changes to result file formats (.vres, .vsum)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Cascading Effects: Potential Impacts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CODE IMPACTS:</a:t>
            </a:r>
          </a:p>
          <a:p>
            <a:pPr>
              <a:defRPr sz="1600"/>
            </a:pPr>
            <a:r>
              <a:t>• Enum additions require recompilation</a:t>
            </a:r>
          </a:p>
          <a:p>
            <a:pPr>
              <a:defRPr sz="1600"/>
            </a:pPr>
            <a:r>
              <a:t>• Switch statement updates</a:t>
            </a:r>
          </a:p>
          <a:p>
            <a:pPr>
              <a:defRPr sz="1600"/>
            </a:pPr>
            <a:r>
              <a:t>• GUI updates for new missions</a:t>
            </a:r>
          </a:p>
          <a:p>
            <a:pPr>
              <a:defRPr sz="1600"/>
            </a:pPr>
            <a:r>
              <a:t>• XML schema changes</a:t>
            </a:r>
          </a:p>
          <a:p>
            <a:pPr>
              <a:defRPr sz="1600"/>
            </a:pPr>
            <a:r>
              <a:t>• Report template updates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DATA IMPACTS:</a:t>
            </a:r>
          </a:p>
          <a:p>
            <a:pPr>
              <a:defRPr sz="1600"/>
            </a:pPr>
            <a:r>
              <a:t>• New embedded resources</a:t>
            </a:r>
          </a:p>
          <a:p>
            <a:pPr>
              <a:defRPr sz="1600"/>
            </a:pPr>
            <a:r>
              <a:t>• Assembly size increase</a:t>
            </a:r>
          </a:p>
          <a:p>
            <a:pPr>
              <a:defRPr sz="1600"/>
            </a:pPr>
            <a:r>
              <a:t>• Cache initialization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TESTING IMPACTS:</a:t>
            </a:r>
          </a:p>
          <a:p>
            <a:pPr>
              <a:defRPr sz="1600"/>
            </a:pPr>
            <a:r>
              <a:t>• All affected tests must pass</a:t>
            </a:r>
          </a:p>
          <a:p>
            <a:pPr>
              <a:defRPr sz="1600"/>
            </a:pPr>
            <a:r>
              <a:t>• New test cases required</a:t>
            </a:r>
          </a:p>
          <a:p>
            <a:pPr>
              <a:defRPr sz="1600"/>
            </a:pPr>
            <a:r>
              <a:t>• Generic vehicle updates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DEPLOYMENT IMPACTS:</a:t>
            </a:r>
          </a:p>
          <a:p>
            <a:pPr>
              <a:defRPr sz="1600"/>
            </a:pPr>
            <a:r>
              <a:t>• Version number update</a:t>
            </a:r>
          </a:p>
          <a:p>
            <a:pPr>
              <a:defRPr sz="1600"/>
            </a:pPr>
            <a:r>
              <a:t>• Release notes documentation</a:t>
            </a:r>
          </a:p>
          <a:p>
            <a:pPr>
              <a:defRPr sz="1600"/>
            </a:pPr>
            <a:r>
              <a:t>• User manual updates</a:t>
            </a:r>
          </a:p>
          <a:p>
            <a:pPr>
              <a:defRPr sz="1600"/>
            </a:pPr>
            <a:r>
              <a:t>• Training material revisions</a:t>
            </a:r>
          </a:p>
          <a:p>
            <a:pPr>
              <a:defRPr sz="1600"/>
            </a:pPr>
            <a:r>
              <a:t>• Stakeholder communication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 &amp; Common Pitfalls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DO:</a:t>
            </a:r>
          </a:p>
          <a:p>
            <a:pPr>
              <a:defRPr sz="1800"/>
            </a:pPr>
            <a:r>
              <a:t>✓ Validate cycle data thoroughly before embedding</a:t>
            </a:r>
          </a:p>
          <a:p>
            <a:pPr>
              <a:defRPr sz="1800"/>
            </a:pPr>
            <a:r>
              <a:t>✓ Write comprehensive unit tests for all changes</a:t>
            </a:r>
          </a:p>
          <a:p>
            <a:pPr>
              <a:defRPr sz="1800"/>
            </a:pPr>
            <a:r>
              <a:t>✓ Document changes in code comments and guides</a:t>
            </a:r>
          </a:p>
          <a:p>
            <a:pPr>
              <a:defRPr sz="1800"/>
            </a:pPr>
            <a:r>
              <a:t>✓ Test with multiple vehicle configurations</a:t>
            </a:r>
          </a:p>
          <a:p>
            <a:pPr>
              <a:defRPr sz="1800"/>
            </a:pPr>
            <a:r>
              <a:t>✓ Use version control and code reviews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DON'T:</a:t>
            </a:r>
          </a:p>
          <a:p>
            <a:pPr>
              <a:defRPr sz="1800"/>
            </a:pPr>
            <a:r>
              <a:t>✗ Skip validation or testing steps</a:t>
            </a:r>
          </a:p>
          <a:p>
            <a:pPr>
              <a:defRPr sz="1800"/>
            </a:pPr>
            <a:r>
              <a:t>✗ Break backwards compatibility without documentation</a:t>
            </a:r>
          </a:p>
          <a:p>
            <a:pPr>
              <a:defRPr sz="1800"/>
            </a:pPr>
            <a:r>
              <a:t>✗ Use unrealistic speed or gradient values</a:t>
            </a:r>
          </a:p>
          <a:p>
            <a:pPr>
              <a:defRPr sz="1800"/>
            </a:pPr>
            <a:r>
              <a:t>✗ Forget to update MissionTypeHelper for display names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Troubleshooting Common Issues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400">
                <a:latin typeface="Courier New"/>
              </a:defRPr>
            </a:pPr>
            <a:r>
              <a:t>Common Issues and Solutions:</a:t>
            </a:r>
            <a:br/>
            <a:br/>
            <a:r>
              <a:t>Issue: Resource not found exception</a:t>
            </a:r>
            <a:br/>
            <a:r>
              <a:t>Solution: Verify Build Action = "Embedded Resource" and </a:t>
            </a:r>
            <a:br/>
            <a:r>
              <a:t>          correct resource naming convention</a:t>
            </a:r>
            <a:br/>
            <a:br/>
            <a:r>
              <a:t>Issue: Cycle type detection fails</a:t>
            </a:r>
            <a:br/>
            <a:r>
              <a:t>Solution: Check header format uses angle brackets: &lt;s&gt;,&lt;v&gt;</a:t>
            </a:r>
            <a:br/>
            <a:r>
              <a:t>          Ensure headers are case-insensitive</a:t>
            </a:r>
            <a:br/>
            <a:br/>
            <a:r>
              <a:t>Issue: Validation errors during parsing</a:t>
            </a:r>
            <a:br/>
            <a:r>
              <a:t>Solution: Verify monotonic distance/time values</a:t>
            </a:r>
            <a:br/>
            <a:r>
              <a:t>          Check for realistic speed/gradient ranges</a:t>
            </a:r>
            <a:br/>
            <a:br/>
            <a:r>
              <a:t>Issue: Factory returns null for new mission</a:t>
            </a:r>
            <a:br/>
            <a:r>
              <a:t>Solution: Ensure MissionType enum updated and .vdri file</a:t>
            </a:r>
            <a:br/>
            <a:r>
              <a:t>          named exactly as enum value (case-sensitive)</a:t>
            </a:r>
            <a:br/>
            <a:br/>
            <a:r>
              <a:t>Issue: Integration tests fail</a:t>
            </a:r>
            <a:br/>
            <a:r>
              <a:t>Solution: Check generic vehicle compatibility</a:t>
            </a:r>
            <a:br/>
            <a:r>
              <a:t>          Verify all simulation components initialized</a:t>
            </a:r>
            <a:b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File Locations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400">
                <a:latin typeface="Courier New"/>
              </a:defRPr>
            </a:pPr>
            <a:r>
              <a:t>Key File Locations:</a:t>
            </a:r>
            <a:br/>
            <a:br/>
            <a:r>
              <a:t>Component                    Path</a:t>
            </a:r>
            <a:br/>
            <a:r>
              <a:t>─────────────────────────────────────────────────────────</a:t>
            </a:r>
            <a:br/>
            <a:r>
              <a:t>Cycle Factory               VectoCore/Models/Declaration/</a:t>
            </a:r>
            <a:br/>
            <a:r>
              <a:t>                            IDeclarationCycleFactory.cs</a:t>
            </a:r>
            <a:br/>
            <a:br/>
            <a:r>
              <a:t>Mission Type Enum           VectoCommon/Models/</a:t>
            </a:r>
            <a:br/>
            <a:r>
              <a:t>                            MissionType.cs</a:t>
            </a:r>
            <a:br/>
            <a:br/>
            <a:r>
              <a:t>Cycle Data Model            VectoCore/Models/SimulationComponent/</a:t>
            </a:r>
            <a:br/>
            <a:r>
              <a:t>                            Data/DrivingCycleData.cs</a:t>
            </a:r>
            <a:br/>
            <a:br/>
            <a:r>
              <a:t>Cycle Reader                VectoCore/InputData/Reader/ComponentData/</a:t>
            </a:r>
            <a:br/>
            <a:r>
              <a:t>                            DrivingCycleDataReader.cs</a:t>
            </a:r>
            <a:br/>
            <a:br/>
            <a:r>
              <a:t>Embedded Resources          VectoCore/Resources/Declaration/</a:t>
            </a:r>
            <a:br/>
            <a:r>
              <a:t>                            MissionCycles/*.vdri</a:t>
            </a:r>
            <a:br/>
            <a:br/>
            <a:r>
              <a:t>Unit Tests                  Testing/UnitTests/Vecto UnitTests/</a:t>
            </a:r>
            <a:br/>
            <a:r>
              <a:t>                            TestCases/ComponentReader/</a:t>
            </a:r>
            <a:br/>
            <a:br/>
            <a:r>
              <a:t>Integration Tests           Testing/IntegrationTests/</a:t>
            </a:r>
            <a:br/>
            <a:r>
              <a:t>                            VECTO IntegrationTests/</a:t>
            </a:r>
            <a:br/>
            <a:br/>
            <a:r>
              <a:t>Generic Vehicles            Generic Vehicles/Declaration Mode/</a:t>
            </a:r>
            <a:b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8: Deployment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Pre-Deployment Checklist:</a:t>
            </a:r>
          </a:p>
          <a:p>
            <a:pPr>
              <a:defRPr sz="1800"/>
            </a:pPr>
            <a:r>
              <a:t>☐ All unit tests passing (100%)</a:t>
            </a:r>
          </a:p>
          <a:p>
            <a:pPr>
              <a:defRPr sz="1800"/>
            </a:pPr>
            <a:r>
              <a:t>☐ Integration tests completed successfully</a:t>
            </a:r>
          </a:p>
          <a:p>
            <a:pPr>
              <a:defRPr sz="1800"/>
            </a:pPr>
            <a:r>
              <a:t>☐ Code review approved</a:t>
            </a:r>
          </a:p>
          <a:p>
            <a:pPr>
              <a:defRPr sz="1800"/>
            </a:pPr>
            <a:r>
              <a:t>☐ Documentation updated (user manual, developer guide)</a:t>
            </a:r>
          </a:p>
          <a:p>
            <a:pPr>
              <a:defRPr sz="1800"/>
            </a:pPr>
            <a:r>
              <a:t>☐ Release notes prepared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Deployment Steps:</a:t>
            </a:r>
          </a:p>
          <a:p>
            <a:pPr>
              <a:defRPr sz="1800"/>
            </a:pPr>
            <a:r>
              <a:t>1. Update version number in assembly info</a:t>
            </a:r>
          </a:p>
          <a:p>
            <a:pPr>
              <a:defRPr sz="1800"/>
            </a:pPr>
            <a:r>
              <a:t>2. Clean rebuild in Release configuration</a:t>
            </a:r>
          </a:p>
          <a:p>
            <a:pPr>
              <a:defRPr sz="1800"/>
            </a:pPr>
            <a:r>
              <a:t>3. Test in staging environment</a:t>
            </a:r>
          </a:p>
          <a:p>
            <a:pPr>
              <a:defRPr sz="1800"/>
            </a:pPr>
            <a:r>
              <a:t>4. Deploy to production</a:t>
            </a:r>
          </a:p>
          <a:p>
            <a:pPr>
              <a:defRPr sz="1800"/>
            </a:pPr>
            <a:r>
              <a:t>5. Communicate changes to users and stakeholders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Summary: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VECTO uses embedded cycle resources for declaration mode missions</a:t>
            </a:r>
          </a:p>
          <a:p>
            <a:pPr>
              <a:defRPr sz="1800"/>
            </a:pPr>
            <a:r>
              <a:t>2. DeclarationCycleFactory retrieves cycles by convention (MissionType name)</a:t>
            </a:r>
          </a:p>
          <a:p>
            <a:pPr>
              <a:defRPr sz="1800"/>
            </a:pPr>
            <a:r>
              <a:t>3. Adding cycles requires updates to multiple system components</a:t>
            </a:r>
          </a:p>
          <a:p>
            <a:pPr>
              <a:defRPr sz="1800"/>
            </a:pPr>
            <a:r>
              <a:t>4. Cascading effects include: enums, factories, GUI, tests, documentation</a:t>
            </a:r>
          </a:p>
          <a:p>
            <a:pPr>
              <a:defRPr sz="1800"/>
            </a:pPr>
            <a:r>
              <a:t>5. Integration testing is critical - test with generic vehicles</a:t>
            </a:r>
          </a:p>
          <a:p>
            <a:pPr>
              <a:defRPr sz="1800"/>
            </a:pPr>
            <a:r>
              <a:t>6. Thorough validation ensures regulatory compliance</a:t>
            </a:r>
          </a:p>
          <a:p>
            <a:pPr>
              <a:defRPr sz="1800"/>
            </a:pPr>
            <a:r>
              <a:t>7. Follow the 8-step process for successful implementation</a:t>
            </a:r>
          </a:p>
          <a:p>
            <a:pPr>
              <a:defRPr sz="1800"/>
            </a:pPr>
            <a:r>
              <a:t>8. Documentation and code reviews are essential for quality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Documentation:</a:t>
            </a:r>
          </a:p>
          <a:p>
            <a:pPr>
              <a:defRPr sz="1800"/>
            </a:pPr>
            <a:r>
              <a:t>• Full Guide: Documentation/Developer Guide/Adding_Updating_Default_Cycle_Guide.md</a:t>
            </a:r>
          </a:p>
          <a:p>
            <a:pPr>
              <a:defRPr sz="1800"/>
            </a:pPr>
            <a:r>
              <a:t>• Quick Reference: Documentation/Developer Guide/Cycle_Addition_Quick_Reference.md</a:t>
            </a:r>
          </a:p>
          <a:p>
            <a:pPr>
              <a:defRPr sz="1800"/>
            </a:pPr>
            <a:r>
              <a:t>• Test Templates: Documentation/Developer Guide/CycleAddition_UnitTest_Template.cs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Support:</a:t>
            </a:r>
          </a:p>
          <a:p>
            <a:pPr>
              <a:defRPr sz="1800"/>
            </a:pPr>
            <a:r>
              <a:t>• Email: JRC-VECTO@ec.europa.eu</a:t>
            </a:r>
          </a:p>
          <a:p>
            <a:pPr>
              <a:defRPr sz="1800"/>
            </a:pPr>
            <a:r>
              <a:t>• Repository: https://code.europa.eu/vecto/vecto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Next Steps:</a:t>
            </a:r>
          </a:p>
          <a:p>
            <a:pPr>
              <a:defRPr sz="1800"/>
            </a:pPr>
            <a:r>
              <a:t>1. Review full documentation guides</a:t>
            </a:r>
          </a:p>
          <a:p>
            <a:pPr>
              <a:defRPr sz="1800"/>
            </a:pPr>
            <a:r>
              <a:t>2. Set up development environment</a:t>
            </a:r>
          </a:p>
          <a:p>
            <a:pPr>
              <a:defRPr sz="1800"/>
            </a:pPr>
            <a:r>
              <a:t>3. Practice with existing cycles before adding new ones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