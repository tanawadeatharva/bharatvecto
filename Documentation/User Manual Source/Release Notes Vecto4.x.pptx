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_rels/slideMaster1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5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media/image1.jpeg" ContentType="image/jpeg"/>
  <Override PartName="/ppt/media/image3.png" ContentType="image/png"/>
  <Override PartName="/ppt/media/image2.png" ContentType="image/png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6.xml.rels" ContentType="application/vnd.openxmlformats-package.relationships+xml"/>
  <Override PartName="/ppt/slides/_rels/slide17.xml.rels" ContentType="application/vnd.openxmlformats-package.relationships+xml"/>
  <Override PartName="/ppt/slides/_rels/slide18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9144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Abschnitts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el und Inhalt (wid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0A200E93-DC05-4B43-854D-3B4925D2428A}" type="slidenum">
              <a:t>&lt;#&gt;</a:t>
            </a:fld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Blank Slide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5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Line 20"/>
          <p:cNvSpPr/>
          <p:nvPr/>
        </p:nvSpPr>
        <p:spPr>
          <a:xfrm>
            <a:off x="0" y="415800"/>
            <a:ext cx="9144000" cy="36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" name="Text Box 24"/>
          <p:cNvSpPr/>
          <p:nvPr/>
        </p:nvSpPr>
        <p:spPr>
          <a:xfrm>
            <a:off x="7996320" y="6599160"/>
            <a:ext cx="92124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914400">
              <a:lnSpc>
                <a:spcPct val="100000"/>
              </a:lnSpc>
              <a:spcBef>
                <a:spcPts val="499"/>
              </a:spcBef>
            </a:pPr>
            <a:fld id="{F2B64004-FE3A-417F-BCB2-3F7EA274CCEF}" type="slidenum">
              <a:rPr b="1" lang="de-AT" sz="1000" spc="-1" strike="noStrike">
                <a:solidFill>
                  <a:srgbClr val="7d7d7d"/>
                </a:solidFill>
                <a:latin typeface="Verdana"/>
                <a:ea typeface="DejaVu Sans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Text Box 30"/>
          <p:cNvSpPr/>
          <p:nvPr/>
        </p:nvSpPr>
        <p:spPr>
          <a:xfrm>
            <a:off x="144360" y="6627960"/>
            <a:ext cx="1878480" cy="21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39600" bIns="45000" anchor="ctr">
            <a:noAutofit/>
          </a:bodyPr>
          <a:p>
            <a:pPr defTabSz="914400">
              <a:lnSpc>
                <a:spcPct val="100000"/>
              </a:lnSpc>
              <a:spcBef>
                <a:spcPts val="550"/>
              </a:spcBef>
            </a:pPr>
            <a:r>
              <a:rPr b="0" lang="en-US" sz="1100" spc="-1" strike="noStrike">
                <a:solidFill>
                  <a:srgbClr val="000000"/>
                </a:solidFill>
                <a:latin typeface="Verdana"/>
                <a:ea typeface="DejaVu Sans"/>
              </a:rPr>
              <a:t>VECTO Release Notes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" name="Picture 2" descr=""/>
          <p:cNvPicPr/>
          <p:nvPr/>
        </p:nvPicPr>
        <p:blipFill>
          <a:blip r:embed="rId2"/>
          <a:stretch/>
        </p:blipFill>
        <p:spPr>
          <a:xfrm>
            <a:off x="7389360" y="37800"/>
            <a:ext cx="1416960" cy="348480"/>
          </a:xfrm>
          <a:prstGeom prst="rect">
            <a:avLst/>
          </a:prstGeom>
          <a:ln w="0">
            <a:noFill/>
          </a:ln>
        </p:spPr>
      </p:pic>
      <p:pic>
        <p:nvPicPr>
          <p:cNvPr id="4" name="Picture 3" descr="I:\raphaelluz\VECTO\source\VECTO\User Manual\pics\VECTO-small.PNG"/>
          <p:cNvPicPr/>
          <p:nvPr/>
        </p:nvPicPr>
        <p:blipFill>
          <a:blip r:embed="rId3"/>
          <a:stretch/>
        </p:blipFill>
        <p:spPr>
          <a:xfrm>
            <a:off x="107640" y="58680"/>
            <a:ext cx="974160" cy="327960"/>
          </a:xfrm>
          <a:prstGeom prst="rect">
            <a:avLst/>
          </a:prstGeom>
          <a:ln w="0">
            <a:noFill/>
          </a:ln>
        </p:spPr>
      </p:pic>
      <p:sp>
        <p:nvSpPr>
          <p:cNvPr id="5" name="Line 20"/>
          <p:cNvSpPr/>
          <p:nvPr/>
        </p:nvSpPr>
        <p:spPr>
          <a:xfrm>
            <a:off x="0" y="6599160"/>
            <a:ext cx="9144000" cy="36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4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Line 20"/>
          <p:cNvSpPr/>
          <p:nvPr/>
        </p:nvSpPr>
        <p:spPr>
          <a:xfrm>
            <a:off x="0" y="415800"/>
            <a:ext cx="9144000" cy="36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9" name="Text Box 24"/>
          <p:cNvSpPr/>
          <p:nvPr/>
        </p:nvSpPr>
        <p:spPr>
          <a:xfrm>
            <a:off x="7996320" y="6599160"/>
            <a:ext cx="92124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914400">
              <a:lnSpc>
                <a:spcPct val="100000"/>
              </a:lnSpc>
              <a:spcBef>
                <a:spcPts val="499"/>
              </a:spcBef>
            </a:pPr>
            <a:fld id="{2554B842-F5D8-4574-8100-46EE5E129F9D}" type="slidenum">
              <a:rPr b="1" lang="de-AT" sz="1000" spc="-1" strike="noStrike">
                <a:solidFill>
                  <a:srgbClr val="7d7d7d"/>
                </a:solidFill>
                <a:latin typeface="Verdana"/>
                <a:ea typeface="DejaVu Sans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Text Box 30"/>
          <p:cNvSpPr/>
          <p:nvPr/>
        </p:nvSpPr>
        <p:spPr>
          <a:xfrm>
            <a:off x="144360" y="6627960"/>
            <a:ext cx="1878480" cy="21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39600" bIns="45000" anchor="ctr">
            <a:noAutofit/>
          </a:bodyPr>
          <a:p>
            <a:pPr defTabSz="914400">
              <a:lnSpc>
                <a:spcPct val="100000"/>
              </a:lnSpc>
              <a:spcBef>
                <a:spcPts val="550"/>
              </a:spcBef>
            </a:pPr>
            <a:r>
              <a:rPr b="0" lang="en-US" sz="1100" spc="-1" strike="noStrike">
                <a:solidFill>
                  <a:srgbClr val="000000"/>
                </a:solidFill>
                <a:latin typeface="Verdana"/>
                <a:ea typeface="DejaVu Sans"/>
              </a:rPr>
              <a:t>VECTO Release Notes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" name="Picture 2" descr=""/>
          <p:cNvPicPr/>
          <p:nvPr/>
        </p:nvPicPr>
        <p:blipFill>
          <a:blip r:embed="rId2"/>
          <a:stretch/>
        </p:blipFill>
        <p:spPr>
          <a:xfrm>
            <a:off x="7389360" y="37800"/>
            <a:ext cx="1416960" cy="348480"/>
          </a:xfrm>
          <a:prstGeom prst="rect">
            <a:avLst/>
          </a:prstGeom>
          <a:ln w="0">
            <a:noFill/>
          </a:ln>
        </p:spPr>
      </p:pic>
      <p:pic>
        <p:nvPicPr>
          <p:cNvPr id="12" name="Picture 3" descr="I:\raphaelluz\VECTO\source\VECTO\User Manual\pics\VECTO-small.PNG"/>
          <p:cNvPicPr/>
          <p:nvPr/>
        </p:nvPicPr>
        <p:blipFill>
          <a:blip r:embed="rId3"/>
          <a:stretch/>
        </p:blipFill>
        <p:spPr>
          <a:xfrm>
            <a:off x="107640" y="58680"/>
            <a:ext cx="974160" cy="327960"/>
          </a:xfrm>
          <a:prstGeom prst="rect">
            <a:avLst/>
          </a:prstGeom>
          <a:ln w="0">
            <a:noFill/>
          </a:ln>
        </p:spPr>
      </p:pic>
      <p:sp>
        <p:nvSpPr>
          <p:cNvPr id="13" name="Line 20"/>
          <p:cNvSpPr/>
          <p:nvPr/>
        </p:nvSpPr>
        <p:spPr>
          <a:xfrm>
            <a:off x="0" y="6599160"/>
            <a:ext cx="9144000" cy="36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4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Line 20"/>
          <p:cNvSpPr/>
          <p:nvPr/>
        </p:nvSpPr>
        <p:spPr>
          <a:xfrm>
            <a:off x="0" y="415800"/>
            <a:ext cx="9144000" cy="36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7" name="Text Box 24"/>
          <p:cNvSpPr/>
          <p:nvPr/>
        </p:nvSpPr>
        <p:spPr>
          <a:xfrm>
            <a:off x="7996320" y="6599160"/>
            <a:ext cx="92124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914400">
              <a:lnSpc>
                <a:spcPct val="100000"/>
              </a:lnSpc>
              <a:spcBef>
                <a:spcPts val="499"/>
              </a:spcBef>
            </a:pPr>
            <a:fld id="{0C6CC2C5-577D-4E12-8584-ED1A1C1C6BCB}" type="slidenum">
              <a:rPr b="1" lang="de-AT" sz="1000" spc="-1" strike="noStrike">
                <a:solidFill>
                  <a:srgbClr val="7d7d7d"/>
                </a:solidFill>
                <a:latin typeface="Verdana"/>
                <a:ea typeface="DejaVu Sans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Text Box 30"/>
          <p:cNvSpPr/>
          <p:nvPr/>
        </p:nvSpPr>
        <p:spPr>
          <a:xfrm>
            <a:off x="144360" y="6627960"/>
            <a:ext cx="1878480" cy="21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39600" bIns="45000" anchor="ctr">
            <a:noAutofit/>
          </a:bodyPr>
          <a:p>
            <a:pPr defTabSz="914400">
              <a:lnSpc>
                <a:spcPct val="100000"/>
              </a:lnSpc>
              <a:spcBef>
                <a:spcPts val="550"/>
              </a:spcBef>
            </a:pPr>
            <a:r>
              <a:rPr b="0" lang="en-US" sz="1100" spc="-1" strike="noStrike">
                <a:solidFill>
                  <a:srgbClr val="000000"/>
                </a:solidFill>
                <a:latin typeface="Verdana"/>
                <a:ea typeface="DejaVu Sans"/>
              </a:rPr>
              <a:t>VECTO Release Notes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9" name="Picture 2" descr=""/>
          <p:cNvPicPr/>
          <p:nvPr/>
        </p:nvPicPr>
        <p:blipFill>
          <a:blip r:embed="rId2"/>
          <a:stretch/>
        </p:blipFill>
        <p:spPr>
          <a:xfrm>
            <a:off x="7389360" y="37800"/>
            <a:ext cx="1416960" cy="348480"/>
          </a:xfrm>
          <a:prstGeom prst="rect">
            <a:avLst/>
          </a:prstGeom>
          <a:ln w="0">
            <a:noFill/>
          </a:ln>
        </p:spPr>
      </p:pic>
      <p:pic>
        <p:nvPicPr>
          <p:cNvPr id="20" name="Picture 3" descr="I:\raphaelluz\VECTO\source\VECTO\User Manual\pics\VECTO-small.PNG"/>
          <p:cNvPicPr/>
          <p:nvPr/>
        </p:nvPicPr>
        <p:blipFill>
          <a:blip r:embed="rId3"/>
          <a:stretch/>
        </p:blipFill>
        <p:spPr>
          <a:xfrm>
            <a:off x="107640" y="58680"/>
            <a:ext cx="974160" cy="327960"/>
          </a:xfrm>
          <a:prstGeom prst="rect">
            <a:avLst/>
          </a:prstGeom>
          <a:ln w="0">
            <a:noFill/>
          </a:ln>
        </p:spPr>
      </p:pic>
      <p:sp>
        <p:nvSpPr>
          <p:cNvPr id="21" name="Line 20"/>
          <p:cNvSpPr/>
          <p:nvPr/>
        </p:nvSpPr>
        <p:spPr>
          <a:xfrm>
            <a:off x="0" y="6599160"/>
            <a:ext cx="9144000" cy="36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2" name="PlaceHolder 1"/>
          <p:cNvSpPr>
            <a:spLocks noGrp="1"/>
          </p:cNvSpPr>
          <p:nvPr>
            <p:ph type="sldNum" idx="1"/>
          </p:nvPr>
        </p:nvSpPr>
        <p:spPr>
          <a:xfrm>
            <a:off x="128160" y="54180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GB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223B15DE-9597-4A2D-876C-909709AF5F6B}" type="slidenum">
              <a:rPr b="0" lang="en-GB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4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Line 20"/>
          <p:cNvSpPr/>
          <p:nvPr/>
        </p:nvSpPr>
        <p:spPr>
          <a:xfrm>
            <a:off x="0" y="415800"/>
            <a:ext cx="9144000" cy="36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6" name="Text Box 24"/>
          <p:cNvSpPr/>
          <p:nvPr/>
        </p:nvSpPr>
        <p:spPr>
          <a:xfrm>
            <a:off x="7996320" y="6599160"/>
            <a:ext cx="92124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914400">
              <a:lnSpc>
                <a:spcPct val="100000"/>
              </a:lnSpc>
              <a:spcBef>
                <a:spcPts val="499"/>
              </a:spcBef>
            </a:pPr>
            <a:fld id="{12B7EC8E-1211-464A-82FD-7F112B629245}" type="slidenum">
              <a:rPr b="1" lang="de-AT" sz="1000" spc="-1" strike="noStrike">
                <a:solidFill>
                  <a:srgbClr val="7d7d7d"/>
                </a:solidFill>
                <a:latin typeface="Verdana"/>
                <a:ea typeface="DejaVu Sans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Text Box 30"/>
          <p:cNvSpPr/>
          <p:nvPr/>
        </p:nvSpPr>
        <p:spPr>
          <a:xfrm>
            <a:off x="144360" y="6627960"/>
            <a:ext cx="1878480" cy="21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39600" bIns="45000" anchor="ctr">
            <a:noAutofit/>
          </a:bodyPr>
          <a:p>
            <a:pPr defTabSz="914400">
              <a:lnSpc>
                <a:spcPct val="100000"/>
              </a:lnSpc>
              <a:spcBef>
                <a:spcPts val="550"/>
              </a:spcBef>
            </a:pPr>
            <a:r>
              <a:rPr b="0" lang="en-US" sz="1100" spc="-1" strike="noStrike">
                <a:solidFill>
                  <a:srgbClr val="000000"/>
                </a:solidFill>
                <a:latin typeface="Verdana"/>
                <a:ea typeface="DejaVu Sans"/>
              </a:rPr>
              <a:t>VECTO Release Notes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8" name="Picture 2" descr=""/>
          <p:cNvPicPr/>
          <p:nvPr/>
        </p:nvPicPr>
        <p:blipFill>
          <a:blip r:embed="rId2"/>
          <a:stretch/>
        </p:blipFill>
        <p:spPr>
          <a:xfrm>
            <a:off x="7389360" y="37800"/>
            <a:ext cx="1416960" cy="348480"/>
          </a:xfrm>
          <a:prstGeom prst="rect">
            <a:avLst/>
          </a:prstGeom>
          <a:ln w="0">
            <a:noFill/>
          </a:ln>
        </p:spPr>
      </p:pic>
      <p:pic>
        <p:nvPicPr>
          <p:cNvPr id="29" name="Picture 3" descr="I:\raphaelluz\VECTO\source\VECTO\User Manual\pics\VECTO-small.PNG"/>
          <p:cNvPicPr/>
          <p:nvPr/>
        </p:nvPicPr>
        <p:blipFill>
          <a:blip r:embed="rId3"/>
          <a:stretch/>
        </p:blipFill>
        <p:spPr>
          <a:xfrm>
            <a:off x="107640" y="58680"/>
            <a:ext cx="974160" cy="327960"/>
          </a:xfrm>
          <a:prstGeom prst="rect">
            <a:avLst/>
          </a:prstGeom>
          <a:ln w="0">
            <a:noFill/>
          </a:ln>
        </p:spPr>
      </p:pic>
      <p:sp>
        <p:nvSpPr>
          <p:cNvPr id="30" name="Line 20"/>
          <p:cNvSpPr/>
          <p:nvPr/>
        </p:nvSpPr>
        <p:spPr>
          <a:xfrm>
            <a:off x="0" y="6599160"/>
            <a:ext cx="9144000" cy="36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4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Line 20"/>
          <p:cNvSpPr/>
          <p:nvPr/>
        </p:nvSpPr>
        <p:spPr>
          <a:xfrm>
            <a:off x="0" y="415800"/>
            <a:ext cx="9144000" cy="36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4" name="Text Box 24"/>
          <p:cNvSpPr/>
          <p:nvPr/>
        </p:nvSpPr>
        <p:spPr>
          <a:xfrm>
            <a:off x="7996320" y="6599160"/>
            <a:ext cx="92124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914400">
              <a:lnSpc>
                <a:spcPct val="100000"/>
              </a:lnSpc>
              <a:spcBef>
                <a:spcPts val="499"/>
              </a:spcBef>
            </a:pPr>
            <a:fld id="{A7029640-FFD1-4A95-9016-73BE269960D3}" type="slidenum">
              <a:rPr b="1" lang="de-AT" sz="1000" spc="-1" strike="noStrike">
                <a:solidFill>
                  <a:srgbClr val="7d7d7d"/>
                </a:solidFill>
                <a:latin typeface="Verdana"/>
                <a:ea typeface="DejaVu Sans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Text Box 30"/>
          <p:cNvSpPr/>
          <p:nvPr/>
        </p:nvSpPr>
        <p:spPr>
          <a:xfrm>
            <a:off x="144360" y="6627960"/>
            <a:ext cx="1878480" cy="21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39600" bIns="45000" anchor="ctr">
            <a:noAutofit/>
          </a:bodyPr>
          <a:p>
            <a:pPr defTabSz="914400">
              <a:lnSpc>
                <a:spcPct val="100000"/>
              </a:lnSpc>
              <a:spcBef>
                <a:spcPts val="550"/>
              </a:spcBef>
            </a:pPr>
            <a:r>
              <a:rPr b="0" lang="en-US" sz="1100" spc="-1" strike="noStrike">
                <a:solidFill>
                  <a:srgbClr val="000000"/>
                </a:solidFill>
                <a:latin typeface="Verdana"/>
                <a:ea typeface="DejaVu Sans"/>
              </a:rPr>
              <a:t>VECTO Release Notes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6" name="Picture 2" descr=""/>
          <p:cNvPicPr/>
          <p:nvPr/>
        </p:nvPicPr>
        <p:blipFill>
          <a:blip r:embed="rId2"/>
          <a:stretch/>
        </p:blipFill>
        <p:spPr>
          <a:xfrm>
            <a:off x="7389360" y="37800"/>
            <a:ext cx="1416960" cy="348480"/>
          </a:xfrm>
          <a:prstGeom prst="rect">
            <a:avLst/>
          </a:prstGeom>
          <a:ln w="0">
            <a:noFill/>
          </a:ln>
        </p:spPr>
      </p:pic>
      <p:pic>
        <p:nvPicPr>
          <p:cNvPr id="37" name="Picture 3" descr="I:\raphaelluz\VECTO\source\VECTO\User Manual\pics\VECTO-small.PNG"/>
          <p:cNvPicPr/>
          <p:nvPr/>
        </p:nvPicPr>
        <p:blipFill>
          <a:blip r:embed="rId3"/>
          <a:stretch/>
        </p:blipFill>
        <p:spPr>
          <a:xfrm>
            <a:off x="107640" y="58680"/>
            <a:ext cx="974160" cy="327960"/>
          </a:xfrm>
          <a:prstGeom prst="rect">
            <a:avLst/>
          </a:prstGeom>
          <a:ln w="0">
            <a:noFill/>
          </a:ln>
        </p:spPr>
      </p:pic>
      <p:sp>
        <p:nvSpPr>
          <p:cNvPr id="38" name="Line 20"/>
          <p:cNvSpPr/>
          <p:nvPr/>
        </p:nvSpPr>
        <p:spPr>
          <a:xfrm>
            <a:off x="0" y="6599160"/>
            <a:ext cx="9144000" cy="36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 Box 94"/>
          <p:cNvSpPr/>
          <p:nvPr/>
        </p:nvSpPr>
        <p:spPr>
          <a:xfrm>
            <a:off x="539640" y="1052640"/>
            <a:ext cx="8132040" cy="39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spcBef>
                <a:spcPts val="1599"/>
              </a:spcBef>
            </a:pPr>
            <a:r>
              <a:rPr b="1" lang="en-US" sz="3200" spc="-1" strike="noStrike">
                <a:solidFill>
                  <a:srgbClr val="990000"/>
                </a:solidFill>
                <a:latin typeface="Arial"/>
                <a:ea typeface="DejaVu Sans"/>
              </a:rPr>
              <a:t>VECTO 4.x 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spcBef>
                <a:spcPts val="1001"/>
              </a:spcBef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spcBef>
                <a:spcPts val="1001"/>
              </a:spcBef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spcBef>
                <a:spcPts val="1001"/>
              </a:spcBef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spcBef>
                <a:spcPts val="1199"/>
              </a:spcBef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spcBef>
                <a:spcPts val="1199"/>
              </a:spcBef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spcBef>
                <a:spcPts val="1199"/>
              </a:spcBef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spcBef>
                <a:spcPts val="1199"/>
              </a:spcBef>
            </a:pPr>
            <a:r>
              <a:rPr b="1" lang="en-US" sz="2400" spc="-1" strike="noStrike">
                <a:solidFill>
                  <a:srgbClr val="990000"/>
                </a:solidFill>
                <a:latin typeface="Arial"/>
                <a:ea typeface="DejaVu Sans"/>
              </a:rPr>
              <a:t>Release Notes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2" name="Picture 2" descr=""/>
          <p:cNvPicPr/>
          <p:nvPr/>
        </p:nvPicPr>
        <p:blipFill>
          <a:blip r:embed="rId1"/>
          <a:stretch/>
        </p:blipFill>
        <p:spPr>
          <a:xfrm>
            <a:off x="2483640" y="2421000"/>
            <a:ext cx="4172040" cy="16232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468360" y="476640"/>
            <a:ext cx="8214120" cy="6768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0000" rIns="90000" tIns="45000" bIns="4500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990000"/>
                </a:solidFill>
                <a:latin typeface="Arial"/>
                <a:ea typeface="DejaVu Sans"/>
              </a:rPr>
              <a:t>Vecto 4.1.1.3413 OFFICIAL RELEASE</a:t>
            </a:r>
            <a:br>
              <a:rPr sz="2400"/>
            </a:br>
            <a:r>
              <a:rPr b="1" lang="en-US" sz="1600" spc="-1" strike="noStrike">
                <a:solidFill>
                  <a:srgbClr val="990000"/>
                </a:solidFill>
                <a:latin typeface="Arial"/>
                <a:ea typeface="DejaVu Sans"/>
              </a:rPr>
              <a:t>06.05.2024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/>
          </p:nvPr>
        </p:nvSpPr>
        <p:spPr>
          <a:xfrm>
            <a:off x="323640" y="1639080"/>
            <a:ext cx="8492760" cy="44496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0000" rIns="90000" tIns="45000" bIns="45000" anchor="t">
            <a:noAutofit/>
          </a:bodyPr>
          <a:p>
            <a:pPr marL="343080" indent="0" defTabSz="91440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/>
              <a:buChar char=""/>
              <a:tabLst>
                <a:tab algn="l" pos="1886040"/>
              </a:tabLst>
            </a:pPr>
            <a:r>
              <a:rPr b="1" lang="en-US" sz="1600" spc="-1" strike="noStrike">
                <a:solidFill>
                  <a:srgbClr val="000000"/>
                </a:solidFill>
                <a:latin typeface="Arial"/>
                <a:ea typeface="DejaVu Sans"/>
              </a:rPr>
              <a:t>Bugfixes 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800280" indent="-34308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/>
              <a:buChar char=""/>
              <a:tabLst>
                <a:tab algn="l" pos="188604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CodeEU-615: Multistep freezes after loading VIF chassis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1" marL="800280" indent="-34308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/>
              <a:buChar char=""/>
              <a:tabLst>
                <a:tab algn="l" pos="188604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CodeEU-616: Multistep tool freezes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1" marL="800280" indent="-34308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/>
              <a:buChar char=""/>
              <a:tabLst>
                <a:tab algn="l" pos="188604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CodeEU-619: restore wrong exempted techs in XSD for backwards compatibility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1" marL="800280" indent="-34308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/>
              <a:buChar char=""/>
              <a:tabLst>
                <a:tab algn="l" pos="188604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CodeEU-617: Results change depending the time format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1" marL="800280" indent="-34308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/>
              <a:buChar char=""/>
              <a:tabLst>
                <a:tab algn="l" pos="188604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CodeEU-635: Revert multiple summary in CIF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468360" y="476640"/>
            <a:ext cx="8214120" cy="6768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0000" rIns="90000" tIns="45000" bIns="4500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990000"/>
                </a:solidFill>
                <a:latin typeface="Arial"/>
                <a:ea typeface="DejaVu Sans"/>
              </a:rPr>
              <a:t>Vecto 4.1.0.3392 RELEASE CANDIDATE</a:t>
            </a:r>
            <a:br>
              <a:rPr sz="2400"/>
            </a:br>
            <a:r>
              <a:rPr b="1" lang="en-US" sz="1600" spc="-1" strike="noStrike">
                <a:solidFill>
                  <a:srgbClr val="990000"/>
                </a:solidFill>
                <a:latin typeface="Arial"/>
                <a:ea typeface="DejaVu Sans"/>
              </a:rPr>
              <a:t>15.04.2024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/>
          </p:nvPr>
        </p:nvSpPr>
        <p:spPr>
          <a:xfrm>
            <a:off x="323640" y="1639080"/>
            <a:ext cx="8492760" cy="44496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0000" rIns="90000" tIns="45000" bIns="4500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/>
              <a:buChar char=""/>
              <a:tabLst>
                <a:tab algn="l" pos="1886040"/>
              </a:tabLst>
            </a:pPr>
            <a:r>
              <a:rPr b="1" lang="en-US" sz="1600" spc="-1" strike="noStrike">
                <a:solidFill>
                  <a:srgbClr val="000000"/>
                </a:solidFill>
                <a:latin typeface="Arial"/>
                <a:ea typeface="DejaVu Sans"/>
              </a:rPr>
              <a:t>Features</a:t>
            </a:r>
            <a:br>
              <a:rPr sz="1600"/>
            </a:br>
            <a:r>
              <a:rPr b="0" lang="en-US" sz="1200" spc="-1" strike="noStrike">
                <a:solidFill>
                  <a:schemeClr val="dk1"/>
                </a:solidFill>
                <a:latin typeface="Arial"/>
                <a:ea typeface="DejaVu Sans"/>
              </a:rPr>
              <a:t>CodeEU-577: Add missing mission profiles to vocational and non-vocational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343080" indent="0" defTabSz="91440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/>
              <a:buChar char=""/>
              <a:tabLst>
                <a:tab algn="l" pos="1886040"/>
              </a:tabLst>
            </a:pPr>
            <a:r>
              <a:rPr b="1" lang="en-US" sz="1600" spc="-1" strike="noStrike">
                <a:solidFill>
                  <a:srgbClr val="000000"/>
                </a:solidFill>
                <a:latin typeface="Arial"/>
                <a:ea typeface="DejaVu Sans"/>
              </a:rPr>
              <a:t>Bugfixes (1/4)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800280" indent="-34308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/>
              <a:buChar char=""/>
              <a:tabLst>
                <a:tab algn="l" pos="188604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CodeEU-331: Gear 1 DrivingActionAccelerate: Fail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1" marL="800280" indent="-34308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/>
              <a:buChar char=""/>
              <a:tabLst>
                <a:tab algn="l" pos="188604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CodeEU-367: Gear 1 DrivingActionAccelerate: Fail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1" marL="800280" indent="-34308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/>
              <a:buChar char=""/>
              <a:tabLst>
                <a:tab algn="l" pos="188604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CodeEU-372: ADT Error on Bus Category Primary Vehicle Simulation on VECTO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1" marL="800280" indent="-34308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/>
              <a:buChar char=""/>
              <a:tabLst>
                <a:tab algn="l" pos="188604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CodeEU-373: ADT Error on Bus Category Primary Vehicle Simulation on VECTO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1" marL="800280" indent="-34308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/>
              <a:buChar char=""/>
              <a:tabLst>
                <a:tab algn="l" pos="188604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CodeEU-374: ADT Error on Bus Category Primary Vehicle Simulation on VECTO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1" marL="800280" indent="-34308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/>
              <a:buChar char=""/>
              <a:tabLst>
                <a:tab algn="l" pos="188604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CodeEU-375: ADT Error on Bus Category Primary Vehicle Simulation on VECTO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1" marL="800280" indent="-34308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/>
              <a:buChar char=""/>
              <a:tabLst>
                <a:tab algn="l" pos="188604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CodeEU-393: Finished Run VEH-PrimaryBus_nonSmart Interurban _P32SD_ReferenceLoad with ERROR: 16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1" marL="800280" indent="-34308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/>
              <a:buChar char=""/>
              <a:tabLst>
                <a:tab algn="l" pos="188604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CodeEU-439: 615 (Interurban _P32DD_ReferenceLoad) - absTime: 7129.6359 [s], distance: 53875.9765 [m], dt: 0.6388 [s], v: 0.5098 [m/s], Gear: 1 | DrivingActionAccelerate: Failed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1" marL="800280" indent="-34308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/>
              <a:buChar char=""/>
              <a:tabLst>
                <a:tab algn="l" pos="188604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CodeEU-446: Finished Run VEH-PrimaryBus_nonSmart Interurban _P32SD_ReferenceLoad with ERROR: 16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1" marL="800280" indent="-34308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/>
              <a:buChar char=""/>
              <a:tabLst>
                <a:tab algn="l" pos="188604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CodeEU-449: Finished Run VEH-PrimaryBus_nonSmart Interurban _P32SD_ReferenceLoad with ERROR: 16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1" marL="800280" indent="-34308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/>
              <a:buChar char=""/>
              <a:tabLst>
                <a:tab algn="l" pos="188604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CodeEU-478: Finished Run VEH-PrimaryBus_nonSmart Urban _P31SD_ReferenceLoad with ERROR: 4 (Urban _P31SD_ReferenceLoad) - absTime: 8606.6241 [s], distance: 39112.5127 [m], dt: 1.1131 [s], v: 0.1833 [m/s], Gear: 1 | DrivingActionAccelerate: Failed to find operating poi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800280" indent="0" defTabSz="91440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468360" y="476640"/>
            <a:ext cx="8214120" cy="6768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0000" rIns="90000" tIns="45000" bIns="4500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990000"/>
                </a:solidFill>
                <a:latin typeface="Arial"/>
                <a:ea typeface="DejaVu Sans"/>
              </a:rPr>
              <a:t>Vecto 4.1.0.3392 RELEASE CANDIDATE</a:t>
            </a:r>
            <a:br>
              <a:rPr sz="2400"/>
            </a:br>
            <a:r>
              <a:rPr b="1" lang="en-US" sz="1600" spc="-1" strike="noStrike">
                <a:solidFill>
                  <a:srgbClr val="990000"/>
                </a:solidFill>
                <a:latin typeface="Arial"/>
                <a:ea typeface="DejaVu Sans"/>
              </a:rPr>
              <a:t>15.04.2024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/>
          </p:nvPr>
        </p:nvSpPr>
        <p:spPr>
          <a:xfrm>
            <a:off x="323640" y="1459080"/>
            <a:ext cx="8492760" cy="4657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0000" rIns="90000" tIns="45000" bIns="45000" anchor="t">
            <a:noAutofit/>
          </a:bodyPr>
          <a:p>
            <a:pPr marL="343080" indent="0" defTabSz="91440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/>
              <a:buChar char=""/>
              <a:tabLst>
                <a:tab algn="l" pos="1886040"/>
              </a:tabLst>
            </a:pPr>
            <a:r>
              <a:rPr b="1" lang="en-US" sz="1600" spc="-1" strike="noStrike">
                <a:solidFill>
                  <a:srgbClr val="000000"/>
                </a:solidFill>
                <a:latin typeface="Arial"/>
                <a:ea typeface="DejaVu Sans"/>
              </a:rPr>
              <a:t>Bugfixes (2/4)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800280" indent="-34308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/>
              <a:buChar char=""/>
              <a:tabLst>
                <a:tab algn="l" pos="188604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CodeEU-481: Finished Run VEH-PrimaryBus_nonSmart Urban _P31SD_ReferenceLoad with ERROR: 4 (Urban _P31SD_ReferenceLoad) - absTime: 8606.6241 [s], distance: 39112.5127 [m], dt: 1.1131 [s], v: 0.1833 [m/s], Gear: 1 |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1" marL="800280" indent="-34308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/>
              <a:buChar char=""/>
              <a:tabLst>
                <a:tab algn="l" pos="188604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CodeEU-488: Finished Run VEH-PrimaryBus_nonSmart Urban _P31SD_ReferenceLoad with ERROR: 4 (Urban _P31SD_ReferenceLoad) - absTime: 8606.6241 [s], distance: 39112.5127 [m], dt: 1.1131 [s], v: 0.1833 [m/s], Gear: 1 | DrivingActionAccelerate: Failed to find operating poi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1" marL="800280" indent="-34308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/>
              <a:buChar char=""/>
              <a:tabLst>
                <a:tab algn="l" pos="188604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CodeEU-494: Finished Run VEH-PrimaryBus_nonSmart Urban _P31SD_ReferenceLoad with ERROR: 26 (Urban _P31SD_ReferenceLoad) - absTime: 8606.6241 [s], distance: 39112.5127 [m], dt: 1.1131 [s], v: 0.1833 [m/s], Gear: 1 | DrivingActionAccelerate: Failed to fi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1" marL="800280" indent="-34308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/>
              <a:buChar char=""/>
              <a:tabLst>
                <a:tab algn="l" pos="188604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CodeEU-420: Finished Run VEH-PrimaryBus_nonSmart Interurban _P32SD_ReferenceLoad with ERROR: 16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1" marL="800280" indent="-34308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/>
              <a:buChar char=""/>
              <a:tabLst>
                <a:tab algn="l" pos="188604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CodeEU-573: Unhandled powertrain architecture Conventional Vehicle to calculate gradability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1" marL="800280" indent="-34308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/>
              <a:buChar char=""/>
              <a:tabLst>
                <a:tab algn="l" pos="188604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CodeEU-582: unhandled powertrain architecture ConventionalVehicle to calculate gradability, 11:44:36.63,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1" marL="800280" indent="-34308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/>
              <a:buChar char=""/>
              <a:tabLst>
                <a:tab algn="l" pos="188604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CodeEU-595: Inconsistency exempted vehicles "Fuel cell vehicle" vs. "FCV Article 9 exempted"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1" marL="800280" indent="-34308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/>
              <a:buChar char=""/>
              <a:tabLst>
                <a:tab algn="l" pos="188604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CodeEU-501: Help regarding VTP vdri format is not up to date in v4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1" marL="800280" indent="-34308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/>
              <a:buChar char=""/>
              <a:tabLst>
                <a:tab algn="l" pos="188604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CodeEU-594: inadequate validation for auxiliaries in completed vehicle XML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1" marL="800280" indent="-34308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/>
              <a:buChar char=""/>
              <a:tabLst>
                <a:tab algn="l" pos="188604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CodeEU-580: Potential error in XML schema v2.4 (exempted vehicles)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1" marL="800280" indent="-34308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/>
              <a:buChar char=""/>
              <a:tabLst>
                <a:tab algn="l" pos="188604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CodeEU-551: Article-10-2 XLRASF5E00G419905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1" marL="800280" indent="-34308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/>
              <a:buChar char=""/>
              <a:tabLst>
                <a:tab algn="l" pos="188604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CodeEU-547: Max ICE Off timespan for buses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1" marL="800280" indent="-34308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/>
              <a:buChar char=""/>
              <a:tabLst>
                <a:tab algn="l" pos="188604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CodeEU-583: Incorrect internal resistance for SuperCap used in factor method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68360" y="476640"/>
            <a:ext cx="8214120" cy="6768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0000" rIns="90000" tIns="45000" bIns="4500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990000"/>
                </a:solidFill>
                <a:latin typeface="Arial"/>
                <a:ea typeface="DejaVu Sans"/>
              </a:rPr>
              <a:t>Vecto 4.1.0.3392 RELEASE CANDIDATE</a:t>
            </a:r>
            <a:br>
              <a:rPr sz="2400"/>
            </a:br>
            <a:r>
              <a:rPr b="1" lang="en-US" sz="1600" spc="-1" strike="noStrike">
                <a:solidFill>
                  <a:srgbClr val="990000"/>
                </a:solidFill>
                <a:latin typeface="Arial"/>
                <a:ea typeface="DejaVu Sans"/>
              </a:rPr>
              <a:t>15.04.2024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/>
          </p:nvPr>
        </p:nvSpPr>
        <p:spPr>
          <a:xfrm>
            <a:off x="323640" y="1459080"/>
            <a:ext cx="8492760" cy="4657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0000" rIns="90000" tIns="45000" bIns="45000" anchor="t">
            <a:noAutofit/>
          </a:bodyPr>
          <a:p>
            <a:pPr marL="343080" indent="0" defTabSz="91440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/>
              <a:buChar char=""/>
              <a:tabLst>
                <a:tab algn="l" pos="1886040"/>
              </a:tabLst>
            </a:pPr>
            <a:r>
              <a:rPr b="1" lang="en-US" sz="1600" spc="-1" strike="noStrike">
                <a:solidFill>
                  <a:srgbClr val="000000"/>
                </a:solidFill>
                <a:latin typeface="Arial"/>
                <a:ea typeface="DejaVu Sans"/>
              </a:rPr>
              <a:t>Bugfixes (3/4)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800280" indent="-34308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/>
              <a:buChar char=""/>
              <a:tabLst>
                <a:tab algn="l" pos="188604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CodeEU-571: Article10-2-issue | VECTO-4.0.3 | Order-Nr 28202896 | HEV P1 Error Mercedes-Benz and Setra Hybrid Buses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1" marL="800280" indent="-34308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/>
              <a:buChar char=""/>
              <a:tabLst>
                <a:tab algn="l" pos="188604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CodeEU-526: VTP calculation aborted on fuel consumption map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1" marL="800280" indent="-34308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/>
              <a:buChar char=""/>
              <a:tabLst>
                <a:tab algn="l" pos="188604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CodeEU-502: Error in VECTO calculation WMA10CZZ0RF022326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1" marL="800280" indent="-34308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/>
              <a:buChar char=""/>
              <a:tabLst>
                <a:tab algn="l" pos="188604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CodeEU-401: Electric steering system with conventional vehicle not according to 2017/2400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1" marL="800280" indent="-34308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/>
              <a:buChar char=""/>
              <a:tabLst>
                <a:tab algn="l" pos="188604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CodeEU-476: Setting Initial SoC in REESS editor leads to error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1" marL="800280" indent="-34308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/>
              <a:buChar char=""/>
              <a:tabLst>
                <a:tab algn="l" pos="188604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CodeEU-533: Question about heavy lorry_IEPC_Gb×4speed: Failed to generate electric power map - at least two negative entries are required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1" marL="800280" indent="-34308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/>
              <a:buChar char=""/>
              <a:tabLst>
                <a:tab algn="l" pos="188604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CodeEU-456: Clarification Documentation official Results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1" marL="800280" indent="-34308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/>
              <a:buChar char=""/>
              <a:tabLst>
                <a:tab algn="l" pos="188604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CodeEU-506: Article 10(2) issue - VIN YS2P6X200R2201285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1" marL="800280" indent="-34308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/>
              <a:buChar char=""/>
              <a:tabLst>
                <a:tab algn="l" pos="188604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CodeEU-507: Article 10(2) issue - VIN YS2P6X20005732399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1" marL="800280" indent="-34308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/>
              <a:buChar char=""/>
              <a:tabLst>
                <a:tab algn="l" pos="188604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CodeEU-508: Article 10(2) issue - VIN S2P6X20005734199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1" marL="800280" indent="-34308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/>
              <a:buChar char=""/>
              <a:tabLst>
                <a:tab algn="l" pos="188604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CodeEU-499: Object Reference not set Error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1" marL="800280" indent="-34308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/>
              <a:buChar char=""/>
              <a:tabLst>
                <a:tab algn="l" pos="188604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CodeEU-546: Problem with P181 (Cooling Fan Technology) for a conventional vehicle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1" marL="800280" indent="-34308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/>
              <a:buChar char=""/>
              <a:tabLst>
                <a:tab algn="l" pos="188604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CodeEU-516: Article10-2-issue | VECTO-4.0.3 | Order-Nr 28208044 | HEV P1 Error Mercedes-Benz and Setra Hybrid Buses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1" marL="800280" indent="-34308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/>
              <a:buChar char=""/>
              <a:tabLst>
                <a:tab algn="l" pos="188604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CodeEU-517: Article10-2-issue | VECTO-4.0.3 | Order-Nr 28208037 | HEV P1 Error Mercedes-Benz and Setra Hybrid Buses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468360" y="476640"/>
            <a:ext cx="8214120" cy="6768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0000" rIns="90000" tIns="45000" bIns="4500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990000"/>
                </a:solidFill>
                <a:latin typeface="Arial"/>
                <a:ea typeface="DejaVu Sans"/>
              </a:rPr>
              <a:t>Vecto 4.1.0.3392 RELEASE CANDIDATE</a:t>
            </a:r>
            <a:br>
              <a:rPr sz="2400"/>
            </a:br>
            <a:r>
              <a:rPr b="1" lang="en-US" sz="1600" spc="-1" strike="noStrike">
                <a:solidFill>
                  <a:srgbClr val="990000"/>
                </a:solidFill>
                <a:latin typeface="Arial"/>
                <a:ea typeface="DejaVu Sans"/>
              </a:rPr>
              <a:t>15.04.2024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/>
          </p:nvPr>
        </p:nvSpPr>
        <p:spPr>
          <a:xfrm>
            <a:off x="323640" y="1459080"/>
            <a:ext cx="8492760" cy="4657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0000" rIns="90000" tIns="45000" bIns="45000" anchor="t">
            <a:noAutofit/>
          </a:bodyPr>
          <a:p>
            <a:pPr marL="343080" indent="0" defTabSz="91440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/>
              <a:buChar char=""/>
              <a:tabLst>
                <a:tab algn="l" pos="1886040"/>
              </a:tabLst>
            </a:pPr>
            <a:r>
              <a:rPr b="1" lang="en-US" sz="1600" spc="-1" strike="noStrike">
                <a:solidFill>
                  <a:srgbClr val="000000"/>
                </a:solidFill>
                <a:latin typeface="Arial"/>
                <a:ea typeface="DejaVu Sans"/>
              </a:rPr>
              <a:t>Bugfixes (4/4)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800280" indent="-34308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/>
              <a:buChar char=""/>
              <a:tabLst>
                <a:tab algn="l" pos="188604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CodeEU-519: Article10-2-issue | VECTO-4.0.3 | Order-Nr 10098181 | HEV P1 Error Mercedes-Benz and Setra Hybrid Buses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1" marL="800280" indent="-34308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/>
              <a:buChar char=""/>
              <a:tabLst>
                <a:tab algn="l" pos="188604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CodeEU-527: Article10-2-issue | VECTO-4.0.3 | Order-Nr 28196233 | HEV P1 Error Mercedes-Benz and Setra Hybrid Buses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1" marL="800280" indent="-34308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/>
              <a:buChar char=""/>
              <a:tabLst>
                <a:tab algn="l" pos="188604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CodeEU-528: Article10-2-issue | VECTO-4.0.3 | Order-Nr 28196652 | HEV P1 Error Mercedes-Benz and Setra Hybrid Buses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1" marL="800280" indent="-34308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/>
              <a:buChar char=""/>
              <a:tabLst>
                <a:tab algn="l" pos="188604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CodeEU-338: Eco-roll only, without engine stop, impact on CO2 emission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1" marL="800280" indent="-34308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/>
              <a:buChar char=""/>
              <a:tabLst>
                <a:tab algn="l" pos="188604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CodeEU-475: XML files loading in VTP Job not OK; No auxiliary data and torque curve visible, Job can't be saved in VECTO 4.0.3.3330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1" marL="800280" indent="-34308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/>
              <a:buChar char=""/>
              <a:tabLst>
                <a:tab algn="l" pos="188604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CodeEU-610: VTP mode is broken due to changes in the Clutch component.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468360" y="476640"/>
            <a:ext cx="8214120" cy="6768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0000" rIns="90000" tIns="45000" bIns="4500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990000"/>
                </a:solidFill>
                <a:latin typeface="Arial"/>
                <a:ea typeface="DejaVu Sans"/>
              </a:rPr>
              <a:t>Vecto 4.0.3.3330 OFFICIAL RELEASE</a:t>
            </a:r>
            <a:br>
              <a:rPr sz="2400"/>
            </a:br>
            <a:r>
              <a:rPr b="1" lang="en-US" sz="1600" spc="-1" strike="noStrike">
                <a:solidFill>
                  <a:srgbClr val="990000"/>
                </a:solidFill>
                <a:latin typeface="Arial"/>
                <a:ea typeface="DejaVu Sans"/>
              </a:rPr>
              <a:t>13.02.2024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/>
          </p:nvPr>
        </p:nvSpPr>
        <p:spPr>
          <a:xfrm>
            <a:off x="323640" y="1639080"/>
            <a:ext cx="8492760" cy="44496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0000" rIns="90000" tIns="45000" bIns="4500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/>
              <a:buChar char=""/>
              <a:tabLst>
                <a:tab algn="l" pos="1886040"/>
              </a:tabLst>
            </a:pPr>
            <a:r>
              <a:rPr b="1" lang="en-US" sz="1600" spc="-1" strike="noStrike">
                <a:solidFill>
                  <a:srgbClr val="000000"/>
                </a:solidFill>
                <a:latin typeface="Arial"/>
                <a:ea typeface="DejaVu Sans"/>
              </a:rPr>
              <a:t>Bugfixes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800280" indent="-34308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/>
              <a:buChar char=""/>
              <a:tabLst>
                <a:tab algn="l" pos="188604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CodeEU-293: DistanceRun got an unexpected response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1" marL="800280" indent="-34308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/>
              <a:buChar char=""/>
              <a:tabLst>
                <a:tab algn="l" pos="188604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CodeEU-298: Object reference not set to an instance of an object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1" marL="800280" indent="-34308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/>
              <a:buChar char=""/>
              <a:tabLst>
                <a:tab algn="l" pos="188604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CodeEU-300: Full drive torque miscalculation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1" marL="800280" indent="-34308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/>
              <a:buChar char=""/>
              <a:tabLst>
                <a:tab algn="l" pos="188604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CodeEU-336: Feature: Hashing tool must validate the previous step data for multi-step jobs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1" marL="800280" indent="-34308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/>
              <a:buChar char=""/>
              <a:tabLst>
                <a:tab algn="l" pos="188604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CodeEU-337: Electric Citybus - ERROR with "31a-Specific" bus configuration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1" marL="800280" indent="-34308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/>
              <a:buChar char=""/>
              <a:tabLst>
                <a:tab algn="l" pos="188604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CodeEU-343: Cannot simulate Primary Vehicle using vectocmd.exe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1" marL="800280" indent="-34308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/>
              <a:buChar char=""/>
              <a:tabLst>
                <a:tab algn="l" pos="188604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CodeEU-387: VECTO sometimes fails to properly read Tyre data from primary vehicle xml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1" marL="800280" indent="-34308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/>
              <a:buChar char=""/>
              <a:tabLst>
                <a:tab algn="l" pos="188604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CodeEU-427: Vehicle speed resulting to exceeding max gearbox speed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1" marL="800280" indent="-34308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/>
              <a:buChar char=""/>
              <a:tabLst>
                <a:tab algn="l" pos="188604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CodeEU-428: Remove speed safety margin for gearbox re-engaging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1" marL="800280" indent="-34308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/>
              <a:buChar char=""/>
              <a:tabLst>
                <a:tab algn="l" pos="188604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CodeEU-438: Mismatch XML schema vs Regulation (exempted vehicles)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1" marL="800280" indent="-34308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/>
              <a:buChar char=""/>
              <a:tabLst>
                <a:tab algn="l" pos="188604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CodeEU-248: Bus P2 hybrid VECTO error in urban cycle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1" marL="800280" indent="-34308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/>
              <a:buChar char=""/>
              <a:tabLst>
                <a:tab algn="l" pos="188604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CodeEU-278: Simulation crash when writing fuel consumption results to reports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1" marL="800280" indent="-34308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/>
              <a:buChar char=""/>
              <a:tabLst>
                <a:tab algn="l" pos="188604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CodeEU-284: New error message and failed simulation obtained for P2 hybrid buses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1" marL="800280" indent="-34308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/>
              <a:buChar char=""/>
              <a:tabLst>
                <a:tab algn="l" pos="188604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CodeEU-285: PEV vehicle error in routine to write the results with new vecto version  4.0.2.3275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1" marL="800280" indent="-34308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/>
              <a:buChar char=""/>
              <a:tabLst>
                <a:tab algn="l" pos="188604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CodeEU-287: PEV_IEPC error message:"can only operate on SI Objects with the same unit"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1" marL="800280" indent="-34308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/>
              <a:buChar char=""/>
              <a:tabLst>
                <a:tab algn="l" pos="188604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CodeEU-289: VECTO Simulation Error for bus with validated input data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68360" y="476640"/>
            <a:ext cx="8214120" cy="6768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0000" rIns="90000" tIns="45000" bIns="4500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990000"/>
                </a:solidFill>
                <a:latin typeface="Arial"/>
                <a:ea typeface="DejaVu Sans"/>
              </a:rPr>
              <a:t>Vecto 4.0.2.3275 OFFICIAL RELEASE</a:t>
            </a:r>
            <a:br>
              <a:rPr sz="2400"/>
            </a:br>
            <a:r>
              <a:rPr b="1" lang="en-US" sz="1600" spc="-1" strike="noStrike">
                <a:solidFill>
                  <a:srgbClr val="990000"/>
                </a:solidFill>
                <a:latin typeface="Arial"/>
                <a:ea typeface="DejaVu Sans"/>
              </a:rPr>
              <a:t>20.12.2023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323640" y="1639080"/>
            <a:ext cx="8492760" cy="44496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0000" rIns="90000" tIns="45000" bIns="4500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/>
              <a:buChar char=""/>
              <a:tabLst>
                <a:tab algn="l" pos="1886040"/>
              </a:tabLst>
            </a:pPr>
            <a:r>
              <a:rPr b="1" lang="en-US" sz="1600" spc="-1" strike="noStrike">
                <a:solidFill>
                  <a:srgbClr val="000000"/>
                </a:solidFill>
                <a:latin typeface="Arial"/>
                <a:ea typeface="DejaVu Sans"/>
              </a:rPr>
              <a:t>Hotfix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800280" indent="-34308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/>
              <a:buChar char=""/>
              <a:tabLst>
                <a:tab algn="l" pos="188604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CodeEU-273, CodeEU-274: Changes in the AMT shift strategy regarding idling speed caused simulation aborts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1" marL="800280" indent="-34308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/>
              <a:buChar char=""/>
              <a:tabLst>
                <a:tab algn="l" pos="188604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CodeEU-260: regression fix handling overload buffer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468360" y="476640"/>
            <a:ext cx="8214120" cy="6768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0000" rIns="90000" tIns="45000" bIns="4500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990000"/>
                </a:solidFill>
                <a:latin typeface="Arial"/>
                <a:ea typeface="DejaVu Sans"/>
              </a:rPr>
              <a:t>Vecto 4.0.2.3273 OFFICIAL RELEASE</a:t>
            </a:r>
            <a:br>
              <a:rPr sz="2400"/>
            </a:br>
            <a:r>
              <a:rPr b="1" lang="en-US" sz="1600" spc="-1" strike="noStrike">
                <a:solidFill>
                  <a:srgbClr val="990000"/>
                </a:solidFill>
                <a:latin typeface="Arial"/>
                <a:ea typeface="DejaVu Sans"/>
              </a:rPr>
              <a:t>18.12.2023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/>
          </p:nvPr>
        </p:nvSpPr>
        <p:spPr>
          <a:xfrm>
            <a:off x="323640" y="1268640"/>
            <a:ext cx="8492760" cy="48200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0000" rIns="90000" tIns="45000" bIns="4500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/>
              <a:buChar char=""/>
              <a:tabLst>
                <a:tab algn="l" pos="1886040"/>
              </a:tabLst>
            </a:pPr>
            <a:r>
              <a:rPr b="1" lang="en-US" sz="1600" spc="-1" strike="noStrike">
                <a:solidFill>
                  <a:srgbClr val="000000"/>
                </a:solidFill>
                <a:latin typeface="Arial"/>
                <a:ea typeface="DejaVu Sans"/>
              </a:rPr>
              <a:t>Bugfixes (1/2)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800280" indent="-34308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/>
              <a:buChar char=""/>
              <a:tabLst>
                <a:tab algn="l" pos="188604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CodeEU-94: DistanceRun got an unexpected response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1" marL="800280" indent="-34308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/>
              <a:buChar char=""/>
              <a:tabLst>
                <a:tab algn="l" pos="188604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CodeEU-153: DrivingActionAccelerate: Failed to find operating point after Overload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1" marL="800280" indent="-34308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/>
              <a:buChar char=""/>
              <a:tabLst>
                <a:tab algn="l" pos="188604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CodeEU-158: Urban RefLoad DrivingActionAccelerate: Failed to find operating point (IEPC Wheelhub 1 measured)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1" marL="800280" indent="-34308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/>
              <a:buChar char=""/>
              <a:tabLst>
                <a:tab algn="l" pos="188604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CodeEU-168: Vecto Declaration Simulation with P1-Hybrid shows multiple errors - Simulation Aborts!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1" marL="800280" indent="-34308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/>
              <a:buChar char=""/>
              <a:tabLst>
                <a:tab algn="l" pos="188604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CodeEU-191: Boosting limits HEV ovc are not working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1" marL="800280" indent="-34308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/>
              <a:buChar char=""/>
              <a:tabLst>
                <a:tab algn="l" pos="188604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CodeEU-202: EMS Standard Values: Continuous/Overload Torque 0 Nm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1" marL="800280" indent="-34308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/>
              <a:buChar char=""/>
              <a:tabLst>
                <a:tab algn="l" pos="188604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CodeEU-203: HybridStrategy error for IHPC type 1 hybrid lorry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1" marL="800280" indent="-34308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/>
              <a:buChar char=""/>
              <a:tabLst>
                <a:tab algn="l" pos="188604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CodeEU-206: VTP + PEMS test done by Renault Trucks France - VECTO tool errors most probably linked to automatic gearbox (with torque converter)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1" marL="800280" indent="-34308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/>
              <a:buChar char=""/>
              <a:tabLst>
                <a:tab algn="l" pos="188604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CodeEU-211: Hybrid P1 configurations with errors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1" marL="800280" indent="-34308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/>
              <a:buChar char=""/>
              <a:tabLst>
                <a:tab algn="l" pos="188604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CodeEU-215: MultiStep tool help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1" marL="800280" indent="-34308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/>
              <a:buChar char=""/>
              <a:tabLst>
                <a:tab algn="l" pos="188604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CodeEU-216: NrOfGears in CIF is 1 for IEPC no matter how many gears it has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1" marL="800280" indent="-34308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/>
              <a:buChar char=""/>
              <a:tabLst>
                <a:tab algn="l" pos="188604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CodeEU-220: Error manual transmission 2. gear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1" marL="800280" indent="-34308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/>
              <a:buChar char=""/>
              <a:tabLst>
                <a:tab algn="l" pos="188604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CodeEU-224: Issue with PEV complete vehicle simulation (Vecto MultiStage)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1" marL="800280" indent="-34308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/>
              <a:buChar char=""/>
              <a:tabLst>
                <a:tab algn="l" pos="188604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CodeEU-231: IVECO CONFIDENTIAL : hybrid buses completed simulation aborted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1" marL="800280" indent="-34308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/>
              <a:buChar char=""/>
              <a:tabLst>
                <a:tab algn="l" pos="188604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CodeEU-234: Error Conventional Lorry Gear: 1C DistanceRun got an unexpected response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1" marL="800280" indent="-34308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/>
              <a:buChar char=""/>
              <a:tabLst>
                <a:tab algn="l" pos="188604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CodeEU-235: Tyre error calculation buses "invalid xsi:type 'TyreDataDeclarationType'"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1" marL="800280" indent="-34308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/>
              <a:buChar char=""/>
              <a:tabLst>
                <a:tab algn="l" pos="188604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CodeEU-238: Bus VIF files not valid in Multistep VECTO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1" marL="800280" indent="-34308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/>
              <a:buChar char=""/>
              <a:tabLst>
                <a:tab algn="l" pos="188604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CodeEU-243: Simulation aborted: Gear 5 Lossmap not sufficiant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1" marL="800280" indent="-34308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/>
              <a:buChar char=""/>
              <a:tabLst>
                <a:tab algn="l" pos="188604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CodeEU-244: Signature validation fails for old (prior to v4) Manufacturer reports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468360" y="476640"/>
            <a:ext cx="8214120" cy="6768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0000" rIns="90000" tIns="45000" bIns="4500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990000"/>
                </a:solidFill>
                <a:latin typeface="Arial"/>
                <a:ea typeface="DejaVu Sans"/>
              </a:rPr>
              <a:t>Vecto 4.0.2.3273 OFFICIAL RELEASE</a:t>
            </a:r>
            <a:br>
              <a:rPr sz="2400"/>
            </a:br>
            <a:r>
              <a:rPr b="1" lang="en-US" sz="1600" spc="-1" strike="noStrike">
                <a:solidFill>
                  <a:srgbClr val="990000"/>
                </a:solidFill>
                <a:latin typeface="Arial"/>
                <a:ea typeface="DejaVu Sans"/>
              </a:rPr>
              <a:t>18.12.2023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323640" y="1268640"/>
            <a:ext cx="8492760" cy="48200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0000" rIns="90000" tIns="45000" bIns="4500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/>
              <a:buChar char=""/>
              <a:tabLst>
                <a:tab algn="l" pos="1886040"/>
              </a:tabLst>
            </a:pPr>
            <a:r>
              <a:rPr b="1" lang="en-US" sz="1600" spc="-1" strike="noStrike">
                <a:solidFill>
                  <a:srgbClr val="000000"/>
                </a:solidFill>
                <a:latin typeface="Arial"/>
                <a:ea typeface="DejaVu Sans"/>
              </a:rPr>
              <a:t>Bugfixes (2/2)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800280" indent="-34308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/>
              <a:buChar char=""/>
              <a:tabLst>
                <a:tab algn="l" pos="188604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CodeEU-249: Fix handling gear torque limits in case of IEPC WheelHub motor and only one side is measured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1" marL="800280" indent="-34308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/>
              <a:buChar char=""/>
              <a:tabLst>
                <a:tab algn="l" pos="188604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CodeEU-250: Maximum vehicle speed exceeded during pre-processing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1" marL="800280" indent="-34308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/>
              <a:buChar char=""/>
              <a:tabLst>
                <a:tab algn="l" pos="188604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CodeEU-253: Replace VTP HeavyBus in Generic Vehicles with VTP Truck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1" marL="800280" indent="-34308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/>
              <a:buChar char=""/>
              <a:tabLst>
                <a:tab algn="l" pos="188604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CodeEU-259: Inconsistent calculation of AverageRRC in CIF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1" marL="800280" indent="-34308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/>
              <a:buChar char=""/>
              <a:tabLst>
                <a:tab algn="l" pos="188604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CodeEU-260: Handling of overload buffer in case Continuous Torque is 0Nm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1" marL="800280" indent="-34308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/>
              <a:buChar char=""/>
              <a:tabLst>
                <a:tab algn="l" pos="188604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CodeEU-261: SuperCap internal resistance standard values correction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1" marL="800280" indent="-34308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/>
              <a:buChar char=""/>
              <a:tabLst>
                <a:tab algn="l" pos="188604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CodeEU-263: Determination of rated power for IEPCs for MRF and CIF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1" marL="800280" indent="-34308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/>
              <a:buChar char=""/>
              <a:tabLst>
                <a:tab algn="l" pos="188604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CodeEU-266: Fix Measured Speed Testcases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468360" y="476640"/>
            <a:ext cx="8214120" cy="6768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0000" rIns="90000" tIns="45000" bIns="4500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990000"/>
                </a:solidFill>
                <a:latin typeface="Arial"/>
                <a:ea typeface="DejaVu Sans"/>
              </a:rPr>
              <a:t>Vecto 4.0.1.3217 OFFICIAL RELEASE</a:t>
            </a:r>
            <a:br>
              <a:rPr sz="2400"/>
            </a:br>
            <a:r>
              <a:rPr b="1" lang="en-US" sz="1600" spc="-1" strike="noStrike">
                <a:solidFill>
                  <a:srgbClr val="990000"/>
                </a:solidFill>
                <a:latin typeface="Arial"/>
                <a:ea typeface="DejaVu Sans"/>
              </a:rPr>
              <a:t>23.10.2023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/>
          </p:nvPr>
        </p:nvSpPr>
        <p:spPr>
          <a:xfrm>
            <a:off x="323640" y="1268640"/>
            <a:ext cx="8492760" cy="48200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0000" rIns="90000" tIns="45000" bIns="4500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/>
              <a:buChar char=""/>
              <a:tabLst>
                <a:tab algn="l" pos="1886040"/>
              </a:tabLst>
            </a:pPr>
            <a:r>
              <a:rPr b="1" lang="en-US" sz="1600" spc="-1" strike="noStrike">
                <a:solidFill>
                  <a:srgbClr val="000000"/>
                </a:solidFill>
                <a:latin typeface="Arial"/>
                <a:ea typeface="DejaVu Sans"/>
              </a:rPr>
              <a:t>Improvements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800280" indent="-34308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/>
              <a:buChar char=""/>
              <a:tabLst>
                <a:tab algn="l" pos="188604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DejaVu Sans"/>
              </a:rPr>
              <a:t>VTP mode: create zip archive for input and output files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/>
              <a:buChar char=""/>
              <a:tabLst>
                <a:tab algn="l" pos="1886040"/>
              </a:tabLst>
            </a:pPr>
            <a:r>
              <a:rPr b="1" lang="en-US" sz="1600" spc="-1" strike="noStrike">
                <a:solidFill>
                  <a:srgbClr val="000000"/>
                </a:solidFill>
                <a:latin typeface="Arial"/>
                <a:ea typeface="DejaVu Sans"/>
              </a:rPr>
              <a:t>- Bugfixes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800280" indent="-34308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/>
              <a:buChar char=""/>
              <a:tabLst>
                <a:tab algn="l" pos="188604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DejaVu Sans"/>
              </a:rPr>
              <a:t>bugfix in CIF for complete(d) buses - do not write PrimaryVehicleSubgroup element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00280" indent="-34308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/>
              <a:buChar char=""/>
              <a:tabLst>
                <a:tab algn="l" pos="188604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DejaVu Sans"/>
              </a:rPr>
              <a:t>fix hybrid strategy: power comparison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00280" indent="-34308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/>
              <a:buChar char=""/>
              <a:tabLst>
                <a:tab algn="l" pos="188604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DejaVu Sans"/>
              </a:rPr>
              <a:t>fix exempted vehicles do not work (error message that XML version is not supported)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00280" indent="-34308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/>
              <a:buChar char=""/>
              <a:tabLst>
                <a:tab algn="l" pos="188604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DejaVu Sans"/>
              </a:rPr>
              <a:t>bugfix in XML schema: remove wrong PS technology entry for lorries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00280" indent="-34308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/>
              <a:buChar char=""/>
              <a:tabLst>
                <a:tab algn="l" pos="188604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DejaVu Sans"/>
              </a:rPr>
              <a:t>bugfix for conditioning power demand for IHPC vehicles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 Box 94"/>
          <p:cNvSpPr/>
          <p:nvPr/>
        </p:nvSpPr>
        <p:spPr>
          <a:xfrm>
            <a:off x="539640" y="1052640"/>
            <a:ext cx="8132040" cy="39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spcBef>
                <a:spcPts val="1599"/>
              </a:spcBef>
            </a:pPr>
            <a:r>
              <a:rPr b="1" lang="en-US" sz="3200" spc="-1" strike="noStrike">
                <a:solidFill>
                  <a:srgbClr val="990000"/>
                </a:solidFill>
                <a:latin typeface="Arial"/>
                <a:ea typeface="DejaVu Sans"/>
              </a:rPr>
              <a:t>VECTO 4.0.0.3210 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spcBef>
                <a:spcPts val="1001"/>
              </a:spcBef>
            </a:pPr>
            <a:r>
              <a:rPr b="1" lang="en-US" sz="2000" spc="-1" strike="noStrike">
                <a:solidFill>
                  <a:srgbClr val="990000"/>
                </a:solidFill>
                <a:latin typeface="Arial"/>
                <a:ea typeface="DejaVu Sans"/>
              </a:rPr>
              <a:t>16.10.2023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spcBef>
                <a:spcPts val="1001"/>
              </a:spcBef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spcBef>
                <a:spcPts val="1001"/>
              </a:spcBef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spcBef>
                <a:spcPts val="1199"/>
              </a:spcBef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spcBef>
                <a:spcPts val="1199"/>
              </a:spcBef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spcBef>
                <a:spcPts val="1199"/>
              </a:spcBef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spcBef>
                <a:spcPts val="1199"/>
              </a:spcBef>
            </a:pPr>
            <a:r>
              <a:rPr b="1" lang="en-US" sz="2400" spc="-1" strike="noStrike">
                <a:solidFill>
                  <a:srgbClr val="990000"/>
                </a:solidFill>
                <a:latin typeface="Arial"/>
                <a:ea typeface="DejaVu Sans"/>
              </a:rPr>
              <a:t>Release Notes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4" name="Picture 2" descr=""/>
          <p:cNvPicPr/>
          <p:nvPr/>
        </p:nvPicPr>
        <p:blipFill>
          <a:blip r:embed="rId1"/>
          <a:stretch/>
        </p:blipFill>
        <p:spPr>
          <a:xfrm>
            <a:off x="2483640" y="2421000"/>
            <a:ext cx="4172040" cy="16232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722160" y="2320200"/>
            <a:ext cx="7768800" cy="1526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4201"/>
              </a:spcBef>
              <a:buNone/>
              <a:tabLst>
                <a:tab algn="l" pos="0"/>
              </a:tabLst>
            </a:pPr>
            <a:br>
              <a:rPr sz="2400"/>
            </a:br>
            <a:r>
              <a:rPr b="1" lang="en-US" sz="2400" spc="-1" strike="noStrike">
                <a:solidFill>
                  <a:srgbClr val="990000"/>
                </a:solidFill>
                <a:latin typeface="Arial"/>
                <a:ea typeface="DejaVu Sans"/>
              </a:rPr>
              <a:t>First official VECTO release for the 2nd Amendment </a:t>
            </a:r>
            <a:br>
              <a:rPr sz="2400"/>
            </a:br>
            <a:r>
              <a:rPr b="1" lang="en-US" sz="2400" spc="-1" strike="noStrike">
                <a:solidFill>
                  <a:srgbClr val="990000"/>
                </a:solidFill>
                <a:latin typeface="Arial"/>
                <a:ea typeface="DejaVu Sans"/>
              </a:rPr>
              <a:t>of Regulation (EU) 2017/2400</a:t>
            </a:r>
            <a:br>
              <a:rPr sz="2800"/>
            </a:br>
            <a:br>
              <a:rPr sz="2800"/>
            </a:br>
            <a:br>
              <a:rPr sz="2400"/>
            </a:b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/>
          </p:nvPr>
        </p:nvSpPr>
        <p:spPr>
          <a:xfrm>
            <a:off x="722160" y="4276440"/>
            <a:ext cx="7768800" cy="403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GB" sz="2000" spc="-1" strike="noStrike">
                <a:solidFill>
                  <a:schemeClr val="dk1"/>
                </a:solidFill>
                <a:latin typeface="Arial"/>
                <a:ea typeface="DejaVu Sans"/>
              </a:rPr>
              <a:t>TUG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/>
          </p:nvPr>
        </p:nvSpPr>
        <p:spPr>
          <a:xfrm>
            <a:off x="588240" y="1140480"/>
            <a:ext cx="8390880" cy="5043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4999"/>
          </a:bodyPr>
          <a:p>
            <a:pPr marL="228600" indent="-228600" defTabSz="914400">
              <a:lnSpc>
                <a:spcPct val="120000"/>
              </a:lnSpc>
              <a:spcBef>
                <a:spcPts val="6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Arial"/>
                <a:ea typeface="DejaVu Sans"/>
              </a:rPr>
              <a:t>Declaration Mode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1" marL="716040" indent="-266760" defTabSz="914400">
              <a:lnSpc>
                <a:spcPct val="120000"/>
              </a:lnSpc>
              <a:spcBef>
                <a:spcPts val="601"/>
              </a:spcBef>
              <a:buClr>
                <a:srgbClr val="000000"/>
              </a:buClr>
              <a:buFont typeface="Wingdings" charset="2"/>
              <a:buChar char=""/>
            </a:pPr>
            <a:r>
              <a:rPr b="0" lang="en-US" sz="1600" spc="-1" strike="noStrike">
                <a:solidFill>
                  <a:schemeClr val="dk1"/>
                </a:solidFill>
                <a:latin typeface="Arial"/>
                <a:ea typeface="DejaVu Sans"/>
              </a:rPr>
              <a:t>xEV-Heavy Lorries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716040" indent="-266760" defTabSz="914400">
              <a:lnSpc>
                <a:spcPct val="120000"/>
              </a:lnSpc>
              <a:spcBef>
                <a:spcPts val="601"/>
              </a:spcBef>
              <a:buClr>
                <a:srgbClr val="000000"/>
              </a:buClr>
              <a:buFont typeface="Wingdings" charset="2"/>
              <a:buChar char=""/>
            </a:pPr>
            <a:r>
              <a:rPr b="0" lang="en-US" sz="1600" spc="-1" strike="noStrike">
                <a:solidFill>
                  <a:schemeClr val="dk1"/>
                </a:solidFill>
                <a:latin typeface="Arial"/>
                <a:ea typeface="DejaVu Sans"/>
              </a:rPr>
              <a:t>Conventional Medium Lorries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716040" indent="-266760" defTabSz="914400">
              <a:lnSpc>
                <a:spcPct val="120000"/>
              </a:lnSpc>
              <a:spcBef>
                <a:spcPts val="601"/>
              </a:spcBef>
              <a:buClr>
                <a:srgbClr val="000000"/>
              </a:buClr>
              <a:buFont typeface="Wingdings" charset="2"/>
              <a:buChar char=""/>
            </a:pPr>
            <a:r>
              <a:rPr b="0" lang="en-US" sz="1600" spc="-1" strike="noStrike">
                <a:solidFill>
                  <a:schemeClr val="dk1"/>
                </a:solidFill>
                <a:latin typeface="Arial"/>
                <a:ea typeface="DejaVu Sans"/>
              </a:rPr>
              <a:t>xEV Medium Lorries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716040" indent="-266760" defTabSz="914400">
              <a:lnSpc>
                <a:spcPct val="120000"/>
              </a:lnSpc>
              <a:spcBef>
                <a:spcPts val="601"/>
              </a:spcBef>
              <a:buClr>
                <a:srgbClr val="000000"/>
              </a:buClr>
              <a:buFont typeface="Wingdings" charset="2"/>
              <a:buChar char=""/>
            </a:pPr>
            <a:r>
              <a:rPr b="0" lang="en-US" sz="1600" spc="-1" strike="noStrike">
                <a:solidFill>
                  <a:schemeClr val="dk1"/>
                </a:solidFill>
                <a:latin typeface="Arial"/>
                <a:ea typeface="DejaVu Sans"/>
              </a:rPr>
              <a:t>Conventional Buses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716040" indent="-266760" defTabSz="914400">
              <a:lnSpc>
                <a:spcPct val="120000"/>
              </a:lnSpc>
              <a:spcBef>
                <a:spcPts val="601"/>
              </a:spcBef>
              <a:buClr>
                <a:srgbClr val="000000"/>
              </a:buClr>
              <a:buFont typeface="Wingdings" charset="2"/>
              <a:buChar char=""/>
            </a:pPr>
            <a:r>
              <a:rPr b="0" lang="en-US" sz="1600" spc="-1" strike="noStrike">
                <a:solidFill>
                  <a:schemeClr val="dk1"/>
                </a:solidFill>
                <a:latin typeface="Arial"/>
                <a:ea typeface="DejaVu Sans"/>
              </a:rPr>
              <a:t>xEV Buses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120000"/>
              </a:lnSpc>
              <a:spcBef>
                <a:spcPts val="6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Arial"/>
                <a:ea typeface="DejaVu Sans"/>
              </a:rPr>
              <a:t>Dedicated user interface for simulating buses in Declaration Mode using the multistep approach: VECTOMultistep.exe 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120000"/>
              </a:lnSpc>
              <a:spcBef>
                <a:spcPts val="6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Arial"/>
                <a:ea typeface="DejaVu Sans"/>
              </a:rPr>
              <a:t>Engineering Mode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1" marL="716040" indent="-266760" defTabSz="914400">
              <a:lnSpc>
                <a:spcPct val="120000"/>
              </a:lnSpc>
              <a:spcBef>
                <a:spcPts val="601"/>
              </a:spcBef>
              <a:buClr>
                <a:srgbClr val="000000"/>
              </a:buClr>
              <a:buFont typeface="Wingdings" charset="2"/>
              <a:buChar char=""/>
            </a:pPr>
            <a:r>
              <a:rPr b="0" lang="en-US" sz="1600" spc="-1" strike="noStrike">
                <a:solidFill>
                  <a:schemeClr val="dk1"/>
                </a:solidFill>
                <a:latin typeface="Arial"/>
                <a:ea typeface="DejaVu Sans"/>
              </a:rPr>
              <a:t>xEV-Vehicles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120000"/>
              </a:lnSpc>
              <a:spcBef>
                <a:spcPts val="601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000" spc="-1" strike="noStrike">
                <a:solidFill>
                  <a:schemeClr val="dk1"/>
                </a:solidFill>
                <a:latin typeface="Arial"/>
                <a:ea typeface="DejaVu Sans"/>
              </a:rPr>
              <a:t>Updated XML-Reports and Vehicle Information Files to support new Vehicle Architectures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1" marL="716040" indent="-266760" defTabSz="914400">
              <a:lnSpc>
                <a:spcPct val="120000"/>
              </a:lnSpc>
              <a:spcBef>
                <a:spcPts val="601"/>
              </a:spcBef>
              <a:buClr>
                <a:srgbClr val="000000"/>
              </a:buClr>
              <a:buFont typeface="Wingdings" charset="2"/>
              <a:buChar char=""/>
            </a:pPr>
            <a:r>
              <a:rPr b="0" lang="pt-BR" sz="1600" spc="-1" strike="noStrike">
                <a:solidFill>
                  <a:schemeClr val="dk1"/>
                </a:solidFill>
                <a:latin typeface="Arial"/>
                <a:ea typeface="DejaVu Sans"/>
              </a:rPr>
              <a:t>New Manufacturer Record File (MRF):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716040" indent="-266760" defTabSz="914400">
              <a:lnSpc>
                <a:spcPct val="120000"/>
              </a:lnSpc>
              <a:spcBef>
                <a:spcPts val="601"/>
              </a:spcBef>
              <a:buClr>
                <a:srgbClr val="000000"/>
              </a:buClr>
              <a:buFont typeface="Wingdings" charset="2"/>
              <a:buChar char=""/>
            </a:pPr>
            <a:r>
              <a:rPr b="0" lang="pt-BR" sz="1600" spc="-1" strike="noStrike">
                <a:solidFill>
                  <a:schemeClr val="dk1"/>
                </a:solidFill>
                <a:latin typeface="Arial"/>
                <a:ea typeface="DejaVu Sans"/>
              </a:rPr>
              <a:t>New Customer Information File (CIF): 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716040" indent="-266760" defTabSz="914400">
              <a:lnSpc>
                <a:spcPct val="120000"/>
              </a:lnSpc>
              <a:spcBef>
                <a:spcPts val="601"/>
              </a:spcBef>
              <a:buClr>
                <a:srgbClr val="000000"/>
              </a:buClr>
              <a:buFont typeface="Wingdings" charset="2"/>
              <a:buChar char=""/>
            </a:pPr>
            <a:r>
              <a:rPr b="0" lang="pt-BR" sz="1600" spc="-1" strike="noStrike">
                <a:solidFill>
                  <a:schemeClr val="dk1"/>
                </a:solidFill>
                <a:latin typeface="Arial"/>
                <a:ea typeface="DejaVu Sans"/>
              </a:rPr>
              <a:t>Multistep Output (VIF):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120000"/>
              </a:lnSpc>
              <a:spcBef>
                <a:spcPts val="601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000" spc="-1" strike="noStrike">
                <a:solidFill>
                  <a:schemeClr val="dk1"/>
                </a:solidFill>
                <a:latin typeface="Arial"/>
                <a:ea typeface="DejaVu Sans"/>
              </a:rPr>
              <a:t>Updated simulation output (.vsum, .vmod)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120000"/>
              </a:lnSpc>
              <a:spcBef>
                <a:spcPts val="601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000" spc="-1" strike="noStrike">
                <a:solidFill>
                  <a:schemeClr val="dk1"/>
                </a:solidFill>
                <a:latin typeface="Arial"/>
                <a:ea typeface="DejaVu Sans"/>
              </a:rPr>
              <a:t>Updated Hashing Tool to handle new powertrain components (electric motor, battery, supercap ...)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120000"/>
              </a:lnSpc>
              <a:spcBef>
                <a:spcPts val="601"/>
              </a:spcBef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120000"/>
              </a:lnSpc>
              <a:spcBef>
                <a:spcPts val="6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pt-BR" sz="2000" spc="-1" strike="noStrike">
                <a:solidFill>
                  <a:schemeClr val="dk1"/>
                </a:solidFill>
                <a:latin typeface="Arial"/>
                <a:ea typeface="DejaVu Sans"/>
              </a:rPr>
              <a:t>Supports .NET Framework 4.8 and .NET 6.0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title"/>
          </p:nvPr>
        </p:nvSpPr>
        <p:spPr>
          <a:xfrm>
            <a:off x="588240" y="453600"/>
            <a:ext cx="8225640" cy="475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GB" sz="2400" spc="-1" strike="noStrike">
                <a:solidFill>
                  <a:srgbClr val="990000"/>
                </a:solidFill>
                <a:latin typeface="Arial"/>
                <a:ea typeface="DejaVu Sans"/>
              </a:rPr>
              <a:t>Features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588240" y="453600"/>
            <a:ext cx="8225640" cy="112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990000"/>
                </a:solidFill>
                <a:latin typeface="Arial"/>
                <a:ea typeface="DejaVu Sans"/>
              </a:rPr>
              <a:t>Features – Tool modes</a:t>
            </a:r>
            <a:br>
              <a:rPr sz="2400"/>
            </a:b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70" name="Inhaltsplatzhalter 4"/>
          <p:cNvGraphicFramePr/>
          <p:nvPr/>
        </p:nvGraphicFramePr>
        <p:xfrm>
          <a:off x="622440" y="2393280"/>
          <a:ext cx="7605360" cy="2034360"/>
        </p:xfrm>
        <a:graphic>
          <a:graphicData uri="http://schemas.openxmlformats.org/drawingml/2006/table">
            <a:tbl>
              <a:tblPr/>
              <a:tblGrid>
                <a:gridCol w="1177920"/>
                <a:gridCol w="582120"/>
                <a:gridCol w="582120"/>
                <a:gridCol w="582120"/>
                <a:gridCol w="582120"/>
                <a:gridCol w="582120"/>
                <a:gridCol w="681480"/>
                <a:gridCol w="681480"/>
                <a:gridCol w="681480"/>
                <a:gridCol w="681480"/>
                <a:gridCol w="791280"/>
              </a:tblGrid>
              <a:tr h="596880">
                <a:tc>
                  <a:txBody>
                    <a:bodyPr lIns="8280" rIns="82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de-AT" sz="900" spc="-1" strike="noStrike">
                          <a:solidFill>
                            <a:srgbClr val="ffffff"/>
                          </a:solidFill>
                          <a:latin typeface="Arial"/>
                          <a:ea typeface="DejaVu Sans"/>
                        </a:rPr>
                        <a:t> 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8280" marR="82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lIns="8280" rIns="828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de-AT" sz="900" spc="-1" strike="noStrike">
                          <a:solidFill>
                            <a:srgbClr val="ffffff"/>
                          </a:solidFill>
                          <a:latin typeface="Arial"/>
                          <a:ea typeface="DejaVu Sans"/>
                        </a:rPr>
                        <a:t>Medium Lorries (XML)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8280" marR="82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lIns="8280" rIns="828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de-AT" sz="900" spc="-1" strike="noStrike">
                          <a:solidFill>
                            <a:srgbClr val="ffffff"/>
                          </a:solidFill>
                          <a:latin typeface="Arial"/>
                          <a:ea typeface="DejaVu Sans"/>
                        </a:rPr>
                        <a:t>Heavy Lorries (XML)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8280" marR="82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lIns="8280" rIns="828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de-AT" sz="900" spc="-1" strike="noStrike">
                          <a:solidFill>
                            <a:srgbClr val="ffffff"/>
                          </a:solidFill>
                          <a:latin typeface="Arial"/>
                          <a:ea typeface="DejaVu Sans"/>
                        </a:rPr>
                        <a:t>Primary buses (XML)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8280" marR="82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lIns="8280" rIns="828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de-AT" sz="900" spc="-1" strike="noStrike">
                          <a:solidFill>
                            <a:srgbClr val="ffffff"/>
                          </a:solidFill>
                          <a:latin typeface="Arial"/>
                          <a:ea typeface="DejaVu Sans"/>
                        </a:rPr>
                        <a:t>Interim buses </a:t>
                      </a:r>
                      <a:br>
                        <a:rPr sz="900"/>
                      </a:br>
                      <a:r>
                        <a:rPr b="0" lang="de-AT" sz="900" spc="-1" strike="noStrike">
                          <a:solidFill>
                            <a:srgbClr val="ffffff"/>
                          </a:solidFill>
                          <a:latin typeface="Arial"/>
                          <a:ea typeface="DejaVu Sans"/>
                        </a:rPr>
                        <a:t>(GUI)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8280" marR="82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lIns="8280" rIns="828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de-AT" sz="900" spc="-1" strike="noStrike">
                          <a:solidFill>
                            <a:srgbClr val="ffffff"/>
                          </a:solidFill>
                          <a:latin typeface="Arial"/>
                          <a:ea typeface="DejaVu Sans"/>
                        </a:rPr>
                        <a:t>Interim buses (XML)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8280" marR="82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lIns="8280" rIns="828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de-AT" sz="900" spc="-1" strike="noStrike">
                          <a:solidFill>
                            <a:srgbClr val="ffffff"/>
                          </a:solidFill>
                          <a:latin typeface="Arial"/>
                          <a:ea typeface="DejaVu Sans"/>
                        </a:rPr>
                        <a:t>Completed buses (JSON v7)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8280" marR="82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lIns="8280" rIns="828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de-AT" sz="900" spc="-1" strike="noStrike">
                          <a:solidFill>
                            <a:srgbClr val="ffffff"/>
                          </a:solidFill>
                          <a:latin typeface="Arial"/>
                          <a:ea typeface="DejaVu Sans"/>
                        </a:rPr>
                        <a:t>Completed buses </a:t>
                      </a:r>
                      <a:br>
                        <a:rPr sz="900"/>
                      </a:br>
                      <a:r>
                        <a:rPr b="0" lang="de-AT" sz="900" spc="-1" strike="noStrike">
                          <a:solidFill>
                            <a:srgbClr val="ffffff"/>
                          </a:solidFill>
                          <a:latin typeface="Arial"/>
                          <a:ea typeface="DejaVu Sans"/>
                        </a:rPr>
                        <a:t>(GUI)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8280" marR="82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lIns="8280" rIns="828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de-AT" sz="900" spc="-1" strike="noStrike">
                          <a:solidFill>
                            <a:srgbClr val="ffffff"/>
                          </a:solidFill>
                          <a:latin typeface="Arial"/>
                          <a:ea typeface="DejaVu Sans"/>
                        </a:rPr>
                        <a:t>Completed buses (XML)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8280" marR="82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lIns="8280" rIns="828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de-AT" sz="900" spc="-1" strike="noStrike">
                          <a:solidFill>
                            <a:srgbClr val="ffffff"/>
                          </a:solidFill>
                          <a:latin typeface="Arial"/>
                          <a:ea typeface="DejaVu Sans"/>
                        </a:rPr>
                        <a:t>Complete buses (JSON v10)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8280" marR="82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lIns="8280" rIns="828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de-AT" sz="900" spc="-1" strike="noStrike">
                          <a:solidFill>
                            <a:srgbClr val="ffffff"/>
                          </a:solidFill>
                          <a:latin typeface="Arial"/>
                          <a:ea typeface="DejaVu Sans"/>
                        </a:rPr>
                        <a:t>Complete buses (XML)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8280" marR="82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</a:tr>
              <a:tr h="170280">
                <a:tc>
                  <a:txBody>
                    <a:bodyPr lIns="8280" rIns="82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de-AT" sz="900" spc="-1" strike="noStrike">
                          <a:solidFill>
                            <a:srgbClr val="ffffff"/>
                          </a:solidFill>
                          <a:latin typeface="Arial"/>
                          <a:ea typeface="DejaVu Sans"/>
                        </a:rPr>
                        <a:t>VECTO.exe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8280" marR="82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lIns="8280" rIns="828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de-AT" sz="900" spc="-1" strike="noStrike">
                          <a:solidFill>
                            <a:schemeClr val="accent2"/>
                          </a:solidFill>
                          <a:latin typeface="Arial"/>
                          <a:ea typeface="DejaVu Sans"/>
                        </a:rPr>
                        <a:t>X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8280" marR="82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lIns="8280" rIns="828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de-AT" sz="900" spc="-1" strike="noStrike">
                          <a:solidFill>
                            <a:schemeClr val="accent2"/>
                          </a:solidFill>
                          <a:latin typeface="Arial"/>
                          <a:ea typeface="DejaVu Sans"/>
                        </a:rPr>
                        <a:t>X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8280" marR="82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lIns="8280" rIns="828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de-AT" sz="900" spc="-1" strike="noStrike">
                          <a:solidFill>
                            <a:schemeClr val="accent2"/>
                          </a:solidFill>
                          <a:latin typeface="Arial"/>
                          <a:ea typeface="DejaVu Sans"/>
                        </a:rPr>
                        <a:t>X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8280" marR="82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lIns="8280" rIns="828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de-AT" sz="9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 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8280" marR="82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lIns="8280" rIns="828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de-AT" sz="9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 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8280" marR="82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lIns="8280" rIns="828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de-AT" sz="900" spc="-1" strike="noStrike">
                          <a:solidFill>
                            <a:schemeClr val="accent2"/>
                          </a:solidFill>
                          <a:latin typeface="Arial"/>
                          <a:ea typeface="DejaVu Sans"/>
                        </a:rPr>
                        <a:t>X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8280" marR="82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lIns="8280" rIns="828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de-AT" sz="900" spc="-1" strike="noStrike">
                          <a:solidFill>
                            <a:schemeClr val="accent2"/>
                          </a:solidFill>
                          <a:latin typeface="Arial"/>
                          <a:ea typeface="DejaVu Sans"/>
                        </a:rPr>
                        <a:t> 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8280" marR="82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lIns="8280" rIns="828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de-AT" sz="900" spc="-1" strike="noStrike">
                          <a:solidFill>
                            <a:schemeClr val="accent2"/>
                          </a:solidFill>
                          <a:latin typeface="Arial"/>
                          <a:ea typeface="DejaVu Sans"/>
                        </a:rPr>
                        <a:t>X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8280" marR="82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lIns="8280" rIns="828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de-AT" sz="900" spc="-1" strike="noStrike">
                          <a:solidFill>
                            <a:schemeClr val="accent2"/>
                          </a:solidFill>
                          <a:latin typeface="Arial"/>
                          <a:ea typeface="DejaVu Sans"/>
                        </a:rPr>
                        <a:t>X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8280" marR="82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lIns="8280" rIns="828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de-AT" sz="900" spc="-1" strike="noStrike">
                          <a:solidFill>
                            <a:schemeClr val="accent2"/>
                          </a:solidFill>
                          <a:latin typeface="Arial"/>
                          <a:ea typeface="DejaVu Sans"/>
                        </a:rPr>
                        <a:t>X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8280" marR="82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</a:tr>
              <a:tr h="510840">
                <a:tc>
                  <a:txBody>
                    <a:bodyPr lIns="8280" rIns="82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de-AT" sz="900" spc="-1" strike="noStrike">
                          <a:solidFill>
                            <a:srgbClr val="ffffff"/>
                          </a:solidFill>
                          <a:latin typeface="Arial"/>
                          <a:ea typeface="DejaVu Sans"/>
                        </a:rPr>
                        <a:t>VECTOcmd.exe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8280" marR="82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lIns="8280" rIns="828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de-AT" sz="900" spc="-1" strike="noStrike">
                          <a:solidFill>
                            <a:schemeClr val="accent2"/>
                          </a:solidFill>
                          <a:latin typeface="Arial"/>
                          <a:ea typeface="DejaVu Sans"/>
                        </a:rPr>
                        <a:t>X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8280" marR="82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lIns="8280" rIns="828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de-AT" sz="900" spc="-1" strike="noStrike">
                          <a:solidFill>
                            <a:schemeClr val="accent2"/>
                          </a:solidFill>
                          <a:latin typeface="Arial"/>
                          <a:ea typeface="DejaVu Sans"/>
                        </a:rPr>
                        <a:t>X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8280" marR="82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lIns="8280" rIns="828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de-AT" sz="900" spc="-1" strike="noStrike">
                          <a:solidFill>
                            <a:schemeClr val="accent2"/>
                          </a:solidFill>
                          <a:latin typeface="Arial"/>
                          <a:ea typeface="DejaVu Sans"/>
                        </a:rPr>
                        <a:t>X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8280" marR="82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lIns="8280" rIns="82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de-AT" sz="900" spc="-1" strike="noStrike">
                          <a:solidFill>
                            <a:schemeClr val="accent2"/>
                          </a:solidFill>
                          <a:latin typeface="Arial"/>
                          <a:ea typeface="DejaVu Sans"/>
                        </a:rPr>
                        <a:t> 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8280" marR="82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lIns="8280" rIns="82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de-AT" sz="900" spc="-1" strike="noStrike">
                          <a:solidFill>
                            <a:schemeClr val="accent2"/>
                          </a:solidFill>
                          <a:latin typeface="Arial"/>
                          <a:ea typeface="DejaVu Sans"/>
                        </a:rPr>
                        <a:t> 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8280" marR="82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lIns="8280" rIns="828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de-AT" sz="900" spc="-1" strike="noStrike">
                          <a:solidFill>
                            <a:schemeClr val="accent2"/>
                          </a:solidFill>
                          <a:latin typeface="Arial"/>
                          <a:ea typeface="DejaVu Sans"/>
                        </a:rPr>
                        <a:t>X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8280" marR="82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lIns="8280" rIns="82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de-AT" sz="900" spc="-1" strike="noStrike">
                          <a:solidFill>
                            <a:schemeClr val="accent2"/>
                          </a:solidFill>
                          <a:latin typeface="Arial"/>
                          <a:ea typeface="DejaVu Sans"/>
                        </a:rPr>
                        <a:t> 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8280" marR="82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lIns="8280" rIns="828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de-AT" sz="900" spc="-1" strike="noStrike">
                          <a:solidFill>
                            <a:schemeClr val="accent2"/>
                          </a:solidFill>
                          <a:latin typeface="Arial"/>
                          <a:ea typeface="DejaVu Sans"/>
                        </a:rPr>
                        <a:t>X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8280" marR="82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lIns="8280" rIns="828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de-AT" sz="900" spc="-1" strike="noStrike">
                          <a:solidFill>
                            <a:schemeClr val="accent2"/>
                          </a:solidFill>
                          <a:latin typeface="Arial"/>
                          <a:ea typeface="DejaVu Sans"/>
                        </a:rPr>
                        <a:t>X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8280" marR="82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lIns="8280" rIns="828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de-AT" sz="900" spc="-1" strike="noStrike">
                          <a:solidFill>
                            <a:schemeClr val="accent2"/>
                          </a:solidFill>
                          <a:latin typeface="Arial"/>
                          <a:ea typeface="DejaVu Sans"/>
                        </a:rPr>
                        <a:t>X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8280" marR="82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</a:tr>
              <a:tr h="340560">
                <a:tc>
                  <a:txBody>
                    <a:bodyPr lIns="8280" rIns="82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de-AT" sz="900" spc="-1" strike="noStrike">
                          <a:solidFill>
                            <a:srgbClr val="ffffff"/>
                          </a:solidFill>
                          <a:latin typeface="Arial"/>
                          <a:ea typeface="DejaVu Sans"/>
                        </a:rPr>
                        <a:t>VECTOMultistep.exe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8280" marR="82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lIns="8280" rIns="828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de-AT" sz="900" spc="-1" strike="noStrike">
                          <a:solidFill>
                            <a:schemeClr val="accent2"/>
                          </a:solidFill>
                          <a:latin typeface="Arial"/>
                          <a:ea typeface="DejaVu Sans"/>
                        </a:rPr>
                        <a:t>X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8280" marR="82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lIns="8280" rIns="828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de-AT" sz="900" spc="-1" strike="noStrike">
                          <a:solidFill>
                            <a:schemeClr val="accent2"/>
                          </a:solidFill>
                          <a:latin typeface="Arial"/>
                          <a:ea typeface="DejaVu Sans"/>
                        </a:rPr>
                        <a:t>X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8280" marR="82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lIns="8280" rIns="828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de-AT" sz="900" spc="-1" strike="noStrike">
                          <a:solidFill>
                            <a:schemeClr val="accent2"/>
                          </a:solidFill>
                          <a:latin typeface="Arial"/>
                          <a:ea typeface="DejaVu Sans"/>
                        </a:rPr>
                        <a:t>X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8280" marR="82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lIns="8280" rIns="828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de-AT" sz="900" spc="-1" strike="noStrike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Arial"/>
                          <a:ea typeface="DejaVu Sans"/>
                        </a:rPr>
                        <a:t>X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8280" marR="82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lIns="8280" rIns="828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de-AT" sz="900" spc="-1" strike="noStrike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Arial"/>
                          <a:ea typeface="DejaVu Sans"/>
                        </a:rPr>
                        <a:t>X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8280" marR="82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lIns="8280" rIns="828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de-AT" sz="900" spc="-1" strike="noStrike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Arial"/>
                          <a:ea typeface="DejaVu Sans"/>
                        </a:rPr>
                        <a:t>X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8280" marR="82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lIns="8280" rIns="828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de-AT" sz="900" spc="-1" strike="noStrike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Arial"/>
                          <a:ea typeface="DejaVu Sans"/>
                        </a:rPr>
                        <a:t>X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8280" marR="82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lIns="8280" rIns="828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de-AT" sz="900" spc="-1" strike="noStrike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Arial"/>
                          <a:ea typeface="DejaVu Sans"/>
                        </a:rPr>
                        <a:t>X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8280" marR="82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lIns="8280" rIns="828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de-AT" sz="900" spc="-1" strike="noStrike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Arial"/>
                          <a:ea typeface="DejaVu Sans"/>
                        </a:rPr>
                        <a:t>X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8280" marR="82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lIns="8280" rIns="828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de-AT" sz="900" spc="-1" strike="noStrike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Arial"/>
                          <a:ea typeface="DejaVu Sans"/>
                        </a:rPr>
                        <a:t>X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8280" marR="82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</a:tr>
              <a:tr h="366120">
                <a:tc>
                  <a:txBody>
                    <a:bodyPr lIns="8280" rIns="82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de-AT" sz="900" spc="-1" strike="noStrike">
                          <a:solidFill>
                            <a:srgbClr val="ffffff"/>
                          </a:solidFill>
                          <a:latin typeface="Arial"/>
                          <a:ea typeface="DejaVu Sans"/>
                        </a:rPr>
                        <a:t>Comments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8280" marR="82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lIns="8280" rIns="82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de-AT" sz="9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 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8280" marR="82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lIns="8280" rIns="82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de-AT" sz="9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 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8280" marR="82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lIns="8280" rIns="82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de-AT" sz="9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 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8280" marR="82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 gridSpan="2">
                  <a:txBody>
                    <a:bodyPr lIns="8280" rIns="828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de-AT" sz="9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function: generates updated VIF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8280" marR="82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8280" rIns="828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de-AT" sz="9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 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8280" marR="82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lIns="8280" rIns="82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de-AT" sz="9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 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8280" marR="82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lIns="8280" rIns="82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de-AT" sz="9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 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8280" marR="82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 gridSpan="2">
                  <a:txBody>
                    <a:bodyPr lIns="8280" rIns="828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de-AT" sz="9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"Single step" manufacturing process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8280" marR="82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</a:tbl>
          </a:graphicData>
        </a:graphic>
      </p:graphicFrame>
      <p:sp>
        <p:nvSpPr>
          <p:cNvPr id="71" name="Textfeld 8"/>
          <p:cNvSpPr/>
          <p:nvPr/>
        </p:nvSpPr>
        <p:spPr>
          <a:xfrm>
            <a:off x="6509160" y="4789800"/>
            <a:ext cx="2000160" cy="39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de-AT" sz="1000" spc="-1" strike="noStrike">
                <a:solidFill>
                  <a:schemeClr val="accent2"/>
                </a:solidFill>
                <a:latin typeface="Arial"/>
                <a:ea typeface="DejaVu Sans"/>
              </a:rPr>
              <a:t>X</a:t>
            </a:r>
            <a:r>
              <a:rPr b="1" lang="de-AT" sz="1000" spc="-1" strike="noStrike">
                <a:solidFill>
                  <a:schemeClr val="dk1"/>
                </a:solidFill>
                <a:latin typeface="Arial"/>
                <a:ea typeface="DejaVu Sans"/>
              </a:rPr>
              <a:t> </a:t>
            </a:r>
            <a:r>
              <a:rPr b="0" lang="de-AT" sz="1000" spc="-1" strike="noStrike">
                <a:solidFill>
                  <a:schemeClr val="dk1"/>
                </a:solidFill>
                <a:latin typeface="Arial"/>
                <a:ea typeface="DejaVu Sans"/>
              </a:rPr>
              <a:t>… Simulation only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1" lang="de-AT" sz="1000" spc="-1" strike="noStrike">
                <a:solidFill>
                  <a:schemeClr val="accent4">
                    <a:lumMod val="75000"/>
                  </a:schemeClr>
                </a:solidFill>
                <a:latin typeface="Arial"/>
                <a:ea typeface="DejaVu Sans"/>
              </a:rPr>
              <a:t>X</a:t>
            </a:r>
            <a:r>
              <a:rPr b="1" lang="de-AT" sz="1000" spc="-1" strike="noStrike">
                <a:solidFill>
                  <a:schemeClr val="accent4">
                    <a:lumMod val="75000"/>
                  </a:schemeClr>
                </a:solidFill>
                <a:latin typeface="Calibri"/>
                <a:ea typeface="DejaVu Sans"/>
              </a:rPr>
              <a:t> </a:t>
            </a:r>
            <a:r>
              <a:rPr b="0" lang="en-US" sz="1000" spc="-1" strike="noStrike">
                <a:solidFill>
                  <a:schemeClr val="dk1"/>
                </a:solidFill>
                <a:latin typeface="Arial"/>
                <a:ea typeface="DejaVu Sans"/>
              </a:rPr>
              <a:t>…</a:t>
            </a:r>
            <a:r>
              <a:rPr b="0" lang="de-AT" sz="1000" spc="-1" strike="noStrike">
                <a:solidFill>
                  <a:schemeClr val="dk1"/>
                </a:solidFill>
                <a:latin typeface="Arial"/>
                <a:ea typeface="DejaVu Sans"/>
              </a:rPr>
              <a:t> Simulation and editing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/>
          </p:nvPr>
        </p:nvSpPr>
        <p:spPr>
          <a:xfrm>
            <a:off x="588240" y="1299960"/>
            <a:ext cx="8390880" cy="4192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228600" indent="-228600" defTabSz="914400">
              <a:lnSpc>
                <a:spcPct val="90000"/>
              </a:lnSpc>
              <a:spcBef>
                <a:spcPts val="11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  <a:ea typeface="DejaVu Sans"/>
              </a:rPr>
              <a:t>XML Job Files &lt; v2.4 are no longer supported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1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  <a:ea typeface="DejaVu Sans"/>
              </a:rPr>
              <a:t>Dropped support for .NET Framework 4.5 (EOL 04/2022)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buNone/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 type="title"/>
          </p:nvPr>
        </p:nvSpPr>
        <p:spPr>
          <a:xfrm>
            <a:off x="588240" y="453600"/>
            <a:ext cx="8225640" cy="475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GB" sz="2400" spc="-1" strike="noStrike">
                <a:solidFill>
                  <a:srgbClr val="990000"/>
                </a:solidFill>
                <a:latin typeface="Arial"/>
                <a:ea typeface="DejaVu Sans"/>
              </a:rPr>
              <a:t>Changes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588240" y="453600"/>
            <a:ext cx="8225640" cy="112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990000"/>
                </a:solidFill>
                <a:latin typeface="Arial"/>
                <a:ea typeface="DejaVu Sans"/>
              </a:rPr>
              <a:t>Implementation of Declaration Mode for xEV-Vehicles</a:t>
            </a:r>
            <a:br>
              <a:rPr sz="2400"/>
            </a:b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Textfeld 1"/>
          <p:cNvSpPr/>
          <p:nvPr/>
        </p:nvSpPr>
        <p:spPr>
          <a:xfrm>
            <a:off x="588240" y="1210680"/>
            <a:ext cx="7963920" cy="335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343080" indent="-343080" defTabSz="914400">
              <a:lnSpc>
                <a:spcPct val="100000"/>
              </a:lnSpc>
              <a:spcBef>
                <a:spcPts val="1199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2000" spc="-1" strike="noStrike">
                <a:solidFill>
                  <a:schemeClr val="dk1"/>
                </a:solidFill>
                <a:latin typeface="Arial"/>
                <a:ea typeface="DejaVu Sans"/>
              </a:rPr>
              <a:t>Generic auxiliary parametrisation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1199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2000" spc="-1" strike="noStrike">
                <a:solidFill>
                  <a:schemeClr val="dk1"/>
                </a:solidFill>
                <a:latin typeface="Arial"/>
                <a:ea typeface="DejaVu Sans"/>
              </a:rPr>
              <a:t>Generic parametrisation of usable SOC range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1199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2000" spc="-1" strike="noStrike">
                <a:solidFill>
                  <a:schemeClr val="dk1"/>
                </a:solidFill>
                <a:latin typeface="Arial"/>
                <a:ea typeface="DejaVu Sans"/>
              </a:rPr>
              <a:t>Generic parametrisation of Serial/Parallel Hybrid Strategy parameters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1199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2000" spc="-1" strike="noStrike">
                <a:solidFill>
                  <a:schemeClr val="dk1"/>
                </a:solidFill>
                <a:latin typeface="Arial"/>
                <a:ea typeface="DejaVu Sans"/>
              </a:rPr>
              <a:t>Automated simulation of OVC-HEV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1199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1600" spc="-1" strike="noStrike">
                <a:solidFill>
                  <a:schemeClr val="dk1"/>
                </a:solidFill>
                <a:latin typeface="Arial"/>
                <a:ea typeface="DejaVu Sans"/>
              </a:rPr>
              <a:t>Charge depleting mode (CD): The propulsion energy is provided by the electric storage only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1199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1600" spc="-1" strike="noStrike">
                <a:solidFill>
                  <a:schemeClr val="dk1"/>
                </a:solidFill>
                <a:latin typeface="Arial"/>
                <a:ea typeface="DejaVu Sans"/>
              </a:rPr>
              <a:t>Charge sustaining mode (CS): The propulsion energy is provided by the fuel storage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588240" y="453600"/>
            <a:ext cx="8225640" cy="112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990000"/>
                </a:solidFill>
                <a:latin typeface="Arial"/>
                <a:ea typeface="DejaVu Sans"/>
              </a:rPr>
              <a:t>Implementation of Declaration Mode for xEV-Lorries</a:t>
            </a:r>
            <a:br>
              <a:rPr sz="2400"/>
            </a:b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Inhaltsplatzhalter 5"/>
          <p:cNvSpPr/>
          <p:nvPr/>
        </p:nvSpPr>
        <p:spPr>
          <a:xfrm>
            <a:off x="749520" y="1085040"/>
            <a:ext cx="8390880" cy="512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90000"/>
              </a:lnSpc>
              <a:spcBef>
                <a:spcPts val="1199"/>
              </a:spcBef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1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000" spc="-1" strike="noStrike">
                <a:solidFill>
                  <a:schemeClr val="dk1"/>
                </a:solidFill>
                <a:latin typeface="Arial"/>
                <a:ea typeface="DejaVu Sans"/>
              </a:rPr>
              <a:t>Generic E-PTO for PEV and S-HEV in Declaration Mode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1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000" spc="-1" strike="noStrike">
                <a:solidFill>
                  <a:schemeClr val="dk1"/>
                </a:solidFill>
                <a:latin typeface="Arial"/>
                <a:ea typeface="DejaVu Sans"/>
              </a:rPr>
              <a:t>E-PTO for PEV and S-HEV in Engineering Mode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1199"/>
              </a:spcBef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Titel 4"/>
          <p:cNvSpPr/>
          <p:nvPr/>
        </p:nvSpPr>
        <p:spPr>
          <a:xfrm>
            <a:off x="588240" y="2622240"/>
            <a:ext cx="8225640" cy="53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90000"/>
              </a:lnSpc>
            </a:pPr>
            <a:r>
              <a:rPr b="1" lang="en-US" sz="2400" spc="-1" strike="noStrike">
                <a:solidFill>
                  <a:srgbClr val="990000"/>
                </a:solidFill>
                <a:latin typeface="Arial"/>
                <a:ea typeface="DejaVu Sans"/>
              </a:rPr>
              <a:t>Implementation of Declaration Mode for Buses</a:t>
            </a:r>
            <a:br>
              <a:rPr sz="2400"/>
            </a:b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/>
          </p:nvPr>
        </p:nvSpPr>
        <p:spPr>
          <a:xfrm>
            <a:off x="588240" y="2861280"/>
            <a:ext cx="8390880" cy="1381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 defTabSz="914400">
              <a:lnSpc>
                <a:spcPct val="90000"/>
              </a:lnSpc>
              <a:spcBef>
                <a:spcPts val="1199"/>
              </a:spcBef>
              <a:buNone/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1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de-DE" sz="2000" spc="-1" strike="noStrike">
                <a:solidFill>
                  <a:schemeClr val="dk1"/>
                </a:solidFill>
                <a:latin typeface="Arial"/>
                <a:ea typeface="DejaVu Sans"/>
              </a:rPr>
              <a:t>Factor Method for conventional and xEV-Buses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1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de-DE" sz="2000" spc="-1" strike="noStrike">
                <a:solidFill>
                  <a:schemeClr val="dk1"/>
                </a:solidFill>
                <a:latin typeface="Arial"/>
                <a:ea typeface="DejaVu Sans"/>
              </a:rPr>
              <a:t>Updated bus auxiliary model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buNone/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39</TotalTime>
  <Application>LibreOffice/7.6.5.2$Windows_X86_64 LibreOffice_project/38d5f62f85355c192ef5f1dd47c5c0c0c6d6598b</Application>
  <AppVersion>15.0000</AppVersion>
  <Words>813</Words>
  <Paragraphs>158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2010-01-07T15:28:02Z</dcterms:created>
  <dc:creator>martinrexeis</dc:creator>
  <dc:description/>
  <dc:language>en-US</dc:language>
  <cp:lastModifiedBy/>
  <cp:lastPrinted>2013-01-22T12:03:30Z</cp:lastPrinted>
  <dcterms:modified xsi:type="dcterms:W3CDTF">2024-05-06T10:49:00Z</dcterms:modified>
  <cp:revision>1398</cp:revision>
  <dc:subject/>
  <dc:title>Folie 1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Bildschirmpräsentation (4:3)</vt:lpwstr>
  </property>
  <property fmtid="{D5CDD505-2E9C-101B-9397-08002B2CF9AE}" pid="3" name="Slides">
    <vt:i4>12</vt:i4>
  </property>
</Properties>
</file>