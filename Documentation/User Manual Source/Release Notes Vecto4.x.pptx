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1" r:id="rId1"/>
  </p:sldMasterIdLst>
  <p:notesMasterIdLst>
    <p:notesMasterId r:id="rId10"/>
  </p:notesMasterIdLst>
  <p:sldIdLst>
    <p:sldId id="256" r:id="rId2"/>
    <p:sldId id="1320" r:id="rId3"/>
    <p:sldId id="1289" r:id="rId4"/>
    <p:sldId id="1314" r:id="rId5"/>
    <p:sldId id="1318" r:id="rId6"/>
    <p:sldId id="1315" r:id="rId7"/>
    <p:sldId id="1319" r:id="rId8"/>
    <p:sldId id="1316" r:id="rId9"/>
  </p:sldIdLst>
  <p:sldSz cx="9144000" cy="6858000" type="screen4x3"/>
  <p:notesSz cx="7772400" cy="100584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B5D7305-A192-4B1D-99D4-70BE9E08F5C8}">
          <p14:sldIdLst>
            <p14:sldId id="256"/>
            <p14:sldId id="1320"/>
            <p14:sldId id="1289"/>
            <p14:sldId id="1314"/>
            <p14:sldId id="1318"/>
            <p14:sldId id="1315"/>
            <p14:sldId id="1319"/>
            <p14:sldId id="131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00"/>
    <a:srgbClr val="863A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DA37D80-6434-44D0-A028-1B22A696006F}" styleName="Helle Formatvorlage 3 - Akz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25" autoAdjust="0"/>
    <p:restoredTop sz="97449" autoAdjust="0"/>
  </p:normalViewPr>
  <p:slideViewPr>
    <p:cSldViewPr snapToGrid="0">
      <p:cViewPr varScale="1">
        <p:scale>
          <a:sx n="89" d="100"/>
          <a:sy n="89" d="100"/>
        </p:scale>
        <p:origin x="102" y="1632"/>
      </p:cViewPr>
      <p:guideLst/>
    </p:cSldViewPr>
  </p:slideViewPr>
  <p:outlineViewPr>
    <p:cViewPr>
      <p:scale>
        <a:sx n="33" d="100"/>
        <a:sy n="33" d="100"/>
      </p:scale>
      <p:origin x="0" y="-19698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0E69D5-8A05-43AD-B5FD-86D96081B052}" type="datetimeFigureOut">
              <a:rPr lang="de-AT" smtClean="0"/>
              <a:t>12.10.2023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624013" y="1257300"/>
            <a:ext cx="4524375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2AFAE4-5478-407A-ACD7-C2281F3DBF0A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502724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0BFB47-DA13-4D49-BABE-915D174A6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990000"/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de-AT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22313" y="1950809"/>
            <a:ext cx="7772400" cy="1362075"/>
          </a:xfrm>
        </p:spPr>
        <p:txBody>
          <a:bodyPr wrap="none" anchor="b"/>
          <a:lstStyle>
            <a:lvl1pPr algn="ctr">
              <a:defRPr lang="en-US" sz="2400" b="1" kern="1200" noProof="0" dirty="0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add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 hasCustomPrompt="1"/>
          </p:nvPr>
        </p:nvSpPr>
        <p:spPr>
          <a:xfrm>
            <a:off x="722313" y="3602049"/>
            <a:ext cx="7772400" cy="1500187"/>
          </a:xfrm>
        </p:spPr>
        <p:txBody>
          <a:bodyPr wrap="none"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919205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 (w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585333" y="2146171"/>
            <a:ext cx="8229240" cy="3977280"/>
          </a:xfrm>
        </p:spPr>
        <p:txBody>
          <a:bodyPr/>
          <a:lstStyle>
            <a:lvl1pPr>
              <a:defRPr/>
            </a:lvl1pPr>
            <a:lvl2pPr marL="715963" indent="-266700">
              <a:buFont typeface="Wingdings" panose="05000000000000000000" pitchFamily="2" charset="2"/>
              <a:buChar char="§"/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Main items</a:t>
            </a:r>
          </a:p>
          <a:p>
            <a:pPr lvl="1"/>
            <a:r>
              <a:rPr lang="en-US" noProof="0" dirty="0"/>
              <a:t>Sub-items</a:t>
            </a:r>
          </a:p>
          <a:p>
            <a:pPr lvl="2"/>
            <a:r>
              <a:rPr lang="en-US" noProof="0" dirty="0"/>
              <a:t>Third layer</a:t>
            </a:r>
          </a:p>
          <a:p>
            <a:pPr lvl="3"/>
            <a:r>
              <a:rPr lang="en-US" noProof="0" dirty="0"/>
              <a:t>Fourth layer</a:t>
            </a:r>
          </a:p>
          <a:p>
            <a:pPr lvl="4"/>
            <a:r>
              <a:rPr lang="en-US" noProof="0" dirty="0"/>
              <a:t>Fifth layer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28133" y="541651"/>
            <a:ext cx="0" cy="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81462625-91C7-4999-896F-ACE029871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5333" y="850196"/>
            <a:ext cx="8229240" cy="1144800"/>
          </a:xfr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AT" sz="2400" b="1" kern="1200" noProof="0" dirty="0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Mastertitelformat bearbeiten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3043879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Line 20"/>
          <p:cNvSpPr/>
          <p:nvPr/>
        </p:nvSpPr>
        <p:spPr>
          <a:xfrm>
            <a:off x="0" y="41580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5" name="Text Box 24"/>
          <p:cNvSpPr/>
          <p:nvPr/>
        </p:nvSpPr>
        <p:spPr>
          <a:xfrm>
            <a:off x="7996320" y="6599160"/>
            <a:ext cx="92484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499"/>
              </a:spcBef>
              <a:buNone/>
            </a:pPr>
            <a:fld id="{4CE03935-9F1B-40FD-BDE8-AA191BDA0FEB}" type="slidenum">
              <a:rPr lang="de-AT" sz="1000" b="1" strike="noStrike" spc="-1">
                <a:solidFill>
                  <a:srgbClr val="7D7D7D"/>
                </a:solidFill>
                <a:latin typeface="Verdana"/>
                <a:ea typeface="DejaVu Sans"/>
              </a:rPr>
              <a:t>‹Nr.›</a:t>
            </a:fld>
            <a:endParaRPr lang="en-US" sz="1000" b="0" strike="noStrike" spc="-1">
              <a:latin typeface="Arial"/>
            </a:endParaRPr>
          </a:p>
        </p:txBody>
      </p:sp>
      <p:sp>
        <p:nvSpPr>
          <p:cNvPr id="46" name="Text Box 30"/>
          <p:cNvSpPr/>
          <p:nvPr/>
        </p:nvSpPr>
        <p:spPr>
          <a:xfrm>
            <a:off x="144360" y="6627960"/>
            <a:ext cx="1882080" cy="21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39600" rIns="90000" bIns="45000" anchor="ctr">
            <a:noAutofit/>
          </a:bodyPr>
          <a:lstStyle/>
          <a:p>
            <a:pPr>
              <a:lnSpc>
                <a:spcPct val="100000"/>
              </a:lnSpc>
              <a:spcBef>
                <a:spcPts val="550"/>
              </a:spcBef>
              <a:buNone/>
            </a:pPr>
            <a:r>
              <a:rPr lang="en-US" sz="1100" b="0" strike="noStrike" spc="-1">
                <a:solidFill>
                  <a:srgbClr val="000000"/>
                </a:solidFill>
                <a:latin typeface="Verdana"/>
                <a:ea typeface="DejaVu Sans"/>
              </a:rPr>
              <a:t>VECTO Release Notes</a:t>
            </a:r>
            <a:endParaRPr lang="en-US" sz="1100" b="0" strike="noStrike" spc="-1">
              <a:latin typeface="Arial"/>
            </a:endParaRPr>
          </a:p>
        </p:txBody>
      </p:sp>
      <p:pic>
        <p:nvPicPr>
          <p:cNvPr id="47" name="Picture 2"/>
          <p:cNvPicPr/>
          <p:nvPr/>
        </p:nvPicPr>
        <p:blipFill>
          <a:blip r:embed="rId5"/>
          <a:stretch/>
        </p:blipFill>
        <p:spPr>
          <a:xfrm>
            <a:off x="7389360" y="37800"/>
            <a:ext cx="1420560" cy="352080"/>
          </a:xfrm>
          <a:prstGeom prst="rect">
            <a:avLst/>
          </a:prstGeom>
          <a:ln w="0">
            <a:noFill/>
          </a:ln>
        </p:spPr>
      </p:pic>
      <p:pic>
        <p:nvPicPr>
          <p:cNvPr id="48" name="Picture 3" descr="I:\raphaelluz\VECTO\source\VECTO\User Manual\pics\VECTO-small.PNG"/>
          <p:cNvPicPr/>
          <p:nvPr/>
        </p:nvPicPr>
        <p:blipFill>
          <a:blip r:embed="rId6"/>
          <a:stretch/>
        </p:blipFill>
        <p:spPr>
          <a:xfrm>
            <a:off x="107640" y="58680"/>
            <a:ext cx="977760" cy="331560"/>
          </a:xfrm>
          <a:prstGeom prst="rect">
            <a:avLst/>
          </a:prstGeom>
          <a:ln w="0">
            <a:noFill/>
          </a:ln>
        </p:spPr>
      </p:pic>
      <p:sp>
        <p:nvSpPr>
          <p:cNvPr id="49" name="Line 20"/>
          <p:cNvSpPr/>
          <p:nvPr/>
        </p:nvSpPr>
        <p:spPr>
          <a:xfrm>
            <a:off x="0" y="6599160"/>
            <a:ext cx="9144000" cy="360"/>
          </a:xfrm>
          <a:prstGeom prst="line">
            <a:avLst/>
          </a:prstGeom>
          <a:ln w="9525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4400" b="0" strike="noStrike" spc="-1" dirty="0">
                <a:latin typeface="Arial"/>
              </a:rPr>
              <a:t>Click to edit the title text format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76" r:id="rId2"/>
    <p:sldLayoutId id="2147483677" r:id="rId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400" b="1" kern="1200" dirty="0">
          <a:solidFill>
            <a:srgbClr val="99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Box 94"/>
          <p:cNvSpPr/>
          <p:nvPr/>
        </p:nvSpPr>
        <p:spPr>
          <a:xfrm>
            <a:off x="539640" y="1052640"/>
            <a:ext cx="8135640" cy="39842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1599"/>
              </a:spcBef>
              <a:buNone/>
            </a:pPr>
            <a:r>
              <a:rPr lang="en-US" sz="32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VECTO 4.x </a:t>
            </a:r>
            <a:endParaRPr lang="en-US" sz="3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lang="en-US" sz="2400" b="0" strike="noStrike" spc="-1" dirty="0">
              <a:latin typeface="Arial"/>
            </a:endParaRPr>
          </a:p>
        </p:txBody>
      </p:sp>
      <p:pic>
        <p:nvPicPr>
          <p:cNvPr id="89" name="Picture 2"/>
          <p:cNvPicPr/>
          <p:nvPr/>
        </p:nvPicPr>
        <p:blipFill>
          <a:blip r:embed="rId2"/>
          <a:stretch/>
        </p:blipFill>
        <p:spPr>
          <a:xfrm>
            <a:off x="2483640" y="2421000"/>
            <a:ext cx="4175640" cy="16268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Box 94"/>
          <p:cNvSpPr/>
          <p:nvPr/>
        </p:nvSpPr>
        <p:spPr>
          <a:xfrm>
            <a:off x="539640" y="1052640"/>
            <a:ext cx="8135640" cy="39842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1599"/>
              </a:spcBef>
              <a:buNone/>
            </a:pPr>
            <a:r>
              <a:rPr lang="en-US" sz="32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VECTO 4.0.0.3210 </a:t>
            </a:r>
            <a:endParaRPr lang="en-US" sz="32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r>
              <a:rPr lang="en-US" sz="2000" b="1" spc="-1" dirty="0">
                <a:solidFill>
                  <a:srgbClr val="990000"/>
                </a:solidFill>
                <a:latin typeface="Arial"/>
                <a:ea typeface="DejaVu Sans"/>
              </a:rPr>
              <a:t>16</a:t>
            </a:r>
            <a:r>
              <a:rPr lang="en-US" sz="20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.10.2023</a:t>
            </a: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001"/>
              </a:spcBef>
              <a:buNone/>
            </a:pPr>
            <a:endParaRPr lang="en-US" sz="20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endParaRPr lang="en-US" sz="2400" b="0" strike="noStrike" spc="-1" dirty="0"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9"/>
              </a:spcBef>
              <a:buNone/>
            </a:pPr>
            <a:r>
              <a:rPr lang="en-US" sz="2400" b="1" strike="noStrike" spc="-1" dirty="0">
                <a:solidFill>
                  <a:srgbClr val="990000"/>
                </a:solidFill>
                <a:latin typeface="Arial"/>
                <a:ea typeface="DejaVu Sans"/>
              </a:rPr>
              <a:t>Release Notes</a:t>
            </a:r>
            <a:endParaRPr lang="en-US" sz="2400" b="0" strike="noStrike" spc="-1" dirty="0">
              <a:latin typeface="Arial"/>
            </a:endParaRPr>
          </a:p>
        </p:txBody>
      </p:sp>
      <p:pic>
        <p:nvPicPr>
          <p:cNvPr id="89" name="Picture 2"/>
          <p:cNvPicPr/>
          <p:nvPr/>
        </p:nvPicPr>
        <p:blipFill>
          <a:blip r:embed="rId2"/>
          <a:stretch/>
        </p:blipFill>
        <p:spPr>
          <a:xfrm>
            <a:off x="2483640" y="2421000"/>
            <a:ext cx="4175640" cy="162684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923695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722313" y="2320357"/>
            <a:ext cx="7772400" cy="1529991"/>
          </a:xfrm>
        </p:spPr>
        <p:txBody>
          <a:bodyPr anchor="ctr">
            <a:noAutofit/>
          </a:bodyPr>
          <a:lstStyle/>
          <a:p>
            <a:pPr>
              <a:spcBef>
                <a:spcPts val="4200"/>
              </a:spcBef>
            </a:pPr>
            <a:br>
              <a:rPr lang="en-US" sz="2400" b="1" dirty="0"/>
            </a:br>
            <a:r>
              <a:rPr lang="en-US" sz="2400" b="1" dirty="0"/>
              <a:t>First official VECTO release for the </a:t>
            </a:r>
            <a:r>
              <a:rPr lang="en-US" dirty="0"/>
              <a:t>2</a:t>
            </a:r>
            <a:r>
              <a:rPr lang="en-US" sz="2400" b="1" dirty="0"/>
              <a:t>nd Amendment </a:t>
            </a:r>
            <a:br>
              <a:rPr lang="en-US" sz="2800" b="1" dirty="0"/>
            </a:br>
            <a:br>
              <a:rPr lang="en-US" sz="2800" b="1" dirty="0"/>
            </a:br>
            <a:br>
              <a:rPr lang="en-US" sz="2000" b="1" dirty="0"/>
            </a:br>
            <a:endParaRPr lang="en-US" sz="1600" b="1" dirty="0"/>
          </a:p>
        </p:txBody>
      </p:sp>
      <p:sp>
        <p:nvSpPr>
          <p:cNvPr id="6" name="Textplatzhalter 5"/>
          <p:cNvSpPr>
            <a:spLocks noGrp="1"/>
          </p:cNvSpPr>
          <p:nvPr>
            <p:ph type="body" idx="1"/>
          </p:nvPr>
        </p:nvSpPr>
        <p:spPr>
          <a:xfrm>
            <a:off x="722313" y="4276311"/>
            <a:ext cx="7772400" cy="407616"/>
          </a:xfrm>
        </p:spPr>
        <p:txBody>
          <a:bodyPr anchor="ctr"/>
          <a:lstStyle/>
          <a:p>
            <a:r>
              <a:rPr lang="en-GB" dirty="0"/>
              <a:t>TUG</a:t>
            </a:r>
          </a:p>
        </p:txBody>
      </p:sp>
    </p:spTree>
    <p:extLst>
      <p:ext uri="{BB962C8B-B14F-4D97-AF65-F5344CB8AC3E}">
        <p14:creationId xmlns:p14="http://schemas.microsoft.com/office/powerpoint/2010/main" val="1913602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/>
          <p:cNvSpPr>
            <a:spLocks noGrp="1"/>
          </p:cNvSpPr>
          <p:nvPr>
            <p:ph idx="1"/>
          </p:nvPr>
        </p:nvSpPr>
        <p:spPr>
          <a:xfrm>
            <a:off x="588206" y="932447"/>
            <a:ext cx="8394645" cy="5254889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1200"/>
              </a:spcBef>
            </a:pPr>
            <a:r>
              <a:rPr lang="en-US" sz="2000" dirty="0"/>
              <a:t>Declaration Mode</a:t>
            </a:r>
          </a:p>
          <a:p>
            <a:pPr lvl="1">
              <a:spcBef>
                <a:spcPts val="1200"/>
              </a:spcBef>
            </a:pPr>
            <a:r>
              <a:rPr lang="en-US" sz="1600" dirty="0" err="1"/>
              <a:t>xEV</a:t>
            </a:r>
            <a:r>
              <a:rPr lang="en-US" sz="1600" dirty="0"/>
              <a:t>-Heavy Lorries</a:t>
            </a:r>
          </a:p>
          <a:p>
            <a:pPr lvl="1">
              <a:spcBef>
                <a:spcPts val="1200"/>
              </a:spcBef>
            </a:pPr>
            <a:r>
              <a:rPr lang="en-US" sz="1600" dirty="0"/>
              <a:t>Conventional Medium Lorries</a:t>
            </a:r>
          </a:p>
          <a:p>
            <a:pPr lvl="1">
              <a:spcBef>
                <a:spcPts val="1200"/>
              </a:spcBef>
            </a:pPr>
            <a:r>
              <a:rPr lang="en-US" sz="1600" dirty="0" err="1"/>
              <a:t>xEV</a:t>
            </a:r>
            <a:r>
              <a:rPr lang="en-US" sz="1600" dirty="0"/>
              <a:t> Medium Lorries</a:t>
            </a:r>
          </a:p>
          <a:p>
            <a:pPr lvl="1">
              <a:spcBef>
                <a:spcPts val="1200"/>
              </a:spcBef>
            </a:pPr>
            <a:r>
              <a:rPr lang="en-US" sz="1600" dirty="0"/>
              <a:t>Conventional Buses</a:t>
            </a:r>
          </a:p>
          <a:p>
            <a:pPr lvl="1">
              <a:spcBef>
                <a:spcPts val="1200"/>
              </a:spcBef>
            </a:pPr>
            <a:r>
              <a:rPr lang="en-US" sz="1600" dirty="0" err="1"/>
              <a:t>xEV</a:t>
            </a:r>
            <a:r>
              <a:rPr lang="en-US" sz="1600" dirty="0"/>
              <a:t> Buses</a:t>
            </a:r>
          </a:p>
          <a:p>
            <a:pPr>
              <a:spcBef>
                <a:spcPts val="1200"/>
              </a:spcBef>
            </a:pPr>
            <a:r>
              <a:rPr lang="en-US" sz="2000" dirty="0"/>
              <a:t>Dedicated user interface for simulating buses in Declaration Mode using the multistep approach: VECTOMultistep.exe </a:t>
            </a:r>
          </a:p>
          <a:p>
            <a:pPr>
              <a:spcBef>
                <a:spcPts val="1200"/>
              </a:spcBef>
            </a:pPr>
            <a:r>
              <a:rPr lang="en-US" sz="2000" dirty="0"/>
              <a:t>Engineering Mode</a:t>
            </a:r>
          </a:p>
          <a:p>
            <a:pPr lvl="1">
              <a:spcBef>
                <a:spcPts val="1200"/>
              </a:spcBef>
            </a:pPr>
            <a:r>
              <a:rPr lang="en-US" sz="1600" dirty="0" err="1"/>
              <a:t>xEV</a:t>
            </a:r>
            <a:r>
              <a:rPr lang="en-US" sz="1600" dirty="0"/>
              <a:t>-Vehicles</a:t>
            </a:r>
          </a:p>
          <a:p>
            <a:pPr>
              <a:spcBef>
                <a:spcPts val="1200"/>
              </a:spcBef>
            </a:pPr>
            <a:r>
              <a:rPr lang="pt-BR" sz="2000" dirty="0"/>
              <a:t>Updated XML-Reports and Vehicle Information Files to support new Vehicle Architectures</a:t>
            </a:r>
          </a:p>
          <a:p>
            <a:pPr lvl="1">
              <a:spcBef>
                <a:spcPts val="1200"/>
              </a:spcBef>
            </a:pPr>
            <a:r>
              <a:rPr lang="pt-BR" sz="1600" dirty="0"/>
              <a:t>New Manufacturer Record File (MRF):</a:t>
            </a:r>
            <a:endParaRPr lang="pt-BR" sz="1200" dirty="0"/>
          </a:p>
          <a:p>
            <a:pPr lvl="1">
              <a:spcBef>
                <a:spcPts val="1200"/>
              </a:spcBef>
            </a:pPr>
            <a:r>
              <a:rPr lang="pt-BR" sz="1600" dirty="0"/>
              <a:t>New Customer Information File (CIF): </a:t>
            </a:r>
            <a:endParaRPr lang="pt-BR" sz="700" dirty="0"/>
          </a:p>
          <a:p>
            <a:pPr lvl="1">
              <a:spcBef>
                <a:spcPts val="1200"/>
              </a:spcBef>
            </a:pPr>
            <a:r>
              <a:rPr lang="pt-BR" sz="1600" dirty="0"/>
              <a:t>Multistep Output (VIF):</a:t>
            </a:r>
            <a:endParaRPr lang="pt-BR" sz="1800" dirty="0"/>
          </a:p>
          <a:p>
            <a:pPr>
              <a:spcBef>
                <a:spcPts val="1200"/>
              </a:spcBef>
            </a:pPr>
            <a:r>
              <a:rPr lang="pt-BR" sz="2000" dirty="0"/>
              <a:t>Updated simulation output (.vsum, .vmod)</a:t>
            </a:r>
          </a:p>
          <a:p>
            <a:pPr>
              <a:spcBef>
                <a:spcPts val="1200"/>
              </a:spcBef>
            </a:pPr>
            <a:r>
              <a:rPr lang="pt-BR" sz="2000" dirty="0"/>
              <a:t>Updated Hashing Tool to handle new powertrain components (electric motor, battery, supercap ...)</a:t>
            </a:r>
          </a:p>
          <a:p>
            <a:pPr>
              <a:spcBef>
                <a:spcPts val="1200"/>
              </a:spcBef>
            </a:pPr>
            <a:endParaRPr lang="pt-BR" sz="2000" dirty="0"/>
          </a:p>
          <a:p>
            <a:pPr>
              <a:spcBef>
                <a:spcPts val="1200"/>
              </a:spcBef>
            </a:pPr>
            <a:r>
              <a:rPr lang="pt-BR" sz="2000" dirty="0"/>
              <a:t>Supports .NET Framework 4.8 and .NET 6.0</a:t>
            </a:r>
          </a:p>
          <a:p>
            <a:pPr>
              <a:spcBef>
                <a:spcPts val="1200"/>
              </a:spcBef>
            </a:pPr>
            <a:endParaRPr lang="pt-BR" sz="2000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2"/>
            <a:ext cx="8229240" cy="478905"/>
          </a:xfrm>
        </p:spPr>
        <p:txBody>
          <a:bodyPr/>
          <a:lstStyle/>
          <a:p>
            <a:r>
              <a:rPr lang="en-GB" dirty="0"/>
              <a:t>Features</a:t>
            </a:r>
          </a:p>
        </p:txBody>
      </p:sp>
    </p:spTree>
    <p:extLst>
      <p:ext uri="{BB962C8B-B14F-4D97-AF65-F5344CB8AC3E}">
        <p14:creationId xmlns:p14="http://schemas.microsoft.com/office/powerpoint/2010/main" val="1112375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1"/>
            <a:ext cx="8229240" cy="1128611"/>
          </a:xfrm>
        </p:spPr>
        <p:txBody>
          <a:bodyPr/>
          <a:lstStyle/>
          <a:p>
            <a:r>
              <a:rPr lang="en-US" dirty="0"/>
              <a:t>Features – Tool modes</a:t>
            </a:r>
            <a:br>
              <a:rPr lang="en-US" dirty="0"/>
            </a:br>
            <a:endParaRPr lang="en-GB" dirty="0"/>
          </a:p>
        </p:txBody>
      </p:sp>
      <p:graphicFrame>
        <p:nvGraphicFramePr>
          <p:cNvPr id="8" name="Inhaltsplatzhalter 4">
            <a:extLst>
              <a:ext uri="{FF2B5EF4-FFF2-40B4-BE49-F238E27FC236}">
                <a16:creationId xmlns:a16="http://schemas.microsoft.com/office/drawing/2014/main" id="{B5484BC1-130B-4B87-A954-B6092717D3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0634477"/>
              </p:ext>
            </p:extLst>
          </p:nvPr>
        </p:nvGraphicFramePr>
        <p:xfrm>
          <a:off x="622355" y="2393156"/>
          <a:ext cx="7607247" cy="1985786"/>
        </p:xfrm>
        <a:graphic>
          <a:graphicData uri="http://schemas.openxmlformats.org/drawingml/2006/table">
            <a:tbl>
              <a:tblPr firstRow="1" firstCol="1">
                <a:tableStyleId>{5C22544A-7EE6-4342-B048-85BDC9FD1C3A}</a:tableStyleId>
              </a:tblPr>
              <a:tblGrid>
                <a:gridCol w="1178048">
                  <a:extLst>
                    <a:ext uri="{9D8B030D-6E8A-4147-A177-3AD203B41FA5}">
                      <a16:colId xmlns:a16="http://schemas.microsoft.com/office/drawing/2014/main" val="3036773087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2625993109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1667919727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364420564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1977283227"/>
                    </a:ext>
                  </a:extLst>
                </a:gridCol>
                <a:gridCol w="582277">
                  <a:extLst>
                    <a:ext uri="{9D8B030D-6E8A-4147-A177-3AD203B41FA5}">
                      <a16:colId xmlns:a16="http://schemas.microsoft.com/office/drawing/2014/main" val="3275534285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563089415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2634600933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3914140480"/>
                    </a:ext>
                  </a:extLst>
                </a:gridCol>
                <a:gridCol w="681572">
                  <a:extLst>
                    <a:ext uri="{9D8B030D-6E8A-4147-A177-3AD203B41FA5}">
                      <a16:colId xmlns:a16="http://schemas.microsoft.com/office/drawing/2014/main" val="958945114"/>
                    </a:ext>
                  </a:extLst>
                </a:gridCol>
                <a:gridCol w="791526">
                  <a:extLst>
                    <a:ext uri="{9D8B030D-6E8A-4147-A177-3AD203B41FA5}">
                      <a16:colId xmlns:a16="http://schemas.microsoft.com/office/drawing/2014/main" val="1051965380"/>
                    </a:ext>
                  </a:extLst>
                </a:gridCol>
              </a:tblGrid>
              <a:tr h="597083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 </a:t>
                      </a:r>
                      <a:endParaRPr lang="de-AT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Medium Lorries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Heavy Lorries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Primary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Interim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br>
                        <a:rPr lang="de-AT" sz="900" u="none" strike="noStrike" dirty="0">
                          <a:effectLst/>
                        </a:rPr>
                      </a:br>
                      <a:r>
                        <a:rPr lang="de-AT" sz="900" u="none" strike="noStrike" dirty="0">
                          <a:effectLst/>
                        </a:rPr>
                        <a:t>(GUI)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Interim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Completed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(JSON v7)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Completed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br>
                        <a:rPr lang="de-AT" sz="900" u="none" strike="noStrike" dirty="0">
                          <a:effectLst/>
                        </a:rPr>
                      </a:br>
                      <a:r>
                        <a:rPr lang="de-AT" sz="900" u="none" strike="noStrike" dirty="0">
                          <a:effectLst/>
                        </a:rPr>
                        <a:t>(GUI)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Completed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(JSON v10)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 err="1">
                          <a:effectLst/>
                        </a:rPr>
                        <a:t>Complete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buses</a:t>
                      </a:r>
                      <a:r>
                        <a:rPr lang="de-AT" sz="900" u="none" strike="noStrike" dirty="0">
                          <a:effectLst/>
                        </a:rPr>
                        <a:t> (XML)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3899500880"/>
                  </a:ext>
                </a:extLst>
              </a:tr>
              <a:tr h="170393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VECTO.exe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442008541"/>
                  </a:ext>
                </a:extLst>
              </a:tr>
              <a:tr h="511179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VECTOcmd.exe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 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2390163657"/>
                  </a:ext>
                </a:extLst>
              </a:tr>
              <a:tr h="340786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VECTOMultistep.exe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b="1" u="none" strike="noStrike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</a:rPr>
                        <a:t>X</a:t>
                      </a:r>
                      <a:endParaRPr lang="de-AT" sz="900" b="1" i="0" u="none" strike="noStrike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extLst>
                  <a:ext uri="{0D108BD9-81ED-4DB2-BD59-A6C34878D82A}">
                    <a16:rowId xmlns:a16="http://schemas.microsoft.com/office/drawing/2014/main" val="983811649"/>
                  </a:ext>
                </a:extLst>
              </a:tr>
              <a:tr h="366345"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Comments</a:t>
                      </a:r>
                      <a:endParaRPr lang="de-AT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function: generates updated VIF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hMerge="1">
                  <a:txBody>
                    <a:bodyPr/>
                    <a:lstStyle/>
                    <a:p>
                      <a:endParaRPr lang="de-AT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>
                          <a:effectLst/>
                        </a:rPr>
                        <a:t> </a:t>
                      </a:r>
                      <a:endParaRPr lang="de-AT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AT" sz="900" u="none" strike="noStrike" dirty="0">
                          <a:effectLst/>
                        </a:rPr>
                        <a:t> </a:t>
                      </a:r>
                      <a:endParaRPr lang="de-AT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de-AT" sz="900" u="none" strike="noStrike" dirty="0">
                          <a:effectLst/>
                        </a:rPr>
                        <a:t>"Single </a:t>
                      </a:r>
                      <a:r>
                        <a:rPr lang="de-AT" sz="900" u="none" strike="noStrike" dirty="0" err="1">
                          <a:effectLst/>
                        </a:rPr>
                        <a:t>step</a:t>
                      </a:r>
                      <a:r>
                        <a:rPr lang="de-AT" sz="900" u="none" strike="noStrike" dirty="0">
                          <a:effectLst/>
                        </a:rPr>
                        <a:t>" </a:t>
                      </a:r>
                      <a:r>
                        <a:rPr lang="de-AT" sz="900" u="none" strike="noStrike" dirty="0" err="1">
                          <a:effectLst/>
                        </a:rPr>
                        <a:t>manufacturing</a:t>
                      </a:r>
                      <a:r>
                        <a:rPr lang="de-AT" sz="900" u="none" strike="noStrike" dirty="0">
                          <a:effectLst/>
                        </a:rPr>
                        <a:t> </a:t>
                      </a:r>
                      <a:r>
                        <a:rPr lang="de-AT" sz="900" u="none" strike="noStrike" dirty="0" err="1">
                          <a:effectLst/>
                        </a:rPr>
                        <a:t>process</a:t>
                      </a:r>
                      <a:endParaRPr lang="de-AT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20" marR="8520" marT="8520" marB="0" anchor="ctr"/>
                </a:tc>
                <a:tc hMerge="1">
                  <a:txBody>
                    <a:bodyPr/>
                    <a:lstStyle/>
                    <a:p>
                      <a:endParaRPr lang="de-A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6233477"/>
                  </a:ext>
                </a:extLst>
              </a:tr>
            </a:tbl>
          </a:graphicData>
        </a:graphic>
      </p:graphicFrame>
      <p:sp>
        <p:nvSpPr>
          <p:cNvPr id="9" name="Textfeld 8">
            <a:extLst>
              <a:ext uri="{FF2B5EF4-FFF2-40B4-BE49-F238E27FC236}">
                <a16:creationId xmlns:a16="http://schemas.microsoft.com/office/drawing/2014/main" id="{2E033BAA-37E2-49A0-BCC9-CEE33F7F1C26}"/>
              </a:ext>
            </a:extLst>
          </p:cNvPr>
          <p:cNvSpPr txBox="1"/>
          <p:nvPr/>
        </p:nvSpPr>
        <p:spPr>
          <a:xfrm>
            <a:off x="6509339" y="4789836"/>
            <a:ext cx="20037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000" b="1" dirty="0">
                <a:solidFill>
                  <a:schemeClr val="accent2"/>
                </a:solidFill>
              </a:rPr>
              <a:t>X</a:t>
            </a:r>
            <a:r>
              <a:rPr lang="de-AT" sz="1000" b="1" dirty="0"/>
              <a:t> </a:t>
            </a:r>
            <a:r>
              <a:rPr lang="de-AT" sz="1000" dirty="0"/>
              <a:t>… Simulation </a:t>
            </a:r>
            <a:r>
              <a:rPr lang="de-AT" sz="1000" dirty="0" err="1"/>
              <a:t>only</a:t>
            </a:r>
            <a:endParaRPr lang="de-AT" sz="1000" dirty="0"/>
          </a:p>
          <a:p>
            <a:r>
              <a:rPr lang="de-AT" sz="1000" b="1" dirty="0">
                <a:solidFill>
                  <a:schemeClr val="accent4">
                    <a:lumMod val="75000"/>
                  </a:schemeClr>
                </a:solidFill>
              </a:rPr>
              <a:t>X</a:t>
            </a:r>
            <a:r>
              <a:rPr lang="de-AT" sz="100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</a:rPr>
              <a:t> </a:t>
            </a:r>
            <a:r>
              <a:rPr lang="en-US" sz="1000" dirty="0"/>
              <a:t>…</a:t>
            </a:r>
            <a:r>
              <a:rPr lang="de-AT" sz="1000" dirty="0"/>
              <a:t> Simulation and </a:t>
            </a:r>
            <a:r>
              <a:rPr lang="de-AT" sz="1000" dirty="0" err="1"/>
              <a:t>editing</a:t>
            </a:r>
            <a:endParaRPr lang="de-AT" sz="1000" dirty="0"/>
          </a:p>
        </p:txBody>
      </p:sp>
    </p:spTree>
    <p:extLst>
      <p:ext uri="{BB962C8B-B14F-4D97-AF65-F5344CB8AC3E}">
        <p14:creationId xmlns:p14="http://schemas.microsoft.com/office/powerpoint/2010/main" val="39337035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/>
          <p:cNvSpPr>
            <a:spLocks noGrp="1"/>
          </p:cNvSpPr>
          <p:nvPr>
            <p:ph idx="1"/>
          </p:nvPr>
        </p:nvSpPr>
        <p:spPr>
          <a:xfrm>
            <a:off x="588206" y="1300092"/>
            <a:ext cx="8394645" cy="4195735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en-US" sz="1800" dirty="0"/>
              <a:t>XML Job Files &lt; v2.4 are no longer supported</a:t>
            </a:r>
          </a:p>
          <a:p>
            <a:pPr>
              <a:spcBef>
                <a:spcPts val="1200"/>
              </a:spcBef>
            </a:pPr>
            <a:r>
              <a:rPr lang="en-US" sz="1800" dirty="0"/>
              <a:t>Dropped support for .NET Framework 4.5 (EOL 04/2022)</a:t>
            </a:r>
          </a:p>
          <a:p>
            <a:pPr>
              <a:spcBef>
                <a:spcPts val="1200"/>
              </a:spcBef>
            </a:pPr>
            <a:endParaRPr lang="en-US" sz="1800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2"/>
            <a:ext cx="8229240" cy="478905"/>
          </a:xfrm>
        </p:spPr>
        <p:txBody>
          <a:bodyPr/>
          <a:lstStyle/>
          <a:p>
            <a:r>
              <a:rPr lang="en-GB" dirty="0"/>
              <a:t>Changes</a:t>
            </a:r>
          </a:p>
        </p:txBody>
      </p:sp>
    </p:spTree>
    <p:extLst>
      <p:ext uri="{BB962C8B-B14F-4D97-AF65-F5344CB8AC3E}">
        <p14:creationId xmlns:p14="http://schemas.microsoft.com/office/powerpoint/2010/main" val="37119805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1"/>
            <a:ext cx="8229240" cy="1128611"/>
          </a:xfrm>
        </p:spPr>
        <p:txBody>
          <a:bodyPr/>
          <a:lstStyle/>
          <a:p>
            <a:r>
              <a:rPr lang="en-US" dirty="0"/>
              <a:t>Implementation of Declaration Mode for </a:t>
            </a:r>
            <a:r>
              <a:rPr lang="en-US" dirty="0" err="1"/>
              <a:t>xEV</a:t>
            </a:r>
            <a:r>
              <a:rPr lang="en-US" dirty="0"/>
              <a:t>-Vehicles</a:t>
            </a:r>
            <a:br>
              <a:rPr lang="en-US" dirty="0"/>
            </a:br>
            <a:endParaRPr lang="en-GB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7F97F0DD-10D2-4FD8-BC61-46C366138663}"/>
              </a:ext>
            </a:extLst>
          </p:cNvPr>
          <p:cNvSpPr txBox="1"/>
          <p:nvPr/>
        </p:nvSpPr>
        <p:spPr>
          <a:xfrm>
            <a:off x="588206" y="1210614"/>
            <a:ext cx="7967588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Generic auxiliary parametrisation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Generic parametrisation of usable SOC range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Generic parametrisation of Serial/Parallel Hybrid Strategy parameters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2000" dirty="0"/>
              <a:t>Automated simulation of OVC-HEV</a:t>
            </a:r>
          </a:p>
          <a:p>
            <a:pPr marL="742950" lvl="1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1600" dirty="0"/>
              <a:t>Charge depleting mode (CD): The propulsion energy is provided by the electric storage only</a:t>
            </a:r>
          </a:p>
          <a:p>
            <a:pPr marL="742950" lvl="1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sz="1600" dirty="0"/>
              <a:t>Charge sustaining mode (CS): The propulsion energy is provided by the fuel storage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750009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588206" y="453541"/>
            <a:ext cx="8229240" cy="1128611"/>
          </a:xfrm>
        </p:spPr>
        <p:txBody>
          <a:bodyPr/>
          <a:lstStyle/>
          <a:p>
            <a:r>
              <a:rPr lang="en-US" dirty="0"/>
              <a:t>Implementation of Declaration Mode for </a:t>
            </a:r>
            <a:r>
              <a:rPr lang="en-US" dirty="0" err="1"/>
              <a:t>xEV</a:t>
            </a:r>
            <a:r>
              <a:rPr lang="en-US" dirty="0"/>
              <a:t>-Lorries</a:t>
            </a:r>
            <a:br>
              <a:rPr lang="en-US" dirty="0"/>
            </a:br>
            <a:endParaRPr lang="en-GB" dirty="0"/>
          </a:p>
        </p:txBody>
      </p:sp>
      <p:sp>
        <p:nvSpPr>
          <p:cNvPr id="10" name="Inhaltsplatzhalter 5">
            <a:extLst>
              <a:ext uri="{FF2B5EF4-FFF2-40B4-BE49-F238E27FC236}">
                <a16:creationId xmlns:a16="http://schemas.microsoft.com/office/drawing/2014/main" id="{9AC94515-EF8A-4107-800D-FAA5237CA306}"/>
              </a:ext>
            </a:extLst>
          </p:cNvPr>
          <p:cNvSpPr txBox="1">
            <a:spLocks/>
          </p:cNvSpPr>
          <p:nvPr/>
        </p:nvSpPr>
        <p:spPr>
          <a:xfrm>
            <a:off x="749355" y="1085088"/>
            <a:ext cx="8394645" cy="5128557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15963" indent="-2667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</a:pPr>
            <a:endParaRPr lang="en-US" sz="1800" dirty="0"/>
          </a:p>
          <a:p>
            <a:pPr>
              <a:spcBef>
                <a:spcPts val="1200"/>
              </a:spcBef>
            </a:pPr>
            <a:r>
              <a:rPr lang="pt-BR" sz="2000" dirty="0"/>
              <a:t>Generic E-PTO for PEV and S-HEV in Declaration Mode</a:t>
            </a:r>
          </a:p>
          <a:p>
            <a:pPr>
              <a:spcBef>
                <a:spcPts val="1200"/>
              </a:spcBef>
            </a:pPr>
            <a:r>
              <a:rPr lang="pt-BR" sz="2000" dirty="0"/>
              <a:t>E-PTO for PEV and S-HEV in Engineering Mode</a:t>
            </a:r>
            <a:endParaRPr lang="de-AT" sz="2000" dirty="0"/>
          </a:p>
          <a:p>
            <a:pPr>
              <a:spcBef>
                <a:spcPts val="1200"/>
              </a:spcBef>
            </a:pPr>
            <a:endParaRPr lang="en-US" sz="1800" dirty="0"/>
          </a:p>
        </p:txBody>
      </p:sp>
      <p:sp>
        <p:nvSpPr>
          <p:cNvPr id="13" name="Titel 4">
            <a:extLst>
              <a:ext uri="{FF2B5EF4-FFF2-40B4-BE49-F238E27FC236}">
                <a16:creationId xmlns:a16="http://schemas.microsoft.com/office/drawing/2014/main" id="{BF7865A9-6D29-429C-8E5A-628574C8ECAA}"/>
              </a:ext>
            </a:extLst>
          </p:cNvPr>
          <p:cNvSpPr txBox="1">
            <a:spLocks/>
          </p:cNvSpPr>
          <p:nvPr/>
        </p:nvSpPr>
        <p:spPr>
          <a:xfrm>
            <a:off x="588206" y="2622197"/>
            <a:ext cx="8229240" cy="54132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de-AT" sz="2400" b="1" kern="1200" noProof="0" dirty="0">
                <a:solidFill>
                  <a:srgbClr val="99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Implementation of Declaration Mode for Buses</a:t>
            </a:r>
            <a:br>
              <a:rPr lang="en-US" dirty="0"/>
            </a:br>
            <a:endParaRPr lang="en-GB" dirty="0"/>
          </a:p>
        </p:txBody>
      </p:sp>
      <p:sp>
        <p:nvSpPr>
          <p:cNvPr id="14" name="Inhaltsplatzhalter 5">
            <a:extLst>
              <a:ext uri="{FF2B5EF4-FFF2-40B4-BE49-F238E27FC236}">
                <a16:creationId xmlns:a16="http://schemas.microsoft.com/office/drawing/2014/main" id="{346F72FC-4385-4A8E-8F9F-B0A7B6786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206" y="2861362"/>
            <a:ext cx="8394645" cy="1384882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endParaRPr lang="en-US" sz="1800" dirty="0"/>
          </a:p>
          <a:p>
            <a:pPr>
              <a:spcBef>
                <a:spcPts val="1200"/>
              </a:spcBef>
            </a:pPr>
            <a:r>
              <a:rPr lang="de-DE" sz="2000" dirty="0" err="1"/>
              <a:t>Factor</a:t>
            </a:r>
            <a:r>
              <a:rPr lang="de-DE" sz="2000" dirty="0"/>
              <a:t> Method </a:t>
            </a:r>
            <a:r>
              <a:rPr lang="de-DE" sz="2000" dirty="0" err="1"/>
              <a:t>for</a:t>
            </a:r>
            <a:r>
              <a:rPr lang="de-DE" sz="2000" dirty="0"/>
              <a:t> </a:t>
            </a:r>
            <a:r>
              <a:rPr lang="de-DE" sz="2000" dirty="0" err="1"/>
              <a:t>conventional</a:t>
            </a:r>
            <a:r>
              <a:rPr lang="de-DE" sz="2000" dirty="0"/>
              <a:t> and </a:t>
            </a:r>
            <a:r>
              <a:rPr lang="de-DE" sz="2000" dirty="0" err="1"/>
              <a:t>xEV</a:t>
            </a:r>
            <a:r>
              <a:rPr lang="de-DE" sz="2000" dirty="0"/>
              <a:t>-Buses</a:t>
            </a:r>
          </a:p>
          <a:p>
            <a:pPr>
              <a:spcBef>
                <a:spcPts val="1200"/>
              </a:spcBef>
            </a:pPr>
            <a:r>
              <a:rPr lang="de-DE" sz="2000" dirty="0"/>
              <a:t>Updated </a:t>
            </a:r>
            <a:r>
              <a:rPr lang="de-DE" sz="2000" dirty="0" err="1"/>
              <a:t>bus</a:t>
            </a:r>
            <a:r>
              <a:rPr lang="de-DE" sz="2000" dirty="0"/>
              <a:t> </a:t>
            </a:r>
            <a:r>
              <a:rPr lang="de-DE" sz="2000" dirty="0" err="1"/>
              <a:t>auxiliary</a:t>
            </a:r>
            <a:r>
              <a:rPr lang="de-DE" sz="2000" dirty="0"/>
              <a:t> </a:t>
            </a:r>
            <a:r>
              <a:rPr lang="de-DE" sz="2000" dirty="0" err="1"/>
              <a:t>model</a:t>
            </a:r>
            <a:endParaRPr lang="de-DE" sz="2000" dirty="0"/>
          </a:p>
          <a:p>
            <a:pPr>
              <a:spcBef>
                <a:spcPts val="1200"/>
              </a:spcBef>
            </a:pPr>
            <a:endParaRPr lang="de-DE" sz="2000" dirty="0"/>
          </a:p>
          <a:p>
            <a:pPr>
              <a:spcBef>
                <a:spcPts val="1200"/>
              </a:spcBef>
            </a:pPr>
            <a:endParaRPr lang="de-AT" sz="2000" dirty="0"/>
          </a:p>
          <a:p>
            <a:pPr>
              <a:spcBef>
                <a:spcPts val="1200"/>
              </a:spcBef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849441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371</Words>
  <Application>Microsoft Office PowerPoint</Application>
  <PresentationFormat>Bildschirmpräsentation (4:3)</PresentationFormat>
  <Paragraphs>111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5" baseType="lpstr">
      <vt:lpstr>Arial</vt:lpstr>
      <vt:lpstr>Calibri</vt:lpstr>
      <vt:lpstr>DejaVu Sans</vt:lpstr>
      <vt:lpstr>Symbol</vt:lpstr>
      <vt:lpstr>Verdana</vt:lpstr>
      <vt:lpstr>Wingdings</vt:lpstr>
      <vt:lpstr>Office Theme</vt:lpstr>
      <vt:lpstr>PowerPoint-Präsentation</vt:lpstr>
      <vt:lpstr>PowerPoint-Präsentation</vt:lpstr>
      <vt:lpstr> First official VECTO release for the 2nd Amendment    </vt:lpstr>
      <vt:lpstr>Features</vt:lpstr>
      <vt:lpstr>Features – Tool modes </vt:lpstr>
      <vt:lpstr>Changes</vt:lpstr>
      <vt:lpstr>Implementation of Declaration Mode for xEV-Vehicles </vt:lpstr>
      <vt:lpstr>Implementation of Declaration Mode for xEV-Lorries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subject/>
  <dc:creator>martinrexeis</dc:creator>
  <dc:description/>
  <cp:lastModifiedBy>Martini Harald</cp:lastModifiedBy>
  <cp:revision>1357</cp:revision>
  <cp:lastPrinted>2013-01-22T12:03:30Z</cp:lastPrinted>
  <dcterms:created xsi:type="dcterms:W3CDTF">2010-01-07T15:28:02Z</dcterms:created>
  <dcterms:modified xsi:type="dcterms:W3CDTF">2023-10-13T06:37:50Z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113</vt:i4>
  </property>
</Properties>
</file>