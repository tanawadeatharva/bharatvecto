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media/image1.jpeg" ContentType="image/jpeg"/>
  <Override PartName="/ppt/media/image3.png" ContentType="image/png"/>
  <Override PartName="/ppt/media/image2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und Inhalt (w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014D822-30EB-4167-8F91-B2577193BF72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" name="Text Box 24"/>
          <p:cNvSpPr/>
          <p:nvPr/>
        </p:nvSpPr>
        <p:spPr>
          <a:xfrm>
            <a:off x="7996320" y="6599160"/>
            <a:ext cx="92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1DED7567-A7FA-4DB7-98C8-EC8071768526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2</a:t>
            </a:fld>
            <a:endParaRPr b="0" lang="en-GB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 Box 30"/>
          <p:cNvSpPr/>
          <p:nvPr/>
        </p:nvSpPr>
        <p:spPr>
          <a:xfrm>
            <a:off x="144360" y="6627960"/>
            <a:ext cx="18802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8760" cy="350280"/>
          </a:xfrm>
          <a:prstGeom prst="rect">
            <a:avLst/>
          </a:prstGeom>
          <a:ln w="0">
            <a:noFill/>
          </a:ln>
        </p:spPr>
      </p:pic>
      <p:pic>
        <p:nvPicPr>
          <p:cNvPr id="4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5960" cy="329760"/>
          </a:xfrm>
          <a:prstGeom prst="rect">
            <a:avLst/>
          </a:prstGeom>
          <a:ln w="0">
            <a:noFill/>
          </a:ln>
        </p:spPr>
      </p:pic>
      <p:sp>
        <p:nvSpPr>
          <p:cNvPr id="5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" name="Text Box 24"/>
          <p:cNvSpPr/>
          <p:nvPr/>
        </p:nvSpPr>
        <p:spPr>
          <a:xfrm>
            <a:off x="7996320" y="6599160"/>
            <a:ext cx="92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CF46D4DB-FCA0-4BE0-9069-6CB462AE7926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 Box 30"/>
          <p:cNvSpPr/>
          <p:nvPr/>
        </p:nvSpPr>
        <p:spPr>
          <a:xfrm>
            <a:off x="144360" y="6627960"/>
            <a:ext cx="18802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8760" cy="350280"/>
          </a:xfrm>
          <a:prstGeom prst="rect">
            <a:avLst/>
          </a:prstGeom>
          <a:ln w="0">
            <a:noFill/>
          </a:ln>
        </p:spPr>
      </p:pic>
      <p:pic>
        <p:nvPicPr>
          <p:cNvPr id="12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5960" cy="329760"/>
          </a:xfrm>
          <a:prstGeom prst="rect">
            <a:avLst/>
          </a:prstGeom>
          <a:ln w="0">
            <a:noFill/>
          </a:ln>
        </p:spPr>
      </p:pic>
      <p:sp>
        <p:nvSpPr>
          <p:cNvPr id="13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" name="Text Box 24"/>
          <p:cNvSpPr/>
          <p:nvPr/>
        </p:nvSpPr>
        <p:spPr>
          <a:xfrm>
            <a:off x="7996320" y="6599160"/>
            <a:ext cx="92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A7BBED09-F1E4-40C7-A22A-64D9F3FBC884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Box 30"/>
          <p:cNvSpPr/>
          <p:nvPr/>
        </p:nvSpPr>
        <p:spPr>
          <a:xfrm>
            <a:off x="144360" y="6627960"/>
            <a:ext cx="18802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8760" cy="350280"/>
          </a:xfrm>
          <a:prstGeom prst="rect">
            <a:avLst/>
          </a:prstGeom>
          <a:ln w="0">
            <a:noFill/>
          </a:ln>
        </p:spPr>
      </p:pic>
      <p:pic>
        <p:nvPicPr>
          <p:cNvPr id="20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5960" cy="329760"/>
          </a:xfrm>
          <a:prstGeom prst="rect">
            <a:avLst/>
          </a:prstGeom>
          <a:ln w="0">
            <a:noFill/>
          </a:ln>
        </p:spPr>
      </p:pic>
      <p:sp>
        <p:nvSpPr>
          <p:cNvPr id="21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sldNum" idx="1"/>
          </p:nvPr>
        </p:nvSpPr>
        <p:spPr>
          <a:xfrm>
            <a:off x="128160" y="5418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67C1345C-63B9-4AC0-80D4-4870391A40ED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" name="Text Box 24"/>
          <p:cNvSpPr/>
          <p:nvPr/>
        </p:nvSpPr>
        <p:spPr>
          <a:xfrm>
            <a:off x="7996320" y="6599160"/>
            <a:ext cx="92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1929C6B0-53D7-40A4-9126-E4268CD8E88A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Box 30"/>
          <p:cNvSpPr/>
          <p:nvPr/>
        </p:nvSpPr>
        <p:spPr>
          <a:xfrm>
            <a:off x="144360" y="6627960"/>
            <a:ext cx="18802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8760" cy="350280"/>
          </a:xfrm>
          <a:prstGeom prst="rect">
            <a:avLst/>
          </a:prstGeom>
          <a:ln w="0">
            <a:noFill/>
          </a:ln>
        </p:spPr>
      </p:pic>
      <p:pic>
        <p:nvPicPr>
          <p:cNvPr id="29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5960" cy="329760"/>
          </a:xfrm>
          <a:prstGeom prst="rect">
            <a:avLst/>
          </a:prstGeom>
          <a:ln w="0">
            <a:noFill/>
          </a:ln>
        </p:spPr>
      </p:pic>
      <p:sp>
        <p:nvSpPr>
          <p:cNvPr id="30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" name="Text Box 24"/>
          <p:cNvSpPr/>
          <p:nvPr/>
        </p:nvSpPr>
        <p:spPr>
          <a:xfrm>
            <a:off x="7996320" y="6599160"/>
            <a:ext cx="92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4FDF7032-3CE9-4C0D-A3A7-626EFDB66BDE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Box 30"/>
          <p:cNvSpPr/>
          <p:nvPr/>
        </p:nvSpPr>
        <p:spPr>
          <a:xfrm>
            <a:off x="144360" y="6627960"/>
            <a:ext cx="18802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8760" cy="350280"/>
          </a:xfrm>
          <a:prstGeom prst="rect">
            <a:avLst/>
          </a:prstGeom>
          <a:ln w="0">
            <a:noFill/>
          </a:ln>
        </p:spPr>
      </p:pic>
      <p:pic>
        <p:nvPicPr>
          <p:cNvPr id="37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5960" cy="329760"/>
          </a:xfrm>
          <a:prstGeom prst="rect">
            <a:avLst/>
          </a:prstGeom>
          <a:ln w="0">
            <a:noFill/>
          </a:ln>
        </p:spPr>
      </p:pic>
      <p:sp>
        <p:nvSpPr>
          <p:cNvPr id="38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Box 94"/>
          <p:cNvSpPr/>
          <p:nvPr/>
        </p:nvSpPr>
        <p:spPr>
          <a:xfrm>
            <a:off x="539640" y="1052640"/>
            <a:ext cx="8133840" cy="39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599"/>
              </a:spcBef>
            </a:pPr>
            <a:r>
              <a:rPr b="1" lang="en-US" sz="3200" spc="-1" strike="noStrike">
                <a:solidFill>
                  <a:srgbClr val="990000"/>
                </a:solidFill>
                <a:latin typeface="Arial"/>
                <a:ea typeface="DejaVu Sans"/>
              </a:rPr>
              <a:t>VECTO 4.x 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" name="Picture 2" descr=""/>
          <p:cNvPicPr/>
          <p:nvPr/>
        </p:nvPicPr>
        <p:blipFill>
          <a:blip r:embed="rId1"/>
          <a:stretch/>
        </p:blipFill>
        <p:spPr>
          <a:xfrm>
            <a:off x="2483640" y="2421000"/>
            <a:ext cx="4173840" cy="1625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5920" cy="678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4560" cy="4451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Features</a:t>
            </a:r>
            <a:br>
              <a:rPr sz="1600"/>
            </a:br>
            <a:r>
              <a:rPr b="0" lang="en-US" sz="1200" spc="-1" strike="noStrike">
                <a:solidFill>
                  <a:schemeClr val="dk1"/>
                </a:solidFill>
                <a:latin typeface="Arial"/>
                <a:ea typeface="DejaVu Sans"/>
              </a:rPr>
              <a:t>CodeEU-577: Add missing mission profiles to vocational and non-vocational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188604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(1/4)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CodeEU-331: Gear 1 DrivingActionAccelerate: Fail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CodeEU-367: Gear 1 DrivingActionAccelerate: Fail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CodeEU-372: ADT Error on Bus Category Primary Vehicle Simulation on VECTO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CodeEU-373: ADT Error on Bus Category Primary Vehicle Simulation on VECTO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CodeEU-374: ADT Error on Bus Category Primary Vehicle Simulation on VECTO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CodeEU-375: ADT Error on Bus Category Primary Vehicle Simulation on VECTO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CodeEU-393: Finished Run VEH-PrimaryBus_nonSmart Interurban _P32SD_ReferenceLoad with ERROR: 16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CodeEU-439: 615 (Interurban _P32DD_ReferenceLoad) - absTime: 7129.6359 [s], distance: 53875.9765 [m], dt: 0.6388 [s], v: 0.5098 [m/s], Gear: 1 | DrivingActionAccelerate: Failed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CodeEU-446: Finished Run VEH-PrimaryBus_nonSmart Interurban _P32SD_ReferenceLoad with ERROR: 16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CodeEU-449: Finished Run VEH-PrimaryBus_nonSmart Interurban _P32SD_ReferenceLoad with ERROR: 16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CodeEU-478: Finished Run VEH-PrimaryBus_nonSmart Urban _P31SD_ReferenceLoad with ERROR: 4 (Urban _P31SD_ReferenceLoad) - absTime: 8606.6241 [s], distance: 39112.5127 [m], dt: 1.1131 [s], v: 0.1833 [m/s], Gear: 1 | DrivingActionAccelerate: Failed to find operating poi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8002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5920" cy="678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94560" cy="4659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(2/4)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CodeEU-481: Finished Run VEH-PrimaryBus_nonSmart Urban _P31SD_ReferenceLoad with ERROR: 4 (Urban _P31SD_ReferenceLoad) - absTime: 8606.6241 [s], distance: 39112.5127 [m], dt: 1.1131 [s], v: 0.1833 [m/s], Gear: 1 |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CodeEU-488: Finished Run VEH-PrimaryBus_nonSmart Urban _P31SD_ReferenceLoad with ERROR: 4 (Urban _P31SD_ReferenceLoad) - absTime: 8606.6241 [s], distance: 39112.5127 [m], dt: 1.1131 [s], v: 0.1833 [m/s], Gear: 1 | DrivingActionAccelerate: Failed to find operating poi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CodeEU-494: Finished Run VEH-PrimaryBus_nonSmart Urban _P31SD_ReferenceLoad with ERROR: 26 (Urban _P31SD_ReferenceLoad) - absTime: 8606.6241 [s], distance: 39112.5127 [m], dt: 1.1131 [s], v: 0.1833 [m/s], Gear: 1 | DrivingActionAccelerate: Failed to fi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CodeEU-420: Finished Run VEH-PrimaryBus_nonSmart Interurban _P32SD_ReferenceLoad with ERROR: 16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CodeEU-573: Unhandled powertrain architecture Conventional Vehicle to calculate gradability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CodeEU-582: unhandled powertrain architecture ConventionalVehicle to calculate gradability, 11:44:36.63,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CodeEU-595: Inconsistency exempted vehicles "Fuel cell vehicle" vs. "FCV Article 9 exempted"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CodeEU-501: Help regarding VTP vdri format is not up to date in v4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CodeEU-594: inadequate validation for auxiliaries in completed vehicle XML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CodeEU-580: Potential error in XML schema v2.4 (exempted vehicles)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CodeEU-551: Article-10-2 XLRASF5E00G419905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CodeEU-547: Max ICE Off timespan for buses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CodeEU-583: Incorrect internal resistance for SuperCap used in factor method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5920" cy="678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94560" cy="4659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(3/4)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CodeEU-571: Article10-2-issue | VECTO-4.0.3 | Order-Nr 28202896 | HEV P1 Error Mercedes-Benz and Setra Hybrid Buses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CodeEU-526: VTP calculation aborted on fuel consumption map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CodeEU-502: Error in VECTO calculation WMA10CZZ0RF022326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CodeEU-401: Electric steering system with conventional vehicle not according to 2017/2400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CodeEU-476: Setting Initial SoC in REESS editor leads to error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CodeEU-533: Question about heavy lorry_IEPC_Gb×4speed: Failed to generate electric power map - at least two negative entries are required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CodeEU-456: Clarification Documentation official Results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CodeEU-506: Article 10(2) issue - VIN YS2P6X200R2201285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CodeEU-507: Article 10(2) issue - VIN YS2P6X20005732399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CodeEU-508: Article 10(2) issue - VIN S2P6X20005734199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CodeEU-499: Object Reference not set Error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CodeEU-546: Problem with P181 (Cooling Fan Technology) for a conventional vehicle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CodeEU-516: Article10-2-issue | VECTO-4.0.3 | Order-Nr 28208044 | HEV P1 Error Mercedes-Benz and Setra Hybrid Buses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CodeEU-517: Article10-2-issue | VECTO-4.0.3 | Order-Nr 28208037 | HEV P1 Error Mercedes-Benz and Setra Hybrid Buses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5920" cy="678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94560" cy="4659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(4/4)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CodeEU-519: Article10-2-issue | VECTO-4.0.3 | Order-Nr 10098181 | HEV P1 Error Mercedes-Benz and Setra Hybrid Buses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CodeEU-527: Article10-2-issue | VECTO-4.0.3 | Order-Nr 28196233 | HEV P1 Error Mercedes-Benz and Setra Hybrid Buses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CodeEU-528: Article10-2-issue | VECTO-4.0.3 | Order-Nr 28196652 | HEV P1 Error Mercedes-Benz and Setra Hybrid Buses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CodeEU-338: Eco-roll only, without engine stop, impact on CO2 emission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CodeEU-475: XML files loading in VTP Job not OK; No auxiliary data and torque curve visible, Job can't be saved in VECTO 4.0.3.3330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CodeEU-610: VTP mode is broken due to changes in the Clutch component.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5920" cy="678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4.0.3.3330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13.02.2024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4560" cy="4451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CodeEU-293: DistanceRun got an unexpected response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CodeEU-298: Object reference not set to an instance of an object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CodeEU-300: Full drive torque miscalculation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CodeEU-336: Feature: Hashing tool must validate the previous step data for multi-step jobs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CodeEU-337: Electric Citybus - ERROR with "31a-Specific" bus configuration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CodeEU-343: Cannot simulate Primary Vehicle using vectocmd.exe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CodeEU-387: VECTO sometimes fails to properly read Tyre data from primary vehicle xml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CodeEU-427: Vehicle speed resulting to exceeding max gearbox speed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CodeEU-428: Remove speed safety margin for gearbox re-engaging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CodeEU-438: Mismatch XML schema vs Regulation (exempted vehicles)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CodeEU-248: Bus P2 hybrid VECTO error in urban cycle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CodeEU-278: Simulation crash when writing fuel consumption results to reports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CodeEU-284: New error message and failed simulation obtained for P2 hybrid buses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CodeEU-285: PEV vehicle error in routine to write the results with new vecto version  4.0.2.3275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CodeEU-287: PEV_IEPC error message:"can only operate on SI Objects with the same unit"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CodeEU-289: VECTO Simulation Error for bus with validated input data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5920" cy="678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4.0.2.3275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20.12.2023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4560" cy="4451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Hotfix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CodeEU-273, CodeEU-274: Changes in the AMT shift strategy regarding idling speed caused simulation aborts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CodeEU-260: regression fix handling overload buffer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5920" cy="678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4.0.2.3273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18.12.2023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4560" cy="4821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(1/2)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CodeEU-94: DistanceRun got an unexpected response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CodeEU-153: DrivingActionAccelerate: Failed to find operating point after Overload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CodeEU-158: Urban RefLoad DrivingActionAccelerate: Failed to find operating point (IEPC Wheelhub 1 measured)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CodeEU-168: Vecto Declaration Simulation with P1-Hybrid shows multiple errors - Simulation Aborts!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CodeEU-191: Boosting limits HEV ovc are not working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CodeEU-202: EMS Standard Values: Continuous/Overload Torque 0 Nm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CodeEU-203: HybridStrategy error for IHPC type 1 hybrid lorry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CodeEU-206: VTP + PEMS test done by Renault Trucks France - VECTO tool errors most probably linked to automatic gearbox (with torque converter)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CodeEU-211: Hybrid P1 configurations with errors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CodeEU-215: MultiStep tool help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CodeEU-216: NrOfGears in CIF is 1 for IEPC no matter how many gears it has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CodeEU-220: Error manual transmission 2. gear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CodeEU-224: Issue with PEV complete vehicle simulation (Vecto MultiStage)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CodeEU-231: IVECO CONFIDENTIAL : hybrid buses completed simulation aborted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CodeEU-234: Error Conventional Lorry Gear: 1C DistanceRun got an unexpected response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CodeEU-235: Tyre error calculation buses "invalid xsi:type 'TyreDataDeclarationType'"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CodeEU-238: Bus VIF files not valid in Multistep VECTO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CodeEU-243: Simulation aborted: Gear 5 Lossmap not sufficiant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CodeEU-244: Signature validation fails for old (prior to v4) Manufacturer reports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5920" cy="678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4.0.2.3273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18.12.2023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4560" cy="4821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(2/2)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CodeEU-249: Fix handling gear torque limits in case of IEPC WheelHub motor and only one side is measured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CodeEU-250: Maximum vehicle speed exceeded during pre-processing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CodeEU-253: Replace VTP HeavyBus in Generic Vehicles with VTP Truck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CodeEU-259: Inconsistent calculation of AverageRRC in CIF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CodeEU-260: Handling of overload buffer in case Continuous Torque is 0Nm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CodeEU-261: SuperCap internal resistance standard values correction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CodeEU-263: Determination of rated power for IEPCs for MRF and CIF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CodeEU-266: Fix Measured Speed Testcases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5920" cy="678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4.0.1.3217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23.10.2023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4560" cy="4821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Improvements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VTP mode: create zip archive for input and output files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Bugfixes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in CIF for complete(d) buses - do not write PrimaryVehicleSubgroup element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fix hybrid strategy: power comparison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fix exempted vehicles do not work (error message that XML version is not supported)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in XML schema: remove wrong PS technology entry for lorries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for conditioning power demand for IHPC vehicles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Box 94"/>
          <p:cNvSpPr/>
          <p:nvPr/>
        </p:nvSpPr>
        <p:spPr>
          <a:xfrm>
            <a:off x="539640" y="1052640"/>
            <a:ext cx="8133840" cy="39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599"/>
              </a:spcBef>
            </a:pPr>
            <a:r>
              <a:rPr b="1" lang="en-US" sz="32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4.0.0.3210 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r>
              <a:rPr b="1" lang="en-US" sz="2000" spc="-1" strike="noStrike">
                <a:solidFill>
                  <a:srgbClr val="990000"/>
                </a:solidFill>
                <a:latin typeface="Arial"/>
                <a:ea typeface="DejaVu Sans"/>
              </a:rPr>
              <a:t>16.10.2023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Picture 2" descr=""/>
          <p:cNvPicPr/>
          <p:nvPr/>
        </p:nvPicPr>
        <p:blipFill>
          <a:blip r:embed="rId1"/>
          <a:stretch/>
        </p:blipFill>
        <p:spPr>
          <a:xfrm>
            <a:off x="2483640" y="2421000"/>
            <a:ext cx="4173840" cy="1625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722160" y="2320200"/>
            <a:ext cx="7770600" cy="152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4201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First official VECTO release for the 2nd Amendment </a:t>
            </a:r>
            <a:br>
              <a:rPr sz="2400"/>
            </a:b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of Regulation (EU) 2017/2400</a:t>
            </a:r>
            <a:br>
              <a:rPr sz="2800"/>
            </a:br>
            <a:br>
              <a:rPr sz="2800"/>
            </a:br>
            <a:br>
              <a:rPr sz="2400"/>
            </a:b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722160" y="4276440"/>
            <a:ext cx="7770600" cy="40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TUG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/>
          </p:nvPr>
        </p:nvSpPr>
        <p:spPr>
          <a:xfrm>
            <a:off x="588240" y="1140480"/>
            <a:ext cx="8392680" cy="504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4999"/>
          </a:bodyPr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Declaration Mode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xEV-Heavy Lorries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Conventional Medium Lorries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 Medium Lorries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Conventional Buses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 Buses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Dedicated user interface for simulating buses in Declaration Mode using the multistep approach: VECTOMultistep.exe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Engineering Mode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xEV-Vehicles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XML-Reports and Vehicle Information Files to support new Vehicle Architectures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New Manufacturer Record File (MRF):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New Customer Information File (CIF): 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Multistep Output (VIF):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simulation output (.vsum, .vmod)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Hashing Tool to handle new powertrain components (electric motor, battery, supercap ...)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6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Supports .NET Framework 4.8 and .NET 6.0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7440" cy="47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rgbClr val="990000"/>
                </a:solidFill>
                <a:latin typeface="Arial"/>
                <a:ea typeface="DejaVu Sans"/>
              </a:rPr>
              <a:t>Features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7440" cy="11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Features – Tool modes</a:t>
            </a:r>
            <a:br>
              <a:rPr sz="2400"/>
            </a:b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68" name="Inhaltsplatzhalter 4"/>
          <p:cNvGraphicFramePr/>
          <p:nvPr/>
        </p:nvGraphicFramePr>
        <p:xfrm>
          <a:off x="622440" y="2393280"/>
          <a:ext cx="7605360" cy="2034360"/>
        </p:xfrm>
        <a:graphic>
          <a:graphicData uri="http://schemas.openxmlformats.org/drawingml/2006/table">
            <a:tbl>
              <a:tblPr/>
              <a:tblGrid>
                <a:gridCol w="1177920"/>
                <a:gridCol w="582120"/>
                <a:gridCol w="582120"/>
                <a:gridCol w="582120"/>
                <a:gridCol w="582120"/>
                <a:gridCol w="582120"/>
                <a:gridCol w="681480"/>
                <a:gridCol w="681480"/>
                <a:gridCol w="681480"/>
                <a:gridCol w="681480"/>
                <a:gridCol w="791280"/>
              </a:tblGrid>
              <a:tr h="59688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Medium Lorries (XML)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Heavy Lorries (XML)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Primary buses (XML)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Interim buses </a:t>
                      </a:r>
                      <a:br>
                        <a:rPr sz="900"/>
                      </a:b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(GUI)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Interim buses (XML)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(JSON v7)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</a:t>
                      </a:r>
                      <a:br>
                        <a:rPr sz="900"/>
                      </a:b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(GUI)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(XML)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 buses (JSON v10)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 buses (XML)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17028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VECTO.exe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51084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VECTOcmd.exe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34056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VECTOMultistep.exe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36612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Comments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gridSpan="2"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function: generates updated VIF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gridSpan="2"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"Single step" manufacturing process</a:t>
                      </a:r>
                      <a:endParaRPr b="0" lang="en-GB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  <p:sp>
        <p:nvSpPr>
          <p:cNvPr id="69" name="Textfeld 8"/>
          <p:cNvSpPr/>
          <p:nvPr/>
        </p:nvSpPr>
        <p:spPr>
          <a:xfrm>
            <a:off x="6509160" y="4789800"/>
            <a:ext cx="20019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AT" sz="1000" spc="-1" strike="noStrike">
                <a:solidFill>
                  <a:schemeClr val="accent2"/>
                </a:solidFill>
                <a:latin typeface="Arial"/>
                <a:ea typeface="DejaVu Sans"/>
              </a:rPr>
              <a:t>X</a:t>
            </a:r>
            <a:r>
              <a:rPr b="1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 </a:t>
            </a:r>
            <a:r>
              <a:rPr b="0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… Simulation only</a:t>
            </a:r>
            <a:endParaRPr b="0" lang="en-GB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de-AT" sz="1000" spc="-1" strike="noStrike">
                <a:solidFill>
                  <a:schemeClr val="accent4">
                    <a:lumMod val="75000"/>
                  </a:schemeClr>
                </a:solidFill>
                <a:latin typeface="Arial"/>
                <a:ea typeface="DejaVu Sans"/>
              </a:rPr>
              <a:t>X</a:t>
            </a:r>
            <a:r>
              <a:rPr b="1" lang="de-AT" sz="1000" spc="-1" strike="noStrike">
                <a:solidFill>
                  <a:schemeClr val="accent4">
                    <a:lumMod val="75000"/>
                  </a:schemeClr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chemeClr val="dk1"/>
                </a:solidFill>
                <a:latin typeface="Arial"/>
                <a:ea typeface="DejaVu Sans"/>
              </a:rPr>
              <a:t>…</a:t>
            </a:r>
            <a:r>
              <a:rPr b="0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 Simulation and editing</a:t>
            </a:r>
            <a:endParaRPr b="0" lang="en-GB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/>
          </p:nvPr>
        </p:nvSpPr>
        <p:spPr>
          <a:xfrm>
            <a:off x="588240" y="1299960"/>
            <a:ext cx="8392680" cy="419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  <a:ea typeface="DejaVu Sans"/>
              </a:rPr>
              <a:t>XML Job Files &lt; v2.4 are no longer supported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  <a:ea typeface="DejaVu Sans"/>
              </a:rPr>
              <a:t>Dropped support for .NET Framework 4.5 (EOL 04/2022)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7440" cy="47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rgbClr val="990000"/>
                </a:solidFill>
                <a:latin typeface="Arial"/>
                <a:ea typeface="DejaVu Sans"/>
              </a:rPr>
              <a:t>Changes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7440" cy="11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xEV-Vehicles</a:t>
            </a:r>
            <a:br>
              <a:rPr sz="2400"/>
            </a:b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feld 1"/>
          <p:cNvSpPr/>
          <p:nvPr/>
        </p:nvSpPr>
        <p:spPr>
          <a:xfrm>
            <a:off x="588240" y="1210680"/>
            <a:ext cx="7965720" cy="335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auxiliary parametrisation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parametrisation of usable SOC range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parametrisation of Serial/Parallel Hybrid Strategy parameters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Automated simulation of OVC-HEV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chemeClr val="dk1"/>
                </a:solidFill>
                <a:latin typeface="Arial"/>
                <a:ea typeface="DejaVu Sans"/>
              </a:rPr>
              <a:t>Charge depleting mode (CD): The propulsion energy is provided by the electric storage only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chemeClr val="dk1"/>
                </a:solidFill>
                <a:latin typeface="Arial"/>
                <a:ea typeface="DejaVu Sans"/>
              </a:rPr>
              <a:t>Charge sustaining mode (CS): The propulsion energy is provided by the fuel storage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7440" cy="112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xEV-Lorries</a:t>
            </a:r>
            <a:br>
              <a:rPr sz="2400"/>
            </a:b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Inhaltsplatzhalter 5"/>
          <p:cNvSpPr/>
          <p:nvPr/>
        </p:nvSpPr>
        <p:spPr>
          <a:xfrm>
            <a:off x="749520" y="1085040"/>
            <a:ext cx="8392680" cy="512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90000"/>
              </a:lnSpc>
              <a:spcBef>
                <a:spcPts val="1199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E-PTO for PEV and S-HEV in Declaration Mode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E-PTO for PEV and S-HEV in Engineering Mode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9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itel 4"/>
          <p:cNvSpPr/>
          <p:nvPr/>
        </p:nvSpPr>
        <p:spPr>
          <a:xfrm>
            <a:off x="588240" y="2622240"/>
            <a:ext cx="822744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Buses</a:t>
            </a:r>
            <a:br>
              <a:rPr sz="2400"/>
            </a:b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588240" y="2861280"/>
            <a:ext cx="8392680" cy="138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pc="-1" strike="noStrike">
                <a:solidFill>
                  <a:schemeClr val="dk1"/>
                </a:solidFill>
                <a:latin typeface="Arial"/>
                <a:ea typeface="DejaVu Sans"/>
              </a:rPr>
              <a:t>Factor Method for conventional and xEV-Buses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bus auxiliary model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Application>LibreOffice/7.6.5.2$Windows_X86_64 LibreOffice_project/38d5f62f85355c192ef5f1dd47c5c0c0c6d6598b</Application>
  <AppVersion>15.0000</AppVersion>
  <Words>813</Words>
  <Paragraphs>158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2010-01-07T15:28:02Z</dcterms:created>
  <dc:creator>martinrexeis</dc:creator>
  <dc:description/>
  <dc:language>en-US</dc:language>
  <cp:lastModifiedBy/>
  <cp:lastPrinted>2013-01-22T12:03:30Z</cp:lastPrinted>
  <dcterms:modified xsi:type="dcterms:W3CDTF">2024-04-15T10:10:58Z</dcterms:modified>
  <cp:revision>1392</cp:revision>
  <dc:subject/>
  <dc:title>Folie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12</vt:i4>
  </property>
</Properties>
</file>