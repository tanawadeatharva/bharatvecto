
<file path=[Content_Types].xml><?xml version="1.0" encoding="utf-8"?>
<Types xmlns="http://schemas.openxmlformats.org/package/2006/content-types">
  <Default Extension="png" ContentType="image/png"/>
  <Default Extension="jpeg" ContentType="image/jpeg"/>
  <Default Extension="emf" ContentType="image/x-emf"/>
  <Default Extension="wmf" ContentType="image/x-w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sldIdLst>
    <p:sldId id="256" r:id="rId3"/>
    <p:sldId id="371" r:id="rId4"/>
    <p:sldId id="1101" r:id="rId5"/>
    <p:sldId id="1105" r:id="rId6"/>
    <p:sldId id="1134" r:id="rId7"/>
    <p:sldId id="1135" r:id="rId8"/>
    <p:sldId id="1136" r:id="rId9"/>
    <p:sldId id="1137" r:id="rId10"/>
    <p:sldId id="1138" r:id="rId11"/>
    <p:sldId id="1139" r:id="rId12"/>
    <p:sldId id="1140" r:id="rId13"/>
    <p:sldId id="1141" r:id="rId14"/>
    <p:sldId id="1142" r:id="rId15"/>
    <p:sldId id="1143" r:id="rId16"/>
    <p:sldId id="1126" r:id="rId17"/>
    <p:sldId id="1132" r:id="rId18"/>
    <p:sldId id="1133" r:id="rId19"/>
    <p:sldId id="1144" r:id="rId20"/>
    <p:sldId id="1145" r:id="rId21"/>
    <p:sldId id="1146" r:id="rId22"/>
    <p:sldId id="1147" r:id="rId23"/>
    <p:sldId id="1148" r:id="rId24"/>
    <p:sldId id="1149" r:id="rId25"/>
    <p:sldId id="1150" r:id="rId26"/>
    <p:sldId id="1151" r:id="rId27"/>
    <p:sldId id="1152" r:id="rId28"/>
    <p:sldId id="1153" r:id="rId29"/>
    <p:sldId id="1154" r:id="rId30"/>
    <p:sldId id="1155" r:id="rId31"/>
    <p:sldId id="1156" r:id="rId32"/>
    <p:sldId id="1157" r:id="rId33"/>
    <p:sldId id="1115" r:id="rId34"/>
    <p:sldId id="257" r:id="rId35"/>
    <p:sldId id="258" r:id="rId36"/>
    <p:sldId id="259" r:id="rId37"/>
    <p:sldId id="260" r:id="rId38"/>
    <p:sldId id="261" r:id="rId39"/>
    <p:sldId id="262" r:id="rId40"/>
    <p:sldId id="263" r:id="rId41"/>
    <p:sldId id="264" r:id="rId42"/>
    <p:sldId id="265" r:id="rId43"/>
    <p:sldId id="266" r:id="rId44"/>
    <p:sldId id="267" r:id="rId45"/>
    <p:sldId id="268" r:id="rId46"/>
    <p:sldId id="269" r:id="rId47"/>
    <p:sldId id="270" r:id="rId48"/>
    <p:sldId id="271" r:id="rId49"/>
    <p:sldId id="272" r:id="rId50"/>
    <p:sldId id="273" r:id="rId51"/>
    <p:sldId id="274" r:id="rId52"/>
    <p:sldId id="275" r:id="rId53"/>
    <p:sldId id="276" r:id="rId54"/>
    <p:sldId id="277" r:id="rId55"/>
    <p:sldId id="278" r:id="rId56"/>
    <p:sldId id="279" r:id="rId57"/>
    <p:sldId id="280" r:id="rId58"/>
    <p:sldId id="281" r:id="rId59"/>
    <p:sldId id="282" r:id="rId60"/>
    <p:sldId id="283" r:id="rId61"/>
    <p:sldId id="284" r:id="rId62"/>
    <p:sldId id="285" r:id="rId63"/>
    <p:sldId id="286" r:id="rId64"/>
    <p:sldId id="287" r:id="rId65"/>
    <p:sldId id="288" r:id="rId66"/>
    <p:sldId id="289" r:id="rId67"/>
    <p:sldId id="290" r:id="rId68"/>
    <p:sldId id="291" r:id="rId69"/>
    <p:sldId id="292" r:id="rId70"/>
    <p:sldId id="293" r:id="rId71"/>
    <p:sldId id="294" r:id="rId72"/>
    <p:sldId id="295" r:id="rId73"/>
    <p:sldId id="296" r:id="rId74"/>
    <p:sldId id="297" r:id="rId75"/>
    <p:sldId id="298" r:id="rId76"/>
    <p:sldId id="299" r:id="rId77"/>
    <p:sldId id="300" r:id="rId78"/>
    <p:sldId id="301" r:id="rId79"/>
    <p:sldId id="302" r:id="rId80"/>
    <p:sldId id="303" r:id="rId81"/>
    <p:sldId id="304" r:id="rId82"/>
    <p:sldId id="305" r:id="rId83"/>
    <p:sldId id="306" r:id="rId84"/>
    <p:sldId id="307" r:id="rId85"/>
    <p:sldId id="308" r:id="rId86"/>
    <p:sldId id="309" r:id="rId87"/>
    <p:sldId id="310" r:id="rId88"/>
    <p:sldId id="311" r:id="rId89"/>
    <p:sldId id="312" r:id="rId90"/>
    <p:sldId id="313" r:id="rId91"/>
    <p:sldId id="314" r:id="rId92"/>
    <p:sldId id="315" r:id="rId93"/>
    <p:sldId id="316" r:id="rId94"/>
    <p:sldId id="317" r:id="rId95"/>
    <p:sldId id="318" r:id="rId96"/>
    <p:sldId id="319" r:id="rId97"/>
    <p:sldId id="320" r:id="rId98"/>
    <p:sldId id="321" r:id="rId99"/>
    <p:sldId id="322" r:id="rId100"/>
    <p:sldId id="323" r:id="rId101"/>
    <p:sldId id="324" r:id="rId102"/>
    <p:sldId id="325" r:id="rId103"/>
    <p:sldId id="326" r:id="rId104"/>
    <p:sldId id="327" r:id="rId105"/>
    <p:sldId id="328" r:id="rId106"/>
    <p:sldId id="329" r:id="rId107"/>
    <p:sldId id="330" r:id="rId108"/>
    <p:sldId id="331" r:id="rId109"/>
    <p:sldId id="332" r:id="rId110"/>
    <p:sldId id="333" r:id="rId111"/>
    <p:sldId id="334" r:id="rId112"/>
    <p:sldId id="335" r:id="rId113"/>
    <p:sldId id="336" r:id="rId114"/>
    <p:sldId id="337" r:id="rId115"/>
    <p:sldId id="338" r:id="rId116"/>
    <p:sldId id="339" r:id="rId117"/>
    <p:sldId id="340" r:id="rId118"/>
    <p:sldId id="341" r:id="rId119"/>
    <p:sldId id="342" r:id="rId120"/>
    <p:sldId id="343" r:id="rId121"/>
    <p:sldId id="344" r:id="rId122"/>
    <p:sldId id="345" r:id="rId123"/>
    <p:sldId id="346" r:id="rId124"/>
    <p:sldId id="347" r:id="rId125"/>
    <p:sldId id="348" r:id="rId126"/>
    <p:sldId id="349" r:id="rId127"/>
    <p:sldId id="350" r:id="rId128"/>
    <p:sldId id="351" r:id="rId129"/>
    <p:sldId id="352" r:id="rId130"/>
    <p:sldId id="353" r:id="rId131"/>
    <p:sldId id="354" r:id="rId132"/>
    <p:sldId id="355" r:id="rId133"/>
    <p:sldId id="356" r:id="rId134"/>
    <p:sldId id="357" r:id="rId135"/>
    <p:sldId id="358" r:id="rId136"/>
    <p:sldId id="359" r:id="rId137"/>
    <p:sldId id="360" r:id="rId138"/>
    <p:sldId id="361" r:id="rId139"/>
    <p:sldId id="362" r:id="rId140"/>
    <p:sldId id="363" r:id="rId141"/>
    <p:sldId id="364" r:id="rId142"/>
    <p:sldId id="365" r:id="rId143"/>
    <p:sldId id="366" r:id="rId144"/>
    <p:sldId id="367" r:id="rId145"/>
    <p:sldId id="368" r:id="rId146"/>
    <p:sldId id="369" r:id="rId147"/>
  </p:sldIdLst>
  <p:sldSz cx="9144000" cy="6858000" type="screen4x3"/>
  <p:notesSz cx="7772400" cy="100584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1728"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viewProps" Target="viewProps.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theme" Target="theme/theme1.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tableStyles" Target="tableStyle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lvl1pPr>
              <a:defRPr lang="en-US" sz="2400" b="1" strike="noStrike" kern="1200" spc="-1">
                <a:solidFill>
                  <a:srgbClr val="990000"/>
                </a:solidFill>
                <a:latin typeface="Arial"/>
                <a:ea typeface="+mj-ea"/>
                <a:cs typeface="+mj-cs"/>
              </a:defRPr>
            </a:lvl1pPr>
          </a:lstStyle>
          <a:p>
            <a:pPr algn="ctr">
              <a:buNone/>
            </a:pPr>
            <a:endParaRPr lang="en-US" sz="4400" b="0" strike="noStrike" spc="-1" dirty="0">
              <a:latin typeface="Arial"/>
            </a:endParaRPr>
          </a:p>
        </p:txBody>
      </p:sp>
      <p:sp>
        <p:nvSpPr>
          <p:cNvPr id="9"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1"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3"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4"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8"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9"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0"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2"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3"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4"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6"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8"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0"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1"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3"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4"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5"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6"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8"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9"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0"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1"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2"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3"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Titel und Inhalt (wide)">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wrap="none"/>
          <a:lstStyle>
            <a:lvl1pPr>
              <a:defRPr b="1"/>
            </a:lvl1pPr>
          </a:lstStyle>
          <a:p>
            <a:r>
              <a:rPr lang="en-US" noProof="0" dirty="0"/>
              <a:t>Click to add Slide Title</a:t>
            </a:r>
          </a:p>
        </p:txBody>
      </p:sp>
      <p:sp>
        <p:nvSpPr>
          <p:cNvPr id="3" name="Inhaltsplatzhalter 2"/>
          <p:cNvSpPr>
            <a:spLocks noGrp="1"/>
          </p:cNvSpPr>
          <p:nvPr>
            <p:ph idx="1" hasCustomPrompt="1"/>
          </p:nvPr>
        </p:nvSpPr>
        <p:spPr/>
        <p:txBody>
          <a:bodyPr/>
          <a:lstStyle>
            <a:lvl1pPr>
              <a:defRPr/>
            </a:lvl1pPr>
            <a:lvl2pPr marL="715963" indent="-266700">
              <a:buFont typeface="Wingdings" panose="05000000000000000000" pitchFamily="2" charset="2"/>
              <a:buChar char="§"/>
              <a:defRPr/>
            </a:lvl2pPr>
            <a:lvl3pPr>
              <a:defRPr/>
            </a:lvl3pPr>
            <a:lvl4pPr>
              <a:defRPr/>
            </a:lvl4pPr>
            <a:lvl5pPr>
              <a:defRPr/>
            </a:lvl5pPr>
          </a:lstStyle>
          <a:p>
            <a:pPr lvl="0"/>
            <a:r>
              <a:rPr lang="en-US" noProof="0" dirty="0"/>
              <a:t>Main items</a:t>
            </a:r>
          </a:p>
          <a:p>
            <a:pPr lvl="1"/>
            <a:r>
              <a:rPr lang="en-US" noProof="0" dirty="0"/>
              <a:t>Sub-items</a:t>
            </a:r>
          </a:p>
          <a:p>
            <a:pPr lvl="2"/>
            <a:r>
              <a:rPr lang="en-US" noProof="0" dirty="0"/>
              <a:t>Third layer</a:t>
            </a:r>
          </a:p>
          <a:p>
            <a:pPr lvl="3"/>
            <a:r>
              <a:rPr lang="en-US" noProof="0" dirty="0"/>
              <a:t>Fourth layer</a:t>
            </a:r>
          </a:p>
          <a:p>
            <a:pPr lvl="4"/>
            <a:r>
              <a:rPr lang="en-US" noProof="0" dirty="0"/>
              <a:t>Fifth layer</a:t>
            </a:r>
          </a:p>
        </p:txBody>
      </p:sp>
      <p:sp>
        <p:nvSpPr>
          <p:cNvPr id="6" name="Foliennummernplatzhalter 5"/>
          <p:cNvSpPr>
            <a:spLocks noGrp="1"/>
          </p:cNvSpPr>
          <p:nvPr>
            <p:ph type="sldNum" sz="quarter" idx="12"/>
          </p:nvPr>
        </p:nvSpPr>
        <p:spPr/>
        <p:txBody>
          <a:bodyPr/>
          <a:lstStyle/>
          <a:p>
            <a:fld id="{4B64EC4D-37E3-EF42-B9AB-6337577588CB}" type="slidenum">
              <a:rPr lang="de-DE" smtClean="0"/>
              <a:t>‹Nr.›</a:t>
            </a:fld>
            <a:endParaRPr lang="de-DE"/>
          </a:p>
        </p:txBody>
      </p:sp>
    </p:spTree>
    <p:extLst>
      <p:ext uri="{BB962C8B-B14F-4D97-AF65-F5344CB8AC3E}">
        <p14:creationId xmlns:p14="http://schemas.microsoft.com/office/powerpoint/2010/main" val="26600102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3"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5"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7"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58"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2"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3"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4"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6"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8"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0"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1"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2"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4"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5"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7"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8"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9"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0"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82"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3"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4"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5"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6"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7"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image" Target="../media/image2.png"/><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9"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0A73C48F-7230-42C2-BF20-5E467D5F244F}" type="slidenum">
              <a:rPr lang="de-AT" sz="1000" b="1" strike="noStrike" spc="-1">
                <a:solidFill>
                  <a:srgbClr val="7D7D7D"/>
                </a:solidFill>
                <a:latin typeface="Verdana"/>
                <a:ea typeface="DejaVu Sans"/>
              </a:rPr>
              <a:t>‹Nr.›</a:t>
            </a:fld>
            <a:endParaRPr lang="en-US" sz="1000" b="0" strike="noStrike" spc="-1">
              <a:latin typeface="Arial"/>
            </a:endParaRPr>
          </a:p>
        </p:txBody>
      </p:sp>
      <p:sp>
        <p:nvSpPr>
          <p:cNvPr id="2"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3" name="Picture 2"/>
          <p:cNvPicPr/>
          <p:nvPr/>
        </p:nvPicPr>
        <p:blipFill>
          <a:blip r:embed="rId15"/>
          <a:stretch/>
        </p:blipFill>
        <p:spPr>
          <a:xfrm>
            <a:off x="7389360" y="37800"/>
            <a:ext cx="1420560" cy="352080"/>
          </a:xfrm>
          <a:prstGeom prst="rect">
            <a:avLst/>
          </a:prstGeom>
          <a:ln w="0">
            <a:noFill/>
          </a:ln>
        </p:spPr>
      </p:pic>
      <p:pic>
        <p:nvPicPr>
          <p:cNvPr id="4" name="Picture 3" descr="I:\raphaelluz\VECTO\source\VECTO\User Manual\pics\VECTO-small.PNG"/>
          <p:cNvPicPr/>
          <p:nvPr/>
        </p:nvPicPr>
        <p:blipFill>
          <a:blip r:embed="rId16"/>
          <a:stretch/>
        </p:blipFill>
        <p:spPr>
          <a:xfrm>
            <a:off x="107640" y="58680"/>
            <a:ext cx="977760" cy="33156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a:latin typeface="Arial"/>
              </a:rPr>
              <a:t>Click to edit the title text format</a:t>
            </a:r>
          </a:p>
        </p:txBody>
      </p:sp>
      <p:sp>
        <p:nvSpPr>
          <p:cNvPr id="7"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74"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45"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4CE03935-9F1B-40FD-BDE8-AA191BDA0FEB}" type="slidenum">
              <a:rPr lang="de-AT" sz="1000" b="1" strike="noStrike" spc="-1">
                <a:solidFill>
                  <a:srgbClr val="7D7D7D"/>
                </a:solidFill>
                <a:latin typeface="Verdana"/>
                <a:ea typeface="DejaVu Sans"/>
              </a:rPr>
              <a:t>‹Nr.›</a:t>
            </a:fld>
            <a:endParaRPr lang="en-US" sz="1000" b="0" strike="noStrike" spc="-1">
              <a:latin typeface="Arial"/>
            </a:endParaRPr>
          </a:p>
        </p:txBody>
      </p:sp>
      <p:sp>
        <p:nvSpPr>
          <p:cNvPr id="46"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47" name="Picture 2"/>
          <p:cNvPicPr/>
          <p:nvPr/>
        </p:nvPicPr>
        <p:blipFill>
          <a:blip r:embed="rId14"/>
          <a:stretch/>
        </p:blipFill>
        <p:spPr>
          <a:xfrm>
            <a:off x="7389360" y="37800"/>
            <a:ext cx="1420560" cy="352080"/>
          </a:xfrm>
          <a:prstGeom prst="rect">
            <a:avLst/>
          </a:prstGeom>
          <a:ln w="0">
            <a:noFill/>
          </a:ln>
        </p:spPr>
      </p:pic>
      <p:pic>
        <p:nvPicPr>
          <p:cNvPr id="48" name="Picture 3" descr="I:\raphaelluz\VECTO\source\VECTO\User Manual\pics\VECTO-small.PNG"/>
          <p:cNvPicPr/>
          <p:nvPr/>
        </p:nvPicPr>
        <p:blipFill>
          <a:blip r:embed="rId15"/>
          <a:stretch/>
        </p:blipFill>
        <p:spPr>
          <a:xfrm>
            <a:off x="107640" y="58680"/>
            <a:ext cx="977760" cy="33156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a:latin typeface="Arial"/>
              </a:rPr>
              <a:t>Click to edit the title text format</a:t>
            </a: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13.xml"/><Relationship Id="rId4" Type="http://schemas.openxmlformats.org/officeDocument/2006/relationships/image" Target="../media/image14.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17.emf"/><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image" Target="../media/image19.emf"/><Relationship Id="rId1" Type="http://schemas.openxmlformats.org/officeDocument/2006/relationships/slideLayout" Target="../slideLayouts/slideLayout13.xml"/><Relationship Id="rId5" Type="http://schemas.openxmlformats.org/officeDocument/2006/relationships/image" Target="../media/image15.png"/><Relationship Id="rId4" Type="http://schemas.openxmlformats.org/officeDocument/2006/relationships/image" Target="../media/image21.em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xml"/><Relationship Id="rId5" Type="http://schemas.openxmlformats.org/officeDocument/2006/relationships/image" Target="../media/image41.png"/><Relationship Id="rId4" Type="http://schemas.openxmlformats.org/officeDocument/2006/relationships/image" Target="../media/image4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50.wmf"/><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50.wmf"/><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 Box 94"/>
          <p:cNvSpPr/>
          <p:nvPr/>
        </p:nvSpPr>
        <p:spPr>
          <a:xfrm>
            <a:off x="539640" y="1052640"/>
            <a:ext cx="8135640" cy="3945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1599"/>
              </a:spcBef>
              <a:buNone/>
            </a:pPr>
            <a:r>
              <a:rPr lang="en-US" sz="3200" b="1" strike="noStrike" spc="-1">
                <a:solidFill>
                  <a:srgbClr val="990000"/>
                </a:solidFill>
                <a:latin typeface="Arial"/>
                <a:ea typeface="DejaVu Sans"/>
              </a:rPr>
              <a:t>VECTO 3.x</a:t>
            </a:r>
            <a:endParaRPr lang="en-US" sz="3200" b="0" strike="noStrike" spc="-1">
              <a:latin typeface="Arial"/>
            </a:endParaRPr>
          </a:p>
          <a:p>
            <a:pPr algn="ctr">
              <a:lnSpc>
                <a:spcPct val="100000"/>
              </a:lnSpc>
              <a:spcBef>
                <a:spcPts val="1001"/>
              </a:spcBef>
              <a:buNone/>
            </a:pPr>
            <a:r>
              <a:rPr lang="en-US" sz="2000" b="1" strike="noStrike" spc="-1">
                <a:solidFill>
                  <a:srgbClr val="990000"/>
                </a:solidFill>
                <a:latin typeface="Arial"/>
                <a:ea typeface="DejaVu Sans"/>
              </a:rPr>
              <a:t>3.5.2022</a:t>
            </a:r>
            <a:endParaRPr lang="en-US" sz="2000" b="0" strike="noStrike" spc="-1">
              <a:latin typeface="Arial"/>
            </a:endParaRPr>
          </a:p>
          <a:p>
            <a:pPr algn="ctr">
              <a:lnSpc>
                <a:spcPct val="100000"/>
              </a:lnSpc>
              <a:spcBef>
                <a:spcPts val="1001"/>
              </a:spcBef>
              <a:buNone/>
            </a:pPr>
            <a:endParaRPr lang="en-US" sz="2000" b="0" strike="noStrike" spc="-1">
              <a:latin typeface="Arial"/>
            </a:endParaRPr>
          </a:p>
          <a:p>
            <a:pPr algn="ctr">
              <a:lnSpc>
                <a:spcPct val="100000"/>
              </a:lnSpc>
              <a:spcBef>
                <a:spcPts val="1001"/>
              </a:spcBef>
              <a:buNone/>
            </a:pPr>
            <a:endParaRPr lang="en-US" sz="20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r>
              <a:rPr lang="en-US" sz="2400" b="1" strike="noStrike" spc="-1">
                <a:solidFill>
                  <a:srgbClr val="990000"/>
                </a:solidFill>
                <a:latin typeface="Arial"/>
                <a:ea typeface="DejaVu Sans"/>
              </a:rPr>
              <a:t>Release Notes</a:t>
            </a:r>
            <a:endParaRPr lang="en-US" sz="2400" b="0" strike="noStrike" spc="-1">
              <a:latin typeface="Arial"/>
            </a:endParaRPr>
          </a:p>
        </p:txBody>
      </p:sp>
      <p:pic>
        <p:nvPicPr>
          <p:cNvPr id="89" name="Picture 2"/>
          <p:cNvPicPr/>
          <p:nvPr/>
        </p:nvPicPr>
        <p:blipFill>
          <a:blip r:embed="rId2"/>
          <a:stretch/>
        </p:blipFill>
        <p:spPr>
          <a:xfrm>
            <a:off x="2483640" y="2421000"/>
            <a:ext cx="4175640" cy="1626840"/>
          </a:xfrm>
          <a:prstGeom prst="rect">
            <a:avLst/>
          </a:prstGeom>
          <a:ln w="0">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7720" cy="680400"/>
          </a:xfrm>
          <a:prstGeom prst="rect">
            <a:avLst/>
          </a:prstGeom>
          <a:noFill/>
          <a:ln w="0">
            <a:noFill/>
          </a:ln>
        </p:spPr>
        <p:txBody>
          <a:bodyPr lIns="0" tIns="0" rIns="0" bIns="0" numCol="1" spcCol="0" anchor="ctr">
            <a:noAutofit/>
          </a:bodyPr>
          <a:lstStyle/>
          <a:p>
            <a:pPr algn="ctr">
              <a:lnSpc>
                <a:spcPct val="100000"/>
              </a:lnSpc>
              <a:buNone/>
            </a:pPr>
            <a:r>
              <a:rPr lang="en-US" sz="2400" b="1" strike="noStrike" spc="-1" dirty="0" err="1">
                <a:solidFill>
                  <a:srgbClr val="990000"/>
                </a:solidFill>
                <a:latin typeface="Arial"/>
              </a:rPr>
              <a:t>Vecto</a:t>
            </a:r>
            <a:r>
              <a:rPr lang="en-US" sz="2400" b="1" strike="noStrike" spc="-1" dirty="0">
                <a:solidFill>
                  <a:srgbClr val="990000"/>
                </a:solidFill>
                <a:latin typeface="Arial"/>
              </a:rPr>
              <a:t> 0.7.9.xxx  Development Version</a:t>
            </a:r>
            <a:r>
              <a:rPr lang="en-US" sz="2400" b="0" strike="noStrike" spc="-1" dirty="0">
                <a:latin typeface="Arial"/>
              </a:rPr>
              <a:t> </a:t>
            </a:r>
            <a:br>
              <a:rPr sz="2400" dirty="0"/>
            </a:br>
            <a:r>
              <a:rPr lang="en-US" sz="1600" b="1" strike="noStrike" spc="-1" dirty="0">
                <a:solidFill>
                  <a:srgbClr val="990000"/>
                </a:solidFill>
                <a:latin typeface="Arial"/>
              </a:rPr>
              <a:t>March 2023</a:t>
            </a:r>
            <a:endParaRPr lang="en-US" sz="1600" b="0" strike="noStrike" spc="-1" dirty="0">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Important Note</a:t>
            </a:r>
            <a:br>
              <a:rPr sz="1600" dirty="0"/>
            </a:br>
            <a:r>
              <a:rPr lang="en-US" sz="1600" b="0" strike="noStrike" spc="-1" dirty="0">
                <a:solidFill>
                  <a:srgbClr val="000000"/>
                </a:solidFill>
                <a:latin typeface="Arial"/>
              </a:rPr>
              <a:t>This is a development release for </a:t>
            </a:r>
            <a:r>
              <a:rPr lang="en-US" sz="1600" b="0" strike="noStrike" spc="-1" dirty="0" err="1">
                <a:solidFill>
                  <a:srgbClr val="000000"/>
                </a:solidFill>
                <a:latin typeface="Arial"/>
              </a:rPr>
              <a:t>xEV</a:t>
            </a:r>
            <a:r>
              <a:rPr lang="en-US" sz="1600" b="0" strike="noStrike" spc="-1" dirty="0">
                <a:solidFill>
                  <a:srgbClr val="000000"/>
                </a:solidFill>
                <a:latin typeface="Arial"/>
              </a:rPr>
              <a:t>-Lorries. Bus related functionalities may be broken. </a:t>
            </a:r>
            <a:br>
              <a:rPr sz="1600" dirty="0"/>
            </a:br>
            <a:r>
              <a:rPr lang="en-US" sz="1600" b="0" strike="noStrike" spc="-1" dirty="0">
                <a:solidFill>
                  <a:srgbClr val="000000"/>
                </a:solidFill>
                <a:latin typeface="Arial"/>
              </a:rPr>
              <a:t> </a:t>
            </a:r>
            <a:endParaRPr lang="en-US" sz="1600" b="0" strike="noStrike" spc="-1" dirty="0">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Changes</a:t>
            </a:r>
            <a:endParaRPr lang="en-US" sz="1600" b="0" strike="noStrike" spc="-1" dirty="0">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Implementation of Declaration-Mode for </a:t>
            </a:r>
            <a:r>
              <a:rPr lang="en-US" sz="1400" b="0" strike="noStrike" spc="-1" dirty="0" err="1">
                <a:solidFill>
                  <a:srgbClr val="000000"/>
                </a:solidFill>
                <a:latin typeface="Arial"/>
              </a:rPr>
              <a:t>xEV</a:t>
            </a:r>
            <a:r>
              <a:rPr lang="en-US" sz="1400" b="0" strike="noStrike" spc="-1" dirty="0">
                <a:solidFill>
                  <a:srgbClr val="000000"/>
                </a:solidFill>
                <a:latin typeface="Arial"/>
              </a:rPr>
              <a:t>-Lorries</a:t>
            </a: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Test settings:</a:t>
            </a:r>
          </a:p>
          <a:p>
            <a:pPr marL="1200240" lvl="2" indent="-285840">
              <a:spcBef>
                <a:spcPts val="281"/>
              </a:spcBef>
              <a:buClr>
                <a:srgbClr val="000000"/>
              </a:buClr>
              <a:buFont typeface="Symbol"/>
              <a:buChar char=""/>
              <a:tabLst>
                <a:tab pos="1886040" algn="l"/>
              </a:tabLst>
            </a:pPr>
            <a:r>
              <a:rPr lang="en-US" sz="1400" spc="-1" dirty="0">
                <a:solidFill>
                  <a:srgbClr val="000000"/>
                </a:solidFill>
                <a:latin typeface="Arial"/>
              </a:rPr>
              <a:t>Charge-Sustaining-Mode: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Iterative </a:t>
            </a:r>
            <a:r>
              <a:rPr lang="en-US" sz="1400" spc="-1" dirty="0">
                <a:solidFill>
                  <a:srgbClr val="000000"/>
                </a:solidFill>
                <a:latin typeface="Arial"/>
              </a:rPr>
              <a:t>simulation for OVC-P-HEVs </a:t>
            </a:r>
          </a:p>
          <a:p>
            <a:pPr lvl="3">
              <a:spcBef>
                <a:spcPts val="281"/>
              </a:spcBef>
              <a:buClr>
                <a:srgbClr val="000000"/>
              </a:buClr>
              <a:tabLst>
                <a:tab pos="1886040" algn="l"/>
              </a:tabLst>
            </a:pPr>
            <a:r>
              <a:rPr lang="en-US" sz="1400" spc="-1" dirty="0">
                <a:solidFill>
                  <a:srgbClr val="000000"/>
                </a:solidFill>
                <a:latin typeface="Arial"/>
              </a:rPr>
              <a:t>	can be disabled</a:t>
            </a:r>
          </a:p>
          <a:p>
            <a:pPr marL="1200240" lvl="2"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Charge</a:t>
            </a:r>
            <a:r>
              <a:rPr lang="en-US" sz="1400" spc="-1" dirty="0">
                <a:solidFill>
                  <a:srgbClr val="000000"/>
                </a:solidFill>
                <a:latin typeface="Arial"/>
              </a:rPr>
              <a:t>-</a:t>
            </a:r>
            <a:r>
              <a:rPr lang="en-US" sz="1400" b="0" strike="noStrike" spc="-1" dirty="0">
                <a:solidFill>
                  <a:srgbClr val="000000"/>
                </a:solidFill>
                <a:latin typeface="Arial"/>
              </a:rPr>
              <a:t>Depleting-</a:t>
            </a:r>
            <a:r>
              <a:rPr lang="en-US" sz="1400" spc="-1" dirty="0">
                <a:solidFill>
                  <a:srgbClr val="000000"/>
                </a:solidFill>
                <a:latin typeface="Arial"/>
              </a:rPr>
              <a:t>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Central SOC can be overridden for </a:t>
            </a:r>
          </a:p>
          <a:p>
            <a:pPr lvl="3">
              <a:spcBef>
                <a:spcPts val="281"/>
              </a:spcBef>
              <a:buClr>
                <a:srgbClr val="000000"/>
              </a:buClr>
              <a:tabLst>
                <a:tab pos="1886040" algn="l"/>
              </a:tabLst>
            </a:pPr>
            <a:r>
              <a:rPr lang="en-US" sz="1400" spc="-1" dirty="0">
                <a:solidFill>
                  <a:srgbClr val="000000"/>
                </a:solidFill>
                <a:latin typeface="Arial"/>
              </a:rPr>
              <a:t>	</a:t>
            </a:r>
            <a:r>
              <a:rPr lang="en-US" sz="1400" b="0" strike="noStrike" spc="-1" dirty="0">
                <a:solidFill>
                  <a:srgbClr val="000000"/>
                </a:solidFill>
                <a:latin typeface="Arial"/>
              </a:rPr>
              <a:t>Charge</a:t>
            </a:r>
            <a:r>
              <a:rPr lang="en-US" sz="1400" spc="-1" dirty="0">
                <a:solidFill>
                  <a:srgbClr val="000000"/>
                </a:solidFill>
                <a:latin typeface="Arial"/>
              </a:rPr>
              <a:t>-Depleting-Mode </a:t>
            </a:r>
            <a:endParaRPr lang="en-US" sz="1400" b="0" strike="noStrike" spc="-1" dirty="0">
              <a:solidFill>
                <a:srgbClr val="000000"/>
              </a:solidFill>
              <a:latin typeface="Arial"/>
            </a:endParaRP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Declaration values can be overridden by copying the particular file to &lt;</a:t>
            </a:r>
            <a:r>
              <a:rPr lang="en-US" sz="1400" spc="-1" dirty="0" err="1">
                <a:solidFill>
                  <a:srgbClr val="000000"/>
                </a:solidFill>
                <a:latin typeface="Arial"/>
              </a:rPr>
              <a:t>VectoDir</a:t>
            </a:r>
            <a:r>
              <a:rPr lang="en-US" sz="1400" spc="-1" dirty="0">
                <a:solidFill>
                  <a:srgbClr val="000000"/>
                </a:solidFill>
                <a:latin typeface="Arial"/>
              </a:rPr>
              <a:t>&gt;\Declaration\Override and changing the desired value.</a:t>
            </a: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Support for </a:t>
            </a:r>
            <a:r>
              <a:rPr lang="en-US" sz="1400" spc="-1" dirty="0" err="1">
                <a:solidFill>
                  <a:srgbClr val="000000"/>
                </a:solidFill>
                <a:latin typeface="Arial"/>
              </a:rPr>
              <a:t>xEV</a:t>
            </a:r>
            <a:r>
              <a:rPr lang="en-US" sz="1400" spc="-1" dirty="0">
                <a:solidFill>
                  <a:srgbClr val="000000"/>
                </a:solidFill>
                <a:latin typeface="Arial"/>
              </a:rPr>
              <a:t>-JSON-Jobs in Declaration Mode</a:t>
            </a: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New XSD-Schema for XML Reports</a:t>
            </a: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Updated Hybrid </a:t>
            </a:r>
            <a:r>
              <a:rPr lang="en-US" sz="1400" spc="-1" dirty="0">
                <a:solidFill>
                  <a:srgbClr val="000000"/>
                </a:solidFill>
                <a:latin typeface="Arial"/>
              </a:rPr>
              <a:t>Strategy and </a:t>
            </a:r>
            <a:r>
              <a:rPr lang="en-US" sz="1400" spc="-1" dirty="0" err="1">
                <a:solidFill>
                  <a:srgbClr val="000000"/>
                </a:solidFill>
                <a:latin typeface="Arial"/>
              </a:rPr>
              <a:t>Gearshifting</a:t>
            </a:r>
            <a:endParaRPr lang="en-US" sz="1400" b="0" strike="noStrike" spc="-1" dirty="0">
              <a:latin typeface="Arial"/>
            </a:endParaRPr>
          </a:p>
          <a:p>
            <a:pPr>
              <a:lnSpc>
                <a:spcPct val="100000"/>
              </a:lnSpc>
              <a:spcBef>
                <a:spcPts val="281"/>
              </a:spcBef>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p:txBody>
      </p:sp>
      <p:pic>
        <p:nvPicPr>
          <p:cNvPr id="2" name="Grafik 1">
            <a:extLst>
              <a:ext uri="{FF2B5EF4-FFF2-40B4-BE49-F238E27FC236}">
                <a16:creationId xmlns:a16="http://schemas.microsoft.com/office/drawing/2014/main" id="{476EFD3B-3989-4B04-9588-FADCA3A9950D}"/>
              </a:ext>
            </a:extLst>
          </p:cNvPr>
          <p:cNvPicPr>
            <a:picLocks noChangeAspect="1"/>
          </p:cNvPicPr>
          <p:nvPr/>
        </p:nvPicPr>
        <p:blipFill>
          <a:blip r:embed="rId2"/>
          <a:stretch>
            <a:fillRect/>
          </a:stretch>
        </p:blipFill>
        <p:spPr>
          <a:xfrm>
            <a:off x="5323286" y="3429000"/>
            <a:ext cx="3362794" cy="1505160"/>
          </a:xfrm>
          <a:prstGeom prst="rect">
            <a:avLst/>
          </a:prstGeom>
        </p:spPr>
      </p:pic>
    </p:spTree>
    <p:extLst>
      <p:ext uri="{BB962C8B-B14F-4D97-AF65-F5344CB8AC3E}">
        <p14:creationId xmlns:p14="http://schemas.microsoft.com/office/powerpoint/2010/main" val="22382985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Declaration Mode Lorries – Overview (1/2)</a:t>
            </a:r>
          </a:p>
        </p:txBody>
      </p:sp>
      <p:sp>
        <p:nvSpPr>
          <p:cNvPr id="3" name="Inhaltsplatzhalter 2"/>
          <p:cNvSpPr>
            <a:spLocks noGrp="1"/>
          </p:cNvSpPr>
          <p:nvPr>
            <p:ph idx="1"/>
          </p:nvPr>
        </p:nvSpPr>
        <p:spPr>
          <a:xfrm>
            <a:off x="622355" y="2137413"/>
            <a:ext cx="8281366" cy="3482007"/>
          </a:xfrm>
        </p:spPr>
        <p:txBody>
          <a:bodyPr/>
          <a:lstStyle/>
          <a:p>
            <a:pPr>
              <a:spcBef>
                <a:spcPts val="600"/>
              </a:spcBef>
            </a:pPr>
            <a:r>
              <a:rPr lang="en-US" sz="1800" dirty="0"/>
              <a:t>VECTO Development Version </a:t>
            </a:r>
            <a:r>
              <a:rPr lang="en-US" sz="1800" dirty="0">
                <a:solidFill>
                  <a:srgbClr val="FF0000"/>
                </a:solidFill>
              </a:rPr>
              <a:t>0.7.9.XXXX</a:t>
            </a:r>
            <a:r>
              <a:rPr lang="en-US" sz="1800" dirty="0"/>
              <a:t> as released on </a:t>
            </a:r>
            <a:r>
              <a:rPr lang="en-US" sz="1800" dirty="0">
                <a:solidFill>
                  <a:srgbClr val="FF0000"/>
                </a:solidFill>
              </a:rPr>
              <a:t>March 15</a:t>
            </a:r>
            <a:r>
              <a:rPr lang="en-US" sz="1800" dirty="0"/>
              <a:t>, features the Declaration Mode for Lorries according to the 2</a:t>
            </a:r>
            <a:r>
              <a:rPr lang="en-US" sz="1800" baseline="30000" dirty="0"/>
              <a:t>nd</a:t>
            </a:r>
            <a:r>
              <a:rPr lang="en-US" sz="1800" dirty="0"/>
              <a:t> Amendment.</a:t>
            </a:r>
          </a:p>
          <a:p>
            <a:pPr>
              <a:spcBef>
                <a:spcPts val="600"/>
              </a:spcBef>
            </a:pPr>
            <a:r>
              <a:rPr lang="en-US" sz="1800" dirty="0"/>
              <a:t>This enables the official output XMLs (MRF, CIF) to be generated using the official input XMLs.</a:t>
            </a:r>
          </a:p>
          <a:p>
            <a:pPr>
              <a:spcBef>
                <a:spcPts val="600"/>
              </a:spcBef>
            </a:pPr>
            <a:r>
              <a:rPr lang="en-US" sz="1800" dirty="0"/>
              <a:t>The result values correspond to the official results, subject to minor adjustments and additions from the testing period (see later slides).</a:t>
            </a:r>
          </a:p>
          <a:p>
            <a:pPr>
              <a:spcBef>
                <a:spcPts val="600"/>
              </a:spcBef>
            </a:pPr>
            <a:r>
              <a:rPr lang="en-US" sz="1800" dirty="0"/>
              <a:t>With this version, the Declaration Mode can also be calculated via the GUI (</a:t>
            </a:r>
            <a:r>
              <a:rPr lang="en-US" sz="1800" dirty="0" err="1"/>
              <a:t>json</a:t>
            </a:r>
            <a:r>
              <a:rPr lang="en-US" sz="1800" dirty="0"/>
              <a:t> + csv). This mode also contains some special features for the upcoming test phase (see later slides).</a:t>
            </a:r>
            <a:endParaRPr lang="en-GB" sz="1600" dirty="0"/>
          </a:p>
          <a:p>
            <a:pPr lvl="1">
              <a:spcBef>
                <a:spcPts val="600"/>
              </a:spcBef>
            </a:pPr>
            <a:endParaRPr lang="en-GB" sz="1600" dirty="0"/>
          </a:p>
          <a:p>
            <a:pPr lvl="2">
              <a:spcBef>
                <a:spcPts val="600"/>
              </a:spcBef>
            </a:pPr>
            <a:endParaRPr lang="en-GB" sz="1400" dirty="0"/>
          </a:p>
          <a:p>
            <a:pPr lvl="2">
              <a:spcBef>
                <a:spcPts val="600"/>
              </a:spcBef>
            </a:pPr>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3</a:t>
            </a:fld>
            <a:endParaRPr lang="de-DE"/>
          </a:p>
        </p:txBody>
      </p:sp>
    </p:spTree>
    <p:extLst>
      <p:ext uri="{BB962C8B-B14F-4D97-AF65-F5344CB8AC3E}">
        <p14:creationId xmlns:p14="http://schemas.microsoft.com/office/powerpoint/2010/main" val="16548523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Declaration Mode Lorries – Overview (2/2)</a:t>
            </a:r>
          </a:p>
        </p:txBody>
      </p:sp>
      <p:sp>
        <p:nvSpPr>
          <p:cNvPr id="3" name="Inhaltsplatzhalter 2"/>
          <p:cNvSpPr>
            <a:spLocks noGrp="1"/>
          </p:cNvSpPr>
          <p:nvPr>
            <p:ph idx="1"/>
          </p:nvPr>
        </p:nvSpPr>
        <p:spPr>
          <a:xfrm>
            <a:off x="622355" y="2137413"/>
            <a:ext cx="8281366" cy="3482007"/>
          </a:xfrm>
        </p:spPr>
        <p:txBody>
          <a:bodyPr/>
          <a:lstStyle/>
          <a:p>
            <a:pPr>
              <a:spcBef>
                <a:spcPts val="600"/>
              </a:spcBef>
            </a:pPr>
            <a:r>
              <a:rPr lang="de-AT" sz="1800"/>
              <a:t>Overview new elements</a:t>
            </a:r>
          </a:p>
          <a:p>
            <a:pPr lvl="1">
              <a:spcBef>
                <a:spcPts val="300"/>
              </a:spcBef>
            </a:pPr>
            <a:r>
              <a:rPr lang="en-GB" sz="1600"/>
              <a:t>Generic parameterisation of auxiliaries </a:t>
            </a:r>
            <a:endParaRPr lang="en-US" sz="1600"/>
          </a:p>
          <a:p>
            <a:pPr lvl="1">
              <a:spcBef>
                <a:spcPts val="300"/>
              </a:spcBef>
            </a:pPr>
            <a:r>
              <a:rPr lang="en-US" sz="1600"/>
              <a:t>Generic parametrisation of P-HEV strategy including update of gear shift strategy</a:t>
            </a:r>
          </a:p>
          <a:p>
            <a:pPr lvl="1">
              <a:spcBef>
                <a:spcPts val="300"/>
              </a:spcBef>
            </a:pPr>
            <a:r>
              <a:rPr lang="en-US" sz="1600"/>
              <a:t>Generic parametrisation of S-HEV strategy</a:t>
            </a:r>
          </a:p>
          <a:p>
            <a:pPr lvl="1">
              <a:spcBef>
                <a:spcPts val="300"/>
              </a:spcBef>
            </a:pPr>
            <a:r>
              <a:rPr lang="en-US" sz="1600"/>
              <a:t>Generic parametrisation of usable SOC range</a:t>
            </a:r>
          </a:p>
          <a:p>
            <a:pPr lvl="1">
              <a:spcBef>
                <a:spcPts val="300"/>
              </a:spcBef>
            </a:pPr>
            <a:r>
              <a:rPr lang="fr-FR" sz="1600"/>
              <a:t>Separate approach for „Charge depleting mode“ simulation</a:t>
            </a:r>
          </a:p>
          <a:p>
            <a:pPr lvl="1">
              <a:spcBef>
                <a:spcPts val="300"/>
              </a:spcBef>
            </a:pPr>
            <a:r>
              <a:rPr lang="en-US" sz="1600"/>
              <a:t>Calculation of energy consumption at “battery terminals” considering battery charging losses during external charging</a:t>
            </a:r>
          </a:p>
          <a:p>
            <a:pPr lvl="1">
              <a:spcBef>
                <a:spcPts val="300"/>
              </a:spcBef>
            </a:pPr>
            <a:r>
              <a:rPr lang="en-US" sz="1600"/>
              <a:t>Range calculations</a:t>
            </a:r>
          </a:p>
          <a:p>
            <a:pPr lvl="1">
              <a:spcBef>
                <a:spcPts val="300"/>
              </a:spcBef>
            </a:pPr>
            <a:r>
              <a:rPr lang="en-US" sz="1600"/>
              <a:t>Automation of the various simulation runs necessary for PHEVs plus post processing elements</a:t>
            </a:r>
          </a:p>
          <a:p>
            <a:pPr lvl="1">
              <a:spcBef>
                <a:spcPts val="300"/>
              </a:spcBef>
            </a:pPr>
            <a:r>
              <a:rPr lang="en-US" sz="1600"/>
              <a:t>Generic e-PTO cycle for PEV and S-HEV in the MUN cycle</a:t>
            </a:r>
          </a:p>
          <a:p>
            <a:pPr lvl="1">
              <a:spcBef>
                <a:spcPts val="300"/>
              </a:spcBef>
            </a:pPr>
            <a:r>
              <a:rPr lang="en-US" sz="1600"/>
              <a:t>Generation of MRF and CIF</a:t>
            </a:r>
          </a:p>
          <a:p>
            <a:pPr lvl="1">
              <a:spcBef>
                <a:spcPts val="600"/>
              </a:spcBef>
            </a:pPr>
            <a:endParaRPr lang="fr-FR" sz="1600"/>
          </a:p>
          <a:p>
            <a:pPr lvl="1">
              <a:spcBef>
                <a:spcPts val="600"/>
              </a:spcBef>
            </a:pPr>
            <a:endParaRPr lang="en-GB" sz="1600"/>
          </a:p>
          <a:p>
            <a:pPr lvl="1">
              <a:spcBef>
                <a:spcPts val="600"/>
              </a:spcBef>
            </a:pPr>
            <a:endParaRPr lang="en-GB" sz="1600"/>
          </a:p>
          <a:p>
            <a:pPr lvl="2">
              <a:spcBef>
                <a:spcPts val="600"/>
              </a:spcBef>
            </a:pPr>
            <a:endParaRPr lang="en-GB" sz="1400"/>
          </a:p>
          <a:p>
            <a:pPr lvl="2">
              <a:spcBef>
                <a:spcPts val="600"/>
              </a:spcBef>
            </a:pPr>
            <a:endParaRPr lang="en-GB" sz="1400"/>
          </a:p>
        </p:txBody>
      </p:sp>
      <p:sp>
        <p:nvSpPr>
          <p:cNvPr id="4" name="Foliennummernplatzhalter 3"/>
          <p:cNvSpPr>
            <a:spLocks noGrp="1"/>
          </p:cNvSpPr>
          <p:nvPr>
            <p:ph type="sldNum" sz="quarter" idx="12"/>
          </p:nvPr>
        </p:nvSpPr>
        <p:spPr/>
        <p:txBody>
          <a:bodyPr/>
          <a:lstStyle/>
          <a:p>
            <a:fld id="{4B64EC4D-37E3-EF42-B9AB-6337577588CB}" type="slidenum">
              <a:rPr lang="de-DE" smtClean="0"/>
              <a:t>4</a:t>
            </a:fld>
            <a:endParaRPr lang="de-DE"/>
          </a:p>
        </p:txBody>
      </p:sp>
    </p:spTree>
    <p:extLst>
      <p:ext uri="{BB962C8B-B14F-4D97-AF65-F5344CB8AC3E}">
        <p14:creationId xmlns:p14="http://schemas.microsoft.com/office/powerpoint/2010/main" val="34309279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594900" y="1471871"/>
            <a:ext cx="8394645" cy="2841602"/>
          </a:xfrm>
        </p:spPr>
        <p:txBody>
          <a:bodyPr/>
          <a:lstStyle/>
          <a:p>
            <a:r>
              <a:rPr lang="en-US" sz="1800" dirty="0"/>
              <a:t>Basic principles of generic data used in DECL</a:t>
            </a:r>
          </a:p>
          <a:p>
            <a:pPr lvl="1"/>
            <a:r>
              <a:rPr lang="en-US" sz="1400" dirty="0"/>
              <a:t>Relevant auxiliary systems:</a:t>
            </a:r>
          </a:p>
          <a:p>
            <a:pPr lvl="2"/>
            <a:r>
              <a:rPr lang="en-US" sz="1200" dirty="0"/>
              <a:t>Pneumatic system</a:t>
            </a:r>
          </a:p>
          <a:p>
            <a:pPr lvl="2"/>
            <a:r>
              <a:rPr lang="en-US" sz="1200" dirty="0"/>
              <a:t>ICE cooling fan + conditioning power for electric propulsion components</a:t>
            </a:r>
          </a:p>
          <a:p>
            <a:pPr lvl="2"/>
            <a:r>
              <a:rPr lang="en-US" sz="1200" dirty="0"/>
              <a:t>Steering system</a:t>
            </a:r>
          </a:p>
          <a:p>
            <a:pPr lvl="2"/>
            <a:r>
              <a:rPr lang="en-US" sz="1200" dirty="0"/>
              <a:t>HVAC: for lorries only “yes/no”</a:t>
            </a:r>
          </a:p>
          <a:p>
            <a:pPr lvl="2"/>
            <a:r>
              <a:rPr lang="en-US" sz="1200" dirty="0"/>
              <a:t>Electric board net (is called “electric system”): for lorries only headlights technology (LED or standard)</a:t>
            </a:r>
            <a:br>
              <a:rPr lang="en-US" sz="1200" dirty="0"/>
            </a:br>
            <a:endParaRPr lang="en-US" sz="600" dirty="0"/>
          </a:p>
          <a:p>
            <a:pPr lvl="1"/>
            <a:r>
              <a:rPr lang="en-US" sz="1400" dirty="0"/>
              <a:t>Respective tables with generic power demand for each auxiliary system can be found in specific subfolder “Declaration\VAUX” under VECTO main path as csv-files</a:t>
            </a:r>
            <a:br>
              <a:rPr lang="en-US" sz="1400" dirty="0"/>
            </a:br>
            <a:endParaRPr lang="en-US" sz="800" dirty="0"/>
          </a:p>
          <a:p>
            <a:pPr lvl="1"/>
            <a:r>
              <a:rPr lang="en-GB" sz="1400" dirty="0"/>
              <a:t>General table structure looks as follows:</a:t>
            </a:r>
          </a:p>
        </p:txBody>
      </p:sp>
      <p:sp>
        <p:nvSpPr>
          <p:cNvPr id="4" name="Foliennummernplatzhalter 3"/>
          <p:cNvSpPr>
            <a:spLocks noGrp="1"/>
          </p:cNvSpPr>
          <p:nvPr>
            <p:ph type="sldNum" sz="quarter" idx="12"/>
          </p:nvPr>
        </p:nvSpPr>
        <p:spPr/>
        <p:txBody>
          <a:bodyPr/>
          <a:lstStyle/>
          <a:p>
            <a:fld id="{4B64EC4D-37E3-EF42-B9AB-6337577588CB}" type="slidenum">
              <a:rPr lang="de-DE" smtClean="0"/>
              <a:t>5</a:t>
            </a:fld>
            <a:endParaRPr lang="de-DE"/>
          </a:p>
        </p:txBody>
      </p:sp>
      <p:graphicFrame>
        <p:nvGraphicFramePr>
          <p:cNvPr id="6" name="Tabelle 5"/>
          <p:cNvGraphicFramePr>
            <a:graphicFrameLocks noGrp="1"/>
          </p:cNvGraphicFramePr>
          <p:nvPr/>
        </p:nvGraphicFramePr>
        <p:xfrm>
          <a:off x="858719" y="5253659"/>
          <a:ext cx="8158280" cy="73152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720000">
                  <a:extLst>
                    <a:ext uri="{9D8B030D-6E8A-4147-A177-3AD203B41FA5}">
                      <a16:colId xmlns:a16="http://schemas.microsoft.com/office/drawing/2014/main" val="3710519613"/>
                    </a:ext>
                  </a:extLst>
                </a:gridCol>
                <a:gridCol w="720000">
                  <a:extLst>
                    <a:ext uri="{9D8B030D-6E8A-4147-A177-3AD203B41FA5}">
                      <a16:colId xmlns:a16="http://schemas.microsoft.com/office/drawing/2014/main" val="3392582189"/>
                    </a:ext>
                  </a:extLst>
                </a:gridCol>
                <a:gridCol w="720000">
                  <a:extLst>
                    <a:ext uri="{9D8B030D-6E8A-4147-A177-3AD203B41FA5}">
                      <a16:colId xmlns:a16="http://schemas.microsoft.com/office/drawing/2014/main" val="1550305414"/>
                    </a:ext>
                  </a:extLst>
                </a:gridCol>
                <a:gridCol w="720000">
                  <a:extLst>
                    <a:ext uri="{9D8B030D-6E8A-4147-A177-3AD203B41FA5}">
                      <a16:colId xmlns:a16="http://schemas.microsoft.com/office/drawing/2014/main" val="2137604710"/>
                    </a:ext>
                  </a:extLst>
                </a:gridCol>
                <a:gridCol w="720000">
                  <a:extLst>
                    <a:ext uri="{9D8B030D-6E8A-4147-A177-3AD203B41FA5}">
                      <a16:colId xmlns:a16="http://schemas.microsoft.com/office/drawing/2014/main" val="2879809701"/>
                    </a:ext>
                  </a:extLst>
                </a:gridCol>
              </a:tblGrid>
              <a:tr h="106712">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Long haul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Regional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Urban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Municipal utility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a:effectLst/>
                        </a:rPr>
                        <a:t> </a:t>
                      </a:r>
                      <a:r>
                        <a:rPr lang="de-AT" sz="800" b="1" u="none" strike="noStrike" dirty="0" err="1">
                          <a:effectLst/>
                        </a:rPr>
                        <a:t>Construction</a:t>
                      </a:r>
                      <a:r>
                        <a:rPr lang="de-AT" sz="800" b="1" u="none" strike="noStrike" dirty="0">
                          <a:effectLst/>
                        </a:rPr>
                        <a:t> </a:t>
                      </a:r>
                      <a:endParaRPr lang="de-AT" sz="8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471874194"/>
                  </a:ext>
                </a:extLst>
              </a:tr>
              <a:tr h="106712">
                <a:tc>
                  <a:txBody>
                    <a:bodyPr/>
                    <a:lstStyle/>
                    <a:p>
                      <a:pPr algn="l" fontAlgn="b"/>
                      <a:r>
                        <a:rPr lang="en-US" sz="800" u="none" strike="noStrike" dirty="0">
                          <a:effectLst/>
                        </a:rPr>
                        <a:t>Tech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06712">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bl>
          </a:graphicData>
        </a:graphic>
      </p:graphicFrame>
      <p:sp>
        <p:nvSpPr>
          <p:cNvPr id="8" name="Geschweifte Klammer rechts 7"/>
          <p:cNvSpPr/>
          <p:nvPr/>
        </p:nvSpPr>
        <p:spPr>
          <a:xfrm rot="16200000">
            <a:off x="3506231" y="4126102"/>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7" y="4366944"/>
            <a:ext cx="1259012" cy="646331"/>
          </a:xfrm>
          <a:prstGeom prst="rect">
            <a:avLst/>
          </a:prstGeom>
          <a:noFill/>
        </p:spPr>
        <p:txBody>
          <a:bodyPr wrap="square" rtlCol="0">
            <a:spAutoFit/>
          </a:bodyPr>
          <a:lstStyle/>
          <a:p>
            <a:pPr algn="ctr" fontAlgn="b"/>
            <a:r>
              <a:rPr lang="de-AT" sz="900" b="1" dirty="0" err="1">
                <a:solidFill>
                  <a:srgbClr val="CC0000"/>
                </a:solidFill>
              </a:rPr>
              <a:t>can</a:t>
            </a:r>
            <a:r>
              <a:rPr lang="de-AT" sz="900" b="1" dirty="0">
                <a:solidFill>
                  <a:srgbClr val="CC0000"/>
                </a:solidFill>
              </a:rPr>
              <a:t> </a:t>
            </a:r>
            <a:r>
              <a:rPr lang="de-AT" sz="900" b="1" dirty="0" err="1">
                <a:solidFill>
                  <a:srgbClr val="CC0000"/>
                </a:solidFill>
              </a:rPr>
              <a:t>be</a:t>
            </a:r>
            <a:r>
              <a:rPr lang="de-AT" sz="900" b="1" dirty="0">
                <a:solidFill>
                  <a:srgbClr val="CC0000"/>
                </a:solidFill>
              </a:rPr>
              <a:t> </a:t>
            </a:r>
            <a:r>
              <a:rPr lang="de-AT" sz="900" b="1" dirty="0" err="1">
                <a:solidFill>
                  <a:srgbClr val="CC0000"/>
                </a:solidFill>
              </a:rPr>
              <a:t>directly</a:t>
            </a:r>
            <a:r>
              <a:rPr lang="de-AT" sz="900" b="1" dirty="0">
                <a:solidFill>
                  <a:srgbClr val="CC0000"/>
                </a:solidFill>
              </a:rPr>
              <a:t> </a:t>
            </a:r>
            <a:r>
              <a:rPr lang="de-AT" sz="900" b="1" dirty="0" err="1">
                <a:solidFill>
                  <a:srgbClr val="CC0000"/>
                </a:solidFill>
              </a:rPr>
              <a:t>supplied</a:t>
            </a:r>
            <a:r>
              <a:rPr lang="de-AT" sz="900" b="1" dirty="0">
                <a:solidFill>
                  <a:srgbClr val="CC0000"/>
                </a:solidFill>
              </a:rPr>
              <a:t> </a:t>
            </a:r>
            <a:r>
              <a:rPr lang="de-AT" sz="900" b="1" dirty="0" err="1">
                <a:solidFill>
                  <a:srgbClr val="CC0000"/>
                </a:solidFill>
              </a:rPr>
              <a:t>by</a:t>
            </a:r>
            <a:r>
              <a:rPr lang="de-AT" sz="900" b="1" dirty="0">
                <a:solidFill>
                  <a:srgbClr val="CC0000"/>
                </a:solidFill>
              </a:rPr>
              <a:t> REESS </a:t>
            </a:r>
            <a:r>
              <a:rPr lang="de-AT" sz="900" b="1" dirty="0" err="1">
                <a:solidFill>
                  <a:srgbClr val="CC0000"/>
                </a:solidFill>
              </a:rPr>
              <a:t>if</a:t>
            </a:r>
            <a:r>
              <a:rPr lang="de-AT" sz="900" b="1" dirty="0">
                <a:solidFill>
                  <a:srgbClr val="CC0000"/>
                </a:solidFill>
              </a:rPr>
              <a:t> </a:t>
            </a:r>
            <a:r>
              <a:rPr lang="de-AT" sz="900" b="1" dirty="0" err="1">
                <a:solidFill>
                  <a:srgbClr val="CC0000"/>
                </a:solidFill>
              </a:rPr>
              <a:t>present</a:t>
            </a:r>
            <a:br>
              <a:rPr lang="de-AT" sz="900" b="1" dirty="0">
                <a:solidFill>
                  <a:srgbClr val="CC0000"/>
                </a:solidFill>
              </a:rPr>
            </a:br>
            <a:r>
              <a:rPr lang="de-AT" sz="900" b="1" dirty="0">
                <a:solidFill>
                  <a:srgbClr val="CC0000"/>
                </a:solidFill>
              </a:rPr>
              <a:t>(</a:t>
            </a:r>
            <a:r>
              <a:rPr lang="de-AT" sz="900" b="1" dirty="0" err="1">
                <a:solidFill>
                  <a:srgbClr val="CC0000"/>
                </a:solidFill>
              </a:rPr>
              <a:t>indicated</a:t>
            </a:r>
            <a:r>
              <a:rPr lang="de-AT" sz="900" b="1" dirty="0">
                <a:solidFill>
                  <a:srgbClr val="CC0000"/>
                </a:solidFill>
              </a:rPr>
              <a:t> </a:t>
            </a:r>
            <a:r>
              <a:rPr lang="de-AT" sz="900" b="1" dirty="0" err="1">
                <a:solidFill>
                  <a:srgbClr val="CC0000"/>
                </a:solidFill>
              </a:rPr>
              <a:t>with</a:t>
            </a:r>
            <a:r>
              <a:rPr lang="de-AT" sz="900" b="1" dirty="0">
                <a:solidFill>
                  <a:srgbClr val="CC0000"/>
                </a:solidFill>
              </a:rPr>
              <a:t> 0/1)</a:t>
            </a:r>
          </a:p>
        </p:txBody>
      </p:sp>
      <p:sp>
        <p:nvSpPr>
          <p:cNvPr id="10" name="Textfeld 9"/>
          <p:cNvSpPr txBox="1"/>
          <p:nvPr/>
        </p:nvSpPr>
        <p:spPr>
          <a:xfrm>
            <a:off x="6245647" y="4583511"/>
            <a:ext cx="1970235" cy="400110"/>
          </a:xfrm>
          <a:prstGeom prst="rect">
            <a:avLst/>
          </a:prstGeom>
          <a:noFill/>
        </p:spPr>
        <p:txBody>
          <a:bodyPr wrap="square" rtlCol="0">
            <a:spAutoFit/>
          </a:bodyPr>
          <a:lstStyle/>
          <a:p>
            <a:pPr algn="ctr" fontAlgn="b"/>
            <a:r>
              <a:rPr lang="en-US" sz="1000" b="1" dirty="0">
                <a:solidFill>
                  <a:srgbClr val="CC0000"/>
                </a:solidFill>
              </a:rPr>
              <a:t>cycle specific </a:t>
            </a:r>
            <a:r>
              <a:rPr lang="en-US" sz="1000" b="1" u="sng" dirty="0">
                <a:solidFill>
                  <a:srgbClr val="CC0000"/>
                </a:solidFill>
              </a:rPr>
              <a:t>mechanical</a:t>
            </a:r>
            <a:r>
              <a:rPr lang="en-US" sz="1000" b="1" dirty="0">
                <a:solidFill>
                  <a:srgbClr val="CC0000"/>
                </a:solidFill>
              </a:rPr>
              <a:t> power demand [W]</a:t>
            </a:r>
            <a:endParaRPr lang="de-AT" sz="1000" b="1" dirty="0">
              <a:solidFill>
                <a:srgbClr val="CC0000"/>
              </a:solidFill>
            </a:endParaRPr>
          </a:p>
        </p:txBody>
      </p:sp>
      <p:sp>
        <p:nvSpPr>
          <p:cNvPr id="11" name="Geschweifte Klammer rechts 10"/>
          <p:cNvSpPr/>
          <p:nvPr/>
        </p:nvSpPr>
        <p:spPr>
          <a:xfrm rot="16200000">
            <a:off x="7147357" y="3423825"/>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rechts 11"/>
          <p:cNvSpPr/>
          <p:nvPr/>
        </p:nvSpPr>
        <p:spPr>
          <a:xfrm rot="16200000">
            <a:off x="4975656" y="4812934"/>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426385" y="4621853"/>
            <a:ext cx="2003172" cy="400110"/>
          </a:xfrm>
          <a:prstGeom prst="rect">
            <a:avLst/>
          </a:prstGeom>
          <a:noFill/>
        </p:spPr>
        <p:txBody>
          <a:bodyPr wrap="square" rtlCol="0">
            <a:spAutoFit/>
          </a:bodyPr>
          <a:lstStyle/>
          <a:p>
            <a:pPr algn="ctr" fontAlgn="b"/>
            <a:r>
              <a:rPr lang="de-AT" sz="1000" b="1" dirty="0" err="1">
                <a:solidFill>
                  <a:srgbClr val="CC0000"/>
                </a:solidFill>
              </a:rPr>
              <a:t>applicability</a:t>
            </a:r>
            <a:r>
              <a:rPr lang="de-AT" sz="1000" b="1" dirty="0">
                <a:solidFill>
                  <a:srgbClr val="CC0000"/>
                </a:solidFill>
              </a:rPr>
              <a:t> </a:t>
            </a:r>
            <a:r>
              <a:rPr lang="de-AT" sz="1000" b="1" dirty="0" err="1">
                <a:solidFill>
                  <a:srgbClr val="CC0000"/>
                </a:solidFill>
              </a:rPr>
              <a:t>for</a:t>
            </a:r>
            <a:r>
              <a:rPr lang="de-AT" sz="1000" b="1" dirty="0">
                <a:solidFill>
                  <a:srgbClr val="CC0000"/>
                </a:solidFill>
              </a:rPr>
              <a:t> </a:t>
            </a:r>
            <a:r>
              <a:rPr lang="de-AT" sz="1000" b="1" dirty="0" err="1">
                <a:solidFill>
                  <a:srgbClr val="CC0000"/>
                </a:solidFill>
              </a:rPr>
              <a:t>architecture</a:t>
            </a:r>
            <a:br>
              <a:rPr lang="de-AT" sz="1000" b="1" dirty="0">
                <a:solidFill>
                  <a:srgbClr val="CC0000"/>
                </a:solidFill>
              </a:rPr>
            </a:br>
            <a:r>
              <a:rPr lang="de-AT" sz="1000" b="1" dirty="0">
                <a:solidFill>
                  <a:srgbClr val="CC0000"/>
                </a:solidFill>
              </a:rPr>
              <a:t>(</a:t>
            </a:r>
            <a:r>
              <a:rPr lang="de-AT" sz="1000" b="1" dirty="0" err="1">
                <a:solidFill>
                  <a:srgbClr val="CC0000"/>
                </a:solidFill>
              </a:rPr>
              <a:t>indicated</a:t>
            </a:r>
            <a:r>
              <a:rPr lang="de-AT" sz="1000" b="1" dirty="0">
                <a:solidFill>
                  <a:srgbClr val="CC0000"/>
                </a:solidFill>
              </a:rPr>
              <a:t> </a:t>
            </a:r>
            <a:r>
              <a:rPr lang="de-AT" sz="1000" b="1" dirty="0" err="1">
                <a:solidFill>
                  <a:srgbClr val="CC0000"/>
                </a:solidFill>
              </a:rPr>
              <a:t>with</a:t>
            </a:r>
            <a:r>
              <a:rPr lang="de-AT" sz="1000" b="1" dirty="0">
                <a:solidFill>
                  <a:srgbClr val="CC0000"/>
                </a:solidFill>
              </a:rPr>
              <a:t> 0/1)</a:t>
            </a:r>
          </a:p>
        </p:txBody>
      </p:sp>
    </p:spTree>
    <p:extLst>
      <p:ext uri="{BB962C8B-B14F-4D97-AF65-F5344CB8AC3E}">
        <p14:creationId xmlns:p14="http://schemas.microsoft.com/office/powerpoint/2010/main" val="23862798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3"/>
            <a:ext cx="8394645" cy="2841602"/>
          </a:xfrm>
        </p:spPr>
        <p:txBody>
          <a:bodyPr/>
          <a:lstStyle/>
          <a:p>
            <a:r>
              <a:rPr lang="en-US" sz="1800" dirty="0"/>
              <a:t>Basic principles of generic data used in DECL</a:t>
            </a:r>
          </a:p>
          <a:p>
            <a:pPr lvl="1"/>
            <a:r>
              <a:rPr lang="de-AT" sz="1400" dirty="0"/>
              <a:t>Details </a:t>
            </a:r>
            <a:r>
              <a:rPr lang="de-AT" sz="1400" dirty="0" err="1"/>
              <a:t>of</a:t>
            </a:r>
            <a:r>
              <a:rPr lang="de-AT" sz="1400" dirty="0"/>
              <a:t> </a:t>
            </a:r>
            <a:r>
              <a:rPr lang="de-AT" sz="1400" dirty="0" err="1"/>
              <a:t>application</a:t>
            </a:r>
            <a:r>
              <a:rPr lang="de-AT" sz="1400" dirty="0"/>
              <a:t> in DECL:</a:t>
            </a:r>
          </a:p>
          <a:p>
            <a:pPr lvl="2"/>
            <a:r>
              <a:rPr lang="en-US" sz="1200" b="1" u="sng" dirty="0"/>
              <a:t>For all HEV:</a:t>
            </a:r>
            <a:r>
              <a:rPr lang="en-US" sz="1200" dirty="0"/>
              <a:t> "fully electric" technology is connected to REESS</a:t>
            </a:r>
            <a:br>
              <a:rPr lang="en-US" sz="1200" dirty="0"/>
            </a:br>
            <a:r>
              <a:rPr lang="en-US" sz="1200" dirty="0">
                <a:sym typeface="Wingdings" panose="05000000000000000000" pitchFamily="2" charset="2"/>
              </a:rPr>
              <a:t> mechanical power (i.e. respective alternator drive power) is </a:t>
            </a:r>
            <a:r>
              <a:rPr lang="en-US" sz="1200" dirty="0"/>
              <a:t>converted to electric power with generic alternator efficiency of 0.7 used consistently throughout whole VECTO auxiliary approach</a:t>
            </a:r>
            <a:br>
              <a:rPr lang="en-US" sz="1200" dirty="0"/>
            </a:br>
            <a:r>
              <a:rPr lang="en-US" sz="1200" dirty="0"/>
              <a:t>(i.e. mechanical power from table is multiplied by 0.7 and therefore reduced)</a:t>
            </a:r>
            <a:br>
              <a:rPr lang="en-US" sz="1200" dirty="0"/>
            </a:br>
            <a:endParaRPr lang="en-US" sz="1200" dirty="0"/>
          </a:p>
          <a:p>
            <a:pPr lvl="2"/>
            <a:r>
              <a:rPr lang="en-GB" sz="1200" b="1" u="sng" dirty="0"/>
              <a:t>For all PEV:</a:t>
            </a:r>
            <a:r>
              <a:rPr lang="en-GB" sz="1200" dirty="0"/>
              <a:t> only </a:t>
            </a:r>
            <a:r>
              <a:rPr lang="en-US" sz="1200" dirty="0"/>
              <a:t>"fully electric" technology can be declared (acc. to Annex specifications as well)</a:t>
            </a:r>
            <a:br>
              <a:rPr lang="en-US" sz="1200" dirty="0"/>
            </a:br>
            <a:r>
              <a:rPr lang="en-US" sz="1200" dirty="0">
                <a:sym typeface="Wingdings" panose="05000000000000000000" pitchFamily="2" charset="2"/>
              </a:rPr>
              <a:t> same principle of conversion from mechanical to electrical power (as explained above applies)</a:t>
            </a:r>
            <a:endParaRPr lang="en-GB" sz="1200" dirty="0"/>
          </a:p>
        </p:txBody>
      </p:sp>
      <p:sp>
        <p:nvSpPr>
          <p:cNvPr id="4" name="Foliennummernplatzhalter 3"/>
          <p:cNvSpPr>
            <a:spLocks noGrp="1"/>
          </p:cNvSpPr>
          <p:nvPr>
            <p:ph type="sldNum" sz="quarter" idx="12"/>
          </p:nvPr>
        </p:nvSpPr>
        <p:spPr/>
        <p:txBody>
          <a:bodyPr/>
          <a:lstStyle/>
          <a:p>
            <a:fld id="{4B64EC4D-37E3-EF42-B9AB-6337577588CB}" type="slidenum">
              <a:rPr lang="de-DE" smtClean="0"/>
              <a:t>6</a:t>
            </a:fld>
            <a:endParaRPr lang="de-DE"/>
          </a:p>
        </p:txBody>
      </p:sp>
      <p:graphicFrame>
        <p:nvGraphicFramePr>
          <p:cNvPr id="6" name="Tabelle 5"/>
          <p:cNvGraphicFramePr>
            <a:graphicFrameLocks noGrp="1"/>
          </p:cNvGraphicFramePr>
          <p:nvPr/>
        </p:nvGraphicFramePr>
        <p:xfrm>
          <a:off x="858719" y="5253659"/>
          <a:ext cx="8158280" cy="73152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720000">
                  <a:extLst>
                    <a:ext uri="{9D8B030D-6E8A-4147-A177-3AD203B41FA5}">
                      <a16:colId xmlns:a16="http://schemas.microsoft.com/office/drawing/2014/main" val="3710519613"/>
                    </a:ext>
                  </a:extLst>
                </a:gridCol>
                <a:gridCol w="720000">
                  <a:extLst>
                    <a:ext uri="{9D8B030D-6E8A-4147-A177-3AD203B41FA5}">
                      <a16:colId xmlns:a16="http://schemas.microsoft.com/office/drawing/2014/main" val="3392582189"/>
                    </a:ext>
                  </a:extLst>
                </a:gridCol>
                <a:gridCol w="720000">
                  <a:extLst>
                    <a:ext uri="{9D8B030D-6E8A-4147-A177-3AD203B41FA5}">
                      <a16:colId xmlns:a16="http://schemas.microsoft.com/office/drawing/2014/main" val="1550305414"/>
                    </a:ext>
                  </a:extLst>
                </a:gridCol>
                <a:gridCol w="720000">
                  <a:extLst>
                    <a:ext uri="{9D8B030D-6E8A-4147-A177-3AD203B41FA5}">
                      <a16:colId xmlns:a16="http://schemas.microsoft.com/office/drawing/2014/main" val="2137604710"/>
                    </a:ext>
                  </a:extLst>
                </a:gridCol>
                <a:gridCol w="720000">
                  <a:extLst>
                    <a:ext uri="{9D8B030D-6E8A-4147-A177-3AD203B41FA5}">
                      <a16:colId xmlns:a16="http://schemas.microsoft.com/office/drawing/2014/main" val="2879809701"/>
                    </a:ext>
                  </a:extLst>
                </a:gridCol>
              </a:tblGrid>
              <a:tr h="106712">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Long haul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Regional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Urban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Municipal utility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a:effectLst/>
                        </a:rPr>
                        <a:t> </a:t>
                      </a:r>
                      <a:r>
                        <a:rPr lang="de-AT" sz="800" b="1" u="none" strike="noStrike" dirty="0" err="1">
                          <a:effectLst/>
                        </a:rPr>
                        <a:t>Construction</a:t>
                      </a:r>
                      <a:r>
                        <a:rPr lang="de-AT" sz="800" b="1" u="none" strike="noStrike" dirty="0">
                          <a:effectLst/>
                        </a:rPr>
                        <a:t> </a:t>
                      </a:r>
                      <a:endParaRPr lang="de-AT" sz="8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471874194"/>
                  </a:ext>
                </a:extLst>
              </a:tr>
              <a:tr h="106712">
                <a:tc>
                  <a:txBody>
                    <a:bodyPr/>
                    <a:lstStyle/>
                    <a:p>
                      <a:pPr algn="l" fontAlgn="b"/>
                      <a:r>
                        <a:rPr lang="en-US" sz="800" u="none" strike="noStrike" dirty="0">
                          <a:effectLst/>
                        </a:rPr>
                        <a:t>Tech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06712">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bl>
          </a:graphicData>
        </a:graphic>
      </p:graphicFrame>
      <p:sp>
        <p:nvSpPr>
          <p:cNvPr id="8" name="Geschweifte Klammer rechts 7"/>
          <p:cNvSpPr/>
          <p:nvPr/>
        </p:nvSpPr>
        <p:spPr>
          <a:xfrm rot="16200000">
            <a:off x="3506231" y="4126102"/>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7" y="4374884"/>
            <a:ext cx="1259012" cy="646331"/>
          </a:xfrm>
          <a:prstGeom prst="rect">
            <a:avLst/>
          </a:prstGeom>
          <a:noFill/>
        </p:spPr>
        <p:txBody>
          <a:bodyPr wrap="square" rtlCol="0">
            <a:spAutoFit/>
          </a:bodyPr>
          <a:lstStyle/>
          <a:p>
            <a:pPr algn="ctr" fontAlgn="b"/>
            <a:r>
              <a:rPr lang="de-AT" sz="900" b="1" dirty="0" err="1">
                <a:solidFill>
                  <a:srgbClr val="CC0000"/>
                </a:solidFill>
              </a:rPr>
              <a:t>can</a:t>
            </a:r>
            <a:r>
              <a:rPr lang="de-AT" sz="900" b="1" dirty="0">
                <a:solidFill>
                  <a:srgbClr val="CC0000"/>
                </a:solidFill>
              </a:rPr>
              <a:t> </a:t>
            </a:r>
            <a:r>
              <a:rPr lang="de-AT" sz="900" b="1" dirty="0" err="1">
                <a:solidFill>
                  <a:srgbClr val="CC0000"/>
                </a:solidFill>
              </a:rPr>
              <a:t>be</a:t>
            </a:r>
            <a:r>
              <a:rPr lang="de-AT" sz="900" b="1" dirty="0">
                <a:solidFill>
                  <a:srgbClr val="CC0000"/>
                </a:solidFill>
              </a:rPr>
              <a:t> </a:t>
            </a:r>
            <a:r>
              <a:rPr lang="de-AT" sz="900" b="1" dirty="0" err="1">
                <a:solidFill>
                  <a:srgbClr val="CC0000"/>
                </a:solidFill>
              </a:rPr>
              <a:t>directly</a:t>
            </a:r>
            <a:r>
              <a:rPr lang="de-AT" sz="900" b="1" dirty="0">
                <a:solidFill>
                  <a:srgbClr val="CC0000"/>
                </a:solidFill>
              </a:rPr>
              <a:t> </a:t>
            </a:r>
            <a:r>
              <a:rPr lang="de-AT" sz="900" b="1" dirty="0" err="1">
                <a:solidFill>
                  <a:srgbClr val="CC0000"/>
                </a:solidFill>
              </a:rPr>
              <a:t>supplied</a:t>
            </a:r>
            <a:r>
              <a:rPr lang="de-AT" sz="900" b="1" dirty="0">
                <a:solidFill>
                  <a:srgbClr val="CC0000"/>
                </a:solidFill>
              </a:rPr>
              <a:t> </a:t>
            </a:r>
            <a:r>
              <a:rPr lang="de-AT" sz="900" b="1" dirty="0" err="1">
                <a:solidFill>
                  <a:srgbClr val="CC0000"/>
                </a:solidFill>
              </a:rPr>
              <a:t>by</a:t>
            </a:r>
            <a:r>
              <a:rPr lang="de-AT" sz="900" b="1" dirty="0">
                <a:solidFill>
                  <a:srgbClr val="CC0000"/>
                </a:solidFill>
              </a:rPr>
              <a:t> REESS </a:t>
            </a:r>
            <a:r>
              <a:rPr lang="de-AT" sz="900" b="1" dirty="0" err="1">
                <a:solidFill>
                  <a:srgbClr val="CC0000"/>
                </a:solidFill>
              </a:rPr>
              <a:t>if</a:t>
            </a:r>
            <a:r>
              <a:rPr lang="de-AT" sz="900" b="1" dirty="0">
                <a:solidFill>
                  <a:srgbClr val="CC0000"/>
                </a:solidFill>
              </a:rPr>
              <a:t> </a:t>
            </a:r>
            <a:r>
              <a:rPr lang="de-AT" sz="900" b="1" dirty="0" err="1">
                <a:solidFill>
                  <a:srgbClr val="CC0000"/>
                </a:solidFill>
              </a:rPr>
              <a:t>present</a:t>
            </a:r>
            <a:br>
              <a:rPr lang="de-AT" sz="900" b="1" dirty="0">
                <a:solidFill>
                  <a:srgbClr val="CC0000"/>
                </a:solidFill>
              </a:rPr>
            </a:br>
            <a:r>
              <a:rPr lang="de-AT" sz="900" b="1" dirty="0">
                <a:solidFill>
                  <a:srgbClr val="CC0000"/>
                </a:solidFill>
              </a:rPr>
              <a:t>(</a:t>
            </a:r>
            <a:r>
              <a:rPr lang="de-AT" sz="900" b="1" dirty="0" err="1">
                <a:solidFill>
                  <a:srgbClr val="CC0000"/>
                </a:solidFill>
              </a:rPr>
              <a:t>indicated</a:t>
            </a:r>
            <a:r>
              <a:rPr lang="de-AT" sz="900" b="1" dirty="0">
                <a:solidFill>
                  <a:srgbClr val="CC0000"/>
                </a:solidFill>
              </a:rPr>
              <a:t> </a:t>
            </a:r>
            <a:r>
              <a:rPr lang="de-AT" sz="900" b="1" dirty="0" err="1">
                <a:solidFill>
                  <a:srgbClr val="CC0000"/>
                </a:solidFill>
              </a:rPr>
              <a:t>with</a:t>
            </a:r>
            <a:r>
              <a:rPr lang="de-AT" sz="900" b="1" dirty="0">
                <a:solidFill>
                  <a:srgbClr val="CC0000"/>
                </a:solidFill>
              </a:rPr>
              <a:t> 0/1)</a:t>
            </a:r>
          </a:p>
        </p:txBody>
      </p:sp>
      <p:sp>
        <p:nvSpPr>
          <p:cNvPr id="10" name="Textfeld 9"/>
          <p:cNvSpPr txBox="1"/>
          <p:nvPr/>
        </p:nvSpPr>
        <p:spPr>
          <a:xfrm>
            <a:off x="6294043" y="4608667"/>
            <a:ext cx="1970235" cy="400110"/>
          </a:xfrm>
          <a:prstGeom prst="rect">
            <a:avLst/>
          </a:prstGeom>
          <a:noFill/>
        </p:spPr>
        <p:txBody>
          <a:bodyPr wrap="square" rtlCol="0">
            <a:spAutoFit/>
          </a:bodyPr>
          <a:lstStyle/>
          <a:p>
            <a:pPr algn="ctr" fontAlgn="b"/>
            <a:r>
              <a:rPr lang="en-US" sz="1000" b="1" dirty="0">
                <a:solidFill>
                  <a:srgbClr val="CC0000"/>
                </a:solidFill>
              </a:rPr>
              <a:t>cycle specific </a:t>
            </a:r>
            <a:r>
              <a:rPr lang="en-US" sz="1000" b="1" u="sng" dirty="0">
                <a:solidFill>
                  <a:srgbClr val="CC0000"/>
                </a:solidFill>
              </a:rPr>
              <a:t>mechanical</a:t>
            </a:r>
            <a:r>
              <a:rPr lang="en-US" sz="1000" b="1" dirty="0">
                <a:solidFill>
                  <a:srgbClr val="CC0000"/>
                </a:solidFill>
              </a:rPr>
              <a:t> power demand [W]</a:t>
            </a:r>
            <a:endParaRPr lang="de-AT" sz="1000" b="1" dirty="0">
              <a:solidFill>
                <a:srgbClr val="CC0000"/>
              </a:solidFill>
            </a:endParaRPr>
          </a:p>
        </p:txBody>
      </p:sp>
      <p:sp>
        <p:nvSpPr>
          <p:cNvPr id="11" name="Geschweifte Klammer rechts 10"/>
          <p:cNvSpPr/>
          <p:nvPr/>
        </p:nvSpPr>
        <p:spPr>
          <a:xfrm rot="16200000">
            <a:off x="7147357" y="3423825"/>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rechts 11"/>
          <p:cNvSpPr/>
          <p:nvPr/>
        </p:nvSpPr>
        <p:spPr>
          <a:xfrm rot="16200000">
            <a:off x="4975656" y="4812934"/>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383483" y="4583781"/>
            <a:ext cx="2003172" cy="400110"/>
          </a:xfrm>
          <a:prstGeom prst="rect">
            <a:avLst/>
          </a:prstGeom>
          <a:noFill/>
        </p:spPr>
        <p:txBody>
          <a:bodyPr wrap="square" rtlCol="0">
            <a:spAutoFit/>
          </a:bodyPr>
          <a:lstStyle/>
          <a:p>
            <a:pPr algn="ctr" fontAlgn="b"/>
            <a:r>
              <a:rPr lang="de-AT" sz="1000" b="1" dirty="0" err="1">
                <a:solidFill>
                  <a:srgbClr val="CC0000"/>
                </a:solidFill>
              </a:rPr>
              <a:t>applicability</a:t>
            </a:r>
            <a:r>
              <a:rPr lang="de-AT" sz="1000" b="1" dirty="0">
                <a:solidFill>
                  <a:srgbClr val="CC0000"/>
                </a:solidFill>
              </a:rPr>
              <a:t> </a:t>
            </a:r>
            <a:r>
              <a:rPr lang="de-AT" sz="1000" b="1" dirty="0" err="1">
                <a:solidFill>
                  <a:srgbClr val="CC0000"/>
                </a:solidFill>
              </a:rPr>
              <a:t>for</a:t>
            </a:r>
            <a:r>
              <a:rPr lang="de-AT" sz="1000" b="1" dirty="0">
                <a:solidFill>
                  <a:srgbClr val="CC0000"/>
                </a:solidFill>
              </a:rPr>
              <a:t> </a:t>
            </a:r>
            <a:r>
              <a:rPr lang="de-AT" sz="1000" b="1" dirty="0" err="1">
                <a:solidFill>
                  <a:srgbClr val="CC0000"/>
                </a:solidFill>
              </a:rPr>
              <a:t>architecture</a:t>
            </a:r>
            <a:br>
              <a:rPr lang="de-AT" sz="1000" b="1" dirty="0">
                <a:solidFill>
                  <a:srgbClr val="CC0000"/>
                </a:solidFill>
              </a:rPr>
            </a:br>
            <a:r>
              <a:rPr lang="de-AT" sz="1000" b="1" dirty="0">
                <a:solidFill>
                  <a:srgbClr val="CC0000"/>
                </a:solidFill>
              </a:rPr>
              <a:t>(</a:t>
            </a:r>
            <a:r>
              <a:rPr lang="de-AT" sz="1000" b="1" dirty="0" err="1">
                <a:solidFill>
                  <a:srgbClr val="CC0000"/>
                </a:solidFill>
              </a:rPr>
              <a:t>indicated</a:t>
            </a:r>
            <a:r>
              <a:rPr lang="de-AT" sz="1000" b="1" dirty="0">
                <a:solidFill>
                  <a:srgbClr val="CC0000"/>
                </a:solidFill>
              </a:rPr>
              <a:t> </a:t>
            </a:r>
            <a:r>
              <a:rPr lang="de-AT" sz="1000" b="1" dirty="0" err="1">
                <a:solidFill>
                  <a:srgbClr val="CC0000"/>
                </a:solidFill>
              </a:rPr>
              <a:t>with</a:t>
            </a:r>
            <a:r>
              <a:rPr lang="de-AT" sz="1000" b="1" dirty="0">
                <a:solidFill>
                  <a:srgbClr val="CC0000"/>
                </a:solidFill>
              </a:rPr>
              <a:t> 0/1)</a:t>
            </a:r>
          </a:p>
        </p:txBody>
      </p:sp>
    </p:spTree>
    <p:extLst>
      <p:ext uri="{BB962C8B-B14F-4D97-AF65-F5344CB8AC3E}">
        <p14:creationId xmlns:p14="http://schemas.microsoft.com/office/powerpoint/2010/main" val="36731841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feld 14"/>
          <p:cNvSpPr txBox="1"/>
          <p:nvPr/>
        </p:nvSpPr>
        <p:spPr>
          <a:xfrm>
            <a:off x="-49763" y="4671931"/>
            <a:ext cx="771448" cy="461665"/>
          </a:xfrm>
          <a:prstGeom prst="rect">
            <a:avLst/>
          </a:prstGeom>
          <a:noFill/>
        </p:spPr>
        <p:txBody>
          <a:bodyPr wrap="square" rtlCol="0">
            <a:spAutoFit/>
          </a:bodyPr>
          <a:lstStyle/>
          <a:p>
            <a:pPr algn="ctr" fontAlgn="b"/>
            <a:r>
              <a:rPr lang="de-AT" sz="800" dirty="0">
                <a:solidFill>
                  <a:srgbClr val="CC0000"/>
                </a:solidFill>
              </a:rPr>
              <a:t>Block </a:t>
            </a:r>
            <a:r>
              <a:rPr lang="de-AT" sz="800" dirty="0" err="1">
                <a:solidFill>
                  <a:srgbClr val="CC0000"/>
                </a:solidFill>
              </a:rPr>
              <a:t>of</a:t>
            </a:r>
            <a:r>
              <a:rPr lang="de-AT" sz="800" dirty="0">
                <a:solidFill>
                  <a:srgbClr val="CC0000"/>
                </a:solidFill>
              </a:rPr>
              <a:t> </a:t>
            </a:r>
            <a:r>
              <a:rPr lang="de-AT" sz="800" b="1" dirty="0" err="1">
                <a:solidFill>
                  <a:srgbClr val="CC0000"/>
                </a:solidFill>
              </a:rPr>
              <a:t>mechanical</a:t>
            </a:r>
            <a:r>
              <a:rPr lang="de-AT" sz="800" dirty="0">
                <a:solidFill>
                  <a:srgbClr val="CC0000"/>
                </a:solidFill>
              </a:rPr>
              <a:t> </a:t>
            </a:r>
            <a:r>
              <a:rPr lang="de-AT" sz="800" dirty="0" err="1">
                <a:solidFill>
                  <a:srgbClr val="CC0000"/>
                </a:solidFill>
              </a:rPr>
              <a:t>technologies</a:t>
            </a:r>
            <a:endParaRPr lang="de-AT" sz="800" dirty="0">
              <a:solidFill>
                <a:srgbClr val="CC0000"/>
              </a:solidFill>
            </a:endParaRPr>
          </a:p>
        </p:txBody>
      </p:sp>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1724183"/>
          </a:xfrm>
        </p:spPr>
        <p:txBody>
          <a:bodyPr/>
          <a:lstStyle/>
          <a:p>
            <a:r>
              <a:rPr lang="en-US" sz="1800" dirty="0"/>
              <a:t>Basic principles of pneumatic system in DECL</a:t>
            </a:r>
          </a:p>
          <a:p>
            <a:pPr lvl="1"/>
            <a:r>
              <a:rPr lang="de-AT" sz="1400" dirty="0" err="1"/>
              <a:t>Structure</a:t>
            </a:r>
            <a:r>
              <a:rPr lang="de-AT" sz="1400" dirty="0"/>
              <a:t> </a:t>
            </a:r>
            <a:r>
              <a:rPr lang="de-AT" sz="1400" dirty="0" err="1"/>
              <a:t>of</a:t>
            </a:r>
            <a:r>
              <a:rPr lang="de-AT" sz="1400" dirty="0"/>
              <a:t> </a:t>
            </a:r>
            <a:r>
              <a:rPr lang="de-AT" sz="1400" dirty="0" err="1"/>
              <a:t>table</a:t>
            </a:r>
            <a:r>
              <a:rPr lang="de-AT" sz="1400" dirty="0"/>
              <a:t> </a:t>
            </a:r>
            <a:r>
              <a:rPr lang="de-AT" sz="1400" dirty="0" err="1"/>
              <a:t>is</a:t>
            </a:r>
            <a:r>
              <a:rPr lang="de-AT" sz="1400" dirty="0"/>
              <a:t> </a:t>
            </a:r>
            <a:r>
              <a:rPr lang="de-AT" sz="1400" dirty="0" err="1"/>
              <a:t>slightly</a:t>
            </a:r>
            <a:r>
              <a:rPr lang="de-AT" sz="1400" dirty="0"/>
              <a:t> different, </a:t>
            </a:r>
            <a:r>
              <a:rPr lang="de-AT" sz="1400" dirty="0" err="1"/>
              <a:t>stating</a:t>
            </a:r>
            <a:r>
              <a:rPr lang="de-AT" sz="1400" dirty="0"/>
              <a:t> </a:t>
            </a:r>
            <a:r>
              <a:rPr lang="de-AT" sz="1400" dirty="0" err="1"/>
              <a:t>mechanical</a:t>
            </a:r>
            <a:r>
              <a:rPr lang="de-AT" sz="1400" dirty="0"/>
              <a:t> </a:t>
            </a:r>
            <a:r>
              <a:rPr lang="de-AT" sz="1400" dirty="0" err="1"/>
              <a:t>and</a:t>
            </a:r>
            <a:r>
              <a:rPr lang="de-AT" sz="1400" dirty="0"/>
              <a:t> </a:t>
            </a:r>
            <a:r>
              <a:rPr lang="de-AT" sz="1400" dirty="0" err="1"/>
              <a:t>electrical</a:t>
            </a:r>
            <a:r>
              <a:rPr lang="de-AT" sz="1400" dirty="0"/>
              <a:t> power </a:t>
            </a:r>
            <a:r>
              <a:rPr lang="de-AT" sz="1400" dirty="0" err="1"/>
              <a:t>demand</a:t>
            </a:r>
            <a:br>
              <a:rPr lang="de-AT" sz="1400" dirty="0"/>
            </a:br>
            <a:r>
              <a:rPr lang="de-AT" sz="1400" dirty="0"/>
              <a:t>at </a:t>
            </a:r>
            <a:r>
              <a:rPr lang="de-AT" sz="1400" dirty="0" err="1"/>
              <a:t>the</a:t>
            </a:r>
            <a:r>
              <a:rPr lang="de-AT" sz="1400" dirty="0"/>
              <a:t> same time</a:t>
            </a:r>
          </a:p>
          <a:p>
            <a:pPr lvl="1"/>
            <a:r>
              <a:rPr lang="de-AT" sz="1400" dirty="0" err="1"/>
              <a:t>Reason</a:t>
            </a:r>
            <a:r>
              <a:rPr lang="de-AT" sz="1400" dirty="0"/>
              <a:t> </a:t>
            </a:r>
            <a:r>
              <a:rPr lang="de-AT" sz="1400" dirty="0" err="1"/>
              <a:t>is</a:t>
            </a:r>
            <a:r>
              <a:rPr lang="de-AT" sz="1400" dirty="0"/>
              <a:t> </a:t>
            </a:r>
            <a:r>
              <a:rPr lang="de-AT" sz="1400" dirty="0" err="1"/>
              <a:t>that</a:t>
            </a:r>
            <a:r>
              <a:rPr lang="de-AT" sz="1400" dirty="0"/>
              <a:t> </a:t>
            </a:r>
            <a:r>
              <a:rPr lang="de-AT" sz="1400" dirty="0" err="1"/>
              <a:t>generic</a:t>
            </a:r>
            <a:r>
              <a:rPr lang="de-AT" sz="1400" dirty="0"/>
              <a:t> </a:t>
            </a:r>
            <a:r>
              <a:rPr lang="de-AT" sz="1400" dirty="0" err="1"/>
              <a:t>saving</a:t>
            </a:r>
            <a:r>
              <a:rPr lang="de-AT" sz="1400" dirty="0"/>
              <a:t> </a:t>
            </a:r>
            <a:r>
              <a:rPr lang="de-AT" sz="1400" dirty="0" err="1"/>
              <a:t>of</a:t>
            </a:r>
            <a:r>
              <a:rPr lang="de-AT" sz="1400" dirty="0"/>
              <a:t> AMS </a:t>
            </a:r>
            <a:r>
              <a:rPr lang="de-AT" sz="1400" dirty="0" err="1"/>
              <a:t>techonolgies</a:t>
            </a:r>
            <a:r>
              <a:rPr lang="de-AT" sz="1400" dirty="0"/>
              <a:t> </a:t>
            </a:r>
            <a:r>
              <a:rPr lang="de-AT" sz="1400" dirty="0" err="1"/>
              <a:t>is</a:t>
            </a:r>
            <a:r>
              <a:rPr lang="de-AT" sz="1400" dirty="0"/>
              <a:t> </a:t>
            </a:r>
            <a:r>
              <a:rPr lang="de-AT" sz="1400" dirty="0" err="1"/>
              <a:t>reduced</a:t>
            </a:r>
            <a:r>
              <a:rPr lang="de-AT" sz="1400" dirty="0"/>
              <a:t> </a:t>
            </a:r>
            <a:r>
              <a:rPr lang="de-AT" sz="1400" dirty="0" err="1"/>
              <a:t>for</a:t>
            </a:r>
            <a:r>
              <a:rPr lang="de-AT" sz="1400" dirty="0"/>
              <a:t> </a:t>
            </a:r>
            <a:r>
              <a:rPr lang="de-AT" sz="1400" dirty="0" err="1"/>
              <a:t>xEV</a:t>
            </a:r>
            <a:r>
              <a:rPr lang="de-AT" sz="1400" dirty="0"/>
              <a:t> </a:t>
            </a:r>
            <a:r>
              <a:rPr lang="de-AT" sz="1400" dirty="0" err="1"/>
              <a:t>vehicles</a:t>
            </a:r>
            <a:r>
              <a:rPr lang="de-AT" sz="1400" dirty="0"/>
              <a:t> (</a:t>
            </a:r>
            <a:r>
              <a:rPr lang="de-AT" sz="1400" dirty="0" err="1"/>
              <a:t>only</a:t>
            </a:r>
            <a:r>
              <a:rPr lang="de-AT" sz="1400" dirty="0"/>
              <a:t> minus 10%) due </a:t>
            </a:r>
            <a:r>
              <a:rPr lang="de-AT" sz="1400" dirty="0" err="1"/>
              <a:t>to</a:t>
            </a:r>
            <a:r>
              <a:rPr lang="de-AT" sz="1400" dirty="0"/>
              <a:t> </a:t>
            </a:r>
            <a:r>
              <a:rPr lang="de-AT" sz="1400" dirty="0" err="1"/>
              <a:t>reduced</a:t>
            </a:r>
            <a:r>
              <a:rPr lang="de-AT" sz="1400" dirty="0"/>
              <a:t> </a:t>
            </a:r>
            <a:r>
              <a:rPr lang="de-AT" sz="1400" dirty="0" err="1"/>
              <a:t>recuperative</a:t>
            </a:r>
            <a:r>
              <a:rPr lang="de-AT" sz="1400" dirty="0"/>
              <a:t> potential </a:t>
            </a:r>
            <a:r>
              <a:rPr lang="de-AT" sz="1400" dirty="0" err="1"/>
              <a:t>compared</a:t>
            </a:r>
            <a:r>
              <a:rPr lang="de-AT" sz="1400" dirty="0"/>
              <a:t> </a:t>
            </a:r>
            <a:r>
              <a:rPr lang="de-AT" sz="1400" dirty="0" err="1"/>
              <a:t>to</a:t>
            </a:r>
            <a:r>
              <a:rPr lang="de-AT" sz="1400" dirty="0"/>
              <a:t> </a:t>
            </a:r>
            <a:r>
              <a:rPr lang="de-AT" sz="1400" dirty="0" err="1"/>
              <a:t>conventional</a:t>
            </a:r>
            <a:r>
              <a:rPr lang="de-AT" sz="1400" dirty="0"/>
              <a:t> </a:t>
            </a:r>
            <a:r>
              <a:rPr lang="de-AT" sz="1400" dirty="0" err="1"/>
              <a:t>ones</a:t>
            </a:r>
            <a:r>
              <a:rPr lang="de-AT" sz="1400" dirty="0"/>
              <a:t> </a:t>
            </a:r>
            <a:endParaRPr lang="en-GB" sz="1200" dirty="0"/>
          </a:p>
        </p:txBody>
      </p:sp>
      <p:sp>
        <p:nvSpPr>
          <p:cNvPr id="4" name="Foliennummernplatzhalter 3"/>
          <p:cNvSpPr>
            <a:spLocks noGrp="1"/>
          </p:cNvSpPr>
          <p:nvPr>
            <p:ph type="sldNum" sz="quarter" idx="12"/>
          </p:nvPr>
        </p:nvSpPr>
        <p:spPr/>
        <p:txBody>
          <a:bodyPr/>
          <a:lstStyle/>
          <a:p>
            <a:fld id="{4B64EC4D-37E3-EF42-B9AB-6337577588CB}" type="slidenum">
              <a:rPr lang="de-DE" smtClean="0"/>
              <a:t>7</a:t>
            </a:fld>
            <a:endParaRPr lang="de-DE"/>
          </a:p>
        </p:txBody>
      </p:sp>
      <p:graphicFrame>
        <p:nvGraphicFramePr>
          <p:cNvPr id="6" name="Tabelle 5"/>
          <p:cNvGraphicFramePr>
            <a:graphicFrameLocks noGrp="1"/>
          </p:cNvGraphicFramePr>
          <p:nvPr/>
        </p:nvGraphicFramePr>
        <p:xfrm>
          <a:off x="858719" y="4326904"/>
          <a:ext cx="8158280" cy="165600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1800000">
                  <a:extLst>
                    <a:ext uri="{9D8B030D-6E8A-4147-A177-3AD203B41FA5}">
                      <a16:colId xmlns:a16="http://schemas.microsoft.com/office/drawing/2014/main" val="3710519613"/>
                    </a:ext>
                  </a:extLst>
                </a:gridCol>
                <a:gridCol w="1800000">
                  <a:extLst>
                    <a:ext uri="{9D8B030D-6E8A-4147-A177-3AD203B41FA5}">
                      <a16:colId xmlns:a16="http://schemas.microsoft.com/office/drawing/2014/main" val="3392582189"/>
                    </a:ext>
                  </a:extLst>
                </a:gridCol>
              </a:tblGrid>
              <a:tr h="216000">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a:effectLst/>
                        </a:rPr>
                        <a:t> </a:t>
                      </a:r>
                      <a:r>
                        <a:rPr lang="de-AT" sz="800" b="1" u="none" strike="noStrike" dirty="0" err="1">
                          <a:effectLst/>
                        </a:rPr>
                        <a:t>mechanical</a:t>
                      </a:r>
                      <a:r>
                        <a:rPr lang="de-AT" sz="800" b="1" u="none" strike="noStrike" dirty="0">
                          <a:effectLst/>
                        </a:rPr>
                        <a:t> power </a:t>
                      </a:r>
                      <a:r>
                        <a:rPr lang="de-AT" sz="800" b="1" u="none" strike="noStrike" dirty="0" err="1">
                          <a:effectLst/>
                        </a:rPr>
                        <a:t>demand</a:t>
                      </a:r>
                      <a:r>
                        <a:rPr lang="de-AT" sz="800" b="1" u="none" strike="noStrike" dirty="0">
                          <a:effectLst/>
                        </a:rPr>
                        <a:t> [W]</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a:effectLst/>
                        </a:rPr>
                        <a:t> </a:t>
                      </a:r>
                      <a:r>
                        <a:rPr lang="de-AT" sz="800" b="1" u="none" strike="noStrike" dirty="0" err="1">
                          <a:effectLst/>
                        </a:rPr>
                        <a:t>electrical</a:t>
                      </a:r>
                      <a:r>
                        <a:rPr lang="de-AT" sz="800" b="1" u="none" strike="noStrike" dirty="0">
                          <a:effectLst/>
                        </a:rPr>
                        <a:t> power </a:t>
                      </a:r>
                      <a:r>
                        <a:rPr lang="de-AT" sz="800" b="1" u="none" strike="noStrike" dirty="0" err="1">
                          <a:effectLst/>
                        </a:rPr>
                        <a:t>demand</a:t>
                      </a:r>
                      <a:r>
                        <a:rPr lang="de-AT" sz="800" b="1" u="none" strike="noStrike" dirty="0">
                          <a:effectLst/>
                        </a:rPr>
                        <a:t> [W]</a:t>
                      </a:r>
                      <a:endParaRPr lang="de-AT" sz="800" b="1"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471874194"/>
                  </a:ext>
                </a:extLst>
              </a:tr>
              <a:tr h="180000">
                <a:tc>
                  <a:txBody>
                    <a:bodyPr/>
                    <a:lstStyle/>
                    <a:p>
                      <a:pPr algn="l" fontAlgn="b"/>
                      <a:r>
                        <a:rPr lang="en-US" sz="800" u="none" strike="noStrike" dirty="0">
                          <a:effectLst/>
                        </a:rPr>
                        <a:t>Tech mechanical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Arial"/>
                          <a:ea typeface="+mn-ea"/>
                          <a:cs typeface="+mn-cs"/>
                        </a:rPr>
                        <a:t>#2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Arial"/>
                          <a:ea typeface="+mn-ea"/>
                          <a:cs typeface="+mn-cs"/>
                        </a:rPr>
                        <a:t>#3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80000">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mn-lt"/>
                          <a:ea typeface="+mn-ea"/>
                          <a:cs typeface="+mn-cs"/>
                        </a:rPr>
                        <a:t>#...</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r h="180000">
                <a:tc>
                  <a:txBody>
                    <a:bodyPr/>
                    <a:lstStyle/>
                    <a:p>
                      <a:pPr algn="l" fontAlgn="b"/>
                      <a:r>
                        <a:rPr lang="en-US" sz="800" u="none" strike="noStrike" dirty="0">
                          <a:effectLst/>
                        </a:rPr>
                        <a:t>Tech electrical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314268548"/>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Arial"/>
                          <a:ea typeface="+mn-ea"/>
                          <a:cs typeface="+mn-cs"/>
                        </a:rPr>
                        <a:t>#2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330027890"/>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Arial"/>
                          <a:ea typeface="+mn-ea"/>
                          <a:cs typeface="+mn-cs"/>
                        </a:rPr>
                        <a:t>#3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787719517"/>
                  </a:ext>
                </a:extLst>
              </a:tr>
              <a:tr h="180000">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mn-lt"/>
                          <a:ea typeface="+mn-ea"/>
                          <a:cs typeface="+mn-cs"/>
                        </a:rPr>
                        <a:t>#...</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934790804"/>
                  </a:ext>
                </a:extLst>
              </a:tr>
            </a:tbl>
          </a:graphicData>
        </a:graphic>
      </p:graphicFrame>
      <p:sp>
        <p:nvSpPr>
          <p:cNvPr id="8" name="Geschweifte Klammer rechts 7"/>
          <p:cNvSpPr/>
          <p:nvPr/>
        </p:nvSpPr>
        <p:spPr>
          <a:xfrm rot="16200000">
            <a:off x="3506231" y="3180813"/>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8" y="3401859"/>
            <a:ext cx="1259012" cy="646331"/>
          </a:xfrm>
          <a:prstGeom prst="rect">
            <a:avLst/>
          </a:prstGeom>
          <a:noFill/>
        </p:spPr>
        <p:txBody>
          <a:bodyPr wrap="square" rtlCol="0">
            <a:spAutoFit/>
          </a:bodyPr>
          <a:lstStyle/>
          <a:p>
            <a:pPr algn="ctr" fontAlgn="b"/>
            <a:r>
              <a:rPr lang="de-AT" sz="900" dirty="0" err="1">
                <a:solidFill>
                  <a:srgbClr val="CC0000"/>
                </a:solidFill>
              </a:rPr>
              <a:t>can</a:t>
            </a:r>
            <a:r>
              <a:rPr lang="de-AT" sz="900" dirty="0">
                <a:solidFill>
                  <a:srgbClr val="CC0000"/>
                </a:solidFill>
              </a:rPr>
              <a:t> </a:t>
            </a:r>
            <a:r>
              <a:rPr lang="de-AT" sz="900" dirty="0" err="1">
                <a:solidFill>
                  <a:srgbClr val="CC0000"/>
                </a:solidFill>
              </a:rPr>
              <a:t>be</a:t>
            </a:r>
            <a:r>
              <a:rPr lang="de-AT" sz="900" dirty="0">
                <a:solidFill>
                  <a:srgbClr val="CC0000"/>
                </a:solidFill>
              </a:rPr>
              <a:t> </a:t>
            </a:r>
            <a:r>
              <a:rPr lang="de-AT" sz="900" dirty="0" err="1">
                <a:solidFill>
                  <a:srgbClr val="CC0000"/>
                </a:solidFill>
              </a:rPr>
              <a:t>directly</a:t>
            </a:r>
            <a:r>
              <a:rPr lang="de-AT" sz="900" dirty="0">
                <a:solidFill>
                  <a:srgbClr val="CC0000"/>
                </a:solidFill>
              </a:rPr>
              <a:t> </a:t>
            </a:r>
            <a:r>
              <a:rPr lang="de-AT" sz="900" dirty="0" err="1">
                <a:solidFill>
                  <a:srgbClr val="CC0000"/>
                </a:solidFill>
              </a:rPr>
              <a:t>supplied</a:t>
            </a:r>
            <a:r>
              <a:rPr lang="de-AT" sz="900" dirty="0">
                <a:solidFill>
                  <a:srgbClr val="CC0000"/>
                </a:solidFill>
              </a:rPr>
              <a:t> </a:t>
            </a:r>
            <a:r>
              <a:rPr lang="de-AT" sz="900" dirty="0" err="1">
                <a:solidFill>
                  <a:srgbClr val="CC0000"/>
                </a:solidFill>
              </a:rPr>
              <a:t>by</a:t>
            </a:r>
            <a:r>
              <a:rPr lang="de-AT" sz="900" dirty="0">
                <a:solidFill>
                  <a:srgbClr val="CC0000"/>
                </a:solidFill>
              </a:rPr>
              <a:t> REESS </a:t>
            </a:r>
            <a:r>
              <a:rPr lang="de-AT" sz="900" dirty="0" err="1">
                <a:solidFill>
                  <a:srgbClr val="CC0000"/>
                </a:solidFill>
              </a:rPr>
              <a:t>if</a:t>
            </a:r>
            <a:r>
              <a:rPr lang="de-AT" sz="900" dirty="0">
                <a:solidFill>
                  <a:srgbClr val="CC0000"/>
                </a:solidFill>
              </a:rPr>
              <a:t> </a:t>
            </a:r>
            <a:r>
              <a:rPr lang="de-AT" sz="900" dirty="0" err="1">
                <a:solidFill>
                  <a:srgbClr val="CC0000"/>
                </a:solidFill>
              </a:rPr>
              <a:t>present</a:t>
            </a:r>
            <a:br>
              <a:rPr lang="de-AT" sz="900" dirty="0">
                <a:solidFill>
                  <a:srgbClr val="CC0000"/>
                </a:solidFill>
              </a:rPr>
            </a:br>
            <a:r>
              <a:rPr lang="de-AT" sz="900" dirty="0">
                <a:solidFill>
                  <a:srgbClr val="CC0000"/>
                </a:solidFill>
              </a:rPr>
              <a:t>(</a:t>
            </a:r>
            <a:r>
              <a:rPr lang="de-AT" sz="900" dirty="0" err="1">
                <a:solidFill>
                  <a:srgbClr val="CC0000"/>
                </a:solidFill>
              </a:rPr>
              <a:t>indicated</a:t>
            </a:r>
            <a:r>
              <a:rPr lang="de-AT" sz="900" dirty="0">
                <a:solidFill>
                  <a:srgbClr val="CC0000"/>
                </a:solidFill>
              </a:rPr>
              <a:t> </a:t>
            </a:r>
            <a:r>
              <a:rPr lang="de-AT" sz="900" dirty="0" err="1">
                <a:solidFill>
                  <a:srgbClr val="CC0000"/>
                </a:solidFill>
              </a:rPr>
              <a:t>with</a:t>
            </a:r>
            <a:r>
              <a:rPr lang="de-AT" sz="900" dirty="0">
                <a:solidFill>
                  <a:srgbClr val="CC0000"/>
                </a:solidFill>
              </a:rPr>
              <a:t> 0/1)</a:t>
            </a:r>
          </a:p>
        </p:txBody>
      </p:sp>
      <p:sp>
        <p:nvSpPr>
          <p:cNvPr id="12" name="Geschweifte Klammer rechts 11"/>
          <p:cNvSpPr/>
          <p:nvPr/>
        </p:nvSpPr>
        <p:spPr>
          <a:xfrm rot="16200000">
            <a:off x="4975656" y="3867645"/>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377262" y="3664632"/>
            <a:ext cx="2003172" cy="400110"/>
          </a:xfrm>
          <a:prstGeom prst="rect">
            <a:avLst/>
          </a:prstGeom>
          <a:noFill/>
        </p:spPr>
        <p:txBody>
          <a:bodyPr wrap="square" rtlCol="0">
            <a:spAutoFit/>
          </a:bodyPr>
          <a:lstStyle/>
          <a:p>
            <a:pPr algn="ctr" fontAlgn="b"/>
            <a:r>
              <a:rPr lang="de-AT" sz="1000" dirty="0" err="1">
                <a:solidFill>
                  <a:srgbClr val="CC0000"/>
                </a:solidFill>
              </a:rPr>
              <a:t>applicability</a:t>
            </a:r>
            <a:r>
              <a:rPr lang="de-AT" sz="1000" dirty="0">
                <a:solidFill>
                  <a:srgbClr val="CC0000"/>
                </a:solidFill>
              </a:rPr>
              <a:t> </a:t>
            </a:r>
            <a:r>
              <a:rPr lang="de-AT" sz="1000" dirty="0" err="1">
                <a:solidFill>
                  <a:srgbClr val="CC0000"/>
                </a:solidFill>
              </a:rPr>
              <a:t>for</a:t>
            </a:r>
            <a:r>
              <a:rPr lang="de-AT" sz="1000" dirty="0">
                <a:solidFill>
                  <a:srgbClr val="CC0000"/>
                </a:solidFill>
              </a:rPr>
              <a:t> </a:t>
            </a:r>
            <a:r>
              <a:rPr lang="de-AT" sz="1000" dirty="0" err="1">
                <a:solidFill>
                  <a:srgbClr val="CC0000"/>
                </a:solidFill>
              </a:rPr>
              <a:t>architecture</a:t>
            </a:r>
            <a:br>
              <a:rPr lang="de-AT" sz="1000" dirty="0">
                <a:solidFill>
                  <a:srgbClr val="CC0000"/>
                </a:solidFill>
              </a:rPr>
            </a:br>
            <a:r>
              <a:rPr lang="de-AT" sz="1000" dirty="0">
                <a:solidFill>
                  <a:srgbClr val="CC0000"/>
                </a:solidFill>
              </a:rPr>
              <a:t>(</a:t>
            </a:r>
            <a:r>
              <a:rPr lang="de-AT" sz="1000" dirty="0" err="1">
                <a:solidFill>
                  <a:srgbClr val="CC0000"/>
                </a:solidFill>
              </a:rPr>
              <a:t>indicated</a:t>
            </a:r>
            <a:r>
              <a:rPr lang="de-AT" sz="1000" dirty="0">
                <a:solidFill>
                  <a:srgbClr val="CC0000"/>
                </a:solidFill>
              </a:rPr>
              <a:t> </a:t>
            </a:r>
            <a:r>
              <a:rPr lang="de-AT" sz="1000" dirty="0" err="1">
                <a:solidFill>
                  <a:srgbClr val="CC0000"/>
                </a:solidFill>
              </a:rPr>
              <a:t>with</a:t>
            </a:r>
            <a:r>
              <a:rPr lang="de-AT" sz="1000" dirty="0">
                <a:solidFill>
                  <a:srgbClr val="CC0000"/>
                </a:solidFill>
              </a:rPr>
              <a:t> 0/1)</a:t>
            </a:r>
          </a:p>
        </p:txBody>
      </p:sp>
      <p:sp>
        <p:nvSpPr>
          <p:cNvPr id="14" name="Geschweifte Klammer rechts 13"/>
          <p:cNvSpPr/>
          <p:nvPr/>
        </p:nvSpPr>
        <p:spPr>
          <a:xfrm rot="10800000">
            <a:off x="740228" y="4558102"/>
            <a:ext cx="99949" cy="689576"/>
          </a:xfrm>
          <a:prstGeom prst="rightBrace">
            <a:avLst>
              <a:gd name="adj1" fmla="val 8333"/>
              <a:gd name="adj2" fmla="val 49085"/>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6" name="Textfeld 15"/>
          <p:cNvSpPr txBox="1"/>
          <p:nvPr/>
        </p:nvSpPr>
        <p:spPr>
          <a:xfrm>
            <a:off x="-66297" y="5411622"/>
            <a:ext cx="856247" cy="461665"/>
          </a:xfrm>
          <a:prstGeom prst="rect">
            <a:avLst/>
          </a:prstGeom>
          <a:noFill/>
        </p:spPr>
        <p:txBody>
          <a:bodyPr wrap="square" rtlCol="0">
            <a:spAutoFit/>
          </a:bodyPr>
          <a:lstStyle/>
          <a:p>
            <a:pPr algn="ctr" fontAlgn="b"/>
            <a:r>
              <a:rPr lang="de-AT" sz="800" dirty="0">
                <a:solidFill>
                  <a:srgbClr val="CC0000"/>
                </a:solidFill>
              </a:rPr>
              <a:t>Block </a:t>
            </a:r>
            <a:r>
              <a:rPr lang="de-AT" sz="800" dirty="0" err="1">
                <a:solidFill>
                  <a:srgbClr val="CC0000"/>
                </a:solidFill>
              </a:rPr>
              <a:t>of</a:t>
            </a:r>
            <a:r>
              <a:rPr lang="de-AT" sz="800" dirty="0">
                <a:solidFill>
                  <a:srgbClr val="CC0000"/>
                </a:solidFill>
              </a:rPr>
              <a:t> </a:t>
            </a:r>
            <a:r>
              <a:rPr lang="de-AT" sz="800" b="1" dirty="0" err="1">
                <a:solidFill>
                  <a:srgbClr val="CC0000"/>
                </a:solidFill>
              </a:rPr>
              <a:t>electrical</a:t>
            </a:r>
            <a:r>
              <a:rPr lang="de-AT" sz="800" dirty="0">
                <a:solidFill>
                  <a:srgbClr val="CC0000"/>
                </a:solidFill>
              </a:rPr>
              <a:t> </a:t>
            </a:r>
            <a:r>
              <a:rPr lang="de-AT" sz="800" dirty="0" err="1">
                <a:solidFill>
                  <a:srgbClr val="CC0000"/>
                </a:solidFill>
              </a:rPr>
              <a:t>technologies</a:t>
            </a:r>
            <a:endParaRPr lang="de-AT" sz="800" dirty="0">
              <a:solidFill>
                <a:srgbClr val="CC0000"/>
              </a:solidFill>
            </a:endParaRPr>
          </a:p>
        </p:txBody>
      </p:sp>
      <p:sp>
        <p:nvSpPr>
          <p:cNvPr id="18" name="Geschweifte Klammer rechts 17"/>
          <p:cNvSpPr/>
          <p:nvPr/>
        </p:nvSpPr>
        <p:spPr>
          <a:xfrm rot="10800000">
            <a:off x="721684" y="5293326"/>
            <a:ext cx="118493" cy="68957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9" name="Textfeld 18"/>
          <p:cNvSpPr txBox="1"/>
          <p:nvPr/>
        </p:nvSpPr>
        <p:spPr>
          <a:xfrm>
            <a:off x="6345022" y="3622716"/>
            <a:ext cx="1970235" cy="400110"/>
          </a:xfrm>
          <a:prstGeom prst="rect">
            <a:avLst/>
          </a:prstGeom>
          <a:noFill/>
        </p:spPr>
        <p:txBody>
          <a:bodyPr wrap="square" rtlCol="0">
            <a:spAutoFit/>
          </a:bodyPr>
          <a:lstStyle/>
          <a:p>
            <a:pPr algn="ctr" fontAlgn="b"/>
            <a:r>
              <a:rPr lang="en-US" sz="1000" b="1" dirty="0">
                <a:solidFill>
                  <a:srgbClr val="CC0000"/>
                </a:solidFill>
              </a:rPr>
              <a:t>cycle specific indication of power demand [W]</a:t>
            </a:r>
            <a:endParaRPr lang="de-AT" sz="1000" b="1" dirty="0">
              <a:solidFill>
                <a:srgbClr val="CC0000"/>
              </a:solidFill>
            </a:endParaRPr>
          </a:p>
        </p:txBody>
      </p:sp>
      <p:sp>
        <p:nvSpPr>
          <p:cNvPr id="20" name="Geschweifte Klammer rechts 19"/>
          <p:cNvSpPr/>
          <p:nvPr/>
        </p:nvSpPr>
        <p:spPr>
          <a:xfrm rot="16200000">
            <a:off x="7147357" y="2478537"/>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7" name="Textfeld 6"/>
          <p:cNvSpPr txBox="1"/>
          <p:nvPr/>
        </p:nvSpPr>
        <p:spPr>
          <a:xfrm rot="16200000">
            <a:off x="-620870" y="3551436"/>
            <a:ext cx="1759311" cy="307777"/>
          </a:xfrm>
          <a:prstGeom prst="rect">
            <a:avLst/>
          </a:prstGeom>
          <a:solidFill>
            <a:srgbClr val="F70146"/>
          </a:solidFill>
        </p:spPr>
        <p:txBody>
          <a:bodyPr wrap="square" rtlCol="0">
            <a:spAutoFit/>
          </a:bodyPr>
          <a:lstStyle/>
          <a:p>
            <a:pPr algn="ctr"/>
            <a:r>
              <a:rPr lang="de-AT" sz="1400" b="1" dirty="0">
                <a:solidFill>
                  <a:schemeClr val="bg1"/>
                </a:solidFill>
              </a:rPr>
              <a:t>PS-Table.csv</a:t>
            </a:r>
          </a:p>
        </p:txBody>
      </p:sp>
    </p:spTree>
    <p:extLst>
      <p:ext uri="{BB962C8B-B14F-4D97-AF65-F5344CB8AC3E}">
        <p14:creationId xmlns:p14="http://schemas.microsoft.com/office/powerpoint/2010/main" val="29323882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2865529"/>
          </a:xfrm>
        </p:spPr>
        <p:txBody>
          <a:bodyPr/>
          <a:lstStyle/>
          <a:p>
            <a:r>
              <a:rPr lang="en-US" sz="1800" dirty="0"/>
              <a:t>Basic principles of ICE fan and electric components conditioning power in DECL</a:t>
            </a:r>
          </a:p>
          <a:p>
            <a:pPr lvl="1"/>
            <a:r>
              <a:rPr lang="en-US" sz="1400" dirty="0"/>
              <a:t>ICE fan power is always fully applied when ICE = on in simulation</a:t>
            </a:r>
            <a:br>
              <a:rPr lang="en-US" sz="1400" dirty="0"/>
            </a:br>
            <a:endParaRPr lang="en-US" sz="600" dirty="0"/>
          </a:p>
          <a:p>
            <a:pPr lvl="1"/>
            <a:r>
              <a:rPr lang="en-US" sz="1400" b="1" u="sng" dirty="0"/>
              <a:t>For PEV and S-HEV:</a:t>
            </a:r>
            <a:r>
              <a:rPr lang="en-US" sz="1400" dirty="0"/>
              <a:t> values from table below are fully applied when at least one EM = on in simulation (i.e. electric powertrain is propelling/braking) or when E_PTO = on</a:t>
            </a:r>
            <a:br>
              <a:rPr lang="en-US" sz="1400" dirty="0"/>
            </a:br>
            <a:endParaRPr lang="en-US" sz="600" dirty="0"/>
          </a:p>
          <a:p>
            <a:pPr lvl="1"/>
            <a:r>
              <a:rPr lang="en-US" sz="1400" b="1" u="sng" dirty="0"/>
              <a:t>For P-HEV:</a:t>
            </a:r>
            <a:r>
              <a:rPr lang="en-US" sz="1400" dirty="0"/>
              <a:t> values from table below are applied according to equations further below</a:t>
            </a:r>
            <a:br>
              <a:rPr lang="en-US" sz="1400" dirty="0"/>
            </a:br>
            <a:r>
              <a:rPr lang="en-US" sz="1400" dirty="0"/>
              <a:t>with scaling factor “x” reflecting actual split of propulsion power for each </a:t>
            </a:r>
            <a:r>
              <a:rPr lang="en-US" sz="1400" dirty="0" err="1"/>
              <a:t>timestep</a:t>
            </a:r>
            <a:endParaRPr lang="en-US" sz="1400" dirty="0"/>
          </a:p>
          <a:p>
            <a:pPr lvl="2"/>
            <a:r>
              <a:rPr lang="en-GB" sz="1200" dirty="0"/>
              <a:t>x = ABS(P</a:t>
            </a:r>
            <a:r>
              <a:rPr lang="en-GB" sz="1200" baseline="-25000" dirty="0"/>
              <a:t>EM</a:t>
            </a:r>
            <a:r>
              <a:rPr lang="en-GB" sz="1200" dirty="0"/>
              <a:t>) / [ABS(P</a:t>
            </a:r>
            <a:r>
              <a:rPr lang="en-GB" sz="1200" baseline="-25000" dirty="0"/>
              <a:t>EM</a:t>
            </a:r>
            <a:r>
              <a:rPr lang="en-GB" sz="1200" dirty="0"/>
              <a:t>) + ABS(P</a:t>
            </a:r>
            <a:r>
              <a:rPr lang="en-GB" sz="1200" baseline="-25000" dirty="0"/>
              <a:t>ICE</a:t>
            </a:r>
            <a:r>
              <a:rPr lang="en-GB" sz="1200" dirty="0"/>
              <a:t>)] </a:t>
            </a:r>
            <a:br>
              <a:rPr lang="en-GB" sz="1200" dirty="0"/>
            </a:br>
            <a:br>
              <a:rPr lang="en-GB" sz="800" dirty="0"/>
            </a:br>
            <a:r>
              <a:rPr lang="en-GB" sz="1200" dirty="0"/>
              <a:t>with and P</a:t>
            </a:r>
            <a:r>
              <a:rPr lang="en-GB" sz="1200" baseline="-25000" dirty="0"/>
              <a:t>EM</a:t>
            </a:r>
            <a:r>
              <a:rPr lang="en-GB" sz="1200" dirty="0"/>
              <a:t> and P</a:t>
            </a:r>
            <a:r>
              <a:rPr lang="en-GB" sz="1200" baseline="-25000" dirty="0"/>
              <a:t>ICE</a:t>
            </a:r>
            <a:r>
              <a:rPr lang="en-GB" sz="1200" dirty="0"/>
              <a:t> being the mechanical power of EM and ICE</a:t>
            </a:r>
            <a:br>
              <a:rPr lang="en-GB" sz="1200" dirty="0"/>
            </a:br>
            <a:endParaRPr lang="en-GB" sz="700" dirty="0"/>
          </a:p>
          <a:p>
            <a:pPr lvl="2"/>
            <a:r>
              <a:rPr lang="en-GB" sz="1200" dirty="0"/>
              <a:t>Applied electric components conditioning power equals: “table value” multiplied by x</a:t>
            </a:r>
            <a:br>
              <a:rPr lang="en-GB" sz="1200" dirty="0"/>
            </a:br>
            <a:endParaRPr lang="en-GB" sz="600" dirty="0"/>
          </a:p>
          <a:p>
            <a:pPr lvl="2"/>
            <a:r>
              <a:rPr lang="en-GB" sz="1200" dirty="0"/>
              <a:t>For further details please refer to </a:t>
            </a:r>
            <a:r>
              <a:rPr lang="en-GB" sz="1200" b="1" i="1" dirty="0"/>
              <a:t>VECTO-DEV WS#12 18.05.2022 (slide 15ff)</a:t>
            </a:r>
          </a:p>
        </p:txBody>
      </p:sp>
      <p:sp>
        <p:nvSpPr>
          <p:cNvPr id="4" name="Foliennummernplatzhalter 3"/>
          <p:cNvSpPr>
            <a:spLocks noGrp="1"/>
          </p:cNvSpPr>
          <p:nvPr>
            <p:ph type="sldNum" sz="quarter" idx="12"/>
          </p:nvPr>
        </p:nvSpPr>
        <p:spPr/>
        <p:txBody>
          <a:bodyPr/>
          <a:lstStyle/>
          <a:p>
            <a:fld id="{4B64EC4D-37E3-EF42-B9AB-6337577588CB}" type="slidenum">
              <a:rPr lang="de-DE" smtClean="0"/>
              <a:t>8</a:t>
            </a:fld>
            <a:endParaRPr lang="de-DE"/>
          </a:p>
        </p:txBody>
      </p:sp>
      <p:graphicFrame>
        <p:nvGraphicFramePr>
          <p:cNvPr id="7" name="Tabelle 6"/>
          <p:cNvGraphicFramePr>
            <a:graphicFrameLocks noGrp="1"/>
          </p:cNvGraphicFramePr>
          <p:nvPr/>
        </p:nvGraphicFramePr>
        <p:xfrm>
          <a:off x="1292311" y="5077897"/>
          <a:ext cx="7277100" cy="838200"/>
        </p:xfrm>
        <a:graphic>
          <a:graphicData uri="http://schemas.openxmlformats.org/drawingml/2006/table">
            <a:tbl>
              <a:tblPr>
                <a:tableStyleId>{5C22544A-7EE6-4342-B048-85BDC9FD1C3A}</a:tableStyleId>
              </a:tblPr>
              <a:tblGrid>
                <a:gridCol w="1745360">
                  <a:extLst>
                    <a:ext uri="{9D8B030D-6E8A-4147-A177-3AD203B41FA5}">
                      <a16:colId xmlns:a16="http://schemas.microsoft.com/office/drawing/2014/main" val="3885140559"/>
                    </a:ext>
                  </a:extLst>
                </a:gridCol>
                <a:gridCol w="1382935">
                  <a:extLst>
                    <a:ext uri="{9D8B030D-6E8A-4147-A177-3AD203B41FA5}">
                      <a16:colId xmlns:a16="http://schemas.microsoft.com/office/drawing/2014/main" val="1606952657"/>
                    </a:ext>
                  </a:extLst>
                </a:gridCol>
                <a:gridCol w="1382935">
                  <a:extLst>
                    <a:ext uri="{9D8B030D-6E8A-4147-A177-3AD203B41FA5}">
                      <a16:colId xmlns:a16="http://schemas.microsoft.com/office/drawing/2014/main" val="2100958580"/>
                    </a:ext>
                  </a:extLst>
                </a:gridCol>
                <a:gridCol w="1382935">
                  <a:extLst>
                    <a:ext uri="{9D8B030D-6E8A-4147-A177-3AD203B41FA5}">
                      <a16:colId xmlns:a16="http://schemas.microsoft.com/office/drawing/2014/main" val="1215150834"/>
                    </a:ext>
                  </a:extLst>
                </a:gridCol>
                <a:gridCol w="1382935">
                  <a:extLst>
                    <a:ext uri="{9D8B030D-6E8A-4147-A177-3AD203B41FA5}">
                      <a16:colId xmlns:a16="http://schemas.microsoft.com/office/drawing/2014/main" val="4130064881"/>
                    </a:ext>
                  </a:extLst>
                </a:gridCol>
              </a:tblGrid>
              <a:tr h="447675">
                <a:tc gridSpan="5">
                  <a:txBody>
                    <a:bodyPr/>
                    <a:lstStyle/>
                    <a:p>
                      <a:pPr algn="ctr" fontAlgn="b"/>
                      <a:r>
                        <a:rPr lang="en-US" sz="1000" b="1" u="none" strike="noStrike" dirty="0">
                          <a:effectLst/>
                        </a:rPr>
                        <a:t>Electric conditioning power demand</a:t>
                      </a:r>
                      <a:br>
                        <a:rPr lang="en-US" sz="1000" b="1" u="none" strike="noStrike" dirty="0">
                          <a:effectLst/>
                        </a:rPr>
                      </a:br>
                      <a:r>
                        <a:rPr lang="en-US" sz="1000" b="1" u="none" strike="noStrike" dirty="0">
                          <a:effectLst/>
                        </a:rPr>
                        <a:t>applied to electric system [W]</a:t>
                      </a:r>
                      <a:endParaRPr lang="en-US" sz="1000" b="1" i="0" u="none" strike="noStrike" dirty="0">
                        <a:solidFill>
                          <a:srgbClr val="FF0000"/>
                        </a:solidFill>
                        <a:effectLst/>
                        <a:latin typeface="Calibri" panose="020F0502020204030204" pitchFamily="34" charset="0"/>
                      </a:endParaRPr>
                    </a:p>
                  </a:txBody>
                  <a:tcPr marL="0" marR="0" marT="0" marB="0" anchor="ctr"/>
                </a:tc>
                <a:tc hMerge="1">
                  <a:txBody>
                    <a:bodyPr/>
                    <a:lstStyle/>
                    <a:p>
                      <a:endParaRPr lang="de-AT"/>
                    </a:p>
                  </a:txBody>
                  <a:tcPr/>
                </a:tc>
                <a:tc hMerge="1">
                  <a:txBody>
                    <a:bodyPr/>
                    <a:lstStyle/>
                    <a:p>
                      <a:endParaRPr lang="de-AT"/>
                    </a:p>
                  </a:txBody>
                  <a:tcPr/>
                </a:tc>
                <a:tc hMerge="1">
                  <a:txBody>
                    <a:bodyPr/>
                    <a:lstStyle/>
                    <a:p>
                      <a:endParaRPr lang="de-AT"/>
                    </a:p>
                  </a:txBody>
                  <a:tcPr/>
                </a:tc>
                <a:tc hMerge="1">
                  <a:txBody>
                    <a:bodyPr/>
                    <a:lstStyle/>
                    <a:p>
                      <a:endParaRPr lang="de-AT"/>
                    </a:p>
                  </a:txBody>
                  <a:tcPr/>
                </a:tc>
                <a:extLst>
                  <a:ext uri="{0D108BD9-81ED-4DB2-BD59-A6C34878D82A}">
                    <a16:rowId xmlns:a16="http://schemas.microsoft.com/office/drawing/2014/main" val="1532090981"/>
                  </a:ext>
                </a:extLst>
              </a:tr>
              <a:tr h="190500">
                <a:tc>
                  <a:txBody>
                    <a:bodyPr/>
                    <a:lstStyle/>
                    <a:p>
                      <a:pPr algn="ctr" fontAlgn="b"/>
                      <a:r>
                        <a:rPr lang="de-AT" sz="1000" b="1" u="none" strike="noStrike">
                          <a:effectLst/>
                        </a:rPr>
                        <a:t> Long Haul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Regional Delivery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Urban  Delivery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Municipal utility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dirty="0">
                          <a:effectLst/>
                        </a:rPr>
                        <a:t> </a:t>
                      </a:r>
                      <a:r>
                        <a:rPr lang="de-AT" sz="1000" b="1" u="none" strike="noStrike" dirty="0" err="1">
                          <a:effectLst/>
                        </a:rPr>
                        <a:t>Construction</a:t>
                      </a:r>
                      <a:endParaRPr lang="de-AT" sz="10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950272128"/>
                  </a:ext>
                </a:extLst>
              </a:tr>
              <a:tr h="200025">
                <a:tc>
                  <a:txBody>
                    <a:bodyPr/>
                    <a:lstStyle/>
                    <a:p>
                      <a:pPr algn="ctr" fontAlgn="b"/>
                      <a:r>
                        <a:rPr lang="de-AT" sz="1000" b="1" u="none" strike="noStrike">
                          <a:effectLst/>
                        </a:rPr>
                        <a:t>600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600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550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550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dirty="0">
                          <a:effectLst/>
                        </a:rPr>
                        <a:t>600</a:t>
                      </a:r>
                      <a:endParaRPr lang="de-AT" sz="10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792547276"/>
                  </a:ext>
                </a:extLst>
              </a:tr>
            </a:tbl>
          </a:graphicData>
        </a:graphic>
      </p:graphicFrame>
      <p:sp>
        <p:nvSpPr>
          <p:cNvPr id="21" name="Textfeld 20"/>
          <p:cNvSpPr txBox="1"/>
          <p:nvPr/>
        </p:nvSpPr>
        <p:spPr>
          <a:xfrm rot="16200000">
            <a:off x="-577622" y="3443714"/>
            <a:ext cx="1759311" cy="523220"/>
          </a:xfrm>
          <a:prstGeom prst="rect">
            <a:avLst/>
          </a:prstGeom>
          <a:solidFill>
            <a:srgbClr val="F70146"/>
          </a:solidFill>
        </p:spPr>
        <p:txBody>
          <a:bodyPr wrap="square" rtlCol="0">
            <a:spAutoFit/>
          </a:bodyPr>
          <a:lstStyle/>
          <a:p>
            <a:pPr algn="ctr"/>
            <a:r>
              <a:rPr lang="de-AT" sz="1400" b="1" dirty="0">
                <a:solidFill>
                  <a:schemeClr val="bg1"/>
                </a:solidFill>
              </a:rPr>
              <a:t>Fan-Tech.csv + Cond-Table.csv</a:t>
            </a:r>
          </a:p>
        </p:txBody>
      </p:sp>
    </p:spTree>
    <p:extLst>
      <p:ext uri="{BB962C8B-B14F-4D97-AF65-F5344CB8AC3E}">
        <p14:creationId xmlns:p14="http://schemas.microsoft.com/office/powerpoint/2010/main" val="19156437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2828459"/>
          </a:xfrm>
        </p:spPr>
        <p:txBody>
          <a:bodyPr>
            <a:normAutofit fontScale="92500" lnSpcReduction="20000"/>
          </a:bodyPr>
          <a:lstStyle/>
          <a:p>
            <a:r>
              <a:rPr lang="en-US" sz="1800" dirty="0"/>
              <a:t>Basic principles of steering system in DECL</a:t>
            </a:r>
          </a:p>
          <a:p>
            <a:pPr lvl="1"/>
            <a:r>
              <a:rPr lang="de-AT" sz="1400" dirty="0" err="1"/>
              <a:t>Foundation</a:t>
            </a:r>
            <a:r>
              <a:rPr lang="de-AT" sz="1400" dirty="0"/>
              <a:t> </a:t>
            </a:r>
            <a:r>
              <a:rPr lang="de-AT" sz="1400" dirty="0" err="1"/>
              <a:t>of</a:t>
            </a:r>
            <a:r>
              <a:rPr lang="de-AT" sz="1400" dirty="0"/>
              <a:t> </a:t>
            </a:r>
            <a:r>
              <a:rPr lang="de-AT" sz="1400" dirty="0" err="1"/>
              <a:t>approach</a:t>
            </a:r>
            <a:r>
              <a:rPr lang="de-AT" sz="1400" dirty="0"/>
              <a:t> </a:t>
            </a:r>
            <a:r>
              <a:rPr lang="de-AT" sz="1400" dirty="0" err="1"/>
              <a:t>is</a:t>
            </a:r>
            <a:r>
              <a:rPr lang="de-AT" sz="1400" dirty="0"/>
              <a:t> </a:t>
            </a:r>
            <a:r>
              <a:rPr lang="de-AT" sz="1400" dirty="0" err="1"/>
              <a:t>that</a:t>
            </a:r>
            <a:r>
              <a:rPr lang="de-AT" sz="1400" dirty="0"/>
              <a:t> </a:t>
            </a:r>
            <a:r>
              <a:rPr lang="de-AT" sz="1400" dirty="0" err="1"/>
              <a:t>basic</a:t>
            </a:r>
            <a:r>
              <a:rPr lang="de-AT" sz="1400" dirty="0"/>
              <a:t> power </a:t>
            </a:r>
            <a:r>
              <a:rPr lang="de-AT" sz="1400" dirty="0" err="1"/>
              <a:t>demand</a:t>
            </a:r>
            <a:r>
              <a:rPr lang="de-AT" sz="1400" dirty="0"/>
              <a:t> </a:t>
            </a:r>
            <a:r>
              <a:rPr lang="de-AT" sz="1400" dirty="0" err="1"/>
              <a:t>defined</a:t>
            </a:r>
            <a:r>
              <a:rPr lang="de-AT" sz="1400" dirty="0"/>
              <a:t> per </a:t>
            </a:r>
            <a:r>
              <a:rPr lang="de-AT" sz="1400" dirty="0" err="1"/>
              <a:t>cycle</a:t>
            </a:r>
            <a:r>
              <a:rPr lang="de-AT" sz="1400" dirty="0"/>
              <a:t> </a:t>
            </a:r>
            <a:r>
              <a:rPr lang="de-AT" sz="1400" dirty="0" err="1"/>
              <a:t>is</a:t>
            </a:r>
            <a:br>
              <a:rPr lang="de-AT" sz="1400" dirty="0"/>
            </a:br>
            <a:r>
              <a:rPr lang="de-AT" sz="1400" dirty="0" err="1"/>
              <a:t>multiplied</a:t>
            </a:r>
            <a:r>
              <a:rPr lang="de-AT" sz="1400" dirty="0"/>
              <a:t> </a:t>
            </a:r>
            <a:r>
              <a:rPr lang="de-AT" sz="1400" dirty="0" err="1"/>
              <a:t>by</a:t>
            </a:r>
            <a:r>
              <a:rPr lang="de-AT" sz="1400" dirty="0"/>
              <a:t> </a:t>
            </a:r>
            <a:r>
              <a:rPr lang="de-AT" sz="1400" dirty="0" err="1"/>
              <a:t>technology</a:t>
            </a:r>
            <a:r>
              <a:rPr lang="de-AT" sz="1400" dirty="0"/>
              <a:t> </a:t>
            </a:r>
            <a:r>
              <a:rPr lang="de-AT" sz="1400" dirty="0" err="1"/>
              <a:t>dependent</a:t>
            </a:r>
            <a:r>
              <a:rPr lang="de-AT" sz="1400" dirty="0"/>
              <a:t> </a:t>
            </a:r>
            <a:r>
              <a:rPr lang="de-AT" sz="1400" dirty="0" err="1"/>
              <a:t>scaling</a:t>
            </a:r>
            <a:r>
              <a:rPr lang="de-AT" sz="1400" dirty="0"/>
              <a:t> </a:t>
            </a:r>
            <a:r>
              <a:rPr lang="de-AT" sz="1400" dirty="0" err="1"/>
              <a:t>factors</a:t>
            </a:r>
            <a:r>
              <a:rPr lang="de-AT" sz="1400" dirty="0"/>
              <a:t> (CFs)</a:t>
            </a:r>
            <a:br>
              <a:rPr lang="de-AT" sz="1400" dirty="0"/>
            </a:br>
            <a:endParaRPr lang="de-AT" sz="600" dirty="0"/>
          </a:p>
          <a:p>
            <a:pPr lvl="1"/>
            <a:r>
              <a:rPr lang="de-AT" sz="1400" dirty="0"/>
              <a:t>3 sub-groups </a:t>
            </a:r>
            <a:r>
              <a:rPr lang="de-AT" sz="1400" dirty="0" err="1"/>
              <a:t>of</a:t>
            </a:r>
            <a:r>
              <a:rPr lang="de-AT" sz="1400" dirty="0"/>
              <a:t> power </a:t>
            </a:r>
            <a:r>
              <a:rPr lang="de-AT" sz="1400" dirty="0" err="1"/>
              <a:t>demands</a:t>
            </a:r>
            <a:r>
              <a:rPr lang="de-AT" sz="1400" dirty="0"/>
              <a:t> </a:t>
            </a:r>
            <a:r>
              <a:rPr lang="de-AT" sz="1400" dirty="0" err="1"/>
              <a:t>defined</a:t>
            </a:r>
            <a:r>
              <a:rPr lang="de-AT" sz="1400" dirty="0"/>
              <a:t>:</a:t>
            </a:r>
          </a:p>
          <a:p>
            <a:pPr lvl="2"/>
            <a:r>
              <a:rPr lang="de-AT" sz="1200" dirty="0"/>
              <a:t>U&amp;F: </a:t>
            </a:r>
            <a:r>
              <a:rPr lang="de-AT" sz="1200" dirty="0" err="1"/>
              <a:t>unloaded</a:t>
            </a:r>
            <a:r>
              <a:rPr lang="de-AT" sz="1200" dirty="0"/>
              <a:t> </a:t>
            </a:r>
            <a:r>
              <a:rPr lang="de-AT" sz="1200" dirty="0" err="1"/>
              <a:t>and</a:t>
            </a:r>
            <a:r>
              <a:rPr lang="de-AT" sz="1200" dirty="0"/>
              <a:t> </a:t>
            </a:r>
            <a:r>
              <a:rPr lang="de-AT" sz="1200" dirty="0" err="1"/>
              <a:t>friction</a:t>
            </a:r>
            <a:endParaRPr lang="de-AT" sz="1200" dirty="0"/>
          </a:p>
          <a:p>
            <a:pPr lvl="2"/>
            <a:r>
              <a:rPr lang="de-AT" sz="1200" dirty="0"/>
              <a:t>B: </a:t>
            </a:r>
            <a:r>
              <a:rPr lang="de-AT" sz="1200" dirty="0" err="1"/>
              <a:t>banking</a:t>
            </a:r>
            <a:endParaRPr lang="de-AT" sz="1200" dirty="0"/>
          </a:p>
          <a:p>
            <a:pPr lvl="2"/>
            <a:r>
              <a:rPr lang="de-AT" sz="1200" dirty="0"/>
              <a:t>S: </a:t>
            </a:r>
            <a:r>
              <a:rPr lang="de-AT" sz="1200" dirty="0" err="1"/>
              <a:t>steering</a:t>
            </a:r>
            <a:br>
              <a:rPr lang="de-AT" sz="1200" dirty="0"/>
            </a:br>
            <a:endParaRPr lang="de-AT" sz="600" dirty="0"/>
          </a:p>
          <a:p>
            <a:pPr lvl="1"/>
            <a:r>
              <a:rPr lang="de-AT" sz="1400" dirty="0"/>
              <a:t>Total </a:t>
            </a:r>
            <a:r>
              <a:rPr lang="de-AT" sz="1400" dirty="0" err="1"/>
              <a:t>steering</a:t>
            </a:r>
            <a:r>
              <a:rPr lang="de-AT" sz="1400" dirty="0"/>
              <a:t> power </a:t>
            </a:r>
            <a:r>
              <a:rPr lang="de-AT" sz="1400" dirty="0" err="1"/>
              <a:t>acc</a:t>
            </a:r>
            <a:r>
              <a:rPr lang="de-AT" sz="1400" dirty="0"/>
              <a:t>. </a:t>
            </a:r>
            <a:r>
              <a:rPr lang="de-AT" sz="1400" dirty="0" err="1"/>
              <a:t>to</a:t>
            </a:r>
            <a:r>
              <a:rPr lang="de-AT" sz="1400" dirty="0"/>
              <a:t> </a:t>
            </a:r>
            <a:r>
              <a:rPr lang="de-AT" sz="1400" dirty="0" err="1"/>
              <a:t>equation</a:t>
            </a:r>
            <a:r>
              <a:rPr lang="de-AT" sz="1400" dirty="0"/>
              <a:t> </a:t>
            </a:r>
            <a:r>
              <a:rPr lang="de-AT" sz="1400" dirty="0" err="1"/>
              <a:t>below</a:t>
            </a:r>
            <a:r>
              <a:rPr lang="de-AT" sz="1400" dirty="0"/>
              <a:t> </a:t>
            </a:r>
            <a:r>
              <a:rPr lang="de-AT" sz="1400" dirty="0" err="1"/>
              <a:t>is</a:t>
            </a:r>
            <a:r>
              <a:rPr lang="de-AT" sz="1400" dirty="0"/>
              <a:t> </a:t>
            </a:r>
            <a:r>
              <a:rPr lang="de-AT" sz="1400" dirty="0" err="1"/>
              <a:t>calculated</a:t>
            </a:r>
            <a:r>
              <a:rPr lang="de-AT" sz="1400" dirty="0"/>
              <a:t> </a:t>
            </a:r>
            <a:r>
              <a:rPr lang="de-AT" sz="1400" dirty="0" err="1"/>
              <a:t>separately</a:t>
            </a:r>
            <a:r>
              <a:rPr lang="de-AT" sz="1400" dirty="0"/>
              <a:t> </a:t>
            </a:r>
            <a:r>
              <a:rPr lang="de-AT" sz="1400" dirty="0" err="1"/>
              <a:t>for</a:t>
            </a:r>
            <a:br>
              <a:rPr lang="de-AT" sz="1400" dirty="0"/>
            </a:br>
            <a:r>
              <a:rPr lang="de-AT" sz="1400" dirty="0" err="1"/>
              <a:t>mechanical</a:t>
            </a:r>
            <a:r>
              <a:rPr lang="de-AT" sz="1400" dirty="0"/>
              <a:t> </a:t>
            </a:r>
            <a:r>
              <a:rPr lang="de-AT" sz="1400" dirty="0" err="1"/>
              <a:t>and</a:t>
            </a:r>
            <a:r>
              <a:rPr lang="de-AT" sz="1400" dirty="0"/>
              <a:t> </a:t>
            </a:r>
            <a:r>
              <a:rPr lang="de-AT" sz="1400" dirty="0" err="1"/>
              <a:t>electrical</a:t>
            </a:r>
            <a:r>
              <a:rPr lang="de-AT" sz="1400" dirty="0"/>
              <a:t> </a:t>
            </a:r>
            <a:r>
              <a:rPr lang="de-AT" sz="1400" dirty="0" err="1"/>
              <a:t>stering</a:t>
            </a:r>
            <a:r>
              <a:rPr lang="de-AT" sz="1400" dirty="0"/>
              <a:t> power </a:t>
            </a:r>
            <a:r>
              <a:rPr lang="de-AT" sz="1400" dirty="0" err="1"/>
              <a:t>demand</a:t>
            </a:r>
            <a:r>
              <a:rPr lang="de-AT" sz="1400" dirty="0"/>
              <a:t>:</a:t>
            </a:r>
          </a:p>
          <a:p>
            <a:pPr lvl="2"/>
            <a:r>
              <a:rPr lang="de-AT" sz="1050" dirty="0"/>
              <a:t>All CFs </a:t>
            </a:r>
            <a:r>
              <a:rPr lang="de-AT" sz="1050" dirty="0" err="1"/>
              <a:t>are</a:t>
            </a:r>
            <a:r>
              <a:rPr lang="de-AT" sz="1050" dirty="0"/>
              <a:t> </a:t>
            </a:r>
            <a:r>
              <a:rPr lang="de-AT" sz="1050" dirty="0" err="1"/>
              <a:t>averaged</a:t>
            </a:r>
            <a:r>
              <a:rPr lang="de-AT" sz="1050" dirty="0"/>
              <a:t> </a:t>
            </a:r>
            <a:r>
              <a:rPr lang="de-AT" sz="1050" dirty="0" err="1"/>
              <a:t>over</a:t>
            </a:r>
            <a:r>
              <a:rPr lang="de-AT" sz="1050" dirty="0"/>
              <a:t> all </a:t>
            </a:r>
            <a:r>
              <a:rPr lang="de-AT" sz="1050" dirty="0" err="1"/>
              <a:t>steered</a:t>
            </a:r>
            <a:r>
              <a:rPr lang="de-AT" sz="1050" dirty="0"/>
              <a:t> </a:t>
            </a:r>
            <a:r>
              <a:rPr lang="de-AT" sz="1050" dirty="0" err="1"/>
              <a:t>axles</a:t>
            </a:r>
            <a:r>
              <a:rPr lang="de-AT" sz="1050" dirty="0"/>
              <a:t> </a:t>
            </a:r>
            <a:r>
              <a:rPr lang="de-AT" sz="1050" dirty="0" err="1"/>
              <a:t>with</a:t>
            </a:r>
            <a:r>
              <a:rPr lang="de-AT" sz="1050" dirty="0"/>
              <a:t> </a:t>
            </a:r>
            <a:r>
              <a:rPr lang="de-AT" sz="1050" dirty="0" err="1"/>
              <a:t>electric</a:t>
            </a:r>
            <a:r>
              <a:rPr lang="de-AT" sz="1050" dirty="0"/>
              <a:t> </a:t>
            </a:r>
            <a:r>
              <a:rPr lang="de-AT" sz="1050" dirty="0" err="1"/>
              <a:t>technology</a:t>
            </a:r>
            <a:endParaRPr lang="de-AT" sz="1050" dirty="0"/>
          </a:p>
          <a:p>
            <a:pPr lvl="2"/>
            <a:r>
              <a:rPr lang="de-AT" sz="1050" dirty="0"/>
              <a:t>All CFs </a:t>
            </a:r>
            <a:r>
              <a:rPr lang="de-AT" sz="1050" dirty="0" err="1"/>
              <a:t>are</a:t>
            </a:r>
            <a:r>
              <a:rPr lang="de-AT" sz="1050" dirty="0"/>
              <a:t> </a:t>
            </a:r>
            <a:r>
              <a:rPr lang="de-AT" sz="1050" dirty="0" err="1"/>
              <a:t>averaged</a:t>
            </a:r>
            <a:r>
              <a:rPr lang="de-AT" sz="1050" dirty="0"/>
              <a:t> </a:t>
            </a:r>
            <a:r>
              <a:rPr lang="de-AT" sz="1050" dirty="0" err="1"/>
              <a:t>over</a:t>
            </a:r>
            <a:r>
              <a:rPr lang="de-AT" sz="1050" dirty="0"/>
              <a:t> all </a:t>
            </a:r>
            <a:r>
              <a:rPr lang="de-AT" sz="1050" dirty="0" err="1"/>
              <a:t>steered</a:t>
            </a:r>
            <a:r>
              <a:rPr lang="de-AT" sz="1050" dirty="0"/>
              <a:t> </a:t>
            </a:r>
            <a:r>
              <a:rPr lang="de-AT" sz="1050" dirty="0" err="1"/>
              <a:t>axles</a:t>
            </a:r>
            <a:r>
              <a:rPr lang="de-AT" sz="1050" dirty="0"/>
              <a:t> </a:t>
            </a:r>
            <a:r>
              <a:rPr lang="de-AT" sz="1050" dirty="0" err="1"/>
              <a:t>with</a:t>
            </a:r>
            <a:r>
              <a:rPr lang="de-AT" sz="1050" dirty="0"/>
              <a:t> </a:t>
            </a:r>
            <a:r>
              <a:rPr lang="de-AT" sz="1050" dirty="0" err="1"/>
              <a:t>mechanical</a:t>
            </a:r>
            <a:r>
              <a:rPr lang="de-AT" sz="1050" dirty="0"/>
              <a:t> </a:t>
            </a:r>
            <a:r>
              <a:rPr lang="de-AT" sz="1050" dirty="0" err="1"/>
              <a:t>technology</a:t>
            </a:r>
            <a:br>
              <a:rPr lang="en-GB" sz="1050"/>
            </a:br>
            <a:br>
              <a:rPr lang="en-GB" sz="1050"/>
            </a:br>
            <a:br>
              <a:rPr lang="en-GB" sz="1050"/>
            </a:br>
            <a:endParaRPr lang="en-GB" sz="1050"/>
          </a:p>
          <a:p>
            <a:pPr lvl="1"/>
            <a:r>
              <a:rPr lang="en-US" sz="1400"/>
              <a:t>If all axles are electric technologies, total steering power is applied as electrical power to REESS</a:t>
            </a:r>
          </a:p>
          <a:p>
            <a:pPr lvl="1"/>
            <a:r>
              <a:rPr lang="en-US" sz="1400" dirty="0"/>
              <a:t>With at least one mechanical </a:t>
            </a:r>
            <a:r>
              <a:rPr lang="en-US" sz="1400" dirty="0" err="1"/>
              <a:t>techn</a:t>
            </a:r>
            <a:r>
              <a:rPr lang="en-US" sz="1400" dirty="0"/>
              <a:t>. present, total steering power is applied as mechanical load</a:t>
            </a:r>
            <a:endParaRPr lang="de-AT" sz="1400"/>
          </a:p>
        </p:txBody>
      </p:sp>
      <p:sp>
        <p:nvSpPr>
          <p:cNvPr id="4" name="Foliennummernplatzhalter 3"/>
          <p:cNvSpPr>
            <a:spLocks noGrp="1"/>
          </p:cNvSpPr>
          <p:nvPr>
            <p:ph type="sldNum" sz="quarter" idx="12"/>
          </p:nvPr>
        </p:nvSpPr>
        <p:spPr/>
        <p:txBody>
          <a:bodyPr/>
          <a:lstStyle/>
          <a:p>
            <a:fld id="{4B64EC4D-37E3-EF42-B9AB-6337577588CB}" type="slidenum">
              <a:rPr lang="de-DE" smtClean="0"/>
              <a:t>9</a:t>
            </a:fld>
            <a:endParaRPr lang="de-DE"/>
          </a:p>
        </p:txBody>
      </p:sp>
      <p:pic>
        <p:nvPicPr>
          <p:cNvPr id="5" name="Grafik 4"/>
          <p:cNvPicPr>
            <a:picLocks noChangeAspect="1"/>
          </p:cNvPicPr>
          <p:nvPr/>
        </p:nvPicPr>
        <p:blipFill>
          <a:blip r:embed="rId2"/>
          <a:stretch>
            <a:fillRect/>
          </a:stretch>
        </p:blipFill>
        <p:spPr>
          <a:xfrm>
            <a:off x="1754659" y="4905198"/>
            <a:ext cx="4020977" cy="224548"/>
          </a:xfrm>
          <a:prstGeom prst="rect">
            <a:avLst/>
          </a:prstGeom>
        </p:spPr>
      </p:pic>
      <p:sp>
        <p:nvSpPr>
          <p:cNvPr id="17" name="Textfeld 16"/>
          <p:cNvSpPr txBox="1"/>
          <p:nvPr/>
        </p:nvSpPr>
        <p:spPr>
          <a:xfrm rot="16200000">
            <a:off x="-478772" y="3335992"/>
            <a:ext cx="1759311" cy="738664"/>
          </a:xfrm>
          <a:prstGeom prst="rect">
            <a:avLst/>
          </a:prstGeom>
          <a:solidFill>
            <a:srgbClr val="F70146"/>
          </a:solidFill>
        </p:spPr>
        <p:txBody>
          <a:bodyPr wrap="square" rtlCol="0">
            <a:spAutoFit/>
          </a:bodyPr>
          <a:lstStyle/>
          <a:p>
            <a:pPr algn="ctr"/>
            <a:r>
              <a:rPr lang="de-AT" sz="1400" b="1" dirty="0">
                <a:solidFill>
                  <a:schemeClr val="bg1"/>
                </a:solidFill>
              </a:rPr>
              <a:t>SP-Tech.csv +</a:t>
            </a:r>
            <a:br>
              <a:rPr lang="de-AT" sz="1400" b="1" dirty="0">
                <a:solidFill>
                  <a:schemeClr val="bg1"/>
                </a:solidFill>
              </a:rPr>
            </a:br>
            <a:r>
              <a:rPr lang="de-AT" sz="1400" b="1" dirty="0">
                <a:solidFill>
                  <a:schemeClr val="bg1"/>
                </a:solidFill>
              </a:rPr>
              <a:t>SP-Table.csv +</a:t>
            </a:r>
            <a:br>
              <a:rPr lang="de-AT" sz="1400" b="1" dirty="0">
                <a:solidFill>
                  <a:schemeClr val="bg1"/>
                </a:solidFill>
              </a:rPr>
            </a:br>
            <a:r>
              <a:rPr lang="de-AT" sz="1400" b="1" dirty="0">
                <a:solidFill>
                  <a:schemeClr val="bg1"/>
                </a:solidFill>
              </a:rPr>
              <a:t>SP-Axles.csv</a:t>
            </a:r>
          </a:p>
        </p:txBody>
      </p:sp>
    </p:spTree>
    <p:extLst>
      <p:ext uri="{BB962C8B-B14F-4D97-AF65-F5344CB8AC3E}">
        <p14:creationId xmlns:p14="http://schemas.microsoft.com/office/powerpoint/2010/main" val="1839066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2828459"/>
          </a:xfrm>
        </p:spPr>
        <p:txBody>
          <a:bodyPr/>
          <a:lstStyle/>
          <a:p>
            <a:r>
              <a:rPr lang="en-US" sz="1800" dirty="0"/>
              <a:t>Basic principles </a:t>
            </a:r>
            <a:r>
              <a:rPr lang="en-US" sz="1800"/>
              <a:t>of HVAC </a:t>
            </a:r>
            <a:r>
              <a:rPr lang="en-US" sz="1800" dirty="0"/>
              <a:t>system in DECL</a:t>
            </a:r>
          </a:p>
          <a:p>
            <a:pPr lvl="1"/>
            <a:r>
              <a:rPr lang="de-AT" sz="1400" b="1" u="sng"/>
              <a:t>Conventional </a:t>
            </a:r>
            <a:r>
              <a:rPr lang="de-AT" sz="1400" b="1" u="sng" err="1"/>
              <a:t>and</a:t>
            </a:r>
            <a:r>
              <a:rPr lang="de-AT" sz="1400" b="1" u="sng"/>
              <a:t> P-HEV:</a:t>
            </a:r>
            <a:endParaRPr lang="de-AT" sz="1400" dirty="0"/>
          </a:p>
          <a:p>
            <a:pPr lvl="2"/>
            <a:r>
              <a:rPr lang="de-AT" sz="1400" dirty="0"/>
              <a:t>HVAC </a:t>
            </a:r>
            <a:r>
              <a:rPr lang="de-AT" sz="1400" dirty="0" err="1"/>
              <a:t>load</a:t>
            </a:r>
            <a:r>
              <a:rPr lang="de-AT" sz="1400" dirty="0"/>
              <a:t> </a:t>
            </a:r>
            <a:r>
              <a:rPr lang="de-AT" sz="1400" dirty="0" err="1"/>
              <a:t>is</a:t>
            </a:r>
            <a:r>
              <a:rPr lang="de-AT" sz="1400" dirty="0"/>
              <a:t> </a:t>
            </a:r>
            <a:r>
              <a:rPr lang="de-AT" sz="1400" dirty="0" err="1"/>
              <a:t>applied</a:t>
            </a:r>
            <a:r>
              <a:rPr lang="de-AT" sz="1400" dirty="0"/>
              <a:t> </a:t>
            </a:r>
            <a:r>
              <a:rPr lang="de-AT" sz="1400" dirty="0" err="1"/>
              <a:t>as</a:t>
            </a:r>
            <a:r>
              <a:rPr lang="de-AT" sz="1400" dirty="0"/>
              <a:t> </a:t>
            </a:r>
            <a:r>
              <a:rPr lang="de-AT" sz="1400" dirty="0" err="1"/>
              <a:t>mechanical</a:t>
            </a:r>
            <a:r>
              <a:rPr lang="de-AT" sz="1400" dirty="0"/>
              <a:t> </a:t>
            </a:r>
            <a:r>
              <a:rPr lang="de-AT" sz="1400" dirty="0" err="1"/>
              <a:t>auxiliary</a:t>
            </a:r>
            <a:br>
              <a:rPr lang="de-AT" sz="1400" dirty="0"/>
            </a:br>
            <a:endParaRPr lang="de-AT" sz="1400" dirty="0"/>
          </a:p>
          <a:p>
            <a:pPr lvl="1"/>
            <a:r>
              <a:rPr lang="de-AT" sz="1400" b="1" u="sng" dirty="0"/>
              <a:t>S-HEV </a:t>
            </a:r>
            <a:r>
              <a:rPr lang="de-AT" sz="1400" b="1" u="sng" dirty="0" err="1"/>
              <a:t>and</a:t>
            </a:r>
            <a:r>
              <a:rPr lang="de-AT" sz="1400" b="1" u="sng" dirty="0"/>
              <a:t> PEV:</a:t>
            </a:r>
            <a:endParaRPr lang="de-AT" sz="1400" dirty="0"/>
          </a:p>
          <a:p>
            <a:pPr lvl="2"/>
            <a:r>
              <a:rPr lang="de-AT" sz="1400" dirty="0"/>
              <a:t>HVAC </a:t>
            </a:r>
            <a:r>
              <a:rPr lang="de-AT" sz="1400" dirty="0" err="1"/>
              <a:t>load</a:t>
            </a:r>
            <a:r>
              <a:rPr lang="de-AT" sz="1400" dirty="0"/>
              <a:t> </a:t>
            </a:r>
            <a:r>
              <a:rPr lang="de-AT" sz="1400" dirty="0" err="1"/>
              <a:t>is</a:t>
            </a:r>
            <a:r>
              <a:rPr lang="de-AT" sz="1400" dirty="0"/>
              <a:t> </a:t>
            </a:r>
            <a:r>
              <a:rPr lang="de-AT" sz="1400" dirty="0" err="1"/>
              <a:t>applied</a:t>
            </a:r>
            <a:r>
              <a:rPr lang="de-AT" sz="1400" dirty="0"/>
              <a:t> </a:t>
            </a:r>
            <a:r>
              <a:rPr lang="de-AT" sz="1400" dirty="0" err="1"/>
              <a:t>as</a:t>
            </a:r>
            <a:r>
              <a:rPr lang="de-AT" sz="1400" dirty="0"/>
              <a:t> </a:t>
            </a:r>
            <a:r>
              <a:rPr lang="de-AT" sz="1400" dirty="0" err="1"/>
              <a:t>electrical</a:t>
            </a:r>
            <a:r>
              <a:rPr lang="de-AT" sz="1400" dirty="0"/>
              <a:t> </a:t>
            </a:r>
            <a:r>
              <a:rPr lang="de-AT" sz="1400" dirty="0" err="1"/>
              <a:t>auxiliary</a:t>
            </a:r>
            <a:endParaRPr lang="de-AT" sz="1400" dirty="0"/>
          </a:p>
          <a:p>
            <a:pPr lvl="2"/>
            <a:r>
              <a:rPr lang="de-AT" sz="1400" dirty="0" err="1"/>
              <a:t>Conversion</a:t>
            </a:r>
            <a:r>
              <a:rPr lang="de-AT" sz="1400" dirty="0"/>
              <a:t> </a:t>
            </a:r>
            <a:r>
              <a:rPr lang="de-AT" sz="1400" dirty="0" err="1"/>
              <a:t>from</a:t>
            </a:r>
            <a:r>
              <a:rPr lang="de-AT" sz="1400" dirty="0"/>
              <a:t> </a:t>
            </a:r>
            <a:r>
              <a:rPr lang="de-AT" sz="1400" dirty="0" err="1"/>
              <a:t>mechanical</a:t>
            </a:r>
            <a:r>
              <a:rPr lang="de-AT" sz="1400" dirty="0"/>
              <a:t> </a:t>
            </a:r>
            <a:r>
              <a:rPr lang="de-AT" sz="1400" dirty="0" err="1"/>
              <a:t>to</a:t>
            </a:r>
            <a:r>
              <a:rPr lang="de-AT" sz="1400" dirty="0"/>
              <a:t> </a:t>
            </a:r>
            <a:r>
              <a:rPr lang="de-AT" sz="1400" dirty="0" err="1"/>
              <a:t>electrical</a:t>
            </a:r>
            <a:r>
              <a:rPr lang="de-AT" sz="1400" dirty="0"/>
              <a:t> </a:t>
            </a:r>
            <a:r>
              <a:rPr lang="de-AT" sz="1400" dirty="0" err="1"/>
              <a:t>is</a:t>
            </a:r>
            <a:r>
              <a:rPr lang="de-AT" sz="1400" dirty="0"/>
              <a:t> </a:t>
            </a:r>
            <a:r>
              <a:rPr lang="de-AT" sz="1400" dirty="0" err="1"/>
              <a:t>done</a:t>
            </a:r>
            <a:r>
              <a:rPr lang="de-AT" sz="1400" dirty="0"/>
              <a:t> </a:t>
            </a:r>
            <a:r>
              <a:rPr lang="de-AT" sz="1400" dirty="0" err="1"/>
              <a:t>by</a:t>
            </a:r>
            <a:r>
              <a:rPr lang="de-AT" sz="1400" dirty="0"/>
              <a:t> </a:t>
            </a:r>
            <a:r>
              <a:rPr lang="de-AT" sz="1400" dirty="0" err="1"/>
              <a:t>dividing</a:t>
            </a:r>
            <a:r>
              <a:rPr lang="de-AT" sz="1400" dirty="0"/>
              <a:t> </a:t>
            </a:r>
            <a:r>
              <a:rPr lang="de-AT" sz="1400" dirty="0" err="1"/>
              <a:t>mechanical</a:t>
            </a:r>
            <a:r>
              <a:rPr lang="de-AT" sz="1400" dirty="0"/>
              <a:t> </a:t>
            </a:r>
            <a:r>
              <a:rPr lang="de-AT" sz="1400" dirty="0" err="1"/>
              <a:t>base</a:t>
            </a:r>
            <a:r>
              <a:rPr lang="de-AT" sz="1400" dirty="0"/>
              <a:t> power </a:t>
            </a:r>
            <a:r>
              <a:rPr lang="de-AT" sz="1400" dirty="0" err="1"/>
              <a:t>by</a:t>
            </a:r>
            <a:r>
              <a:rPr lang="de-AT" sz="1400" dirty="0"/>
              <a:t> </a:t>
            </a:r>
            <a:r>
              <a:rPr lang="de-AT" sz="1400" dirty="0" err="1"/>
              <a:t>generic</a:t>
            </a:r>
            <a:r>
              <a:rPr lang="de-AT" sz="1400" dirty="0"/>
              <a:t> </a:t>
            </a:r>
            <a:r>
              <a:rPr lang="de-AT" sz="1400" dirty="0" err="1"/>
              <a:t>efficiency</a:t>
            </a:r>
            <a:r>
              <a:rPr lang="de-AT" sz="1400" dirty="0"/>
              <a:t> </a:t>
            </a:r>
            <a:r>
              <a:rPr lang="de-AT" sz="1400" dirty="0" err="1"/>
              <a:t>of</a:t>
            </a:r>
            <a:r>
              <a:rPr lang="de-AT" sz="1400" dirty="0"/>
              <a:t> 0.8</a:t>
            </a:r>
          </a:p>
        </p:txBody>
      </p:sp>
      <p:sp>
        <p:nvSpPr>
          <p:cNvPr id="4" name="Foliennummernplatzhalter 3"/>
          <p:cNvSpPr>
            <a:spLocks noGrp="1"/>
          </p:cNvSpPr>
          <p:nvPr>
            <p:ph type="sldNum" sz="quarter" idx="12"/>
          </p:nvPr>
        </p:nvSpPr>
        <p:spPr/>
        <p:txBody>
          <a:bodyPr/>
          <a:lstStyle/>
          <a:p>
            <a:fld id="{4B64EC4D-37E3-EF42-B9AB-6337577588CB}" type="slidenum">
              <a:rPr lang="de-DE" smtClean="0"/>
              <a:t>10</a:t>
            </a:fld>
            <a:endParaRPr lang="de-DE"/>
          </a:p>
        </p:txBody>
      </p:sp>
      <p:sp>
        <p:nvSpPr>
          <p:cNvPr id="17" name="Textfeld 16"/>
          <p:cNvSpPr txBox="1"/>
          <p:nvPr/>
        </p:nvSpPr>
        <p:spPr>
          <a:xfrm rot="16200000">
            <a:off x="-620870" y="3551436"/>
            <a:ext cx="1759311" cy="307777"/>
          </a:xfrm>
          <a:prstGeom prst="rect">
            <a:avLst/>
          </a:prstGeom>
          <a:solidFill>
            <a:srgbClr val="F70146"/>
          </a:solidFill>
        </p:spPr>
        <p:txBody>
          <a:bodyPr wrap="square" rtlCol="0">
            <a:spAutoFit/>
          </a:bodyPr>
          <a:lstStyle/>
          <a:p>
            <a:pPr algn="ctr"/>
            <a:r>
              <a:rPr lang="de-AT" sz="1400" b="1" dirty="0">
                <a:solidFill>
                  <a:schemeClr val="bg1"/>
                </a:solidFill>
              </a:rPr>
              <a:t>HVAC-Table.csv</a:t>
            </a:r>
          </a:p>
        </p:txBody>
      </p:sp>
    </p:spTree>
    <p:extLst>
      <p:ext uri="{BB962C8B-B14F-4D97-AF65-F5344CB8AC3E}">
        <p14:creationId xmlns:p14="http://schemas.microsoft.com/office/powerpoint/2010/main" val="1018428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p:txBody>
          <a:bodyPr/>
          <a:lstStyle/>
          <a:p>
            <a:r>
              <a:rPr lang="en-US" sz="1800" dirty="0"/>
              <a:t>General remark about post-processing of “missing” auxiliary power demand for mechanically driven auxiliaries in </a:t>
            </a:r>
            <a:r>
              <a:rPr lang="en-US" sz="1800" dirty="0" err="1"/>
              <a:t>timesteps</a:t>
            </a:r>
            <a:r>
              <a:rPr lang="en-US" sz="1800" dirty="0"/>
              <a:t> where the ICE is off:</a:t>
            </a:r>
          </a:p>
          <a:p>
            <a:pPr lvl="1"/>
            <a:r>
              <a:rPr lang="en-US" sz="1600" dirty="0"/>
              <a:t>These topic is related to “Utility Factor (UF) for Engine-Stop-Start (ESS)”</a:t>
            </a:r>
            <a:br>
              <a:rPr lang="en-US" sz="1600" dirty="0"/>
            </a:br>
            <a:endParaRPr lang="en-US" sz="800" dirty="0"/>
          </a:p>
          <a:p>
            <a:pPr lvl="1"/>
            <a:r>
              <a:rPr lang="en-US" sz="1600" dirty="0"/>
              <a:t>For lorries only the very simple case is relevant (application case 1)</a:t>
            </a:r>
            <a:br>
              <a:rPr lang="en-US" sz="1600" dirty="0"/>
            </a:br>
            <a:endParaRPr lang="en-US" sz="800" dirty="0"/>
          </a:p>
          <a:p>
            <a:pPr lvl="1"/>
            <a:r>
              <a:rPr lang="en-US" sz="1600" dirty="0"/>
              <a:t>Basic rule: for auxiliaries operated</a:t>
            </a:r>
            <a:br>
              <a:rPr lang="en-US" sz="1600" dirty="0"/>
            </a:br>
            <a:r>
              <a:rPr lang="en-US" sz="1600" dirty="0"/>
              <a:t>independently of ICE status energy demand</a:t>
            </a:r>
            <a:br>
              <a:rPr lang="en-US" sz="1600" dirty="0"/>
            </a:br>
            <a:r>
              <a:rPr lang="en-US" sz="1600" dirty="0"/>
              <a:t>over cycle is the same with missing portion </a:t>
            </a:r>
            <a:br>
              <a:rPr lang="en-US" sz="1600" dirty="0"/>
            </a:br>
            <a:r>
              <a:rPr lang="en-US" sz="1600" dirty="0"/>
              <a:t>being accounted for in post-processing</a:t>
            </a:r>
            <a:br>
              <a:rPr lang="en-US" sz="1600" dirty="0"/>
            </a:br>
            <a:endParaRPr lang="en-US" sz="800" dirty="0"/>
          </a:p>
          <a:p>
            <a:pPr lvl="1"/>
            <a:r>
              <a:rPr lang="en-GB" sz="1600" dirty="0"/>
              <a:t>For further details please refer to:</a:t>
            </a:r>
            <a:br>
              <a:rPr lang="en-GB" sz="1600" dirty="0"/>
            </a:br>
            <a:r>
              <a:rPr lang="en-GB" sz="1600" b="1" i="1" dirty="0"/>
              <a:t>VECTO-DEV WS#6 12.07.2021 (slide 7ff)</a:t>
            </a:r>
          </a:p>
        </p:txBody>
      </p:sp>
      <p:sp>
        <p:nvSpPr>
          <p:cNvPr id="4" name="Foliennummernplatzhalter 3"/>
          <p:cNvSpPr>
            <a:spLocks noGrp="1"/>
          </p:cNvSpPr>
          <p:nvPr>
            <p:ph type="sldNum" sz="quarter" idx="12"/>
          </p:nvPr>
        </p:nvSpPr>
        <p:spPr/>
        <p:txBody>
          <a:bodyPr/>
          <a:lstStyle/>
          <a:p>
            <a:fld id="{4B64EC4D-37E3-EF42-B9AB-6337577588CB}" type="slidenum">
              <a:rPr lang="de-DE" smtClean="0"/>
              <a:t>11</a:t>
            </a:fld>
            <a:endParaRPr lang="de-DE"/>
          </a:p>
        </p:txBody>
      </p:sp>
      <p:pic>
        <p:nvPicPr>
          <p:cNvPr id="7" name="Grafik 6"/>
          <p:cNvPicPr>
            <a:picLocks noChangeAspect="1"/>
          </p:cNvPicPr>
          <p:nvPr/>
        </p:nvPicPr>
        <p:blipFill>
          <a:blip r:embed="rId2"/>
          <a:stretch>
            <a:fillRect/>
          </a:stretch>
        </p:blipFill>
        <p:spPr>
          <a:xfrm>
            <a:off x="5438698" y="3884656"/>
            <a:ext cx="3683331" cy="2085491"/>
          </a:xfrm>
          <a:prstGeom prst="rect">
            <a:avLst/>
          </a:prstGeom>
        </p:spPr>
      </p:pic>
    </p:spTree>
    <p:extLst>
      <p:ext uri="{BB962C8B-B14F-4D97-AF65-F5344CB8AC3E}">
        <p14:creationId xmlns:p14="http://schemas.microsoft.com/office/powerpoint/2010/main" val="23285861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Operation in Charge sustaining (CS) mode</a:t>
            </a:r>
          </a:p>
          <a:p>
            <a:pPr lvl="1"/>
            <a:r>
              <a:rPr lang="en-US" sz="1400" dirty="0"/>
              <a:t>Fixed number of 3 simulations to determine optimal strategy parameters done automatically</a:t>
            </a:r>
            <a:br>
              <a:rPr lang="en-US" sz="1400" dirty="0"/>
            </a:br>
            <a:endParaRPr lang="en-US" sz="600" dirty="0"/>
          </a:p>
          <a:p>
            <a:pPr lvl="1"/>
            <a:r>
              <a:rPr lang="en-US" sz="1400" b="1" u="sng" dirty="0"/>
              <a:t>1</a:t>
            </a:r>
            <a:r>
              <a:rPr lang="en-US" sz="1400" b="1" u="sng" baseline="30000" dirty="0"/>
              <a:t>st</a:t>
            </a:r>
            <a:r>
              <a:rPr lang="en-US" sz="1400" b="1" u="sng" dirty="0"/>
              <a:t> run:</a:t>
            </a:r>
            <a:r>
              <a:rPr lang="en-US" sz="1400" dirty="0"/>
              <a:t> generic start value for equivalence factor (EF) depending on vehicle group, mission, payload and usable SOC range applied</a:t>
            </a:r>
          </a:p>
          <a:p>
            <a:pPr lvl="2"/>
            <a:r>
              <a:rPr lang="en-US" sz="1200" dirty="0"/>
              <a:t>refer to \Declaration\</a:t>
            </a:r>
            <a:r>
              <a:rPr lang="en-US" sz="1200" dirty="0" err="1"/>
              <a:t>HEVParameters</a:t>
            </a:r>
            <a:r>
              <a:rPr lang="en-US" sz="1200" dirty="0"/>
              <a:t>\Lorry\HEV_Strategy_Parameters_fequiv_</a:t>
            </a:r>
            <a:r>
              <a:rPr lang="en-US" sz="1200" b="1" dirty="0">
                <a:solidFill>
                  <a:srgbClr val="FF0000"/>
                </a:solidFill>
              </a:rPr>
              <a:t>XX</a:t>
            </a:r>
            <a:r>
              <a:rPr lang="en-US" sz="1200" dirty="0"/>
              <a:t>soc.csv</a:t>
            </a:r>
          </a:p>
          <a:p>
            <a:pPr lvl="2"/>
            <a:r>
              <a:rPr lang="en-US" sz="1200" b="1" dirty="0">
                <a:solidFill>
                  <a:srgbClr val="FF0000"/>
                </a:solidFill>
              </a:rPr>
              <a:t>XX</a:t>
            </a:r>
            <a:r>
              <a:rPr lang="en-US" sz="1200" dirty="0"/>
              <a:t> = 10, 20 or 40 depending on usable SOC range in percent (interpolation, no extrapolation)</a:t>
            </a:r>
            <a:br>
              <a:rPr lang="en-US" sz="1200" dirty="0"/>
            </a:br>
            <a:endParaRPr lang="en-US" sz="600" dirty="0"/>
          </a:p>
          <a:p>
            <a:pPr lvl="1"/>
            <a:r>
              <a:rPr lang="en-US" sz="1400" b="1" u="sng" dirty="0"/>
              <a:t>2</a:t>
            </a:r>
            <a:r>
              <a:rPr lang="en-US" sz="1400" b="1" u="sng" baseline="30000" dirty="0"/>
              <a:t>nd</a:t>
            </a:r>
            <a:r>
              <a:rPr lang="en-US" sz="1400" b="1" u="sng" dirty="0"/>
              <a:t> run:</a:t>
            </a:r>
            <a:r>
              <a:rPr lang="en-US" sz="1400" dirty="0"/>
              <a:t> from resulting </a:t>
            </a:r>
            <a:r>
              <a:rPr lang="en-US" sz="1400" dirty="0">
                <a:cs typeface="Calibri" panose="020F0502020204030204" pitchFamily="34" charset="0"/>
              </a:rPr>
              <a:t>∆SOC</a:t>
            </a:r>
            <a:r>
              <a:rPr lang="en-US" sz="1400" baseline="-25000" dirty="0">
                <a:cs typeface="Calibri" panose="020F0502020204030204" pitchFamily="34" charset="0"/>
              </a:rPr>
              <a:t>1</a:t>
            </a:r>
            <a:r>
              <a:rPr lang="en-US" sz="1400" dirty="0">
                <a:cs typeface="Calibri" panose="020F0502020204030204" pitchFamily="34" charset="0"/>
              </a:rPr>
              <a:t> of 1</a:t>
            </a:r>
            <a:r>
              <a:rPr lang="en-US" sz="1400" baseline="30000" dirty="0">
                <a:cs typeface="Calibri" panose="020F0502020204030204" pitchFamily="34" charset="0"/>
              </a:rPr>
              <a:t>st</a:t>
            </a:r>
            <a:r>
              <a:rPr lang="en-US" sz="1400" dirty="0">
                <a:cs typeface="Calibri" panose="020F0502020204030204" pitchFamily="34" charset="0"/>
              </a:rPr>
              <a:t> run (∆SOC = </a:t>
            </a:r>
            <a:r>
              <a:rPr lang="en-US" sz="1400" dirty="0" err="1">
                <a:cs typeface="Calibri" panose="020F0502020204030204" pitchFamily="34" charset="0"/>
              </a:rPr>
              <a:t>SOC</a:t>
            </a:r>
            <a:r>
              <a:rPr lang="en-US" sz="1400" baseline="-25000" dirty="0" err="1">
                <a:cs typeface="Calibri" panose="020F0502020204030204" pitchFamily="34" charset="0"/>
              </a:rPr>
              <a:t>End</a:t>
            </a:r>
            <a:r>
              <a:rPr lang="en-US" sz="1400" dirty="0">
                <a:cs typeface="Calibri" panose="020F0502020204030204" pitchFamily="34" charset="0"/>
              </a:rPr>
              <a:t> – </a:t>
            </a:r>
            <a:r>
              <a:rPr lang="en-US" sz="1400" dirty="0" err="1">
                <a:cs typeface="Calibri" panose="020F0502020204030204" pitchFamily="34" charset="0"/>
              </a:rPr>
              <a:t>SOC</a:t>
            </a:r>
            <a:r>
              <a:rPr lang="en-US" sz="1400" baseline="-25000" dirty="0" err="1">
                <a:cs typeface="Calibri" panose="020F0502020204030204" pitchFamily="34" charset="0"/>
              </a:rPr>
              <a:t>Start</a:t>
            </a:r>
            <a:r>
              <a:rPr lang="en-US" sz="1400" dirty="0">
                <a:cs typeface="Calibri" panose="020F0502020204030204" pitchFamily="34" charset="0"/>
              </a:rPr>
              <a:t>) new </a:t>
            </a:r>
            <a:r>
              <a:rPr lang="en-US" sz="1400" dirty="0"/>
              <a:t>EF is calculated according to following equations:</a:t>
            </a:r>
          </a:p>
          <a:p>
            <a:pPr marL="898525" lvl="2" indent="0">
              <a:buNone/>
            </a:pPr>
            <a:br>
              <a:rPr lang="en-US" sz="1200" dirty="0">
                <a:cs typeface="Calibri" panose="020F0502020204030204" pitchFamily="34" charset="0"/>
              </a:rPr>
            </a:br>
            <a:br>
              <a:rPr lang="en-US" sz="1200" dirty="0">
                <a:cs typeface="Calibri" panose="020F0502020204030204" pitchFamily="34" charset="0"/>
              </a:rPr>
            </a:br>
            <a:br>
              <a:rPr lang="en-US" sz="1200" dirty="0">
                <a:cs typeface="Calibri" panose="020F0502020204030204" pitchFamily="34" charset="0"/>
              </a:rPr>
            </a:br>
            <a:endParaRPr lang="en-US" sz="1000" dirty="0">
              <a:cs typeface="Calibri" panose="020F0502020204030204" pitchFamily="34" charset="0"/>
            </a:endParaRPr>
          </a:p>
          <a:p>
            <a:pPr lvl="1"/>
            <a:r>
              <a:rPr lang="en-US" sz="1400" b="1" u="sng" dirty="0"/>
              <a:t>3</a:t>
            </a:r>
            <a:r>
              <a:rPr lang="en-US" sz="1400" b="1" u="sng" baseline="30000" dirty="0"/>
              <a:t>rd</a:t>
            </a:r>
            <a:r>
              <a:rPr lang="en-US" sz="1400" b="1" u="sng" dirty="0"/>
              <a:t> run:</a:t>
            </a:r>
            <a:r>
              <a:rPr lang="en-US" sz="1400" dirty="0"/>
              <a:t> from resulting </a:t>
            </a:r>
            <a:r>
              <a:rPr lang="en-US" sz="1400" dirty="0">
                <a:cs typeface="Calibri" panose="020F0502020204030204" pitchFamily="34" charset="0"/>
              </a:rPr>
              <a:t>∆SOC</a:t>
            </a:r>
            <a:r>
              <a:rPr lang="en-US" sz="1400" baseline="-25000" dirty="0">
                <a:cs typeface="Calibri" panose="020F0502020204030204" pitchFamily="34" charset="0"/>
              </a:rPr>
              <a:t>2</a:t>
            </a:r>
            <a:r>
              <a:rPr lang="en-US" sz="1400" dirty="0">
                <a:cs typeface="Calibri" panose="020F0502020204030204" pitchFamily="34" charset="0"/>
              </a:rPr>
              <a:t> of 2</a:t>
            </a:r>
            <a:r>
              <a:rPr lang="en-US" sz="1400" baseline="30000" dirty="0">
                <a:cs typeface="Calibri" panose="020F0502020204030204" pitchFamily="34" charset="0"/>
              </a:rPr>
              <a:t>nd</a:t>
            </a:r>
            <a:r>
              <a:rPr lang="en-US" sz="1400" dirty="0">
                <a:cs typeface="Calibri" panose="020F0502020204030204" pitchFamily="34" charset="0"/>
              </a:rPr>
              <a:t> run new </a:t>
            </a:r>
            <a:r>
              <a:rPr lang="en-US" sz="1400" dirty="0"/>
              <a:t>equivalence factor is calculated according to following equation:</a:t>
            </a:r>
            <a:br>
              <a:rPr lang="en-US" sz="1400" dirty="0"/>
            </a:br>
            <a:endParaRPr lang="en-US" sz="1400" dirty="0"/>
          </a:p>
          <a:p>
            <a:pPr lvl="1"/>
            <a:endParaRPr lang="en-GB" sz="1400" dirty="0"/>
          </a:p>
          <a:p>
            <a:pPr lvl="1"/>
            <a:r>
              <a:rPr lang="en-GB" sz="1400" dirty="0"/>
              <a:t>For further details please refer to: </a:t>
            </a:r>
            <a:r>
              <a:rPr lang="en-GB" sz="1400" b="1" i="1" dirty="0"/>
              <a:t>VECTO-DEV WS#8 16.11.2021 (slide 7ff)</a:t>
            </a:r>
            <a:endParaRPr lang="en-US" sz="14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12</a:t>
            </a:fld>
            <a:endParaRPr lang="de-DE"/>
          </a:p>
        </p:txBody>
      </p:sp>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FA0F42E0-6069-490B-8657-ED39F2A42A3A}"/>
                  </a:ext>
                </a:extLst>
              </p:cNvPr>
              <p:cNvSpPr txBox="1"/>
              <p:nvPr/>
            </p:nvSpPr>
            <p:spPr>
              <a:xfrm>
                <a:off x="1345337" y="3756031"/>
                <a:ext cx="1664686" cy="31797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𝑓</m:t>
                          </m:r>
                        </m:e>
                        <m:sub>
                          <m:r>
                            <a:rPr lang="de-AT" sz="1100" i="1">
                              <a:latin typeface="Cambria Math" panose="02040503050406030204" pitchFamily="18" charset="0"/>
                              <a:ea typeface="Cambria Math" panose="02040503050406030204" pitchFamily="18" charset="0"/>
                            </a:rPr>
                            <m:t>𝑒𝑞𝑢𝑖𝑣</m:t>
                          </m:r>
                          <m:r>
                            <a:rPr lang="de-AT" sz="1100" i="1">
                              <a:latin typeface="Cambria Math" panose="02040503050406030204" pitchFamily="18" charset="0"/>
                              <a:ea typeface="Cambria Math" panose="02040503050406030204" pitchFamily="18" charset="0"/>
                            </a:rPr>
                            <m:t>_2</m:t>
                          </m:r>
                        </m:sub>
                      </m:sSub>
                      <m:r>
                        <a:rPr lang="de-AT" sz="1100" i="1">
                          <a:latin typeface="Cambria Math" panose="02040503050406030204" pitchFamily="18" charset="0"/>
                          <a:ea typeface="Cambria Math" panose="02040503050406030204" pitchFamily="18" charset="0"/>
                        </a:rPr>
                        <m:t>=</m:t>
                      </m:r>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𝑓</m:t>
                          </m:r>
                        </m:e>
                        <m:sub>
                          <m:r>
                            <a:rPr lang="de-AT" sz="1100" i="1">
                              <a:latin typeface="Cambria Math" panose="02040503050406030204" pitchFamily="18" charset="0"/>
                              <a:ea typeface="Cambria Math" panose="02040503050406030204" pitchFamily="18" charset="0"/>
                            </a:rPr>
                            <m:t>𝑒𝑞𝑢𝑖𝑣</m:t>
                          </m:r>
                          <m:r>
                            <a:rPr lang="de-AT" sz="1100" i="1">
                              <a:latin typeface="Cambria Math" panose="02040503050406030204" pitchFamily="18" charset="0"/>
                              <a:ea typeface="Cambria Math" panose="02040503050406030204" pitchFamily="18" charset="0"/>
                            </a:rPr>
                            <m:t>_1</m:t>
                          </m:r>
                        </m:sub>
                      </m:sSub>
                      <m:r>
                        <a:rPr lang="de-AT" sz="1100" i="1">
                          <a:latin typeface="Cambria Math" panose="02040503050406030204" pitchFamily="18" charset="0"/>
                          <a:ea typeface="Cambria Math" panose="02040503050406030204" pitchFamily="18" charset="0"/>
                        </a:rPr>
                        <m:t>−</m:t>
                      </m:r>
                      <m:f>
                        <m:fPr>
                          <m:ctrlPr>
                            <a:rPr lang="de-AT" sz="1100" i="1">
                              <a:latin typeface="Cambria Math" panose="02040503050406030204" pitchFamily="18" charset="0"/>
                              <a:ea typeface="Cambria Math" panose="02040503050406030204" pitchFamily="18" charset="0"/>
                            </a:rPr>
                          </m:ctrlPr>
                        </m:fPr>
                        <m:num>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m:t>
                              </m:r>
                              <m:r>
                                <a:rPr lang="de-AT" sz="1100" i="1">
                                  <a:latin typeface="Cambria Math" panose="02040503050406030204" pitchFamily="18" charset="0"/>
                                  <a:ea typeface="Cambria Math" panose="02040503050406030204" pitchFamily="18" charset="0"/>
                                </a:rPr>
                                <m:t>𝑆𝑂𝐶</m:t>
                              </m:r>
                            </m:e>
                            <m:sub>
                              <m:r>
                                <a:rPr lang="de-AT" sz="1100" i="1">
                                  <a:latin typeface="Cambria Math" panose="02040503050406030204" pitchFamily="18" charset="0"/>
                                  <a:ea typeface="Cambria Math" panose="02040503050406030204" pitchFamily="18" charset="0"/>
                                </a:rPr>
                                <m:t>1</m:t>
                              </m:r>
                            </m:sub>
                          </m:sSub>
                        </m:num>
                        <m:den>
                          <m:r>
                            <a:rPr lang="de-AT" sz="1100" i="1">
                              <a:latin typeface="Cambria Math" panose="02040503050406030204" pitchFamily="18" charset="0"/>
                              <a:ea typeface="Cambria Math" panose="02040503050406030204" pitchFamily="18" charset="0"/>
                            </a:rPr>
                            <m:t>𝑘</m:t>
                          </m:r>
                        </m:den>
                      </m:f>
                    </m:oMath>
                  </m:oMathPara>
                </a14:m>
                <a:endParaRPr lang="de-AT" sz="1100" dirty="0"/>
              </a:p>
            </p:txBody>
          </p:sp>
        </mc:Choice>
        <mc:Fallback xmlns="">
          <p:sp>
            <p:nvSpPr>
              <p:cNvPr id="6" name="Textfeld 5">
                <a:extLst>
                  <a:ext uri="{FF2B5EF4-FFF2-40B4-BE49-F238E27FC236}">
                    <a16:creationId xmlns:a16="http://schemas.microsoft.com/office/drawing/2014/main" id="{FA0F42E0-6069-490B-8657-ED39F2A42A3A}"/>
                  </a:ext>
                </a:extLst>
              </p:cNvPr>
              <p:cNvSpPr txBox="1">
                <a:spLocks noRot="1" noChangeAspect="1" noMove="1" noResize="1" noEditPoints="1" noAdjustHandles="1" noChangeArrowheads="1" noChangeShapeType="1" noTextEdit="1"/>
              </p:cNvSpPr>
              <p:nvPr/>
            </p:nvSpPr>
            <p:spPr>
              <a:xfrm>
                <a:off x="1345337" y="3756031"/>
                <a:ext cx="1664686" cy="317972"/>
              </a:xfrm>
              <a:prstGeom prst="rect">
                <a:avLst/>
              </a:prstGeom>
              <a:blipFill>
                <a:blip r:embed="rId2"/>
                <a:stretch>
                  <a:fillRect l="-2564" r="-733" b="-1538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04A996E3-A1CE-4376-8F84-5151C3480BB7}"/>
                  </a:ext>
                </a:extLst>
              </p:cNvPr>
              <p:cNvSpPr txBox="1"/>
              <p:nvPr/>
            </p:nvSpPr>
            <p:spPr>
              <a:xfrm>
                <a:off x="4963683" y="3830380"/>
                <a:ext cx="2078838"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AT" sz="1100" i="1">
                              <a:latin typeface="Cambria Math" panose="02040503050406030204" pitchFamily="18" charset="0"/>
                            </a:rPr>
                          </m:ctrlPr>
                        </m:sSubPr>
                        <m:e>
                          <m:r>
                            <a:rPr lang="de-AT" sz="1100" i="1">
                              <a:latin typeface="Cambria Math" panose="02040503050406030204" pitchFamily="18" charset="0"/>
                            </a:rPr>
                            <m:t>𝑘</m:t>
                          </m:r>
                          <m:r>
                            <a:rPr lang="de-AT" sz="1100" i="1">
                              <a:latin typeface="Cambria Math" panose="02040503050406030204" pitchFamily="18" charset="0"/>
                            </a:rPr>
                            <m:t>=</m:t>
                          </m:r>
                          <m:r>
                            <a:rPr lang="de-AT" sz="1100" i="1">
                              <a:latin typeface="Cambria Math" panose="02040503050406030204" pitchFamily="18" charset="0"/>
                            </a:rPr>
                            <m:t>𝑘</m:t>
                          </m:r>
                        </m:e>
                        <m:sub>
                          <m:r>
                            <a:rPr lang="de-AT" sz="1100" i="1">
                              <a:latin typeface="Cambria Math" panose="02040503050406030204" pitchFamily="18" charset="0"/>
                            </a:rPr>
                            <m:t>0.4</m:t>
                          </m:r>
                        </m:sub>
                      </m:sSub>
                      <m:r>
                        <a:rPr lang="de-AT" sz="1100" i="1">
                          <a:latin typeface="Cambria Math" panose="02040503050406030204" pitchFamily="18" charset="0"/>
                        </a:rPr>
                        <m:t>+0.2∗(</m:t>
                      </m:r>
                      <m:sSub>
                        <m:sSubPr>
                          <m:ctrlPr>
                            <a:rPr lang="de-AT" sz="1100" i="1">
                              <a:latin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𝑆𝑂𝐶</m:t>
                          </m:r>
                        </m:e>
                        <m:sub>
                          <m:r>
                            <a:rPr lang="de-AT" sz="1100" i="1">
                              <a:latin typeface="Cambria Math" panose="02040503050406030204" pitchFamily="18" charset="0"/>
                              <a:ea typeface="Cambria Math" panose="02040503050406030204" pitchFamily="18" charset="0"/>
                            </a:rPr>
                            <m:t>𝑢𝑠𝑎𝑏𝑙𝑒</m:t>
                          </m:r>
                        </m:sub>
                      </m:sSub>
                      <m:r>
                        <a:rPr lang="de-AT" sz="1100" i="1">
                          <a:latin typeface="Cambria Math" panose="02040503050406030204" pitchFamily="18" charset="0"/>
                        </a:rPr>
                        <m:t>−0.4)</m:t>
                      </m:r>
                    </m:oMath>
                  </m:oMathPara>
                </a14:m>
                <a:endParaRPr lang="de-AT" sz="1100" dirty="0"/>
              </a:p>
            </p:txBody>
          </p:sp>
        </mc:Choice>
        <mc:Fallback xmlns="">
          <p:sp>
            <p:nvSpPr>
              <p:cNvPr id="7" name="Textfeld 6">
                <a:extLst>
                  <a:ext uri="{FF2B5EF4-FFF2-40B4-BE49-F238E27FC236}">
                    <a16:creationId xmlns:a16="http://schemas.microsoft.com/office/drawing/2014/main" id="{04A996E3-A1CE-4376-8F84-5151C3480BB7}"/>
                  </a:ext>
                </a:extLst>
              </p:cNvPr>
              <p:cNvSpPr txBox="1">
                <a:spLocks noRot="1" noChangeAspect="1" noMove="1" noResize="1" noEditPoints="1" noAdjustHandles="1" noChangeArrowheads="1" noChangeShapeType="1" noTextEdit="1"/>
              </p:cNvSpPr>
              <p:nvPr/>
            </p:nvSpPr>
            <p:spPr>
              <a:xfrm>
                <a:off x="4963683" y="3830380"/>
                <a:ext cx="2078838" cy="169277"/>
              </a:xfrm>
              <a:prstGeom prst="rect">
                <a:avLst/>
              </a:prstGeom>
              <a:blipFill>
                <a:blip r:embed="rId3"/>
                <a:stretch>
                  <a:fillRect l="-880" r="-2053" b="-35714"/>
                </a:stretch>
              </a:blipFill>
            </p:spPr>
            <p:txBody>
              <a:bodyPr/>
              <a:lstStyle/>
              <a:p>
                <a:r>
                  <a:rPr lang="de-AT">
                    <a:noFill/>
                  </a:rPr>
                  <a:t> </a:t>
                </a:r>
              </a:p>
            </p:txBody>
          </p:sp>
        </mc:Fallback>
      </mc:AlternateContent>
      <p:sp>
        <p:nvSpPr>
          <p:cNvPr id="8" name="Textfeld 7"/>
          <p:cNvSpPr txBox="1"/>
          <p:nvPr/>
        </p:nvSpPr>
        <p:spPr>
          <a:xfrm>
            <a:off x="4327309" y="3776518"/>
            <a:ext cx="636374" cy="276999"/>
          </a:xfrm>
          <a:prstGeom prst="rect">
            <a:avLst/>
          </a:prstGeom>
          <a:noFill/>
        </p:spPr>
        <p:txBody>
          <a:bodyPr wrap="square" rtlCol="0">
            <a:spAutoFit/>
          </a:bodyPr>
          <a:lstStyle/>
          <a:p>
            <a:r>
              <a:rPr lang="de-AT" sz="1200" dirty="0" err="1"/>
              <a:t>with</a:t>
            </a:r>
            <a:endParaRPr lang="de-AT" sz="1200" dirty="0"/>
          </a:p>
        </p:txBody>
      </p:sp>
      <p:cxnSp>
        <p:nvCxnSpPr>
          <p:cNvPr id="9" name="Gerade Verbindung mit Pfeil 8">
            <a:extLst>
              <a:ext uri="{FF2B5EF4-FFF2-40B4-BE49-F238E27FC236}">
                <a16:creationId xmlns:a16="http://schemas.microsoft.com/office/drawing/2014/main" id="{791F2253-79F9-4B5E-BA61-AA9D010790C7}"/>
              </a:ext>
            </a:extLst>
          </p:cNvPr>
          <p:cNvCxnSpPr>
            <a:cxnSpLocks/>
          </p:cNvCxnSpPr>
          <p:nvPr/>
        </p:nvCxnSpPr>
        <p:spPr>
          <a:xfrm>
            <a:off x="2182186" y="4030604"/>
            <a:ext cx="0" cy="144000"/>
          </a:xfrm>
          <a:prstGeom prst="straightConnector1">
            <a:avLst/>
          </a:prstGeom>
          <a:ln>
            <a:solidFill>
              <a:srgbClr val="C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Textfeld 9">
            <a:extLst>
              <a:ext uri="{FF2B5EF4-FFF2-40B4-BE49-F238E27FC236}">
                <a16:creationId xmlns:a16="http://schemas.microsoft.com/office/drawing/2014/main" id="{4D01715D-A80C-4D20-81AE-772E3F5503C7}"/>
              </a:ext>
            </a:extLst>
          </p:cNvPr>
          <p:cNvSpPr txBox="1"/>
          <p:nvPr/>
        </p:nvSpPr>
        <p:spPr>
          <a:xfrm>
            <a:off x="1077636" y="4102604"/>
            <a:ext cx="2735044" cy="246221"/>
          </a:xfrm>
          <a:prstGeom prst="rect">
            <a:avLst/>
          </a:prstGeom>
          <a:noFill/>
        </p:spPr>
        <p:txBody>
          <a:bodyPr wrap="none" rtlCol="0">
            <a:spAutoFit/>
          </a:bodyPr>
          <a:lstStyle/>
          <a:p>
            <a:r>
              <a:rPr lang="en-US" sz="1000" dirty="0">
                <a:solidFill>
                  <a:srgbClr val="C00000"/>
                </a:solidFill>
              </a:rPr>
              <a:t>equivalence factor used in 1</a:t>
            </a:r>
            <a:r>
              <a:rPr lang="en-US" sz="1000" baseline="30000" dirty="0">
                <a:solidFill>
                  <a:srgbClr val="C00000"/>
                </a:solidFill>
              </a:rPr>
              <a:t>st</a:t>
            </a:r>
            <a:r>
              <a:rPr lang="en-US" sz="1000" dirty="0">
                <a:solidFill>
                  <a:srgbClr val="C00000"/>
                </a:solidFill>
              </a:rPr>
              <a:t> simulation run</a:t>
            </a:r>
          </a:p>
        </p:txBody>
      </p:sp>
      <p:cxnSp>
        <p:nvCxnSpPr>
          <p:cNvPr id="11" name="Gerade Verbindung mit Pfeil 10">
            <a:extLst>
              <a:ext uri="{FF2B5EF4-FFF2-40B4-BE49-F238E27FC236}">
                <a16:creationId xmlns:a16="http://schemas.microsoft.com/office/drawing/2014/main" id="{791F2253-79F9-4B5E-BA61-AA9D010790C7}"/>
              </a:ext>
            </a:extLst>
          </p:cNvPr>
          <p:cNvCxnSpPr>
            <a:cxnSpLocks/>
          </p:cNvCxnSpPr>
          <p:nvPr/>
        </p:nvCxnSpPr>
        <p:spPr>
          <a:xfrm>
            <a:off x="5376040" y="4025115"/>
            <a:ext cx="0" cy="144000"/>
          </a:xfrm>
          <a:prstGeom prst="straightConnector1">
            <a:avLst/>
          </a:prstGeom>
          <a:ln>
            <a:solidFill>
              <a:srgbClr val="C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Textfeld 11">
            <a:extLst>
              <a:ext uri="{FF2B5EF4-FFF2-40B4-BE49-F238E27FC236}">
                <a16:creationId xmlns:a16="http://schemas.microsoft.com/office/drawing/2014/main" id="{4D01715D-A80C-4D20-81AE-772E3F5503C7}"/>
              </a:ext>
            </a:extLst>
          </p:cNvPr>
          <p:cNvSpPr txBox="1"/>
          <p:nvPr/>
        </p:nvSpPr>
        <p:spPr>
          <a:xfrm>
            <a:off x="4327309" y="4098251"/>
            <a:ext cx="3554178" cy="246221"/>
          </a:xfrm>
          <a:prstGeom prst="rect">
            <a:avLst/>
          </a:prstGeom>
          <a:noFill/>
        </p:spPr>
        <p:txBody>
          <a:bodyPr wrap="none" rtlCol="0">
            <a:spAutoFit/>
          </a:bodyPr>
          <a:lstStyle/>
          <a:p>
            <a:r>
              <a:rPr lang="en-US" sz="1000" dirty="0">
                <a:solidFill>
                  <a:srgbClr val="C00000"/>
                </a:solidFill>
              </a:rPr>
              <a:t>refer to \Declaration\</a:t>
            </a:r>
            <a:r>
              <a:rPr lang="en-US" sz="1000" dirty="0" err="1">
                <a:solidFill>
                  <a:srgbClr val="C00000"/>
                </a:solidFill>
              </a:rPr>
              <a:t>HEVParameters</a:t>
            </a:r>
            <a:r>
              <a:rPr lang="en-US" sz="1000" dirty="0">
                <a:solidFill>
                  <a:srgbClr val="C00000"/>
                </a:solidFill>
              </a:rPr>
              <a:t>\Lorry\Gradient_40.csv</a:t>
            </a:r>
          </a:p>
        </p:txBody>
      </p:sp>
      <p:pic>
        <p:nvPicPr>
          <p:cNvPr id="13" name="Grafik 12"/>
          <p:cNvPicPr>
            <a:picLocks noChangeAspect="1"/>
          </p:cNvPicPr>
          <p:nvPr/>
        </p:nvPicPr>
        <p:blipFill>
          <a:blip r:embed="rId4"/>
          <a:stretch>
            <a:fillRect/>
          </a:stretch>
        </p:blipFill>
        <p:spPr>
          <a:xfrm>
            <a:off x="2843629" y="4798959"/>
            <a:ext cx="3260769" cy="324000"/>
          </a:xfrm>
          <a:prstGeom prst="rect">
            <a:avLst/>
          </a:prstGeom>
        </p:spPr>
      </p:pic>
    </p:spTree>
    <p:extLst>
      <p:ext uri="{BB962C8B-B14F-4D97-AF65-F5344CB8AC3E}">
        <p14:creationId xmlns:p14="http://schemas.microsoft.com/office/powerpoint/2010/main" val="38950521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43196" y="40603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Operation in Charge sustaining (CS) mode</a:t>
            </a:r>
          </a:p>
          <a:p>
            <a:pPr lvl="1"/>
            <a:r>
              <a:rPr lang="en-US" sz="1600" dirty="0"/>
              <a:t>Dedicated GUI feature available in order to overrule 3 iterations and perform calculation with single individual EF only (for engineering exercise)</a:t>
            </a:r>
            <a:br>
              <a:rPr lang="en-US" sz="1600" dirty="0"/>
            </a:br>
            <a:endParaRPr lang="en-US" sz="600" dirty="0"/>
          </a:p>
          <a:p>
            <a:pPr lvl="1"/>
            <a:r>
              <a:rPr lang="en-US" sz="1600" dirty="0"/>
              <a:t>Instructions:</a:t>
            </a:r>
          </a:p>
          <a:p>
            <a:pPr lvl="2"/>
            <a:r>
              <a:rPr lang="en-US" sz="1400" dirty="0"/>
              <a:t>Copy files from </a:t>
            </a:r>
            <a:r>
              <a:rPr lang="en-US" sz="1200" dirty="0"/>
              <a:t>“\Declaration\</a:t>
            </a:r>
            <a:r>
              <a:rPr lang="en-US" sz="1200" dirty="0" err="1"/>
              <a:t>HEVParameters</a:t>
            </a:r>
            <a:r>
              <a:rPr lang="en-US" sz="1200" dirty="0"/>
              <a:t>\Lorry\HEV_Strategy_Parameters_fequiv_</a:t>
            </a:r>
            <a:r>
              <a:rPr lang="en-US" sz="1200" b="1" dirty="0">
                <a:solidFill>
                  <a:srgbClr val="FF0000"/>
                </a:solidFill>
              </a:rPr>
              <a:t>XX</a:t>
            </a:r>
            <a:r>
              <a:rPr lang="en-US" sz="1200" dirty="0"/>
              <a:t>soc.csv”</a:t>
            </a:r>
            <a:r>
              <a:rPr lang="en-US" sz="1400" dirty="0"/>
              <a:t> </a:t>
            </a:r>
            <a:br>
              <a:rPr lang="en-US" sz="1400" dirty="0"/>
            </a:br>
            <a:r>
              <a:rPr lang="en-US" sz="1400" dirty="0"/>
              <a:t>to </a:t>
            </a:r>
            <a:r>
              <a:rPr lang="en-US" sz="1200" dirty="0"/>
              <a:t>“\Declaration\Override\”</a:t>
            </a:r>
            <a:r>
              <a:rPr lang="en-US" sz="1400" dirty="0"/>
              <a:t> without adding any sub-directories</a:t>
            </a:r>
          </a:p>
          <a:p>
            <a:pPr lvl="2"/>
            <a:r>
              <a:rPr lang="en-US" sz="1400" dirty="0"/>
              <a:t>The overridden files are shown </a:t>
            </a:r>
            <a:r>
              <a:rPr lang="en-US" sz="1400"/>
              <a:t>in </a:t>
            </a:r>
            <a:r>
              <a:rPr lang="en-US" sz="1200"/>
              <a:t>“override.txt”</a:t>
            </a:r>
            <a:br>
              <a:rPr lang="en-US" sz="1400" dirty="0"/>
            </a:br>
            <a:endParaRPr lang="en-US" sz="600" dirty="0"/>
          </a:p>
          <a:p>
            <a:pPr lvl="2"/>
            <a:r>
              <a:rPr lang="en-US" sz="1400" dirty="0"/>
              <a:t>Adapt respective values for individual EF in files (per vehicle group, mission profile and payload)</a:t>
            </a:r>
            <a:br>
              <a:rPr lang="en-US" sz="1400" dirty="0"/>
            </a:br>
            <a:br>
              <a:rPr lang="en-US" sz="1400" dirty="0"/>
            </a:br>
            <a:br>
              <a:rPr lang="en-US" sz="1400" dirty="0"/>
            </a:br>
            <a:br>
              <a:rPr lang="en-US" sz="1400" dirty="0"/>
            </a:br>
            <a:br>
              <a:rPr lang="en-US" sz="1400" dirty="0"/>
            </a:br>
            <a:br>
              <a:rPr lang="en-US" sz="1400" dirty="0"/>
            </a:br>
            <a:br>
              <a:rPr lang="en-US" sz="1100" dirty="0"/>
            </a:br>
            <a:br>
              <a:rPr lang="en-US" sz="1100" dirty="0"/>
            </a:br>
            <a:r>
              <a:rPr lang="en-US" sz="1100" dirty="0"/>
              <a:t>		   </a:t>
            </a:r>
            <a:r>
              <a:rPr lang="en-US" sz="1200" i="1" dirty="0">
                <a:sym typeface="Wingdings" panose="05000000000000000000" pitchFamily="2" charset="2"/>
              </a:rPr>
              <a:t> 1</a:t>
            </a:r>
            <a:r>
              <a:rPr lang="en-US" sz="1200" i="1" baseline="30000" dirty="0">
                <a:sym typeface="Wingdings" panose="05000000000000000000" pitchFamily="2" charset="2"/>
              </a:rPr>
              <a:t>st</a:t>
            </a:r>
            <a:r>
              <a:rPr lang="en-US" sz="1200" i="1" dirty="0">
                <a:sym typeface="Wingdings" panose="05000000000000000000" pitchFamily="2" charset="2"/>
              </a:rPr>
              <a:t> value for low loading, 2</a:t>
            </a:r>
            <a:r>
              <a:rPr lang="en-US" sz="1200" i="1" baseline="30000" dirty="0">
                <a:sym typeface="Wingdings" panose="05000000000000000000" pitchFamily="2" charset="2"/>
              </a:rPr>
              <a:t>nd</a:t>
            </a:r>
            <a:r>
              <a:rPr lang="en-US" sz="1200" i="1" dirty="0">
                <a:sym typeface="Wingdings" panose="05000000000000000000" pitchFamily="2" charset="2"/>
              </a:rPr>
              <a:t> for reference loading</a:t>
            </a:r>
            <a:br>
              <a:rPr lang="en-US" sz="1200" i="1" dirty="0"/>
            </a:br>
            <a:endParaRPr lang="en-US" sz="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a:t>
            </a:fld>
            <a:endParaRPr lang="de-DE"/>
          </a:p>
        </p:txBody>
      </p:sp>
      <p:graphicFrame>
        <p:nvGraphicFramePr>
          <p:cNvPr id="5" name="Tabelle 4"/>
          <p:cNvGraphicFramePr>
            <a:graphicFrameLocks noGrp="1"/>
          </p:cNvGraphicFramePr>
          <p:nvPr/>
        </p:nvGraphicFramePr>
        <p:xfrm>
          <a:off x="2594919" y="4223729"/>
          <a:ext cx="5968058" cy="1510665"/>
        </p:xfrm>
        <a:graphic>
          <a:graphicData uri="http://schemas.openxmlformats.org/drawingml/2006/table">
            <a:tbl>
              <a:tblPr>
                <a:tableStyleId>{69CF1AB2-1976-4502-BF36-3FF5EA218861}</a:tableStyleId>
              </a:tblPr>
              <a:tblGrid>
                <a:gridCol w="951988">
                  <a:extLst>
                    <a:ext uri="{9D8B030D-6E8A-4147-A177-3AD203B41FA5}">
                      <a16:colId xmlns:a16="http://schemas.microsoft.com/office/drawing/2014/main" val="852312706"/>
                    </a:ext>
                  </a:extLst>
                </a:gridCol>
                <a:gridCol w="972387">
                  <a:extLst>
                    <a:ext uri="{9D8B030D-6E8A-4147-A177-3AD203B41FA5}">
                      <a16:colId xmlns:a16="http://schemas.microsoft.com/office/drawing/2014/main" val="1837859280"/>
                    </a:ext>
                  </a:extLst>
                </a:gridCol>
                <a:gridCol w="1060787">
                  <a:extLst>
                    <a:ext uri="{9D8B030D-6E8A-4147-A177-3AD203B41FA5}">
                      <a16:colId xmlns:a16="http://schemas.microsoft.com/office/drawing/2014/main" val="1001090232"/>
                    </a:ext>
                  </a:extLst>
                </a:gridCol>
                <a:gridCol w="1024521">
                  <a:extLst>
                    <a:ext uri="{9D8B030D-6E8A-4147-A177-3AD203B41FA5}">
                      <a16:colId xmlns:a16="http://schemas.microsoft.com/office/drawing/2014/main" val="1395416183"/>
                    </a:ext>
                  </a:extLst>
                </a:gridCol>
                <a:gridCol w="988254">
                  <a:extLst>
                    <a:ext uri="{9D8B030D-6E8A-4147-A177-3AD203B41FA5}">
                      <a16:colId xmlns:a16="http://schemas.microsoft.com/office/drawing/2014/main" val="3676319759"/>
                    </a:ext>
                  </a:extLst>
                </a:gridCol>
                <a:gridCol w="970121">
                  <a:extLst>
                    <a:ext uri="{9D8B030D-6E8A-4147-A177-3AD203B41FA5}">
                      <a16:colId xmlns:a16="http://schemas.microsoft.com/office/drawing/2014/main" val="465384926"/>
                    </a:ext>
                  </a:extLst>
                </a:gridCol>
              </a:tblGrid>
              <a:tr h="190500">
                <a:tc>
                  <a:txBody>
                    <a:bodyPr/>
                    <a:lstStyle/>
                    <a:p>
                      <a:pPr algn="ctr" fontAlgn="b"/>
                      <a:r>
                        <a:rPr lang="de-AT" sz="900" b="1" u="none" strike="noStrike">
                          <a:effectLst/>
                        </a:rPr>
                        <a:t>vehiclegroup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longhaul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regionaldelivery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urbandelivery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municipalutility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dirty="0">
                          <a:effectLst/>
                        </a:rPr>
                        <a:t> </a:t>
                      </a:r>
                      <a:r>
                        <a:rPr lang="de-AT" sz="900" b="1" u="none" strike="noStrike" dirty="0" err="1">
                          <a:effectLst/>
                        </a:rPr>
                        <a:t>construction</a:t>
                      </a:r>
                      <a:r>
                        <a:rPr lang="de-AT" sz="900" b="1" u="none" strike="noStrike" dirty="0">
                          <a:effectLst/>
                        </a:rPr>
                        <a:t>                  </a:t>
                      </a:r>
                      <a:endParaRPr lang="de-AT" sz="900" b="1"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401099527"/>
                  </a:ext>
                </a:extLst>
              </a:tr>
              <a:tr h="144000">
                <a:tc>
                  <a:txBody>
                    <a:bodyPr/>
                    <a:lstStyle/>
                    <a:p>
                      <a:pPr algn="ctr" fontAlgn="b"/>
                      <a:r>
                        <a:rPr lang="de-AT" sz="900" b="0" i="0" u="none" strike="noStrike" dirty="0">
                          <a:solidFill>
                            <a:schemeClr val="dk1"/>
                          </a:solidFill>
                          <a:effectLst/>
                          <a:latin typeface="+mn-lt"/>
                        </a:rPr>
                        <a:t>53</a:t>
                      </a:r>
                      <a:endParaRPr lang="de-AT"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dirty="0">
                          <a:effectLst/>
                        </a:rPr>
                        <a:t>                                </a:t>
                      </a:r>
                      <a:endParaRPr lang="de-AT"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2.6/2.3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2.7/2.3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dirty="0">
                          <a:effectLst/>
                        </a:rPr>
                        <a:t>  </a:t>
                      </a:r>
                      <a:endParaRPr lang="de-AT" sz="9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113796165"/>
                  </a:ext>
                </a:extLst>
              </a:tr>
              <a:tr h="144000">
                <a:tc>
                  <a:txBody>
                    <a:bodyPr/>
                    <a:lstStyle/>
                    <a:p>
                      <a:pPr algn="ctr" fontAlgn="b"/>
                      <a:r>
                        <a:rPr lang="de-AT" sz="900" b="0" i="0" u="none" strike="noStrike" dirty="0">
                          <a:solidFill>
                            <a:srgbClr val="000000"/>
                          </a:solidFill>
                          <a:effectLst/>
                          <a:latin typeface="Calibri" panose="020F0502020204030204" pitchFamily="34" charset="0"/>
                        </a:rPr>
                        <a:t>54</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2700250231"/>
                  </a:ext>
                </a:extLst>
              </a:tr>
              <a:tr h="144000">
                <a:tc>
                  <a:txBody>
                    <a:bodyPr/>
                    <a:lstStyle/>
                    <a:p>
                      <a:pPr algn="ctr" fontAlgn="b"/>
                      <a:r>
                        <a:rPr lang="de-AT" sz="900" b="0" i="0" u="none" strike="noStrike">
                          <a:solidFill>
                            <a:srgbClr val="000000"/>
                          </a:solidFill>
                          <a:effectLst/>
                          <a:latin typeface="Calibri" panose="020F0502020204030204" pitchFamily="34" charset="0"/>
                        </a:rPr>
                        <a:t>1s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3524488572"/>
                  </a:ext>
                </a:extLst>
              </a:tr>
              <a:tr h="144000">
                <a:tc>
                  <a:txBody>
                    <a:bodyPr/>
                    <a:lstStyle/>
                    <a:p>
                      <a:pPr algn="ctr" fontAlgn="b"/>
                      <a:r>
                        <a:rPr lang="de-AT" sz="9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1661254603"/>
                  </a:ext>
                </a:extLst>
              </a:tr>
              <a:tr h="144000">
                <a:tc>
                  <a:txBody>
                    <a:bodyPr/>
                    <a:lstStyle/>
                    <a:p>
                      <a:pPr algn="ctr" fontAlgn="b"/>
                      <a:r>
                        <a:rPr lang="de-AT" sz="9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0.1/0.1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3641180873"/>
                  </a:ext>
                </a:extLst>
              </a:tr>
              <a:tr h="144000">
                <a:tc>
                  <a:txBody>
                    <a:bodyPr/>
                    <a:lstStyle/>
                    <a:p>
                      <a:pPr algn="ctr" fontAlgn="b"/>
                      <a:r>
                        <a:rPr lang="de-AT" sz="900" b="0" i="0" u="none" strike="noStrike">
                          <a:solidFill>
                            <a:srgbClr val="000000"/>
                          </a:solidFill>
                          <a:effectLst/>
                          <a:latin typeface="Calibri" panose="020F0502020204030204" pitchFamily="34" charset="0"/>
                        </a:rPr>
                        <a:t>3</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2591096129"/>
                  </a:ext>
                </a:extLst>
              </a:tr>
              <a:tr h="144000">
                <a:tc>
                  <a:txBody>
                    <a:bodyPr/>
                    <a:lstStyle/>
                    <a:p>
                      <a:pPr algn="ctr" fontAlgn="b"/>
                      <a:r>
                        <a:rPr lang="de-AT" sz="900" b="0" i="0" u="none" strike="noStrike">
                          <a:solidFill>
                            <a:srgbClr val="000000"/>
                          </a:solidFill>
                          <a:effectLst/>
                          <a:latin typeface="Calibri" panose="020F0502020204030204" pitchFamily="34" charset="0"/>
                        </a:rPr>
                        <a:t>4</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1.4/1.3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2.2/2.6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1.9/2.3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a:t>
                      </a:r>
                    </a:p>
                  </a:txBody>
                  <a:tcPr marL="9525" marR="9525" marT="9525" marB="0" anchor="b"/>
                </a:tc>
                <a:extLst>
                  <a:ext uri="{0D108BD9-81ED-4DB2-BD59-A6C34878D82A}">
                    <a16:rowId xmlns:a16="http://schemas.microsoft.com/office/drawing/2014/main" val="3302663884"/>
                  </a:ext>
                </a:extLst>
              </a:tr>
              <a:tr h="144000">
                <a:tc>
                  <a:txBody>
                    <a:bodyPr/>
                    <a:lstStyle/>
                    <a:p>
                      <a:pPr algn="ctr" fontAlgn="b"/>
                      <a:r>
                        <a:rPr lang="de-AT" sz="900" b="0" i="0" u="none" strike="noStrike">
                          <a:solidFill>
                            <a:srgbClr val="000000"/>
                          </a:solidFill>
                          <a:effectLst/>
                          <a:latin typeface="Calibri" panose="020F0502020204030204" pitchFamily="34" charset="0"/>
                        </a:rPr>
                        <a:t>5</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1.4/1.3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2.2/2.6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1.9/2.3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a:t>
                      </a:r>
                    </a:p>
                  </a:txBody>
                  <a:tcPr marL="9525" marR="9525" marT="9525" marB="0" anchor="b"/>
                </a:tc>
                <a:extLst>
                  <a:ext uri="{0D108BD9-81ED-4DB2-BD59-A6C34878D82A}">
                    <a16:rowId xmlns:a16="http://schemas.microsoft.com/office/drawing/2014/main" val="3607436354"/>
                  </a:ext>
                </a:extLst>
              </a:tr>
              <a:tr h="144000">
                <a:tc>
                  <a:txBody>
                    <a:bodyPr/>
                    <a:lstStyle/>
                    <a:p>
                      <a:pPr algn="ctr" fontAlgn="b"/>
                      <a:r>
                        <a:rPr lang="de-AT" sz="900" b="0" i="0" u="none" strike="noStrike" dirty="0">
                          <a:solidFill>
                            <a:srgbClr val="000000"/>
                          </a:solidFill>
                          <a:effectLst/>
                          <a:latin typeface="Calibri" panose="020F0502020204030204" pitchFamily="34" charset="0"/>
                        </a:rPr>
                        <a:t>…</a:t>
                      </a: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59716045"/>
                  </a:ext>
                </a:extLst>
              </a:tr>
            </a:tbl>
          </a:graphicData>
        </a:graphic>
      </p:graphicFrame>
    </p:spTree>
    <p:extLst>
      <p:ext uri="{BB962C8B-B14F-4D97-AF65-F5344CB8AC3E}">
        <p14:creationId xmlns:p14="http://schemas.microsoft.com/office/powerpoint/2010/main" val="40143642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Operation in Charge sustaining (CS) mode</a:t>
            </a:r>
          </a:p>
          <a:p>
            <a:pPr lvl="1"/>
            <a:r>
              <a:rPr lang="en-US" sz="1600" dirty="0"/>
              <a:t>Dedicated GUI feature available in order to overrule 3 iterations and perform calculation with single individual EF only (for engineering exercise)</a:t>
            </a:r>
            <a:br>
              <a:rPr lang="en-US" sz="1600" dirty="0"/>
            </a:br>
            <a:endParaRPr lang="en-US" sz="600" dirty="0"/>
          </a:p>
          <a:p>
            <a:pPr lvl="1"/>
            <a:r>
              <a:rPr lang="en-US" sz="1600" dirty="0"/>
              <a:t>Instructions:</a:t>
            </a:r>
          </a:p>
          <a:p>
            <a:pPr lvl="2"/>
            <a:r>
              <a:rPr lang="en-US" sz="1400" dirty="0"/>
              <a:t>Step 3:</a:t>
            </a:r>
            <a:br>
              <a:rPr lang="en-US" sz="1400" dirty="0"/>
            </a:br>
            <a:r>
              <a:rPr lang="en-US" sz="1400" dirty="0"/>
              <a:t>Activate GUI feature under “Options” tab</a:t>
            </a:r>
            <a:br>
              <a:rPr lang="en-US" sz="1400" dirty="0"/>
            </a:br>
            <a:r>
              <a:rPr lang="en-US" sz="1400" dirty="0"/>
              <a:t>to apply single run with individually set EF</a:t>
            </a:r>
            <a:br>
              <a:rPr lang="en-US" sz="1400" dirty="0"/>
            </a:br>
            <a:r>
              <a:rPr lang="en-US" sz="1400" dirty="0"/>
              <a:t>loaded from “\Declaration\Override\” folder</a:t>
            </a:r>
            <a:br>
              <a:rPr lang="en-US" sz="1400" dirty="0"/>
            </a:br>
            <a:endParaRPr lang="en-US" sz="1400" dirty="0"/>
          </a:p>
          <a:p>
            <a:pPr lvl="2"/>
            <a:r>
              <a:rPr lang="en-US" sz="1400" b="1" u="sng" dirty="0"/>
              <a:t>ATTENTION:</a:t>
            </a:r>
            <a:r>
              <a:rPr lang="en-US" sz="1400" dirty="0"/>
              <a:t> Only loaded when VECTO is</a:t>
            </a:r>
            <a:br>
              <a:rPr lang="en-US" sz="1400" dirty="0"/>
            </a:br>
            <a:r>
              <a:rPr lang="en-US" sz="1400" dirty="0"/>
              <a:t>launched initially (updates during active</a:t>
            </a:r>
            <a:br>
              <a:rPr lang="en-US" sz="1400" dirty="0"/>
            </a:br>
            <a:r>
              <a:rPr lang="en-US" sz="1400" dirty="0"/>
              <a:t>VECTO session have no effect)!</a:t>
            </a:r>
            <a:br>
              <a:rPr lang="en-US" sz="1400" dirty="0"/>
            </a:br>
            <a:endParaRPr lang="en-US" sz="1400" dirty="0"/>
          </a:p>
          <a:p>
            <a:r>
              <a:rPr lang="en-US" sz="1800" dirty="0"/>
              <a:t>To be checked: Handling of vehicles with very small batteries in LH</a:t>
            </a:r>
            <a:br>
              <a:rPr lang="en-US" sz="1800" dirty="0"/>
            </a:br>
            <a:r>
              <a:rPr lang="en-US" sz="1400" i="1" dirty="0"/>
              <a:t>(due to high amount of energy being captured at the very end of the cycle)</a:t>
            </a:r>
            <a:endParaRPr lang="en-GB" sz="1400" i="1" dirty="0"/>
          </a:p>
        </p:txBody>
      </p:sp>
      <p:sp>
        <p:nvSpPr>
          <p:cNvPr id="4" name="Foliennummernplatzhalter 3"/>
          <p:cNvSpPr>
            <a:spLocks noGrp="1"/>
          </p:cNvSpPr>
          <p:nvPr>
            <p:ph type="sldNum" sz="quarter" idx="12"/>
          </p:nvPr>
        </p:nvSpPr>
        <p:spPr/>
        <p:txBody>
          <a:bodyPr/>
          <a:lstStyle/>
          <a:p>
            <a:fld id="{4B64EC4D-37E3-EF42-B9AB-6337577588CB}" type="slidenum">
              <a:rPr lang="de-DE" smtClean="0"/>
              <a:t>14</a:t>
            </a:fld>
            <a:endParaRPr lang="de-DE"/>
          </a:p>
        </p:txBody>
      </p:sp>
      <p:grpSp>
        <p:nvGrpSpPr>
          <p:cNvPr id="9" name="Gruppieren 8"/>
          <p:cNvGrpSpPr/>
          <p:nvPr/>
        </p:nvGrpSpPr>
        <p:grpSpPr>
          <a:xfrm>
            <a:off x="5844641" y="2428289"/>
            <a:ext cx="2841799" cy="2201002"/>
            <a:chOff x="4293973" y="2436734"/>
            <a:chExt cx="2706902" cy="2096522"/>
          </a:xfrm>
        </p:grpSpPr>
        <p:pic>
          <p:nvPicPr>
            <p:cNvPr id="6" name="Grafik 5"/>
            <p:cNvPicPr>
              <a:picLocks noChangeAspect="1"/>
            </p:cNvPicPr>
            <p:nvPr/>
          </p:nvPicPr>
          <p:blipFill>
            <a:blip r:embed="rId2"/>
            <a:stretch>
              <a:fillRect/>
            </a:stretch>
          </p:blipFill>
          <p:spPr>
            <a:xfrm>
              <a:off x="4293973" y="2436734"/>
              <a:ext cx="2706902" cy="2096522"/>
            </a:xfrm>
            <a:prstGeom prst="rect">
              <a:avLst/>
            </a:prstGeom>
          </p:spPr>
        </p:pic>
        <p:sp>
          <p:nvSpPr>
            <p:cNvPr id="7" name="Ellipse 6"/>
            <p:cNvSpPr/>
            <p:nvPr/>
          </p:nvSpPr>
          <p:spPr>
            <a:xfrm>
              <a:off x="4683212" y="2679345"/>
              <a:ext cx="525162" cy="169748"/>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8" name="Ellipse 7"/>
            <p:cNvSpPr/>
            <p:nvPr/>
          </p:nvSpPr>
          <p:spPr>
            <a:xfrm>
              <a:off x="5172578" y="3781959"/>
              <a:ext cx="1800000" cy="18000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grpSp>
    </p:spTree>
    <p:extLst>
      <p:ext uri="{BB962C8B-B14F-4D97-AF65-F5344CB8AC3E}">
        <p14:creationId xmlns:p14="http://schemas.microsoft.com/office/powerpoint/2010/main" val="14446641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US" sz="2400" spc="-1" dirty="0">
                <a:solidFill>
                  <a:srgbClr val="990000"/>
                </a:solidFill>
                <a:latin typeface="Arial"/>
              </a:rPr>
              <a:t>Updated P-HEV gear shift model (DECL + ENG)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Gear shift model for P-HEV used slightly wrong ICE operation point for evaluation of fuel costs</a:t>
            </a:r>
            <a:br>
              <a:rPr lang="en-US" sz="1800" dirty="0"/>
            </a:br>
            <a:r>
              <a:rPr lang="en-US" sz="1800" dirty="0">
                <a:sym typeface="Wingdings" panose="05000000000000000000" pitchFamily="2" charset="2"/>
              </a:rPr>
              <a:t> mainly relevant for overdrive drivetrain configurations</a:t>
            </a:r>
            <a:br>
              <a:rPr lang="en-US" sz="1800" dirty="0">
                <a:sym typeface="Wingdings" panose="05000000000000000000" pitchFamily="2" charset="2"/>
              </a:rPr>
            </a:br>
            <a:r>
              <a:rPr lang="en-US" sz="1800" dirty="0">
                <a:sym typeface="Wingdings" panose="05000000000000000000" pitchFamily="2" charset="2"/>
              </a:rPr>
              <a:t> effect </a:t>
            </a:r>
            <a:r>
              <a:rPr lang="en-US" sz="1800">
                <a:sym typeface="Wingdings" panose="05000000000000000000" pitchFamily="2" charset="2"/>
              </a:rPr>
              <a:t>for non-overdrive </a:t>
            </a:r>
            <a:r>
              <a:rPr lang="en-US" sz="1800" dirty="0">
                <a:sym typeface="Wingdings" panose="05000000000000000000" pitchFamily="2" charset="2"/>
              </a:rPr>
              <a:t>drivetrains:</a:t>
            </a:r>
          </a:p>
          <a:p>
            <a:pPr lvl="1"/>
            <a:r>
              <a:rPr lang="en-US" sz="1400" dirty="0">
                <a:sym typeface="Wingdings" panose="05000000000000000000" pitchFamily="2" charset="2"/>
              </a:rPr>
              <a:t>Typical LH application: from slight decrease &lt;1% up to slight increase &lt;1% of HEV FC</a:t>
            </a:r>
          </a:p>
          <a:p>
            <a:pPr lvl="1"/>
            <a:r>
              <a:rPr lang="en-US" sz="1400" dirty="0">
                <a:sym typeface="Wingdings" panose="05000000000000000000" pitchFamily="2" charset="2"/>
              </a:rPr>
              <a:t>Typical dynamic (urban) application:</a:t>
            </a:r>
          </a:p>
          <a:p>
            <a:pPr lvl="2"/>
            <a:r>
              <a:rPr lang="en-US" sz="1200" dirty="0">
                <a:sym typeface="Wingdings" panose="05000000000000000000" pitchFamily="2" charset="2"/>
              </a:rPr>
              <a:t>More realistic (higher) acceleration behavior and better following of speed trace like ICE-only counterpart</a:t>
            </a:r>
          </a:p>
          <a:p>
            <a:pPr lvl="2"/>
            <a:r>
              <a:rPr lang="en-US" sz="1200" dirty="0">
                <a:sym typeface="Wingdings" panose="05000000000000000000" pitchFamily="2" charset="2"/>
              </a:rPr>
              <a:t>Still some percent decrease of FC of HEV compared to previous version</a:t>
            </a:r>
            <a:br>
              <a:rPr lang="en-US" sz="1200" dirty="0">
                <a:sym typeface="Wingdings" panose="05000000000000000000" pitchFamily="2" charset="2"/>
              </a:rPr>
            </a:br>
            <a:endParaRPr lang="en-US" sz="1200" dirty="0"/>
          </a:p>
          <a:p>
            <a:r>
              <a:rPr lang="en-US" sz="1800"/>
              <a:t>In </a:t>
            </a:r>
            <a:r>
              <a:rPr lang="en-US" sz="1800" dirty="0"/>
              <a:t>actual simulation nothing was changed, the change only affects methods used for cost evaluation</a:t>
            </a:r>
          </a:p>
          <a:p>
            <a:endParaRPr lang="en-US" sz="18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15</a:t>
            </a:fld>
            <a:endParaRPr lang="de-DE"/>
          </a:p>
        </p:txBody>
      </p:sp>
    </p:spTree>
    <p:extLst>
      <p:ext uri="{BB962C8B-B14F-4D97-AF65-F5344CB8AC3E}">
        <p14:creationId xmlns:p14="http://schemas.microsoft.com/office/powerpoint/2010/main" val="2906471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US" sz="2400" spc="-1" dirty="0">
                <a:solidFill>
                  <a:srgbClr val="990000"/>
                </a:solidFill>
                <a:latin typeface="Arial"/>
              </a:rPr>
              <a:t>Updated P-HEV gear shift model (DECL + ENG) </a:t>
            </a:r>
            <a:endParaRPr lang="en-GB" sz="2400" spc="-1" dirty="0">
              <a:solidFill>
                <a:srgbClr val="990000"/>
              </a:solidFill>
              <a:latin typeface="Arial"/>
            </a:endParaRPr>
          </a:p>
        </p:txBody>
      </p:sp>
      <p:sp>
        <p:nvSpPr>
          <p:cNvPr id="3" name="Inhaltsplatzhalter 2"/>
          <p:cNvSpPr>
            <a:spLocks noGrp="1"/>
          </p:cNvSpPr>
          <p:nvPr>
            <p:ph idx="1"/>
          </p:nvPr>
        </p:nvSpPr>
        <p:spPr/>
        <p:txBody>
          <a:bodyPr>
            <a:normAutofit fontScale="92500" lnSpcReduction="10000"/>
          </a:bodyPr>
          <a:lstStyle/>
          <a:p>
            <a:pPr fontAlgn="base"/>
            <a:r>
              <a:rPr lang="en-IE" dirty="0"/>
              <a:t>Class 4 vehicle on RD reference load;</a:t>
            </a:r>
            <a:r>
              <a:rPr lang="en-US" dirty="0"/>
              <a:t>​</a:t>
            </a:r>
          </a:p>
          <a:p>
            <a:pPr fontAlgn="base"/>
            <a:r>
              <a:rPr lang="en-IE" dirty="0"/>
              <a:t>Gearbox with direct gear (3% higher </a:t>
            </a:r>
            <a:r>
              <a:rPr lang="el-GR" dirty="0"/>
              <a:t>η</a:t>
            </a:r>
            <a:r>
              <a:rPr lang="en-IE" dirty="0"/>
              <a:t>) and overdrive;</a:t>
            </a:r>
            <a:br>
              <a:rPr lang="en-IE" dirty="0"/>
            </a:br>
            <a:br>
              <a:rPr lang="en-IE" dirty="0"/>
            </a:br>
            <a:br>
              <a:rPr lang="en-IE" dirty="0"/>
            </a:br>
            <a:br>
              <a:rPr lang="en-IE" dirty="0"/>
            </a:br>
            <a:br>
              <a:rPr lang="en-IE" dirty="0"/>
            </a:br>
            <a:br>
              <a:rPr lang="en-IE" dirty="0"/>
            </a:br>
            <a:br>
              <a:rPr lang="en-IE" dirty="0"/>
            </a:br>
            <a:endParaRPr lang="en-IE" dirty="0"/>
          </a:p>
          <a:p>
            <a:pPr fontAlgn="base"/>
            <a:r>
              <a:rPr lang="en-IE" dirty="0"/>
              <a:t>Much better results after the update compared to the previous implementation;</a:t>
            </a:r>
            <a:r>
              <a:rPr lang="en-US" dirty="0"/>
              <a:t>​</a:t>
            </a:r>
            <a:endParaRPr lang="en-US" sz="18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16</a:t>
            </a:fld>
            <a:endParaRPr lang="de-DE"/>
          </a:p>
        </p:txBody>
      </p:sp>
      <p:graphicFrame>
        <p:nvGraphicFramePr>
          <p:cNvPr id="5" name="Table 4"/>
          <p:cNvGraphicFramePr>
            <a:graphicFrameLocks noGrp="1"/>
          </p:cNvGraphicFramePr>
          <p:nvPr>
            <p:extLst>
              <p:ext uri="{D42A27DB-BD31-4B8C-83A1-F6EECF244321}">
                <p14:modId xmlns:p14="http://schemas.microsoft.com/office/powerpoint/2010/main" val="1481703761"/>
              </p:ext>
            </p:extLst>
          </p:nvPr>
        </p:nvGraphicFramePr>
        <p:xfrm>
          <a:off x="684558" y="2528760"/>
          <a:ext cx="6463538" cy="1920240"/>
        </p:xfrm>
        <a:graphic>
          <a:graphicData uri="http://schemas.openxmlformats.org/drawingml/2006/table">
            <a:tbl>
              <a:tblPr/>
              <a:tblGrid>
                <a:gridCol w="1015078">
                  <a:extLst>
                    <a:ext uri="{9D8B030D-6E8A-4147-A177-3AD203B41FA5}">
                      <a16:colId xmlns:a16="http://schemas.microsoft.com/office/drawing/2014/main" val="3257838502"/>
                    </a:ext>
                  </a:extLst>
                </a:gridCol>
                <a:gridCol w="1651870">
                  <a:extLst>
                    <a:ext uri="{9D8B030D-6E8A-4147-A177-3AD203B41FA5}">
                      <a16:colId xmlns:a16="http://schemas.microsoft.com/office/drawing/2014/main" val="3012404689"/>
                    </a:ext>
                  </a:extLst>
                </a:gridCol>
                <a:gridCol w="1755648">
                  <a:extLst>
                    <a:ext uri="{9D8B030D-6E8A-4147-A177-3AD203B41FA5}">
                      <a16:colId xmlns:a16="http://schemas.microsoft.com/office/drawing/2014/main" val="1743639116"/>
                    </a:ext>
                  </a:extLst>
                </a:gridCol>
                <a:gridCol w="2040942">
                  <a:extLst>
                    <a:ext uri="{9D8B030D-6E8A-4147-A177-3AD203B41FA5}">
                      <a16:colId xmlns:a16="http://schemas.microsoft.com/office/drawing/2014/main" val="2865279632"/>
                    </a:ext>
                  </a:extLst>
                </a:gridCol>
              </a:tblGrid>
              <a:tr h="241300">
                <a:tc>
                  <a:txBody>
                    <a:bodyPr/>
                    <a:lstStyle/>
                    <a:p>
                      <a:pPr algn="l" fontAlgn="base"/>
                      <a:r>
                        <a:rPr lang="en-IE" sz="1200" b="1" i="0" dirty="0">
                          <a:solidFill>
                            <a:srgbClr val="FFFFFF"/>
                          </a:solidFill>
                          <a:effectLst/>
                          <a:latin typeface="Arial" panose="020B0604020202020204" pitchFamily="34" charset="0"/>
                        </a:rPr>
                        <a:t>Test​</a:t>
                      </a:r>
                      <a:endParaRPr lang="en-IE" sz="1200" b="1" i="0" dirty="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dirty="0">
                          <a:solidFill>
                            <a:srgbClr val="FFFFFF"/>
                          </a:solidFill>
                          <a:effectLst/>
                          <a:latin typeface="Arial" panose="020B0604020202020204" pitchFamily="34" charset="0"/>
                        </a:rPr>
                        <a:t>Consumption [-]​</a:t>
                      </a:r>
                      <a:endParaRPr lang="en-IE" sz="1200" b="1" i="0" dirty="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a:solidFill>
                            <a:srgbClr val="FFFFFF"/>
                          </a:solidFill>
                          <a:effectLst/>
                          <a:latin typeface="Arial" panose="020B0604020202020204" pitchFamily="34" charset="0"/>
                        </a:rPr>
                        <a:t>Direct gear usage [% time]​</a:t>
                      </a:r>
                      <a:endParaRPr lang="en-IE" sz="1200" b="1" i="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a:solidFill>
                            <a:srgbClr val="FFFFFF"/>
                          </a:solidFill>
                          <a:effectLst/>
                          <a:latin typeface="Arial" panose="020B0604020202020204" pitchFamily="34" charset="0"/>
                        </a:rPr>
                        <a:t>Overdrive gear usage [% time]​</a:t>
                      </a:r>
                      <a:endParaRPr lang="en-IE" sz="1200" b="1" i="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extLst>
                  <a:ext uri="{0D108BD9-81ED-4DB2-BD59-A6C34878D82A}">
                    <a16:rowId xmlns:a16="http://schemas.microsoft.com/office/drawing/2014/main" val="4090357267"/>
                  </a:ext>
                </a:extLst>
              </a:tr>
              <a:tr h="241300">
                <a:tc>
                  <a:txBody>
                    <a:bodyPr/>
                    <a:lstStyle/>
                    <a:p>
                      <a:pPr algn="l" fontAlgn="base"/>
                      <a:r>
                        <a:rPr lang="en-IE" sz="1200" b="0" i="0" dirty="0">
                          <a:solidFill>
                            <a:srgbClr val="4D4D4D"/>
                          </a:solidFill>
                          <a:effectLst/>
                          <a:latin typeface="Arial" panose="020B0604020202020204" pitchFamily="34" charset="0"/>
                        </a:rPr>
                        <a:t>ICE ​</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l-GR" sz="1200" b="0" i="0" dirty="0">
                          <a:solidFill>
                            <a:srgbClr val="4D4D4D"/>
                          </a:solidFill>
                          <a:effectLst/>
                          <a:latin typeface="Arial" panose="020B0604020202020204" pitchFamily="34" charset="0"/>
                        </a:rPr>
                        <a:t>1​</a:t>
                      </a:r>
                      <a:endParaRPr lang="el-GR"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42%​</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26%​</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5070144"/>
                  </a:ext>
                </a:extLst>
              </a:tr>
              <a:tr h="241300">
                <a:tc>
                  <a:txBody>
                    <a:bodyPr/>
                    <a:lstStyle/>
                    <a:p>
                      <a:pPr algn="l" fontAlgn="base"/>
                      <a:r>
                        <a:rPr lang="en-IE" sz="1200" b="0" i="0" dirty="0">
                          <a:solidFill>
                            <a:srgbClr val="4D4D4D"/>
                          </a:solidFill>
                          <a:effectLst/>
                          <a:latin typeface="Arial" panose="020B0604020202020204" pitchFamily="34" charset="0"/>
                        </a:rPr>
                        <a:t>Direct + overdrive​</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0.965​</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7%​</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68%​</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2145507768"/>
                  </a:ext>
                </a:extLst>
              </a:tr>
              <a:tr h="241300">
                <a:tc>
                  <a:txBody>
                    <a:bodyPr/>
                    <a:lstStyle/>
                    <a:p>
                      <a:pPr algn="l" fontAlgn="base"/>
                      <a:r>
                        <a:rPr lang="en-IE" sz="1200" b="0" i="0" dirty="0">
                          <a:solidFill>
                            <a:srgbClr val="4D4D4D"/>
                          </a:solidFill>
                          <a:effectLst/>
                          <a:latin typeface="Arial" panose="020B0604020202020204" pitchFamily="34" charset="0"/>
                        </a:rPr>
                        <a:t>Direct only​</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0.895​</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78%​</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3046950323"/>
                  </a:ext>
                </a:extLst>
              </a:tr>
              <a:tr h="241300">
                <a:tc>
                  <a:txBody>
                    <a:bodyPr/>
                    <a:lstStyle/>
                    <a:p>
                      <a:pPr algn="l" fontAlgn="base"/>
                      <a:r>
                        <a:rPr lang="en-IE" sz="1200" b="0" i="0">
                          <a:solidFill>
                            <a:srgbClr val="4D4D4D"/>
                          </a:solidFill>
                          <a:effectLst/>
                          <a:latin typeface="Arial" panose="020B0604020202020204" pitchFamily="34" charset="0"/>
                        </a:rPr>
                        <a:t>Direct + overdrive​</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0.870​</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57%​</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12%​</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extLst>
                  <a:ext uri="{0D108BD9-81ED-4DB2-BD59-A6C34878D82A}">
                    <a16:rowId xmlns:a16="http://schemas.microsoft.com/office/drawing/2014/main" val="3539567919"/>
                  </a:ext>
                </a:extLst>
              </a:tr>
            </a:tbl>
          </a:graphicData>
        </a:graphic>
      </p:graphicFrame>
      <p:sp>
        <p:nvSpPr>
          <p:cNvPr id="6" name="Rectangle 1"/>
          <p:cNvSpPr>
            <a:spLocks noChangeArrowheads="1"/>
          </p:cNvSpPr>
          <p:nvPr/>
        </p:nvSpPr>
        <p:spPr bwMode="auto">
          <a:xfrm>
            <a:off x="622300" y="2366061"/>
            <a:ext cx="91440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solidFill>
                  <a:srgbClr val="000000"/>
                </a:solidFill>
                <a:latin typeface="Times New Roman" panose="02020603050405020304" pitchFamily="18" charset="0"/>
                <a:cs typeface="Times New Roman" panose="02020603050405020304" pitchFamily="18" charset="0"/>
              </a:rPr>
              <a:t> </a:t>
            </a:r>
            <a:endParaRPr lang="en-US" altLang="en-US" dirty="0"/>
          </a:p>
          <a:p>
            <a:endParaRPr lang="en-US" altLang="en-US" dirty="0"/>
          </a:p>
        </p:txBody>
      </p:sp>
    </p:spTree>
    <p:extLst>
      <p:ext uri="{BB962C8B-B14F-4D97-AF65-F5344CB8AC3E}">
        <p14:creationId xmlns:p14="http://schemas.microsoft.com/office/powerpoint/2010/main" val="29044197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IE" sz="2400" spc="-1" dirty="0">
                <a:solidFill>
                  <a:srgbClr val="990000"/>
                </a:solidFill>
                <a:latin typeface="Arial"/>
              </a:rPr>
              <a:t>Updated time-based with gear mode for AT (ENG only)​</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pPr fontAlgn="base"/>
            <a:r>
              <a:rPr lang="en-IE" dirty="0"/>
              <a:t>Several manufacturers reported that the TC can be briefly active in higher gears – mainly during gearshifts;​</a:t>
            </a:r>
          </a:p>
          <a:p>
            <a:pPr fontAlgn="base"/>
            <a:r>
              <a:rPr lang="en-IE" dirty="0"/>
              <a:t>Allow input of "TC active" signal in </a:t>
            </a:r>
            <a:r>
              <a:rPr lang="en-IE" dirty="0" err="1"/>
              <a:t>vdri</a:t>
            </a:r>
            <a:r>
              <a:rPr lang="en-IE" dirty="0"/>
              <a:t> in this mode;​</a:t>
            </a:r>
          </a:p>
          <a:p>
            <a:pPr fontAlgn="base"/>
            <a:r>
              <a:rPr lang="en-IE" dirty="0"/>
              <a:t>Changes apply only in engineering mode. </a:t>
            </a:r>
            <a:r>
              <a:rPr lang="en-IE"/>
              <a:t>Included in the upcoming DEV release;​</a:t>
            </a:r>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17</a:t>
            </a:fld>
            <a:endParaRPr lang="de-DE"/>
          </a:p>
        </p:txBody>
      </p:sp>
      <p:sp>
        <p:nvSpPr>
          <p:cNvPr id="6" name="Rectangle 1"/>
          <p:cNvSpPr>
            <a:spLocks noChangeArrowheads="1"/>
          </p:cNvSpPr>
          <p:nvPr/>
        </p:nvSpPr>
        <p:spPr bwMode="auto">
          <a:xfrm>
            <a:off x="622300" y="2366061"/>
            <a:ext cx="91440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solidFill>
                  <a:srgbClr val="000000"/>
                </a:solidFill>
                <a:latin typeface="Times New Roman" panose="02020603050405020304" pitchFamily="18" charset="0"/>
                <a:cs typeface="Times New Roman" panose="02020603050405020304" pitchFamily="18" charset="0"/>
              </a:rPr>
              <a:t> </a:t>
            </a:r>
            <a:endParaRPr lang="en-US" altLang="en-US" dirty="0"/>
          </a:p>
          <a:p>
            <a:endParaRPr lang="en-US" altLang="en-US" dirty="0"/>
          </a:p>
        </p:txBody>
      </p:sp>
    </p:spTree>
    <p:extLst>
      <p:ext uri="{BB962C8B-B14F-4D97-AF65-F5344CB8AC3E}">
        <p14:creationId xmlns:p14="http://schemas.microsoft.com/office/powerpoint/2010/main" val="42695162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usable SOC range</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Actual SOC range used for simulation is determined according to 3 elements:</a:t>
            </a:r>
          </a:p>
          <a:p>
            <a:pPr lvl="1"/>
            <a:r>
              <a:rPr lang="en-US" sz="1600" dirty="0"/>
              <a:t>Generic SOC range for new vehicle</a:t>
            </a:r>
          </a:p>
          <a:p>
            <a:pPr lvl="2"/>
            <a:r>
              <a:rPr lang="en-US" sz="1400" dirty="0"/>
              <a:t>Defined separately for PEV, OVC-HEV, Non-OVC-HEV (NOVC-HEV)</a:t>
            </a:r>
          </a:p>
          <a:p>
            <a:pPr lvl="1"/>
            <a:r>
              <a:rPr lang="en-US" sz="1600" dirty="0"/>
              <a:t>Declared SOC range for new vehicle acc. to Annex III (</a:t>
            </a:r>
            <a:r>
              <a:rPr lang="en-US" sz="1600" i="1" dirty="0"/>
              <a:t>P413 + P414</a:t>
            </a:r>
            <a:r>
              <a:rPr lang="en-US" sz="1600" dirty="0"/>
              <a:t>)</a:t>
            </a:r>
          </a:p>
          <a:p>
            <a:pPr lvl="1"/>
            <a:r>
              <a:rPr lang="en-US" sz="1600" dirty="0"/>
              <a:t>Deterioration factor applied for half of lifetime</a:t>
            </a:r>
          </a:p>
          <a:p>
            <a:pPr lvl="2"/>
            <a:r>
              <a:rPr lang="en-US" sz="1400" dirty="0"/>
              <a:t>Preliminary assumption: 5% decrease of usable SOC range</a:t>
            </a:r>
            <a:br>
              <a:rPr lang="en-US" sz="1400" dirty="0"/>
            </a:br>
            <a:r>
              <a:rPr lang="en-US" sz="1400" dirty="0"/>
              <a:t>(i.e. 0.95 x SOC-range of new vehicle)</a:t>
            </a:r>
          </a:p>
          <a:p>
            <a:pPr lvl="1"/>
            <a:r>
              <a:rPr lang="en-US" sz="1600" dirty="0"/>
              <a:t>Preliminary figures in table below:</a:t>
            </a:r>
            <a:br>
              <a:rPr lang="en-US" sz="1600" dirty="0"/>
            </a:br>
            <a:br>
              <a:rPr lang="en-US" sz="1600" dirty="0"/>
            </a:br>
            <a:br>
              <a:rPr lang="en-US" sz="1800" dirty="0"/>
            </a:br>
            <a:br>
              <a:rPr lang="en-US" sz="1800" dirty="0"/>
            </a:br>
            <a:endParaRPr lang="en-US" sz="1800" dirty="0"/>
          </a:p>
          <a:p>
            <a:r>
              <a:rPr lang="en-US" sz="1800" dirty="0"/>
              <a:t>Further discussions regarding final values ongoing</a:t>
            </a:r>
            <a:br>
              <a:rPr lang="en-US" sz="1800" dirty="0"/>
            </a:br>
            <a:r>
              <a:rPr lang="en-US" sz="1800" dirty="0">
                <a:sym typeface="Wingdings" panose="05000000000000000000" pitchFamily="2" charset="2"/>
              </a:rPr>
              <a:t> see separate agenda point</a:t>
            </a:r>
            <a:endParaRPr lang="en-GB" sz="1400" dirty="0">
              <a:solidFill>
                <a:srgbClr val="FF0000"/>
              </a:solidFill>
            </a:endParaRPr>
          </a:p>
        </p:txBody>
      </p:sp>
      <p:sp>
        <p:nvSpPr>
          <p:cNvPr id="4" name="Foliennummernplatzhalter 3"/>
          <p:cNvSpPr>
            <a:spLocks noGrp="1"/>
          </p:cNvSpPr>
          <p:nvPr>
            <p:ph type="sldNum" sz="quarter" idx="12"/>
          </p:nvPr>
        </p:nvSpPr>
        <p:spPr/>
        <p:txBody>
          <a:bodyPr/>
          <a:lstStyle/>
          <a:p>
            <a:fld id="{4B64EC4D-37E3-EF42-B9AB-6337577588CB}" type="slidenum">
              <a:rPr lang="de-DE" smtClean="0"/>
              <a:t>18</a:t>
            </a:fld>
            <a:endParaRPr lang="de-DE"/>
          </a:p>
        </p:txBody>
      </p:sp>
      <p:pic>
        <p:nvPicPr>
          <p:cNvPr id="6" name="Grafik 5"/>
          <p:cNvPicPr>
            <a:picLocks noChangeAspect="1"/>
          </p:cNvPicPr>
          <p:nvPr/>
        </p:nvPicPr>
        <p:blipFill>
          <a:blip r:embed="rId2"/>
          <a:stretch>
            <a:fillRect/>
          </a:stretch>
        </p:blipFill>
        <p:spPr>
          <a:xfrm>
            <a:off x="71820" y="3786899"/>
            <a:ext cx="9000000" cy="830557"/>
          </a:xfrm>
          <a:prstGeom prst="rect">
            <a:avLst/>
          </a:prstGeom>
        </p:spPr>
      </p:pic>
    </p:spTree>
    <p:extLst>
      <p:ext uri="{BB962C8B-B14F-4D97-AF65-F5344CB8AC3E}">
        <p14:creationId xmlns:p14="http://schemas.microsoft.com/office/powerpoint/2010/main" val="2067660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fr-FR" sz="2400" spc="-1" dirty="0" err="1">
                <a:solidFill>
                  <a:srgbClr val="990000"/>
                </a:solidFill>
                <a:latin typeface="Arial"/>
              </a:rPr>
              <a:t>Separate</a:t>
            </a:r>
            <a:r>
              <a:rPr lang="fr-FR" sz="2400" spc="-1" dirty="0">
                <a:solidFill>
                  <a:srgbClr val="990000"/>
                </a:solidFill>
                <a:latin typeface="Arial"/>
              </a:rPr>
              <a:t> </a:t>
            </a:r>
            <a:r>
              <a:rPr lang="fr-FR" sz="2400" spc="-1" dirty="0" err="1">
                <a:solidFill>
                  <a:srgbClr val="990000"/>
                </a:solidFill>
                <a:latin typeface="Arial"/>
              </a:rPr>
              <a:t>approach</a:t>
            </a:r>
            <a:r>
              <a:rPr lang="fr-FR" sz="2400" spc="-1" dirty="0">
                <a:solidFill>
                  <a:srgbClr val="990000"/>
                </a:solidFill>
                <a:latin typeface="Arial"/>
              </a:rPr>
              <a:t> „CD mode“ simulation</a:t>
            </a:r>
          </a:p>
        </p:txBody>
      </p:sp>
      <p:sp>
        <p:nvSpPr>
          <p:cNvPr id="3" name="Inhaltsplatzhalter 2"/>
          <p:cNvSpPr>
            <a:spLocks noGrp="1"/>
          </p:cNvSpPr>
          <p:nvPr>
            <p:ph idx="1"/>
          </p:nvPr>
        </p:nvSpPr>
        <p:spPr/>
        <p:txBody>
          <a:bodyPr/>
          <a:lstStyle/>
          <a:p>
            <a:r>
              <a:rPr lang="en-US" sz="1800" dirty="0"/>
              <a:t>„Frozen“ SOC (infinity battery) at „</a:t>
            </a:r>
            <a:r>
              <a:rPr lang="en-US" sz="1800" dirty="0" err="1"/>
              <a:t>SOC</a:t>
            </a:r>
            <a:r>
              <a:rPr lang="en-US" sz="1800" baseline="-25000" dirty="0" err="1"/>
              <a:t>center</a:t>
            </a:r>
            <a:r>
              <a:rPr lang="en-US" sz="1800" dirty="0"/>
              <a:t>“ applied</a:t>
            </a:r>
            <a:br>
              <a:rPr lang="en-US" sz="1800" dirty="0"/>
            </a:br>
            <a:r>
              <a:rPr lang="en-US" sz="1800" dirty="0"/>
              <a:t>(i.e. average of actual </a:t>
            </a:r>
            <a:r>
              <a:rPr lang="en-US" sz="1800" dirty="0" err="1"/>
              <a:t>SOC</a:t>
            </a:r>
            <a:r>
              <a:rPr lang="en-US" sz="1800" baseline="-25000" dirty="0" err="1"/>
              <a:t>max</a:t>
            </a:r>
            <a:r>
              <a:rPr lang="en-US" sz="1800" dirty="0"/>
              <a:t> and </a:t>
            </a:r>
            <a:r>
              <a:rPr lang="en-US" sz="1800" dirty="0" err="1"/>
              <a:t>SOC</a:t>
            </a:r>
            <a:r>
              <a:rPr lang="en-US" sz="1800" baseline="-25000" dirty="0" err="1"/>
              <a:t>min</a:t>
            </a:r>
            <a:r>
              <a:rPr lang="en-US" sz="1800" dirty="0"/>
              <a:t>)</a:t>
            </a:r>
            <a:br>
              <a:rPr lang="en-US" sz="1800" dirty="0"/>
            </a:br>
            <a:r>
              <a:rPr lang="en-US" sz="1800" i="1" dirty="0">
                <a:sym typeface="Wingdings" panose="05000000000000000000" pitchFamily="2" charset="2"/>
              </a:rPr>
              <a:t> see previous slide</a:t>
            </a:r>
            <a:br>
              <a:rPr lang="en-US" sz="1800" dirty="0"/>
            </a:br>
            <a:endParaRPr lang="en-US" sz="800" dirty="0"/>
          </a:p>
          <a:p>
            <a:r>
              <a:rPr lang="en-US" sz="1800" dirty="0"/>
              <a:t>GUI feature to set frozen SOC to other</a:t>
            </a:r>
            <a:br>
              <a:rPr lang="en-US" sz="1800" dirty="0"/>
            </a:br>
            <a:r>
              <a:rPr lang="en-US" sz="1800" dirty="0"/>
              <a:t>values than „center SOC“ (</a:t>
            </a:r>
            <a:r>
              <a:rPr lang="en-US" sz="1800" i="1" dirty="0"/>
              <a:t>see figure</a:t>
            </a:r>
            <a:r>
              <a:rPr lang="en-US" sz="1800" dirty="0"/>
              <a:t>)</a:t>
            </a:r>
          </a:p>
          <a:p>
            <a:pPr lvl="1"/>
            <a:r>
              <a:rPr lang="en-US" sz="1400" dirty="0"/>
              <a:t>Value needs to be between actual </a:t>
            </a:r>
            <a:r>
              <a:rPr lang="en-US" sz="1400" dirty="0" err="1"/>
              <a:t>SOC</a:t>
            </a:r>
            <a:r>
              <a:rPr lang="en-US" sz="1400" baseline="-25000" dirty="0" err="1"/>
              <a:t>max</a:t>
            </a:r>
            <a:r>
              <a:rPr lang="en-US" sz="1400" dirty="0"/>
              <a:t> and </a:t>
            </a:r>
            <a:r>
              <a:rPr lang="en-US" sz="1400" dirty="0" err="1"/>
              <a:t>SOC</a:t>
            </a:r>
            <a:r>
              <a:rPr lang="en-US" sz="1400" baseline="-25000" dirty="0" err="1"/>
              <a:t>min</a:t>
            </a:r>
            <a:br>
              <a:rPr lang="en-US" sz="1400" baseline="-25000" dirty="0"/>
            </a:br>
            <a:r>
              <a:rPr lang="en-US" sz="1400" dirty="0"/>
              <a:t>for each individual battery installed</a:t>
            </a:r>
            <a:br>
              <a:rPr lang="en-US" sz="1400" dirty="0"/>
            </a:br>
            <a:endParaRPr lang="en-US" sz="800" dirty="0"/>
          </a:p>
          <a:p>
            <a:r>
              <a:rPr lang="en-US" sz="1800" dirty="0"/>
              <a:t>Influence factors on result:</a:t>
            </a:r>
          </a:p>
          <a:p>
            <a:pPr lvl="1"/>
            <a:r>
              <a:rPr lang="en-US" sz="1400" dirty="0"/>
              <a:t>Limitation of maximum battery power = f(SOC)</a:t>
            </a:r>
          </a:p>
          <a:p>
            <a:pPr lvl="1"/>
            <a:r>
              <a:rPr lang="en-US" sz="1400" dirty="0"/>
              <a:t>Internal resistance = f(SOC) (i.e. battery losses)</a:t>
            </a:r>
            <a:br>
              <a:rPr lang="en-US" sz="1400" dirty="0"/>
            </a:br>
            <a:endParaRPr lang="en-US" sz="1400" dirty="0"/>
          </a:p>
          <a:p>
            <a:r>
              <a:rPr lang="en-US" sz="1800" dirty="0"/>
              <a:t>Discussions ongoing which SOC level(s) shall be considered for final method</a:t>
            </a:r>
            <a:br>
              <a:rPr lang="en-US" sz="1800" dirty="0"/>
            </a:br>
            <a:r>
              <a:rPr lang="en-US" sz="1800" dirty="0">
                <a:sym typeface="Wingdings" panose="05000000000000000000" pitchFamily="2" charset="2"/>
              </a:rPr>
              <a:t> see separate agenda point</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19</a:t>
            </a:fld>
            <a:endParaRPr lang="de-DE"/>
          </a:p>
        </p:txBody>
      </p:sp>
      <p:grpSp>
        <p:nvGrpSpPr>
          <p:cNvPr id="11" name="Gruppieren 10"/>
          <p:cNvGrpSpPr/>
          <p:nvPr/>
        </p:nvGrpSpPr>
        <p:grpSpPr>
          <a:xfrm>
            <a:off x="6030098" y="2424132"/>
            <a:ext cx="2841799" cy="2201002"/>
            <a:chOff x="5591432" y="2230402"/>
            <a:chExt cx="2841799" cy="2201002"/>
          </a:xfrm>
        </p:grpSpPr>
        <p:pic>
          <p:nvPicPr>
            <p:cNvPr id="7" name="Grafik 6"/>
            <p:cNvPicPr>
              <a:picLocks noChangeAspect="1"/>
            </p:cNvPicPr>
            <p:nvPr/>
          </p:nvPicPr>
          <p:blipFill>
            <a:blip r:embed="rId2"/>
            <a:stretch>
              <a:fillRect/>
            </a:stretch>
          </p:blipFill>
          <p:spPr>
            <a:xfrm>
              <a:off x="5591432" y="2230402"/>
              <a:ext cx="2841799" cy="2201002"/>
            </a:xfrm>
            <a:prstGeom prst="rect">
              <a:avLst/>
            </a:prstGeom>
          </p:spPr>
        </p:pic>
        <p:sp>
          <p:nvSpPr>
            <p:cNvPr id="8" name="Ellipse 7"/>
            <p:cNvSpPr/>
            <p:nvPr/>
          </p:nvSpPr>
          <p:spPr>
            <a:xfrm>
              <a:off x="6000069" y="2485103"/>
              <a:ext cx="551333" cy="178207"/>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9" name="Ellipse 8"/>
            <p:cNvSpPr/>
            <p:nvPr/>
          </p:nvSpPr>
          <p:spPr>
            <a:xfrm>
              <a:off x="6513822" y="3797122"/>
              <a:ext cx="1889702" cy="18897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0" name="Ellipse 9"/>
            <p:cNvSpPr/>
            <p:nvPr/>
          </p:nvSpPr>
          <p:spPr>
            <a:xfrm>
              <a:off x="7798907" y="4043837"/>
              <a:ext cx="551333" cy="23778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grpSp>
    </p:spTree>
    <p:extLst>
      <p:ext uri="{BB962C8B-B14F-4D97-AF65-F5344CB8AC3E}">
        <p14:creationId xmlns:p14="http://schemas.microsoft.com/office/powerpoint/2010/main" val="27520785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de-AT" sz="1800" dirty="0"/>
              <a:t>Case PEV:</a:t>
            </a:r>
          </a:p>
          <a:p>
            <a:pPr lvl="1"/>
            <a:r>
              <a:rPr lang="de-AT" sz="1600" dirty="0" err="1"/>
              <a:t>Only</a:t>
            </a:r>
            <a:r>
              <a:rPr lang="de-AT" sz="1600" dirty="0"/>
              <a:t> </a:t>
            </a:r>
            <a:r>
              <a:rPr lang="de-AT" sz="1600" dirty="0" err="1"/>
              <a:t>re-charging</a:t>
            </a:r>
            <a:r>
              <a:rPr lang="de-AT" sz="1600" dirty="0"/>
              <a:t> in </a:t>
            </a:r>
            <a:r>
              <a:rPr lang="de-AT" sz="1600" dirty="0" err="1"/>
              <a:t>depot</a:t>
            </a:r>
            <a:r>
              <a:rPr lang="de-AT" sz="1600" dirty="0"/>
              <a:t> relevant </a:t>
            </a:r>
            <a:r>
              <a:rPr lang="de-AT" sz="1600" dirty="0" err="1"/>
              <a:t>for</a:t>
            </a:r>
            <a:r>
              <a:rPr lang="de-AT" sz="1600" dirty="0"/>
              <a:t> </a:t>
            </a:r>
            <a:r>
              <a:rPr lang="de-AT" sz="1600" dirty="0" err="1"/>
              <a:t>charging</a:t>
            </a:r>
            <a:r>
              <a:rPr lang="de-AT" sz="1600" dirty="0"/>
              <a:t> </a:t>
            </a:r>
            <a:r>
              <a:rPr lang="de-AT" sz="1600" dirty="0" err="1"/>
              <a:t>losses</a:t>
            </a:r>
            <a:br>
              <a:rPr lang="de-AT" sz="1600" dirty="0"/>
            </a:br>
            <a:r>
              <a:rPr lang="de-AT" sz="1600" dirty="0"/>
              <a:t>(</a:t>
            </a:r>
            <a:r>
              <a:rPr lang="de-AT" sz="1600" dirty="0" err="1"/>
              <a:t>since</a:t>
            </a:r>
            <a:r>
              <a:rPr lang="de-AT" sz="1600" dirty="0"/>
              <a:t> </a:t>
            </a:r>
            <a:r>
              <a:rPr lang="de-AT" sz="1600" dirty="0" err="1"/>
              <a:t>no</a:t>
            </a:r>
            <a:r>
              <a:rPr lang="de-AT" sz="1600" dirty="0"/>
              <a:t> </a:t>
            </a:r>
            <a:r>
              <a:rPr lang="de-AT" sz="1600" dirty="0" err="1"/>
              <a:t>detailled</a:t>
            </a:r>
            <a:r>
              <a:rPr lang="de-AT" sz="1600" dirty="0"/>
              <a:t> </a:t>
            </a:r>
            <a:r>
              <a:rPr lang="de-AT" sz="1600" dirty="0" err="1"/>
              <a:t>information</a:t>
            </a:r>
            <a:r>
              <a:rPr lang="de-AT" sz="1600" dirty="0"/>
              <a:t> in </a:t>
            </a:r>
            <a:r>
              <a:rPr lang="de-AT" sz="1600" dirty="0" err="1"/>
              <a:t>charging</a:t>
            </a:r>
            <a:r>
              <a:rPr lang="de-AT" sz="1600" dirty="0"/>
              <a:t> </a:t>
            </a:r>
            <a:r>
              <a:rPr lang="de-AT" sz="1600" dirty="0" err="1"/>
              <a:t>behaviour</a:t>
            </a:r>
            <a:r>
              <a:rPr lang="de-AT" sz="1600" dirty="0"/>
              <a:t> </a:t>
            </a:r>
            <a:r>
              <a:rPr lang="de-AT" sz="1600" dirty="0" err="1"/>
              <a:t>is</a:t>
            </a:r>
            <a:r>
              <a:rPr lang="de-AT" sz="1600" dirty="0"/>
              <a:t> </a:t>
            </a:r>
            <a:r>
              <a:rPr lang="de-AT" sz="1600" dirty="0" err="1"/>
              <a:t>available</a:t>
            </a:r>
            <a:r>
              <a:rPr lang="de-AT" sz="1600" dirty="0"/>
              <a:t>)</a:t>
            </a:r>
            <a:br>
              <a:rPr lang="de-AT" sz="1600" dirty="0"/>
            </a:br>
            <a:endParaRPr lang="de-AT" sz="1600" dirty="0"/>
          </a:p>
          <a:p>
            <a:pPr lvl="1"/>
            <a:r>
              <a:rPr lang="de-AT" sz="1600" dirty="0"/>
              <a:t>Power </a:t>
            </a:r>
            <a:r>
              <a:rPr lang="de-AT" sz="1600" dirty="0" err="1"/>
              <a:t>level</a:t>
            </a:r>
            <a:r>
              <a:rPr lang="de-AT" sz="1600" dirty="0"/>
              <a:t> </a:t>
            </a:r>
            <a:r>
              <a:rPr lang="de-AT" sz="1600" dirty="0" err="1"/>
              <a:t>for</a:t>
            </a:r>
            <a:r>
              <a:rPr lang="de-AT" sz="1600" dirty="0"/>
              <a:t> </a:t>
            </a:r>
            <a:r>
              <a:rPr lang="de-AT" sz="1600" dirty="0" err="1"/>
              <a:t>determining</a:t>
            </a:r>
            <a:r>
              <a:rPr lang="de-AT" sz="1600" dirty="0"/>
              <a:t> </a:t>
            </a:r>
            <a:r>
              <a:rPr lang="de-AT" sz="1600" dirty="0" err="1"/>
              <a:t>charging</a:t>
            </a:r>
            <a:r>
              <a:rPr lang="de-AT" sz="1600" dirty="0"/>
              <a:t> </a:t>
            </a:r>
            <a:r>
              <a:rPr lang="de-AT" sz="1600" dirty="0" err="1"/>
              <a:t>losses</a:t>
            </a:r>
            <a:r>
              <a:rPr lang="de-AT" sz="1600" dirty="0"/>
              <a:t> in </a:t>
            </a:r>
            <a:r>
              <a:rPr lang="de-AT" sz="1600" dirty="0" err="1"/>
              <a:t>battery</a:t>
            </a:r>
            <a:r>
              <a:rPr lang="de-AT" sz="1600" dirty="0"/>
              <a:t> </a:t>
            </a:r>
            <a:r>
              <a:rPr lang="de-AT" sz="1600" dirty="0" err="1"/>
              <a:t>defined</a:t>
            </a:r>
            <a:r>
              <a:rPr lang="de-AT" sz="1600" dirty="0"/>
              <a:t> </a:t>
            </a:r>
            <a:r>
              <a:rPr lang="de-AT" sz="1600" dirty="0" err="1"/>
              <a:t>by</a:t>
            </a:r>
            <a:r>
              <a:rPr lang="de-AT" sz="1600" dirty="0"/>
              <a:t> </a:t>
            </a:r>
            <a:r>
              <a:rPr lang="de-AT" sz="1600" dirty="0" err="1"/>
              <a:t>following</a:t>
            </a:r>
            <a:r>
              <a:rPr lang="de-AT" sz="1600" dirty="0"/>
              <a:t> </a:t>
            </a:r>
            <a:r>
              <a:rPr lang="de-AT" sz="1600" dirty="0" err="1"/>
              <a:t>equation</a:t>
            </a:r>
            <a:r>
              <a:rPr lang="de-AT" sz="1600" dirty="0"/>
              <a:t>: </a:t>
            </a:r>
            <a:br>
              <a:rPr lang="de-AT" sz="1600" dirty="0"/>
            </a:br>
            <a:r>
              <a:rPr lang="de-AT" sz="1600" dirty="0"/>
              <a:t>nominal </a:t>
            </a:r>
            <a:r>
              <a:rPr lang="de-AT" sz="1600" dirty="0" err="1"/>
              <a:t>charging</a:t>
            </a:r>
            <a:r>
              <a:rPr lang="de-AT" sz="1600" dirty="0"/>
              <a:t> power in kW = </a:t>
            </a:r>
            <a:r>
              <a:rPr lang="de-AT" sz="1600" b="1" i="1" dirty="0"/>
              <a:t>m</a:t>
            </a:r>
            <a:r>
              <a:rPr lang="en-US" sz="1600" b="1" i="1" dirty="0"/>
              <a:t>ax(10, (usable SOC in kWh) / 6h)</a:t>
            </a:r>
          </a:p>
          <a:p>
            <a:pPr lvl="2"/>
            <a:r>
              <a:rPr lang="en-US" sz="1400" dirty="0"/>
              <a:t>Usable SOC is determined by integration of OCV-data from actual </a:t>
            </a:r>
            <a:r>
              <a:rPr lang="en-US" sz="1400" dirty="0" err="1"/>
              <a:t>SOC</a:t>
            </a:r>
            <a:r>
              <a:rPr lang="en-US" sz="1400" baseline="-25000" dirty="0" err="1"/>
              <a:t>min</a:t>
            </a:r>
            <a:r>
              <a:rPr lang="en-US" sz="1400" dirty="0"/>
              <a:t> to </a:t>
            </a:r>
            <a:r>
              <a:rPr lang="en-US" sz="1400" dirty="0" err="1"/>
              <a:t>SOC</a:t>
            </a:r>
            <a:r>
              <a:rPr lang="en-US" sz="1400" baseline="-25000" dirty="0" err="1"/>
              <a:t>max</a:t>
            </a:r>
            <a:br>
              <a:rPr lang="en-US" sz="1400" baseline="-25000"/>
            </a:br>
            <a:endParaRPr lang="en-US" sz="1400" baseline="-25000" dirty="0"/>
          </a:p>
          <a:p>
            <a:pPr lvl="1"/>
            <a:r>
              <a:rPr lang="en-US" sz="1600" dirty="0"/>
              <a:t>Charging efficiency is determined as follows:</a:t>
            </a:r>
          </a:p>
          <a:p>
            <a:pPr lvl="2"/>
            <a:r>
              <a:rPr lang="en-US" sz="1400" dirty="0"/>
              <a:t>Nominal charging current:</a:t>
            </a:r>
            <a:br>
              <a:rPr lang="en-US" sz="1400" dirty="0"/>
            </a:br>
            <a:r>
              <a:rPr lang="en-US" sz="1400" dirty="0"/>
              <a:t>Charging power above is divided by OCV at </a:t>
            </a:r>
            <a:r>
              <a:rPr lang="en-US" sz="1400" dirty="0" err="1"/>
              <a:t>SOC</a:t>
            </a:r>
            <a:r>
              <a:rPr lang="en-US" sz="1400" baseline="-25000" dirty="0" err="1"/>
              <a:t>center</a:t>
            </a:r>
            <a:r>
              <a:rPr lang="en-US" sz="1400" dirty="0"/>
              <a:t> </a:t>
            </a:r>
            <a:r>
              <a:rPr lang="en-US" sz="1100" dirty="0"/>
              <a:t>(i.e. average of actual </a:t>
            </a:r>
            <a:r>
              <a:rPr lang="en-US" sz="1100" dirty="0" err="1"/>
              <a:t>SOC</a:t>
            </a:r>
            <a:r>
              <a:rPr lang="en-US" sz="1100" baseline="-25000" dirty="0" err="1"/>
              <a:t>max</a:t>
            </a:r>
            <a:r>
              <a:rPr lang="en-US" sz="1100" dirty="0"/>
              <a:t> and </a:t>
            </a:r>
            <a:r>
              <a:rPr lang="en-US" sz="1100" dirty="0" err="1"/>
              <a:t>SOC</a:t>
            </a:r>
            <a:r>
              <a:rPr lang="en-US" sz="1100" baseline="-25000" dirty="0" err="1"/>
              <a:t>min</a:t>
            </a:r>
            <a:r>
              <a:rPr lang="en-US" sz="1100" dirty="0"/>
              <a:t>)</a:t>
            </a:r>
            <a:endParaRPr lang="en-US" sz="1400" baseline="-25000" dirty="0"/>
          </a:p>
          <a:p>
            <a:pPr lvl="2"/>
            <a:r>
              <a:rPr lang="en-US" sz="1400" dirty="0"/>
              <a:t>Charging losses: nominal charging current and internal resistance at </a:t>
            </a:r>
            <a:r>
              <a:rPr lang="en-US" sz="1400" dirty="0" err="1"/>
              <a:t>SOC</a:t>
            </a:r>
            <a:r>
              <a:rPr lang="en-US" sz="1400" baseline="-25000" dirty="0" err="1"/>
              <a:t>center</a:t>
            </a:r>
            <a:r>
              <a:rPr lang="en-US" sz="1400" dirty="0"/>
              <a:t> </a:t>
            </a:r>
          </a:p>
          <a:p>
            <a:pPr lvl="2"/>
            <a:r>
              <a:rPr lang="de-AT" sz="1400"/>
              <a:t>Charging efficiency: 1 – (charging losses / charging power)</a:t>
            </a:r>
            <a:endParaRPr lang="de-AT"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20</a:t>
            </a:fld>
            <a:endParaRPr lang="de-DE"/>
          </a:p>
        </p:txBody>
      </p:sp>
    </p:spTree>
    <p:extLst>
      <p:ext uri="{BB962C8B-B14F-4D97-AF65-F5344CB8AC3E}">
        <p14:creationId xmlns:p14="http://schemas.microsoft.com/office/powerpoint/2010/main" val="25149338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de-AT" sz="1800" dirty="0"/>
              <a:t>Case OVC-HEV :</a:t>
            </a:r>
          </a:p>
          <a:p>
            <a:pPr lvl="1"/>
            <a:r>
              <a:rPr lang="de-AT" sz="1600" dirty="0" err="1"/>
              <a:t>Charging</a:t>
            </a:r>
            <a:r>
              <a:rPr lang="de-AT" sz="1600" dirty="0"/>
              <a:t> in </a:t>
            </a:r>
            <a:r>
              <a:rPr lang="de-AT" sz="1600" b="1" u="sng" dirty="0" err="1"/>
              <a:t>depot</a:t>
            </a:r>
            <a:r>
              <a:rPr lang="de-AT" sz="1600" dirty="0"/>
              <a:t> </a:t>
            </a:r>
            <a:r>
              <a:rPr lang="de-AT" sz="1600" dirty="0" err="1"/>
              <a:t>as</a:t>
            </a:r>
            <a:r>
              <a:rPr lang="de-AT" sz="1600" dirty="0"/>
              <a:t> </a:t>
            </a:r>
            <a:r>
              <a:rPr lang="de-AT" sz="1600" dirty="0" err="1"/>
              <a:t>well</a:t>
            </a:r>
            <a:r>
              <a:rPr lang="de-AT" sz="1600" dirty="0"/>
              <a:t> </a:t>
            </a:r>
            <a:r>
              <a:rPr lang="de-AT" sz="1600" dirty="0" err="1"/>
              <a:t>as</a:t>
            </a:r>
            <a:r>
              <a:rPr lang="de-AT" sz="1600" dirty="0"/>
              <a:t> </a:t>
            </a:r>
            <a:r>
              <a:rPr lang="de-AT" sz="1600" b="1" u="sng" dirty="0" err="1"/>
              <a:t>stationary</a:t>
            </a:r>
            <a:r>
              <a:rPr lang="de-AT" sz="1600" b="1" u="sng" dirty="0"/>
              <a:t> </a:t>
            </a:r>
            <a:r>
              <a:rPr lang="de-AT" sz="1600" b="1" u="sng" dirty="0" err="1"/>
              <a:t>during</a:t>
            </a:r>
            <a:r>
              <a:rPr lang="de-AT" sz="1600" b="1" u="sng" dirty="0"/>
              <a:t> </a:t>
            </a:r>
            <a:r>
              <a:rPr lang="de-AT" sz="1600" b="1" u="sng" dirty="0" err="1"/>
              <a:t>mission</a:t>
            </a:r>
            <a:r>
              <a:rPr lang="de-AT" sz="1600" dirty="0"/>
              <a:t> (</a:t>
            </a:r>
            <a:r>
              <a:rPr lang="de-AT" sz="1600" dirty="0" err="1"/>
              <a:t>acc</a:t>
            </a:r>
            <a:r>
              <a:rPr lang="de-AT" sz="1600" dirty="0"/>
              <a:t>. </a:t>
            </a:r>
            <a:r>
              <a:rPr lang="de-AT" sz="1600" dirty="0" err="1"/>
              <a:t>to</a:t>
            </a:r>
            <a:r>
              <a:rPr lang="de-AT" sz="1600" dirty="0"/>
              <a:t> </a:t>
            </a:r>
            <a:r>
              <a:rPr lang="de-AT" sz="1600" dirty="0" err="1"/>
              <a:t>generic</a:t>
            </a:r>
            <a:r>
              <a:rPr lang="de-AT" sz="1600" dirty="0"/>
              <a:t> </a:t>
            </a:r>
            <a:r>
              <a:rPr lang="de-AT" sz="1600" dirty="0" err="1"/>
              <a:t>usage</a:t>
            </a:r>
            <a:r>
              <a:rPr lang="de-AT" sz="1600" dirty="0"/>
              <a:t> </a:t>
            </a:r>
            <a:r>
              <a:rPr lang="de-AT" sz="1600" dirty="0" err="1"/>
              <a:t>data</a:t>
            </a:r>
            <a:r>
              <a:rPr lang="de-AT" sz="1600" dirty="0"/>
              <a:t>) relevant </a:t>
            </a:r>
            <a:r>
              <a:rPr lang="de-AT" sz="1600" dirty="0" err="1"/>
              <a:t>for</a:t>
            </a:r>
            <a:r>
              <a:rPr lang="de-AT" sz="1600" dirty="0"/>
              <a:t> </a:t>
            </a:r>
            <a:r>
              <a:rPr lang="de-AT" sz="1600" dirty="0" err="1"/>
              <a:t>charging</a:t>
            </a:r>
            <a:r>
              <a:rPr lang="de-AT" sz="1600" dirty="0"/>
              <a:t> </a:t>
            </a:r>
            <a:r>
              <a:rPr lang="de-AT" sz="1600" dirty="0" err="1"/>
              <a:t>losses</a:t>
            </a:r>
            <a:br>
              <a:rPr lang="de-AT" sz="1600" dirty="0"/>
            </a:br>
            <a:endParaRPr lang="de-AT" sz="600" dirty="0"/>
          </a:p>
          <a:p>
            <a:pPr lvl="1"/>
            <a:r>
              <a:rPr lang="de-AT" sz="1600" dirty="0"/>
              <a:t>Power </a:t>
            </a:r>
            <a:r>
              <a:rPr lang="de-AT" sz="1600" dirty="0" err="1"/>
              <a:t>level</a:t>
            </a:r>
            <a:r>
              <a:rPr lang="de-AT" sz="1600" dirty="0"/>
              <a:t> </a:t>
            </a:r>
            <a:r>
              <a:rPr lang="de-AT" sz="1600" dirty="0" err="1"/>
              <a:t>for</a:t>
            </a:r>
            <a:r>
              <a:rPr lang="de-AT" sz="1600" dirty="0"/>
              <a:t> </a:t>
            </a:r>
            <a:r>
              <a:rPr lang="de-AT" sz="1600" dirty="0" err="1"/>
              <a:t>determining</a:t>
            </a:r>
            <a:r>
              <a:rPr lang="de-AT" sz="1600" dirty="0"/>
              <a:t> </a:t>
            </a:r>
            <a:r>
              <a:rPr lang="de-AT" sz="1600" dirty="0" err="1"/>
              <a:t>charging</a:t>
            </a:r>
            <a:r>
              <a:rPr lang="de-AT" sz="1600" dirty="0"/>
              <a:t> </a:t>
            </a:r>
            <a:r>
              <a:rPr lang="de-AT" sz="1600" dirty="0" err="1"/>
              <a:t>losses</a:t>
            </a:r>
            <a:r>
              <a:rPr lang="de-AT" sz="1600" dirty="0"/>
              <a:t> in </a:t>
            </a:r>
            <a:r>
              <a:rPr lang="de-AT" sz="1600" dirty="0" err="1"/>
              <a:t>battery</a:t>
            </a:r>
            <a:r>
              <a:rPr lang="de-AT" sz="1600" dirty="0"/>
              <a:t> </a:t>
            </a:r>
            <a:r>
              <a:rPr lang="de-AT" sz="1600" dirty="0" err="1"/>
              <a:t>defined</a:t>
            </a:r>
            <a:r>
              <a:rPr lang="de-AT" sz="1600" dirty="0"/>
              <a:t> </a:t>
            </a:r>
            <a:r>
              <a:rPr lang="de-AT" sz="1600" dirty="0" err="1"/>
              <a:t>as</a:t>
            </a:r>
            <a:r>
              <a:rPr lang="de-AT" sz="1600" dirty="0"/>
              <a:t> </a:t>
            </a:r>
            <a:r>
              <a:rPr lang="de-AT" sz="1600" dirty="0" err="1"/>
              <a:t>follows</a:t>
            </a:r>
            <a:r>
              <a:rPr lang="de-AT" sz="1600" dirty="0"/>
              <a:t>: </a:t>
            </a:r>
          </a:p>
          <a:p>
            <a:pPr lvl="2"/>
            <a:r>
              <a:rPr lang="de-AT" sz="1400" b="1" u="sng" dirty="0"/>
              <a:t>Depot:</a:t>
            </a:r>
            <a:r>
              <a:rPr lang="de-AT" sz="1400" dirty="0"/>
              <a:t> </a:t>
            </a:r>
          </a:p>
          <a:p>
            <a:pPr lvl="3"/>
            <a:r>
              <a:rPr lang="de-AT" sz="1200" dirty="0"/>
              <a:t>same </a:t>
            </a:r>
            <a:r>
              <a:rPr lang="de-AT" sz="1200" dirty="0" err="1"/>
              <a:t>as</a:t>
            </a:r>
            <a:r>
              <a:rPr lang="de-AT" sz="1200" dirty="0"/>
              <a:t> </a:t>
            </a:r>
            <a:r>
              <a:rPr lang="de-AT" sz="1200" dirty="0" err="1"/>
              <a:t>for</a:t>
            </a:r>
            <a:r>
              <a:rPr lang="de-AT" sz="1200" dirty="0"/>
              <a:t> PEV (</a:t>
            </a:r>
            <a:r>
              <a:rPr lang="de-AT" sz="1200" dirty="0" err="1"/>
              <a:t>see</a:t>
            </a:r>
            <a:r>
              <a:rPr lang="de-AT" sz="1200" dirty="0"/>
              <a:t> </a:t>
            </a:r>
            <a:r>
              <a:rPr lang="de-AT" sz="1200" dirty="0" err="1"/>
              <a:t>previous</a:t>
            </a:r>
            <a:r>
              <a:rPr lang="de-AT" sz="1200" dirty="0"/>
              <a:t> </a:t>
            </a:r>
            <a:r>
              <a:rPr lang="de-AT" sz="1200" dirty="0" err="1"/>
              <a:t>slide</a:t>
            </a:r>
            <a:r>
              <a:rPr lang="de-AT" sz="1200" dirty="0"/>
              <a:t>)</a:t>
            </a:r>
          </a:p>
          <a:p>
            <a:pPr lvl="3"/>
            <a:r>
              <a:rPr lang="de-AT" sz="1200" dirty="0"/>
              <a:t>but limited </a:t>
            </a:r>
            <a:r>
              <a:rPr lang="de-AT" sz="1200" dirty="0" err="1"/>
              <a:t>with</a:t>
            </a:r>
            <a:r>
              <a:rPr lang="de-AT" sz="1200" dirty="0"/>
              <a:t> </a:t>
            </a:r>
            <a:r>
              <a:rPr lang="de-AT" sz="1200" dirty="0" err="1"/>
              <a:t>declared</a:t>
            </a:r>
            <a:r>
              <a:rPr lang="de-AT" sz="1200" dirty="0"/>
              <a:t> </a:t>
            </a:r>
            <a:r>
              <a:rPr lang="de-AT" sz="1200" dirty="0" err="1"/>
              <a:t>maximum</a:t>
            </a:r>
            <a:r>
              <a:rPr lang="de-AT" sz="1200" dirty="0"/>
              <a:t> </a:t>
            </a:r>
            <a:r>
              <a:rPr lang="de-AT" sz="1200" dirty="0" err="1"/>
              <a:t>charging</a:t>
            </a:r>
            <a:r>
              <a:rPr lang="de-AT" sz="1200" dirty="0"/>
              <a:t> power </a:t>
            </a:r>
            <a:r>
              <a:rPr lang="en-US" sz="1200" dirty="0"/>
              <a:t>acc. to Annex III (</a:t>
            </a:r>
            <a:r>
              <a:rPr lang="en-US" sz="1200" i="1" dirty="0"/>
              <a:t>P402)</a:t>
            </a:r>
            <a:r>
              <a:rPr lang="de-AT" sz="1200" dirty="0"/>
              <a:t> </a:t>
            </a:r>
            <a:br>
              <a:rPr lang="de-AT" sz="1200" dirty="0"/>
            </a:br>
            <a:endParaRPr lang="de-AT" sz="600" dirty="0"/>
          </a:p>
          <a:p>
            <a:pPr lvl="2"/>
            <a:r>
              <a:rPr lang="de-AT" sz="1400" b="1" u="sng" dirty="0" err="1"/>
              <a:t>Stationary</a:t>
            </a:r>
            <a:r>
              <a:rPr lang="de-AT" sz="1400" b="1" u="sng" dirty="0"/>
              <a:t> </a:t>
            </a:r>
            <a:r>
              <a:rPr lang="de-AT" sz="1400" b="1" u="sng" dirty="0" err="1"/>
              <a:t>during</a:t>
            </a:r>
            <a:r>
              <a:rPr lang="de-AT" sz="1400" b="1" u="sng" dirty="0"/>
              <a:t> </a:t>
            </a:r>
            <a:r>
              <a:rPr lang="de-AT" sz="1400" b="1" u="sng" dirty="0" err="1"/>
              <a:t>mission</a:t>
            </a:r>
            <a:r>
              <a:rPr lang="de-AT" sz="1400" b="1" u="sng" dirty="0"/>
              <a:t>:</a:t>
            </a:r>
            <a:r>
              <a:rPr lang="de-AT" sz="1400" dirty="0"/>
              <a:t> </a:t>
            </a:r>
          </a:p>
          <a:p>
            <a:pPr lvl="3"/>
            <a:r>
              <a:rPr lang="de-AT" sz="1200" dirty="0" err="1"/>
              <a:t>determined</a:t>
            </a:r>
            <a:r>
              <a:rPr lang="de-AT" sz="1200" dirty="0"/>
              <a:t> </a:t>
            </a:r>
            <a:r>
              <a:rPr lang="de-AT" sz="1200" dirty="0" err="1"/>
              <a:t>from</a:t>
            </a:r>
            <a:r>
              <a:rPr lang="de-AT" sz="1200" dirty="0"/>
              <a:t> </a:t>
            </a:r>
            <a:r>
              <a:rPr lang="en-US" sz="1200" dirty="0"/>
              <a:t>matrix of generic usage data as already defined for OVC-UF calculation (function of vehicle group and mission profile)</a:t>
            </a:r>
          </a:p>
          <a:p>
            <a:pPr lvl="3"/>
            <a:r>
              <a:rPr lang="de-AT" sz="1200" dirty="0"/>
              <a:t>limited </a:t>
            </a:r>
            <a:r>
              <a:rPr lang="de-AT" sz="1200" dirty="0" err="1"/>
              <a:t>with</a:t>
            </a:r>
            <a:r>
              <a:rPr lang="de-AT" sz="1200" dirty="0"/>
              <a:t> </a:t>
            </a:r>
            <a:r>
              <a:rPr lang="de-AT" sz="1200" dirty="0" err="1"/>
              <a:t>declared</a:t>
            </a:r>
            <a:r>
              <a:rPr lang="de-AT" sz="1200" dirty="0"/>
              <a:t> </a:t>
            </a:r>
            <a:r>
              <a:rPr lang="de-AT" sz="1200" dirty="0" err="1"/>
              <a:t>maximum</a:t>
            </a:r>
            <a:r>
              <a:rPr lang="de-AT" sz="1200" dirty="0"/>
              <a:t> </a:t>
            </a:r>
            <a:r>
              <a:rPr lang="de-AT" sz="1200" dirty="0" err="1"/>
              <a:t>charging</a:t>
            </a:r>
            <a:r>
              <a:rPr lang="de-AT" sz="1200" dirty="0"/>
              <a:t> power </a:t>
            </a:r>
            <a:r>
              <a:rPr lang="en-US" sz="1200" dirty="0"/>
              <a:t>acc. to Annex III (</a:t>
            </a:r>
            <a:r>
              <a:rPr lang="en-US" sz="1200" i="1" dirty="0"/>
              <a:t>P402)</a:t>
            </a:r>
            <a:br>
              <a:rPr lang="en-US" sz="1200" i="1" dirty="0"/>
            </a:br>
            <a:r>
              <a:rPr lang="en-US" sz="400" b="1" u="sng" dirty="0"/>
              <a:t> </a:t>
            </a:r>
            <a:endParaRPr lang="de-AT" sz="600" b="1" u="sng" dirty="0"/>
          </a:p>
          <a:p>
            <a:pPr lvl="1"/>
            <a:r>
              <a:rPr lang="en-US" sz="1600" dirty="0"/>
              <a:t>2 separate values of charging efficiency determined as described on previous slide</a:t>
            </a:r>
          </a:p>
          <a:p>
            <a:pPr lvl="2"/>
            <a:r>
              <a:rPr lang="de-AT" sz="1400" dirty="0">
                <a:sym typeface="Wingdings" panose="05000000000000000000" pitchFamily="2" charset="2"/>
              </a:rPr>
              <a:t> </a:t>
            </a:r>
            <a:r>
              <a:rPr lang="de-AT" sz="1400" dirty="0" err="1">
                <a:sym typeface="Wingdings" panose="05000000000000000000" pitchFamily="2" charset="2"/>
              </a:rPr>
              <a:t>weighted</a:t>
            </a:r>
            <a:r>
              <a:rPr lang="de-AT" sz="1400" dirty="0">
                <a:sym typeface="Wingdings" panose="05000000000000000000" pitchFamily="2" charset="2"/>
              </a:rPr>
              <a:t> </a:t>
            </a:r>
            <a:r>
              <a:rPr lang="de-AT" sz="1400" dirty="0" err="1">
                <a:sym typeface="Wingdings" panose="05000000000000000000" pitchFamily="2" charset="2"/>
              </a:rPr>
              <a:t>averaging</a:t>
            </a:r>
            <a:r>
              <a:rPr lang="de-AT" sz="1400" dirty="0">
                <a:sym typeface="Wingdings" panose="05000000000000000000" pitchFamily="2" charset="2"/>
              </a:rPr>
              <a:t> </a:t>
            </a:r>
            <a:r>
              <a:rPr lang="de-AT" sz="1400" dirty="0" err="1">
                <a:sym typeface="Wingdings" panose="05000000000000000000" pitchFamily="2" charset="2"/>
              </a:rPr>
              <a:t>by</a:t>
            </a:r>
            <a:r>
              <a:rPr lang="de-AT" sz="1400" dirty="0">
                <a:sym typeface="Wingdings" panose="05000000000000000000" pitchFamily="2" charset="2"/>
              </a:rPr>
              <a:t> </a:t>
            </a:r>
            <a:r>
              <a:rPr lang="de-AT" sz="1400" dirty="0" err="1">
                <a:sym typeface="Wingdings" panose="05000000000000000000" pitchFamily="2" charset="2"/>
              </a:rPr>
              <a:t>amount</a:t>
            </a:r>
            <a:r>
              <a:rPr lang="de-AT" sz="1400" dirty="0">
                <a:sym typeface="Wingdings" panose="05000000000000000000" pitchFamily="2" charset="2"/>
              </a:rPr>
              <a:t> </a:t>
            </a:r>
            <a:r>
              <a:rPr lang="de-AT" sz="1400" dirty="0" err="1">
                <a:sym typeface="Wingdings" panose="05000000000000000000" pitchFamily="2" charset="2"/>
              </a:rPr>
              <a:t>of</a:t>
            </a:r>
            <a:r>
              <a:rPr lang="de-AT" sz="1400" dirty="0">
                <a:sym typeface="Wingdings" panose="05000000000000000000" pitchFamily="2" charset="2"/>
              </a:rPr>
              <a:t> </a:t>
            </a:r>
            <a:r>
              <a:rPr lang="de-AT" sz="1400" dirty="0" err="1">
                <a:sym typeface="Wingdings" panose="05000000000000000000" pitchFamily="2" charset="2"/>
              </a:rPr>
              <a:t>charged</a:t>
            </a:r>
            <a:r>
              <a:rPr lang="de-AT" sz="1400" dirty="0">
                <a:sym typeface="Wingdings" panose="05000000000000000000" pitchFamily="2" charset="2"/>
              </a:rPr>
              <a:t> </a:t>
            </a:r>
            <a:r>
              <a:rPr lang="de-AT" sz="1400" dirty="0" err="1">
                <a:sym typeface="Wingdings" panose="05000000000000000000" pitchFamily="2" charset="2"/>
              </a:rPr>
              <a:t>energy</a:t>
            </a:r>
            <a:r>
              <a:rPr lang="de-AT" sz="1400" dirty="0">
                <a:sym typeface="Wingdings" panose="05000000000000000000" pitchFamily="2" charset="2"/>
              </a:rPr>
              <a:t> </a:t>
            </a:r>
            <a:r>
              <a:rPr lang="de-AT" sz="1400" dirty="0" err="1">
                <a:sym typeface="Wingdings" panose="05000000000000000000" pitchFamily="2" charset="2"/>
              </a:rPr>
              <a:t>for</a:t>
            </a:r>
            <a:r>
              <a:rPr lang="de-AT" sz="1400" dirty="0">
                <a:sym typeface="Wingdings" panose="05000000000000000000" pitchFamily="2" charset="2"/>
              </a:rPr>
              <a:t> </a:t>
            </a:r>
            <a:r>
              <a:rPr lang="de-AT" sz="1400" dirty="0" err="1">
                <a:sym typeface="Wingdings" panose="05000000000000000000" pitchFamily="2" charset="2"/>
              </a:rPr>
              <a:t>depot</a:t>
            </a:r>
            <a:r>
              <a:rPr lang="de-AT" sz="1400" dirty="0">
                <a:sym typeface="Wingdings" panose="05000000000000000000" pitchFamily="2" charset="2"/>
              </a:rPr>
              <a:t> </a:t>
            </a:r>
            <a:r>
              <a:rPr lang="de-AT" sz="1400" dirty="0" err="1">
                <a:sym typeface="Wingdings" panose="05000000000000000000" pitchFamily="2" charset="2"/>
              </a:rPr>
              <a:t>and</a:t>
            </a:r>
            <a:r>
              <a:rPr lang="de-AT" sz="1400" dirty="0">
                <a:sym typeface="Wingdings" panose="05000000000000000000" pitchFamily="2" charset="2"/>
              </a:rPr>
              <a:t> </a:t>
            </a:r>
            <a:r>
              <a:rPr lang="de-AT" sz="1400" dirty="0" err="1">
                <a:sym typeface="Wingdings" panose="05000000000000000000" pitchFamily="2" charset="2"/>
              </a:rPr>
              <a:t>stationary</a:t>
            </a:r>
            <a:r>
              <a:rPr lang="de-AT" sz="1400" dirty="0">
                <a:sym typeface="Wingdings" panose="05000000000000000000" pitchFamily="2" charset="2"/>
              </a:rPr>
              <a:t> </a:t>
            </a:r>
            <a:r>
              <a:rPr lang="de-AT" sz="1400" dirty="0" err="1">
                <a:sym typeface="Wingdings" panose="05000000000000000000" pitchFamily="2" charset="2"/>
              </a:rPr>
              <a:t>during</a:t>
            </a:r>
            <a:r>
              <a:rPr lang="de-AT" sz="1400" dirty="0">
                <a:sym typeface="Wingdings" panose="05000000000000000000" pitchFamily="2" charset="2"/>
              </a:rPr>
              <a:t> </a:t>
            </a:r>
            <a:r>
              <a:rPr lang="de-AT" sz="1400" dirty="0" err="1">
                <a:sym typeface="Wingdings" panose="05000000000000000000" pitchFamily="2" charset="2"/>
              </a:rPr>
              <a:t>mission</a:t>
            </a:r>
            <a:r>
              <a:rPr lang="de-AT" sz="1400" dirty="0">
                <a:sym typeface="Wingdings" panose="05000000000000000000" pitchFamily="2" charset="2"/>
              </a:rPr>
              <a:t> </a:t>
            </a:r>
            <a:r>
              <a:rPr lang="de-AT" sz="1400" dirty="0" err="1">
                <a:sym typeface="Wingdings" panose="05000000000000000000" pitchFamily="2" charset="2"/>
              </a:rPr>
              <a:t>to</a:t>
            </a:r>
            <a:r>
              <a:rPr lang="de-AT" sz="1400" dirty="0">
                <a:sym typeface="Wingdings" panose="05000000000000000000" pitchFamily="2" charset="2"/>
              </a:rPr>
              <a:t> </a:t>
            </a:r>
            <a:r>
              <a:rPr lang="de-AT" sz="1400" dirty="0" err="1">
                <a:sym typeface="Wingdings" panose="05000000000000000000" pitchFamily="2" charset="2"/>
              </a:rPr>
              <a:t>determine</a:t>
            </a:r>
            <a:r>
              <a:rPr lang="de-AT" sz="1400" dirty="0">
                <a:sym typeface="Wingdings" panose="05000000000000000000" pitchFamily="2" charset="2"/>
              </a:rPr>
              <a:t> final </a:t>
            </a:r>
            <a:r>
              <a:rPr lang="de-AT" sz="1400" dirty="0" err="1">
                <a:sym typeface="Wingdings" panose="05000000000000000000" pitchFamily="2" charset="2"/>
              </a:rPr>
              <a:t>charging</a:t>
            </a:r>
            <a:r>
              <a:rPr lang="de-AT" sz="1400" dirty="0">
                <a:sym typeface="Wingdings" panose="05000000000000000000" pitchFamily="2" charset="2"/>
              </a:rPr>
              <a:t> </a:t>
            </a:r>
            <a:r>
              <a:rPr lang="de-AT" sz="1400" dirty="0" err="1">
                <a:sym typeface="Wingdings" panose="05000000000000000000" pitchFamily="2" charset="2"/>
              </a:rPr>
              <a:t>efficiency</a:t>
            </a:r>
            <a:endParaRPr lang="de-AT" sz="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21</a:t>
            </a:fld>
            <a:endParaRPr lang="de-DE"/>
          </a:p>
        </p:txBody>
      </p:sp>
    </p:spTree>
    <p:extLst>
      <p:ext uri="{BB962C8B-B14F-4D97-AF65-F5344CB8AC3E}">
        <p14:creationId xmlns:p14="http://schemas.microsoft.com/office/powerpoint/2010/main" val="7853368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de-AT" sz="1800" dirty="0"/>
              <a:t>Case OVC-HEV </a:t>
            </a:r>
            <a:r>
              <a:rPr lang="de-AT" sz="1800" dirty="0" err="1"/>
              <a:t>calculation</a:t>
            </a:r>
            <a:r>
              <a:rPr lang="de-AT" sz="1800" dirty="0"/>
              <a:t> </a:t>
            </a:r>
            <a:r>
              <a:rPr lang="de-AT" sz="1800" dirty="0" err="1"/>
              <a:t>example</a:t>
            </a:r>
            <a:r>
              <a:rPr lang="de-AT" sz="1800" dirty="0"/>
              <a:t>:</a:t>
            </a:r>
          </a:p>
          <a:p>
            <a:pPr lvl="1"/>
            <a:r>
              <a:rPr lang="de-AT" sz="1400" dirty="0" err="1"/>
              <a:t>Charging</a:t>
            </a:r>
            <a:r>
              <a:rPr lang="de-AT" sz="1400" dirty="0"/>
              <a:t> power </a:t>
            </a:r>
            <a:r>
              <a:rPr lang="de-AT" sz="1400" dirty="0" err="1"/>
              <a:t>levels</a:t>
            </a:r>
            <a:r>
              <a:rPr lang="de-AT" sz="1400" dirty="0"/>
              <a:t>:  </a:t>
            </a:r>
            <a:r>
              <a:rPr lang="de-AT" sz="1200" dirty="0"/>
              <a:t>Depot 10 kW  /  </a:t>
            </a:r>
            <a:r>
              <a:rPr lang="de-AT" sz="1200" dirty="0" err="1"/>
              <a:t>Stationary</a:t>
            </a:r>
            <a:r>
              <a:rPr lang="de-AT" sz="1200" dirty="0"/>
              <a:t> </a:t>
            </a:r>
            <a:r>
              <a:rPr lang="de-AT" sz="1200" dirty="0" err="1"/>
              <a:t>during</a:t>
            </a:r>
            <a:r>
              <a:rPr lang="de-AT" sz="1200" dirty="0"/>
              <a:t> </a:t>
            </a:r>
            <a:r>
              <a:rPr lang="de-AT" sz="1200" dirty="0" err="1"/>
              <a:t>mission</a:t>
            </a:r>
            <a:r>
              <a:rPr lang="de-AT" sz="1200" dirty="0"/>
              <a:t> 250 kW</a:t>
            </a:r>
            <a:br>
              <a:rPr lang="de-AT" sz="1200" dirty="0"/>
            </a:br>
            <a:endParaRPr lang="de-AT" sz="600" dirty="0"/>
          </a:p>
          <a:p>
            <a:pPr lvl="1"/>
            <a:r>
              <a:rPr lang="de-AT" sz="1400" dirty="0" err="1"/>
              <a:t>Battery</a:t>
            </a:r>
            <a:r>
              <a:rPr lang="de-AT" sz="1400" dirty="0"/>
              <a:t> </a:t>
            </a:r>
            <a:r>
              <a:rPr lang="de-AT" sz="1400" dirty="0" err="1"/>
              <a:t>related</a:t>
            </a:r>
            <a:r>
              <a:rPr lang="de-AT" sz="1400" dirty="0"/>
              <a:t> </a:t>
            </a:r>
            <a:r>
              <a:rPr lang="de-AT" sz="1400" dirty="0" err="1"/>
              <a:t>data</a:t>
            </a:r>
            <a:r>
              <a:rPr lang="de-AT" sz="1400" dirty="0"/>
              <a:t> and </a:t>
            </a:r>
            <a:r>
              <a:rPr lang="de-AT" sz="1400" dirty="0" err="1"/>
              <a:t>charging</a:t>
            </a:r>
            <a:r>
              <a:rPr lang="de-AT" sz="1400" dirty="0"/>
              <a:t> </a:t>
            </a:r>
            <a:r>
              <a:rPr lang="de-AT" sz="1400" dirty="0" err="1"/>
              <a:t>currents</a:t>
            </a:r>
            <a:r>
              <a:rPr lang="de-AT" sz="1400" dirty="0"/>
              <a:t>:</a:t>
            </a:r>
            <a:br>
              <a:rPr lang="de-AT" sz="1400" dirty="0"/>
            </a:br>
            <a:br>
              <a:rPr lang="de-AT" sz="1400" dirty="0"/>
            </a:br>
            <a:br>
              <a:rPr lang="de-AT" sz="1400" dirty="0"/>
            </a:br>
            <a:br>
              <a:rPr lang="de-AT" sz="1400" dirty="0"/>
            </a:br>
            <a:endParaRPr lang="de-AT" sz="600" dirty="0"/>
          </a:p>
          <a:p>
            <a:pPr lvl="1"/>
            <a:r>
              <a:rPr lang="de-AT" sz="1400" dirty="0" err="1"/>
              <a:t>Charging</a:t>
            </a:r>
            <a:r>
              <a:rPr lang="de-AT" sz="1400" dirty="0"/>
              <a:t> </a:t>
            </a:r>
            <a:r>
              <a:rPr lang="de-AT" sz="1400" dirty="0" err="1"/>
              <a:t>losses</a:t>
            </a:r>
            <a:r>
              <a:rPr lang="de-AT" sz="1400" dirty="0"/>
              <a:t> and </a:t>
            </a:r>
            <a:r>
              <a:rPr lang="de-AT" sz="1400" dirty="0" err="1"/>
              <a:t>efficiencies</a:t>
            </a:r>
            <a:r>
              <a:rPr lang="de-AT" sz="1400" dirty="0"/>
              <a:t>:</a:t>
            </a:r>
            <a:br>
              <a:rPr lang="de-AT" sz="1400" dirty="0"/>
            </a:br>
            <a:br>
              <a:rPr lang="de-AT" sz="1400" dirty="0"/>
            </a:br>
            <a:br>
              <a:rPr lang="de-AT" sz="1400" dirty="0"/>
            </a:br>
            <a:br>
              <a:rPr lang="de-AT" sz="1400" dirty="0"/>
            </a:br>
            <a:br>
              <a:rPr lang="de-AT" sz="1400" dirty="0"/>
            </a:br>
            <a:br>
              <a:rPr lang="de-AT" sz="1400" dirty="0"/>
            </a:br>
            <a:endParaRPr lang="de-AT" sz="700" dirty="0"/>
          </a:p>
          <a:p>
            <a:pPr lvl="1"/>
            <a:r>
              <a:rPr lang="de-AT" sz="1400" dirty="0" err="1"/>
              <a:t>Weighted</a:t>
            </a:r>
            <a:r>
              <a:rPr lang="de-AT" sz="1400" dirty="0"/>
              <a:t> final </a:t>
            </a:r>
            <a:r>
              <a:rPr lang="de-AT" sz="1400" dirty="0" err="1"/>
              <a:t>charging</a:t>
            </a:r>
            <a:r>
              <a:rPr lang="de-AT" sz="1400" dirty="0"/>
              <a:t> </a:t>
            </a:r>
            <a:r>
              <a:rPr lang="de-AT" sz="1400" dirty="0" err="1"/>
              <a:t>efficiency</a:t>
            </a:r>
            <a:r>
              <a:rPr lang="de-AT" sz="1400" dirty="0"/>
              <a:t>:</a:t>
            </a:r>
            <a:endParaRPr lang="de-AT" sz="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22</a:t>
            </a:fld>
            <a:endParaRPr lang="de-DE"/>
          </a:p>
        </p:txBody>
      </p:sp>
      <p:pic>
        <p:nvPicPr>
          <p:cNvPr id="7" name="Grafik 6"/>
          <p:cNvPicPr>
            <a:picLocks noChangeAspect="1"/>
          </p:cNvPicPr>
          <p:nvPr/>
        </p:nvPicPr>
        <p:blipFill>
          <a:blip r:embed="rId2"/>
          <a:stretch>
            <a:fillRect/>
          </a:stretch>
        </p:blipFill>
        <p:spPr>
          <a:xfrm>
            <a:off x="1279952" y="3413700"/>
            <a:ext cx="4209022" cy="923408"/>
          </a:xfrm>
          <a:prstGeom prst="rect">
            <a:avLst/>
          </a:prstGeom>
        </p:spPr>
      </p:pic>
      <p:pic>
        <p:nvPicPr>
          <p:cNvPr id="10" name="Grafik 9"/>
          <p:cNvPicPr>
            <a:picLocks noChangeAspect="1"/>
          </p:cNvPicPr>
          <p:nvPr/>
        </p:nvPicPr>
        <p:blipFill>
          <a:blip r:embed="rId3"/>
          <a:stretch>
            <a:fillRect/>
          </a:stretch>
        </p:blipFill>
        <p:spPr>
          <a:xfrm>
            <a:off x="2076297" y="2492552"/>
            <a:ext cx="2495523" cy="583785"/>
          </a:xfrm>
          <a:prstGeom prst="rect">
            <a:avLst/>
          </a:prstGeom>
        </p:spPr>
      </p:pic>
      <p:pic>
        <p:nvPicPr>
          <p:cNvPr id="11" name="Grafik 10"/>
          <p:cNvPicPr>
            <a:picLocks noChangeAspect="1"/>
          </p:cNvPicPr>
          <p:nvPr/>
        </p:nvPicPr>
        <p:blipFill>
          <a:blip r:embed="rId4"/>
          <a:stretch>
            <a:fillRect/>
          </a:stretch>
        </p:blipFill>
        <p:spPr>
          <a:xfrm>
            <a:off x="1345341" y="5071637"/>
            <a:ext cx="4078245" cy="829712"/>
          </a:xfrm>
          <a:prstGeom prst="rect">
            <a:avLst/>
          </a:prstGeom>
        </p:spPr>
      </p:pic>
      <p:sp>
        <p:nvSpPr>
          <p:cNvPr id="12" name="Textfeld 11"/>
          <p:cNvSpPr txBox="1"/>
          <p:nvPr/>
        </p:nvSpPr>
        <p:spPr>
          <a:xfrm>
            <a:off x="6759148" y="4694979"/>
            <a:ext cx="2347784" cy="1277273"/>
          </a:xfrm>
          <a:prstGeom prst="rect">
            <a:avLst/>
          </a:prstGeom>
          <a:noFill/>
        </p:spPr>
        <p:txBody>
          <a:bodyPr wrap="square" rtlCol="0">
            <a:spAutoFit/>
          </a:bodyPr>
          <a:lstStyle/>
          <a:p>
            <a:r>
              <a:rPr lang="de-AT" sz="1100" b="1" i="1" dirty="0" err="1"/>
              <a:t>Energy</a:t>
            </a:r>
            <a:r>
              <a:rPr lang="de-AT" sz="1100" b="1" i="1" dirty="0"/>
              <a:t> </a:t>
            </a:r>
            <a:r>
              <a:rPr lang="de-AT" sz="1100" b="1" i="1" dirty="0" err="1"/>
              <a:t>charged</a:t>
            </a:r>
            <a:r>
              <a:rPr lang="de-AT" sz="1100" b="1" i="1" dirty="0"/>
              <a:t> </a:t>
            </a:r>
            <a:r>
              <a:rPr lang="de-AT" sz="1100" b="1" i="1" dirty="0" err="1"/>
              <a:t>during</a:t>
            </a:r>
            <a:r>
              <a:rPr lang="de-AT" sz="1100" b="1" i="1" dirty="0"/>
              <a:t> </a:t>
            </a:r>
            <a:r>
              <a:rPr lang="de-AT" sz="1100" b="1" i="1" dirty="0" err="1"/>
              <a:t>mission</a:t>
            </a:r>
            <a:r>
              <a:rPr lang="de-AT" sz="1100" b="1" i="1" dirty="0"/>
              <a:t> limited </a:t>
            </a:r>
            <a:r>
              <a:rPr lang="de-AT" sz="1100" b="1" i="1" dirty="0" err="1"/>
              <a:t>by</a:t>
            </a:r>
            <a:r>
              <a:rPr lang="de-AT" sz="1100" b="1" i="1" dirty="0"/>
              <a:t>:</a:t>
            </a:r>
          </a:p>
          <a:p>
            <a:pPr marL="285750" indent="-285750">
              <a:buFont typeface="Wingdings" panose="05000000000000000000" pitchFamily="2" charset="2"/>
              <a:buChar char="§"/>
            </a:pPr>
            <a:r>
              <a:rPr lang="de-AT" sz="1100" i="1" dirty="0"/>
              <a:t>Max. </a:t>
            </a:r>
            <a:r>
              <a:rPr lang="de-AT" sz="1100" i="1" dirty="0" err="1"/>
              <a:t>charging</a:t>
            </a:r>
            <a:r>
              <a:rPr lang="de-AT" sz="1100" i="1" dirty="0"/>
              <a:t> power</a:t>
            </a:r>
          </a:p>
          <a:p>
            <a:pPr marL="285750" indent="-285750">
              <a:buFont typeface="Wingdings" panose="05000000000000000000" pitchFamily="2" charset="2"/>
              <a:buChar char="§"/>
            </a:pPr>
            <a:r>
              <a:rPr lang="de-AT" sz="1100" i="1" dirty="0"/>
              <a:t>Duration </a:t>
            </a:r>
            <a:r>
              <a:rPr lang="de-AT" sz="1100" i="1" dirty="0" err="1"/>
              <a:t>of</a:t>
            </a:r>
            <a:r>
              <a:rPr lang="de-AT" sz="1100" i="1" dirty="0"/>
              <a:t> </a:t>
            </a:r>
            <a:r>
              <a:rPr lang="de-AT" sz="1100" i="1" dirty="0" err="1"/>
              <a:t>event</a:t>
            </a:r>
            <a:endParaRPr lang="de-AT" sz="1100" i="1" dirty="0"/>
          </a:p>
          <a:p>
            <a:pPr marL="285750" indent="-285750">
              <a:buFont typeface="Wingdings" panose="05000000000000000000" pitchFamily="2" charset="2"/>
              <a:buChar char="§"/>
            </a:pPr>
            <a:r>
              <a:rPr lang="de-AT" sz="1100" i="1" dirty="0" err="1"/>
              <a:t>Usable</a:t>
            </a:r>
            <a:r>
              <a:rPr lang="de-AT" sz="1100" i="1" dirty="0"/>
              <a:t> </a:t>
            </a:r>
            <a:r>
              <a:rPr lang="de-AT" sz="1100" i="1" dirty="0" err="1"/>
              <a:t>battery</a:t>
            </a:r>
            <a:r>
              <a:rPr lang="de-AT" sz="1100" i="1" dirty="0"/>
              <a:t> </a:t>
            </a:r>
            <a:r>
              <a:rPr lang="de-AT" sz="1100" i="1" dirty="0" err="1"/>
              <a:t>capacity</a:t>
            </a:r>
            <a:endParaRPr lang="de-AT" sz="1100" i="1" dirty="0"/>
          </a:p>
          <a:p>
            <a:pPr marL="285750" indent="-285750">
              <a:buFont typeface="Wingdings" panose="05000000000000000000" pitchFamily="2" charset="2"/>
              <a:buChar char="§"/>
            </a:pPr>
            <a:r>
              <a:rPr lang="de-AT" sz="1100" i="1" dirty="0" err="1"/>
              <a:t>Number</a:t>
            </a:r>
            <a:r>
              <a:rPr lang="de-AT" sz="1100" i="1" dirty="0"/>
              <a:t> </a:t>
            </a:r>
            <a:r>
              <a:rPr lang="de-AT" sz="1100" i="1" dirty="0" err="1"/>
              <a:t>of</a:t>
            </a:r>
            <a:r>
              <a:rPr lang="de-AT" sz="1100" i="1" dirty="0"/>
              <a:t> </a:t>
            </a:r>
            <a:r>
              <a:rPr lang="de-AT" sz="1100" i="1" dirty="0" err="1"/>
              <a:t>charging</a:t>
            </a:r>
            <a:r>
              <a:rPr lang="de-AT" sz="1100" i="1" dirty="0"/>
              <a:t> </a:t>
            </a:r>
            <a:r>
              <a:rPr lang="de-AT" sz="1100" i="1" dirty="0" err="1"/>
              <a:t>events</a:t>
            </a:r>
            <a:endParaRPr lang="de-AT" sz="1100" i="1" dirty="0"/>
          </a:p>
          <a:p>
            <a:pPr marL="285750" indent="-285750">
              <a:buFont typeface="Wingdings" panose="05000000000000000000" pitchFamily="2" charset="2"/>
              <a:buChar char="§"/>
            </a:pPr>
            <a:r>
              <a:rPr lang="de-AT" sz="1100" i="1" dirty="0"/>
              <a:t>Real </a:t>
            </a:r>
            <a:r>
              <a:rPr lang="de-AT" sz="1100" i="1" dirty="0" err="1"/>
              <a:t>world</a:t>
            </a:r>
            <a:r>
              <a:rPr lang="de-AT" sz="1100" i="1" dirty="0"/>
              <a:t> </a:t>
            </a:r>
            <a:r>
              <a:rPr lang="de-AT" sz="1100" i="1" dirty="0" err="1"/>
              <a:t>usage</a:t>
            </a:r>
            <a:r>
              <a:rPr lang="de-AT" sz="1100" i="1" dirty="0"/>
              <a:t> </a:t>
            </a:r>
            <a:r>
              <a:rPr lang="de-AT" sz="1100" i="1" dirty="0" err="1"/>
              <a:t>factor</a:t>
            </a:r>
            <a:r>
              <a:rPr lang="de-AT" sz="1100" i="1" dirty="0"/>
              <a:t> (0.5)</a:t>
            </a:r>
          </a:p>
        </p:txBody>
      </p:sp>
      <p:sp>
        <p:nvSpPr>
          <p:cNvPr id="15" name="Geschweifte Klammer links 14"/>
          <p:cNvSpPr/>
          <p:nvPr/>
        </p:nvSpPr>
        <p:spPr>
          <a:xfrm>
            <a:off x="6575167" y="4793592"/>
            <a:ext cx="188096" cy="1108472"/>
          </a:xfrm>
          <a:prstGeom prst="leftBrace">
            <a:avLst>
              <a:gd name="adj1" fmla="val 8333"/>
              <a:gd name="adj2" fmla="val 43869"/>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6" name="Textfeld 15"/>
          <p:cNvSpPr txBox="1"/>
          <p:nvPr/>
        </p:nvSpPr>
        <p:spPr>
          <a:xfrm>
            <a:off x="6763263" y="3772293"/>
            <a:ext cx="2347784" cy="769441"/>
          </a:xfrm>
          <a:prstGeom prst="rect">
            <a:avLst/>
          </a:prstGeom>
          <a:noFill/>
        </p:spPr>
        <p:txBody>
          <a:bodyPr wrap="square" rtlCol="0">
            <a:spAutoFit/>
          </a:bodyPr>
          <a:lstStyle/>
          <a:p>
            <a:r>
              <a:rPr lang="de-AT" sz="1100" b="1" i="1" dirty="0" err="1"/>
              <a:t>Energy</a:t>
            </a:r>
            <a:r>
              <a:rPr lang="de-AT" sz="1100" b="1" i="1" dirty="0"/>
              <a:t> </a:t>
            </a:r>
            <a:r>
              <a:rPr lang="de-AT" sz="1100" b="1" i="1" dirty="0" err="1"/>
              <a:t>charged</a:t>
            </a:r>
            <a:r>
              <a:rPr lang="de-AT" sz="1100" b="1" i="1" dirty="0"/>
              <a:t> in </a:t>
            </a:r>
            <a:r>
              <a:rPr lang="de-AT" sz="1100" b="1" i="1" dirty="0" err="1"/>
              <a:t>depot</a:t>
            </a:r>
            <a:r>
              <a:rPr lang="de-AT" sz="1100" b="1" i="1" dirty="0"/>
              <a:t> limited </a:t>
            </a:r>
            <a:r>
              <a:rPr lang="de-AT" sz="1100" b="1" i="1" dirty="0" err="1"/>
              <a:t>by</a:t>
            </a:r>
            <a:r>
              <a:rPr lang="de-AT" sz="1100" b="1" i="1" dirty="0"/>
              <a:t>:</a:t>
            </a:r>
          </a:p>
          <a:p>
            <a:pPr marL="285750" indent="-285750">
              <a:buFont typeface="Wingdings" panose="05000000000000000000" pitchFamily="2" charset="2"/>
              <a:buChar char="§"/>
            </a:pPr>
            <a:r>
              <a:rPr lang="de-AT" sz="1100" i="1" dirty="0" err="1"/>
              <a:t>Usable</a:t>
            </a:r>
            <a:r>
              <a:rPr lang="de-AT" sz="1100" i="1" dirty="0"/>
              <a:t> </a:t>
            </a:r>
            <a:r>
              <a:rPr lang="de-AT" sz="1100" i="1" dirty="0" err="1"/>
              <a:t>battery</a:t>
            </a:r>
            <a:r>
              <a:rPr lang="de-AT" sz="1100" i="1" dirty="0"/>
              <a:t> </a:t>
            </a:r>
            <a:r>
              <a:rPr lang="de-AT" sz="1100" i="1" dirty="0" err="1"/>
              <a:t>capacity</a:t>
            </a:r>
            <a:endParaRPr lang="de-AT" sz="1100" i="1" dirty="0"/>
          </a:p>
          <a:p>
            <a:pPr marL="285750" indent="-285750">
              <a:buFont typeface="Wingdings" panose="05000000000000000000" pitchFamily="2" charset="2"/>
              <a:buChar char="§"/>
            </a:pPr>
            <a:r>
              <a:rPr lang="de-AT" sz="1100" i="1" dirty="0"/>
              <a:t>Real </a:t>
            </a:r>
            <a:r>
              <a:rPr lang="de-AT" sz="1100" i="1" dirty="0" err="1"/>
              <a:t>world</a:t>
            </a:r>
            <a:r>
              <a:rPr lang="de-AT" sz="1100" i="1" dirty="0"/>
              <a:t> </a:t>
            </a:r>
            <a:r>
              <a:rPr lang="de-AT" sz="1100" i="1" dirty="0" err="1"/>
              <a:t>usage</a:t>
            </a:r>
            <a:r>
              <a:rPr lang="de-AT" sz="1100" i="1" dirty="0"/>
              <a:t> </a:t>
            </a:r>
            <a:r>
              <a:rPr lang="de-AT" sz="1100" i="1" dirty="0" err="1"/>
              <a:t>factor</a:t>
            </a:r>
            <a:r>
              <a:rPr lang="de-AT" sz="1100" i="1" dirty="0"/>
              <a:t> (0.75)</a:t>
            </a:r>
          </a:p>
        </p:txBody>
      </p:sp>
      <p:sp>
        <p:nvSpPr>
          <p:cNvPr id="17" name="Geschweifte Klammer links 16"/>
          <p:cNvSpPr/>
          <p:nvPr/>
        </p:nvSpPr>
        <p:spPr>
          <a:xfrm>
            <a:off x="6575167" y="3830662"/>
            <a:ext cx="188096" cy="610099"/>
          </a:xfrm>
          <a:prstGeom prst="leftBrace">
            <a:avLst>
              <a:gd name="adj1" fmla="val 8333"/>
              <a:gd name="adj2" fmla="val 43869"/>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cxnSp>
        <p:nvCxnSpPr>
          <p:cNvPr id="19" name="Gewinkelter Verbinder 18"/>
          <p:cNvCxnSpPr/>
          <p:nvPr/>
        </p:nvCxnSpPr>
        <p:spPr>
          <a:xfrm flipV="1">
            <a:off x="5461689" y="4098305"/>
            <a:ext cx="1082589" cy="102820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p:nvPr/>
        </p:nvCxnSpPr>
        <p:spPr>
          <a:xfrm>
            <a:off x="5461689" y="5280970"/>
            <a:ext cx="108258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20995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en-GB" sz="1800" dirty="0"/>
              <a:t>For further details please refer to: </a:t>
            </a:r>
            <a:r>
              <a:rPr lang="en-GB" sz="1800" b="1" i="1" dirty="0"/>
              <a:t>VECTO-DEV WS#9 11.01.2022 (slide 23ff)</a:t>
            </a:r>
          </a:p>
          <a:p>
            <a:endParaRPr lang="en-GB" sz="1800" b="1" i="1" dirty="0"/>
          </a:p>
          <a:p>
            <a:r>
              <a:rPr lang="en-GB" sz="1800" b="1" i="1" dirty="0"/>
              <a:t>Excel will be distributed together with meeting material</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23</a:t>
            </a:fld>
            <a:endParaRPr lang="de-DE"/>
          </a:p>
        </p:txBody>
      </p:sp>
    </p:spTree>
    <p:extLst>
      <p:ext uri="{BB962C8B-B14F-4D97-AF65-F5344CB8AC3E}">
        <p14:creationId xmlns:p14="http://schemas.microsoft.com/office/powerpoint/2010/main" val="18190761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sp>
        <p:nvSpPr>
          <p:cNvPr id="4" name="Foliennummernplatzhalter 3"/>
          <p:cNvSpPr>
            <a:spLocks noGrp="1"/>
          </p:cNvSpPr>
          <p:nvPr>
            <p:ph type="sldNum" sz="quarter" idx="12"/>
          </p:nvPr>
        </p:nvSpPr>
        <p:spPr/>
        <p:txBody>
          <a:bodyPr/>
          <a:lstStyle/>
          <a:p>
            <a:fld id="{4B64EC4D-37E3-EF42-B9AB-6337577588CB}" type="slidenum">
              <a:rPr lang="de-DE" smtClean="0"/>
              <a:t>24</a:t>
            </a:fld>
            <a:endParaRPr lang="de-DE"/>
          </a:p>
        </p:txBody>
      </p:sp>
      <p:sp>
        <p:nvSpPr>
          <p:cNvPr id="6" name="Inhaltsplatzhalter 5"/>
          <p:cNvSpPr>
            <a:spLocks noGrp="1"/>
          </p:cNvSpPr>
          <p:nvPr>
            <p:ph idx="1"/>
          </p:nvPr>
        </p:nvSpPr>
        <p:spPr/>
        <p:txBody>
          <a:bodyPr/>
          <a:lstStyle/>
          <a:p>
            <a:pPr>
              <a:spcBef>
                <a:spcPts val="600"/>
              </a:spcBef>
            </a:pPr>
            <a:r>
              <a:rPr lang="en-US" sz="1600" dirty="0"/>
              <a:t>OVC-HEV are HEV with external charging feature (“Plug-in HEV”)</a:t>
            </a:r>
          </a:p>
          <a:p>
            <a:pPr lvl="1">
              <a:spcBef>
                <a:spcPts val="600"/>
              </a:spcBef>
            </a:pPr>
            <a:r>
              <a:rPr lang="en-US" sz="1600" dirty="0"/>
              <a:t>Declared acc. to Annex III (</a:t>
            </a:r>
            <a:r>
              <a:rPr lang="en-US" sz="1600" i="1" dirty="0"/>
              <a:t>P401)</a:t>
            </a:r>
            <a:br>
              <a:rPr lang="en-US" sz="1600" i="1" dirty="0"/>
            </a:br>
            <a:endParaRPr lang="en-US" sz="1600" dirty="0"/>
          </a:p>
          <a:p>
            <a:pPr>
              <a:spcBef>
                <a:spcPts val="600"/>
              </a:spcBef>
            </a:pPr>
            <a:r>
              <a:rPr lang="en-US" sz="1600" dirty="0"/>
              <a:t>2 operation modes for OVC-HEV defined in VECTO:</a:t>
            </a:r>
          </a:p>
          <a:p>
            <a:pPr lvl="1">
              <a:spcBef>
                <a:spcPts val="600"/>
              </a:spcBef>
            </a:pPr>
            <a:r>
              <a:rPr lang="en-US" sz="1400" dirty="0"/>
              <a:t>Charge depleting mode (CD) where the propulsion energy is provided by the electric storage only</a:t>
            </a:r>
            <a:br>
              <a:rPr lang="en-US" sz="1400" dirty="0"/>
            </a:br>
            <a:r>
              <a:rPr lang="en-US" sz="1400" i="1" dirty="0">
                <a:sym typeface="Wingdings" panose="05000000000000000000" pitchFamily="2" charset="2"/>
              </a:rPr>
              <a:t> results: </a:t>
            </a:r>
            <a:r>
              <a:rPr lang="en-US" sz="1400" i="1" dirty="0" err="1"/>
              <a:t>kWh_el</a:t>
            </a:r>
            <a:r>
              <a:rPr lang="en-US" sz="1400" i="1" dirty="0"/>
              <a:t>/km, electric range</a:t>
            </a:r>
            <a:br>
              <a:rPr lang="en-US" sz="1400" i="1" dirty="0"/>
            </a:br>
            <a:endParaRPr lang="en-US" sz="1400" i="1" dirty="0"/>
          </a:p>
          <a:p>
            <a:pPr lvl="1">
              <a:spcBef>
                <a:spcPts val="600"/>
              </a:spcBef>
            </a:pPr>
            <a:r>
              <a:rPr lang="en-US" sz="1400" dirty="0"/>
              <a:t>Charge sustaining mode (CS) where the propulsion energy is provided by the fuel storage</a:t>
            </a:r>
            <a:br>
              <a:rPr lang="en-US" sz="1400" dirty="0"/>
            </a:br>
            <a:r>
              <a:rPr lang="en-US" sz="1400" i="1" dirty="0">
                <a:sym typeface="Wingdings" panose="05000000000000000000" pitchFamily="2" charset="2"/>
              </a:rPr>
              <a:t> SOC is balanced over complete cycle, thus no electric energy consumption</a:t>
            </a:r>
            <a:br>
              <a:rPr lang="en-US" sz="1400" i="1" dirty="0">
                <a:sym typeface="Wingdings" panose="05000000000000000000" pitchFamily="2" charset="2"/>
              </a:rPr>
            </a:br>
            <a:r>
              <a:rPr lang="en-US" sz="1400" i="1" dirty="0">
                <a:sym typeface="Wingdings" panose="05000000000000000000" pitchFamily="2" charset="2"/>
              </a:rPr>
              <a:t>    (</a:t>
            </a:r>
            <a:r>
              <a:rPr lang="en-US" sz="1400" i="1" dirty="0" err="1"/>
              <a:t>kWh_el</a:t>
            </a:r>
            <a:r>
              <a:rPr lang="en-US" sz="1400" i="1" dirty="0"/>
              <a:t>/km = 0 per definition!)</a:t>
            </a:r>
          </a:p>
          <a:p>
            <a:endParaRPr lang="de-AT" dirty="0"/>
          </a:p>
        </p:txBody>
      </p:sp>
    </p:spTree>
    <p:extLst>
      <p:ext uri="{BB962C8B-B14F-4D97-AF65-F5344CB8AC3E}">
        <p14:creationId xmlns:p14="http://schemas.microsoft.com/office/powerpoint/2010/main" val="25861895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sp>
        <p:nvSpPr>
          <p:cNvPr id="4" name="Foliennummernplatzhalter 3"/>
          <p:cNvSpPr>
            <a:spLocks noGrp="1"/>
          </p:cNvSpPr>
          <p:nvPr>
            <p:ph type="sldNum" sz="quarter" idx="12"/>
          </p:nvPr>
        </p:nvSpPr>
        <p:spPr/>
        <p:txBody>
          <a:bodyPr/>
          <a:lstStyle/>
          <a:p>
            <a:fld id="{4B64EC4D-37E3-EF42-B9AB-6337577588CB}" type="slidenum">
              <a:rPr lang="de-DE" smtClean="0"/>
              <a:t>25</a:t>
            </a:fld>
            <a:endParaRPr lang="de-DE"/>
          </a:p>
        </p:txBody>
      </p:sp>
      <p:sp>
        <p:nvSpPr>
          <p:cNvPr id="6" name="Inhaltsplatzhalter 5"/>
          <p:cNvSpPr>
            <a:spLocks noGrp="1"/>
          </p:cNvSpPr>
          <p:nvPr>
            <p:ph idx="1"/>
          </p:nvPr>
        </p:nvSpPr>
        <p:spPr/>
        <p:txBody>
          <a:bodyPr/>
          <a:lstStyle/>
          <a:p>
            <a:pPr>
              <a:spcBef>
                <a:spcPts val="600"/>
              </a:spcBef>
            </a:pPr>
            <a:r>
              <a:rPr lang="en-US" sz="1600" dirty="0"/>
              <a:t>Separate simulation runs are performed in VECTO for each mode automatically</a:t>
            </a:r>
            <a:br>
              <a:rPr lang="en-US" sz="1600" dirty="0"/>
            </a:br>
            <a:endParaRPr lang="en-US" sz="1600" dirty="0"/>
          </a:p>
          <a:p>
            <a:pPr>
              <a:spcBef>
                <a:spcPts val="600"/>
              </a:spcBef>
            </a:pPr>
            <a:r>
              <a:rPr lang="en-US" sz="1600" dirty="0"/>
              <a:t>Separate results for CD and CS are weighted for final result based on utility factor (UF)</a:t>
            </a:r>
          </a:p>
          <a:p>
            <a:pPr lvl="1">
              <a:spcBef>
                <a:spcPts val="600"/>
              </a:spcBef>
            </a:pPr>
            <a:r>
              <a:rPr lang="en-US" sz="1400" dirty="0"/>
              <a:t>UF is defined as share of electric range in CD mode on total daily mileage of each mission profile</a:t>
            </a:r>
          </a:p>
          <a:p>
            <a:pPr lvl="2">
              <a:spcBef>
                <a:spcPts val="600"/>
              </a:spcBef>
            </a:pPr>
            <a:r>
              <a:rPr lang="en-US" sz="1200" dirty="0"/>
              <a:t>electric range is defined by:</a:t>
            </a:r>
          </a:p>
          <a:p>
            <a:pPr lvl="3">
              <a:spcBef>
                <a:spcPts val="600"/>
              </a:spcBef>
            </a:pPr>
            <a:r>
              <a:rPr lang="en-US" sz="1100" dirty="0"/>
              <a:t>Electric energy consumption in the specific mission in [kWh/km] as result from the simulation</a:t>
            </a:r>
          </a:p>
          <a:p>
            <a:pPr lvl="3">
              <a:spcBef>
                <a:spcPts val="600"/>
              </a:spcBef>
            </a:pPr>
            <a:r>
              <a:rPr lang="en-US" sz="1100" dirty="0"/>
              <a:t>Usable electric energy, which in turn is defined by:</a:t>
            </a:r>
          </a:p>
          <a:p>
            <a:pPr lvl="4">
              <a:spcBef>
                <a:spcPts val="600"/>
              </a:spcBef>
            </a:pPr>
            <a:r>
              <a:rPr lang="en-US" sz="1100" dirty="0"/>
              <a:t>battery capacity due to initial SOC</a:t>
            </a:r>
          </a:p>
          <a:p>
            <a:pPr lvl="4">
              <a:spcBef>
                <a:spcPts val="600"/>
              </a:spcBef>
            </a:pPr>
            <a:r>
              <a:rPr lang="en-US" sz="1100" dirty="0"/>
              <a:t>generic assumptions for re-charging during each mission</a:t>
            </a:r>
            <a:br>
              <a:rPr lang="en-US" sz="1100" dirty="0"/>
            </a:br>
            <a:r>
              <a:rPr lang="en-US" sz="1100" dirty="0"/>
              <a:t>(number and duration of charging events, available charging power from infrastructure)</a:t>
            </a:r>
            <a:br>
              <a:rPr lang="en-US" sz="1100" dirty="0"/>
            </a:br>
            <a:endParaRPr lang="en-US" sz="1000" dirty="0"/>
          </a:p>
          <a:p>
            <a:pPr lvl="1">
              <a:spcBef>
                <a:spcPts val="600"/>
              </a:spcBef>
            </a:pPr>
            <a:r>
              <a:rPr lang="en-US" sz="1400" dirty="0"/>
              <a:t>Weighted results (fuel or energy consumption) are calculated according to the following equation:</a:t>
            </a:r>
          </a:p>
          <a:p>
            <a:pPr lvl="1">
              <a:spcBef>
                <a:spcPts val="600"/>
              </a:spcBef>
            </a:pPr>
            <a:endParaRPr lang="en-US" sz="1400" dirty="0"/>
          </a:p>
        </p:txBody>
      </p:sp>
      <p:pic>
        <p:nvPicPr>
          <p:cNvPr id="5" name="Grafik 4"/>
          <p:cNvPicPr>
            <a:picLocks noChangeAspect="1"/>
          </p:cNvPicPr>
          <p:nvPr/>
        </p:nvPicPr>
        <p:blipFill>
          <a:blip r:embed="rId2"/>
          <a:stretch>
            <a:fillRect/>
          </a:stretch>
        </p:blipFill>
        <p:spPr>
          <a:xfrm>
            <a:off x="1314755" y="5132654"/>
            <a:ext cx="2731488" cy="783295"/>
          </a:xfrm>
          <a:prstGeom prst="rect">
            <a:avLst/>
          </a:prstGeom>
        </p:spPr>
      </p:pic>
    </p:spTree>
    <p:extLst>
      <p:ext uri="{BB962C8B-B14F-4D97-AF65-F5344CB8AC3E}">
        <p14:creationId xmlns:p14="http://schemas.microsoft.com/office/powerpoint/2010/main" val="33252939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Range calculations</a:t>
            </a:r>
          </a:p>
        </p:txBody>
      </p:sp>
      <p:sp>
        <p:nvSpPr>
          <p:cNvPr id="3" name="Inhaltsplatzhalter 2"/>
          <p:cNvSpPr>
            <a:spLocks noGrp="1"/>
          </p:cNvSpPr>
          <p:nvPr>
            <p:ph idx="1"/>
          </p:nvPr>
        </p:nvSpPr>
        <p:spPr/>
        <p:txBody>
          <a:bodyPr/>
          <a:lstStyle/>
          <a:p>
            <a:r>
              <a:rPr lang="en-US" sz="1800" dirty="0"/>
              <a:t>Overview of different ranges in result matrix in VECTO</a:t>
            </a:r>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26</a:t>
            </a:fld>
            <a:endParaRPr lang="de-DE"/>
          </a:p>
        </p:txBody>
      </p:sp>
      <p:graphicFrame>
        <p:nvGraphicFramePr>
          <p:cNvPr id="7" name="Tabelle 6"/>
          <p:cNvGraphicFramePr>
            <a:graphicFrameLocks noGrp="1"/>
          </p:cNvGraphicFramePr>
          <p:nvPr>
            <p:extLst/>
          </p:nvPr>
        </p:nvGraphicFramePr>
        <p:xfrm>
          <a:off x="917938" y="2549079"/>
          <a:ext cx="6221501" cy="2481635"/>
        </p:xfrm>
        <a:graphic>
          <a:graphicData uri="http://schemas.openxmlformats.org/drawingml/2006/table">
            <a:tbl>
              <a:tblPr firstRow="1" bandRow="1">
                <a:tableStyleId>{5C22544A-7EE6-4342-B048-85BDC9FD1C3A}</a:tableStyleId>
              </a:tblPr>
              <a:tblGrid>
                <a:gridCol w="1840495">
                  <a:extLst>
                    <a:ext uri="{9D8B030D-6E8A-4147-A177-3AD203B41FA5}">
                      <a16:colId xmlns:a16="http://schemas.microsoft.com/office/drawing/2014/main" val="984975428"/>
                    </a:ext>
                  </a:extLst>
                </a:gridCol>
                <a:gridCol w="4381006">
                  <a:extLst>
                    <a:ext uri="{9D8B030D-6E8A-4147-A177-3AD203B41FA5}">
                      <a16:colId xmlns:a16="http://schemas.microsoft.com/office/drawing/2014/main" val="3109349199"/>
                    </a:ext>
                  </a:extLst>
                </a:gridCol>
              </a:tblGrid>
              <a:tr h="302315">
                <a:tc>
                  <a:txBody>
                    <a:bodyPr/>
                    <a:lstStyle/>
                    <a:p>
                      <a:r>
                        <a:rPr lang="en-GB" sz="1200" dirty="0"/>
                        <a:t>Electric range</a:t>
                      </a:r>
                    </a:p>
                  </a:txBody>
                  <a:tcPr/>
                </a:tc>
                <a:tc>
                  <a:txBody>
                    <a:bodyPr/>
                    <a:lstStyle/>
                    <a:p>
                      <a:r>
                        <a:rPr lang="en-GB" sz="1200" dirty="0"/>
                        <a:t>Definition</a:t>
                      </a:r>
                    </a:p>
                  </a:txBody>
                  <a:tcPr/>
                </a:tc>
                <a:extLst>
                  <a:ext uri="{0D108BD9-81ED-4DB2-BD59-A6C34878D82A}">
                    <a16:rowId xmlns:a16="http://schemas.microsoft.com/office/drawing/2014/main" val="652954536"/>
                  </a:ext>
                </a:extLst>
              </a:tr>
              <a:tr h="370840">
                <a:tc>
                  <a:txBody>
                    <a:bodyPr/>
                    <a:lstStyle/>
                    <a:p>
                      <a:pPr>
                        <a:spcBef>
                          <a:spcPts val="600"/>
                        </a:spcBef>
                      </a:pPr>
                      <a:r>
                        <a:rPr lang="en-GB" sz="1000" b="1"/>
                        <a:t>Actual charge depleting range</a:t>
                      </a:r>
                    </a:p>
                    <a:p>
                      <a:pPr>
                        <a:spcBef>
                          <a:spcPts val="600"/>
                        </a:spcBef>
                      </a:pPr>
                      <a:r>
                        <a:rPr lang="en-GB" sz="1000" b="1"/>
                        <a:t>(R</a:t>
                      </a:r>
                      <a:r>
                        <a:rPr lang="en-GB" sz="1000" b="1" baseline="-25000"/>
                        <a:t>CDA</a:t>
                      </a:r>
                      <a:r>
                        <a:rPr lang="en-GB" sz="1000" b="1" baseline="0"/>
                        <a:t>)</a:t>
                      </a:r>
                    </a:p>
                  </a:txBody>
                  <a:tcPr/>
                </a:tc>
                <a:tc>
                  <a:txBody>
                    <a:bodyPr/>
                    <a:lstStyle/>
                    <a:p>
                      <a:r>
                        <a:rPr lang="en-US" sz="1000" dirty="0">
                          <a:latin typeface="Times New Roman" panose="02020603050405020304" pitchFamily="18" charset="0"/>
                          <a:cs typeface="Times New Roman" panose="02020603050405020304" pitchFamily="18" charset="0"/>
                        </a:rPr>
                        <a:t>The range that can be driven in charge depleting mode based on the usable amount of REESS energy, without any interim charging. (Annex IV)</a:t>
                      </a:r>
                      <a:endParaRPr lang="en-GB" sz="1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08025345"/>
                  </a:ext>
                </a:extLst>
              </a:tr>
              <a:tr h="370840">
                <a:tc>
                  <a:txBody>
                    <a:bodyPr/>
                    <a:lstStyle/>
                    <a:p>
                      <a:pPr>
                        <a:spcBef>
                          <a:spcPts val="600"/>
                        </a:spcBef>
                      </a:pPr>
                      <a:r>
                        <a:rPr lang="en-GB" sz="1000" b="1" dirty="0"/>
                        <a:t>Equivalent all electric range</a:t>
                      </a:r>
                    </a:p>
                    <a:p>
                      <a:pPr>
                        <a:spcBef>
                          <a:spcPts val="600"/>
                        </a:spcBef>
                      </a:pPr>
                      <a:r>
                        <a:rPr lang="en-GB" sz="1000" b="1" dirty="0"/>
                        <a:t>(EAER)</a:t>
                      </a:r>
                    </a:p>
                  </a:txBody>
                  <a:tcPr/>
                </a:tc>
                <a:tc>
                  <a:txBody>
                    <a:bodyPr/>
                    <a:lstStyle/>
                    <a:p>
                      <a:pPr>
                        <a:spcBef>
                          <a:spcPts val="600"/>
                        </a:spcBef>
                      </a:pPr>
                      <a:r>
                        <a:rPr lang="en-US" sz="1000" dirty="0">
                          <a:latin typeface="Times New Roman" panose="02020603050405020304" pitchFamily="18" charset="0"/>
                          <a:cs typeface="Times New Roman" panose="02020603050405020304" pitchFamily="18" charset="0"/>
                        </a:rPr>
                        <a:t>The part of the actual charge depleting range that can be attributed to the use of electric energy from the REESS, i.e. without any energy provided by the non-electric propulsion energy storage system. (Annex IV)</a:t>
                      </a:r>
                    </a:p>
                    <a:p>
                      <a:pPr>
                        <a:spcBef>
                          <a:spcPts val="600"/>
                        </a:spcBef>
                      </a:pPr>
                      <a:r>
                        <a:rPr lang="en-US" sz="1000" dirty="0">
                          <a:latin typeface="+mn-lt"/>
                          <a:cs typeface="Times New Roman" panose="02020603050405020304" pitchFamily="18" charset="0"/>
                        </a:rPr>
                        <a:t>i.e.</a:t>
                      </a:r>
                      <a:r>
                        <a:rPr lang="en-US" sz="1000" baseline="0" dirty="0">
                          <a:latin typeface="+mn-lt"/>
                          <a:cs typeface="Times New Roman" panose="02020603050405020304" pitchFamily="18" charset="0"/>
                        </a:rPr>
                        <a:t> R</a:t>
                      </a:r>
                      <a:r>
                        <a:rPr lang="en-US" sz="1000" baseline="-25000" dirty="0">
                          <a:latin typeface="+mn-lt"/>
                          <a:cs typeface="Times New Roman" panose="02020603050405020304" pitchFamily="18" charset="0"/>
                        </a:rPr>
                        <a:t>CDA</a:t>
                      </a:r>
                      <a:r>
                        <a:rPr lang="en-US" sz="1000" baseline="0" dirty="0">
                          <a:latin typeface="+mn-lt"/>
                          <a:cs typeface="Times New Roman" panose="02020603050405020304" pitchFamily="18" charset="0"/>
                        </a:rPr>
                        <a:t> mathematically reduced by energy content of fuel used (based on fuel consumption in charge sustaining mode)</a:t>
                      </a:r>
                      <a:endParaRPr lang="en-GB" sz="1000" dirty="0">
                        <a:latin typeface="+mn-lt"/>
                        <a:cs typeface="Times New Roman" panose="02020603050405020304" pitchFamily="18" charset="0"/>
                      </a:endParaRPr>
                    </a:p>
                  </a:txBody>
                  <a:tcPr/>
                </a:tc>
                <a:extLst>
                  <a:ext uri="{0D108BD9-81ED-4DB2-BD59-A6C34878D82A}">
                    <a16:rowId xmlns:a16="http://schemas.microsoft.com/office/drawing/2014/main" val="2413726602"/>
                  </a:ext>
                </a:extLst>
              </a:tr>
              <a:tr h="370840">
                <a:tc>
                  <a:txBody>
                    <a:bodyPr/>
                    <a:lstStyle/>
                    <a:p>
                      <a:pPr>
                        <a:spcBef>
                          <a:spcPts val="600"/>
                        </a:spcBef>
                      </a:pPr>
                      <a:r>
                        <a:rPr lang="en-GB" sz="1000" b="1" dirty="0"/>
                        <a:t>Zero CO</a:t>
                      </a:r>
                      <a:r>
                        <a:rPr lang="en-GB" sz="1000" b="1" baseline="-25000" dirty="0"/>
                        <a:t>2 </a:t>
                      </a:r>
                      <a:r>
                        <a:rPr lang="en-GB" sz="1000" b="1" dirty="0"/>
                        <a:t>emissions range</a:t>
                      </a:r>
                    </a:p>
                    <a:p>
                      <a:pPr>
                        <a:spcBef>
                          <a:spcPts val="600"/>
                        </a:spcBef>
                      </a:pPr>
                      <a:r>
                        <a:rPr lang="en-GB" sz="1000" b="1" dirty="0"/>
                        <a:t>(ZCER)</a:t>
                      </a:r>
                    </a:p>
                  </a:txBody>
                  <a:tcPr/>
                </a:tc>
                <a:tc>
                  <a:txBody>
                    <a:bodyPr/>
                    <a:lstStyle/>
                    <a:p>
                      <a:pPr>
                        <a:spcBef>
                          <a:spcPts val="600"/>
                        </a:spcBef>
                      </a:pPr>
                      <a:r>
                        <a:rPr lang="en-US" sz="1000" dirty="0">
                          <a:latin typeface="Times New Roman" panose="02020603050405020304" pitchFamily="18" charset="0"/>
                          <a:cs typeface="Times New Roman" panose="02020603050405020304" pitchFamily="18" charset="0"/>
                        </a:rPr>
                        <a:t>The range that can be attributed to energy provided by propulsion energy storage systems considered with zero CO</a:t>
                      </a:r>
                      <a:r>
                        <a:rPr lang="en-US" sz="1000" baseline="-25000" dirty="0">
                          <a:latin typeface="Times New Roman" panose="02020603050405020304" pitchFamily="18" charset="0"/>
                          <a:cs typeface="Times New Roman" panose="02020603050405020304" pitchFamily="18" charset="0"/>
                        </a:rPr>
                        <a:t>2</a:t>
                      </a:r>
                      <a:r>
                        <a:rPr lang="en-US" sz="1000" dirty="0">
                          <a:latin typeface="Times New Roman" panose="02020603050405020304" pitchFamily="18" charset="0"/>
                          <a:cs typeface="Times New Roman" panose="02020603050405020304" pitchFamily="18" charset="0"/>
                        </a:rPr>
                        <a:t> impact. (Annex IV)</a:t>
                      </a:r>
                    </a:p>
                    <a:p>
                      <a:pPr>
                        <a:spcBef>
                          <a:spcPts val="600"/>
                        </a:spcBef>
                      </a:pPr>
                      <a:endParaRPr lang="en-US" sz="1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291852091"/>
                  </a:ext>
                </a:extLst>
              </a:tr>
            </a:tbl>
          </a:graphicData>
        </a:graphic>
      </p:graphicFrame>
      <p:sp>
        <p:nvSpPr>
          <p:cNvPr id="6" name="Geschweifte Klammer rechts 5"/>
          <p:cNvSpPr/>
          <p:nvPr/>
        </p:nvSpPr>
        <p:spPr>
          <a:xfrm>
            <a:off x="7201609" y="3494863"/>
            <a:ext cx="96552" cy="152681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8" name="Gleich 7"/>
          <p:cNvSpPr/>
          <p:nvPr/>
        </p:nvSpPr>
        <p:spPr>
          <a:xfrm>
            <a:off x="7360332" y="4130997"/>
            <a:ext cx="527318" cy="272616"/>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
        <p:nvSpPr>
          <p:cNvPr id="9" name="Textfeld 8"/>
          <p:cNvSpPr txBox="1"/>
          <p:nvPr/>
        </p:nvSpPr>
        <p:spPr>
          <a:xfrm>
            <a:off x="7348317" y="3578333"/>
            <a:ext cx="551349" cy="600164"/>
          </a:xfrm>
          <a:prstGeom prst="rect">
            <a:avLst/>
          </a:prstGeom>
          <a:noFill/>
        </p:spPr>
        <p:txBody>
          <a:bodyPr wrap="square" rtlCol="0">
            <a:spAutoFit/>
          </a:bodyPr>
          <a:lstStyle/>
          <a:p>
            <a:pPr algn="ctr"/>
            <a:r>
              <a:rPr lang="de-AT" sz="1100" dirty="0" err="1"/>
              <a:t>for</a:t>
            </a:r>
            <a:r>
              <a:rPr lang="de-AT" sz="1100" dirty="0"/>
              <a:t> OVC-HEV</a:t>
            </a:r>
          </a:p>
        </p:txBody>
      </p:sp>
      <p:sp>
        <p:nvSpPr>
          <p:cNvPr id="10" name="Geschweifte Klammer rechts 9"/>
          <p:cNvSpPr/>
          <p:nvPr/>
        </p:nvSpPr>
        <p:spPr>
          <a:xfrm>
            <a:off x="8138253" y="2825677"/>
            <a:ext cx="96552" cy="21960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1" name="Gleich 10"/>
          <p:cNvSpPr/>
          <p:nvPr/>
        </p:nvSpPr>
        <p:spPr>
          <a:xfrm>
            <a:off x="8250444" y="3789280"/>
            <a:ext cx="527318" cy="272616"/>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
        <p:nvSpPr>
          <p:cNvPr id="12" name="Textfeld 11"/>
          <p:cNvSpPr txBox="1"/>
          <p:nvPr/>
        </p:nvSpPr>
        <p:spPr>
          <a:xfrm>
            <a:off x="8238429" y="3401329"/>
            <a:ext cx="551349" cy="430887"/>
          </a:xfrm>
          <a:prstGeom prst="rect">
            <a:avLst/>
          </a:prstGeom>
          <a:noFill/>
        </p:spPr>
        <p:txBody>
          <a:bodyPr wrap="square" rtlCol="0">
            <a:spAutoFit/>
          </a:bodyPr>
          <a:lstStyle/>
          <a:p>
            <a:pPr algn="ctr"/>
            <a:r>
              <a:rPr lang="de-AT" sz="1100" dirty="0" err="1"/>
              <a:t>for</a:t>
            </a:r>
            <a:r>
              <a:rPr lang="de-AT" sz="1100" dirty="0"/>
              <a:t> PEV</a:t>
            </a:r>
          </a:p>
        </p:txBody>
      </p:sp>
    </p:spTree>
    <p:extLst>
      <p:ext uri="{BB962C8B-B14F-4D97-AF65-F5344CB8AC3E}">
        <p14:creationId xmlns:p14="http://schemas.microsoft.com/office/powerpoint/2010/main" val="59655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sp>
        <p:nvSpPr>
          <p:cNvPr id="4" name="Foliennummernplatzhalter 3"/>
          <p:cNvSpPr>
            <a:spLocks noGrp="1"/>
          </p:cNvSpPr>
          <p:nvPr>
            <p:ph type="sldNum" sz="quarter" idx="12"/>
          </p:nvPr>
        </p:nvSpPr>
        <p:spPr/>
        <p:txBody>
          <a:bodyPr/>
          <a:lstStyle/>
          <a:p>
            <a:fld id="{4B64EC4D-37E3-EF42-B9AB-6337577588CB}" type="slidenum">
              <a:rPr lang="de-DE" smtClean="0"/>
              <a:t>27</a:t>
            </a:fld>
            <a:endParaRPr lang="de-DE"/>
          </a:p>
        </p:txBody>
      </p:sp>
      <p:sp>
        <p:nvSpPr>
          <p:cNvPr id="6" name="Inhaltsplatzhalter 5"/>
          <p:cNvSpPr>
            <a:spLocks noGrp="1"/>
          </p:cNvSpPr>
          <p:nvPr>
            <p:ph idx="1"/>
          </p:nvPr>
        </p:nvSpPr>
        <p:spPr>
          <a:xfrm>
            <a:off x="457200" y="1604519"/>
            <a:ext cx="8229240" cy="4783839"/>
          </a:xfrm>
        </p:spPr>
        <p:txBody>
          <a:bodyPr>
            <a:normAutofit/>
          </a:bodyPr>
          <a:lstStyle/>
          <a:p>
            <a:pPr>
              <a:spcBef>
                <a:spcPts val="600"/>
              </a:spcBef>
            </a:pPr>
            <a:r>
              <a:rPr lang="en-US" sz="1600" dirty="0"/>
              <a:t>Schematic overview of result matrix in VECTO for CD + CS mode</a:t>
            </a: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endParaRPr lang="en-US" sz="1600" dirty="0"/>
          </a:p>
          <a:p>
            <a:pPr>
              <a:spcBef>
                <a:spcPts val="600"/>
              </a:spcBef>
            </a:pPr>
            <a:r>
              <a:rPr lang="en-GB" sz="1600" dirty="0"/>
              <a:t>For further details please refer to: </a:t>
            </a:r>
            <a:r>
              <a:rPr lang="en-GB" sz="1600" b="1" i="1" dirty="0"/>
              <a:t>VECTO-DEV WS#13 04.07.2022 (slide 12ff)</a:t>
            </a:r>
            <a:endParaRPr lang="en-US" sz="1600" dirty="0"/>
          </a:p>
        </p:txBody>
      </p:sp>
      <p:pic>
        <p:nvPicPr>
          <p:cNvPr id="3" name="Grafik 2"/>
          <p:cNvPicPr>
            <a:picLocks noChangeAspect="1"/>
          </p:cNvPicPr>
          <p:nvPr/>
        </p:nvPicPr>
        <p:blipFill>
          <a:blip r:embed="rId2"/>
          <a:stretch>
            <a:fillRect/>
          </a:stretch>
        </p:blipFill>
        <p:spPr>
          <a:xfrm>
            <a:off x="149635" y="2237649"/>
            <a:ext cx="6814756" cy="2797416"/>
          </a:xfrm>
          <a:prstGeom prst="rect">
            <a:avLst/>
          </a:prstGeom>
        </p:spPr>
      </p:pic>
      <p:sp>
        <p:nvSpPr>
          <p:cNvPr id="8" name="Textfeld 7"/>
          <p:cNvSpPr txBox="1"/>
          <p:nvPr/>
        </p:nvSpPr>
        <p:spPr>
          <a:xfrm>
            <a:off x="6964391" y="2423768"/>
            <a:ext cx="2179609" cy="2816156"/>
          </a:xfrm>
          <a:prstGeom prst="rect">
            <a:avLst/>
          </a:prstGeom>
          <a:noFill/>
        </p:spPr>
        <p:txBody>
          <a:bodyPr wrap="square" rtlCol="0">
            <a:spAutoFit/>
          </a:bodyPr>
          <a:lstStyle/>
          <a:p>
            <a:r>
              <a:rPr lang="de-AT" sz="1050" dirty="0"/>
              <a:t>Comments:</a:t>
            </a:r>
          </a:p>
          <a:p>
            <a:pPr marL="285750" indent="-285750">
              <a:spcBef>
                <a:spcPts val="300"/>
              </a:spcBef>
              <a:buFont typeface="Wingdings" panose="05000000000000000000" pitchFamily="2" charset="2"/>
              <a:buChar char="§"/>
            </a:pPr>
            <a:r>
              <a:rPr lang="de-AT" sz="1000" dirty="0"/>
              <a:t>General </a:t>
            </a:r>
            <a:r>
              <a:rPr lang="de-AT" sz="1000" dirty="0" err="1"/>
              <a:t>structure</a:t>
            </a:r>
            <a:r>
              <a:rPr lang="de-AT" sz="1000" dirty="0"/>
              <a:t> </a:t>
            </a:r>
            <a:r>
              <a:rPr lang="de-AT" sz="1000" dirty="0" err="1"/>
              <a:t>given</a:t>
            </a:r>
            <a:r>
              <a:rPr lang="de-AT" sz="1000" dirty="0"/>
              <a:t> </a:t>
            </a:r>
            <a:r>
              <a:rPr lang="de-AT" sz="1000" dirty="0" err="1"/>
              <a:t>by</a:t>
            </a:r>
            <a:r>
              <a:rPr lang="de-AT" sz="1000" dirty="0"/>
              <a:t> XML </a:t>
            </a:r>
            <a:r>
              <a:rPr lang="de-AT" sz="1000" dirty="0" err="1"/>
              <a:t>schema</a:t>
            </a:r>
            <a:r>
              <a:rPr lang="de-AT" sz="1000" dirty="0"/>
              <a:t> </a:t>
            </a:r>
            <a:r>
              <a:rPr lang="de-AT" sz="1000" dirty="0" err="1"/>
              <a:t>structure</a:t>
            </a:r>
            <a:br>
              <a:rPr lang="de-AT" sz="1000" dirty="0"/>
            </a:br>
            <a:endParaRPr lang="de-AT" sz="600" dirty="0"/>
          </a:p>
          <a:p>
            <a:pPr marL="285750" indent="-285750">
              <a:spcBef>
                <a:spcPts val="300"/>
              </a:spcBef>
              <a:buFont typeface="Wingdings" panose="05000000000000000000" pitchFamily="2" charset="2"/>
              <a:buChar char="§"/>
            </a:pPr>
            <a:r>
              <a:rPr lang="en-US" sz="1000" dirty="0"/>
              <a:t>The "final results" for each mission profile and payload case are always output in the XML element "Total"</a:t>
            </a:r>
            <a:br>
              <a:rPr lang="en-US" sz="1000" dirty="0"/>
            </a:br>
            <a:endParaRPr lang="en-US" sz="600" dirty="0"/>
          </a:p>
          <a:p>
            <a:pPr marL="285750" indent="-285750">
              <a:spcBef>
                <a:spcPts val="300"/>
              </a:spcBef>
              <a:buFont typeface="Wingdings" panose="05000000000000000000" pitchFamily="2" charset="2"/>
              <a:buChar char="§"/>
            </a:pPr>
            <a:r>
              <a:rPr lang="de-AT" sz="1000" dirty="0"/>
              <a:t>FC, CO2, EC in </a:t>
            </a:r>
            <a:r>
              <a:rPr lang="en-US" sz="1000" dirty="0"/>
              <a:t>XML element "Total“ are weighted with UF</a:t>
            </a:r>
            <a:br>
              <a:rPr lang="en-US" sz="1000" dirty="0"/>
            </a:br>
            <a:endParaRPr lang="en-US" sz="600" dirty="0"/>
          </a:p>
          <a:p>
            <a:pPr marL="285750" indent="-285750">
              <a:spcBef>
                <a:spcPts val="300"/>
              </a:spcBef>
              <a:buFont typeface="Wingdings" panose="05000000000000000000" pitchFamily="2" charset="2"/>
              <a:buChar char="§"/>
            </a:pPr>
            <a:r>
              <a:rPr lang="en-US" sz="1000" dirty="0"/>
              <a:t>Ranges</a:t>
            </a:r>
            <a:r>
              <a:rPr lang="de-AT" sz="1000" dirty="0"/>
              <a:t> in </a:t>
            </a:r>
            <a:r>
              <a:rPr lang="en-US" sz="1000" dirty="0"/>
              <a:t>XML element "Total“ are identical to results from CD mode for OVC-HEV</a:t>
            </a:r>
            <a:br>
              <a:rPr lang="en-US" sz="1000" dirty="0"/>
            </a:br>
            <a:endParaRPr lang="en-US" sz="600" dirty="0"/>
          </a:p>
          <a:p>
            <a:pPr marL="285750" indent="-285750">
              <a:spcBef>
                <a:spcPts val="300"/>
              </a:spcBef>
              <a:buFont typeface="Wingdings" panose="05000000000000000000" pitchFamily="2" charset="2"/>
              <a:buChar char="§"/>
            </a:pPr>
            <a:r>
              <a:rPr lang="en-US" sz="1000" dirty="0"/>
              <a:t>Zero CO2 emissions range equals EAER for OVC-HEV</a:t>
            </a:r>
            <a:endParaRPr lang="de-AT" sz="1000" dirty="0"/>
          </a:p>
        </p:txBody>
      </p:sp>
    </p:spTree>
    <p:extLst>
      <p:ext uri="{BB962C8B-B14F-4D97-AF65-F5344CB8AC3E}">
        <p14:creationId xmlns:p14="http://schemas.microsoft.com/office/powerpoint/2010/main" val="682634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 - EX</a:t>
            </a:r>
          </a:p>
        </p:txBody>
      </p:sp>
      <p:sp>
        <p:nvSpPr>
          <p:cNvPr id="4" name="Foliennummernplatzhalter 3"/>
          <p:cNvSpPr>
            <a:spLocks noGrp="1"/>
          </p:cNvSpPr>
          <p:nvPr>
            <p:ph type="sldNum" sz="quarter" idx="12"/>
          </p:nvPr>
        </p:nvSpPr>
        <p:spPr/>
        <p:txBody>
          <a:bodyPr/>
          <a:lstStyle/>
          <a:p>
            <a:fld id="{4B64EC4D-37E3-EF42-B9AB-6337577588CB}" type="slidenum">
              <a:rPr lang="de-DE" smtClean="0"/>
              <a:t>28</a:t>
            </a:fld>
            <a:endParaRPr lang="de-DE"/>
          </a:p>
        </p:txBody>
      </p:sp>
      <p:sp>
        <p:nvSpPr>
          <p:cNvPr id="10" name="Textfeld 9"/>
          <p:cNvSpPr txBox="1"/>
          <p:nvPr/>
        </p:nvSpPr>
        <p:spPr>
          <a:xfrm>
            <a:off x="7145387" y="2718155"/>
            <a:ext cx="2101378" cy="261610"/>
          </a:xfrm>
          <a:prstGeom prst="rect">
            <a:avLst/>
          </a:prstGeom>
          <a:noFill/>
          <a:ln>
            <a:noFill/>
          </a:ln>
        </p:spPr>
        <p:txBody>
          <a:bodyPr wrap="square" rtlCol="0">
            <a:spAutoFit/>
          </a:bodyPr>
          <a:lstStyle/>
          <a:p>
            <a:r>
              <a:rPr lang="de-AT" sz="1100" b="1" i="1" dirty="0">
                <a:solidFill>
                  <a:schemeClr val="accent1"/>
                </a:solidFill>
              </a:rPr>
              <a:t>„</a:t>
            </a:r>
            <a:r>
              <a:rPr lang="de-AT" sz="1100" b="1" i="1" dirty="0" err="1">
                <a:solidFill>
                  <a:schemeClr val="accent1"/>
                </a:solidFill>
              </a:rPr>
              <a:t>Raw</a:t>
            </a:r>
            <a:r>
              <a:rPr lang="de-AT" sz="1100" b="1" i="1" dirty="0">
                <a:solidFill>
                  <a:schemeClr val="accent1"/>
                </a:solidFill>
              </a:rPr>
              <a:t>“ </a:t>
            </a:r>
            <a:r>
              <a:rPr lang="de-AT" sz="1100" b="1" i="1" dirty="0" err="1">
                <a:solidFill>
                  <a:schemeClr val="accent1"/>
                </a:solidFill>
              </a:rPr>
              <a:t>results</a:t>
            </a:r>
            <a:r>
              <a:rPr lang="de-AT" sz="1100" b="1" i="1" dirty="0">
                <a:solidFill>
                  <a:schemeClr val="accent1"/>
                </a:solidFill>
              </a:rPr>
              <a:t> </a:t>
            </a:r>
            <a:r>
              <a:rPr lang="de-AT" sz="1100" b="1" i="1" dirty="0" err="1">
                <a:solidFill>
                  <a:schemeClr val="accent1"/>
                </a:solidFill>
              </a:rPr>
              <a:t>by</a:t>
            </a:r>
            <a:r>
              <a:rPr lang="de-AT" sz="1100" b="1" i="1" dirty="0">
                <a:solidFill>
                  <a:schemeClr val="accent1"/>
                </a:solidFill>
              </a:rPr>
              <a:t> VECTO</a:t>
            </a:r>
          </a:p>
        </p:txBody>
      </p:sp>
      <p:sp>
        <p:nvSpPr>
          <p:cNvPr id="11" name="Geschweifte Klammer links 10"/>
          <p:cNvSpPr/>
          <p:nvPr/>
        </p:nvSpPr>
        <p:spPr>
          <a:xfrm rot="10800000">
            <a:off x="6866010" y="2070798"/>
            <a:ext cx="182841" cy="5698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links 11"/>
          <p:cNvSpPr/>
          <p:nvPr/>
        </p:nvSpPr>
        <p:spPr>
          <a:xfrm rot="10800000">
            <a:off x="6866009" y="2674692"/>
            <a:ext cx="182841" cy="350557"/>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7145387" y="2224901"/>
            <a:ext cx="2101378" cy="261610"/>
          </a:xfrm>
          <a:prstGeom prst="rect">
            <a:avLst/>
          </a:prstGeom>
          <a:noFill/>
          <a:ln>
            <a:noFill/>
          </a:ln>
        </p:spPr>
        <p:txBody>
          <a:bodyPr wrap="square" rtlCol="0">
            <a:spAutoFit/>
          </a:bodyPr>
          <a:lstStyle/>
          <a:p>
            <a:r>
              <a:rPr lang="de-AT" sz="1100" b="1" i="1" dirty="0" err="1">
                <a:solidFill>
                  <a:schemeClr val="accent1"/>
                </a:solidFill>
              </a:rPr>
              <a:t>Declared</a:t>
            </a:r>
            <a:r>
              <a:rPr lang="de-AT" sz="1100" b="1" i="1" dirty="0">
                <a:solidFill>
                  <a:schemeClr val="accent1"/>
                </a:solidFill>
              </a:rPr>
              <a:t> / </a:t>
            </a:r>
            <a:r>
              <a:rPr lang="de-AT" sz="1100" b="1" i="1" dirty="0" err="1">
                <a:solidFill>
                  <a:schemeClr val="accent1"/>
                </a:solidFill>
              </a:rPr>
              <a:t>Component</a:t>
            </a:r>
            <a:r>
              <a:rPr lang="de-AT" sz="1100" b="1" i="1" dirty="0">
                <a:solidFill>
                  <a:schemeClr val="accent1"/>
                </a:solidFill>
              </a:rPr>
              <a:t> </a:t>
            </a:r>
            <a:r>
              <a:rPr lang="de-AT" sz="1100" b="1" i="1" dirty="0" err="1">
                <a:solidFill>
                  <a:schemeClr val="accent1"/>
                </a:solidFill>
              </a:rPr>
              <a:t>data</a:t>
            </a:r>
            <a:endParaRPr lang="de-AT" sz="1100" b="1" i="1" dirty="0">
              <a:solidFill>
                <a:schemeClr val="accent1"/>
              </a:solidFill>
            </a:endParaRPr>
          </a:p>
        </p:txBody>
      </p:sp>
      <p:sp>
        <p:nvSpPr>
          <p:cNvPr id="14" name="Pfeil nach unten 13"/>
          <p:cNvSpPr/>
          <p:nvPr/>
        </p:nvSpPr>
        <p:spPr>
          <a:xfrm>
            <a:off x="3190436" y="3451992"/>
            <a:ext cx="959836" cy="613386"/>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5" name="Textfeld 14"/>
          <p:cNvSpPr txBox="1"/>
          <p:nvPr/>
        </p:nvSpPr>
        <p:spPr>
          <a:xfrm>
            <a:off x="4406919" y="3605237"/>
            <a:ext cx="4129374" cy="261610"/>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different </a:t>
            </a:r>
            <a:r>
              <a:rPr lang="de-AT" sz="1100" b="1" i="1" dirty="0" err="1">
                <a:solidFill>
                  <a:schemeClr val="accent1"/>
                </a:solidFill>
              </a:rPr>
              <a:t>specific</a:t>
            </a:r>
            <a:r>
              <a:rPr lang="de-AT" sz="1100" b="1" i="1" dirty="0">
                <a:solidFill>
                  <a:schemeClr val="accent1"/>
                </a:solidFill>
              </a:rPr>
              <a:t> </a:t>
            </a:r>
            <a:r>
              <a:rPr lang="de-AT" sz="1100" b="1" i="1" dirty="0" err="1">
                <a:solidFill>
                  <a:schemeClr val="accent1"/>
                </a:solidFill>
              </a:rPr>
              <a:t>ranges</a:t>
            </a:r>
            <a:r>
              <a:rPr lang="de-AT" sz="1100" b="1" i="1" dirty="0">
                <a:solidFill>
                  <a:schemeClr val="accent1"/>
                </a:solidFill>
              </a:rPr>
              <a:t> </a:t>
            </a:r>
            <a:r>
              <a:rPr lang="de-AT" sz="1100" b="1" i="1" dirty="0" err="1">
                <a:solidFill>
                  <a:schemeClr val="accent1"/>
                </a:solidFill>
              </a:rPr>
              <a:t>from</a:t>
            </a:r>
            <a:r>
              <a:rPr lang="de-AT" sz="1100" b="1" i="1" dirty="0">
                <a:solidFill>
                  <a:schemeClr val="accent1"/>
                </a:solidFill>
              </a:rPr>
              <a:t> </a:t>
            </a:r>
            <a:r>
              <a:rPr lang="de-AT" sz="1100" b="1" i="1" dirty="0" err="1">
                <a:solidFill>
                  <a:schemeClr val="accent1"/>
                </a:solidFill>
              </a:rPr>
              <a:t>data</a:t>
            </a:r>
            <a:r>
              <a:rPr lang="de-AT" sz="1100" b="1" i="1" dirty="0">
                <a:solidFill>
                  <a:schemeClr val="accent1"/>
                </a:solidFill>
              </a:rPr>
              <a:t> </a:t>
            </a:r>
            <a:r>
              <a:rPr lang="de-AT" sz="1100" b="1" i="1" dirty="0" err="1">
                <a:solidFill>
                  <a:schemeClr val="accent1"/>
                </a:solidFill>
              </a:rPr>
              <a:t>above</a:t>
            </a:r>
            <a:endParaRPr lang="de-AT" sz="1100" b="1" i="1" dirty="0">
              <a:solidFill>
                <a:schemeClr val="accent1"/>
              </a:solidFill>
            </a:endParaRPr>
          </a:p>
        </p:txBody>
      </p:sp>
      <p:sp>
        <p:nvSpPr>
          <p:cNvPr id="16" name="Nach oben gebogener Pfeil 15"/>
          <p:cNvSpPr/>
          <p:nvPr/>
        </p:nvSpPr>
        <p:spPr>
          <a:xfrm rot="5400000">
            <a:off x="927786" y="4839052"/>
            <a:ext cx="935903" cy="1263690"/>
          </a:xfrm>
          <a:prstGeom prst="bentUpArrow">
            <a:avLst>
              <a:gd name="adj1" fmla="val 11797"/>
              <a:gd name="adj2" fmla="val 25689"/>
              <a:gd name="adj3" fmla="val 25746"/>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7" name="Textfeld 16"/>
          <p:cNvSpPr txBox="1"/>
          <p:nvPr/>
        </p:nvSpPr>
        <p:spPr>
          <a:xfrm>
            <a:off x="2027583" y="5563274"/>
            <a:ext cx="5419567" cy="261610"/>
          </a:xfrm>
          <a:prstGeom prst="rect">
            <a:avLst/>
          </a:prstGeom>
          <a:noFill/>
          <a:ln>
            <a:noFill/>
          </a:ln>
        </p:spPr>
        <p:txBody>
          <a:bodyPr wrap="square" rtlCol="0">
            <a:spAutoFit/>
          </a:bodyPr>
          <a:lstStyle/>
          <a:p>
            <a:r>
              <a:rPr lang="de-AT" sz="1100" b="1" i="1" dirty="0">
                <a:solidFill>
                  <a:schemeClr val="accent1"/>
                </a:solidFill>
              </a:rPr>
              <a:t>Relevant </a:t>
            </a:r>
            <a:r>
              <a:rPr lang="de-AT" sz="1100" b="1" i="1" dirty="0" err="1">
                <a:solidFill>
                  <a:schemeClr val="accent1"/>
                </a:solidFill>
              </a:rPr>
              <a:t>for</a:t>
            </a:r>
            <a:r>
              <a:rPr lang="de-AT" sz="1100" b="1" i="1" dirty="0">
                <a:solidFill>
                  <a:schemeClr val="accent1"/>
                </a:solidFill>
              </a:rPr>
              <a:t> CO2 Standards Regulation, not </a:t>
            </a:r>
            <a:r>
              <a:rPr lang="de-AT" sz="1100" b="1" i="1" dirty="0" err="1">
                <a:solidFill>
                  <a:schemeClr val="accent1"/>
                </a:solidFill>
              </a:rPr>
              <a:t>for</a:t>
            </a:r>
            <a:r>
              <a:rPr lang="de-AT" sz="1100" b="1" i="1" dirty="0">
                <a:solidFill>
                  <a:schemeClr val="accent1"/>
                </a:solidFill>
              </a:rPr>
              <a:t> </a:t>
            </a:r>
            <a:r>
              <a:rPr lang="de-AT" sz="1100" b="1" i="1" dirty="0" err="1">
                <a:solidFill>
                  <a:schemeClr val="accent1"/>
                </a:solidFill>
              </a:rPr>
              <a:t>weighting</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CD+CS </a:t>
            </a:r>
            <a:r>
              <a:rPr lang="de-AT" sz="1100" b="1" i="1" dirty="0" err="1">
                <a:solidFill>
                  <a:schemeClr val="accent1"/>
                </a:solidFill>
              </a:rPr>
              <a:t>results</a:t>
            </a:r>
            <a:endParaRPr lang="de-AT" sz="1100" b="1" i="1" dirty="0">
              <a:solidFill>
                <a:schemeClr val="accent1"/>
              </a:solidFill>
            </a:endParaRPr>
          </a:p>
        </p:txBody>
      </p:sp>
      <p:pic>
        <p:nvPicPr>
          <p:cNvPr id="21" name="Grafik 20"/>
          <p:cNvPicPr>
            <a:picLocks noChangeAspect="1"/>
          </p:cNvPicPr>
          <p:nvPr/>
        </p:nvPicPr>
        <p:blipFill>
          <a:blip r:embed="rId2"/>
          <a:stretch>
            <a:fillRect/>
          </a:stretch>
        </p:blipFill>
        <p:spPr>
          <a:xfrm>
            <a:off x="627174" y="2065267"/>
            <a:ext cx="6096000" cy="981075"/>
          </a:xfrm>
          <a:prstGeom prst="rect">
            <a:avLst/>
          </a:prstGeom>
        </p:spPr>
      </p:pic>
      <p:pic>
        <p:nvPicPr>
          <p:cNvPr id="22" name="Grafik 21"/>
          <p:cNvPicPr>
            <a:picLocks noChangeAspect="1"/>
          </p:cNvPicPr>
          <p:nvPr/>
        </p:nvPicPr>
        <p:blipFill>
          <a:blip r:embed="rId3"/>
          <a:stretch>
            <a:fillRect/>
          </a:stretch>
        </p:blipFill>
        <p:spPr>
          <a:xfrm>
            <a:off x="627174" y="4305187"/>
            <a:ext cx="6096000" cy="638175"/>
          </a:xfrm>
          <a:prstGeom prst="rect">
            <a:avLst/>
          </a:prstGeom>
        </p:spPr>
      </p:pic>
      <p:sp>
        <p:nvSpPr>
          <p:cNvPr id="27" name="Rechteck 26"/>
          <p:cNvSpPr/>
          <p:nvPr/>
        </p:nvSpPr>
        <p:spPr>
          <a:xfrm>
            <a:off x="6723174" y="4552807"/>
            <a:ext cx="72000" cy="18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28" name="Rechteck 27"/>
          <p:cNvSpPr/>
          <p:nvPr/>
        </p:nvSpPr>
        <p:spPr>
          <a:xfrm>
            <a:off x="6723174" y="4742768"/>
            <a:ext cx="72000" cy="18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0" name="Gewinkelter Verbinder 29"/>
          <p:cNvCxnSpPr>
            <a:stCxn id="27" idx="1"/>
            <a:endCxn id="28" idx="1"/>
          </p:cNvCxnSpPr>
          <p:nvPr/>
        </p:nvCxnSpPr>
        <p:spPr>
          <a:xfrm rot="10800000" flipV="1">
            <a:off x="6723174" y="4642807"/>
            <a:ext cx="12700" cy="189961"/>
          </a:xfrm>
          <a:prstGeom prst="bentConnector3">
            <a:avLst>
              <a:gd name="adj1" fmla="val -2091890"/>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32" name="Gleich 31"/>
          <p:cNvSpPr/>
          <p:nvPr/>
        </p:nvSpPr>
        <p:spPr>
          <a:xfrm>
            <a:off x="7048849" y="4606503"/>
            <a:ext cx="364524" cy="272531"/>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Tree>
    <p:extLst>
      <p:ext uri="{BB962C8B-B14F-4D97-AF65-F5344CB8AC3E}">
        <p14:creationId xmlns:p14="http://schemas.microsoft.com/office/powerpoint/2010/main" val="39670489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p:cNvPicPr>
            <a:picLocks noChangeAspect="1"/>
          </p:cNvPicPr>
          <p:nvPr/>
        </p:nvPicPr>
        <p:blipFill>
          <a:blip r:embed="rId2"/>
          <a:stretch>
            <a:fillRect/>
          </a:stretch>
        </p:blipFill>
        <p:spPr>
          <a:xfrm>
            <a:off x="622354" y="4765989"/>
            <a:ext cx="6096000" cy="1190625"/>
          </a:xfrm>
          <a:prstGeom prst="rect">
            <a:avLst/>
          </a:prstGeom>
        </p:spPr>
      </p:pic>
      <p:pic>
        <p:nvPicPr>
          <p:cNvPr id="3" name="Grafik 2"/>
          <p:cNvPicPr>
            <a:picLocks noChangeAspect="1"/>
          </p:cNvPicPr>
          <p:nvPr/>
        </p:nvPicPr>
        <p:blipFill>
          <a:blip r:embed="rId3"/>
          <a:stretch>
            <a:fillRect/>
          </a:stretch>
        </p:blipFill>
        <p:spPr>
          <a:xfrm>
            <a:off x="622354" y="1949509"/>
            <a:ext cx="6096000" cy="1352550"/>
          </a:xfrm>
          <a:prstGeom prst="rect">
            <a:avLst/>
          </a:prstGeom>
        </p:spPr>
      </p:pic>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 - EX</a:t>
            </a:r>
          </a:p>
        </p:txBody>
      </p:sp>
      <p:sp>
        <p:nvSpPr>
          <p:cNvPr id="4" name="Foliennummernplatzhalter 3"/>
          <p:cNvSpPr>
            <a:spLocks noGrp="1"/>
          </p:cNvSpPr>
          <p:nvPr>
            <p:ph type="sldNum" sz="quarter" idx="12"/>
          </p:nvPr>
        </p:nvSpPr>
        <p:spPr/>
        <p:txBody>
          <a:bodyPr/>
          <a:lstStyle/>
          <a:p>
            <a:fld id="{4B64EC4D-37E3-EF42-B9AB-6337577588CB}" type="slidenum">
              <a:rPr lang="de-DE" smtClean="0"/>
              <a:t>29</a:t>
            </a:fld>
            <a:endParaRPr lang="de-DE"/>
          </a:p>
        </p:txBody>
      </p:sp>
      <p:pic>
        <p:nvPicPr>
          <p:cNvPr id="35" name="Grafik 34"/>
          <p:cNvPicPr>
            <a:picLocks noChangeAspect="1"/>
          </p:cNvPicPr>
          <p:nvPr/>
        </p:nvPicPr>
        <p:blipFill rotWithShape="1">
          <a:blip r:embed="rId4"/>
          <a:srcRect b="73902"/>
          <a:stretch/>
        </p:blipFill>
        <p:spPr>
          <a:xfrm>
            <a:off x="622354" y="3748215"/>
            <a:ext cx="6096000" cy="618972"/>
          </a:xfrm>
          <a:prstGeom prst="rect">
            <a:avLst/>
          </a:prstGeom>
        </p:spPr>
      </p:pic>
      <p:sp>
        <p:nvSpPr>
          <p:cNvPr id="36" name="Geschweifte Klammer links 35"/>
          <p:cNvSpPr/>
          <p:nvPr/>
        </p:nvSpPr>
        <p:spPr>
          <a:xfrm rot="10800000">
            <a:off x="6840449" y="1948457"/>
            <a:ext cx="182841" cy="1362075"/>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37" name="Textfeld 36"/>
          <p:cNvSpPr txBox="1"/>
          <p:nvPr/>
        </p:nvSpPr>
        <p:spPr>
          <a:xfrm>
            <a:off x="7036942" y="2503064"/>
            <a:ext cx="1851480" cy="261610"/>
          </a:xfrm>
          <a:prstGeom prst="rect">
            <a:avLst/>
          </a:prstGeom>
          <a:noFill/>
          <a:ln>
            <a:noFill/>
          </a:ln>
        </p:spPr>
        <p:txBody>
          <a:bodyPr wrap="square" rtlCol="0">
            <a:spAutoFit/>
          </a:bodyPr>
          <a:lstStyle/>
          <a:p>
            <a:r>
              <a:rPr lang="de-AT" sz="1100" b="1" i="1" dirty="0" err="1">
                <a:solidFill>
                  <a:schemeClr val="accent1"/>
                </a:solidFill>
              </a:rPr>
              <a:t>Generic</a:t>
            </a:r>
            <a:r>
              <a:rPr lang="de-AT" sz="1100" b="1" i="1" dirty="0">
                <a:solidFill>
                  <a:schemeClr val="accent1"/>
                </a:solidFill>
              </a:rPr>
              <a:t> </a:t>
            </a:r>
            <a:r>
              <a:rPr lang="de-AT" sz="1100" b="1" i="1" dirty="0" err="1">
                <a:solidFill>
                  <a:schemeClr val="accent1"/>
                </a:solidFill>
              </a:rPr>
              <a:t>data</a:t>
            </a:r>
            <a:endParaRPr lang="de-AT" sz="1100" b="1" i="1" dirty="0">
              <a:solidFill>
                <a:schemeClr val="accent1"/>
              </a:solidFill>
            </a:endParaRPr>
          </a:p>
        </p:txBody>
      </p:sp>
      <p:sp>
        <p:nvSpPr>
          <p:cNvPr id="38" name="Textfeld 37"/>
          <p:cNvSpPr txBox="1"/>
          <p:nvPr/>
        </p:nvSpPr>
        <p:spPr>
          <a:xfrm>
            <a:off x="6943772" y="3962142"/>
            <a:ext cx="1727206" cy="400110"/>
          </a:xfrm>
          <a:prstGeom prst="rect">
            <a:avLst/>
          </a:prstGeom>
          <a:noFill/>
          <a:ln>
            <a:noFill/>
          </a:ln>
        </p:spPr>
        <p:txBody>
          <a:bodyPr wrap="square" rtlCol="0">
            <a:spAutoFit/>
          </a:bodyPr>
          <a:lstStyle/>
          <a:p>
            <a:r>
              <a:rPr lang="de-AT" sz="1000" b="1" i="1" dirty="0">
                <a:solidFill>
                  <a:schemeClr val="accent1"/>
                </a:solidFill>
              </a:rPr>
              <a:t>Due </a:t>
            </a:r>
            <a:r>
              <a:rPr lang="de-AT" sz="1000" b="1" i="1" dirty="0" err="1">
                <a:solidFill>
                  <a:schemeClr val="accent1"/>
                </a:solidFill>
              </a:rPr>
              <a:t>to</a:t>
            </a:r>
            <a:r>
              <a:rPr lang="de-AT" sz="1000" b="1" i="1" dirty="0">
                <a:solidFill>
                  <a:schemeClr val="accent1"/>
                </a:solidFill>
              </a:rPr>
              <a:t> </a:t>
            </a:r>
            <a:r>
              <a:rPr lang="de-AT" sz="1000" b="1" i="1" dirty="0" err="1">
                <a:solidFill>
                  <a:schemeClr val="accent1"/>
                </a:solidFill>
              </a:rPr>
              <a:t>re-charging</a:t>
            </a:r>
            <a:r>
              <a:rPr lang="de-AT" sz="1000" b="1" i="1" dirty="0">
                <a:solidFill>
                  <a:schemeClr val="accent1"/>
                </a:solidFill>
              </a:rPr>
              <a:t> </a:t>
            </a:r>
            <a:r>
              <a:rPr lang="de-AT" sz="1000" b="1" i="1" dirty="0" err="1">
                <a:solidFill>
                  <a:schemeClr val="accent1"/>
                </a:solidFill>
              </a:rPr>
              <a:t>during</a:t>
            </a:r>
            <a:r>
              <a:rPr lang="de-AT" sz="1000" b="1" i="1" dirty="0">
                <a:solidFill>
                  <a:schemeClr val="accent1"/>
                </a:solidFill>
              </a:rPr>
              <a:t> </a:t>
            </a:r>
            <a:r>
              <a:rPr lang="de-AT" sz="1000" b="1" i="1" dirty="0" err="1">
                <a:solidFill>
                  <a:schemeClr val="accent1"/>
                </a:solidFill>
              </a:rPr>
              <a:t>mission</a:t>
            </a:r>
            <a:endParaRPr lang="de-AT" sz="1000" b="1" i="1" dirty="0">
              <a:solidFill>
                <a:schemeClr val="accent1"/>
              </a:solidFill>
            </a:endParaRPr>
          </a:p>
        </p:txBody>
      </p:sp>
      <p:sp>
        <p:nvSpPr>
          <p:cNvPr id="39" name="Geschweifte Klammer links 38"/>
          <p:cNvSpPr/>
          <p:nvPr/>
        </p:nvSpPr>
        <p:spPr>
          <a:xfrm rot="10800000">
            <a:off x="6760931" y="3969186"/>
            <a:ext cx="182841" cy="36000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40" name="Pfeil nach unten 39"/>
          <p:cNvSpPr/>
          <p:nvPr/>
        </p:nvSpPr>
        <p:spPr>
          <a:xfrm>
            <a:off x="927216" y="3367290"/>
            <a:ext cx="959836" cy="324167"/>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1" name="Textfeld 40"/>
          <p:cNvSpPr txBox="1"/>
          <p:nvPr/>
        </p:nvSpPr>
        <p:spPr>
          <a:xfrm>
            <a:off x="2009147" y="3311769"/>
            <a:ext cx="4129374" cy="430887"/>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UF </a:t>
            </a:r>
            <a:r>
              <a:rPr lang="de-AT" sz="1100" b="1" i="1" dirty="0" err="1">
                <a:solidFill>
                  <a:schemeClr val="accent1"/>
                </a:solidFill>
              </a:rPr>
              <a:t>specific</a:t>
            </a:r>
            <a:r>
              <a:rPr lang="de-AT" sz="1100" b="1" i="1" dirty="0">
                <a:solidFill>
                  <a:schemeClr val="accent1"/>
                </a:solidFill>
              </a:rPr>
              <a:t> </a:t>
            </a:r>
            <a:r>
              <a:rPr lang="de-AT" sz="1100" b="1" i="1" dirty="0" err="1">
                <a:solidFill>
                  <a:schemeClr val="accent1"/>
                </a:solidFill>
              </a:rPr>
              <a:t>ranges</a:t>
            </a:r>
            <a:r>
              <a:rPr lang="de-AT" sz="1100" b="1" i="1" dirty="0">
                <a:solidFill>
                  <a:schemeClr val="accent1"/>
                </a:solidFill>
              </a:rPr>
              <a:t> </a:t>
            </a:r>
            <a:r>
              <a:rPr lang="de-AT" sz="1100" b="1" i="1" dirty="0" err="1">
                <a:solidFill>
                  <a:schemeClr val="accent1"/>
                </a:solidFill>
              </a:rPr>
              <a:t>from</a:t>
            </a:r>
            <a:r>
              <a:rPr lang="de-AT" sz="1100" b="1" i="1" dirty="0">
                <a:solidFill>
                  <a:schemeClr val="accent1"/>
                </a:solidFill>
              </a:rPr>
              <a:t> </a:t>
            </a:r>
            <a:r>
              <a:rPr lang="de-AT" sz="1100" b="1" i="1" dirty="0" err="1">
                <a:solidFill>
                  <a:schemeClr val="accent1"/>
                </a:solidFill>
              </a:rPr>
              <a:t>consumption</a:t>
            </a:r>
            <a:r>
              <a:rPr lang="de-AT" sz="1100" b="1" i="1" dirty="0">
                <a:solidFill>
                  <a:schemeClr val="accent1"/>
                </a:solidFill>
              </a:rPr>
              <a:t> </a:t>
            </a:r>
            <a:r>
              <a:rPr lang="de-AT" sz="1100" b="1" i="1" dirty="0" err="1">
                <a:solidFill>
                  <a:schemeClr val="accent1"/>
                </a:solidFill>
              </a:rPr>
              <a:t>figures</a:t>
            </a:r>
            <a:r>
              <a:rPr lang="de-AT" sz="1100" b="1" i="1" dirty="0">
                <a:solidFill>
                  <a:schemeClr val="accent1"/>
                </a:solidFill>
              </a:rPr>
              <a:t> (</a:t>
            </a:r>
            <a:r>
              <a:rPr lang="de-AT" sz="1100" b="1" i="1" dirty="0" err="1">
                <a:solidFill>
                  <a:schemeClr val="accent1"/>
                </a:solidFill>
              </a:rPr>
              <a:t>previous</a:t>
            </a:r>
            <a:r>
              <a:rPr lang="de-AT" sz="1100" b="1" i="1" dirty="0">
                <a:solidFill>
                  <a:schemeClr val="accent1"/>
                </a:solidFill>
              </a:rPr>
              <a:t> </a:t>
            </a:r>
            <a:r>
              <a:rPr lang="de-AT" sz="1100" b="1" i="1" dirty="0" err="1">
                <a:solidFill>
                  <a:schemeClr val="accent1"/>
                </a:solidFill>
              </a:rPr>
              <a:t>slide</a:t>
            </a:r>
            <a:r>
              <a:rPr lang="de-AT" sz="1100" b="1" i="1" dirty="0">
                <a:solidFill>
                  <a:schemeClr val="accent1"/>
                </a:solidFill>
              </a:rPr>
              <a:t>) </a:t>
            </a:r>
            <a:r>
              <a:rPr lang="de-AT" sz="1100" b="1" i="1" dirty="0" err="1">
                <a:solidFill>
                  <a:schemeClr val="accent1"/>
                </a:solidFill>
              </a:rPr>
              <a:t>and</a:t>
            </a:r>
            <a:r>
              <a:rPr lang="de-AT" sz="1100" b="1" i="1" dirty="0">
                <a:solidFill>
                  <a:schemeClr val="accent1"/>
                </a:solidFill>
              </a:rPr>
              <a:t> </a:t>
            </a:r>
            <a:r>
              <a:rPr lang="de-AT" sz="1100" b="1" i="1" dirty="0" err="1">
                <a:solidFill>
                  <a:schemeClr val="accent1"/>
                </a:solidFill>
              </a:rPr>
              <a:t>generic</a:t>
            </a:r>
            <a:r>
              <a:rPr lang="de-AT" sz="1100" b="1" i="1" dirty="0">
                <a:solidFill>
                  <a:schemeClr val="accent1"/>
                </a:solidFill>
              </a:rPr>
              <a:t> </a:t>
            </a:r>
            <a:r>
              <a:rPr lang="de-AT" sz="1100" b="1" i="1" dirty="0" err="1">
                <a:solidFill>
                  <a:schemeClr val="accent1"/>
                </a:solidFill>
              </a:rPr>
              <a:t>data</a:t>
            </a:r>
            <a:r>
              <a:rPr lang="de-AT" sz="1100" b="1" i="1" dirty="0">
                <a:solidFill>
                  <a:schemeClr val="accent1"/>
                </a:solidFill>
              </a:rPr>
              <a:t> </a:t>
            </a:r>
            <a:r>
              <a:rPr lang="de-AT" sz="1100" b="1" i="1" dirty="0" err="1">
                <a:solidFill>
                  <a:schemeClr val="accent1"/>
                </a:solidFill>
              </a:rPr>
              <a:t>above</a:t>
            </a:r>
            <a:endParaRPr lang="de-AT" sz="1100" b="1" i="1" dirty="0">
              <a:solidFill>
                <a:schemeClr val="accent1"/>
              </a:solidFill>
            </a:endParaRPr>
          </a:p>
        </p:txBody>
      </p:sp>
      <p:sp>
        <p:nvSpPr>
          <p:cNvPr id="42" name="Textfeld 41"/>
          <p:cNvSpPr txBox="1"/>
          <p:nvPr/>
        </p:nvSpPr>
        <p:spPr>
          <a:xfrm>
            <a:off x="6650196" y="3713257"/>
            <a:ext cx="2366804" cy="246221"/>
          </a:xfrm>
          <a:prstGeom prst="rect">
            <a:avLst/>
          </a:prstGeom>
          <a:noFill/>
          <a:ln>
            <a:noFill/>
          </a:ln>
        </p:spPr>
        <p:txBody>
          <a:bodyPr wrap="square" rtlCol="0">
            <a:spAutoFit/>
          </a:bodyPr>
          <a:lstStyle/>
          <a:p>
            <a:r>
              <a:rPr lang="de-AT" sz="1000" b="1" i="1" dirty="0">
                <a:solidFill>
                  <a:schemeClr val="accent1"/>
                </a:solidFill>
              </a:rPr>
              <a:t>R</a:t>
            </a:r>
            <a:r>
              <a:rPr lang="de-AT" sz="1000" b="1" i="1" baseline="-25000" dirty="0">
                <a:solidFill>
                  <a:schemeClr val="accent1"/>
                </a:solidFill>
              </a:rPr>
              <a:t>CDA</a:t>
            </a:r>
            <a:r>
              <a:rPr lang="de-AT" sz="1000" b="1" i="1" dirty="0">
                <a:solidFill>
                  <a:schemeClr val="accent1"/>
                </a:solidFill>
              </a:rPr>
              <a:t> </a:t>
            </a:r>
            <a:r>
              <a:rPr lang="de-AT" sz="1000" b="1" i="1" dirty="0" err="1">
                <a:solidFill>
                  <a:schemeClr val="accent1"/>
                </a:solidFill>
              </a:rPr>
              <a:t>corrected</a:t>
            </a:r>
            <a:r>
              <a:rPr lang="de-AT" sz="1000" b="1" i="1" dirty="0">
                <a:solidFill>
                  <a:schemeClr val="accent1"/>
                </a:solidFill>
              </a:rPr>
              <a:t> </a:t>
            </a:r>
            <a:r>
              <a:rPr lang="de-AT" sz="1000" b="1" i="1" dirty="0" err="1">
                <a:solidFill>
                  <a:schemeClr val="accent1"/>
                </a:solidFill>
              </a:rPr>
              <a:t>by</a:t>
            </a:r>
            <a:r>
              <a:rPr lang="de-AT" sz="1000" b="1" i="1" dirty="0">
                <a:solidFill>
                  <a:schemeClr val="accent1"/>
                </a:solidFill>
              </a:rPr>
              <a:t> real </a:t>
            </a:r>
            <a:r>
              <a:rPr lang="de-AT" sz="1000" b="1" i="1" dirty="0" err="1">
                <a:solidFill>
                  <a:schemeClr val="accent1"/>
                </a:solidFill>
              </a:rPr>
              <a:t>world</a:t>
            </a:r>
            <a:r>
              <a:rPr lang="de-AT" sz="1000" b="1" i="1" dirty="0">
                <a:solidFill>
                  <a:schemeClr val="accent1"/>
                </a:solidFill>
              </a:rPr>
              <a:t> </a:t>
            </a:r>
            <a:r>
              <a:rPr lang="de-AT" sz="1000" b="1" i="1" dirty="0" err="1">
                <a:solidFill>
                  <a:schemeClr val="accent1"/>
                </a:solidFill>
              </a:rPr>
              <a:t>factor</a:t>
            </a:r>
            <a:endParaRPr lang="de-AT" sz="1000" b="1" i="1" dirty="0">
              <a:solidFill>
                <a:schemeClr val="accent1"/>
              </a:solidFill>
            </a:endParaRPr>
          </a:p>
        </p:txBody>
      </p:sp>
      <p:sp>
        <p:nvSpPr>
          <p:cNvPr id="43" name="Pfeil nach unten 42"/>
          <p:cNvSpPr/>
          <p:nvPr/>
        </p:nvSpPr>
        <p:spPr>
          <a:xfrm>
            <a:off x="927216" y="4386831"/>
            <a:ext cx="959836" cy="324167"/>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4" name="Textfeld 43"/>
          <p:cNvSpPr txBox="1"/>
          <p:nvPr/>
        </p:nvSpPr>
        <p:spPr>
          <a:xfrm>
            <a:off x="2009147" y="4345213"/>
            <a:ext cx="4129374" cy="430887"/>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UF </a:t>
            </a:r>
            <a:r>
              <a:rPr lang="de-AT" sz="1100" b="1" i="1" dirty="0" err="1">
                <a:solidFill>
                  <a:schemeClr val="accent1"/>
                </a:solidFill>
              </a:rPr>
              <a:t>as</a:t>
            </a:r>
            <a:r>
              <a:rPr lang="de-AT" sz="1100" b="1" i="1" dirty="0">
                <a:solidFill>
                  <a:schemeClr val="accent1"/>
                </a:solidFill>
              </a:rPr>
              <a:t> </a:t>
            </a:r>
            <a:r>
              <a:rPr lang="en-US" sz="1100" b="1" i="1" dirty="0">
                <a:solidFill>
                  <a:schemeClr val="accent1"/>
                </a:solidFill>
              </a:rPr>
              <a:t>share of electric range in CD mode on total daily mileage (163.9 + 32.0 = 195.8 / 480)</a:t>
            </a:r>
            <a:endParaRPr lang="de-AT" sz="1100" b="1" i="1" dirty="0">
              <a:solidFill>
                <a:schemeClr val="accent1"/>
              </a:solidFill>
            </a:endParaRPr>
          </a:p>
        </p:txBody>
      </p:sp>
      <p:pic>
        <p:nvPicPr>
          <p:cNvPr id="45" name="Grafik 44"/>
          <p:cNvPicPr>
            <a:picLocks noChangeAspect="1"/>
          </p:cNvPicPr>
          <p:nvPr/>
        </p:nvPicPr>
        <p:blipFill rotWithShape="1">
          <a:blip r:embed="rId5"/>
          <a:srcRect r="5943" b="70299"/>
          <a:stretch/>
        </p:blipFill>
        <p:spPr>
          <a:xfrm>
            <a:off x="7010845" y="5661603"/>
            <a:ext cx="2124000" cy="192332"/>
          </a:xfrm>
          <a:prstGeom prst="rect">
            <a:avLst/>
          </a:prstGeom>
        </p:spPr>
      </p:pic>
      <p:sp>
        <p:nvSpPr>
          <p:cNvPr id="46" name="Geschweifte Klammer links 45"/>
          <p:cNvSpPr/>
          <p:nvPr/>
        </p:nvSpPr>
        <p:spPr>
          <a:xfrm rot="10800000">
            <a:off x="6760932" y="5572929"/>
            <a:ext cx="182841" cy="36000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12458705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e-PTO in MUN cycle</a:t>
            </a:r>
          </a:p>
        </p:txBody>
      </p:sp>
      <p:sp>
        <p:nvSpPr>
          <p:cNvPr id="3" name="Inhaltsplatzhalter 2"/>
          <p:cNvSpPr>
            <a:spLocks noGrp="1"/>
          </p:cNvSpPr>
          <p:nvPr>
            <p:ph idx="1"/>
          </p:nvPr>
        </p:nvSpPr>
        <p:spPr/>
        <p:txBody>
          <a:bodyPr/>
          <a:lstStyle/>
          <a:p>
            <a:pPr>
              <a:spcBef>
                <a:spcPts val="600"/>
              </a:spcBef>
            </a:pPr>
            <a:r>
              <a:rPr lang="en-US" sz="1800" dirty="0"/>
              <a:t>e-PTO applied for PEV and S-HEV in the MUN cycle (generic refuse body)</a:t>
            </a:r>
            <a:br>
              <a:rPr lang="en-US" sz="1800" dirty="0"/>
            </a:br>
            <a:endParaRPr lang="en-US" sz="1800" dirty="0"/>
          </a:p>
          <a:p>
            <a:pPr>
              <a:spcBef>
                <a:spcPts val="600"/>
              </a:spcBef>
            </a:pPr>
            <a:r>
              <a:rPr lang="en-US" sz="1800" dirty="0"/>
              <a:t>e-PTO cycle </a:t>
            </a:r>
            <a:r>
              <a:rPr lang="en-US" sz="1800" dirty="0" err="1"/>
              <a:t>P</a:t>
            </a:r>
            <a:r>
              <a:rPr lang="en-US" sz="1800" baseline="-25000" dirty="0" err="1"/>
              <a:t>el,PTO</a:t>
            </a:r>
            <a:r>
              <a:rPr lang="en-US" sz="1800" dirty="0"/>
              <a:t> = f(t) derived from:</a:t>
            </a:r>
          </a:p>
          <a:p>
            <a:pPr lvl="1">
              <a:spcBef>
                <a:spcPts val="600"/>
              </a:spcBef>
            </a:pPr>
            <a:r>
              <a:rPr lang="en-US" sz="1600" dirty="0"/>
              <a:t>generic hydraulic pump cycle for ICE and the allocated  ICE high idle speed</a:t>
            </a:r>
          </a:p>
          <a:p>
            <a:pPr lvl="1">
              <a:spcBef>
                <a:spcPts val="600"/>
              </a:spcBef>
            </a:pPr>
            <a:r>
              <a:rPr lang="en-US" sz="1600" dirty="0"/>
              <a:t>assuming an average e-PTO efficiency of 80%</a:t>
            </a:r>
            <a:br>
              <a:rPr lang="en-US" sz="1600" dirty="0"/>
            </a:br>
            <a:endParaRPr lang="en-US" sz="1600" dirty="0"/>
          </a:p>
          <a:p>
            <a:pPr>
              <a:spcBef>
                <a:spcPts val="600"/>
              </a:spcBef>
            </a:pPr>
            <a:r>
              <a:rPr lang="en-US" sz="1800" dirty="0"/>
              <a:t>Calculation is included time-resolved in the </a:t>
            </a:r>
            <a:r>
              <a:rPr lang="en-US" sz="1800" dirty="0" err="1"/>
              <a:t>vmod</a:t>
            </a:r>
            <a:r>
              <a:rPr lang="en-US" sz="1800" dirty="0"/>
              <a:t> file  </a:t>
            </a:r>
            <a:br>
              <a:rPr lang="en-US" sz="1800" dirty="0"/>
            </a:br>
            <a:endParaRPr lang="en-US" sz="1800" dirty="0"/>
          </a:p>
          <a:p>
            <a:pPr>
              <a:spcBef>
                <a:spcPts val="600"/>
              </a:spcBef>
            </a:pPr>
            <a:r>
              <a:rPr lang="en-US" sz="1800" dirty="0"/>
              <a:t>Electric energy consumption is considered in electric range for MUN </a:t>
            </a:r>
            <a:r>
              <a:rPr lang="en-US" sz="1800" dirty="0" err="1"/>
              <a:t>cyle</a:t>
            </a:r>
            <a:endParaRPr lang="en-US" sz="18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30</a:t>
            </a:fld>
            <a:endParaRPr lang="de-DE"/>
          </a:p>
        </p:txBody>
      </p:sp>
    </p:spTree>
    <p:extLst>
      <p:ext uri="{BB962C8B-B14F-4D97-AF65-F5344CB8AC3E}">
        <p14:creationId xmlns:p14="http://schemas.microsoft.com/office/powerpoint/2010/main" val="35724268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Known issues with current version</a:t>
            </a:r>
          </a:p>
        </p:txBody>
      </p:sp>
      <p:sp>
        <p:nvSpPr>
          <p:cNvPr id="3" name="Inhaltsplatzhalter 2"/>
          <p:cNvSpPr>
            <a:spLocks noGrp="1"/>
          </p:cNvSpPr>
          <p:nvPr>
            <p:ph idx="1"/>
          </p:nvPr>
        </p:nvSpPr>
        <p:spPr/>
        <p:txBody>
          <a:bodyPr/>
          <a:lstStyle/>
          <a:p>
            <a:pPr>
              <a:spcBef>
                <a:spcPts val="1200"/>
              </a:spcBef>
            </a:pPr>
            <a:r>
              <a:rPr lang="en-US" sz="1600" dirty="0"/>
              <a:t>Elements not yet implemented</a:t>
            </a:r>
          </a:p>
          <a:p>
            <a:pPr lvl="1"/>
            <a:r>
              <a:rPr lang="en-US" sz="1600" dirty="0"/>
              <a:t>Battery connectors / junction box not included</a:t>
            </a:r>
            <a:br>
              <a:rPr lang="en-US" sz="1600" dirty="0"/>
            </a:br>
            <a:r>
              <a:rPr lang="en-US" sz="1400" dirty="0">
                <a:sym typeface="Wingdings" panose="05000000000000000000" pitchFamily="2" charset="2"/>
              </a:rPr>
              <a:t> define and implement generic additional resistances (i.e. loss factors) </a:t>
            </a:r>
            <a:endParaRPr lang="en-US" sz="1600" dirty="0">
              <a:sym typeface="Wingdings" panose="05000000000000000000" pitchFamily="2" charset="2"/>
            </a:endParaRPr>
          </a:p>
          <a:p>
            <a:pPr lvl="1"/>
            <a:r>
              <a:rPr lang="en-US" sz="1600" dirty="0">
                <a:sym typeface="Wingdings" panose="05000000000000000000" pitchFamily="2" charset="2"/>
              </a:rPr>
              <a:t>Generic P-HEV strategy:</a:t>
            </a:r>
            <a:br>
              <a:rPr lang="en-US" sz="1600" dirty="0">
                <a:sym typeface="Wingdings" panose="05000000000000000000" pitchFamily="2" charset="2"/>
              </a:rPr>
            </a:br>
            <a:r>
              <a:rPr lang="en-US" sz="1600" dirty="0">
                <a:sym typeface="Wingdings" panose="05000000000000000000" pitchFamily="2" charset="2"/>
              </a:rPr>
              <a:t> </a:t>
            </a:r>
            <a:r>
              <a:rPr lang="en-US" sz="1400" dirty="0">
                <a:sym typeface="Wingdings" panose="05000000000000000000" pitchFamily="2" charset="2"/>
              </a:rPr>
              <a:t>To be tested whether an alternative post-processing method for vehicles with very small batteries is needed as back-up</a:t>
            </a:r>
            <a:endParaRPr lang="en-US" sz="1600" dirty="0">
              <a:sym typeface="Wingdings" panose="05000000000000000000" pitchFamily="2" charset="2"/>
            </a:endParaRPr>
          </a:p>
          <a:p>
            <a:pPr lvl="1"/>
            <a:r>
              <a:rPr lang="en-US" sz="1600" dirty="0"/>
              <a:t>Technical elements as resulting from the revision of the CO</a:t>
            </a:r>
            <a:r>
              <a:rPr lang="en-US" sz="1600" baseline="-25000" dirty="0"/>
              <a:t>2</a:t>
            </a:r>
            <a:r>
              <a:rPr lang="en-US" sz="1600" dirty="0"/>
              <a:t> Standards to be added</a:t>
            </a:r>
          </a:p>
          <a:p>
            <a:pPr lvl="2"/>
            <a:r>
              <a:rPr lang="en-US" sz="1400" dirty="0"/>
              <a:t>Sub-group allocation for the for the newly covered vehicle groups </a:t>
            </a:r>
          </a:p>
          <a:p>
            <a:pPr lvl="2"/>
            <a:r>
              <a:rPr lang="en-US" sz="1400" dirty="0"/>
              <a:t>Generation of weighted results for vocational vehicles</a:t>
            </a:r>
          </a:p>
          <a:p>
            <a:pPr>
              <a:spcBef>
                <a:spcPts val="1200"/>
              </a:spcBef>
            </a:pPr>
            <a:r>
              <a:rPr lang="en-US" sz="1600" dirty="0"/>
              <a:t>Elements still under discussion</a:t>
            </a:r>
          </a:p>
          <a:p>
            <a:pPr lvl="1"/>
            <a:r>
              <a:rPr lang="en-US" sz="1400" dirty="0"/>
              <a:t>Medium lorries mission profile and payload weighting factors (equally weighted, only preliminary)</a:t>
            </a:r>
          </a:p>
          <a:p>
            <a:pPr lvl="1"/>
            <a:r>
              <a:rPr lang="en-US" sz="1400" dirty="0"/>
              <a:t>Generic SOC min/max ranges and deterioration (only preliminary values)</a:t>
            </a:r>
          </a:p>
          <a:p>
            <a:pPr lvl="1"/>
            <a:r>
              <a:rPr lang="en-US" sz="1400" dirty="0"/>
              <a:t>Multiple SOC level(s) for VECTO PEV simulation and respective weighting of results</a:t>
            </a:r>
          </a:p>
          <a:p>
            <a:pPr lvl="2"/>
            <a:endParaRPr lang="en-GB" sz="1200" dirty="0">
              <a:solidFill>
                <a:srgbClr val="FF0000"/>
              </a:solidFill>
            </a:endParaRPr>
          </a:p>
        </p:txBody>
      </p:sp>
      <p:sp>
        <p:nvSpPr>
          <p:cNvPr id="4" name="Foliennummernplatzhalter 3"/>
          <p:cNvSpPr>
            <a:spLocks noGrp="1"/>
          </p:cNvSpPr>
          <p:nvPr>
            <p:ph type="sldNum" sz="quarter" idx="12"/>
          </p:nvPr>
        </p:nvSpPr>
        <p:spPr/>
        <p:txBody>
          <a:bodyPr/>
          <a:lstStyle/>
          <a:p>
            <a:fld id="{4B64EC4D-37E3-EF42-B9AB-6337577588CB}" type="slidenum">
              <a:rPr lang="de-DE" smtClean="0"/>
              <a:t>31</a:t>
            </a:fld>
            <a:endParaRPr lang="de-DE"/>
          </a:p>
        </p:txBody>
      </p:sp>
    </p:spTree>
    <p:extLst>
      <p:ext uri="{BB962C8B-B14F-4D97-AF65-F5344CB8AC3E}">
        <p14:creationId xmlns:p14="http://schemas.microsoft.com/office/powerpoint/2010/main" val="14324828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380" y="410547"/>
            <a:ext cx="8229240" cy="939281"/>
          </a:xfrm>
        </p:spPr>
        <p:txBody>
          <a:bodyPr/>
          <a:lstStyle/>
          <a:p>
            <a:r>
              <a:rPr lang="en-GB" sz="2400" spc="-1" dirty="0">
                <a:solidFill>
                  <a:srgbClr val="990000"/>
                </a:solidFill>
                <a:latin typeface="Arial"/>
              </a:rPr>
              <a:t>DECL Lorries – </a:t>
            </a:r>
            <a:r>
              <a:rPr lang="en-US" sz="2400" spc="-1" dirty="0">
                <a:solidFill>
                  <a:srgbClr val="990000"/>
                </a:solidFill>
                <a:latin typeface="Arial"/>
              </a:rPr>
              <a:t>Testing requests and organ. of feedback</a:t>
            </a:r>
            <a:endParaRPr lang="en-US" dirty="0"/>
          </a:p>
        </p:txBody>
      </p:sp>
      <p:sp>
        <p:nvSpPr>
          <p:cNvPr id="3" name="Inhaltsplatzhalter 2"/>
          <p:cNvSpPr>
            <a:spLocks noGrp="1"/>
          </p:cNvSpPr>
          <p:nvPr>
            <p:ph idx="1"/>
          </p:nvPr>
        </p:nvSpPr>
        <p:spPr/>
        <p:txBody>
          <a:bodyPr/>
          <a:lstStyle/>
          <a:p>
            <a:pPr>
              <a:spcBef>
                <a:spcPts val="900"/>
              </a:spcBef>
            </a:pPr>
            <a:r>
              <a:rPr lang="en-US" sz="1600" dirty="0"/>
              <a:t>Testing requests:</a:t>
            </a:r>
          </a:p>
          <a:p>
            <a:pPr lvl="1"/>
            <a:r>
              <a:rPr lang="en-US" sz="1400" dirty="0"/>
              <a:t>Test configurations relevant in your portfolio</a:t>
            </a:r>
          </a:p>
          <a:p>
            <a:pPr lvl="1"/>
            <a:r>
              <a:rPr lang="en-US" sz="1400" dirty="0"/>
              <a:t>Specific analysis regarding open issues as mentioned on slide “Known issues with current version”</a:t>
            </a:r>
          </a:p>
          <a:p>
            <a:pPr>
              <a:spcBef>
                <a:spcPts val="900"/>
              </a:spcBef>
            </a:pPr>
            <a:r>
              <a:rPr lang="en-US" sz="1600" dirty="0"/>
              <a:t>Feedback</a:t>
            </a:r>
          </a:p>
          <a:p>
            <a:pPr lvl="1"/>
            <a:r>
              <a:rPr lang="en-US" sz="1400" dirty="0"/>
              <a:t>Bug reports, questions etc.: please </a:t>
            </a:r>
            <a:r>
              <a:rPr lang="en-US" sz="1400" b="1" u="sng" dirty="0"/>
              <a:t>ONLY use JIRA</a:t>
            </a:r>
            <a:r>
              <a:rPr lang="en-US" sz="1400" dirty="0"/>
              <a:t> (no specific emails regarding those topics in the upcoming period)</a:t>
            </a:r>
          </a:p>
          <a:p>
            <a:pPr lvl="1"/>
            <a:r>
              <a:rPr lang="en-US" sz="1400" dirty="0"/>
              <a:t>If there is an urgent need for a meeting before the next DEV workshop (e.g. because of a special problem), this will be announced separately.</a:t>
            </a:r>
          </a:p>
          <a:p>
            <a:pPr marL="266700" lvl="1">
              <a:spcBef>
                <a:spcPts val="900"/>
              </a:spcBef>
              <a:buClr>
                <a:srgbClr val="F70146"/>
              </a:buClr>
            </a:pPr>
            <a:r>
              <a:rPr lang="en-US" sz="1600" dirty="0"/>
              <a:t>Bug fixing and support</a:t>
            </a:r>
          </a:p>
          <a:p>
            <a:pPr lvl="1"/>
            <a:r>
              <a:rPr lang="en-US" sz="1400" dirty="0"/>
              <a:t>TUG will focus on </a:t>
            </a:r>
            <a:r>
              <a:rPr lang="en-US" sz="1400" dirty="0" err="1"/>
              <a:t>finalising</a:t>
            </a:r>
            <a:r>
              <a:rPr lang="en-US" sz="1400" dirty="0"/>
              <a:t> the DECL for buses in the coming weeks.</a:t>
            </a:r>
          </a:p>
          <a:p>
            <a:pPr lvl="1"/>
            <a:r>
              <a:rPr lang="en-US" sz="1400" dirty="0"/>
              <a:t>Topics for the DECL for lorries will be collected and sorted by priority.</a:t>
            </a:r>
          </a:p>
          <a:p>
            <a:pPr lvl="1"/>
            <a:r>
              <a:rPr lang="en-US" sz="1400" dirty="0"/>
              <a:t>Unless urgent </a:t>
            </a:r>
            <a:r>
              <a:rPr lang="en-US" sz="1400" dirty="0" err="1"/>
              <a:t>bugfix</a:t>
            </a:r>
            <a:r>
              <a:rPr lang="en-US" sz="1400" dirty="0"/>
              <a:t> releases for blocking issues, there will be no new release before May.</a:t>
            </a:r>
          </a:p>
        </p:txBody>
      </p:sp>
      <p:sp>
        <p:nvSpPr>
          <p:cNvPr id="4" name="Foliennummernplatzhalter 3"/>
          <p:cNvSpPr>
            <a:spLocks noGrp="1"/>
          </p:cNvSpPr>
          <p:nvPr>
            <p:ph type="sldNum" sz="quarter" idx="12"/>
          </p:nvPr>
        </p:nvSpPr>
        <p:spPr/>
        <p:txBody>
          <a:bodyPr/>
          <a:lstStyle/>
          <a:p>
            <a:fld id="{4B64EC4D-37E3-EF42-B9AB-6337577588CB}" type="slidenum">
              <a:rPr lang="de-DE" smtClean="0"/>
              <a:t>32</a:t>
            </a:fld>
            <a:endParaRPr lang="de-DE"/>
          </a:p>
        </p:txBody>
      </p:sp>
    </p:spTree>
    <p:extLst>
      <p:ext uri="{BB962C8B-B14F-4D97-AF65-F5344CB8AC3E}">
        <p14:creationId xmlns:p14="http://schemas.microsoft.com/office/powerpoint/2010/main" val="26020678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7720" cy="680400"/>
          </a:xfrm>
          <a:prstGeom prst="rect">
            <a:avLst/>
          </a:prstGeom>
          <a:noFill/>
          <a:ln w="0">
            <a:noFill/>
          </a:ln>
        </p:spPr>
        <p:txBody>
          <a:bodyPr lIns="0" tIns="0" rIns="0" bIns="0" numCol="1" spcCol="0" anchor="ctr">
            <a:noAutofit/>
          </a:bodyPr>
          <a:lstStyle/>
          <a:p>
            <a:pPr algn="ctr">
              <a:lnSpc>
                <a:spcPct val="100000"/>
              </a:lnSpc>
              <a:buNone/>
            </a:pPr>
            <a:r>
              <a:rPr lang="en-US" sz="2400" b="1" strike="noStrike" spc="-1" dirty="0" err="1">
                <a:solidFill>
                  <a:srgbClr val="990000"/>
                </a:solidFill>
                <a:latin typeface="Arial"/>
              </a:rPr>
              <a:t>Vecto</a:t>
            </a:r>
            <a:r>
              <a:rPr lang="en-US" sz="2400" b="1" strike="noStrike" spc="-1" dirty="0">
                <a:solidFill>
                  <a:srgbClr val="990000"/>
                </a:solidFill>
                <a:latin typeface="Arial"/>
              </a:rPr>
              <a:t> 0.7.9.2864 JRC Development Version</a:t>
            </a:r>
            <a:r>
              <a:rPr lang="en-US" sz="2400" b="0" strike="noStrike" spc="-1" dirty="0">
                <a:latin typeface="Arial"/>
              </a:rPr>
              <a:t> </a:t>
            </a:r>
            <a:br>
              <a:rPr sz="2400" dirty="0"/>
            </a:br>
            <a:r>
              <a:rPr lang="en-US" sz="1600" b="1" strike="noStrike" spc="-1" dirty="0">
                <a:solidFill>
                  <a:srgbClr val="990000"/>
                </a:solidFill>
                <a:latin typeface="Arial"/>
              </a:rPr>
              <a:t>November 2022</a:t>
            </a:r>
            <a:endParaRPr lang="en-US" sz="1600" b="0" strike="noStrike" spc="-1" dirty="0">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Important Note</a:t>
            </a:r>
            <a:br>
              <a:rPr sz="1600"/>
            </a:br>
            <a:r>
              <a:rPr lang="en-US" sz="1600" b="0" strike="noStrike" spc="-1">
                <a:solidFill>
                  <a:srgbClr val="000000"/>
                </a:solidFill>
                <a:latin typeface="Arial"/>
              </a:rPr>
              <a:t>This is a special development release by JRC to validate the time-runs for BEVs. </a:t>
            </a:r>
            <a:br>
              <a:rPr sz="1600"/>
            </a:br>
            <a:r>
              <a:rPr lang="en-US" sz="1600" b="0" strike="noStrike" spc="-1">
                <a:solidFill>
                  <a:srgbClr val="000000"/>
                </a:solidFill>
                <a:latin typeface="Arial"/>
              </a:rPr>
              <a:t> </a:t>
            </a:r>
            <a:endParaRPr lang="en-US" sz="1600" b="0" strike="noStrike" spc="-1">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cycle for BEVs (E2, E3, E4,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with gear for BEVs (E2,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Pwheel mode for BEVs (E2, E3, E4, IEPC)</a:t>
            </a:r>
            <a:br>
              <a:rPr sz="1400"/>
            </a:br>
            <a:r>
              <a:rPr lang="en-US" sz="1400" b="0" strike="noStrike" spc="-1">
                <a:solidFill>
                  <a:srgbClr val="000000"/>
                </a:solidFill>
                <a:latin typeface="Arial"/>
              </a:rPr>
              <a:t>In this type of cycle, the input field </a:t>
            </a:r>
            <a:r>
              <a:rPr lang="en-US" sz="1400" b="1" strike="noStrike" spc="-1">
                <a:solidFill>
                  <a:srgbClr val="000000"/>
                </a:solidFill>
                <a:latin typeface="Arial"/>
              </a:rPr>
              <a:t>&lt;n&gt;</a:t>
            </a:r>
            <a:r>
              <a:rPr lang="en-US" sz="1400" b="0" strike="noStrike" spc="-1">
                <a:solidFill>
                  <a:srgbClr val="000000"/>
                </a:solidFill>
                <a:latin typeface="Arial"/>
              </a:rPr>
              <a:t> stands for the speed of the electric motor.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Microsoft YaHei"/>
              </a:rPr>
              <a:t>The E2 vehicle job “Generic Vehicles\Engineering Mode\GenericVehicleE2\BEV_ENG_timeruns.vecto” is preconfigured to run time-run cycles.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0.7.9.2741 Development Version</a:t>
            </a:r>
            <a:br>
              <a:rPr sz="2400"/>
            </a:br>
            <a:r>
              <a:rPr lang="en-US" sz="1600" b="1" strike="noStrike" spc="-1">
                <a:solidFill>
                  <a:srgbClr val="990000"/>
                </a:solidFill>
                <a:latin typeface="Arial"/>
              </a:rPr>
              <a:t>June 2022</a:t>
            </a:r>
            <a:endParaRPr lang="en-US" sz="1600" b="0" strike="noStrike" spc="-1">
              <a:latin typeface="Arial"/>
            </a:endParaRPr>
          </a:p>
        </p:txBody>
      </p:sp>
      <p:sp>
        <p:nvSpPr>
          <p:cNvPr id="9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IHPC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Adaptations HEV-S strategy, SoC correction for HEV-S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PTO idle drag losses for PEV, adapting PTO idle losses according to 2nd amendment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Hashing tool crashes in .net version 6.0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Corrected length for BusAux volume calculation</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IEPC component</a:t>
            </a:r>
            <a:endParaRPr lang="en-US" sz="2400" b="0" strike="noStrike" spc="-1">
              <a:latin typeface="Arial"/>
            </a:endParaRPr>
          </a:p>
        </p:txBody>
      </p:sp>
      <p:sp>
        <p:nvSpPr>
          <p:cNvPr id="95"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is modelled as APT-N transmission and electric machine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Using already available models, same shift strategy as for E2/S2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Simplified transmission in case of single-speed IEPC</a:t>
            </a:r>
            <a:endParaRPr lang="en-US" sz="1800" b="0" strike="noStrike" spc="-1">
              <a:latin typeface="Arial"/>
            </a:endParaRPr>
          </a:p>
        </p:txBody>
      </p:sp>
      <p:sp>
        <p:nvSpPr>
          <p:cNvPr id="96" name="PlaceHolder 3"/>
          <p:cNvSpPr>
            <a:spLocks noGrp="1"/>
          </p:cNvSpPr>
          <p:nvPr>
            <p:ph type="sldNum" idx="1"/>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97" name="Grafik 72"/>
          <p:cNvPicPr/>
          <p:nvPr/>
        </p:nvPicPr>
        <p:blipFill>
          <a:blip r:embed="rId2"/>
          <a:stretch/>
        </p:blipFill>
        <p:spPr>
          <a:xfrm>
            <a:off x="2500920" y="3562200"/>
            <a:ext cx="3913560" cy="1592280"/>
          </a:xfrm>
          <a:prstGeom prst="rect">
            <a:avLst/>
          </a:prstGeom>
          <a:ln w="0">
            <a:noFill/>
          </a:ln>
        </p:spPr>
      </p:pic>
      <p:sp>
        <p:nvSpPr>
          <p:cNvPr id="98" name="Textfeld 73"/>
          <p:cNvSpPr/>
          <p:nvPr/>
        </p:nvSpPr>
        <p:spPr>
          <a:xfrm>
            <a:off x="0" y="5155200"/>
            <a:ext cx="914328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700"/>
              </a:spcBef>
              <a:buNone/>
            </a:pPr>
            <a:r>
              <a:rPr lang="en-US" sz="1400" b="1" strike="noStrike" spc="-1">
                <a:solidFill>
                  <a:srgbClr val="000000"/>
                </a:solidFill>
                <a:latin typeface="Courier New"/>
                <a:ea typeface="DejaVu Sans"/>
              </a:rPr>
              <a:t>_int </a:t>
            </a:r>
            <a:r>
              <a:rPr lang="en-US" sz="1400" b="1" strike="noStrike" spc="-1">
                <a:solidFill>
                  <a:srgbClr val="000000"/>
                </a:solidFill>
                <a:latin typeface="Arial"/>
                <a:ea typeface="DejaVu Sans"/>
              </a:rPr>
              <a:t>signals refer to the out-shaft of the electric motor</a:t>
            </a:r>
            <a:endParaRPr lang="en-US" sz="1400" b="0" strike="noStrike" spc="-1">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dirty="0">
                <a:solidFill>
                  <a:srgbClr val="990000"/>
                </a:solidFill>
                <a:latin typeface="Arial"/>
              </a:rPr>
              <a:t>Peculiarities of IEPC</a:t>
            </a:r>
            <a:endParaRPr lang="en-US" sz="2400" b="0" strike="noStrike" spc="-1" dirty="0">
              <a:latin typeface="Arial"/>
            </a:endParaRPr>
          </a:p>
        </p:txBody>
      </p:sp>
      <p:sp>
        <p:nvSpPr>
          <p:cNvPr id="10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Model parameters (max torque, power maps) refer to IEPC out-shaft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Internally converted to electric motor</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Overload parameters are measured in the gear with the </a:t>
            </a:r>
            <a:br>
              <a:rPr sz="2000"/>
            </a:br>
            <a:r>
              <a:rPr lang="en-US" sz="2000" b="0" strike="noStrike" spc="-1">
                <a:solidFill>
                  <a:srgbClr val="000000"/>
                </a:solidFill>
                <a:latin typeface="Arial"/>
              </a:rPr>
              <a:t>ratio closest to 1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2 options for drag curve acc. to Annex Xb:</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 single drag curve is provided </a:t>
            </a:r>
            <a:br>
              <a:rPr sz="1800"/>
            </a:br>
            <a:r>
              <a:rPr lang="en-US" sz="1800" b="0" strike="noStrike" spc="-1">
                <a:solidFill>
                  <a:srgbClr val="000000"/>
                </a:solidFill>
                <a:latin typeface="Arial"/>
              </a:rPr>
              <a:t>(measured in gear with ratio closest to 1)</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 curve for every gear is provided</a:t>
            </a:r>
            <a:endParaRPr lang="en-US" sz="1800" b="0" strike="noStrike" spc="-1">
              <a:latin typeface="Arial"/>
            </a:endParaRPr>
          </a:p>
        </p:txBody>
      </p:sp>
      <p:sp>
        <p:nvSpPr>
          <p:cNvPr id="101" name="PlaceHolder 3"/>
          <p:cNvSpPr>
            <a:spLocks noGrp="1"/>
          </p:cNvSpPr>
          <p:nvPr>
            <p:ph type="sldNum" idx="2"/>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03" name="PlaceHolder 2"/>
          <p:cNvSpPr>
            <a:spLocks noGrp="1"/>
          </p:cNvSpPr>
          <p:nvPr>
            <p:ph/>
          </p:nvPr>
        </p:nvSpPr>
        <p:spPr>
          <a:xfrm>
            <a:off x="622440" y="2137320"/>
            <a:ext cx="8393760" cy="95688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powertrain architecture definition</a:t>
            </a:r>
            <a:endParaRPr lang="en-US" sz="2000" b="0" strike="noStrike" spc="-1">
              <a:latin typeface="Arial"/>
            </a:endParaRPr>
          </a:p>
          <a:p>
            <a:pPr marL="743040" lvl="1" indent="-285840">
              <a:lnSpc>
                <a:spcPct val="100000"/>
              </a:lnSpc>
              <a:spcBef>
                <a:spcPts val="281"/>
              </a:spcBef>
              <a:buClr>
                <a:srgbClr val="000000"/>
              </a:buClr>
              <a:buFont typeface="Symbol"/>
              <a:buChar char=""/>
            </a:pPr>
            <a:r>
              <a:rPr lang="en-US" sz="1400" b="0" strike="noStrike" spc="-1">
                <a:solidFill>
                  <a:srgbClr val="000000"/>
                </a:solidFill>
                <a:latin typeface="Arial"/>
              </a:rPr>
              <a:t>Specific system layout is described by setting of 3 parameters</a:t>
            </a:r>
            <a:br>
              <a:rPr sz="1400"/>
            </a:br>
            <a:r>
              <a:rPr lang="en-US" sz="1400" b="0" strike="noStrike" spc="-1">
                <a:solidFill>
                  <a:srgbClr val="000000"/>
                </a:solidFill>
                <a:latin typeface="Arial"/>
              </a:rPr>
              <a:t>(for detailed description please refer to Annex Xb)</a:t>
            </a:r>
            <a:endParaRPr lang="en-US" sz="1400" b="0" strike="noStrike" spc="-1">
              <a:latin typeface="Arial"/>
            </a:endParaRPr>
          </a:p>
        </p:txBody>
      </p:sp>
      <p:sp>
        <p:nvSpPr>
          <p:cNvPr id="104" name="PlaceHolder 3"/>
          <p:cNvSpPr>
            <a:spLocks noGrp="1"/>
          </p:cNvSpPr>
          <p:nvPr>
            <p:ph type="sldNum" idx="3"/>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05" name="Tabelle 4"/>
          <p:cNvGraphicFramePr/>
          <p:nvPr/>
        </p:nvGraphicFramePr>
        <p:xfrm>
          <a:off x="29160" y="2980800"/>
          <a:ext cx="9074160" cy="2890440"/>
        </p:xfrm>
        <a:graphic>
          <a:graphicData uri="http://schemas.openxmlformats.org/drawingml/2006/table">
            <a:tbl>
              <a:tblPr/>
              <a:tblGrid>
                <a:gridCol w="542520">
                  <a:extLst>
                    <a:ext uri="{9D8B030D-6E8A-4147-A177-3AD203B41FA5}">
                      <a16:colId xmlns:a16="http://schemas.microsoft.com/office/drawing/2014/main" val="20000"/>
                    </a:ext>
                  </a:extLst>
                </a:gridCol>
                <a:gridCol w="684000">
                  <a:extLst>
                    <a:ext uri="{9D8B030D-6E8A-4147-A177-3AD203B41FA5}">
                      <a16:colId xmlns:a16="http://schemas.microsoft.com/office/drawing/2014/main" val="20001"/>
                    </a:ext>
                  </a:extLst>
                </a:gridCol>
                <a:gridCol w="720000">
                  <a:extLst>
                    <a:ext uri="{9D8B030D-6E8A-4147-A177-3AD203B41FA5}">
                      <a16:colId xmlns:a16="http://schemas.microsoft.com/office/drawing/2014/main" val="20002"/>
                    </a:ext>
                  </a:extLst>
                </a:gridCol>
                <a:gridCol w="972000">
                  <a:extLst>
                    <a:ext uri="{9D8B030D-6E8A-4147-A177-3AD203B41FA5}">
                      <a16:colId xmlns:a16="http://schemas.microsoft.com/office/drawing/2014/main" val="20003"/>
                    </a:ext>
                  </a:extLst>
                </a:gridCol>
                <a:gridCol w="2700000">
                  <a:extLst>
                    <a:ext uri="{9D8B030D-6E8A-4147-A177-3AD203B41FA5}">
                      <a16:colId xmlns:a16="http://schemas.microsoft.com/office/drawing/2014/main" val="20004"/>
                    </a:ext>
                  </a:extLst>
                </a:gridCol>
                <a:gridCol w="3456000">
                  <a:extLst>
                    <a:ext uri="{9D8B030D-6E8A-4147-A177-3AD203B41FA5}">
                      <a16:colId xmlns:a16="http://schemas.microsoft.com/office/drawing/2014/main" val="20005"/>
                    </a:ext>
                  </a:extLst>
                </a:gridCol>
              </a:tblGrid>
              <a:tr h="370800">
                <a:tc>
                  <a:txBody>
                    <a:bodyPr/>
                    <a:lstStyle/>
                    <a:p>
                      <a:pPr algn="ctr">
                        <a:lnSpc>
                          <a:spcPct val="100000"/>
                        </a:lnSpc>
                        <a:buNone/>
                      </a:pPr>
                      <a:r>
                        <a:rPr lang="de-AT" sz="800" b="1" strike="noStrike" spc="-1">
                          <a:solidFill>
                            <a:srgbClr val="FFFFFF"/>
                          </a:solidFill>
                          <a:latin typeface="Arial"/>
                        </a:rPr>
                        <a:t>IEPC layout case #</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Differential</a:t>
                      </a:r>
                      <a:br>
                        <a:rPr sz="700"/>
                      </a:br>
                      <a:r>
                        <a:rPr lang="de-AT" sz="700" b="1" strike="noStrike" spc="-1">
                          <a:solidFill>
                            <a:srgbClr val="FFFFFF"/>
                          </a:solidFill>
                          <a:latin typeface="Arial"/>
                        </a:rPr>
                        <a:t>Included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a:t>
                      </a:r>
                      <a:br>
                        <a:rPr sz="700"/>
                      </a:br>
                      <a:r>
                        <a:rPr lang="de-AT" sz="700" b="1" strike="noStrike" spc="-1">
                          <a:solidFill>
                            <a:srgbClr val="FFFFFF"/>
                          </a:solidFill>
                          <a:latin typeface="Arial"/>
                        </a:rPr>
                        <a:t>WheelMotor</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DesignTypeWheel</a:t>
                      </a:r>
                      <a:br>
                        <a:rPr sz="700"/>
                      </a:br>
                      <a:r>
                        <a:rPr lang="de-AT" sz="700" b="1" strike="noStrike" spc="-1">
                          <a:solidFill>
                            <a:srgbClr val="FFFFFF"/>
                          </a:solidFill>
                          <a:latin typeface="Arial"/>
                        </a:rPr>
                        <a:t>MotorMeasured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Layout schematics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Comments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56000">
                <a:tc>
                  <a:txBody>
                    <a:bodyPr/>
                    <a:lstStyle/>
                    <a:p>
                      <a:pP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Regular axle component required in job file</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1" strike="noStrike" spc="-1">
                          <a:solidFill>
                            <a:srgbClr val="000000"/>
                          </a:solidFill>
                          <a:latin typeface="Wingdings"/>
                        </a:rPr>
                        <a:t></a:t>
                      </a:r>
                      <a:r>
                        <a:rPr lang="de-AT" sz="800" b="1" strike="noStrike" spc="-1">
                          <a:solidFill>
                            <a:srgbClr val="000000"/>
                          </a:solidFill>
                          <a:latin typeface="Arial"/>
                        </a:rPr>
                        <a:t> useage of transmission type</a:t>
                      </a:r>
                      <a:br>
                        <a:rPr sz="800"/>
                      </a:br>
                      <a:r>
                        <a:rPr lang="de-AT" sz="800" b="1" strike="noStrike" spc="-1">
                          <a:solidFill>
                            <a:srgbClr val="000000"/>
                          </a:solidFill>
                          <a:latin typeface="Arial"/>
                        </a:rPr>
                        <a:t>„IEPC Transmission – dummy entry“</a:t>
                      </a:r>
                      <a:endParaRPr lang="en-US" sz="800" b="0" strike="noStrike" spc="-1">
                        <a:latin typeface="Arial"/>
                      </a:endParaRPr>
                    </a:p>
                    <a:p>
                      <a:pPr>
                        <a:lnSpc>
                          <a:spcPct val="100000"/>
                        </a:lnSpc>
                        <a:buNone/>
                      </a:pPr>
                      <a:r>
                        <a:rPr lang="de-AT" sz="800" b="0" strike="noStrike" spc="-1">
                          <a:solidFill>
                            <a:srgbClr val="000000"/>
                          </a:solidFill>
                          <a:latin typeface="Arial"/>
                        </a:rPr>
                        <a:t>(allows axle component alone without a min. number of gears)</a:t>
                      </a:r>
                      <a:endParaRPr lang="en-US" sz="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756000">
                <a:tc>
                  <a:txBody>
                    <a:bodyPr/>
                    <a:lstStyle/>
                    <a:p>
                      <a:pP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800" b="0" strike="noStrike" spc="-1">
                          <a:solidFill>
                            <a:srgbClr val="000000"/>
                          </a:solidFill>
                          <a:latin typeface="Arial"/>
                        </a:rPr>
                        <a:t>No axle component</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0" strike="noStrike" spc="-1">
                          <a:solidFill>
                            <a:srgbClr val="000000"/>
                          </a:solidFill>
                          <a:latin typeface="Arial"/>
                        </a:rPr>
                        <a:t>All parameterization via IEPC specific window</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504000">
                <a:tc>
                  <a:txBody>
                    <a:bodyPr/>
                    <a:lstStyle/>
                    <a:p>
                      <a:pPr>
                        <a:lnSpc>
                          <a:spcPct val="100000"/>
                        </a:lnSpc>
                        <a:buNone/>
                      </a:pPr>
                      <a:r>
                        <a:rPr lang="de-AT" sz="1200" b="0" strike="noStrike" spc="-1">
                          <a:solidFill>
                            <a:srgbClr val="000000"/>
                          </a:solidFill>
                          <a:latin typeface="Arial"/>
                        </a:rPr>
                        <a:t>3</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Component test performed in L-config acc. to Annex Xb (only one side)</a:t>
                      </a:r>
                      <a:endParaRPr lang="en-US" sz="800" b="0" strike="noStrike" spc="-1">
                        <a:latin typeface="Arial"/>
                      </a:endParaRPr>
                    </a:p>
                    <a:p>
                      <a:pPr>
                        <a:lnSpc>
                          <a:spcPct val="100000"/>
                        </a:lnSpc>
                        <a:buNone/>
                      </a:pPr>
                      <a:r>
                        <a:rPr lang="de-AT" sz="800" b="0" i="1" strike="noStrike" spc="-1">
                          <a:solidFill>
                            <a:srgbClr val="000000"/>
                          </a:solidFill>
                          <a:latin typeface="Wingdings"/>
                        </a:rPr>
                        <a:t></a:t>
                      </a:r>
                      <a:r>
                        <a:rPr lang="de-AT" sz="800" b="0" i="1" strike="noStrike" spc="-1">
                          <a:solidFill>
                            <a:srgbClr val="000000"/>
                          </a:solidFill>
                          <a:latin typeface="Arial"/>
                        </a:rPr>
                        <a:t> All torque and power values in input data are multiplied with a factor of 2</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504000">
                <a:tc>
                  <a:txBody>
                    <a:bodyPr/>
                    <a:lstStyle/>
                    <a:p>
                      <a:pPr>
                        <a:lnSpc>
                          <a:spcPct val="100000"/>
                        </a:lnSpc>
                        <a:buNone/>
                      </a:pPr>
                      <a:r>
                        <a:rPr lang="de-AT" sz="1200" b="0" strike="noStrike" spc="-1">
                          <a:solidFill>
                            <a:srgbClr val="000000"/>
                          </a:solidFill>
                          <a:latin typeface="Arial"/>
                        </a:rPr>
                        <a:t>4</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800" b="0" strike="noStrike" spc="-1">
                          <a:solidFill>
                            <a:srgbClr val="000000"/>
                          </a:solidFill>
                          <a:latin typeface="Arial"/>
                        </a:rPr>
                        <a:t>Component test performed in T-config acc. to Annex Xb (both sides)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pic>
        <p:nvPicPr>
          <p:cNvPr id="106" name="Grafik 5"/>
          <p:cNvPicPr/>
          <p:nvPr/>
        </p:nvPicPr>
        <p:blipFill>
          <a:blip r:embed="rId2"/>
          <a:stretch/>
        </p:blipFill>
        <p:spPr>
          <a:xfrm>
            <a:off x="2983680" y="3498840"/>
            <a:ext cx="1720800" cy="647280"/>
          </a:xfrm>
          <a:prstGeom prst="rect">
            <a:avLst/>
          </a:prstGeom>
          <a:ln w="0">
            <a:noFill/>
          </a:ln>
        </p:spPr>
      </p:pic>
      <p:pic>
        <p:nvPicPr>
          <p:cNvPr id="107" name="Grafik 6"/>
          <p:cNvPicPr/>
          <p:nvPr/>
        </p:nvPicPr>
        <p:blipFill>
          <a:blip r:embed="rId3"/>
          <a:stretch/>
        </p:blipFill>
        <p:spPr>
          <a:xfrm>
            <a:off x="2983680" y="4256640"/>
            <a:ext cx="1465920" cy="647280"/>
          </a:xfrm>
          <a:prstGeom prst="rect">
            <a:avLst/>
          </a:prstGeom>
          <a:ln w="0">
            <a:noFill/>
          </a:ln>
        </p:spPr>
      </p:pic>
      <p:pic>
        <p:nvPicPr>
          <p:cNvPr id="108" name="Grafik 7"/>
          <p:cNvPicPr/>
          <p:nvPr/>
        </p:nvPicPr>
        <p:blipFill>
          <a:blip r:embed="rId4"/>
          <a:stretch/>
        </p:blipFill>
        <p:spPr>
          <a:xfrm>
            <a:off x="2986200" y="4988880"/>
            <a:ext cx="939960" cy="935280"/>
          </a:xfrm>
          <a:prstGeom prst="rect">
            <a:avLst/>
          </a:prstGeom>
          <a:ln w="0">
            <a:noFill/>
          </a:ln>
        </p:spPr>
      </p:pic>
      <p:pic>
        <p:nvPicPr>
          <p:cNvPr id="109" name="Grafik 8"/>
          <p:cNvPicPr/>
          <p:nvPr/>
        </p:nvPicPr>
        <p:blipFill>
          <a:blip r:embed="rId5"/>
          <a:stretch/>
        </p:blipFill>
        <p:spPr>
          <a:xfrm>
            <a:off x="4516560" y="4256640"/>
            <a:ext cx="1077840" cy="644040"/>
          </a:xfrm>
          <a:prstGeom prst="rect">
            <a:avLst/>
          </a:prstGeom>
          <a:ln w="0">
            <a:noFill/>
          </a:ln>
        </p:spPr>
      </p:pic>
      <p:pic>
        <p:nvPicPr>
          <p:cNvPr id="110" name="Grafik 9"/>
          <p:cNvPicPr/>
          <p:nvPr/>
        </p:nvPicPr>
        <p:blipFill>
          <a:blip r:embed="rId4"/>
          <a:stretch/>
        </p:blipFill>
        <p:spPr>
          <a:xfrm>
            <a:off x="4141800" y="4988880"/>
            <a:ext cx="939960" cy="935280"/>
          </a:xfrm>
          <a:prstGeom prst="rect">
            <a:avLst/>
          </a:prstGeom>
          <a:ln w="0">
            <a:noFill/>
          </a:ln>
        </p:spPr>
      </p:pic>
      <p:sp>
        <p:nvSpPr>
          <p:cNvPr id="111" name="Rechteck 10"/>
          <p:cNvSpPr/>
          <p:nvPr/>
        </p:nvSpPr>
        <p:spPr>
          <a:xfrm>
            <a:off x="2986200" y="5467680"/>
            <a:ext cx="939960" cy="456480"/>
          </a:xfrm>
          <a:prstGeom prst="rect">
            <a:avLst/>
          </a:prstGeom>
          <a:solidFill>
            <a:schemeClr val="bg1">
              <a:alpha val="80000"/>
            </a:schemeClr>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3"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General parameters</a:t>
            </a:r>
            <a:endParaRPr lang="en-US" sz="2000" b="0" strike="noStrike" spc="-1">
              <a:latin typeface="Arial"/>
            </a:endParaRPr>
          </a:p>
        </p:txBody>
      </p:sp>
      <p:sp>
        <p:nvSpPr>
          <p:cNvPr id="114" name="PlaceHolder 3"/>
          <p:cNvSpPr>
            <a:spLocks noGrp="1"/>
          </p:cNvSpPr>
          <p:nvPr>
            <p:ph type="sldNum" idx="4"/>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15" name="Tabelle 4"/>
          <p:cNvGraphicFramePr/>
          <p:nvPr/>
        </p:nvGraphicFramePr>
        <p:xfrm>
          <a:off x="933480" y="2647800"/>
          <a:ext cx="7835040" cy="249012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7436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DifferentialIncluded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Set to ‘true’ in the case a differential is part of the IEPC</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DesignTypeWheelMotor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Set to ‘true’ in the case of an IEPC design type wheel 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603720">
                <a:tc>
                  <a:txBody>
                    <a:bodyPr/>
                    <a:lstStyle/>
                    <a:p>
                      <a:pPr>
                        <a:lnSpc>
                          <a:spcPct val="100000"/>
                        </a:lnSpc>
                        <a:buNone/>
                      </a:pPr>
                      <a:r>
                        <a:rPr lang="de-AT" sz="1200" b="0" strike="noStrike" spc="-1">
                          <a:solidFill>
                            <a:srgbClr val="000000"/>
                          </a:solidFill>
                          <a:latin typeface="Arial"/>
                        </a:rPr>
                        <a:t>DesignTypeWheelMotorMeasured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Input only relevant in the case of an IEPC design type wheel motor, in accordance with paragraph 4.1.1.2 of Annex Xb.</a:t>
                      </a:r>
                      <a:endParaRPr lang="en-US" sz="1200" b="0" strike="noStrike" spc="-1">
                        <a:latin typeface="Arial"/>
                      </a:endParaRPr>
                    </a:p>
                    <a:p>
                      <a:pPr>
                        <a:lnSpc>
                          <a:spcPct val="100000"/>
                        </a:lnSpc>
                        <a:buNone/>
                      </a:pPr>
                      <a:r>
                        <a:rPr lang="en-US" sz="1200" b="0" strike="noStrike" spc="-1">
                          <a:solidFill>
                            <a:srgbClr val="000000"/>
                          </a:solidFill>
                          <a:latin typeface="Arial"/>
                        </a:rPr>
                        <a:t>Allowed values: ‘1’, ‘2’</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performance parameters</a:t>
            </a:r>
            <a:endParaRPr lang="en-US" sz="2000" b="0" strike="noStrike" spc="-1">
              <a:latin typeface="Arial"/>
            </a:endParaRPr>
          </a:p>
        </p:txBody>
      </p:sp>
      <p:sp>
        <p:nvSpPr>
          <p:cNvPr id="118" name="PlaceHolder 3"/>
          <p:cNvSpPr>
            <a:spLocks noGrp="1"/>
          </p:cNvSpPr>
          <p:nvPr>
            <p:ph type="sldNum" idx="5"/>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19" name="Tabelle 4"/>
          <p:cNvGraphicFramePr/>
          <p:nvPr/>
        </p:nvGraphicFramePr>
        <p:xfrm>
          <a:off x="933480" y="2647800"/>
          <a:ext cx="7835040" cy="264420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43308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ratio, MaxOutputShaftTorque (optional), MaxOutputShaftSpeed (optional)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Only for one voltage level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IEPC Input Form</a:t>
            </a:r>
            <a:endParaRPr lang="en-US" sz="2400" b="0" strike="noStrike" spc="-1">
              <a:latin typeface="Arial"/>
            </a:endParaRPr>
          </a:p>
        </p:txBody>
      </p:sp>
      <p:sp>
        <p:nvSpPr>
          <p:cNvPr id="121" name="PlaceHolder 2"/>
          <p:cNvSpPr>
            <a:spLocks noGrp="1"/>
          </p:cNvSpPr>
          <p:nvPr>
            <p:ph type="sldNum" idx="6"/>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22" name="Grafik 4"/>
          <p:cNvPicPr/>
          <p:nvPr/>
        </p:nvPicPr>
        <p:blipFill>
          <a:blip r:embed="rId2"/>
          <a:stretch/>
        </p:blipFill>
        <p:spPr>
          <a:xfrm>
            <a:off x="4567680" y="1908720"/>
            <a:ext cx="4449600" cy="3288240"/>
          </a:xfrm>
          <a:prstGeom prst="rect">
            <a:avLst/>
          </a:prstGeom>
          <a:ln w="0">
            <a:noFill/>
          </a:ln>
        </p:spPr>
      </p:pic>
      <p:sp>
        <p:nvSpPr>
          <p:cNvPr id="123" name="Gerade Verbindung mit Pfeil 6"/>
          <p:cNvSpPr/>
          <p:nvPr/>
        </p:nvSpPr>
        <p:spPr>
          <a:xfrm flipH="1" flipV="1">
            <a:off x="4938120" y="4318920"/>
            <a:ext cx="495720" cy="87732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24" name="Gerade Verbindung mit Pfeil 8"/>
          <p:cNvSpPr/>
          <p:nvPr/>
        </p:nvSpPr>
        <p:spPr>
          <a:xfrm flipV="1">
            <a:off x="5435640" y="3552480"/>
            <a:ext cx="1991880" cy="164376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pic>
        <p:nvPicPr>
          <p:cNvPr id="125" name="Grafik 5"/>
          <p:cNvPicPr/>
          <p:nvPr/>
        </p:nvPicPr>
        <p:blipFill>
          <a:blip r:embed="rId3"/>
          <a:stretch/>
        </p:blipFill>
        <p:spPr>
          <a:xfrm>
            <a:off x="622440" y="1908720"/>
            <a:ext cx="3527280" cy="3027600"/>
          </a:xfrm>
          <a:prstGeom prst="rect">
            <a:avLst/>
          </a:prstGeom>
          <a:ln w="0">
            <a:noFill/>
          </a:ln>
        </p:spPr>
      </p:pic>
      <p:sp>
        <p:nvSpPr>
          <p:cNvPr id="126" name="Pfeil nach rechts 7"/>
          <p:cNvSpPr/>
          <p:nvPr/>
        </p:nvSpPr>
        <p:spPr>
          <a:xfrm>
            <a:off x="4150440" y="2647080"/>
            <a:ext cx="47340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27" name="Textfeld 9"/>
          <p:cNvSpPr/>
          <p:nvPr/>
        </p:nvSpPr>
        <p:spPr>
          <a:xfrm>
            <a:off x="4701960" y="5153400"/>
            <a:ext cx="2442960" cy="820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Lists with gear entries are synchronized, gears can be added/removed in the gear-list on the right</a:t>
            </a:r>
            <a:endParaRPr lang="en-US" sz="1200" b="0" strike="noStrike" spc="-1">
              <a:latin typeface="Arial"/>
            </a:endParaRPr>
          </a:p>
        </p:txBody>
      </p:sp>
      <p:sp>
        <p:nvSpPr>
          <p:cNvPr id="128" name="Textfeld 11"/>
          <p:cNvSpPr/>
          <p:nvPr/>
        </p:nvSpPr>
        <p:spPr>
          <a:xfrm>
            <a:off x="622440" y="5065560"/>
            <a:ext cx="35272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IEPC component via</a:t>
            </a:r>
            <a:br>
              <a:rPr sz="1200"/>
            </a:br>
            <a:r>
              <a:rPr lang="en-US" sz="1200" b="1" i="1" strike="noStrike" spc="-1">
                <a:solidFill>
                  <a:srgbClr val="000000"/>
                </a:solidFill>
                <a:latin typeface="Arial"/>
                <a:ea typeface="DejaVu Sans"/>
              </a:rPr>
              <a:t>“Vehicle \ IEPC-Tab”</a:t>
            </a:r>
            <a:endParaRPr lang="en-US" sz="1200" b="0" strike="noStrike" spc="-1">
              <a:latin typeface="Arial"/>
            </a:endParaRPr>
          </a:p>
        </p:txBody>
      </p:sp>
      <p:sp>
        <p:nvSpPr>
          <p:cNvPr id="129" name="Ellipse 12"/>
          <p:cNvSpPr/>
          <p:nvPr/>
        </p:nvSpPr>
        <p:spPr>
          <a:xfrm>
            <a:off x="529560" y="2379240"/>
            <a:ext cx="578880" cy="17640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0" name="Ellipse 13"/>
          <p:cNvSpPr/>
          <p:nvPr/>
        </p:nvSpPr>
        <p:spPr>
          <a:xfrm>
            <a:off x="1630080" y="3207600"/>
            <a:ext cx="5788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1" name="Gerade Verbindung mit Pfeil 15"/>
          <p:cNvSpPr/>
          <p:nvPr/>
        </p:nvSpPr>
        <p:spPr>
          <a:xfrm flipH="1" flipV="1">
            <a:off x="1697760" y="34783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2" name="Textfeld 17"/>
          <p:cNvSpPr/>
          <p:nvPr/>
        </p:nvSpPr>
        <p:spPr>
          <a:xfrm>
            <a:off x="1825920" y="366696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IEPC GUI-window</a:t>
            </a:r>
            <a:endParaRPr lang="en-US" sz="1050" b="0" strike="noStrike" spc="-1">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Gearbox Form for IEPC Vehicles</a:t>
            </a:r>
            <a:endParaRPr lang="en-US" sz="2400" b="0" strike="noStrike" spc="-1">
              <a:latin typeface="Arial"/>
            </a:endParaRPr>
          </a:p>
        </p:txBody>
      </p:sp>
      <p:sp>
        <p:nvSpPr>
          <p:cNvPr id="134" name="PlaceHolder 2"/>
          <p:cNvSpPr>
            <a:spLocks noGrp="1"/>
          </p:cNvSpPr>
          <p:nvPr>
            <p:ph/>
          </p:nvPr>
        </p:nvSpPr>
        <p:spPr>
          <a:xfrm>
            <a:off x="622440" y="2137320"/>
            <a:ext cx="3633840" cy="348120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No gearbox file needs to be provided for IEPC with differential included (case 2)</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New IEPC gearbox type for all other variants where only the axlegear ratio needs to be provided</a:t>
            </a:r>
            <a:endParaRPr lang="en-US" sz="2000" b="0" strike="noStrike" spc="-1">
              <a:latin typeface="Arial"/>
            </a:endParaRPr>
          </a:p>
        </p:txBody>
      </p:sp>
      <p:sp>
        <p:nvSpPr>
          <p:cNvPr id="135" name="PlaceHolder 3"/>
          <p:cNvSpPr>
            <a:spLocks noGrp="1"/>
          </p:cNvSpPr>
          <p:nvPr>
            <p:ph type="sldNum" idx="7"/>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36" name="Grafik 4"/>
          <p:cNvPicPr/>
          <p:nvPr/>
        </p:nvPicPr>
        <p:blipFill>
          <a:blip r:embed="rId2"/>
          <a:stretch/>
        </p:blipFill>
        <p:spPr>
          <a:xfrm>
            <a:off x="4500000" y="2137320"/>
            <a:ext cx="3516120" cy="3321720"/>
          </a:xfrm>
          <a:prstGeom prst="rect">
            <a:avLst/>
          </a:prstGeom>
          <a:ln w="0">
            <a:noFill/>
          </a:ln>
        </p:spPr>
      </p:pic>
      <p:sp>
        <p:nvSpPr>
          <p:cNvPr id="137" name="Gerade Verbindung mit Pfeil 5"/>
          <p:cNvSpPr/>
          <p:nvPr/>
        </p:nvSpPr>
        <p:spPr>
          <a:xfrm flipH="1">
            <a:off x="6164280" y="2885400"/>
            <a:ext cx="811440" cy="29160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8" name="Textfeld 6"/>
          <p:cNvSpPr/>
          <p:nvPr/>
        </p:nvSpPr>
        <p:spPr>
          <a:xfrm>
            <a:off x="6977160" y="2596680"/>
            <a:ext cx="2003760" cy="569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Specific Gearbox Type for IEPC. Only requires axlegear to be provided</a:t>
            </a:r>
            <a:endParaRPr lang="en-US" sz="1050" b="0" strike="noStrike" spc="-1">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IHPC component</a:t>
            </a:r>
            <a:endParaRPr lang="en-US" sz="2400" b="0" strike="noStrike" spc="-1">
              <a:latin typeface="Arial"/>
            </a:endParaRPr>
          </a:p>
        </p:txBody>
      </p:sp>
      <p:sp>
        <p:nvSpPr>
          <p:cNvPr id="14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transmission is modeled as APT-N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electric motor is modeled as regular electric motor at position P2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Gear-dependent power maps</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Peculiarities of IHPC</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Drag-curve shall be set to </a:t>
            </a:r>
            <a:r>
              <a:rPr lang="en-US" sz="1800" b="1" strike="noStrike" spc="-1">
                <a:solidFill>
                  <a:srgbClr val="000000"/>
                </a:solidFill>
                <a:latin typeface="Arial"/>
              </a:rPr>
              <a:t>0 Nm</a:t>
            </a:r>
            <a:r>
              <a:rPr lang="en-US" sz="1800" b="0" strike="noStrike" spc="-1">
                <a:solidFill>
                  <a:srgbClr val="000000"/>
                </a:solidFill>
                <a:latin typeface="Arial"/>
              </a:rPr>
              <a:t> acc. to Annex Xb</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detailed description of component characteristics as well as</a:t>
            </a:r>
            <a:br>
              <a:rPr sz="2000"/>
            </a:br>
            <a:r>
              <a:rPr lang="en-US" sz="2000" b="0" strike="noStrike" spc="-1">
                <a:solidFill>
                  <a:srgbClr val="000000"/>
                </a:solidFill>
                <a:latin typeface="Arial"/>
              </a:rPr>
              <a:t>testing and measurement post-processing methods please refer to Annex Xb</a:t>
            </a:r>
            <a:endParaRPr lang="en-US" sz="2000" b="0" strike="noStrike" spc="-1">
              <a:latin typeface="Arial"/>
            </a:endParaRPr>
          </a:p>
        </p:txBody>
      </p:sp>
      <p:sp>
        <p:nvSpPr>
          <p:cNvPr id="141" name="PlaceHolder 3"/>
          <p:cNvSpPr>
            <a:spLocks noGrp="1"/>
          </p:cNvSpPr>
          <p:nvPr>
            <p:ph type="sldNum" idx="8"/>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3"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general parameters EM </a:t>
            </a:r>
            <a:r>
              <a:rPr lang="en-US" sz="2000" b="0" i="1" strike="noStrike" spc="-1">
                <a:solidFill>
                  <a:srgbClr val="000000"/>
                </a:solidFill>
                <a:latin typeface="Arial"/>
              </a:rPr>
              <a:t>(same as for basic EM component)</a:t>
            </a:r>
            <a:endParaRPr lang="en-US" sz="2000" b="0" strike="noStrike" spc="-1">
              <a:latin typeface="Arial"/>
            </a:endParaRPr>
          </a:p>
        </p:txBody>
      </p:sp>
      <p:sp>
        <p:nvSpPr>
          <p:cNvPr id="144" name="PlaceHolder 3"/>
          <p:cNvSpPr>
            <a:spLocks noGrp="1"/>
          </p:cNvSpPr>
          <p:nvPr>
            <p:ph type="sldNum" idx="9"/>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45" name="Tabelle 4"/>
          <p:cNvGraphicFramePr/>
          <p:nvPr/>
        </p:nvGraphicFramePr>
        <p:xfrm>
          <a:off x="933480" y="2647800"/>
          <a:ext cx="7835040" cy="74124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performance parameters EM</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EM component, except </a:t>
            </a:r>
            <a:r>
              <a:rPr lang="en-US" sz="2000" b="1" i="1" u="sng" strike="noStrike" spc="-1">
                <a:solidFill>
                  <a:srgbClr val="000000"/>
                </a:solidFill>
                <a:uFillTx/>
                <a:latin typeface="Arial"/>
              </a:rPr>
              <a:t>multiple El. power maps</a:t>
            </a:r>
            <a:endParaRPr lang="en-US" sz="2000" b="0" strike="noStrike" spc="-1">
              <a:latin typeface="Arial"/>
            </a:endParaRPr>
          </a:p>
        </p:txBody>
      </p:sp>
      <p:sp>
        <p:nvSpPr>
          <p:cNvPr id="148" name="PlaceHolder 3"/>
          <p:cNvSpPr>
            <a:spLocks noGrp="1"/>
          </p:cNvSpPr>
          <p:nvPr>
            <p:ph type="sldNum" idx="10"/>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49" name="Tabelle 4"/>
          <p:cNvGraphicFramePr/>
          <p:nvPr/>
        </p:nvGraphicFramePr>
        <p:xfrm>
          <a:off x="933480" y="3238560"/>
          <a:ext cx="7835040" cy="258192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gearbox file)</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1" u="sng" strike="noStrike" spc="-1">
                          <a:solidFill>
                            <a:srgbClr val="000000"/>
                          </a:solidFill>
                          <a:uFillTx/>
                          <a:latin typeface="Arial"/>
                        </a:rPr>
                        <a:t>NOT MEASURED</a:t>
                      </a:r>
                      <a:r>
                        <a:rPr lang="en-US" sz="1200" b="0" strike="noStrike" spc="-1">
                          <a:solidFill>
                            <a:srgbClr val="000000"/>
                          </a:solidFill>
                          <a:latin typeface="Arial"/>
                        </a:rPr>
                        <a:t> acc. to Annex Xb, but input of “0 Nm” drag torque reqired!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51"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parameters Gearbox</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transmission component</a:t>
            </a:r>
            <a:br>
              <a:rPr sz="2000"/>
            </a:br>
            <a:r>
              <a:rPr lang="en-US" sz="2000" b="0" i="1" strike="noStrike" spc="-1">
                <a:solidFill>
                  <a:srgbClr val="000000"/>
                </a:solidFill>
                <a:latin typeface="Wingdings"/>
              </a:rPr>
              <a:t></a:t>
            </a:r>
            <a:r>
              <a:rPr lang="en-US" sz="2000" b="0" i="1" strike="noStrike" spc="-1">
                <a:solidFill>
                  <a:srgbClr val="000000"/>
                </a:solidFill>
                <a:latin typeface="Arial"/>
              </a:rPr>
              <a:t> transmission type needs to be set to </a:t>
            </a:r>
            <a:r>
              <a:rPr lang="en-US" sz="2000" b="1" i="1" u="sng" strike="noStrike" spc="-1">
                <a:solidFill>
                  <a:srgbClr val="000000"/>
                </a:solidFill>
                <a:uFillTx/>
                <a:latin typeface="Arial"/>
              </a:rPr>
              <a:t>”IHPC Transmission”</a:t>
            </a:r>
            <a:endParaRPr lang="en-US" sz="2000" b="0" strike="noStrike" spc="-1">
              <a:latin typeface="Arial"/>
            </a:endParaRPr>
          </a:p>
        </p:txBody>
      </p:sp>
      <p:sp>
        <p:nvSpPr>
          <p:cNvPr id="152" name="PlaceHolder 3"/>
          <p:cNvSpPr>
            <a:spLocks noGrp="1"/>
          </p:cNvSpPr>
          <p:nvPr>
            <p:ph type="sldNum" idx="11"/>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53" name="Tabelle 4"/>
          <p:cNvGraphicFramePr/>
          <p:nvPr/>
        </p:nvGraphicFramePr>
        <p:xfrm>
          <a:off x="933480" y="3238560"/>
          <a:ext cx="7835040" cy="148284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identifier</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IHPC file)</a:t>
                      </a: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Ratio</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Loss Map</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For each gear</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Methodology how to derive data acc. to Annex Xb</a:t>
                      </a:r>
                      <a:br>
                        <a:rPr sz="1200"/>
                      </a:br>
                      <a:r>
                        <a:rPr lang="en-US" sz="1200" b="0" strike="noStrike" spc="-1">
                          <a:solidFill>
                            <a:srgbClr val="000000"/>
                          </a:solidFill>
                          <a:latin typeface="Arial"/>
                        </a:rPr>
                        <a:t>(esp. braking side needs to be measured separately as well – as opposed to copy-paste for regular transmission testing)</a:t>
                      </a:r>
                      <a:endParaRPr lang="en-US" sz="1200" b="0" strike="noStrike" spc="-1">
                        <a:latin typeface="Arial"/>
                      </a:endParaRPr>
                    </a:p>
                    <a:p>
                      <a:pPr>
                        <a:lnSpc>
                          <a:spcPct val="100000"/>
                        </a:lnSpc>
                        <a:buNone/>
                        <a:tabLst>
                          <a:tab pos="0" algn="l"/>
                        </a:tabLst>
                      </a:pP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4" name="Grafik 36"/>
          <p:cNvPicPr/>
          <p:nvPr/>
        </p:nvPicPr>
        <p:blipFill>
          <a:blip r:embed="rId2"/>
          <a:stretch/>
        </p:blipFill>
        <p:spPr>
          <a:xfrm>
            <a:off x="6566040" y="1469880"/>
            <a:ext cx="2450520" cy="2748240"/>
          </a:xfrm>
          <a:prstGeom prst="rect">
            <a:avLst/>
          </a:prstGeom>
          <a:ln w="0">
            <a:noFill/>
          </a:ln>
        </p:spPr>
      </p:pic>
      <p:pic>
        <p:nvPicPr>
          <p:cNvPr id="155" name="Grafik 34"/>
          <p:cNvPicPr/>
          <p:nvPr/>
        </p:nvPicPr>
        <p:blipFill>
          <a:blip r:embed="rId3"/>
          <a:srcRect b="44675"/>
          <a:stretch/>
        </p:blipFill>
        <p:spPr>
          <a:xfrm>
            <a:off x="5650920" y="4423680"/>
            <a:ext cx="3365280" cy="1541880"/>
          </a:xfrm>
          <a:prstGeom prst="rect">
            <a:avLst/>
          </a:prstGeom>
          <a:ln w="0">
            <a:solidFill>
              <a:srgbClr val="000000"/>
            </a:solidFill>
          </a:ln>
        </p:spPr>
      </p:pic>
      <p:pic>
        <p:nvPicPr>
          <p:cNvPr id="156" name="Grafik 27"/>
          <p:cNvPicPr/>
          <p:nvPr/>
        </p:nvPicPr>
        <p:blipFill>
          <a:blip r:embed="rId4"/>
          <a:srcRect r="43153"/>
          <a:stretch/>
        </p:blipFill>
        <p:spPr>
          <a:xfrm>
            <a:off x="676440" y="1908720"/>
            <a:ext cx="2004840" cy="2471760"/>
          </a:xfrm>
          <a:prstGeom prst="rect">
            <a:avLst/>
          </a:prstGeom>
          <a:ln w="0">
            <a:solidFill>
              <a:srgbClr val="000000"/>
            </a:solidFill>
          </a:ln>
        </p:spPr>
      </p:pic>
      <p:sp>
        <p:nvSpPr>
          <p:cNvPr id="15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IHPC Input Form</a:t>
            </a:r>
            <a:endParaRPr lang="en-US" sz="2400" b="0" strike="noStrike" spc="-1">
              <a:latin typeface="Arial"/>
            </a:endParaRPr>
          </a:p>
        </p:txBody>
      </p:sp>
      <p:sp>
        <p:nvSpPr>
          <p:cNvPr id="158" name="PlaceHolder 2"/>
          <p:cNvSpPr>
            <a:spLocks noGrp="1"/>
          </p:cNvSpPr>
          <p:nvPr>
            <p:ph type="sldNum" idx="12"/>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
        <p:nvSpPr>
          <p:cNvPr id="159" name="Gerade Verbindung mit Pfeil 6"/>
          <p:cNvSpPr/>
          <p:nvPr/>
        </p:nvSpPr>
        <p:spPr>
          <a:xfrm flipH="1">
            <a:off x="5833080" y="4035240"/>
            <a:ext cx="224280" cy="14580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0" name="Gerade Verbindung mit Pfeil 8"/>
          <p:cNvSpPr/>
          <p:nvPr/>
        </p:nvSpPr>
        <p:spPr>
          <a:xfrm flipV="1">
            <a:off x="6058800" y="3477600"/>
            <a:ext cx="657360" cy="5562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1" name="Pfeil nach rechts 7"/>
          <p:cNvSpPr/>
          <p:nvPr/>
        </p:nvSpPr>
        <p:spPr>
          <a:xfrm>
            <a:off x="5894280" y="2058840"/>
            <a:ext cx="61128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2" name="Textfeld 9"/>
          <p:cNvSpPr/>
          <p:nvPr/>
        </p:nvSpPr>
        <p:spPr>
          <a:xfrm>
            <a:off x="4579200" y="3804480"/>
            <a:ext cx="14788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601"/>
              </a:spcBef>
              <a:buNone/>
            </a:pPr>
            <a:r>
              <a:rPr lang="en-US" sz="1200" b="1" strike="noStrike" spc="-1">
                <a:solidFill>
                  <a:srgbClr val="000000"/>
                </a:solidFill>
                <a:latin typeface="Arial"/>
                <a:ea typeface="DejaVu Sans"/>
              </a:rPr>
              <a:t>Number of gears</a:t>
            </a:r>
            <a:br>
              <a:rPr sz="1200"/>
            </a:br>
            <a:r>
              <a:rPr lang="en-US" sz="1200" b="1" strike="noStrike" spc="-1">
                <a:solidFill>
                  <a:srgbClr val="000000"/>
                </a:solidFill>
                <a:latin typeface="Arial"/>
                <a:ea typeface="DejaVu Sans"/>
              </a:rPr>
              <a:t>need to match</a:t>
            </a:r>
            <a:endParaRPr lang="en-US" sz="1200" b="0" strike="noStrike" spc="-1">
              <a:latin typeface="Arial"/>
            </a:endParaRPr>
          </a:p>
        </p:txBody>
      </p:sp>
      <p:sp>
        <p:nvSpPr>
          <p:cNvPr id="163" name="Textfeld 11"/>
          <p:cNvSpPr/>
          <p:nvPr/>
        </p:nvSpPr>
        <p:spPr>
          <a:xfrm>
            <a:off x="583560" y="4470120"/>
            <a:ext cx="2490120" cy="107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IHPC component as two separate component parts via</a:t>
            </a:r>
            <a:br>
              <a:rPr sz="1200"/>
            </a:br>
            <a:r>
              <a:rPr lang="en-US" sz="1200" b="1" strike="noStrike" spc="-1">
                <a:solidFill>
                  <a:srgbClr val="000000"/>
                </a:solidFill>
                <a:latin typeface="Arial"/>
                <a:ea typeface="DejaVu Sans"/>
              </a:rPr>
              <a:t>#1: </a:t>
            </a:r>
            <a:r>
              <a:rPr lang="en-US" sz="1200" b="1" i="1" strike="noStrike" spc="-1">
                <a:solidFill>
                  <a:srgbClr val="000000"/>
                </a:solidFill>
                <a:latin typeface="Arial"/>
                <a:ea typeface="DejaVu Sans"/>
              </a:rPr>
              <a:t>“Vehicle \ IHPC-Tab”</a:t>
            </a:r>
            <a:endParaRPr lang="en-US" sz="1200" b="0" strike="noStrike" spc="-1">
              <a:latin typeface="Arial"/>
            </a:endParaRPr>
          </a:p>
          <a:p>
            <a:pPr algn="ctr">
              <a:lnSpc>
                <a:spcPct val="100000"/>
              </a:lnSpc>
              <a:spcBef>
                <a:spcPts val="601"/>
              </a:spcBef>
              <a:buNone/>
            </a:pPr>
            <a:r>
              <a:rPr lang="en-US" sz="1200" b="1" strike="noStrike" spc="-1">
                <a:solidFill>
                  <a:srgbClr val="000000"/>
                </a:solidFill>
                <a:latin typeface="Arial"/>
                <a:ea typeface="DejaVu Sans"/>
              </a:rPr>
              <a:t>#2: </a:t>
            </a:r>
            <a:r>
              <a:rPr lang="en-US" sz="1200" b="1" i="1" strike="noStrike" spc="-1">
                <a:solidFill>
                  <a:srgbClr val="000000"/>
                </a:solidFill>
                <a:latin typeface="Arial"/>
                <a:ea typeface="DejaVu Sans"/>
              </a:rPr>
              <a:t>“Gearbox”</a:t>
            </a:r>
            <a:endParaRPr lang="en-US" sz="1200" b="0" strike="noStrike" spc="-1">
              <a:latin typeface="Arial"/>
            </a:endParaRPr>
          </a:p>
        </p:txBody>
      </p:sp>
      <p:sp>
        <p:nvSpPr>
          <p:cNvPr id="164" name="Ellipse 12"/>
          <p:cNvSpPr/>
          <p:nvPr/>
        </p:nvSpPr>
        <p:spPr>
          <a:xfrm>
            <a:off x="583560" y="241308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65" name="Grafik 16"/>
          <p:cNvPicPr/>
          <p:nvPr/>
        </p:nvPicPr>
        <p:blipFill>
          <a:blip r:embed="rId5"/>
          <a:srcRect b="34206"/>
          <a:stretch/>
        </p:blipFill>
        <p:spPr>
          <a:xfrm>
            <a:off x="3324600" y="1908720"/>
            <a:ext cx="2508480" cy="1623240"/>
          </a:xfrm>
          <a:prstGeom prst="rect">
            <a:avLst/>
          </a:prstGeom>
          <a:ln w="0">
            <a:solidFill>
              <a:srgbClr val="000000"/>
            </a:solidFill>
          </a:ln>
        </p:spPr>
      </p:pic>
      <p:sp>
        <p:nvSpPr>
          <p:cNvPr id="166" name="Ellipse 13"/>
          <p:cNvSpPr/>
          <p:nvPr/>
        </p:nvSpPr>
        <p:spPr>
          <a:xfrm>
            <a:off x="3357360" y="2801160"/>
            <a:ext cx="578880" cy="143280"/>
          </a:xfrm>
          <a:prstGeom prst="ellipse">
            <a:avLst/>
          </a:prstGeom>
          <a:solidFill>
            <a:srgbClr val="FF0000">
              <a:alpha val="15000"/>
            </a:srgbClr>
          </a:solidFill>
          <a:ln w="28575">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7" name="Gerade Verbindung mit Pfeil 15"/>
          <p:cNvSpPr/>
          <p:nvPr/>
        </p:nvSpPr>
        <p:spPr>
          <a:xfrm flipH="1" flipV="1">
            <a:off x="3702600" y="30247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8" name="Textfeld 17"/>
          <p:cNvSpPr/>
          <p:nvPr/>
        </p:nvSpPr>
        <p:spPr>
          <a:xfrm>
            <a:off x="3830760" y="315900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IHPC GUI-window</a:t>
            </a:r>
            <a:endParaRPr lang="en-US" sz="1050" b="0" strike="noStrike" spc="-1">
              <a:latin typeface="Arial"/>
            </a:endParaRPr>
          </a:p>
        </p:txBody>
      </p:sp>
      <p:sp>
        <p:nvSpPr>
          <p:cNvPr id="169" name="Textfeld 19"/>
          <p:cNvSpPr/>
          <p:nvPr/>
        </p:nvSpPr>
        <p:spPr>
          <a:xfrm>
            <a:off x="13680" y="266004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
        <p:nvSpPr>
          <p:cNvPr id="170" name="Textfeld 20"/>
          <p:cNvSpPr/>
          <p:nvPr/>
        </p:nvSpPr>
        <p:spPr>
          <a:xfrm>
            <a:off x="784440" y="337356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1" name="Gerade Verbindung mit Pfeil 21"/>
          <p:cNvSpPr/>
          <p:nvPr/>
        </p:nvSpPr>
        <p:spPr>
          <a:xfrm flipV="1">
            <a:off x="352080" y="2504520"/>
            <a:ext cx="315720" cy="15408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2" name="Gerade Verbindung mit Pfeil 24"/>
          <p:cNvSpPr/>
          <p:nvPr/>
        </p:nvSpPr>
        <p:spPr>
          <a:xfrm flipH="1" flipV="1">
            <a:off x="872640" y="2747880"/>
            <a:ext cx="405720" cy="6246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3" name="Ellipse 25"/>
          <p:cNvSpPr/>
          <p:nvPr/>
        </p:nvSpPr>
        <p:spPr>
          <a:xfrm>
            <a:off x="583560" y="264060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4" name="Pfeil nach rechts 28"/>
          <p:cNvSpPr/>
          <p:nvPr/>
        </p:nvSpPr>
        <p:spPr>
          <a:xfrm>
            <a:off x="1369800" y="2322360"/>
            <a:ext cx="18730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#1</a:t>
            </a:r>
            <a:endParaRPr lang="en-US" sz="1100" b="0" strike="noStrike" spc="-1">
              <a:latin typeface="Arial"/>
            </a:endParaRPr>
          </a:p>
        </p:txBody>
      </p:sp>
      <p:sp>
        <p:nvSpPr>
          <p:cNvPr id="175" name="Pfeil nach rechts 31"/>
          <p:cNvSpPr/>
          <p:nvPr/>
        </p:nvSpPr>
        <p:spPr>
          <a:xfrm rot="1800000">
            <a:off x="831600" y="3837600"/>
            <a:ext cx="47242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#2</a:t>
            </a:r>
            <a:endParaRPr lang="en-US" sz="1100" b="0" strike="noStrike" spc="-1">
              <a:latin typeface="Arial"/>
            </a:endParaRPr>
          </a:p>
        </p:txBody>
      </p:sp>
      <p:sp>
        <p:nvSpPr>
          <p:cNvPr id="176" name="Ellipse 35"/>
          <p:cNvSpPr/>
          <p:nvPr/>
        </p:nvSpPr>
        <p:spPr>
          <a:xfrm>
            <a:off x="6062760" y="4896360"/>
            <a:ext cx="9352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7" name="Textfeld 41"/>
          <p:cNvSpPr/>
          <p:nvPr/>
        </p:nvSpPr>
        <p:spPr>
          <a:xfrm>
            <a:off x="6800400" y="443988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8" name="Textfeld 42"/>
          <p:cNvSpPr/>
          <p:nvPr/>
        </p:nvSpPr>
        <p:spPr>
          <a:xfrm>
            <a:off x="7506720" y="151020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(1/3)</a:t>
            </a:r>
            <a:endParaRPr lang="en-US" sz="2400" b="0" strike="noStrike" spc="-1">
              <a:latin typeface="Arial"/>
            </a:endParaRPr>
          </a:p>
        </p:txBody>
      </p:sp>
      <p:sp>
        <p:nvSpPr>
          <p:cNvPr id="18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Observation: GenSet often switching between optimal and maximum power, while operating constantly at optimal power would be sufficient</a:t>
            </a:r>
            <a:endParaRPr lang="en-US" sz="2000" b="0" strike="noStrike" spc="-1">
              <a:latin typeface="Arial"/>
            </a:endParaRPr>
          </a:p>
        </p:txBody>
      </p:sp>
      <p:sp>
        <p:nvSpPr>
          <p:cNvPr id="181" name="PlaceHolder 3"/>
          <p:cNvSpPr>
            <a:spLocks noGrp="1"/>
          </p:cNvSpPr>
          <p:nvPr>
            <p:ph type="sldNum" idx="13"/>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82" name="Grafik 7"/>
          <p:cNvPicPr/>
          <p:nvPr/>
        </p:nvPicPr>
        <p:blipFill>
          <a:blip r:embed="rId2"/>
          <a:stretch/>
        </p:blipFill>
        <p:spPr>
          <a:xfrm>
            <a:off x="1650240" y="2942640"/>
            <a:ext cx="4498920" cy="2755800"/>
          </a:xfrm>
          <a:prstGeom prst="rect">
            <a:avLst/>
          </a:prstGeom>
          <a:ln w="0">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(2/3)</a:t>
            </a:r>
            <a:endParaRPr lang="en-US" sz="2400" b="0" strike="noStrike" spc="-1">
              <a:latin typeface="Arial"/>
            </a:endParaRPr>
          </a:p>
        </p:txBody>
      </p:sp>
      <p:sp>
        <p:nvSpPr>
          <p:cNvPr id="184" name="PlaceHolder 2"/>
          <p:cNvSpPr>
            <a:spLocks noGrp="1"/>
          </p:cNvSpPr>
          <p:nvPr>
            <p:ph/>
          </p:nvPr>
        </p:nvSpPr>
        <p:spPr>
          <a:xfrm>
            <a:off x="622440" y="2137320"/>
            <a:ext cx="5026320" cy="34812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Minor changes in Serial Hybrid Strategy</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on as soon as SoC falls below SoC_min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off as soon as SoC reaches SoC_target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operation points P_opt and P_max:</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In total 4 points defined, for GenSet in regular and in de-rating condition</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SoC_min ≤ </a:t>
            </a:r>
            <a:r>
              <a:rPr lang="en-US" sz="1400" b="1" strike="noStrike" spc="-1">
                <a:solidFill>
                  <a:srgbClr val="000000"/>
                </a:solidFill>
                <a:latin typeface="Arial"/>
              </a:rPr>
              <a:t>SoC</a:t>
            </a:r>
            <a:r>
              <a:rPr lang="en-US" sz="1400" b="0" strike="noStrike" spc="-1">
                <a:solidFill>
                  <a:srgbClr val="000000"/>
                </a:solidFill>
                <a:latin typeface="Arial"/>
              </a:rPr>
              <a:t> &lt; SOC_target: P_opt</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1" strike="noStrike" spc="-1">
                <a:solidFill>
                  <a:srgbClr val="000000"/>
                </a:solidFill>
                <a:latin typeface="Arial"/>
              </a:rPr>
              <a:t>SoC</a:t>
            </a:r>
            <a:r>
              <a:rPr lang="en-US" sz="1400" b="0" strike="noStrike" spc="-1">
                <a:solidFill>
                  <a:srgbClr val="000000"/>
                </a:solidFill>
                <a:latin typeface="Arial"/>
              </a:rPr>
              <a:t> &lt; SoC_min:</a:t>
            </a:r>
            <a:endParaRPr lang="en-US" sz="14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&gt; P_opt: GENSET @ P_max</a:t>
            </a:r>
            <a:endParaRPr lang="en-US" sz="12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 P_opt: GENSET @ P_opt</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i="1" strike="noStrike" spc="-1">
                <a:solidFill>
                  <a:srgbClr val="000000"/>
                </a:solidFill>
                <a:latin typeface="Arial"/>
              </a:rPr>
              <a:t>Note: SoC_min shall be above battery’s min SoC</a:t>
            </a:r>
            <a:endParaRPr lang="en-US" sz="1600" b="0" strike="noStrike" spc="-1">
              <a:latin typeface="Arial"/>
            </a:endParaRPr>
          </a:p>
        </p:txBody>
      </p:sp>
      <p:sp>
        <p:nvSpPr>
          <p:cNvPr id="185" name="PlaceHolder 3"/>
          <p:cNvSpPr>
            <a:spLocks noGrp="1"/>
          </p:cNvSpPr>
          <p:nvPr>
            <p:ph type="sldNum" idx="14"/>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86" name="Grafik 4"/>
          <p:cNvPicPr/>
          <p:nvPr/>
        </p:nvPicPr>
        <p:blipFill>
          <a:blip r:embed="rId2"/>
          <a:stretch/>
        </p:blipFill>
        <p:spPr>
          <a:xfrm>
            <a:off x="5649120" y="4174560"/>
            <a:ext cx="3367080" cy="1362960"/>
          </a:xfrm>
          <a:prstGeom prst="rect">
            <a:avLst/>
          </a:prstGeom>
          <a:ln w="0">
            <a:noFill/>
          </a:ln>
        </p:spPr>
      </p:pic>
      <p:pic>
        <p:nvPicPr>
          <p:cNvPr id="187" name="Grafik 5"/>
          <p:cNvPicPr/>
          <p:nvPr/>
        </p:nvPicPr>
        <p:blipFill>
          <a:blip r:embed="rId3"/>
          <a:stretch/>
        </p:blipFill>
        <p:spPr>
          <a:xfrm>
            <a:off x="7012440" y="1480680"/>
            <a:ext cx="2003760" cy="2350440"/>
          </a:xfrm>
          <a:prstGeom prst="rect">
            <a:avLst/>
          </a:prstGeom>
          <a:ln w="0">
            <a:noFill/>
          </a:ln>
        </p:spPr>
      </p:pic>
      <p:sp>
        <p:nvSpPr>
          <p:cNvPr id="188" name="Gerade Verbindung mit Pfeil 6"/>
          <p:cNvSpPr/>
          <p:nvPr/>
        </p:nvSpPr>
        <p:spPr>
          <a:xfrm flipV="1">
            <a:off x="6318360" y="2520360"/>
            <a:ext cx="640800" cy="1571760"/>
          </a:xfrm>
          <a:custGeom>
            <a:avLst/>
            <a:gdLst/>
            <a:ahLst/>
            <a:cxnLst/>
            <a:rect l="l" t="t" r="r" b="b"/>
            <a:pathLst>
              <a:path w="21600" h="21600">
                <a:moveTo>
                  <a:pt x="0" y="0"/>
                </a:moveTo>
                <a:lnTo>
                  <a:pt x="21600" y="21600"/>
                </a:lnTo>
              </a:path>
            </a:pathLst>
          </a:custGeom>
          <a:noFill/>
          <a:ln>
            <a:solidFill>
              <a:srgbClr val="FF0000"/>
            </a:solidFill>
            <a:round/>
            <a:headEnd type="triangle" w="med" len="me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(3/3)</a:t>
            </a:r>
            <a:endParaRPr lang="en-US" sz="2400" b="0" strike="noStrike" spc="-1">
              <a:latin typeface="Arial"/>
            </a:endParaRPr>
          </a:p>
        </p:txBody>
      </p:sp>
      <p:sp>
        <p:nvSpPr>
          <p:cNvPr id="19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GenSet now always operates in optimal point</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Speed profile is unchanged, SoC trace slightly different</a:t>
            </a:r>
            <a:endParaRPr lang="en-US" sz="2000" b="0" strike="noStrike" spc="-1">
              <a:latin typeface="Arial"/>
            </a:endParaRPr>
          </a:p>
        </p:txBody>
      </p:sp>
      <p:sp>
        <p:nvSpPr>
          <p:cNvPr id="191" name="PlaceHolder 3"/>
          <p:cNvSpPr>
            <a:spLocks noGrp="1"/>
          </p:cNvSpPr>
          <p:nvPr>
            <p:ph type="sldNum" idx="15"/>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92" name="Grafik 7"/>
          <p:cNvPicPr/>
          <p:nvPr/>
        </p:nvPicPr>
        <p:blipFill>
          <a:blip r:embed="rId2"/>
          <a:stretch/>
        </p:blipFill>
        <p:spPr>
          <a:xfrm>
            <a:off x="1659240" y="2942640"/>
            <a:ext cx="4481280" cy="2755800"/>
          </a:xfrm>
          <a:prstGeom prst="rect">
            <a:avLst/>
          </a:prstGeom>
          <a:ln w="0">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SoC Correction for HEV-S</a:t>
            </a:r>
            <a:endParaRPr lang="en-US" sz="2400" b="0" strike="noStrike" spc="-1">
              <a:latin typeface="Arial"/>
            </a:endParaRPr>
          </a:p>
        </p:txBody>
      </p:sp>
      <p:sp>
        <p:nvSpPr>
          <p:cNvPr id="19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REESS SoC for HEV is corrected using the engine line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Engine line makes no sense for HEV-S as the ICE is decoupled from the drivetrain and operates only in certain points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SoC Correction:</a:t>
            </a:r>
            <a:endParaRPr lang="en-US" sz="2000" b="0" strike="noStrike" spc="-1">
              <a:latin typeface="Arial"/>
            </a:endParaRPr>
          </a:p>
          <a:p>
            <a:pPr>
              <a:lnSpc>
                <a:spcPct val="100000"/>
              </a:lnSpc>
              <a:buNone/>
            </a:pPr>
            <a:endParaRPr lang="en-US" sz="1800" b="0" strike="noStrike" spc="-1">
              <a:latin typeface="Arial"/>
            </a:endParaRPr>
          </a:p>
        </p:txBody>
      </p:sp>
      <p:sp>
        <p:nvSpPr>
          <p:cNvPr id="195" name="PlaceHolder 3"/>
          <p:cNvSpPr>
            <a:spLocks noGrp="1"/>
          </p:cNvSpPr>
          <p:nvPr>
            <p:ph type="sldNum" idx="16"/>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96" name="Grafik 4"/>
          <p:cNvPicPr/>
          <p:nvPr/>
        </p:nvPicPr>
        <p:blipFill>
          <a:blip r:embed="rId2"/>
          <a:stretch/>
        </p:blipFill>
        <p:spPr>
          <a:xfrm>
            <a:off x="1735920" y="3544560"/>
            <a:ext cx="2488680" cy="435960"/>
          </a:xfrm>
          <a:prstGeom prst="rect">
            <a:avLst/>
          </a:prstGeom>
          <a:ln w="0">
            <a:noFill/>
          </a:ln>
        </p:spPr>
      </p:pic>
      <p:pic>
        <p:nvPicPr>
          <p:cNvPr id="197" name="Grafik 5"/>
          <p:cNvPicPr/>
          <p:nvPr/>
        </p:nvPicPr>
        <p:blipFill>
          <a:blip r:embed="rId3"/>
          <a:stretch/>
        </p:blipFill>
        <p:spPr>
          <a:xfrm>
            <a:off x="4686840" y="3607560"/>
            <a:ext cx="1725480" cy="309240"/>
          </a:xfrm>
          <a:prstGeom prst="rect">
            <a:avLst/>
          </a:prstGeom>
          <a:ln w="0">
            <a:noFill/>
          </a:ln>
        </p:spPr>
      </p:pic>
      <p:pic>
        <p:nvPicPr>
          <p:cNvPr id="198" name="Grafik 6"/>
          <p:cNvPicPr/>
          <p:nvPr/>
        </p:nvPicPr>
        <p:blipFill>
          <a:blip r:embed="rId4"/>
          <a:stretch/>
        </p:blipFill>
        <p:spPr>
          <a:xfrm>
            <a:off x="1453320" y="4127040"/>
            <a:ext cx="2859840" cy="529920"/>
          </a:xfrm>
          <a:prstGeom prst="rect">
            <a:avLst/>
          </a:prstGeom>
          <a:ln w="0">
            <a:noFill/>
          </a:ln>
        </p:spPr>
      </p:pic>
      <p:pic>
        <p:nvPicPr>
          <p:cNvPr id="199" name="Grafik 7"/>
          <p:cNvPicPr/>
          <p:nvPr/>
        </p:nvPicPr>
        <p:blipFill>
          <a:blip r:embed="rId5"/>
          <a:stretch/>
        </p:blipFill>
        <p:spPr>
          <a:xfrm>
            <a:off x="1453320" y="4777200"/>
            <a:ext cx="2709000" cy="493200"/>
          </a:xfrm>
          <a:prstGeom prst="rect">
            <a:avLst/>
          </a:prstGeom>
          <a:ln w="0">
            <a:noFill/>
          </a:ln>
        </p:spPr>
      </p:pic>
      <p:sp>
        <p:nvSpPr>
          <p:cNvPr id="200" name="Textfeld 8"/>
          <p:cNvSpPr/>
          <p:nvPr/>
        </p:nvSpPr>
        <p:spPr>
          <a:xfrm>
            <a:off x="4557240" y="4253760"/>
            <a:ext cx="3899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on during the simulation</a:t>
            </a:r>
            <a:endParaRPr lang="en-US" sz="1200" b="0" strike="noStrike" spc="-1">
              <a:latin typeface="Arial"/>
            </a:endParaRPr>
          </a:p>
        </p:txBody>
      </p:sp>
      <p:sp>
        <p:nvSpPr>
          <p:cNvPr id="201" name="Textfeld 9"/>
          <p:cNvSpPr/>
          <p:nvPr/>
        </p:nvSpPr>
        <p:spPr>
          <a:xfrm>
            <a:off x="4584960" y="4885560"/>
            <a:ext cx="4178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not on during the simulation</a:t>
            </a:r>
            <a:endParaRPr lang="en-US" sz="1200" b="0" strike="noStrike" spc="-1">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0.7.8.2679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0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Multi-Target Executables in .net 6.0 and .net Framework 4.8 (and .net Framework 4.5, but this will be removed with the next release)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Serial Hybrid Vehicles S2, S3, S4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APT-S/P with E2 and S2 vehicle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 handling of retarder positions with HEV and PEV, adding axlegear input retarder option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hashing tool to handle new powertrain components (electric motor, battery, supercap)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Changing EM overload buffer calculation: interpolate between both voltage levels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Handling of torque limitations (engine torque limit, boosting torque limits, gearbox torque limits) for P2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Connect electric WHR system to REESS in case of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GUI improvements: enable/disable some fields in Job Form, Vehicle Form, and Hybrid Strategy Parameters to simplify user interface and avoid erratic entries.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Implementation</a:t>
            </a:r>
            <a:endParaRPr lang="en-US" sz="2400" b="0" strike="noStrike" spc="-1">
              <a:latin typeface="Arial"/>
            </a:endParaRPr>
          </a:p>
        </p:txBody>
      </p:sp>
      <p:sp>
        <p:nvSpPr>
          <p:cNvPr id="205"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General approach</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Simple operating strategy, not ECMS–based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Three-point controller for GenSet (off/optimal point/maximum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Operate GenSet in optimal load-points whenever required and possible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Drivetrain similar to PEV</a:t>
            </a:r>
            <a:endParaRPr lang="en-US" sz="1800" b="0" strike="noStrike" spc="-1">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 Pre-Processing</a:t>
            </a:r>
            <a:endParaRPr lang="en-US" sz="2400" b="0" strike="noStrike" spc="-1">
              <a:latin typeface="Arial"/>
            </a:endParaRPr>
          </a:p>
        </p:txBody>
      </p:sp>
      <p:sp>
        <p:nvSpPr>
          <p:cNvPr id="20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Find optimal points for the GenSet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0 to maximum power of the ICE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ICE idle speed to n</a:t>
            </a:r>
            <a:r>
              <a:rPr lang="en-US" sz="1800" b="0" strike="noStrike" spc="-1" baseline="-25000">
                <a:solidFill>
                  <a:srgbClr val="000000"/>
                </a:solidFill>
                <a:latin typeface="Arial"/>
              </a:rPr>
              <a:t>95h</a:t>
            </a:r>
            <a:r>
              <a:rPr lang="en-US" sz="1800" b="0" strike="noStrike" spc="-1">
                <a:solidFill>
                  <a:srgbClr val="000000"/>
                </a:solidFill>
                <a:latin typeface="Arial"/>
              </a:rPr>
              <a:t> speed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Calculate electric power and fuel consumption for all load-points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Select operating points:</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electric power, EM de-rated/not de-rated</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Optimal operating point (minimum FC per electric power generated), EM de-rated/not de-rated</a:t>
            </a:r>
            <a:endParaRPr lang="en-US" sz="1400" b="0" strike="noStrike" spc="-1">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(main principles)</a:t>
            </a:r>
            <a:endParaRPr lang="en-US" sz="2400" b="0" strike="noStrike" spc="-1">
              <a:latin typeface="Arial"/>
            </a:endParaRPr>
          </a:p>
        </p:txBody>
      </p:sp>
      <p:sp>
        <p:nvSpPr>
          <p:cNvPr id="209" name="PlaceHolder 2"/>
          <p:cNvSpPr>
            <a:spLocks noGrp="1"/>
          </p:cNvSpPr>
          <p:nvPr>
            <p:ph/>
          </p:nvPr>
        </p:nvSpPr>
        <p:spPr>
          <a:xfrm>
            <a:off x="468360" y="1582560"/>
            <a:ext cx="5629320" cy="4542840"/>
          </a:xfrm>
          <a:prstGeom prst="rect">
            <a:avLst/>
          </a:prstGeom>
          <a:noFill/>
          <a:ln w="0">
            <a:noFill/>
          </a:ln>
        </p:spPr>
        <p:txBody>
          <a:bodyPr lIns="90000" tIns="45000" rIns="90000" bIns="45000" numCol="1" spcCol="0" anchor="t">
            <a:noAutofit/>
          </a:bodyPr>
          <a:lstStyle/>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max. electric power GenSet can provide</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power demand of electric motor, assuming max. electric power (REESS + GenSet)</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Depending on drivetrain power demand and SoC turn on ICE and operate GenSet either in optimal point or at maximum power (considering de-rating of GenSet)</a:t>
            </a:r>
            <a:endParaRPr lang="en-US" sz="1600" b="0" strike="noStrike" spc="-1">
              <a:latin typeface="Arial"/>
            </a:endParaRPr>
          </a:p>
        </p:txBody>
      </p:sp>
      <p:pic>
        <p:nvPicPr>
          <p:cNvPr id="210" name="Grafik 4"/>
          <p:cNvPicPr/>
          <p:nvPr/>
        </p:nvPicPr>
        <p:blipFill>
          <a:blip r:embed="rId2"/>
          <a:stretch/>
        </p:blipFill>
        <p:spPr>
          <a:xfrm>
            <a:off x="5924880" y="2263320"/>
            <a:ext cx="2942280" cy="3073680"/>
          </a:xfrm>
          <a:prstGeom prst="rect">
            <a:avLst/>
          </a:prstGeom>
          <a:ln w="0">
            <a:noFill/>
          </a:ln>
        </p:spPr>
      </p:pic>
      <p:pic>
        <p:nvPicPr>
          <p:cNvPr id="211" name="Grafik 5"/>
          <p:cNvPicPr/>
          <p:nvPr/>
        </p:nvPicPr>
        <p:blipFill>
          <a:blip r:embed="rId3"/>
          <a:stretch/>
        </p:blipFill>
        <p:spPr>
          <a:xfrm>
            <a:off x="622440" y="3945240"/>
            <a:ext cx="3777480" cy="1712880"/>
          </a:xfrm>
          <a:prstGeom prst="rect">
            <a:avLst/>
          </a:prstGeom>
          <a:ln w="0">
            <a:noFill/>
          </a:ln>
        </p:spPr>
      </p:pic>
      <p:sp>
        <p:nvSpPr>
          <p:cNvPr id="212" name="Textfeld 6"/>
          <p:cNvSpPr/>
          <p:nvPr/>
        </p:nvSpPr>
        <p:spPr>
          <a:xfrm>
            <a:off x="90360" y="5779080"/>
            <a:ext cx="5958360" cy="2574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550"/>
              </a:spcBef>
              <a:buNone/>
            </a:pPr>
            <a:r>
              <a:rPr lang="en-US" sz="1100" b="1" i="1" strike="noStrike" spc="-1">
                <a:solidFill>
                  <a:srgbClr val="808080"/>
                </a:solidFill>
                <a:latin typeface="Arial"/>
                <a:ea typeface="DejaVu Sans"/>
              </a:rPr>
              <a:t>Note: SoC_min and SoC_target are parameters of the SerialHybridStrategy, not REESS</a:t>
            </a:r>
            <a:endParaRPr lang="en-US" sz="1100" b="0" strike="noStrike" spc="-1">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a:t>
            </a:r>
            <a:endParaRPr lang="en-US" sz="2400" b="0" strike="noStrike" spc="-1">
              <a:latin typeface="Arial"/>
            </a:endParaRPr>
          </a:p>
        </p:txBody>
      </p:sp>
      <p:sp>
        <p:nvSpPr>
          <p:cNvPr id="21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lang="en-US" sz="2000" b="0" strike="noStrike" spc="-1">
                <a:solidFill>
                  <a:srgbClr val="000000"/>
                </a:solidFill>
                <a:latin typeface="Wingdings"/>
              </a:rPr>
              <a:t></a:t>
            </a:r>
            <a:r>
              <a:rPr lang="en-US" sz="2000" b="0" strike="noStrike" spc="-1">
                <a:solidFill>
                  <a:srgbClr val="000000"/>
                </a:solidFill>
                <a:latin typeface="Arial"/>
              </a:rPr>
              <a:t> Ramp-up ICE with electric machine switched off (usually 1 or 2 </a:t>
            </a:r>
            <a:br>
              <a:rPr sz="2000"/>
            </a:br>
            <a:r>
              <a:rPr lang="en-US" sz="2000" b="0" strike="noStrike" spc="-1">
                <a:solidFill>
                  <a:srgbClr val="000000"/>
                </a:solidFill>
                <a:latin typeface="Arial"/>
              </a:rPr>
              <a:t>     simulation steps) and then turn on the electric machine</a:t>
            </a:r>
            <a:endParaRPr lang="en-US" sz="2000" b="0" strike="noStrike" spc="-1">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Parameters</a:t>
            </a:r>
            <a:endParaRPr lang="en-US" sz="2400" b="0" strike="noStrike" spc="-1">
              <a:latin typeface="Arial"/>
            </a:endParaRPr>
          </a:p>
        </p:txBody>
      </p:sp>
      <p:sp>
        <p:nvSpPr>
          <p:cNvPr id="216"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MinSoC</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TargetSoC</a:t>
            </a:r>
            <a:endParaRPr lang="en-US" sz="2000" b="0" strike="noStrike" spc="-1">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7" name="Inhaltsplatzhalter 4"/>
          <p:cNvPicPr/>
          <p:nvPr/>
        </p:nvPicPr>
        <p:blipFill>
          <a:blip r:embed="rId2"/>
          <a:stretch/>
        </p:blipFill>
        <p:spPr>
          <a:xfrm>
            <a:off x="467640" y="1124640"/>
            <a:ext cx="7625520" cy="4542840"/>
          </a:xfrm>
          <a:prstGeom prst="rect">
            <a:avLst/>
          </a:prstGeom>
          <a:ln w="0">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EM: overload buffer calculated from both voltage levels</a:t>
            </a:r>
            <a:endParaRPr lang="en-US" sz="2400" b="0" strike="noStrike" spc="-1">
              <a:latin typeface="Arial"/>
            </a:endParaRPr>
          </a:p>
        </p:txBody>
      </p:sp>
      <p:sp>
        <p:nvSpPr>
          <p:cNvPr id="219"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Input parameters of EM measured for min and max voltage level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Overload data</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Continuous Torque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Overload Torque + Overload Duration</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Maximum and Minimum torque limitations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Electric power map</a:t>
            </a:r>
            <a:endParaRPr lang="en-US" sz="1600" b="0" strike="noStrike" spc="-1">
              <a:latin typeface="Arial"/>
            </a:endParaRPr>
          </a:p>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Implementation in software: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From overload data above, thermal buffer is calculated for each voltage level separately (acc. to equations in VECTO user manual						    )</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Applied values for simulation run are calculated by linear interpolation between two voltage levels, where average of usable SOC range is used</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Overload buffer</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and Minimum torque limitations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Continuous Torque</a:t>
            </a:r>
            <a:endParaRPr lang="en-US" sz="1400" b="0" strike="noStrike" spc="-1">
              <a:latin typeface="Arial"/>
            </a:endParaRPr>
          </a:p>
        </p:txBody>
      </p:sp>
      <p:pic>
        <p:nvPicPr>
          <p:cNvPr id="220" name="Grafik 5"/>
          <p:cNvPicPr/>
          <p:nvPr/>
        </p:nvPicPr>
        <p:blipFill>
          <a:blip r:embed="rId2"/>
          <a:stretch/>
        </p:blipFill>
        <p:spPr>
          <a:xfrm>
            <a:off x="6131160" y="4268520"/>
            <a:ext cx="2447280" cy="278280"/>
          </a:xfrm>
          <a:prstGeom prst="rect">
            <a:avLst/>
          </a:prstGeom>
          <a:ln w="0">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Inhaltsplatzhalter 2"/>
          <p:cNvSpPr/>
          <p:nvPr/>
        </p:nvSpPr>
        <p:spPr>
          <a:xfrm>
            <a:off x="622440" y="1990440"/>
            <a:ext cx="4746960" cy="344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Ref. to ticket nr. 1478+1479</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Only relevant for P1 + P2 HEV where EM is located upstream of transmission</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Starting Point: ICE FLD</a:t>
            </a:r>
            <a:endParaRPr lang="en-US" sz="18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Crop with max ICE torque declared at vehicle level (per gear) </a:t>
            </a:r>
            <a:br>
              <a:rPr sz="1800"/>
            </a:br>
            <a:r>
              <a:rPr lang="en-US" sz="1200" b="1" i="1" strike="noStrike" spc="-1">
                <a:solidFill>
                  <a:srgbClr val="376092"/>
                </a:solidFill>
                <a:latin typeface="Arial"/>
                <a:ea typeface="DejaVu Sans"/>
              </a:rPr>
              <a:t>‘Vehicle/EngineTorqueLimits’ per gear – P196 + P197</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Add boosting torque</a:t>
            </a:r>
            <a:br>
              <a:rPr sz="1800"/>
            </a:br>
            <a:r>
              <a:rPr lang="en-US" sz="1200" b="1" i="1" strike="noStrike" spc="-1">
                <a:solidFill>
                  <a:srgbClr val="376092"/>
                </a:solidFill>
                <a:latin typeface="Arial"/>
                <a:ea typeface="DejaVu Sans"/>
              </a:rPr>
              <a:t>Boosting limitations for parallel HEV – P415 + P416</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In case of P1 or P2: crop with gearbox max input torque (per gear)  </a:t>
            </a:r>
            <a:r>
              <a:rPr lang="en-US" sz="1200" b="1" i="1" strike="noStrike" spc="-1">
                <a:solidFill>
                  <a:srgbClr val="376092"/>
                </a:solidFill>
                <a:latin typeface="Arial"/>
                <a:ea typeface="DejaVu Sans"/>
              </a:rPr>
              <a:t>MaxTorque – P157</a:t>
            </a:r>
            <a:endParaRPr lang="en-US" sz="1200" b="0" strike="noStrike" spc="-1">
              <a:latin typeface="Arial"/>
            </a:endParaRPr>
          </a:p>
          <a:p>
            <a:pPr marL="357120" indent="-357120">
              <a:lnSpc>
                <a:spcPct val="100000"/>
              </a:lnSpc>
              <a:spcBef>
                <a:spcPts val="360"/>
              </a:spcBef>
              <a:buNone/>
              <a:tabLst>
                <a:tab pos="0" algn="l"/>
              </a:tabLst>
            </a:pPr>
            <a:r>
              <a:rPr lang="en-US" sz="1800" b="1" strike="noStrike" spc="-1">
                <a:solidFill>
                  <a:srgbClr val="000000"/>
                </a:solidFill>
                <a:latin typeface="Wingdings"/>
                <a:ea typeface="DejaVu Sans"/>
              </a:rPr>
              <a:t></a:t>
            </a:r>
            <a:r>
              <a:rPr lang="en-US" sz="1800" b="1" strike="noStrike" spc="-1">
                <a:solidFill>
                  <a:srgbClr val="000000"/>
                </a:solidFill>
                <a:latin typeface="Arial"/>
                <a:ea typeface="DejaVu Sans"/>
              </a:rPr>
              <a:t> Torque limits per gear applied by HybridStrategy</a:t>
            </a:r>
            <a:endParaRPr lang="en-US" sz="1800" b="0" strike="noStrike" spc="-1">
              <a:latin typeface="Arial"/>
            </a:endParaRPr>
          </a:p>
        </p:txBody>
      </p:sp>
      <p:sp>
        <p:nvSpPr>
          <p:cNvPr id="222" name="Textfeld 6"/>
          <p:cNvSpPr/>
          <p:nvPr/>
        </p:nvSpPr>
        <p:spPr>
          <a:xfrm>
            <a:off x="5237640" y="1922040"/>
            <a:ext cx="3517920" cy="257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50"/>
              </a:spcBef>
              <a:buNone/>
            </a:pPr>
            <a:r>
              <a:rPr lang="en-US" sz="1100" b="1" strike="noStrike" spc="-1">
                <a:solidFill>
                  <a:srgbClr val="000000"/>
                </a:solidFill>
                <a:latin typeface="Arial"/>
                <a:ea typeface="DejaVu Sans"/>
              </a:rPr>
              <a:t>Example for P2</a:t>
            </a:r>
            <a:endParaRPr lang="en-US" sz="1100" b="0" strike="noStrike" spc="-1">
              <a:latin typeface="Arial"/>
            </a:endParaRPr>
          </a:p>
        </p:txBody>
      </p:sp>
      <p:pic>
        <p:nvPicPr>
          <p:cNvPr id="223" name="Grafik 7"/>
          <p:cNvPicPr/>
          <p:nvPr/>
        </p:nvPicPr>
        <p:blipFill>
          <a:blip r:embed="rId2"/>
          <a:stretch/>
        </p:blipFill>
        <p:spPr>
          <a:xfrm>
            <a:off x="5220360" y="2088000"/>
            <a:ext cx="3813840" cy="2790720"/>
          </a:xfrm>
          <a:prstGeom prst="rect">
            <a:avLst/>
          </a:prstGeom>
          <a:ln w="0">
            <a:noFill/>
          </a:ln>
        </p:spPr>
      </p:pic>
      <p:pic>
        <p:nvPicPr>
          <p:cNvPr id="224" name="Grafik 8"/>
          <p:cNvPicPr/>
          <p:nvPr/>
        </p:nvPicPr>
        <p:blipFill>
          <a:blip r:embed="rId3"/>
          <a:stretch/>
        </p:blipFill>
        <p:spPr>
          <a:xfrm>
            <a:off x="5781960" y="4757760"/>
            <a:ext cx="2815200" cy="1215720"/>
          </a:xfrm>
          <a:prstGeom prst="rect">
            <a:avLst/>
          </a:prstGeom>
          <a:ln w="0">
            <a:noFill/>
          </a:ln>
        </p:spPr>
      </p:pic>
      <p:sp>
        <p:nvSpPr>
          <p:cNvPr id="225"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Consider gearbox MaxTorque limits for HEV</a:t>
            </a:r>
            <a:endParaRPr lang="en-US" sz="2400" b="0" strike="noStrike" spc="-1">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7"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[VECTO-1541] - Implement E2/S2 with APT-S/P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[VECTO-1549] - Error in gearshift behavior for AT transmissions when braking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[VECTO-1466] - 076.2451 E2 significant increase of calculation time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[VECTO-1479] - Maximum gearbox torque not respected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[VECTO-1519] - 077.2457 E2 Gear oscillation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[VECTO-1520] - 077.2457 P2 Crashing at takeoff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[VECTO-1531] - ElectricMotor Lookup Maximum Torque: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[VECTO-1532] - 077.2547 P2 crashing with 600 RPM idling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[VECTO-1539] - Engine speed ramping up before vehicle halt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[VECTO-1551] - AT-P Transmission Bus Application: Error during braking phase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[VECTO-1559] - battery internal resistance curve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[VECTO-1411] - Switching to new .NET version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[VECTO-1456] - Cycle Cache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[VECTO-1478] - Torque limits only apply to ICE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[VECTO-1521] - Updating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[VECTO-1522] - VECTO warning if there are more steered axles than steering pump technologies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9"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[VECTO-1525] - PCC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[VECTO-1533] - Multi-Target Compilation and .NET Upgrade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[VECTO-1538] - Transmission ratios limitation of input value to &lt;=25</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[VECTO-1540] - Retarder Types AxleGearInputRetarder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[VECTO-1543] - Calculation of EM Overload buffer, and continuous torque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[VECTO-1545] - WHR electric - connect to REESS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[VECTO-1548] - Update Coach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[VECTO-1560] - update toolchain for generating usermanual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[VECTO-1562] - Adapting WHTC Correction Factor weighting for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[VECTO-1563] - Electric Motor: Calculation of Overload Buffer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[VECTO-1564] - XML Schema adaptations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[VECTO-1565] - VECTO warning if there are more steered axles than steering pump technologies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[VECTO-1569] - Bugfix: Extrapolation warning in PEV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[VECTO-1573] - Update LH Cycle and WHTC correction factor weighting</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1"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APT-N Gearbox +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model (drag curve independent of voltage level)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electric power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Update/bugfixes PEV shift strategy (influence of drag curve, error in calculation of costs)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calculation E_EM_off_loss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generic shift lines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post-processing fuel consumption correction bus auxiliaries (in case of no alternator)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PCC for xEV</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(1/x)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All topics in this section will also be explained in the next xEV workshop #9 on 11.01.2022</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Also topics for testing and feedback will be discussed in this workshop.</a:t>
            </a:r>
            <a:br>
              <a:rPr sz="1400"/>
            </a:br>
            <a:r>
              <a:rPr lang="en-US" sz="1400" b="0" strike="noStrike" spc="-1">
                <a:solidFill>
                  <a:srgbClr val="000000"/>
                </a:solidFill>
                <a:latin typeface="Arial"/>
              </a:rPr>
              <a:t>Until then, no feedback on the distributed version is expected.</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Calculation of overload buffer for EM</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Overload buffer is currently calculated with data for lower voltage level only</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of calculation method based on two voltage levels will be implemented once all details reg. the method are clarified</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Propulsion Torque Limits (Vehicle Boosting Limits)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Any arbitrary number of values may be declared in between the range of zero and the maximum rotational speed of the ICE full load curve.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Declared values lower than zero are not allowed for the additional torque.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 (“Vehicle Editor – Torque Limits Tab”, “Torque and Speed Limitations”)</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Pulse-duration dependency of internal resistance of battery</a:t>
            </a:r>
            <a:endParaRPr lang="en-US" sz="1400" b="0" strike="noStrike" spc="-1">
              <a:latin typeface="Arial"/>
            </a:endParaRPr>
          </a:p>
          <a:p>
            <a:pPr marL="1143000" lvl="2" indent="-228600">
              <a:lnSpc>
                <a:spcPct val="100000"/>
              </a:lnSpc>
              <a:spcBef>
                <a:spcPts val="28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HEV operation strategy method for declaration mode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Method explained in “User Manual/HEV_DECL_method_20211221.pptx”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Generic values defined per (vehicle group, mission, payload and usable SOC range) in “User Manual/HEV_Strategy_Parameters.xlsx”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further details refer to distributed material/recording from xEV workshop #8</a:t>
            </a:r>
            <a:endParaRPr lang="en-US" sz="10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5"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(2/x)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Auxiliaries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power demand of auxiliaries for both, lorries and buses, need to be parameterized via the “BusAux” GUI window</a:t>
            </a:r>
            <a:br>
              <a:rPr sz="1000"/>
            </a:br>
            <a:br>
              <a:rPr sz="1000"/>
            </a:br>
            <a:br>
              <a:rPr sz="1000"/>
            </a:br>
            <a:br>
              <a:rPr sz="1000"/>
            </a:br>
            <a:r>
              <a:rPr lang="en-US" sz="1000" b="0" strike="noStrike" spc="-1">
                <a:solidFill>
                  <a:srgbClr val="000000"/>
                </a:solidFill>
                <a:latin typeface="Arial"/>
              </a:rPr>
              <a:t> </a:t>
            </a:r>
            <a:endParaRPr lang="en-US" sz="1000" b="0" strike="noStrike" spc="-1">
              <a:latin typeface="Arial"/>
            </a:endParaRPr>
          </a:p>
          <a:p>
            <a:pPr>
              <a:lnSpc>
                <a:spcPct val="100000"/>
              </a:lnSpc>
              <a:buNone/>
              <a:tabLst>
                <a:tab pos="1886040" algn="l"/>
              </a:tabLst>
            </a:pP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Gearshift model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Details explained on next slides</a:t>
            </a:r>
            <a:endParaRPr lang="en-US" sz="1000" b="0" strike="noStrike" spc="-1">
              <a:latin typeface="Arial"/>
            </a:endParaRPr>
          </a:p>
        </p:txBody>
      </p:sp>
      <p:grpSp>
        <p:nvGrpSpPr>
          <p:cNvPr id="236" name="Gruppieren 12"/>
          <p:cNvGrpSpPr/>
          <p:nvPr/>
        </p:nvGrpSpPr>
        <p:grpSpPr>
          <a:xfrm>
            <a:off x="1047600" y="2188080"/>
            <a:ext cx="7963560" cy="2519280"/>
            <a:chOff x="1047600" y="2188080"/>
            <a:chExt cx="7963560" cy="2519280"/>
          </a:xfrm>
        </p:grpSpPr>
        <p:pic>
          <p:nvPicPr>
            <p:cNvPr id="237" name="Grafik 5"/>
            <p:cNvPicPr/>
            <p:nvPr/>
          </p:nvPicPr>
          <p:blipFill>
            <a:blip r:embed="rId2"/>
            <a:srcRect r="53544"/>
            <a:stretch/>
          </p:blipFill>
          <p:spPr>
            <a:xfrm>
              <a:off x="5004000" y="2188080"/>
              <a:ext cx="2510280" cy="2519280"/>
            </a:xfrm>
            <a:prstGeom prst="rect">
              <a:avLst/>
            </a:prstGeom>
            <a:ln w="0">
              <a:noFill/>
            </a:ln>
          </p:spPr>
        </p:pic>
        <p:grpSp>
          <p:nvGrpSpPr>
            <p:cNvPr id="238" name="Gruppieren 7"/>
            <p:cNvGrpSpPr/>
            <p:nvPr/>
          </p:nvGrpSpPr>
          <p:grpSpPr>
            <a:xfrm>
              <a:off x="1047600" y="2188080"/>
              <a:ext cx="3735000" cy="2519280"/>
              <a:chOff x="1047600" y="2188080"/>
              <a:chExt cx="3735000" cy="2519280"/>
            </a:xfrm>
          </p:grpSpPr>
          <p:pic>
            <p:nvPicPr>
              <p:cNvPr id="239" name="Grafik 4"/>
              <p:cNvPicPr/>
              <p:nvPr/>
            </p:nvPicPr>
            <p:blipFill>
              <a:blip r:embed="rId3"/>
              <a:stretch/>
            </p:blipFill>
            <p:spPr>
              <a:xfrm>
                <a:off x="1187640" y="2188080"/>
                <a:ext cx="3594960" cy="2519280"/>
              </a:xfrm>
              <a:prstGeom prst="rect">
                <a:avLst/>
              </a:prstGeom>
              <a:ln w="0">
                <a:noFill/>
              </a:ln>
            </p:spPr>
          </p:pic>
          <p:sp>
            <p:nvSpPr>
              <p:cNvPr id="240" name="Ellipse 6"/>
              <p:cNvSpPr/>
              <p:nvPr/>
            </p:nvSpPr>
            <p:spPr>
              <a:xfrm>
                <a:off x="1047600" y="3812760"/>
                <a:ext cx="899280" cy="287280"/>
              </a:xfrm>
              <a:prstGeom prst="ellipse">
                <a:avLst/>
              </a:prstGeom>
              <a:noFill/>
              <a:ln w="19050">
                <a:solidFill>
                  <a:srgbClr val="FF0000"/>
                </a:solidFill>
                <a:round/>
              </a:ln>
            </p:spPr>
            <p:style>
              <a:lnRef idx="0">
                <a:scrgbClr r="0" g="0" b="0"/>
              </a:lnRef>
              <a:fillRef idx="0">
                <a:scrgbClr r="0" g="0" b="0"/>
              </a:fillRef>
              <a:effectRef idx="0">
                <a:scrgbClr r="0" g="0" b="0"/>
              </a:effectRef>
              <a:fontRef idx="minor"/>
            </p:style>
          </p:sp>
        </p:grpSp>
        <p:sp>
          <p:nvSpPr>
            <p:cNvPr id="241" name="Legende mit Linie 1 10"/>
            <p:cNvSpPr/>
            <p:nvPr/>
          </p:nvSpPr>
          <p:spPr>
            <a:xfrm>
              <a:off x="7566480" y="2836080"/>
              <a:ext cx="1444680" cy="337680"/>
            </a:xfrm>
            <a:prstGeom prst="borderCallout1">
              <a:avLst>
                <a:gd name="adj1" fmla="val 18750"/>
                <a:gd name="adj2" fmla="val -8333"/>
                <a:gd name="adj3" fmla="val 70225"/>
                <a:gd name="adj4" fmla="val -65838"/>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driving</a:t>
              </a:r>
              <a:endParaRPr lang="en-US" sz="1100" b="0" strike="noStrike" spc="-1">
                <a:latin typeface="Arial"/>
              </a:endParaRPr>
            </a:p>
          </p:txBody>
        </p:sp>
        <p:sp>
          <p:nvSpPr>
            <p:cNvPr id="242" name="Legende mit Linie 1 11"/>
            <p:cNvSpPr/>
            <p:nvPr/>
          </p:nvSpPr>
          <p:spPr>
            <a:xfrm>
              <a:off x="7566480" y="3340080"/>
              <a:ext cx="1444680" cy="337680"/>
            </a:xfrm>
            <a:prstGeom prst="borderCallout1">
              <a:avLst>
                <a:gd name="adj1" fmla="val 18750"/>
                <a:gd name="adj2" fmla="val -8333"/>
                <a:gd name="adj3" fmla="val -28416"/>
                <a:gd name="adj4" fmla="val -65839"/>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standstill</a:t>
              </a:r>
              <a:endParaRPr lang="en-US" sz="1100" b="0" strike="noStrike" spc="-1">
                <a:latin typeface="Arial"/>
              </a:endParaRPr>
            </a:p>
          </p:txBody>
        </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3" name="Grafik 14"/>
          <p:cNvPicPr/>
          <p:nvPr/>
        </p:nvPicPr>
        <p:blipFill>
          <a:blip r:embed="rId2"/>
          <a:stretch/>
        </p:blipFill>
        <p:spPr>
          <a:xfrm>
            <a:off x="323640" y="1743840"/>
            <a:ext cx="5759280" cy="4748040"/>
          </a:xfrm>
          <a:prstGeom prst="rect">
            <a:avLst/>
          </a:prstGeom>
          <a:ln w="0">
            <a:noFill/>
          </a:ln>
        </p:spPr>
      </p:pic>
      <p:sp>
        <p:nvSpPr>
          <p:cNvPr id="24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5"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(1/x)</a:t>
            </a:r>
            <a:endParaRPr lang="en-US" sz="1600" b="0" strike="noStrike" spc="-1">
              <a:latin typeface="Arial"/>
            </a:endParaRPr>
          </a:p>
        </p:txBody>
      </p:sp>
      <p:sp>
        <p:nvSpPr>
          <p:cNvPr id="246" name="Textfeld 12"/>
          <p:cNvSpPr/>
          <p:nvPr/>
        </p:nvSpPr>
        <p:spPr>
          <a:xfrm>
            <a:off x="6156000" y="1524960"/>
            <a:ext cx="2987280" cy="4677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Basics:</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Downshift for operation point left of green dot-dashed downshift lines</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Upshift for operation point right of green dot-dashed upshift line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method applied for operation point between downshift and upshift lines (refer to user manual) </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Driving: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Maximum downshift speed always located at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(where 80% of max power is available)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For EM in de-rating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is calculated from the de-rated power curve</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Braking: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is suppressed for operation point within red shaded area</a:t>
            </a:r>
            <a:br>
              <a:rPr sz="1000"/>
            </a:br>
            <a:r>
              <a:rPr lang="en-US" sz="1000" b="0" strike="noStrike" spc="-1">
                <a:solidFill>
                  <a:srgbClr val="000000"/>
                </a:solidFill>
                <a:latin typeface="Arial"/>
                <a:ea typeface="DejaVu Sans"/>
              </a:rPr>
              <a:t>(2% below max recuperation power)</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New gear after downshift is selected so that operation point is closest to and above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(or only closest to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in case no operation point with higher speed exists)</a:t>
            </a:r>
            <a:endParaRPr lang="en-US" sz="1000" b="0" strike="noStrike" spc="-1">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7" name="Grafik 6"/>
          <p:cNvPicPr/>
          <p:nvPr/>
        </p:nvPicPr>
        <p:blipFill>
          <a:blip r:embed="rId2"/>
          <a:stretch/>
        </p:blipFill>
        <p:spPr>
          <a:xfrm>
            <a:off x="323640" y="1743840"/>
            <a:ext cx="5759280" cy="4748040"/>
          </a:xfrm>
          <a:prstGeom prst="rect">
            <a:avLst/>
          </a:prstGeom>
          <a:ln w="0">
            <a:noFill/>
          </a:ln>
        </p:spPr>
      </p:pic>
      <p:sp>
        <p:nvSpPr>
          <p:cNvPr id="24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9"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(2/x)</a:t>
            </a:r>
            <a:endParaRPr lang="en-US" sz="1600" b="0" strike="noStrike" spc="-1">
              <a:latin typeface="Arial"/>
            </a:endParaRPr>
          </a:p>
        </p:txBody>
      </p:sp>
      <p:sp>
        <p:nvSpPr>
          <p:cNvPr id="250" name="Textfeld 12"/>
          <p:cNvSpPr/>
          <p:nvPr/>
        </p:nvSpPr>
        <p:spPr>
          <a:xfrm>
            <a:off x="6156000" y="1524960"/>
            <a:ext cx="2987280" cy="1097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All factors in bold red can be tuned via shift parameter file .vtcu</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Refer to sample file for User Manual/PEV_ShiftParameters.vtcu distributed together with VECTO archive</a:t>
            </a:r>
            <a:endParaRPr lang="en-US" sz="1000" b="0" strike="noStrike" spc="-1">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2"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[VECTO-1460] - APT-N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[VECTO-1501] - Update EM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[VECTO-1477] - 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[VECTO-1383] - E2 PEV, 2-speed AMT: "Failed to find operating point"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[VECTO-1384] - E2 PEV, 2-speed AMT: Downshifts missing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[VECTO-1414] - E2 selects high gear at low speed after take-off, does not reach target acc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[VECTO-1443] - 0.7.5.2356 EC_el_final calculated from REESS terminal signals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[VECTO-1445] - 073.2356, E2 Missing Downshifts, simulation abort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[VECTO-1464] - Engine Off not working with activated PCC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[VECTO-1465] - PEV PCCState oscillates between Interrupt and UseCase1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[VECTO-1467] - PCC HEV Small Spike at end of UseCase1 when Target speed is reached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[VECTO-1468] - EM map interpolation comments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[VECTO-1470] - 076.2463 EM drag torque questions/findings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[VECTO-1482] - Hybrid Vehicle EM speed gets very high, no 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[VECTO-1483] - Job aborting: E4_Group 5 LH_ll_LongHaul_mod5_id_2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[VECTO-1484] - Job aborting: P2_Group5_s2c0_rep_Payload_LongHaul_mod5_id_27</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[VECTO-1486] - NG PI fuel type not working with Engine GUI (.veng)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[VECTO-1487] - Calculation of EM efficiency during recuperation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[VECTO-1490] - Exceeded max iterations: Operating Point could not be found</a:t>
            </a:r>
            <a:endParaRPr lang="en-US" sz="1400" b="0" strike="noStrike" spc="-1">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4"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[VECTO-1491] - Electric Energy Storage Editor does not show values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[VECTO-1499] - Energy balance when ICE is turned on in a P1 hybrid configuration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[VECTO-1514] - Modeldata uses wrong inertia in case multiple EMs are used on a position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[VECTO-1515] - Output in vsum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[VECTO-1516] - GUI: PEV vehicle, disable hybrid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[VECTO-1489] - Engine-off eco-roll for P1 hybrids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[VECTO-1448] - 075.2356, E2 Selecting high gear in downhill, needs to use wheel brakes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[VECTO-1472] - Do not end PCC if acceleration is still high enough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[VECTO-1473] - Additional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[VECTO-1476] - Update EM GUI, EM component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[VECTO-1493] - Use EngineStartStop in PCC-Events for Hybrid P1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[VECTO-1498] - Crosswind correction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[VECTO-1508] - EM-Off Losses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[VECTO-1509] - SP Technology "Electric" already contains mechanical power demand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[VECTO-1510] - Remove selection of shift strategy in job dialog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[VECTO-1511] - Error Message for "HEVs and BEVs not supported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[VECTO-1512] - Adapt shift lines for xEV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[VECTO-1513] - Bus Aux post-processing correction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[VECTO-1481] - New warning message regarding transmission: what does it mean?</a:t>
            </a:r>
            <a:endParaRPr lang="en-US" sz="1400" b="0" strike="noStrike" spc="-1">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0.7.6.2451 Development Version</a:t>
            </a:r>
            <a:br>
              <a:rPr sz="2400"/>
            </a:br>
            <a:r>
              <a:rPr lang="en-US" sz="1600" b="1" strike="noStrike" spc="-1">
                <a:solidFill>
                  <a:srgbClr val="990000"/>
                </a:solidFill>
                <a:latin typeface="Arial"/>
              </a:rPr>
              <a:t>September 2021</a:t>
            </a:r>
            <a:endParaRPr lang="en-US" sz="1600" b="0" strike="noStrike" spc="-1">
              <a:latin typeface="Arial"/>
            </a:endParaRPr>
          </a:p>
        </p:txBody>
      </p:sp>
      <p:sp>
        <p:nvSpPr>
          <p:cNvPr id="256"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ADAS for HEV and PEV vehicles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HEV vehicles interaction of PCC and HEV strategy under further analysis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electric motor model: support for different voltage levels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modular battery components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pulse-duration dependent internal resistance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0.7.5.2353 Development Version</a:t>
            </a:r>
            <a:br>
              <a:rPr sz="2400"/>
            </a:br>
            <a:r>
              <a:rPr lang="en-US" sz="1600" b="1" strike="noStrike" spc="-1">
                <a:solidFill>
                  <a:srgbClr val="990000"/>
                </a:solidFill>
                <a:latin typeface="Arial"/>
              </a:rPr>
              <a:t>June 2021</a:t>
            </a:r>
            <a:endParaRPr lang="en-US" sz="1600" b="0" strike="noStrike" spc="-1">
              <a:latin typeface="Arial"/>
            </a:endParaRPr>
          </a:p>
        </p:txBody>
      </p:sp>
      <p:sp>
        <p:nvSpPr>
          <p:cNvPr id="258"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Additional Powertrain architectures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P1 AMT and APT-S/P</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P2.5 (transmission ratio EM per gear)</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P3 &amp; P4 with APT transmissions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Loss-map for electric machine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Bus auxiliaries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Combine Bus auxiliaries with HEV powertrains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Refactoring Engine Stop/Start approach</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ICE is always off during simulation, balance missing energy in case ICE is on / ICE is off for all auxiliaries in .vmod.</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Correct for missing aux energy in post-processing (not fully implemented in this version)</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Added vehicle propulsion limits (relative to ICE max torque)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 P3, and P4</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Refactored EM model: continuous torque, overload torque as separate inputs</a:t>
            </a:r>
            <a:endParaRPr lang="en-US" sz="1400" b="0" strike="noStrike" spc="-1">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0.7.3.2164 Development Version</a:t>
            </a:r>
            <a:br>
              <a:rPr sz="2400"/>
            </a:br>
            <a:r>
              <a:rPr lang="en-US" sz="1600" b="1" strike="noStrike" spc="-1">
                <a:solidFill>
                  <a:srgbClr val="990000"/>
                </a:solidFill>
                <a:latin typeface="Arial"/>
              </a:rPr>
              <a:t>December 2020</a:t>
            </a:r>
            <a:endParaRPr lang="en-US" sz="1600" b="0" strike="noStrike" spc="-1">
              <a:latin typeface="Arial"/>
            </a:endParaRPr>
          </a:p>
        </p:txBody>
      </p:sp>
      <p:sp>
        <p:nvSpPr>
          <p:cNvPr id="260"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SuperCap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Removed E_REESS from .vmod file, calculate delta_E_REESS from P_REESS in .vsum file</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0.7.2.2118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2"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PEV architecture E2 with EffShift-like gearshift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REESS Dialog (.vimax)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in output of EM overload output in .vmod file </a:t>
            </a:r>
            <a:endParaRPr lang="en-US" sz="1400" b="0" strike="noStrike" spc="-1">
              <a:latin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0.7.1.2108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4"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More stable operating point search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Bugfixes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Super Cap as REESS </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electric machine thermal de-rating</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Modified battery model: max charge/discharge current over state of charge</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Improvements simulation time hybrid vehicles</a:t>
            </a:r>
            <a:endParaRPr lang="en-US" sz="1100" b="0" strike="noStrike" spc="-1">
              <a:latin typeface="Arial"/>
            </a:endParaRPr>
          </a:p>
        </p:txBody>
      </p:sp>
      <p:sp>
        <p:nvSpPr>
          <p:cNvPr id="265" name="Textfeld 3"/>
          <p:cNvSpPr/>
          <p:nvPr/>
        </p:nvSpPr>
        <p:spPr>
          <a:xfrm>
            <a:off x="719640" y="3161160"/>
            <a:ext cx="7704000" cy="729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400" b="1" strike="noStrike" spc="-1">
                <a:solidFill>
                  <a:srgbClr val="000000"/>
                </a:solidFill>
                <a:latin typeface="Arial"/>
                <a:ea typeface="DejaVu Sans"/>
              </a:rPr>
              <a:t>Note: </a:t>
            </a:r>
            <a:r>
              <a:rPr lang="en-US" sz="1400" b="0" strike="noStrike" spc="-1">
                <a:solidFill>
                  <a:srgbClr val="000000"/>
                </a:solidFill>
                <a:latin typeface="Arial"/>
                <a:ea typeface="DejaVu Sans"/>
              </a:rPr>
              <a:t>As the model data for electric machine and battery changed from the previous VECTO version for hybrid vehicles it is necessary to open the models and provide the newly added model parameters. </a:t>
            </a:r>
            <a:endParaRPr lang="en-US" sz="1400" b="0" strike="noStrike" spc="-1">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0.7.0.2076 Development Version</a:t>
            </a:r>
            <a:br>
              <a:rPr sz="2400"/>
            </a:br>
            <a:r>
              <a:rPr lang="en-US" sz="1600" b="1" strike="noStrike" spc="-1">
                <a:solidFill>
                  <a:srgbClr val="990000"/>
                </a:solidFill>
                <a:latin typeface="Arial"/>
              </a:rPr>
              <a:t>September 2020</a:t>
            </a:r>
            <a:endParaRPr lang="en-US" sz="1600" b="0" strike="noStrike" spc="-1">
              <a:latin typeface="Arial"/>
            </a:endParaRPr>
          </a:p>
        </p:txBody>
      </p:sp>
      <p:sp>
        <p:nvSpPr>
          <p:cNvPr id="267" name="PlaceHolder 2"/>
          <p:cNvSpPr>
            <a:spLocks noGrp="1"/>
          </p:cNvSpPr>
          <p:nvPr>
            <p:ph/>
          </p:nvPr>
        </p:nvSpPr>
        <p:spPr>
          <a:xfrm>
            <a:off x="323640" y="1268640"/>
            <a:ext cx="8496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241"/>
              </a:spcBef>
              <a:buClr>
                <a:srgbClr val="000000"/>
              </a:buClr>
              <a:buFont typeface="Symbol"/>
              <a:buChar char=""/>
              <a:tabLst>
                <a:tab pos="1886040" algn="l"/>
              </a:tabLst>
            </a:pPr>
            <a:r>
              <a:rPr lang="en-US" sz="1200" b="1" strike="noStrike" spc="-1">
                <a:solidFill>
                  <a:srgbClr val="000000"/>
                </a:solidFill>
                <a:latin typeface="Arial"/>
              </a:rPr>
              <a:t>Changes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i="1" strike="noStrike" spc="-1">
                <a:solidFill>
                  <a:srgbClr val="000000"/>
                </a:solidFill>
                <a:latin typeface="Arial"/>
              </a:rPr>
              <a:t>This release is the first beta version with capabilities to simulate hybrid and battery electric vehicles</a:t>
            </a:r>
            <a:r>
              <a:rPr lang="en-US" sz="1000" b="0" strike="noStrike" spc="-1">
                <a:solidFill>
                  <a:srgbClr val="000000"/>
                </a:solidFill>
                <a:latin typeface="Arial"/>
              </a:rPr>
              <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It covers powertrain architectures “P2”, “P3”, “P4” for hybrid electric vehicles (HEV) and  “E3”, “E4” for battery electric vehicles (PEV, pure electric vehicles).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The definitions of the powertrain architectures and other input parameters on vehicle level can be found in the document </a:t>
            </a:r>
            <a:r>
              <a:rPr lang="en-US" sz="1000" b="0" i="1" strike="noStrike" spc="-1">
                <a:solidFill>
                  <a:srgbClr val="000000"/>
                </a:solidFill>
                <a:latin typeface="Arial"/>
              </a:rPr>
              <a:t>Input parameters vehicle level 20200907.docx</a:t>
            </a:r>
            <a:r>
              <a:rPr lang="en-US" sz="1000" b="0" strike="noStrike" spc="-1">
                <a:solidFill>
                  <a:srgbClr val="000000"/>
                </a:solidFill>
                <a:latin typeface="Arial"/>
              </a:rPr>
              <a:t>. This document is an excerpt of working document 3 of the HDV CO2 Editing board. Items marked in red are not yet featured by the tool and will follow in the next releases.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Known limitations</a:t>
            </a:r>
            <a:endParaRPr lang="en-US" sz="10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Electric machine system overload feature not available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Supercaps not implemented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Engine Stop Start Utility Factor has to be set to 1 – further discussions in task force needed how UF-approach shall be aligned with hybrid control strategy</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P_aux_el are electric auxiliaries connected to the high-voltage system. For hybrid electric vehicles this model parameter shall currently be set to 0. – further discussions in task force needed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APTs with HEV – to be implemented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Eco-roll and PCC not implemented</a:t>
            </a:r>
            <a:endParaRPr lang="en-US" sz="900" b="0" strike="noStrike" spc="-1">
              <a:latin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0.6.1.1975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69" name="PlaceHolder 2"/>
          <p:cNvSpPr>
            <a:spLocks noGrp="1"/>
          </p:cNvSpPr>
          <p:nvPr>
            <p:ph/>
          </p:nvPr>
        </p:nvSpPr>
        <p:spPr>
          <a:xfrm>
            <a:off x="323640" y="1268640"/>
            <a:ext cx="8640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Bugfixes </a:t>
            </a:r>
            <a:endParaRPr lang="en-US" sz="16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Change passenger density primary vehicle for IU cycle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primary vehicle: ignore TPMLM (to limit payload, do not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completed vehicle: limit total mass with TPMLM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consider l_drivetrain. this length is subtracted from internal length for HVAC calculation only (bus volume for ventilation, max cooling capacity); completed vehicle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set alternator gear efficiency to 1 to align with lorries (currently 0.92)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system / radio: all vehicles are equipped with radio. modify consumed amps to consider 'usage factor' - updated already in master excel.</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generic values for primary HF vehicles CdxA</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check/correct internal height for coaches (shall be 1.8m)</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subtract driver compartment from total volume for max cooling capacity passengers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add configuration #10, add sanity checks (i.e. if driver AC is provided for configurations #2,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Steering pump power demand: tubing factor only applied for first steered axle (as the additionally steered axles are close to the engine and the distance is not known)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Allow enabling/disabling LAC in declaration mode via GUI (not persistent). Additional input on “Options” tab to set min activation speed</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 file: E_AUX_SUM matches sum of individual AUX entries; bugfix writing P_busAux_ES_mech</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user manual on VTP cycle file format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APT gearbox (all gears) generic efficiency 0.925</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retarder: set factor for generic retarder losses from 0.5 to 1 (i.e., use standardvalues)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VTP engineering mode - vsum actual CF different to declaration mode</a:t>
            </a:r>
            <a:endParaRPr lang="en-US" sz="1000" b="0" strike="noStrike" spc="-1">
              <a:latin typeface="Arial"/>
            </a:endParaRPr>
          </a:p>
          <a:p>
            <a:pPr marL="343080" indent="-34308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Improvements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Switch GUI to 64bit mode (see VECTO-1270)</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New normalization/denormalization method for generic engine FC-Map (see VECTO-1269)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.vsum-file: new entries P_ice_fcmap, P_wheel_in, k_vehline (previous k_vehline is now k_engline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Bus VTP: Fan Parameter C4</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don't write CIF for primary vehicle</a:t>
            </a:r>
            <a:endParaRPr lang="en-US" sz="1000" b="0" strike="noStrike" spc="-1">
              <a:latin typeface="Arial"/>
            </a:endParaRPr>
          </a:p>
          <a:p>
            <a:pPr>
              <a:lnSpc>
                <a:spcPct val="100000"/>
              </a:lnSpc>
              <a:buNone/>
              <a:tabLst>
                <a:tab pos="1886040" algn="l"/>
              </a:tabLst>
            </a:pPr>
            <a:endParaRPr lang="en-US" sz="1000" b="0" strike="noStrike" spc="-1">
              <a:latin typeface="Arial"/>
            </a:endParaRPr>
          </a:p>
          <a:p>
            <a:pPr>
              <a:lnSpc>
                <a:spcPct val="100000"/>
              </a:lnSpc>
              <a:buNone/>
              <a:tabLst>
                <a:tab pos="1886040" algn="l"/>
              </a:tabLst>
            </a:pPr>
            <a:endParaRPr lang="en-US" sz="1000" b="0" strike="noStrike" spc="-1">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1" name="PlaceHolder 2"/>
          <p:cNvSpPr>
            <a:spLocks noGrp="1"/>
          </p:cNvSpPr>
          <p:nvPr>
            <p:ph/>
          </p:nvPr>
        </p:nvSpPr>
        <p:spPr>
          <a:xfrm>
            <a:off x="323640" y="1268640"/>
            <a:ext cx="8640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Improvements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Declaration mode for complete and completed buses via “factor method”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heavy buses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dual-fuel vehicles (new cycle file required!)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“Single bus” mode with generic data from segmentation table completed vehicle (previous version used generic data from primary vehicle)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highway sections on coach cycle (required for PCC)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graphical user interface (VECTO3.exe) (</a:t>
            </a:r>
            <a:r>
              <a:rPr lang="en-US" sz="1600" b="0" i="1" strike="noStrike" spc="-1">
                <a:solidFill>
                  <a:srgbClr val="953735"/>
                </a:solidFill>
                <a:latin typeface="Arial"/>
              </a:rPr>
              <a:t>alpha version!</a:t>
            </a:r>
            <a:r>
              <a:rPr lang="en-US" sz="1600" b="0" strike="noStrike" spc="-1">
                <a:solidFill>
                  <a:srgbClr val="000000"/>
                </a:solidFill>
                <a:latin typeface="Arial"/>
              </a:rPr>
              <a:t>)</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job file (PIF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single bus job file (primary XML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Simulation of all types of VECTO jobs</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Currently, other existing job files can not be edited in the new GUI – planned to be extended in future</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Functionality similar to currently official VECTO version, for further information see separate user manual on new GUI</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XML reports (MRF, CIF, PIF) according to draft Annex IV</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a:t>
            </a:r>
            <a:r>
              <a:rPr lang="en-US" sz="1600" b="0" strike="noStrike" spc="-1">
                <a:solidFill>
                  <a:srgbClr val="000000"/>
                </a:solidFill>
                <a:latin typeface="Arial"/>
              </a:rPr>
              <a:t> allow adding torque converter data to PIF manually (not added by VECTO automatically)  to investigate on generic TC data for APT-P (see generic vehicles for reference)</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 </a:t>
            </a:r>
            <a:r>
              <a:rPr lang="en-US" sz="1600" b="0" strike="noStrike" spc="-1">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lang="en-US" sz="1600" b="0" strike="noStrike" spc="-1">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heavy buses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for engine fan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Consider electric auxiliaries (fan, steering pump) as electrical consumer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pneumatic system with mechanical clutch</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electrical consumers LED bonus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Correction for double compensation of smart electrics (battery &amp; generated vs. consumed)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passenger count depending on HVAC configuration</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Bugfixes medium lorries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technologies for electric steering pump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tyre xml supported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Bugfixes graphical user interface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sample data VTP</a:t>
            </a:r>
            <a:endParaRPr lang="en-US" sz="1600" b="0" strike="noStrike" spc="-1">
              <a:latin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0.6.0.1908 Development Version</a:t>
            </a:r>
            <a:br>
              <a:rPr sz="2400"/>
            </a:br>
            <a:r>
              <a:rPr lang="en-US" sz="1600" b="1" strike="noStrike" spc="-1">
                <a:solidFill>
                  <a:srgbClr val="990000"/>
                </a:solidFill>
                <a:latin typeface="Arial"/>
              </a:rPr>
              <a:t>March. 2020</a:t>
            </a:r>
            <a:endParaRPr lang="en-US" sz="1600" b="0" strike="noStrike" spc="-1">
              <a:latin typeface="Arial"/>
            </a:endParaRPr>
          </a:p>
        </p:txBody>
      </p:sp>
      <p:sp>
        <p:nvSpPr>
          <p:cNvPr id="27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Consider vehicle’s max speed when validating input data, calculating velocity drop during traction interruption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Reading vehicle design speed (85km/h) from segment table (also related to vehicle’s max speed)</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JobEditor GUI – toolbar with icons not visible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null-reference exception simulating vehicles in engineering mode</a:t>
            </a:r>
            <a:endParaRPr lang="en-US" sz="1800" b="0" strike="noStrike" spc="-1">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0.6.0.1884 Development Version</a:t>
            </a:r>
            <a:br>
              <a:rPr sz="2400"/>
            </a:br>
            <a:r>
              <a:rPr lang="en-US" sz="1600" b="1" strike="noStrike" spc="-1">
                <a:solidFill>
                  <a:srgbClr val="990000"/>
                </a:solidFill>
                <a:latin typeface="Arial"/>
              </a:rPr>
              <a:t>Feb. 2020</a:t>
            </a:r>
            <a:endParaRPr lang="en-US" sz="1600" b="0" strike="noStrike" spc="-1">
              <a:latin typeface="Arial"/>
            </a:endParaRPr>
          </a:p>
        </p:txBody>
      </p:sp>
      <p:sp>
        <p:nvSpPr>
          <p:cNvPr id="27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P0 hybrids in bus 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“primary bus”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“single bus” – combine input parameters of primary bus and completed bus to a single simulation (no factor method)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vehicles with front-wheel drive (axlegear included in gearbox)</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VTP Mode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New XML schema for new vehicle categories, adapted XML schema for generated reports (MRF, CIF, PIF)</a:t>
            </a:r>
            <a:endParaRPr lang="en-US" sz="18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This development version includes all features already included in version 0.5.0</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0.5.0 Development Version</a:t>
            </a:r>
            <a:br>
              <a:rPr sz="2400"/>
            </a:br>
            <a:r>
              <a:rPr lang="en-US" sz="1600" b="1" strike="noStrike" spc="-1">
                <a:solidFill>
                  <a:srgbClr val="990000"/>
                </a:solidFill>
                <a:latin typeface="Arial"/>
              </a:rPr>
              <a:t>Dec. 2019</a:t>
            </a:r>
            <a:endParaRPr lang="en-US" sz="1600" b="0" strike="noStrike" spc="-1">
              <a:latin typeface="Arial"/>
            </a:endParaRPr>
          </a:p>
        </p:txBody>
      </p:sp>
      <p:sp>
        <p:nvSpPr>
          <p:cNvPr id="27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Adding in-the-loop simulation of advanced driver assistant systems (ADAS)</a:t>
            </a:r>
            <a:endParaRPr lang="en-US" sz="18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Engine stop-start during vehicle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Eco-roll with and without engine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Predictive cruise control: dip coasting, crest coasting</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dual-fuel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waste- / exhaust-heat recovery systems (electrical and mechanical)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gear shift strategy (EffShift) for AMT and AT transmissions</a:t>
            </a:r>
            <a:endParaRPr lang="en-US" sz="16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Details on the new models, model parameters, and new signals in the output are described in the user manual</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3.3.10.2401 Official Release</a:t>
            </a:r>
            <a:br>
              <a:rPr sz="2400"/>
            </a:br>
            <a:r>
              <a:rPr lang="en-US" sz="1600" b="1" strike="noStrike" spc="-1">
                <a:solidFill>
                  <a:srgbClr val="990000"/>
                </a:solidFill>
                <a:latin typeface="Arial"/>
              </a:rPr>
              <a:t>2020-07-29</a:t>
            </a:r>
            <a:endParaRPr lang="en-US" sz="1600" b="0" strike="noStrike" spc="-1">
              <a:latin typeface="Arial"/>
            </a:endParaRPr>
          </a:p>
        </p:txBody>
      </p:sp>
      <p:sp>
        <p:nvSpPr>
          <p:cNvPr id="28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Handling of exempted vehicles (not changed since release candidate) – see next slides for details</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3.3.10.2401</a:t>
            </a:r>
            <a:endParaRPr lang="en-US" sz="1600" b="0" strike="noStrike" spc="-1">
              <a:latin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[VECTO-1421] – Added vehicle sub-group (CO</a:t>
            </a:r>
            <a:r>
              <a:rPr lang="en-US" sz="1600" b="0" strike="noStrike" spc="-1" baseline="-25000">
                <a:solidFill>
                  <a:srgbClr val="000000"/>
                </a:solidFill>
                <a:latin typeface="Arial"/>
              </a:rPr>
              <a:t>2</a:t>
            </a:r>
            <a:r>
              <a:rPr lang="en-US" sz="1600" b="0" strike="noStrike" spc="-1">
                <a:solidFill>
                  <a:srgbClr val="000000"/>
                </a:solidFill>
                <a:latin typeface="Arial"/>
              </a:rPr>
              <a:t>-standards to MRF and CIF)</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1449] – Handling of exempted vehicles: See next slide for details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[VECTO-1404] – Corrected URL for CSS in MRF and CIF</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[VECTO-1419] – Simulation abort in urban cycle: failed to find operating point on search braking power with TC gear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[VECTO-1439] – Bugfix handling duplicate entries in engine full-load curve when intersecting with max-torque of gearbox</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[VECTO-1429] – error in XML schema 2.x for exempted vehicles – MaxNetPower1/2 are optional input parameters</a:t>
            </a:r>
            <a:endParaRPr lang="en-US" sz="1600" b="0" strike="noStrike" spc="-1">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479"/>
              </a:spcBef>
              <a:buNone/>
              <a:tabLst>
                <a:tab pos="0" algn="l"/>
              </a:tabLst>
            </a:pPr>
            <a:r>
              <a:rPr lang="en-US" sz="2400" b="1" strike="noStrike" spc="-1">
                <a:solidFill>
                  <a:srgbClr val="990000"/>
                </a:solidFill>
                <a:latin typeface="Arial"/>
              </a:rPr>
              <a:t>Handling of exempted vehicles</a:t>
            </a:r>
            <a:endParaRPr lang="en-US" sz="24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Axle configuration and sleeper cab are optional input parameters for exempted vehicles (XML schema 1.0 and 2.2.1).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OEMs are recommended to provide these parameters for exempted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the axle configuration is provided as input parameter, the MRF contains the vehicle group.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The sleeper cab input parameter is also part of the MRF if provided as input.</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Input parameters MaxNetPower1/2 are optional input parameters for all exempted vehicles.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provided in the input these parameters are part of the MRF for all exempted vehicle types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It is recommended that those parameters are used to specify the rated power also for PEV (pure electric vehicles)</a:t>
            </a:r>
            <a:endParaRPr lang="en-US" sz="1600" b="0" strike="noStrike" spc="-1">
              <a:latin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3.3.9.2175 Official Release</a:t>
            </a:r>
            <a:br>
              <a:rPr sz="2400"/>
            </a:br>
            <a:r>
              <a:rPr lang="en-US" sz="1600" b="1" strike="noStrike" spc="-1">
                <a:solidFill>
                  <a:srgbClr val="990000"/>
                </a:solidFill>
                <a:latin typeface="Arial"/>
              </a:rPr>
              <a:t>2020-12-15</a:t>
            </a:r>
            <a:endParaRPr lang="en-US" sz="1600" b="0" strike="noStrike" spc="-1">
              <a:latin typeface="Arial"/>
            </a:endParaRPr>
          </a:p>
        </p:txBody>
      </p:sp>
      <p:sp>
        <p:nvSpPr>
          <p:cNvPr id="28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version 3.3.9.2147)</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 – regression update</a:t>
            </a:r>
            <a:endParaRPr lang="en-US" sz="1600" b="0" strike="noStrike" spc="-1">
              <a:latin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3.3.9.2147 Release Candidate</a:t>
            </a:r>
            <a:br>
              <a:rPr sz="2400"/>
            </a:br>
            <a:r>
              <a:rPr lang="en-US" sz="1600" b="1" strike="noStrike" spc="-1">
                <a:solidFill>
                  <a:srgbClr val="990000"/>
                </a:solidFill>
                <a:latin typeface="Arial"/>
              </a:rPr>
              <a:t>2020-11-17</a:t>
            </a:r>
            <a:endParaRPr lang="en-US" sz="1600" b="0" strike="noStrike" spc="-1">
              <a:latin typeface="Arial"/>
            </a:endParaRPr>
          </a:p>
        </p:txBody>
      </p:sp>
      <p:sp>
        <p:nvSpPr>
          <p:cNvPr id="28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[VECTO-1331] - VTP Mode does not function for vehicles of group 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[VECTO-1355] - VTP Simulation Abort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[VECTO-1356] - PTO Losses not considered in VTP simulation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[VECTO-1361] - Torque Converter in use for the First and Second Gear VTP file does not allow for this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[VECTO-1372] - Deviation of CdxA Input vs. Output for HDV16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[VECTO-1360] - make unit tests execute in parallel</a:t>
            </a:r>
            <a:endParaRPr lang="en-US" sz="1600" b="0" strike="noStrike" spc="-1">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3.3.8.2052 Official Release</a:t>
            </a:r>
            <a:br>
              <a:rPr sz="2400"/>
            </a:br>
            <a:r>
              <a:rPr lang="en-US" sz="1600" b="1" strike="noStrike" spc="-1">
                <a:solidFill>
                  <a:srgbClr val="990000"/>
                </a:solidFill>
                <a:latin typeface="Arial"/>
              </a:rPr>
              <a:t>2020-08-14</a:t>
            </a:r>
            <a:endParaRPr lang="en-US" sz="1600" b="0" strike="noStrike" spc="-1">
              <a:latin typeface="Arial"/>
            </a:endParaRPr>
          </a:p>
        </p:txBody>
      </p:sp>
      <p:sp>
        <p:nvSpPr>
          <p:cNvPr id="29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3.3.8.2024</a:t>
            </a:r>
            <a:endParaRPr lang="en-US" sz="1600" b="0" strike="noStrike" spc="-1">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3.3.8.2024 Release Candidate</a:t>
            </a:r>
            <a:br>
              <a:rPr sz="2400"/>
            </a:br>
            <a:r>
              <a:rPr lang="en-US" sz="1600" b="1" strike="noStrike" spc="-1">
                <a:solidFill>
                  <a:srgbClr val="990000"/>
                </a:solidFill>
                <a:latin typeface="Arial"/>
              </a:rPr>
              <a:t>2020-07-17</a:t>
            </a:r>
            <a:endParaRPr lang="en-US" sz="1600" b="0" strike="noStrike" spc="-1">
              <a:latin typeface="Arial"/>
            </a:endParaRPr>
          </a:p>
        </p:txBody>
      </p:sp>
      <p:sp>
        <p:nvSpPr>
          <p:cNvPr id="29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[VECTO-1288] - Simulation Abort UD RL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[VECTO-1327] - Simulation abort Construction RefLoad: unexpected response ResponseOverload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[VECTO-1266] - Gear 4 Loss-Map was extrapolated</a:t>
            </a:r>
            <a:endParaRPr lang="en-US" sz="1600" b="0" strike="noStrike" spc="-1">
              <a:latin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3.3.7.1964 Official Release</a:t>
            </a:r>
            <a:br>
              <a:rPr sz="2400"/>
            </a:br>
            <a:r>
              <a:rPr lang="en-US" sz="1600" b="1" strike="noStrike" spc="-1">
                <a:solidFill>
                  <a:srgbClr val="990000"/>
                </a:solidFill>
                <a:latin typeface="Arial"/>
              </a:rPr>
              <a:t>2020-05-18</a:t>
            </a:r>
            <a:endParaRPr lang="en-US" sz="1600" b="0" strike="noStrike" spc="-1">
              <a:latin typeface="Arial"/>
            </a:endParaRPr>
          </a:p>
        </p:txBody>
      </p:sp>
      <p:sp>
        <p:nvSpPr>
          <p:cNvPr id="29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[VECTO-1254] - Hashing method does not ignore certain XML attributes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[VECTO-1259] - Mission profile weighting factors for vehicles of group 16 are not correct</a:t>
            </a:r>
            <a:endParaRPr lang="en-US" sz="1600" b="0" strike="noStrike" spc="-1">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3.3.6.1916 Official Release</a:t>
            </a:r>
            <a:br>
              <a:rPr sz="2400"/>
            </a:br>
            <a:r>
              <a:rPr lang="en-US" sz="1600" b="1" strike="noStrike" spc="-1">
                <a:solidFill>
                  <a:srgbClr val="990000"/>
                </a:solidFill>
                <a:latin typeface="Arial"/>
              </a:rPr>
              <a:t>2020-03-31</a:t>
            </a:r>
            <a:endParaRPr lang="en-US" sz="1600" b="0" strike="noStrike" spc="-1">
              <a:latin typeface="Arial"/>
            </a:endParaRPr>
          </a:p>
        </p:txBody>
      </p:sp>
      <p:sp>
        <p:nvSpPr>
          <p:cNvPr id="29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[VECTO-1250] - Error creating new gearbox file from scratch</a:t>
            </a:r>
            <a:endParaRPr lang="en-US" sz="1600" b="0" strike="noStrike" spc="-1">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3.3.6.1898 Release Candidate</a:t>
            </a:r>
            <a:br>
              <a:rPr sz="2400"/>
            </a:br>
            <a:r>
              <a:rPr lang="en-US" sz="1600" b="1" strike="noStrike" spc="-1">
                <a:solidFill>
                  <a:srgbClr val="990000"/>
                </a:solidFill>
                <a:latin typeface="Arial"/>
              </a:rPr>
              <a:t>2020-03-13</a:t>
            </a:r>
            <a:endParaRPr lang="en-US" sz="1600" b="0" strike="noStrike" spc="-1">
              <a:latin typeface="Arial"/>
            </a:endParaRPr>
          </a:p>
        </p:txBody>
      </p:sp>
      <p:sp>
        <p:nvSpPr>
          <p:cNvPr id="29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[VECTO-1239] - Adaptation of Mission Profile Weighting Factors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[VECTO-1241] - Engineering mode: Adding support for additional PTO activations</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[VECTO-1243] - Bug in VTP mode for heavy lorries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[VECTO-1234] - urban cycle at reference load not running for bug when find braking operating point</a:t>
            </a:r>
            <a:endParaRPr lang="en-US" sz="1600" b="0" strike="noStrike" spc="-1">
              <a:latin typeface="Arial"/>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3.3.5.1812 Official Release</a:t>
            </a:r>
            <a:br>
              <a:rPr sz="2400"/>
            </a:br>
            <a:r>
              <a:rPr lang="en-US" sz="1600" b="1" strike="noStrike" spc="-1">
                <a:solidFill>
                  <a:srgbClr val="990000"/>
                </a:solidFill>
                <a:latin typeface="Arial"/>
              </a:rPr>
              <a:t>2019-12-18</a:t>
            </a:r>
            <a:endParaRPr lang="en-US" sz="1600" b="0" strike="noStrike" spc="-1">
              <a:latin typeface="Arial"/>
            </a:endParaRPr>
          </a:p>
        </p:txBody>
      </p:sp>
      <p:sp>
        <p:nvSpPr>
          <p:cNvPr id="30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3.3.5.1783-RC)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[VECTO-1220] - Simulation Abort Urban Delivery RefLoad</a:t>
            </a:r>
            <a:endParaRPr lang="en-US" sz="1600" b="0" strike="noStrike" spc="-1">
              <a:latin typeface="Arial"/>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3.3.5.1783 Release Candidate</a:t>
            </a:r>
            <a:br>
              <a:rPr sz="2400"/>
            </a:br>
            <a:r>
              <a:rPr lang="en-US" sz="1600" b="1" strike="noStrike" spc="-1">
                <a:solidFill>
                  <a:srgbClr val="990000"/>
                </a:solidFill>
                <a:latin typeface="Arial"/>
              </a:rPr>
              <a:t>2019-11-19</a:t>
            </a:r>
            <a:endParaRPr lang="en-US" sz="1600" b="0" strike="noStrike" spc="-1">
              <a:latin typeface="Arial"/>
            </a:endParaRPr>
          </a:p>
        </p:txBody>
      </p:sp>
      <p:sp>
        <p:nvSpPr>
          <p:cNvPr id="30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[VECTO-1194] - Handling input parameter 'vocational' for groups other than 4, 5, 9, 10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[VECTO-1147] - Updating declaration mode cycles values in user manual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[VECTO-1207] - run VECTO in 64bit mode by default</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[VECTO-1159] - Simulation Abort in UrbanDelivery LowLoading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[VECTO-1189] - Error in delaunay triangulation invariant violated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[VECTO-1209] - Unexpected Response Response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[VECTO-1211] - Simulation Abort Urban Delivery Ref 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[VECTO-1214] - Validation of input data fails when gearbox speed limits are applied</a:t>
            </a:r>
            <a:endParaRPr lang="en-US" sz="1600" b="0" strike="noStrike" spc="-1">
              <a:latin typeface="Aria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3.3.4.1716 Official Release</a:t>
            </a:r>
            <a:br>
              <a:rPr sz="2400"/>
            </a:br>
            <a:r>
              <a:rPr lang="en-US" sz="1600" b="1" strike="noStrike" spc="-1">
                <a:solidFill>
                  <a:srgbClr val="990000"/>
                </a:solidFill>
                <a:latin typeface="Arial"/>
              </a:rPr>
              <a:t>2019-09-13</a:t>
            </a:r>
            <a:endParaRPr lang="en-US" sz="1600" b="0" strike="noStrike" spc="-1">
              <a:latin typeface="Arial"/>
            </a:endParaRPr>
          </a:p>
        </p:txBody>
      </p:sp>
      <p:sp>
        <p:nvSpPr>
          <p:cNvPr id="30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3.3.4.1686-RC)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 ([VECTO-1046])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[VECTO-1111] - Simulation Abort in Municipal Reference Load</a:t>
            </a:r>
            <a:endParaRPr lang="en-US" sz="1600" b="0" strike="noStrike" spc="-1">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3.3.4.1686 Release Candidate</a:t>
            </a:r>
            <a:br>
              <a:rPr sz="2400"/>
            </a:br>
            <a:r>
              <a:rPr lang="en-US" sz="1600" b="1" strike="noStrike" spc="-1">
                <a:solidFill>
                  <a:srgbClr val="990000"/>
                </a:solidFill>
                <a:latin typeface="Arial"/>
              </a:rPr>
              <a:t>2019-08-14</a:t>
            </a:r>
            <a:endParaRPr lang="en-US" sz="1600" b="0" strike="noStrike" spc="-1">
              <a:latin typeface="Arial"/>
            </a:endParaRPr>
          </a:p>
        </p:txBody>
      </p:sp>
      <p:sp>
        <p:nvSpPr>
          <p:cNvPr id="30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[VECTO-1042] - Add option to write results into a certain directory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[VECTO-1064] - add weighting factors for vehicle groups 1, 2, 3, 11, 12, 16</a:t>
            </a:r>
            <a:endParaRPr lang="en-US" sz="1600" b="0" strike="noStrike" spc="-1">
              <a:latin typeface="Arial"/>
            </a:endParaRPr>
          </a:p>
          <a:p>
            <a:pPr>
              <a:lnSpc>
                <a:spcPct val="100000"/>
              </a:lnSpc>
              <a:buNone/>
              <a:tabLst>
                <a:tab pos="1886040" algn="l"/>
              </a:tabLst>
            </a:pP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[VECTO-1030] - Exceeded max iterations when searching for operating point! Failed to find operating point!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[VECTO-1032] - Gear 5 LossMap data was extrapolated in Declaration Mode: range for loss map is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[VECTO-1067] - Vair and Beta correction for Aerodynamics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[VECTO-1000] - Error Loss-Map extrapolation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[VECTO-1040] - Gear 6 LossMap data was extrapolated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[VECTO-1047] - Failed to find operating point on construction cycle, ref load, AT gearbox</a:t>
            </a: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3.3.3.1639 Official Release</a:t>
            </a:r>
            <a:br>
              <a:rPr sz="2400"/>
            </a:br>
            <a:r>
              <a:rPr lang="en-US" sz="1600" b="1" strike="noStrike" spc="-1">
                <a:solidFill>
                  <a:srgbClr val="990000"/>
                </a:solidFill>
                <a:latin typeface="Arial"/>
              </a:rPr>
              <a:t>2019-06-27</a:t>
            </a:r>
            <a:endParaRPr lang="en-US" sz="1600" b="0" strike="noStrike" spc="-1">
              <a:latin typeface="Arial"/>
            </a:endParaRPr>
          </a:p>
        </p:txBody>
      </p:sp>
      <p:sp>
        <p:nvSpPr>
          <p:cNvPr id="30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3.3.3.1609-RC)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[VECTO-1003] - Vecto Error: Loss-Map extrapolation in declaration mode required</a:t>
            </a:r>
            <a:br>
              <a:rPr sz="1600"/>
            </a:br>
            <a:r>
              <a:rPr lang="en-US" sz="1600" b="0" strike="noStrike" spc="-1">
                <a:solidFill>
                  <a:srgbClr val="000000"/>
                </a:solidFill>
                <a:latin typeface="Arial"/>
              </a:rPr>
              <a:t>(issue VECTO-991)</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[VECTO-1006] - Failed to find torque converter operating point on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[VECTO-1010] - Unexpected Response: ResponseOverload in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[VECTO-1015] - XML Schema not correctly identified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[VECTO-1019] - Error opening job in case a file is missing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[VECTO-1020] - HashingTool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[VECTO-1021] - Invalid hash of job data</a:t>
            </a:r>
            <a:endParaRPr lang="en-US" sz="1600" b="0" strike="noStrike" spc="-1">
              <a:latin typeface="Arial"/>
            </a:endParaRPr>
          </a:p>
          <a:p>
            <a:pPr>
              <a:lnSpc>
                <a:spcPct val="100000"/>
              </a:lnSpc>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3.3.3.1609 Release Candidate</a:t>
            </a:r>
            <a:br>
              <a:rPr sz="2400"/>
            </a:br>
            <a:r>
              <a:rPr lang="en-US" sz="1600" b="1" strike="noStrike" spc="-1">
                <a:solidFill>
                  <a:srgbClr val="990000"/>
                </a:solidFill>
                <a:latin typeface="Arial"/>
              </a:rPr>
              <a:t>2019-05-29</a:t>
            </a:r>
            <a:endParaRPr lang="en-US" sz="1600" b="0" strike="noStrike" spc="-1">
              <a:latin typeface="Arial"/>
            </a:endParaRPr>
          </a:p>
        </p:txBody>
      </p:sp>
      <p:sp>
        <p:nvSpPr>
          <p:cNvPr id="31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 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[VECTO-916] - Adding new tyre sizes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[VECTO-946] - Refactoring XML reading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[VECTO-965] - Add input fields for ADAS into VECTO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[VECTO-966] - Allow selecting Tank System for NG engines in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[VECTO-932] - Consistency in NA values in the vsum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[VECTO-954] - Failed to find operating point for braking power (Fix for Notification Art. 10(2) - [VECTO-952])</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[VECTO-979] - VECTO Simulation abort with 8-speed MT transmission (Fix for Notification Art. 10(2) - [VECTO-978])</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[VECTO-931] - AT error in VECTO version 3.3.2.1519</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[VECTO-950] - Error when loading Engine Full-load curve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[VECTO-967] - Engine-Only mode: Engine Torque reported in .vmod does not match the provided cycle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[VECTO-980] - Error during simulation run</a:t>
            </a:r>
            <a:endParaRPr lang="en-US" sz="1600" b="0" strike="noStrike" spc="-1">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3.3.2.1548 Official Release</a:t>
            </a:r>
            <a:br>
              <a:rPr sz="2400"/>
            </a:br>
            <a:r>
              <a:rPr lang="en-US" sz="1600" b="1" strike="noStrike" spc="-1">
                <a:solidFill>
                  <a:srgbClr val="990000"/>
                </a:solidFill>
                <a:latin typeface="Arial"/>
              </a:rPr>
              <a:t>2019-03-29</a:t>
            </a:r>
            <a:endParaRPr lang="en-US" sz="1600" b="0" strike="noStrike" spc="-1">
              <a:latin typeface="Arial"/>
            </a:endParaRPr>
          </a:p>
        </p:txBody>
      </p:sp>
      <p:sp>
        <p:nvSpPr>
          <p:cNvPr id="31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3.3.2.1519-RC)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[VECTO-904] - Range for gear loss map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[VECTO-909] - 3.3.2.1519: Problems running more than one input .xml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[VECTO-917] - TargetVelocity (0.0000) and VehicleVelocity (&gt;0) must be zero when vehicle is halting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[VECTO-918] - RegionalDeliveryEMS LowLoading -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[VECTO-920] - Urban Delivery: Simulation Run Aborted, TargetVelocity and VehicleVelocity must be zero when vehicle is halting!</a:t>
            </a:r>
            <a:endParaRPr lang="en-US" sz="1600" b="0" strike="noStrike" spc="-1">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[VECTO-869] - change new vehicle input fields (ADAS, sleeper cab, etc.) to be mandatory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[VECTO-784] - Configuration file for VECTO log files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[VECTO-865] - Extend Sum-Data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[VECTO-873] - Add digest value to SumData</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[VECTO-729] - Bugs APT submodel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[VECTO-787] - APT: DrivingAction Accelerate after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[VECTO-789] - APT: ResponseUnderload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[VECTO-797] - VECTO abort with AT transmission and TC table value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[VECTO-798] - VECTO abort with certified AT transmission data and certified TC 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[VECTO-807] - VECTO errors in vehicle class 1/2/3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[VECTO-827] - Torque converter inertia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[VECTO-838] - APT: ResponseOverload</a:t>
            </a:r>
            <a:endParaRPr lang="en-US" sz="1600" b="0" strike="noStrike" spc="-1">
              <a:latin typeface="Arial"/>
            </a:endParaRPr>
          </a:p>
        </p:txBody>
      </p:sp>
      <p:sp>
        <p:nvSpPr>
          <p:cNvPr id="31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8" name="PlaceHolder 2"/>
          <p:cNvSpPr>
            <a:spLocks noGrp="1"/>
          </p:cNvSpPr>
          <p:nvPr>
            <p:ph/>
          </p:nvPr>
        </p:nvSpPr>
        <p:spPr>
          <a:xfrm>
            <a:off x="323640" y="1340640"/>
            <a:ext cx="881964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[VECTO-843] - AT Transmissions problem on VECTO 3.3.1.1463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[VECTO-844] - Error with AT gearbox 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[VECTO-847] - Simulation abort due to error in NLog?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[VECTO-848] - AT Gearbox Simulation abort (was: Problem related to Tyres?)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[VECTO-858] - Urban Delivery Abort - with APT-S Transmission and TC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[VECTO-872] - MRF/CIF: Torque Converter certification method and certification nbr not correctly set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[VECTO-879] - SIMULATION RUN ABORTED DistanceRun got an unexpected resp.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[VECTO-883] - Traction interruption may be too long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[VECTO-815] - Unexpected Response: 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[VECTO-816] - object reference not set to an instance of an object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[VECTO-817] - TargetVelocity and VehicleVelocity must not be 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[VECTO-820] - DistanceRun got an unexpected response: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[VECTO-864] - Prevent VECTO loss-map extension to result in negative torque loss</a:t>
            </a:r>
            <a:endParaRPr lang="en-US" sz="1600" b="0" strike="noStrike" spc="-1">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20" name="PlaceHolder 2"/>
          <p:cNvSpPr>
            <a:spLocks noGrp="1"/>
          </p:cNvSpPr>
          <p:nvPr>
            <p:ph/>
          </p:nvPr>
        </p:nvSpPr>
        <p:spPr>
          <a:xfrm>
            <a:off x="323640" y="1340640"/>
            <a:ext cx="8496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Installation Option </a:t>
            </a:r>
            <a:r>
              <a:rPr lang="en-US" sz="1800" b="0" strike="noStrike" spc="-1">
                <a:solidFill>
                  <a:srgbClr val="000000"/>
                </a:solidFill>
                <a:latin typeface="Arial"/>
              </a:rPr>
              <a:t>(VECTO-784)</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3.3.2 adds a new feature to run as ‘installed application’ instead of the ‘portable’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as ‘installed application’</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Needs no write permissions to the VECTO application folder</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configuration files and settings are written to %AppData%\VECTO\&lt;Version&gt;</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log files are written to %LocalAppData%\VECTO\&lt;Version&gt;</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Switch to ‘installed application’</a:t>
            </a:r>
            <a:endParaRPr lang="en-US" sz="16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Copy the VECTO directory and all its files and subdirectories to the appropriate location where the user has execute permissions</a:t>
            </a:r>
            <a:endParaRPr lang="en-US" sz="12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Edit the file ‘</a:t>
            </a:r>
            <a:r>
              <a:rPr lang="en-US" sz="1200" b="0" i="1" strike="noStrike" spc="-1">
                <a:solidFill>
                  <a:srgbClr val="000000"/>
                </a:solidFill>
                <a:latin typeface="Arial"/>
              </a:rPr>
              <a:t>install.ini</a:t>
            </a:r>
            <a:r>
              <a:rPr lang="en-US" sz="1200" b="0" strike="noStrike" spc="-1">
                <a:solidFill>
                  <a:srgbClr val="000000"/>
                </a:solidFill>
                <a:latin typeface="Arial"/>
              </a:rPr>
              <a:t>’ and remove the comment character (#) in the line containing </a:t>
            </a:r>
            <a:br>
              <a:rPr sz="1200"/>
            </a:br>
            <a:r>
              <a:rPr lang="en-US" sz="1200" b="0" strike="noStrike" spc="-1">
                <a:solidFill>
                  <a:srgbClr val="000000"/>
                </a:solidFill>
                <a:latin typeface="Arial"/>
              </a:rPr>
              <a:t>	</a:t>
            </a:r>
            <a:r>
              <a:rPr lang="en-US" sz="1200" b="1" strike="noStrike" spc="-1">
                <a:solidFill>
                  <a:srgbClr val="000000"/>
                </a:solidFill>
                <a:latin typeface="Courier New"/>
              </a:rPr>
              <a:t>ExecutionMode = install</a:t>
            </a:r>
            <a:endParaRPr lang="en-US" sz="1200" b="0" strike="noStrike" spc="-1">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3.3.1.1492 Official Release</a:t>
            </a:r>
            <a:br>
              <a:rPr sz="2400"/>
            </a:br>
            <a:r>
              <a:rPr lang="en-US" sz="1600" b="1" strike="noStrike" spc="-1">
                <a:solidFill>
                  <a:srgbClr val="990000"/>
                </a:solidFill>
                <a:latin typeface="Arial"/>
              </a:rPr>
              <a:t>2019-02-01</a:t>
            </a:r>
            <a:endParaRPr lang="en-US" sz="1600" b="0" strike="noStrike" spc="-1">
              <a:latin typeface="Arial"/>
            </a:endParaRPr>
          </a:p>
        </p:txBody>
      </p:sp>
      <p:sp>
        <p:nvSpPr>
          <p:cNvPr id="322"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3.3.1.1463-RC)</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[VECTO-845] - Fixing bug for VECTO-840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[VECTO-826] - DistanceRun got an unexpected response: ResponseSpeedLimitExceeded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[VECTO-837] - VECTO GUI displays incorrect cycles prior to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[VECTO-831] - Addition of indication to be added in Help and Release notes for simulations with LNG</a:t>
            </a:r>
            <a:endParaRPr lang="en-US" sz="1400" b="0" strike="noStrike" spc="-1">
              <a:latin typeface="Arial"/>
            </a:endParaRPr>
          </a:p>
        </p:txBody>
      </p:sp>
      <p:sp>
        <p:nvSpPr>
          <p:cNvPr id="323" name="Textfeld 4"/>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 according to 2017/2400 amendments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[VECTO-761] - Adaptation of input XML Schema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[VECTO-762] - Extension of Input Interfaces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[VECTO-763] - Extension of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[VECTO-764] - ADAS benefits (according to Annex III Point 8. of amendment to 2017/2400)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[VECTO-766] - Update power demand auxiliaries (for extended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[VECTO-767] - Report for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[VECTO-768] - VTP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[VECTO-770] - Fuel Types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[VECTO-771] - Handling of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[VECTO-824] - Throw exception for certain combinations of exempted vehicle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[VECTO-773] - Correction Factor for Reference Fuel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[VECTO-790] - Adapt generic data for construction/municipal utility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[VECTO-493] - Implementation of generic body weights and air drag values for construction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[VECTO-565] - Consideration of LNG as possible fuel is missing</a:t>
            </a:r>
            <a:endParaRPr lang="en-US" sz="1400" b="0" strike="noStrike" spc="-1">
              <a:latin typeface="Arial"/>
            </a:endParaRPr>
          </a:p>
        </p:txBody>
      </p:sp>
      <p:sp>
        <p:nvSpPr>
          <p:cNvPr id="32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8" name="PlaceHolder 2"/>
          <p:cNvSpPr>
            <a:spLocks noGrp="1"/>
          </p:cNvSpPr>
          <p:nvPr>
            <p:ph/>
          </p:nvPr>
        </p:nvSpPr>
        <p:spPr>
          <a:xfrm>
            <a:off x="323640" y="1196640"/>
            <a:ext cx="8640360" cy="158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New input parameters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lang="en-US" sz="1400" b="0" strike="noStrike" spc="-1" baseline="30000">
                <a:solidFill>
                  <a:srgbClr val="000000"/>
                </a:solidFill>
                <a:latin typeface="Arial"/>
              </a:rPr>
              <a:t>st</a:t>
            </a:r>
            <a:r>
              <a:rPr lang="en-US" sz="1400" b="0" strike="noStrike" spc="-1">
                <a:solidFill>
                  <a:srgbClr val="000000"/>
                </a:solidFill>
                <a:latin typeface="Arial"/>
              </a:rPr>
              <a:t> July 2019 the new input fields will become mandatory. Further details are provided in the timetable on the next page.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Default values when the new input parameters are not provided:</a:t>
            </a:r>
            <a:endParaRPr lang="en-US" sz="1400" b="0" strike="noStrike" spc="-1">
              <a:latin typeface="Arial"/>
            </a:endParaRPr>
          </a:p>
        </p:txBody>
      </p:sp>
      <p:sp>
        <p:nvSpPr>
          <p:cNvPr id="329"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0" name="Tabelle 4"/>
          <p:cNvGraphicFramePr/>
          <p:nvPr/>
        </p:nvGraphicFramePr>
        <p:xfrm>
          <a:off x="1475640" y="2768760"/>
          <a:ext cx="6021720" cy="2891160"/>
        </p:xfrm>
        <a:graphic>
          <a:graphicData uri="http://schemas.openxmlformats.org/drawingml/2006/table">
            <a:tbl>
              <a:tblPr/>
              <a:tblGrid>
                <a:gridCol w="2092320">
                  <a:extLst>
                    <a:ext uri="{9D8B030D-6E8A-4147-A177-3AD203B41FA5}">
                      <a16:colId xmlns:a16="http://schemas.microsoft.com/office/drawing/2014/main" val="20000"/>
                    </a:ext>
                  </a:extLst>
                </a:gridCol>
                <a:gridCol w="3929760">
                  <a:extLst>
                    <a:ext uri="{9D8B030D-6E8A-4147-A177-3AD203B41FA5}">
                      <a16:colId xmlns:a16="http://schemas.microsoft.com/office/drawing/2014/main" val="20001"/>
                    </a:ext>
                  </a:extLst>
                </a:gridCol>
              </a:tblGrid>
              <a:tr h="183960">
                <a:tc gridSpan="2">
                  <a:txBody>
                    <a:bodyPr/>
                    <a:lstStyle/>
                    <a:p>
                      <a:pPr>
                        <a:lnSpc>
                          <a:spcPct val="115000"/>
                        </a:lnSpc>
                        <a:buNone/>
                      </a:pPr>
                      <a:r>
                        <a:rPr lang="en-GB" sz="1050" b="1" strike="noStrike" spc="-1">
                          <a:solidFill>
                            <a:srgbClr val="FFFFFF"/>
                          </a:solidFill>
                          <a:latin typeface="Arial"/>
                        </a:rPr>
                        <a:t>Input parameters vehicle – Table 1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0"/>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1"/>
                  </a:ext>
                </a:extLst>
              </a:tr>
              <a:tr h="367560">
                <a:tc>
                  <a:txBody>
                    <a:bodyPr/>
                    <a:lstStyle/>
                    <a:p>
                      <a:pPr>
                        <a:lnSpc>
                          <a:spcPct val="115000"/>
                        </a:lnSpc>
                        <a:buNone/>
                      </a:pPr>
                      <a:r>
                        <a:rPr lang="en-GB" sz="1050" b="1" strike="noStrike" spc="-1">
                          <a:solidFill>
                            <a:srgbClr val="FFFFFF"/>
                          </a:solidFill>
                          <a:latin typeface="Arial"/>
                        </a:rPr>
                        <a:t>VehicleCategory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 default value but input 'rigid truck' will be converted automatically into 'rigid lorry'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52800">
                <a:tc>
                  <a:txBody>
                    <a:bodyPr/>
                    <a:lstStyle/>
                    <a:p>
                      <a:pPr>
                        <a:lnSpc>
                          <a:spcPct val="115000"/>
                        </a:lnSpc>
                        <a:buNone/>
                      </a:pPr>
                      <a:r>
                        <a:rPr lang="en-GB" sz="1050" b="1" strike="noStrike" spc="-1">
                          <a:solidFill>
                            <a:srgbClr val="FFFFFF"/>
                          </a:solidFill>
                          <a:latin typeface="Arial"/>
                        </a:rPr>
                        <a:t>ZeroEmissionVehicle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52800">
                <a:tc>
                  <a:txBody>
                    <a:bodyPr/>
                    <a:lstStyle/>
                    <a:p>
                      <a:pPr>
                        <a:lnSpc>
                          <a:spcPct val="115000"/>
                        </a:lnSpc>
                        <a:buNone/>
                      </a:pPr>
                      <a:r>
                        <a:rPr lang="en-GB" sz="1050" b="1" strike="noStrike" spc="-1">
                          <a:solidFill>
                            <a:srgbClr val="FFFFFF"/>
                          </a:solidFill>
                          <a:latin typeface="Arial"/>
                        </a:rPr>
                        <a:t>NgTankSystem</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'Compressed' (only applicable to gas vehicles)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183960">
                <a:tc>
                  <a:txBody>
                    <a:bodyPr/>
                    <a:lstStyle/>
                    <a:p>
                      <a:pPr>
                        <a:lnSpc>
                          <a:spcPct val="115000"/>
                        </a:lnSpc>
                        <a:buNone/>
                      </a:pPr>
                      <a:r>
                        <a:rPr lang="en-GB" sz="1050" b="1" strike="noStrike" spc="-1">
                          <a:solidFill>
                            <a:srgbClr val="FFFFFF"/>
                          </a:solidFill>
                          <a:latin typeface="Arial"/>
                        </a:rPr>
                        <a:t>SleeperCab</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'Yes'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r h="183960">
                <a:tc gridSpan="2">
                  <a:txBody>
                    <a:bodyPr/>
                    <a:lstStyle/>
                    <a:p>
                      <a:pPr>
                        <a:lnSpc>
                          <a:spcPct val="115000"/>
                        </a:lnSpc>
                        <a:buNone/>
                      </a:pPr>
                      <a:r>
                        <a:rPr lang="en-GB" sz="1050" b="1" strike="noStrike" spc="-1">
                          <a:solidFill>
                            <a:srgbClr val="FFFFFF"/>
                          </a:solidFill>
                          <a:latin typeface="Arial"/>
                        </a:rPr>
                        <a:t>Input parameters ADAS – Pt. 8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7"/>
                  </a:ext>
                </a:extLst>
              </a:tr>
              <a:tr h="250560">
                <a:tc>
                  <a:txBody>
                    <a:bodyPr/>
                    <a:lstStyle/>
                    <a:p>
                      <a:pPr>
                        <a:lnSpc>
                          <a:spcPct val="115000"/>
                        </a:lnSpc>
                        <a:buNone/>
                      </a:pPr>
                      <a:r>
                        <a:rPr lang="en-GB" sz="1050" b="1" strike="noStrike" spc="-1">
                          <a:solidFill>
                            <a:srgbClr val="FFFFFF"/>
                          </a:solidFill>
                          <a:latin typeface="Arial"/>
                        </a:rPr>
                        <a:t>EngineStartStop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216000">
                <a:tc>
                  <a:txBody>
                    <a:bodyPr/>
                    <a:lstStyle/>
                    <a:p>
                      <a:pPr>
                        <a:lnSpc>
                          <a:spcPct val="115000"/>
                        </a:lnSpc>
                        <a:buNone/>
                      </a:pPr>
                      <a:r>
                        <a:rPr lang="en-GB" sz="1050" b="1" strike="noStrike" spc="-1">
                          <a:solidFill>
                            <a:srgbClr val="FFFFFF"/>
                          </a:solidFill>
                          <a:latin typeface="Arial"/>
                        </a:rPr>
                        <a:t>EcoRollWithoutEngineStop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9"/>
                  </a:ext>
                </a:extLst>
              </a:tr>
              <a:tr h="216000">
                <a:tc>
                  <a:txBody>
                    <a:bodyPr/>
                    <a:lstStyle/>
                    <a:p>
                      <a:pPr>
                        <a:lnSpc>
                          <a:spcPct val="115000"/>
                        </a:lnSpc>
                        <a:buNone/>
                      </a:pPr>
                      <a:r>
                        <a:rPr lang="en-GB" sz="1050" b="1" strike="noStrike" spc="-1">
                          <a:solidFill>
                            <a:srgbClr val="FFFFFF"/>
                          </a:solidFill>
                          <a:latin typeface="Arial"/>
                        </a:rPr>
                        <a:t>EcoRollWithEngineStop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10"/>
                  </a:ext>
                </a:extLst>
              </a:tr>
              <a:tr h="216000">
                <a:tc>
                  <a:txBody>
                    <a:bodyPr/>
                    <a:lstStyle/>
                    <a:p>
                      <a:pPr>
                        <a:lnSpc>
                          <a:spcPct val="115000"/>
                        </a:lnSpc>
                        <a:buNone/>
                      </a:pPr>
                      <a:r>
                        <a:rPr lang="en-GB" sz="1050" b="1" strike="noStrike" spc="-1">
                          <a:solidFill>
                            <a:srgbClr val="FFFFFF"/>
                          </a:solidFill>
                          <a:latin typeface="Arial"/>
                        </a:rPr>
                        <a:t>PredictiveCruiseControl</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11"/>
                  </a:ext>
                </a:extLst>
              </a:tr>
            </a:tbl>
          </a:graphicData>
        </a:graphic>
      </p:graphicFrame>
      <p:sp>
        <p:nvSpPr>
          <p:cNvPr id="331" name="Inhaltsplatzhalter 2"/>
          <p:cNvSpPr/>
          <p:nvPr/>
        </p:nvSpPr>
        <p:spPr>
          <a:xfrm>
            <a:off x="166320" y="5661360"/>
            <a:ext cx="8640360" cy="935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DejaVu Sans"/>
              </a:rPr>
              <a:t>Currently </a:t>
            </a:r>
            <a:r>
              <a:rPr lang="en-US" sz="1400" b="1" strike="noStrike" spc="-1">
                <a:solidFill>
                  <a:srgbClr val="000000"/>
                </a:solidFill>
                <a:latin typeface="Arial"/>
                <a:ea typeface="DejaVu Sans"/>
              </a:rPr>
              <a:t>only</a:t>
            </a:r>
            <a:r>
              <a:rPr lang="en-US" sz="1400" b="0" strike="noStrike" spc="-1">
                <a:solidFill>
                  <a:srgbClr val="000000"/>
                </a:solidFill>
                <a:latin typeface="Arial"/>
                <a:ea typeface="DejaVu Sans"/>
              </a:rPr>
              <a:t> the fuel type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for the </a:t>
            </a:r>
            <a:r>
              <a:rPr lang="en-US" sz="1400" b="1" strike="noStrike" spc="-1">
                <a:solidFill>
                  <a:srgbClr val="000000"/>
                </a:solidFill>
                <a:latin typeface="Arial"/>
                <a:ea typeface="DejaVu Sans"/>
              </a:rPr>
              <a:t>engine certification </a:t>
            </a:r>
            <a:r>
              <a:rPr lang="en-US" sz="1400" b="0" strike="noStrike" spc="-1">
                <a:solidFill>
                  <a:srgbClr val="000000"/>
                </a:solidFill>
                <a:latin typeface="Arial"/>
                <a:ea typeface="DejaVu Sans"/>
              </a:rPr>
              <a:t>is allowed by 2017/2400. For LNG vehicles, therefore, the engine fuel type has to be set to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and at the vehicle level NgTankSystem has to be set to </a:t>
            </a:r>
            <a:r>
              <a:rPr lang="en-US" sz="1400" b="1" strike="noStrike" spc="-1">
                <a:solidFill>
                  <a:srgbClr val="000000"/>
                </a:solidFill>
                <a:latin typeface="Arial"/>
                <a:ea typeface="DejaVu Sans"/>
              </a:rPr>
              <a:t>liquefied</a:t>
            </a:r>
            <a:r>
              <a:rPr lang="en-US" sz="1400" b="0" strike="noStrike" spc="-1">
                <a:solidFill>
                  <a:srgbClr val="000000"/>
                </a:solidFill>
                <a:latin typeface="Arial"/>
                <a:ea typeface="DejaVu Sans"/>
              </a:rPr>
              <a:t>. For CNG the same engine fuel type is used but NgTankSystem has to be set to </a:t>
            </a:r>
            <a:r>
              <a:rPr lang="en-US" sz="1400" b="1" strike="noStrike" spc="-1">
                <a:solidFill>
                  <a:srgbClr val="000000"/>
                </a:solidFill>
                <a:latin typeface="Arial"/>
                <a:ea typeface="DejaVu Sans"/>
              </a:rPr>
              <a:t>compressed</a:t>
            </a:r>
            <a:r>
              <a:rPr lang="en-US" sz="1400" b="0" strike="noStrike" spc="-1">
                <a:solidFill>
                  <a:srgbClr val="000000"/>
                </a:solidFill>
                <a:latin typeface="Arial"/>
                <a:ea typeface="DejaVu Sans"/>
              </a:rPr>
              <a:t>.</a:t>
            </a:r>
            <a:endParaRPr lang="en-US" sz="1400" b="0" strike="noStrike" spc="-1">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3" name="PlaceHolder 2"/>
          <p:cNvSpPr>
            <a:spLocks noGrp="1"/>
          </p:cNvSpPr>
          <p:nvPr>
            <p:ph/>
          </p:nvPr>
        </p:nvSpPr>
        <p:spPr>
          <a:xfrm>
            <a:off x="323640" y="1628640"/>
            <a:ext cx="8640360" cy="158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Timetable</a:t>
            </a:r>
            <a:endParaRPr lang="en-US" sz="1800" b="0" strike="noStrike" spc="-1">
              <a:latin typeface="Arial"/>
            </a:endParaRPr>
          </a:p>
        </p:txBody>
      </p:sp>
      <p:sp>
        <p:nvSpPr>
          <p:cNvPr id="334"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5" name="Tabelle 5"/>
          <p:cNvGraphicFramePr/>
          <p:nvPr/>
        </p:nvGraphicFramePr>
        <p:xfrm>
          <a:off x="899640" y="2100600"/>
          <a:ext cx="7786440" cy="2763720"/>
        </p:xfrm>
        <a:graphic>
          <a:graphicData uri="http://schemas.openxmlformats.org/drawingml/2006/table">
            <a:tbl>
              <a:tblPr/>
              <a:tblGrid>
                <a:gridCol w="1800000">
                  <a:extLst>
                    <a:ext uri="{9D8B030D-6E8A-4147-A177-3AD203B41FA5}">
                      <a16:colId xmlns:a16="http://schemas.microsoft.com/office/drawing/2014/main" val="20000"/>
                    </a:ext>
                  </a:extLst>
                </a:gridCol>
                <a:gridCol w="1512000">
                  <a:extLst>
                    <a:ext uri="{9D8B030D-6E8A-4147-A177-3AD203B41FA5}">
                      <a16:colId xmlns:a16="http://schemas.microsoft.com/office/drawing/2014/main" val="20001"/>
                    </a:ext>
                  </a:extLst>
                </a:gridCol>
                <a:gridCol w="4474800">
                  <a:extLst>
                    <a:ext uri="{9D8B030D-6E8A-4147-A177-3AD203B41FA5}">
                      <a16:colId xmlns:a16="http://schemas.microsoft.com/office/drawing/2014/main" val="20002"/>
                    </a:ext>
                  </a:extLst>
                </a:gridCol>
              </a:tblGrid>
              <a:tr h="370800">
                <a:tc>
                  <a:txBody>
                    <a:bodyPr/>
                    <a:lstStyle/>
                    <a:p>
                      <a:pPr>
                        <a:lnSpc>
                          <a:spcPct val="100000"/>
                        </a:lnSpc>
                        <a:buNone/>
                      </a:pPr>
                      <a:r>
                        <a:rPr lang="en-US" sz="1800" b="1" strike="noStrike" spc="-1">
                          <a:solidFill>
                            <a:srgbClr val="FFFFFF"/>
                          </a:solidFill>
                          <a:latin typeface="Arial"/>
                        </a:rPr>
                        <a:t>Planned Date</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Version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Description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640440">
                <a:tc>
                  <a:txBody>
                    <a:bodyPr/>
                    <a:lstStyle/>
                    <a:p>
                      <a:pPr>
                        <a:lnSpc>
                          <a:spcPct val="100000"/>
                        </a:lnSpc>
                        <a:buNone/>
                      </a:pPr>
                      <a:r>
                        <a:rPr lang="en-US" sz="1800" b="0" strike="noStrike" spc="-1">
                          <a:solidFill>
                            <a:srgbClr val="000000"/>
                          </a:solidFill>
                          <a:latin typeface="Arial"/>
                        </a:rPr>
                        <a:t>1. Feb. 2019</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3.3.1.x</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Release of official version of release candidate 3.3.1.1463</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40440">
                <a:tc>
                  <a:txBody>
                    <a:bodyPr/>
                    <a:lstStyle/>
                    <a:p>
                      <a:pPr>
                        <a:lnSpc>
                          <a:spcPct val="100000"/>
                        </a:lnSpc>
                        <a:buNone/>
                      </a:pPr>
                      <a:r>
                        <a:rPr lang="en-US" sz="1800" b="0" strike="noStrike" spc="-1">
                          <a:solidFill>
                            <a:srgbClr val="000000"/>
                          </a:solidFill>
                          <a:latin typeface="Arial"/>
                        </a:rPr>
                        <a:t>1. March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3.3.2.x-RC</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Release candidate, new input parameters are mandatory (+ further bugfixes)</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en-US" sz="1800" b="0" strike="noStrike" spc="-1">
                          <a:solidFill>
                            <a:srgbClr val="000000"/>
                          </a:solidFill>
                          <a:latin typeface="Arial"/>
                        </a:rPr>
                        <a:t>1. April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3.3.2.x</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Official version of VECTO 3.3.2</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en-US" sz="1800" b="0" strike="noStrike" spc="-1">
                          <a:solidFill>
                            <a:srgbClr val="000000"/>
                          </a:solidFill>
                          <a:latin typeface="Arial"/>
                        </a:rPr>
                        <a:t>1. May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Mandatory use of 3.3.1.x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70800">
                <a:tc>
                  <a:txBody>
                    <a:bodyPr/>
                    <a:lstStyle/>
                    <a:p>
                      <a:pPr>
                        <a:lnSpc>
                          <a:spcPct val="100000"/>
                        </a:lnSpc>
                        <a:buNone/>
                      </a:pPr>
                      <a:r>
                        <a:rPr lang="en-US" sz="1800" b="0" strike="noStrike" spc="-1">
                          <a:solidFill>
                            <a:srgbClr val="000000"/>
                          </a:solidFill>
                          <a:latin typeface="Arial"/>
                        </a:rPr>
                        <a:t>1. July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Mandatory use of 3.3.2.x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Changes/Improvements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[VECTO-799] - Remove TUG Logos from Simulation Tool,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[VECTO-808] - Add Monitoring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[VECTO-754] - Extending Loss-Maps in case of AT gearbox for each gear, axlegear, gearbox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[VECTO-779] - Update Construction Cycle - shorter stop times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[VECTO-783] - Rename columns in segmentation table and GUI</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[VECTO-709] - VTP editor from user manual not matching new VECTO one: updated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[VECTO-785] - Handling of Vehicles that cannot reach the cycle's target speed: Limit max speed in driver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[VECTO-716] - Validate data in Settings Tab: update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[VECTO-793] - Inconsistency between GUI, Help and Regulation: update wording in GUI and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[VECTO-796] - Adaptation of FuelProperties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[VECTO-806] - extend loss-maps (gbx, axl, angl) for MT and AMT transmissions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[VECTO-750] - Simulation error DrivingAction: adapt downshift rules for AT to drive over hill with 6% inclination</a:t>
            </a: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p:txBody>
      </p:sp>
      <p:sp>
        <p:nvSpPr>
          <p:cNvPr id="338"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0" name="PlaceHolder 2"/>
          <p:cNvSpPr>
            <a:spLocks noGrp="1"/>
          </p:cNvSpPr>
          <p:nvPr>
            <p:ph/>
          </p:nvPr>
        </p:nvSpPr>
        <p:spPr>
          <a:xfrm>
            <a:off x="323640" y="1628640"/>
            <a:ext cx="8640360" cy="50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Update of Fuel Properties [VECTO-796]</a:t>
            </a:r>
            <a:endParaRPr lang="en-US" sz="1800" b="0" strike="noStrike" spc="-1">
              <a:latin typeface="Arial"/>
            </a:endParaRPr>
          </a:p>
        </p:txBody>
      </p:sp>
      <p:sp>
        <p:nvSpPr>
          <p:cNvPr id="341"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42" name="Tabelle 4"/>
          <p:cNvGraphicFramePr/>
          <p:nvPr/>
        </p:nvGraphicFramePr>
        <p:xfrm>
          <a:off x="468360" y="2606400"/>
          <a:ext cx="8217720" cy="2148840"/>
        </p:xfrm>
        <a:graphic>
          <a:graphicData uri="http://schemas.openxmlformats.org/drawingml/2006/table">
            <a:tbl>
              <a:tblPr/>
              <a:tblGrid>
                <a:gridCol w="947160">
                  <a:extLst>
                    <a:ext uri="{9D8B030D-6E8A-4147-A177-3AD203B41FA5}">
                      <a16:colId xmlns:a16="http://schemas.microsoft.com/office/drawing/2014/main" val="20000"/>
                    </a:ext>
                  </a:extLst>
                </a:gridCol>
                <a:gridCol w="1369440">
                  <a:extLst>
                    <a:ext uri="{9D8B030D-6E8A-4147-A177-3AD203B41FA5}">
                      <a16:colId xmlns:a16="http://schemas.microsoft.com/office/drawing/2014/main" val="20001"/>
                    </a:ext>
                  </a:extLst>
                </a:gridCol>
                <a:gridCol w="947160">
                  <a:extLst>
                    <a:ext uri="{9D8B030D-6E8A-4147-A177-3AD203B41FA5}">
                      <a16:colId xmlns:a16="http://schemas.microsoft.com/office/drawing/2014/main" val="20002"/>
                    </a:ext>
                  </a:extLst>
                </a:gridCol>
                <a:gridCol w="947160">
                  <a:extLst>
                    <a:ext uri="{9D8B030D-6E8A-4147-A177-3AD203B41FA5}">
                      <a16:colId xmlns:a16="http://schemas.microsoft.com/office/drawing/2014/main" val="20003"/>
                    </a:ext>
                  </a:extLst>
                </a:gridCol>
                <a:gridCol w="947160">
                  <a:extLst>
                    <a:ext uri="{9D8B030D-6E8A-4147-A177-3AD203B41FA5}">
                      <a16:colId xmlns:a16="http://schemas.microsoft.com/office/drawing/2014/main" val="20004"/>
                    </a:ext>
                  </a:extLst>
                </a:gridCol>
                <a:gridCol w="3060000">
                  <a:extLst>
                    <a:ext uri="{9D8B030D-6E8A-4147-A177-3AD203B41FA5}">
                      <a16:colId xmlns:a16="http://schemas.microsoft.com/office/drawing/2014/main" val="20005"/>
                    </a:ext>
                  </a:extLst>
                </a:gridCol>
              </a:tblGrid>
              <a:tr h="342360">
                <a:tc>
                  <a:txBody>
                    <a:bodyPr/>
                    <a:lstStyle/>
                    <a:p>
                      <a:pPr algn="ctr">
                        <a:lnSpc>
                          <a:spcPct val="100000"/>
                        </a:lnSpc>
                        <a:buNone/>
                      </a:pPr>
                      <a:r>
                        <a:rPr lang="de-AT" sz="1000" b="0" strike="noStrike" spc="-1">
                          <a:solidFill>
                            <a:srgbClr val="000000"/>
                          </a:solidFill>
                          <a:latin typeface="Arial"/>
                        </a:rPr>
                        <a:t>Fuel type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Reference for fuel properties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Density</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CO2 emission factor</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Lower Heating Value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Data Source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0"/>
                  </a:ext>
                </a:extLst>
              </a:tr>
              <a:tr h="171000">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[kg/m³]</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[g_CO2/g_Fuel]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[MJ/kg]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1"/>
                  </a:ext>
                </a:extLst>
              </a:tr>
              <a:tr h="171000">
                <a:tc>
                  <a:txBody>
                    <a:bodyPr/>
                    <a:lstStyle/>
                    <a:p>
                      <a:pPr>
                        <a:lnSpc>
                          <a:spcPct val="100000"/>
                        </a:lnSpc>
                        <a:buNone/>
                      </a:pPr>
                      <a:r>
                        <a:rPr lang="de-AT" sz="1000" b="0" strike="noStrike" spc="-1">
                          <a:solidFill>
                            <a:srgbClr val="000000"/>
                          </a:solidFill>
                          <a:latin typeface="Arial"/>
                        </a:rPr>
                        <a:t>Diesel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B7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836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3.13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42.7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 </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171000">
                <a:tc>
                  <a:txBody>
                    <a:bodyPr/>
                    <a:lstStyle/>
                    <a:p>
                      <a:pP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820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1.81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25.4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3"/>
                  </a:ext>
                </a:extLst>
              </a:tr>
              <a:tr h="171000">
                <a:tc>
                  <a:txBody>
                    <a:bodyPr/>
                    <a:lstStyle/>
                    <a:p>
                      <a:pPr>
                        <a:lnSpc>
                          <a:spcPct val="100000"/>
                        </a:lnSpc>
                        <a:buNone/>
                      </a:pPr>
                      <a:r>
                        <a:rPr lang="de-AT" sz="1000" b="0" strike="noStrike" spc="-1">
                          <a:solidFill>
                            <a:srgbClr val="000000"/>
                          </a:solidFill>
                          <a:latin typeface="Arial"/>
                        </a:rPr>
                        <a:t>Petrol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748</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41.5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04920">
                <a:tc>
                  <a:txBody>
                    <a:bodyPr/>
                    <a:lstStyle/>
                    <a:p>
                      <a:pP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786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29.3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000" b="0" strike="noStrike" spc="-1">
                          <a:solidFill>
                            <a:srgbClr val="000000"/>
                          </a:solidFill>
                          <a:latin typeface="Arial"/>
                        </a:rPr>
                        <a:t>Calculated from E0 and E100  from 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5"/>
                  </a:ext>
                </a:extLst>
              </a:tr>
              <a:tr h="171000">
                <a:tc>
                  <a:txBody>
                    <a:bodyPr/>
                    <a:lstStyle/>
                    <a:p>
                      <a:pP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3.02</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46.0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6"/>
                  </a:ext>
                </a:extLst>
              </a:tr>
              <a:tr h="171000">
                <a:tc>
                  <a:txBody>
                    <a:bodyPr/>
                    <a:lstStyle/>
                    <a:p>
                      <a:pPr>
                        <a:lnSpc>
                          <a:spcPct val="100000"/>
                        </a:lnSpc>
                        <a:buNone/>
                      </a:pPr>
                      <a:r>
                        <a:rPr lang="de-AT" sz="1000" b="0" strike="noStrike" spc="-1">
                          <a:solidFill>
                            <a:srgbClr val="000000"/>
                          </a:solidFill>
                          <a:latin typeface="Arial"/>
                        </a:rPr>
                        <a:t>CNG</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CNG (H-Gas)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2.69</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48.0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7"/>
                  </a:ext>
                </a:extLst>
              </a:tr>
              <a:tr h="304920">
                <a:tc>
                  <a:txBody>
                    <a:bodyPr/>
                    <a:lstStyle/>
                    <a:p>
                      <a:pPr>
                        <a:lnSpc>
                          <a:spcPct val="100000"/>
                        </a:lnSpc>
                        <a:buNone/>
                      </a:pPr>
                      <a:r>
                        <a:rPr lang="de-AT" sz="1000" b="0" strike="noStrike" spc="-1">
                          <a:solidFill>
                            <a:srgbClr val="000000"/>
                          </a:solidFill>
                          <a:latin typeface="Arial"/>
                        </a:rPr>
                        <a:t>LNG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LNG (EU mix. 2016/2030)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2.77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49.1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171000">
                <a:tc gridSpan="4">
                  <a:txBody>
                    <a:bodyPr/>
                    <a:lstStyle/>
                    <a:p>
                      <a:pPr>
                        <a:lnSpc>
                          <a:spcPct val="100000"/>
                        </a:lnSpc>
                        <a:buNone/>
                      </a:pPr>
                      <a:r>
                        <a:rPr lang="en-US" sz="1000" b="0" strike="noStrike" spc="-1">
                          <a:solidFill>
                            <a:srgbClr val="000000"/>
                          </a:solidFill>
                          <a:latin typeface="Arial"/>
                        </a:rPr>
                        <a:t>* VECTO does not provide volume based figures for gaseous fuels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9"/>
                  </a:ext>
                </a:extLst>
              </a:tr>
            </a:tbl>
          </a:graphicData>
        </a:graphic>
      </p:graphicFrame>
      <p:sp>
        <p:nvSpPr>
          <p:cNvPr id="343" name="Rectangle 3"/>
          <p:cNvSpPr/>
          <p:nvPr/>
        </p:nvSpPr>
        <p:spPr>
          <a:xfrm>
            <a:off x="396000" y="5153040"/>
            <a:ext cx="8142120" cy="570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spAutoFit/>
          </a:bodyPr>
          <a:lstStyle/>
          <a:p>
            <a:pPr marL="357120" indent="-357120">
              <a:lnSpc>
                <a:spcPct val="100000"/>
              </a:lnSpc>
              <a:buNone/>
              <a:tabLst>
                <a:tab pos="0" algn="l"/>
              </a:tabLst>
            </a:pPr>
            <a:r>
              <a:rPr lang="de-AT" sz="1050" b="0" strike="noStrike" spc="-1">
                <a:solidFill>
                  <a:srgbClr val="000000"/>
                </a:solidFill>
                <a:latin typeface="Arial"/>
                <a:ea typeface="DejaVu Sans"/>
              </a:rPr>
              <a:t>CONCAWE/JEC (2018): </a:t>
            </a:r>
            <a:r>
              <a:rPr lang="en-GB" sz="1050" b="0" strike="noStrike" spc="-1">
                <a:solidFill>
                  <a:srgbClr val="000000"/>
                </a:solidFill>
                <a:latin typeface="Arial"/>
                <a:ea typeface="DejaVu Sans"/>
              </a:rPr>
              <a:t>Specifications are based on a recent analysis (2018) performed by CONCAWE/EUCAR and shall reflect typical fuel on the European market. The data is scheduled to be published in March 2019 in the context of the study: </a:t>
            </a:r>
            <a:br>
              <a:rPr sz="1050"/>
            </a:br>
            <a:r>
              <a:rPr lang="en-GB" sz="1050" b="0" strike="noStrike" spc="-1">
                <a:solidFill>
                  <a:srgbClr val="000000"/>
                </a:solidFill>
                <a:latin typeface="Arial"/>
                <a:ea typeface="DejaVu Sans"/>
              </a:rPr>
              <a:t>Well-To-Wheels Analysis Of Future Automotive Fuels And Powertrains in the European Context – Heavy Duty vehicles</a:t>
            </a:r>
            <a:endParaRPr lang="en-US" sz="1050" b="0" strike="noStrike" spc="-1">
              <a:latin typeface="Arial"/>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[VECTO-819] -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[VECTO-818] - SearchOperatingPoint: Unknown response type.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[VECTO-813] - Error "Infinity [] is not allowed for SI-Value"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[VECTO-769] - DrivingAction Brake: request failed after braking power was found.ResponseEngineSpeedTooHigh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[VECTO-804] - Error on simulation with VECTO 3.3.0.1433</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[VECTO-805] - Total vehicle mass exceeds TPMLM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[VECTO-811] - AMT: ResponseGearShift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[VECTO-812] - AMT: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[VECTO-822] - SIMULATION RUN ABORTED by Infinity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[VECTO-792] - Vecto Hashing Tool - error object reference not set to an instance of an object (overwriting Date element)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[VECTO-696] - Problem with Primary Retarder: regression update, set torque loss to 0 for 0 speed and engaged gear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[VECTO-776] - Decision Factor (DF)  field is emptied after each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[VECTO-814] - Error: DistanceRun got an unexpected response: ResponseGearshift</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3.3.0.1433 Official Release</a:t>
            </a:r>
            <a:br>
              <a:rPr sz="2400"/>
            </a:br>
            <a:r>
              <a:rPr lang="en-US" sz="1600" b="1" strike="noStrike" spc="-1">
                <a:solidFill>
                  <a:srgbClr val="990000"/>
                </a:solidFill>
                <a:latin typeface="Arial"/>
              </a:rPr>
              <a:t>2018-12-04</a:t>
            </a:r>
            <a:endParaRPr lang="en-US" sz="1600" b="0" strike="noStrike" spc="-1">
              <a:latin typeface="Arial"/>
            </a:endParaRPr>
          </a:p>
        </p:txBody>
      </p:sp>
      <p:sp>
        <p:nvSpPr>
          <p:cNvPr id="34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3.3.0.1398)</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[VECTO-795] – VECTO Hashing 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[VECTO-802] – Error in XML schema for manufacturer's record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3.3.0.1398 Release Candiate</a:t>
            </a:r>
            <a:br>
              <a:rPr sz="2400"/>
            </a:br>
            <a:r>
              <a:rPr lang="en-US" sz="1600" b="1" strike="noStrike" spc="-1">
                <a:solidFill>
                  <a:srgbClr val="990000"/>
                </a:solidFill>
                <a:latin typeface="Arial"/>
              </a:rPr>
              <a:t>2018-10-30</a:t>
            </a:r>
            <a:endParaRPr lang="en-US" sz="1600" b="0" strike="noStrike" spc="-1">
              <a:latin typeface="Arial"/>
            </a:endParaRPr>
          </a:p>
        </p:txBody>
      </p:sp>
      <p:sp>
        <p:nvSpPr>
          <p:cNvPr id="34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[VECTO-665] - Adding style information to XML Reports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[VECTO-669] - Group 1 vehicle comprises vehicles with gross vehicle weight &gt; 7.5t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[VECTO-672] - Keep manual choice for "Validate data"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[VECTO-682] - VTP Simulation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[VECTO-652] - VTP: Check Cycle matches simulation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[VECTO-683] - VTP: Quality and plausibility checks for recorded data from VTP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[VECTO-685] - VTP Programming of standard VECTO VTP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[VECTO-689] - Additional Tyre sizes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[VECTO-702] - Hashing tool: adapt warnings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[VECTO-667] - Removing NCV Correction Factor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[VECTO-679] - Engine n95h computation gives wrong (too high) engine speed (above measured FLD, n70h)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[VECTO-693] - extend vehicle performance in manufacturer record</a:t>
            </a:r>
            <a:endParaRPr lang="en-US" sz="1400" b="0" strike="noStrike" spc="-1">
              <a:latin typeface="Aria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[VECTO-656] - Distance computation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[VECTO-666] - CF_RegPer no effect in vehicle simulation -- added to the engine correction factors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[VECTO-687] - Saving a Engine-Only Job is not possible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[VECTO-695] - Bug in vectocmd.exe - process does not terminate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[VECTO-699] - Output in manufacturer report and customer report (VECTO) uses different units than described in legislation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[VECTO-700] - errorr in simulation with 0 stop time at the beginning of the cycle </a:t>
            </a:r>
            <a:endParaRPr lang="en-US" sz="1400" b="0" strike="noStrike" spc="-1">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3.2.1.1133</a:t>
            </a:r>
            <a:br>
              <a:rPr sz="2400"/>
            </a:br>
            <a:r>
              <a:rPr lang="en-US" sz="1600" b="1" strike="noStrike" spc="-1">
                <a:solidFill>
                  <a:srgbClr val="990000"/>
                </a:solidFill>
                <a:latin typeface="Arial"/>
              </a:rPr>
              <a:t>2018-02-07</a:t>
            </a:r>
            <a:endParaRPr lang="en-US" sz="1600" b="0" strike="noStrike" spc="-1">
              <a:latin typeface="Arial"/>
            </a:endParaRPr>
          </a:p>
        </p:txBody>
      </p:sp>
      <p:sp>
        <p:nvSpPr>
          <p:cNvPr id="35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[VECTO-634] - VTP Mode: specific fuel consumption</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[VECTO-642] - VECTO BUG – secondary retarder losses: </a:t>
            </a:r>
            <a:br>
              <a:rPr sz="1400"/>
            </a:br>
            <a:r>
              <a:rPr lang="en-US" sz="1400" b="1" strike="noStrike" spc="-1">
                <a:solidFill>
                  <a:srgbClr val="000000"/>
                </a:solidFill>
                <a:latin typeface="Arial"/>
              </a:rPr>
              <a:t>IMPORTANT:</a:t>
            </a:r>
            <a:r>
              <a:rPr lang="en-US" sz="1400" b="0" strike="noStrike" spc="-1">
                <a:solidFill>
                  <a:srgbClr val="000000"/>
                </a:solidFill>
                <a:latin typeface="Arial"/>
              </a:rPr>
              <a:t> Fuel-consumption relevant bug! wrong calculation of retarder losses for retarder ratio not equal to 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[VECTO-624] - Crash w/o comment: Infinite recursion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[VECTO-627] - Cannot open Engine-Only Job</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[VECTO-629] - Vecto crashes without errror message (same issue as VECTO-624)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[VECTO-639] - Failed to find operating point for braking power: cycle with low target speed (3km/h). allow driving with slipping clutch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[VECTO-640] - Exceeded max. iterations: driving fully-loaded vehicle steep uphill. fixed by allowing full-stop and drive off again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[VECTO-633] - unable to start VTP Mode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[VECTO-645] - Encountered error while validating Vecto output (generated by API) through Hashing tool for vehicle without retarder</a:t>
            </a:r>
            <a:endParaRPr lang="en-US" sz="1400" b="0" strike="noStrike" spc="-1">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3.2.1.1079</a:t>
            </a:r>
            <a:br>
              <a:rPr sz="2400"/>
            </a:br>
            <a:r>
              <a:rPr lang="en-US" sz="1600" b="1" strike="noStrike" spc="-1">
                <a:solidFill>
                  <a:srgbClr val="990000"/>
                </a:solidFill>
                <a:latin typeface="Arial"/>
              </a:rPr>
              <a:t>2017-12-15</a:t>
            </a:r>
            <a:endParaRPr lang="en-US" sz="1600" b="0" strike="noStrike" spc="-1">
              <a:latin typeface="Arial"/>
            </a:endParaRPr>
          </a:p>
        </p:txBody>
      </p:sp>
      <p:sp>
        <p:nvSpPr>
          <p:cNvPr id="35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[VECTO-618] - Add Hash value of tyres to manufacturer's record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[VECTO-590] - Handling of hash values: customer's record contains hash of manufacturer's record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[VECTO-612] - Continuously changing hashes: Info in GUI of HashingTool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[VECTO-560] - Change Mail-Address of general VECTO contact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[VECTO-616] - SI-Unit - display derived unit instead of base units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[VECTO-608] - Power balance in EPT-mode not closed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 [VECTO-611] - Invalid input. Cannot cast Newtonsoft.Json.Linq.JObject to Newtonsoft.Json.Linq.Jtoken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[VECTO-610] - TyreCertificationNumber missing in Manufacturer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[VECTO-613] - Incomplete description of allowed values of LegislativeClass (p251) in VECTO parameter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[VECTO-625] - Update XML Schema: Tyre dimensions according to Technicall Annex, trailing spaces in enums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Support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 </a:t>
            </a:r>
            <a:r>
              <a:rPr lang="en-US" sz="1400" b="0" strike="noStrike" spc="-1">
                <a:solidFill>
                  <a:srgbClr val="000000"/>
                </a:solidFill>
                <a:latin typeface="Arial"/>
              </a:rPr>
              <a:t>[VECTO-615] - Error torque interpolation in declaration jobs exported to XMLImprovements</a:t>
            </a:r>
            <a:endParaRPr lang="en-US" sz="1400" b="0" strike="noStrike" spc="-1">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3.2.1.1054</a:t>
            </a:r>
            <a:br>
              <a:rPr sz="2400"/>
            </a:br>
            <a:r>
              <a:rPr lang="en-US" sz="1600" b="1" strike="noStrike" spc="-1">
                <a:solidFill>
                  <a:srgbClr val="990000"/>
                </a:solidFill>
                <a:latin typeface="Arial"/>
              </a:rPr>
              <a:t>2017-11-20</a:t>
            </a:r>
            <a:endParaRPr lang="en-US" sz="1600" b="0" strike="noStrike" spc="-1">
              <a:latin typeface="Arial"/>
            </a:endParaRPr>
          </a:p>
        </p:txBody>
      </p:sp>
      <p:sp>
        <p:nvSpPr>
          <p:cNvPr id="35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[VECTO-592] - VTP Simulation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[VECTO-605] - Improve simulation speed</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[VECTO-602] - Error in simulation without airdrag component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[VECTO-589] - Scheme .xml error</a:t>
            </a:r>
            <a:endParaRPr lang="en-US" sz="1400" b="0" strike="noStrike" spc="-1">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468360" y="476640"/>
            <a:ext cx="8217720" cy="575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VTP Simulation Mode</a:t>
            </a:r>
            <a:endParaRPr lang="en-US" sz="2400" b="0" strike="noStrike" spc="-1">
              <a:latin typeface="Arial"/>
            </a:endParaRPr>
          </a:p>
        </p:txBody>
      </p:sp>
      <p:sp>
        <p:nvSpPr>
          <p:cNvPr id="361" name="PlaceHolder 2"/>
          <p:cNvSpPr>
            <a:spLocks noGrp="1"/>
          </p:cNvSpPr>
          <p:nvPr>
            <p:ph/>
          </p:nvPr>
        </p:nvSpPr>
        <p:spPr>
          <a:xfrm>
            <a:off x="468360" y="1196640"/>
            <a:ext cx="821772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Verification Test Procedure (VTP) Simulation Mode</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Similar to Pwheel mode, different cycle format (see user manual)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Requires:</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Vehicle in declaration mode (XML)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Measured driving cycle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Parameters for engine-fan model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 calculates the gear based on the wheel speed and engine speed (and vehicle parameters) and ignores the gear provided in the driving cycle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Fuel consumption interpolation is done using the engine speed from the cycle and calculated power demand (to avoid wrong engine speeds due to wrong gear selection)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Simulation uses all auxiliaries except engine fan</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Engine fan is modeled separately, power demand depends on fan speed (see user manual)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Auxiliary power selected according to segment table, BUT power demand depends on vehicle speed</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&lt; 50 km/h: Urban</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50 &lt;= v &lt; 70 km/h: Rural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&gt;70 km/h: Long haul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Gear and fuel consumption in the driving cycle are optional for now, may be used in future versions</a:t>
            </a:r>
            <a:endParaRPr lang="en-US" sz="1600" b="0" strike="noStrike" spc="-1">
              <a:latin typeface="Aria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3.2.0.1022</a:t>
            </a:r>
            <a:br>
              <a:rPr sz="2400"/>
            </a:br>
            <a:r>
              <a:rPr lang="en-US" sz="1600" b="1" strike="noStrike" spc="-1">
                <a:solidFill>
                  <a:srgbClr val="990000"/>
                </a:solidFill>
                <a:latin typeface="Arial"/>
              </a:rPr>
              <a:t>2017-10-19</a:t>
            </a:r>
            <a:endParaRPr lang="en-US" sz="1600" b="0" strike="noStrike" spc="-1">
              <a:latin typeface="Arial"/>
            </a:endParaRPr>
          </a:p>
        </p:txBody>
      </p:sp>
      <p:sp>
        <p:nvSpPr>
          <p:cNvPr id="36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[VECTO-585, VECTO-587] – VECTO Simulation aborts when run as WCF Service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[VECTO-586] – Gearshiftcout in reports too high</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Use of old library references .net framework 2.0</a:t>
            </a:r>
            <a:endParaRPr lang="en-US" sz="1400" b="0" strike="noStrike" spc="-1">
              <a:latin typeface="Arial"/>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3.2.0.1005</a:t>
            </a:r>
            <a:br>
              <a:rPr sz="2400"/>
            </a:br>
            <a:r>
              <a:rPr lang="en-US" sz="1600" b="1" strike="noStrike" spc="-1">
                <a:solidFill>
                  <a:srgbClr val="990000"/>
                </a:solidFill>
                <a:latin typeface="Arial"/>
              </a:rPr>
              <a:t>2017-10-02</a:t>
            </a:r>
            <a:endParaRPr lang="en-US" sz="1600" b="0" strike="noStrike" spc="-1">
              <a:latin typeface="Arial"/>
            </a:endParaRPr>
          </a:p>
        </p:txBody>
      </p:sp>
      <p:sp>
        <p:nvSpPr>
          <p:cNvPr id="36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1" strike="noStrike" spc="-1">
                <a:solidFill>
                  <a:srgbClr val="000000"/>
                </a:solidFill>
                <a:latin typeface="Arial"/>
              </a:rPr>
              <a:t>Release of Vecto Hashing Tool</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[VECTO-557] Engine speed simulated too high during long stops</a:t>
            </a:r>
            <a:endParaRPr lang="en-US" sz="1400" b="0" strike="noStrike" spc="-1">
              <a:latin typeface="Arial"/>
            </a:endParaRPr>
          </a:p>
          <a:p>
            <a:pPr>
              <a:lnSpc>
                <a:spcPct val="100000"/>
              </a:lnSpc>
              <a:spcBef>
                <a:spcPts val="320"/>
              </a:spcBef>
              <a:buNone/>
              <a:tabLst>
                <a:tab pos="0" algn="l"/>
              </a:tabLst>
            </a:pPr>
            <a:endParaRPr lang="en-US" sz="16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[VECTO-569] - ‘Engine Retarder’ not correctly recognized as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[VECTO-571] - Customer Report – wrong output format of average RRC</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Correction of displayed units in graph window</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[VECTO-575] - Correction of simulation aborts (due to gearbox inertia,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[VECTO-577] - Correction of XML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[VECTO-579] - Bug fix GUI crashes on invalid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[VECTO-558] - Correction of output in .vsum file – BFColdHot always 0</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[VECTO-564] - Bug fix: correct output of vehicle group in XML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[VECTO-566] - Vehicle height not correctly read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[VECTO-545] - Update documentation on Settings dialog</a:t>
            </a:r>
            <a:endParaRPr lang="en-US" sz="1400" b="0" strike="noStrike" spc="-1">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3.2.0.940</a:t>
            </a:r>
            <a:br>
              <a:rPr sz="2400"/>
            </a:br>
            <a:r>
              <a:rPr lang="en-US" sz="1600" b="1" strike="noStrike" spc="-1">
                <a:solidFill>
                  <a:srgbClr val="990000"/>
                </a:solidFill>
                <a:latin typeface="Arial"/>
              </a:rPr>
              <a:t>2017-07-28</a:t>
            </a:r>
            <a:endParaRPr lang="en-US" sz="1600" b="0" strike="noStrike" spc="-1">
              <a:latin typeface="Arial"/>
            </a:endParaRPr>
          </a:p>
        </p:txBody>
      </p:sp>
      <p:sp>
        <p:nvSpPr>
          <p:cNvPr id="36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[VECTO-546] - GearboxCertificationOptionType Option 2 not accepted by VECTO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[VECTO-547] - Engine Manufacturer and Engine Model are empty in .vsum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[VECTO-548] - online user manual</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[VECTO-549] - Inconsistent (and wrong) decimal separator in XML output (manufacturer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[VECTO-551] - Average Tyre RRC not in Customer Information File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[VECTO-536] - GUI: improvements vehicle dialog (add missing pictures for vehicle categories)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[VECTO-550] - Allow custom settings for AirDensity in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[VECTO-552] - set engine rated power, rated speed to computed values from FLD if not provided as input</a:t>
            </a:r>
            <a:endParaRPr lang="en-US" sz="1400" b="0" strike="noStrike" spc="-1">
              <a:latin typeface="Arial"/>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6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[VECTO-366] added EMS vehicle configuration, EMS is only simulated when engine rated power &gt; 300kW</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[VECTO-463] add pneumatic system technology 'vacuum pump‘</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[VECTO-465] change RRC value of trailers (declaration mode) from 0.00555 to 0.0055 (due to limits in user interface)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[VECTO-477] AT Gearbox, powershift losses: remove inertia factor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[VECTO-471] update cross-wind correction model: height-dependent wind speed (see Excel spreadsheet in User Manual folder for details)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[VECTO-367] Add Vehicle Design Speed to segmentation table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[VECTO-470] Add XML reading and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[VECTO-486] Adding hashing library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[VECTO-469] Limit engine max torque (either due to vehicle or gearbox limits), limit gearbox input speed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[VECTO-466] Update vehicle payloads: 10% loaded and reference load are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[VECTO-467] Add generic PTO activation in municipal cycle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[VECTO-468] Add PTO losses (idle) in declaration mode</a:t>
            </a:r>
            <a:endParaRPr lang="en-US" sz="14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400" b="0" strike="noStrike" spc="-1">
                <a:solidFill>
                  <a:srgbClr val="000000"/>
                </a:solidFill>
                <a:latin typeface="Arial"/>
              </a:rPr>
              <a:t>[VECTO-479</a:t>
            </a:r>
            <a:r>
              <a:rPr lang="en-US" sz="1600" b="0" strike="noStrike" spc="-1">
                <a:solidFill>
                  <a:srgbClr val="000000"/>
                </a:solidFill>
                <a:latin typeface="Arial"/>
              </a:rPr>
              <a:t>] Added PTO option 'only one engaged gearwheel above oil level' with 0 losses</a:t>
            </a:r>
            <a:endParaRPr lang="en-US" sz="1600" b="0" strike="noStrike" spc="-1">
              <a:latin typeface="Aria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[VECTO-483] Adapt CdxA supplement for additional trailers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[VECTO-494] Implementation of different fuel types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[VECTO-502] Implementing standard values for air-drag area (if not measured)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[VECTO-501] Implement engine idle speed set in vehicle (must be higher than engine's idle speed value)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[VECTO-504] Adding HVAC technology 'none‘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[VECTO-489] Extrapolate gearbox lossmaps (required when torque limitation by gearbox is ignored)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[VECTO-505] Implement AT transmissions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[VECTO-507] Allow to ignore validation of model data when starting a simulation (significant improvement on simulation startup time - about 10s)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[VECTO-506] modified method how torque-converter characteristics in drag is extended. allow drag-values in the input, only add one point at a high speed ratio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[VECTO-509] Add axle-type (vehicle driven, vehicle non-driven, trailer) to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[VECTO-511] Add engine idle speed to Vehicle input form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[VECTO-510] Write XML reports (manufacturer, customer information)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[VECTO-474] new driving cycles for Municipal and Regional Delivery</a:t>
            </a:r>
            <a:endParaRPr lang="en-US" sz="1400" b="0" strike="noStrike" spc="-1">
              <a:latin typeface="Arial"/>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[VECTO-522] step-up ratio for using torque converter in second gear set to 1.85 for busses (still 1.8 for trucks)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[VECTO-525] remove info-box with max loading in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[VECTO-533] allow second driven axle, rdyn is calculated as average of both driven axles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[VECTO-537] new Suburban driving cycles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[VECTO-541] increase declaration mode PT1 curve to higher speeds (2500 is too low for some engines)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[VECTO-542] reduce overspeed in declaration mode to 2.5km/h</a:t>
            </a:r>
            <a:endParaRPr lang="en-US" sz="1400" b="0" strike="noStrike" spc="-1">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[VECTO-462] fix: decision if PTO cycle is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[VECTO-473] fix: adapt range for validation of torque converter characteristics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[VECTO-464] fix: extrapolation of engine full-load curve gives neg. max. torque. Limit engine speed to n95h</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[VECTO-480] fix: a_pos in .vsum was less than zero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[VECTO-487] fix: Duration of PTO cycle was computed incorrectly if PTO cycle does not start at t=0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[VECTO-514] fix: sort entries in .vsum numerically, not lexically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[VECTO-516] fix: consider axlegear losses for estimation of acceleration after gearshifts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[VECTO-517] fix: valid shift polygon was considered invalid when extended to very high torque ranges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[VECTO-424] fix: VectoCore.dll could not be found when the current working directory is different to the directory of the vectocmd.exe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[VECTO-425] fix: vectocmd.exe - check if the output is redirected, and skip updating of the progress bar when this is the case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[VECTO-426] fix: vectocmd.exe - log errors to STDERR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[VECTO-519] fix: computation of n95h fails for a valid full-load curve due to numerical inaccuracy. add tolerance when searching for solutions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[VECTO-520] fix: gearashift count in vsum is 0</a:t>
            </a:r>
            <a:endParaRPr lang="en-US" sz="1400" b="0" strike="noStrike" spc="-1">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3.1.2.810</a:t>
            </a:r>
            <a:br>
              <a:rPr sz="2400"/>
            </a:br>
            <a:r>
              <a:rPr lang="en-US" sz="1600" b="1" strike="noStrike" spc="-1">
                <a:solidFill>
                  <a:srgbClr val="990000"/>
                </a:solidFill>
                <a:latin typeface="Arial"/>
              </a:rPr>
              <a:t>2017-01-18</a:t>
            </a:r>
            <a:endParaRPr lang="en-US" sz="1600" b="0" strike="noStrike" spc="-1">
              <a:latin typeface="Arial"/>
            </a:endParaRPr>
          </a:p>
        </p:txBody>
      </p:sp>
      <p:sp>
        <p:nvSpPr>
          <p:cNvPr id="37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[VECTO-445] Additional columns in vsum file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splitting shift losses among multiple simulation intervals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coasting overspeed only if vehicle speed &gt; 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Torque converter: better handling of ‘creeping’ situations</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[VECTO-443] Bugfix in AMT shift strategy: skip gears not working correctly</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3.1.2.796</a:t>
            </a:r>
            <a:br>
              <a:rPr sz="2400"/>
            </a:br>
            <a:r>
              <a:rPr lang="en-US" sz="1600" b="1" strike="noStrike" spc="-1">
                <a:solidFill>
                  <a:srgbClr val="990000"/>
                </a:solidFill>
                <a:latin typeface="Arial"/>
              </a:rPr>
              <a:t>2017-03-07</a:t>
            </a:r>
            <a:endParaRPr lang="en-US" sz="1600" b="0" strike="noStrike" spc="-1">
              <a:latin typeface="Arial"/>
            </a:endParaRPr>
          </a:p>
        </p:txBody>
      </p:sp>
      <p:sp>
        <p:nvSpPr>
          <p:cNvPr id="379"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241"/>
              </a:spcBef>
              <a:buNone/>
              <a:tabLst>
                <a:tab pos="0" algn="l"/>
              </a:tabLst>
            </a:pPr>
            <a:r>
              <a:rPr lang="en-US" sz="1200" b="1" strike="noStrike" spc="-1">
                <a:solidFill>
                  <a:srgbClr val="000000"/>
                </a:solidFill>
                <a:latin typeface="Arial"/>
              </a:rPr>
              <a:t>Improvements: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[VECTO-405] Adding clutch-losses for AMT/MT gearboxes during drive-off, reduce drive-off distance after stop from 1m to 0.25m, set clutch closing speed (normalized) to 6.5%,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[VECTO-379] Make GUI more tolerant against missing files. Instead of aborting reading the input data the GUI shows a suffix for missing input files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[VECTO-411] Allow a traction interruption of 0s for AMT/MT gearboxes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[VECTO-408] Gearbox Inertia for AT gearboxes set to 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[VECTO-419] Adapted error messages, added list of errors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[VECTO-421,VECTO-439] Added volume-related results to vsum file (volume is computed based on default bodies)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 Energy balance (vsum) and balance of engine power output and power consumers (vmod) level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[VECTO-430] AT shift strategy: upshifts may happen too early</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[VECTO-431] AMT shift strategy always started in first gear due to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[VECTO-433] adapt generic vehicles: use typical WHTC correction factors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[VECTO-437] set vehicle speed at clutch-closed to 1.3 m/s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[VECTO-436] fix simulation aborts with AT gearbox (neg. braking power, unexpected response, underload)</a:t>
            </a:r>
            <a:endParaRPr lang="en-US" sz="1200" b="0" strike="noStrike" spc="-1">
              <a:latin typeface="Arial"/>
            </a:endParaRPr>
          </a:p>
          <a:p>
            <a:pPr>
              <a:lnSpc>
                <a:spcPct val="100000"/>
              </a:lnSpc>
              <a:spcBef>
                <a:spcPts val="241"/>
              </a:spcBef>
              <a:buNone/>
              <a:tabLst>
                <a:tab pos="0" algn="l"/>
              </a:tabLst>
            </a:pPr>
            <a:r>
              <a:rPr lang="en-US" sz="1200" b="1" strike="noStrike" spc="-1">
                <a:solidFill>
                  <a:srgbClr val="000000"/>
                </a:solidFill>
                <a:latin typeface="Arial"/>
              </a:rPr>
              <a:t>Bugfixes: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[VECTO-415] Powershift Losses were not considered for AT gearboxes with PowerSplit</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[VECTO-416] Measured Speed with gear failed when cycle contained parts with eco-roll (computation of next gear failed)</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[VECTO-428] Sum of timeshares adds up to 100%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[VECTO-429] Min Velocity for lookahead coasting was not written to JSON file</a:t>
            </a:r>
            <a:endParaRPr lang="en-US" sz="1200" b="0" strike="noStrike" spc="-1">
              <a:latin typeface="Arial"/>
            </a:endParaRPr>
          </a:p>
          <a:p>
            <a:pPr>
              <a:lnSpc>
                <a:spcPct val="100000"/>
              </a:lnSpc>
              <a:spcBef>
                <a:spcPts val="241"/>
              </a:spcBef>
              <a:buNone/>
              <a:tabLst>
                <a:tab pos="0" algn="l"/>
              </a:tabLst>
            </a:pPr>
            <a:endParaRPr lang="en-US" sz="1200" b="0" strike="noStrike" spc="-1">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3.1.1.748</a:t>
            </a:r>
            <a:br>
              <a:rPr sz="2400"/>
            </a:br>
            <a:r>
              <a:rPr lang="en-US" sz="1600" b="1" strike="noStrike" spc="-1">
                <a:solidFill>
                  <a:srgbClr val="990000"/>
                </a:solidFill>
                <a:latin typeface="Arial"/>
              </a:rPr>
              <a:t>2017-01-18</a:t>
            </a:r>
            <a:endParaRPr lang="en-US" sz="1600" b="0" strike="noStrike" spc="-1">
              <a:latin typeface="Arial"/>
            </a:endParaRPr>
          </a:p>
        </p:txBody>
      </p:sp>
      <p:sp>
        <p:nvSpPr>
          <p:cNvPr id="38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[VECTO-404] Driving Cycle with PTO stopped simulation after first PTO activation</a:t>
            </a:r>
            <a:endParaRPr lang="en-US" sz="1400" b="0" strike="noStrike" spc="-1">
              <a:latin typeface="Arial"/>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3.1.1.742</a:t>
            </a:r>
            <a:br>
              <a:rPr sz="2400"/>
            </a:br>
            <a:r>
              <a:rPr lang="en-US" sz="1600" b="1" strike="noStrike" spc="-1">
                <a:solidFill>
                  <a:srgbClr val="990000"/>
                </a:solidFill>
                <a:latin typeface="Arial"/>
              </a:rPr>
              <a:t>2017-01-12</a:t>
            </a:r>
            <a:endParaRPr lang="en-US" sz="1600" b="0" strike="noStrike" spc="-1">
              <a:latin typeface="Arial"/>
            </a:endParaRPr>
          </a:p>
        </p:txBody>
      </p:sp>
      <p:sp>
        <p:nvSpPr>
          <p:cNvPr id="383"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[VECTO-390, VECTO-400] Adapt engine speed to estimated engine speed after gear shift during traction interruption (double clutching)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[VECTO-396, VECTO-388] Add shift losses for AT power 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[VECTO-389] new gear shift rules for AT gearboxes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[VECTO-387] added max input speed for torque converter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[VECTO-385] Automatically add generic torque converter data for drag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[VECTO-399] Add missions and loadings for vehicle categories 11, 12, and 16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[VECTO-384] cleanup memory after simulation run</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[VECTO-394] new option for vectocmd to disable all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[VECTO-392] make the GUI scale depending on the Windows font size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[VECTO-391] Gearbox output speed and output torque added to .vmod files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[VECTO-386] Gearbox window: disable input fields not applicable for the selected gearbox type</a:t>
            </a: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[VECTO-401] Computation of n_95h etc. fails if engine’s max torque is constant 0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Lookup of Airdrag parameters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[VECTO-378] Improved file-handling in AAUX module</a:t>
            </a:r>
            <a:endParaRPr lang="en-US" sz="1400" b="0" strike="noStrike" spc="-1">
              <a:latin typeface="Aria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3.1.0.683</a:t>
            </a:r>
            <a:br>
              <a:rPr sz="2400"/>
            </a:br>
            <a:r>
              <a:rPr lang="en-US" sz="1600" b="1" strike="noStrike" spc="-1">
                <a:solidFill>
                  <a:srgbClr val="990000"/>
                </a:solidFill>
                <a:latin typeface="Arial"/>
              </a:rPr>
              <a:t>2016-11-14</a:t>
            </a:r>
            <a:endParaRPr lang="en-US" sz="1600" b="0" strike="noStrike" spc="-1">
              <a:latin typeface="Arial"/>
            </a:endParaRPr>
          </a:p>
        </p:txBody>
      </p:sp>
      <p:sp>
        <p:nvSpPr>
          <p:cNvPr id="385"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[VECTO-375] Fixed bug when braking during slope change from negative to positive values.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[VECTO-372] Added check for unusual acceleration/deceleration data which could lead to error when halting.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[VECTO-371]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[VECTO-370]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[VECTO-369] CrosswindCorrection is now saved and read again from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[VECTO-373] WHTC-Engineering correction factor now correctly read/write in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[VECTO-368] Fixed validation for specific cases when values are intentionally invalid.</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[VECTO-357] Updated GUI to not show ECO-Roll option to avoid confusion</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AT-ShiftStrategy regarding the Torque 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MeasuredSpeed Mode (and MeasuredSpeed with Gear) in connection with AT-Gearbox and TorqueConverter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a bug when PTO-Cycle was missing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axle loss maps for Generic Vehicles in Declaration Mode to match technical annex</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SumFile Cruise Time Share. Added that timeshares must add up to 100%</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PlaceHolder 1"/>
          <p:cNvSpPr>
            <a:spLocks noGrp="1"/>
          </p:cNvSpPr>
          <p:nvPr>
            <p:ph/>
          </p:nvPr>
        </p:nvSpPr>
        <p:spPr>
          <a:xfrm>
            <a:off x="468360" y="1412640"/>
            <a:ext cx="8495280" cy="496800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[VECTO-355] Updated documentation, added powertrain schematics in chapter "Simulation Models"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[VECTO-374] Check range for Torque Converter speed ratio input data to be at least between 0 and 2.2</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many error messages to be more explicit about the reason of error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"Mission Profiles" Directory with driving cycles publicly available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"Declaration" directory with the declaration data files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warning when engine inertia is 0</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check that engine speed must not fall below idle speed (even in measured speed mode)</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Shift curve validation for AT gearboxes: shift curves may now overlap due to different shift logic in AutomaticTransmissions.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Crosswind Coefficients for </a:t>
            </a:r>
            <a:r>
              <a:rPr lang="de-AT" sz="1600" b="0" strike="noStrike" spc="-1">
                <a:solidFill>
                  <a:srgbClr val="000000"/>
                </a:solidFill>
                <a:latin typeface="Arial"/>
              </a:rPr>
              <a:t>Tractor+Semitrailer</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
        <p:nvSpPr>
          <p:cNvPr id="387" name="Titel 1"/>
          <p:cNvSpPr/>
          <p:nvPr/>
        </p:nvSpPr>
        <p:spPr>
          <a:xfrm>
            <a:off x="468360" y="476640"/>
            <a:ext cx="8217720" cy="68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ea typeface="DejaVu Sans"/>
              </a:rPr>
              <a:t>Vecto 3.1.0.683</a:t>
            </a:r>
            <a:br>
              <a:rPr sz="2400"/>
            </a:br>
            <a:r>
              <a:rPr lang="en-US" sz="1600" b="1" strike="noStrike" spc="-1">
                <a:solidFill>
                  <a:srgbClr val="990000"/>
                </a:solidFill>
                <a:latin typeface="Arial"/>
                <a:ea typeface="DejaVu Sans"/>
              </a:rPr>
              <a:t>2016-11-14</a:t>
            </a:r>
            <a:endParaRPr lang="en-US" sz="1600" b="0" strike="noStrike" spc="-1">
              <a:latin typeface="Arial"/>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3.1.0.662</a:t>
            </a:r>
            <a:br>
              <a:rPr sz="2400"/>
            </a:br>
            <a:r>
              <a:rPr lang="en-US" sz="1600" b="1" strike="noStrike" spc="-1">
                <a:solidFill>
                  <a:srgbClr val="990000"/>
                </a:solidFill>
                <a:latin typeface="Arial"/>
              </a:rPr>
              <a:t>2016-10-24</a:t>
            </a:r>
            <a:endParaRPr lang="en-US" sz="1600" b="0" strike="noStrike" spc="-1">
              <a:latin typeface="Arial"/>
            </a:endParaRPr>
          </a:p>
        </p:txBody>
      </p:sp>
      <p:sp>
        <p:nvSpPr>
          <p:cNvPr id="389" name="PlaceHolder 2"/>
          <p:cNvSpPr>
            <a:spLocks noGrp="1"/>
          </p:cNvSpPr>
          <p:nvPr>
            <p:ph/>
          </p:nvPr>
        </p:nvSpPr>
        <p:spPr>
          <a:xfrm>
            <a:off x="468360" y="1412640"/>
            <a:ext cx="8495280" cy="4968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Bugfixes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[VECTO-360] Fixed error during startup of VECTO (loading of DLLs).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[VECTO-361] Fixed classification of vehicles with GVM of exactly 7500kg</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[VECTO-364] Fixed an error in measured speed mode (run aborts).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[VECTO-363] Compute shift polygons in declaration mode now uses correct boundary for full load margin.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[VECTO-365] Fixed editing gears in declaration mode</a:t>
            </a:r>
            <a:endParaRPr lang="en-US" sz="1600" b="0" strike="noStrike" spc="-1">
              <a:latin typeface="Arial"/>
            </a:endParaRPr>
          </a:p>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Improvements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[VECTO-355] User Manual updated (Screenshots, Descriptions, File Formats, Vecto V2 Comments removed).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[VECTO-317] Declaration data for Wheel sizes updated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[VECTO-359] Simplified code regarding PT1 behavior.</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[VECTO-323] PTO-Cycle may now be left empty when not used in driving cycle.</a:t>
            </a:r>
            <a:endParaRPr lang="en-US" sz="1600" b="0" strike="noStrike" spc="-1">
              <a:latin typeface="Aria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1" name="PlaceHolder 2"/>
          <p:cNvSpPr>
            <a:spLocks noGrp="1"/>
          </p:cNvSpPr>
          <p:nvPr>
            <p:ph/>
          </p:nvPr>
        </p:nvSpPr>
        <p:spPr>
          <a:xfrm>
            <a:off x="468360" y="1412640"/>
            <a:ext cx="8495280" cy="4712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VECTO Core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Refactoring of the User-Interface Backend: loading, saving files and validating user input uses Vecto 3 models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AT-Gearbox Model: differentiate between AT gearbox with serial torque converter and AT gearbox using powersplit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Numbering of gears with AT gearbox corresponds to mechanical gears, new column TC_locked in .vmod file to indicate if torque converter is active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Torque converter gear no longer allowed in input (added by Vecto depending on the AT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implementation of torque converter model (analytic solutions)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PTO option for municipal utility vehicles: PTO idle losses, separate PTO cycle during standstill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Angledrive Component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Option for constant Auxiliary Power Demand in Job-File</a:t>
            </a:r>
            <a:endParaRPr lang="en-US" sz="1800" b="0" strike="noStrike" spc="-1">
              <a:latin typeface="Arial"/>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3" name="PlaceHolder 2"/>
          <p:cNvSpPr>
            <a:spLocks noGrp="1"/>
          </p:cNvSpPr>
          <p:nvPr>
            <p:ph/>
          </p:nvPr>
        </p:nvSpPr>
        <p:spPr>
          <a:xfrm>
            <a:off x="468360" y="1268640"/>
            <a:ext cx="8495280" cy="4856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 (cont.)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Normalize x/y values before triangulating Delaunay map (transmission loss-maps, fuel consumption loss map)</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Additional fuel consumption correction factor in declaration mode: cold/hot balancing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fuel consumption correction factor (WHTC, Cold/Hot balancing, …) in engineering mode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Update auxiliaries power demand according to latest whitebook</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multiple steered axles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Adapted engine idle controller (during declutch) – engine speed decreases faster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SUM-File: split E_axl_gbx into two columns, E_axl and E_gbx</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columns in mod-file: PTO, torque converter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full-load curve per gear, only single value MaxTorque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rims (dynamic wheel radius depends on wheel type)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Fixes in AAUX module: open correct file-browser, save selected files</a:t>
            </a:r>
            <a:endParaRPr lang="en-US" sz="1800" b="0" strike="noStrike" spc="-1">
              <a:latin typeface="Arial"/>
            </a:endParaRPr>
          </a:p>
          <a:p>
            <a:pPr>
              <a:lnSpc>
                <a:spcPct val="100000"/>
              </a:lnSpc>
              <a:buNone/>
            </a:pPr>
            <a:endParaRPr lang="en-US" sz="1800" b="0" strike="noStrike" spc="-1">
              <a:latin typeface="Aria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296640" y="476640"/>
            <a:ext cx="8451360" cy="575280"/>
          </a:xfrm>
          <a:prstGeom prst="rect">
            <a:avLst/>
          </a:prstGeom>
          <a:noFill/>
          <a:ln w="0">
            <a:noFill/>
          </a:ln>
        </p:spPr>
        <p:txBody>
          <a:bodyPr lIns="90000" tIns="45000" rIns="90000" bIns="45000" numCol="1" spcCol="0" anchor="ctr">
            <a:noAutofit/>
          </a:bodyPr>
          <a:lstStyle/>
          <a:p>
            <a:pPr>
              <a:lnSpc>
                <a:spcPct val="100000"/>
              </a:lnSpc>
              <a:buNone/>
            </a:pPr>
            <a:r>
              <a:rPr lang="en-US" sz="2400" b="1" strike="noStrike" spc="-1">
                <a:solidFill>
                  <a:srgbClr val="990000"/>
                </a:solidFill>
                <a:latin typeface="Arial"/>
              </a:rPr>
              <a:t>Status quo VECTO software and open issues (Oct. 2016)</a:t>
            </a:r>
            <a:endParaRPr lang="en-US" sz="2400" b="0" strike="noStrike" spc="-1">
              <a:latin typeface="Arial"/>
            </a:endParaRPr>
          </a:p>
        </p:txBody>
      </p:sp>
      <p:sp>
        <p:nvSpPr>
          <p:cNvPr id="395" name="Textfeld 2"/>
          <p:cNvSpPr/>
          <p:nvPr/>
        </p:nvSpPr>
        <p:spPr>
          <a:xfrm>
            <a:off x="323640" y="908640"/>
            <a:ext cx="8496360" cy="39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1001"/>
              </a:spcBef>
              <a:buNone/>
            </a:pPr>
            <a:r>
              <a:rPr lang="de-AT" sz="2000" b="1" strike="noStrike" spc="-1">
                <a:solidFill>
                  <a:srgbClr val="000000"/>
                </a:solidFill>
                <a:latin typeface="Arial"/>
                <a:ea typeface="DejaVu Sans"/>
              </a:rPr>
              <a:t>Next issues on the to do list</a:t>
            </a:r>
            <a:endParaRPr lang="en-US" sz="2000" b="0" strike="noStrike" spc="-1">
              <a:latin typeface="Arial"/>
            </a:endParaRPr>
          </a:p>
        </p:txBody>
      </p:sp>
      <p:sp>
        <p:nvSpPr>
          <p:cNvPr id="396" name="Textfeld 6"/>
          <p:cNvSpPr/>
          <p:nvPr/>
        </p:nvSpPr>
        <p:spPr>
          <a:xfrm>
            <a:off x="539640" y="1484640"/>
            <a:ext cx="8352360" cy="4879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Further development of the AT model</a:t>
            </a:r>
            <a:br>
              <a:rPr sz="1400"/>
            </a:br>
            <a:r>
              <a:rPr lang="en-GB" sz="1400" b="0" strike="noStrike" spc="-1">
                <a:solidFill>
                  <a:srgbClr val="000000"/>
                </a:solidFill>
                <a:latin typeface="Arial"/>
                <a:ea typeface="DejaVu Sans"/>
              </a:rPr>
              <a:t>Consideration of losses during power shifts, update of gear shift logics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Reimplementation of engine stop/start</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implementation of EMS vehicle configurations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r>
              <a:rPr lang="en-GB" sz="1400" b="1" u="sng" strike="noStrike" spc="-1">
                <a:solidFill>
                  <a:srgbClr val="000000"/>
                </a:solidFill>
                <a:uFillTx/>
                <a:latin typeface="Arial"/>
                <a:ea typeface="DejaVu Sans"/>
              </a:rPr>
              <a:t>Items waiting for decision on methods and resources: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Update engine data (according to update of Annex II)</a:t>
            </a:r>
            <a:br>
              <a:rPr sz="1400"/>
            </a:br>
            <a:r>
              <a:rPr lang="en-GB" sz="1400" b="0" strike="noStrike" spc="-1">
                <a:solidFill>
                  <a:srgbClr val="000000"/>
                </a:solidFill>
                <a:latin typeface="Arial"/>
                <a:ea typeface="DejaVu Sans"/>
              </a:rPr>
              <a:t>Other fuels than diesel, “top torque” feature, correction factor for periodic regerating DPFs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Revision of calculated vehicle loads</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implementation of refuse cycle (instead “municipal”)</a:t>
            </a:r>
            <a:br>
              <a:rPr sz="1400"/>
            </a:br>
            <a:r>
              <a:rPr lang="en-GB" sz="1400" b="0" strike="noStrike" spc="-1">
                <a:solidFill>
                  <a:srgbClr val="000000"/>
                </a:solidFill>
                <a:latin typeface="Arial"/>
                <a:ea typeface="DejaVu Sans"/>
              </a:rPr>
              <a:t>Update of driving cycle, consideration of generic PTO loads during collection part,</a:t>
            </a:r>
            <a:br>
              <a:rPr sz="1400"/>
            </a:br>
            <a:r>
              <a:rPr lang="en-GB" sz="1400" b="0" strike="noStrike" spc="-1">
                <a:solidFill>
                  <a:srgbClr val="000000"/>
                </a:solidFill>
                <a:latin typeface="Arial"/>
                <a:ea typeface="DejaVu Sans"/>
              </a:rPr>
              <a:t>generic body weight and payload</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VECTO output (approval authorities, customer info, monitoring)</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Buses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Predictive ADAS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endParaRPr lang="en-US" sz="1400" b="0" strike="noStrike" spc="-1">
              <a:latin typeface="Arial"/>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3.0.4.565</a:t>
            </a:r>
            <a:br>
              <a:rPr sz="2400"/>
            </a:br>
            <a:r>
              <a:rPr lang="en-US" sz="1600" b="1" strike="noStrike" spc="-1">
                <a:solidFill>
                  <a:srgbClr val="990000"/>
                </a:solidFill>
                <a:latin typeface="Arial"/>
              </a:rPr>
              <a:t>2016-07-19</a:t>
            </a:r>
            <a:endParaRPr lang="en-US" sz="1600" b="0" strike="noStrike" spc="-1">
              <a:latin typeface="Arial"/>
            </a:endParaRPr>
          </a:p>
        </p:txBody>
      </p:sp>
      <p:sp>
        <p:nvSpPr>
          <p:cNvPr id="398"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AAUX HVAC Dialog does not store path to ActuationsMap and SSMSource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check for axle loads in declaration mode renders editing dialog useless </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2.2: Simulation aborts (Vecto terminates) when simulating EngineOnly cycles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3: Building SimulationRun EngineOnly simulation failed</a:t>
            </a:r>
            <a:endParaRPr lang="en-US" sz="1800" b="0" strike="noStrike" spc="-1">
              <a:latin typeface="Arial"/>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468360" y="786240"/>
            <a:ext cx="8217720" cy="4816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3.0.4.544</a:t>
            </a:r>
            <a:br>
              <a:rPr sz="2400"/>
            </a:br>
            <a:r>
              <a:rPr lang="en-US" sz="1600" b="1" strike="noStrike" spc="-1">
                <a:solidFill>
                  <a:srgbClr val="990000"/>
                </a:solidFill>
                <a:latin typeface="Arial"/>
              </a:rPr>
              <a:t>2016-06-28</a:t>
            </a:r>
            <a:endParaRPr lang="en-US" sz="1600" b="0" strike="noStrike" spc="-1">
              <a:latin typeface="Arial"/>
            </a:endParaRPr>
          </a:p>
        </p:txBody>
      </p:sp>
      <p:sp>
        <p:nvSpPr>
          <p:cNvPr id="400" name="PlaceHolder 2"/>
          <p:cNvSpPr>
            <a:spLocks noGrp="1"/>
          </p:cNvSpPr>
          <p:nvPr>
            <p:ph/>
          </p:nvPr>
        </p:nvSpPr>
        <p:spPr>
          <a:xfrm>
            <a:off x="539640" y="1628640"/>
            <a:ext cx="8064000" cy="4352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gear shift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coasting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input parameters (enineering mode) for coasting and gear shift behavior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Use SI units in Advanced Auxiliaries Module and compile with strict compiler settings (no implicit casts, etc.)</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efficiency for transmission losses (in engineering mode)</a:t>
            </a:r>
            <a:endParaRPr lang="en-US" sz="1800" b="0" strike="noStrike" spc="-1">
              <a:latin typeface="Arial"/>
            </a:endParaRPr>
          </a:p>
          <a:p>
            <a:pPr>
              <a:lnSpc>
                <a:spcPct val="100000"/>
              </a:lnSpc>
              <a:spcBef>
                <a:spcPts val="400"/>
              </a:spcBef>
              <a:buNone/>
            </a:pP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Auxiliary TechList not read from JSON input data</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in driver strategy</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Bugfixes in MeasuredSpeed mode</a:t>
            </a:r>
            <a:endParaRPr lang="en-US" sz="1800" b="0" strike="noStrike" spc="-1">
              <a:latin typeface="Arial"/>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(1)</a:t>
            </a:r>
            <a:endParaRPr lang="en-US" sz="2400" b="0" strike="noStrike" spc="-1">
              <a:latin typeface="Arial"/>
            </a:endParaRPr>
          </a:p>
        </p:txBody>
      </p:sp>
      <p:sp>
        <p:nvSpPr>
          <p:cNvPr id="402"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lang="en-US" sz="2000" b="1" strike="noStrike" spc="-1">
                <a:solidFill>
                  <a:srgbClr val="000000"/>
                </a:solidFill>
                <a:latin typeface="Arial"/>
              </a:rPr>
              <a:t>and</a:t>
            </a:r>
            <a:r>
              <a:rPr lang="en-US" sz="2000" b="0" strike="noStrike" spc="-1">
                <a:solidFill>
                  <a:srgbClr val="000000"/>
                </a:solidFill>
                <a:latin typeface="Arial"/>
              </a:rPr>
              <a:t> “heavy_urban” or “suburban” or “interurban” or “urban”; </a:t>
            </a:r>
            <a:r>
              <a:rPr lang="en-US" sz="2000" b="1" strike="noStrike" spc="-1">
                <a:solidFill>
                  <a:srgbClr val="000000"/>
                </a:solidFill>
                <a:latin typeface="Arial"/>
              </a:rPr>
              <a:t>or</a:t>
            </a:r>
            <a:r>
              <a:rPr lang="en-US" sz="2000" b="0" strike="noStrike" spc="-1">
                <a:solidFill>
                  <a:srgbClr val="000000"/>
                </a:solidFill>
                <a:latin typeface="Arial"/>
              </a:rPr>
              <a:t> the cycle contains “coach” (</a:t>
            </a:r>
            <a:r>
              <a:rPr lang="en-US" sz="2000" b="0" i="1" strike="noStrike" spc="-1">
                <a:solidFill>
                  <a:srgbClr val="000000"/>
                </a:solidFill>
                <a:latin typeface="Arial"/>
              </a:rPr>
              <a:t>case insensitive</a:t>
            </a:r>
            <a:r>
              <a:rPr lang="en-US" sz="2000" b="0" strike="noStrike" spc="-1">
                <a:solidFill>
                  <a:srgbClr val="000000"/>
                </a:solidFill>
                <a:latin typeface="Arial"/>
              </a:rPr>
              <a:t>)) the actuations file already contains the number of activations and the cycle time. For other cycles the filename without extension is used to lookup the activations in the .APAC file (</a:t>
            </a:r>
            <a:r>
              <a:rPr lang="en-US" sz="2000" b="0" i="1" strike="noStrike" spc="-1">
                <a:solidFill>
                  <a:srgbClr val="000000"/>
                </a:solidFill>
                <a:latin typeface="Arial"/>
              </a:rPr>
              <a:t>case sensitive</a:t>
            </a:r>
            <a:r>
              <a:rPr lang="en-US" sz="2000" b="0" strike="noStrike" spc="-1">
                <a:solidFill>
                  <a:srgbClr val="000000"/>
                </a:solidFill>
                <a:latin typeface="Arial"/>
              </a:rPr>
              <a:t>)</a:t>
            </a:r>
            <a:endParaRPr lang="en-US" sz="2000" b="0" strike="noStrike" spc="-1">
              <a:latin typeface="Aria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467640" y="548640"/>
            <a:ext cx="8217720" cy="503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(2)</a:t>
            </a:r>
            <a:endParaRPr lang="en-US" sz="2400" b="0" strike="noStrike" spc="-1">
              <a:latin typeface="Arial"/>
            </a:endParaRPr>
          </a:p>
        </p:txBody>
      </p:sp>
      <p:sp>
        <p:nvSpPr>
          <p:cNvPr id="404" name="PlaceHolder 2"/>
          <p:cNvSpPr>
            <a:spLocks noGrp="1"/>
          </p:cNvSpPr>
          <p:nvPr>
            <p:ph/>
          </p:nvPr>
        </p:nvSpPr>
        <p:spPr>
          <a:xfrm>
            <a:off x="179640" y="1124640"/>
            <a:ext cx="8856360" cy="532800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.vmod file contains both, the fuel consumption calculated by VectoCore (per simulation interval) and AAUX (accumulated and per simulation interval).</a:t>
            </a:r>
            <a:br>
              <a:rPr sz="1800"/>
            </a:br>
            <a:r>
              <a:rPr lang="en-US" sz="1800" b="0" strike="noStrike" spc="-1">
                <a:solidFill>
                  <a:srgbClr val="000000"/>
                </a:solidFill>
                <a:latin typeface="Arial"/>
              </a:rPr>
              <a:t>Columns in .vmod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AA_TotalCycleFC_Grams [g]: accumulated fuel consumption as computed by the AAUX model, considering smart consumers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[g/h]: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[g/h]: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[g/h]: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[g/h]: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[g/h]: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467640" y="548640"/>
            <a:ext cx="8217720" cy="503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(3)</a:t>
            </a:r>
            <a:endParaRPr lang="en-US" sz="2400" b="0" strike="noStrike" spc="-1">
              <a:latin typeface="Arial"/>
            </a:endParaRPr>
          </a:p>
        </p:txBody>
      </p:sp>
      <p:sp>
        <p:nvSpPr>
          <p:cNvPr id="406" name="PlaceHolder 2"/>
          <p:cNvSpPr>
            <a:spLocks noGrp="1"/>
          </p:cNvSpPr>
          <p:nvPr>
            <p:ph/>
          </p:nvPr>
        </p:nvSpPr>
        <p:spPr>
          <a:xfrm>
            <a:off x="251640" y="1628640"/>
            <a:ext cx="8640360" cy="46076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 .vsum</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Columns in .vsum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total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total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468360" y="570240"/>
            <a:ext cx="8217720" cy="4816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3.0.3.537</a:t>
            </a:r>
            <a:br>
              <a:rPr sz="2400"/>
            </a:br>
            <a:r>
              <a:rPr lang="en-US" sz="1600" b="1" strike="noStrike" spc="-1">
                <a:solidFill>
                  <a:srgbClr val="990000"/>
                </a:solidFill>
                <a:latin typeface="Arial"/>
              </a:rPr>
              <a:t>2016-06-21</a:t>
            </a:r>
            <a:endParaRPr lang="en-US" sz="1600" b="0" strike="noStrike" spc="-1">
              <a:latin typeface="Arial"/>
            </a:endParaRPr>
          </a:p>
        </p:txBody>
      </p:sp>
      <p:sp>
        <p:nvSpPr>
          <p:cNvPr id="408" name="PlaceHolder 2"/>
          <p:cNvSpPr>
            <a:spLocks noGrp="1"/>
          </p:cNvSpPr>
          <p:nvPr>
            <p:ph/>
          </p:nvPr>
        </p:nvSpPr>
        <p:spPr>
          <a:xfrm>
            <a:off x="179640" y="1124640"/>
            <a:ext cx="8784360" cy="4856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Plot shift lines as computed according to WB 2016 declaration mode in GUI</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Buttons to add/remove auxiliaries are visible again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calculation of WHTC correction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consider gearbox inertia (engineering mode) for searching operating point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Wrong output of road gradient in measured speed mode (correct gradient for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Fuel consumption in .vsum file now accounts for AdvancedAuxiliaries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GraphDrawer (Vecto): handle new .vmod format of Vecto 3</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AdvancedAuxiliaries: language-settings independent input parsing</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Paux was ignored when running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massive multithreaded execution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unhandled response during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output columns in .vmod</a:t>
            </a:r>
            <a:endParaRPr lang="en-US" sz="1800" b="0" strike="noStrike" spc="-1">
              <a:latin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3.0.3.495</a:t>
            </a:r>
            <a:br>
              <a:rPr sz="2400"/>
            </a:br>
            <a:r>
              <a:rPr lang="en-US" sz="1600" b="1" strike="noStrike" spc="-1">
                <a:solidFill>
                  <a:srgbClr val="990000"/>
                </a:solidFill>
                <a:latin typeface="Arial"/>
              </a:rPr>
              <a:t>2016-05-10</a:t>
            </a:r>
            <a:endParaRPr lang="en-US" sz="1600" b="0" strike="noStrike" spc="-1">
              <a:latin typeface="Arial"/>
            </a:endParaRPr>
          </a:p>
        </p:txBody>
      </p:sp>
      <p:sp>
        <p:nvSpPr>
          <p:cNvPr id="41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Support for Advanced Auxiliaries (Ricardo) in Vecto 3.0.3 and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Performance improvements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Gearshift polygons according to WB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Revision of SUM-data file, changed order of columns, changed column headers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Delaunay Maps: additional check for duplicate input 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Creation of PDF Report when running multiple jobs at once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Sanity checks for gear shift lines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DriverStrategy: handling special cases</a:t>
            </a:r>
            <a:endParaRPr lang="en-US" sz="1800" b="0" strike="noStrike" spc="-1">
              <a:latin typeface="Aria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1" name="Grafik 6"/>
          <p:cNvPicPr/>
          <p:nvPr/>
        </p:nvPicPr>
        <p:blipFill>
          <a:blip r:embed="rId2"/>
          <a:stretch/>
        </p:blipFill>
        <p:spPr>
          <a:xfrm>
            <a:off x="971640" y="1049400"/>
            <a:ext cx="7488000" cy="4750200"/>
          </a:xfrm>
          <a:prstGeom prst="rect">
            <a:avLst/>
          </a:prstGeom>
          <a:ln w="0">
            <a:noFill/>
          </a:ln>
        </p:spPr>
      </p:pic>
      <p:sp>
        <p:nvSpPr>
          <p:cNvPr id="41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Performance Comparison</a:t>
            </a:r>
            <a:endParaRPr lang="en-US" sz="2400" b="0" strike="noStrike" spc="-1">
              <a:latin typeface="Arial"/>
            </a:endParaRPr>
          </a:p>
        </p:txBody>
      </p:sp>
      <p:sp>
        <p:nvSpPr>
          <p:cNvPr id="413" name="Textfeld 4"/>
          <p:cNvSpPr/>
          <p:nvPr/>
        </p:nvSpPr>
        <p:spPr>
          <a:xfrm rot="16200000">
            <a:off x="1162800" y="2851200"/>
            <a:ext cx="675720" cy="2570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100" b="0" strike="noStrike" spc="-1">
                <a:solidFill>
                  <a:srgbClr val="000000"/>
                </a:solidFill>
                <a:latin typeface="Arial"/>
                <a:ea typeface="DejaVu Sans"/>
              </a:rPr>
              <a:t>Time [s]</a:t>
            </a:r>
            <a:endParaRPr lang="en-US" sz="1100" b="0" strike="noStrike" spc="-1">
              <a:latin typeface="Arial"/>
            </a:endParaRPr>
          </a:p>
        </p:txBody>
      </p:sp>
      <p:sp>
        <p:nvSpPr>
          <p:cNvPr id="414" name="Textfeld 5"/>
          <p:cNvSpPr/>
          <p:nvPr/>
        </p:nvSpPr>
        <p:spPr>
          <a:xfrm>
            <a:off x="102240" y="5764680"/>
            <a:ext cx="8301960" cy="3643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800" b="0" strike="noStrike" spc="-1">
                <a:solidFill>
                  <a:srgbClr val="000000"/>
                </a:solidFill>
                <a:latin typeface="Arial"/>
                <a:ea typeface="DejaVu Sans"/>
              </a:rPr>
              <a:t>Total execution time (15 runs in parallel):  Vecto 3.0.2: 6min 6s; </a:t>
            </a:r>
            <a:r>
              <a:rPr lang="en-US" sz="1800" b="1" strike="noStrike" spc="-1">
                <a:solidFill>
                  <a:srgbClr val="000000"/>
                </a:solidFill>
                <a:latin typeface="Arial"/>
                <a:ea typeface="DejaVu Sans"/>
              </a:rPr>
              <a:t>Vecto 3.0.3: 35s</a:t>
            </a:r>
            <a:endParaRPr lang="en-US" sz="1800" b="0" strike="noStrike" spc="-1">
              <a:latin typeface="Arial"/>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Rectangle 3"/>
          <p:cNvSpPr/>
          <p:nvPr/>
        </p:nvSpPr>
        <p:spPr>
          <a:xfrm>
            <a:off x="0" y="778680"/>
            <a:ext cx="9143280" cy="345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GB" sz="2800" b="1" strike="noStrike" spc="-1">
                <a:solidFill>
                  <a:srgbClr val="990000"/>
                </a:solidFill>
                <a:latin typeface="Arial"/>
                <a:ea typeface="DejaVu Sans"/>
              </a:rPr>
              <a:t>VECTO 3.0.2</a:t>
            </a:r>
            <a:br>
              <a:rPr sz="2800"/>
            </a:br>
            <a:r>
              <a:rPr lang="en-GB" sz="1600" b="1" strike="noStrike" spc="-1">
                <a:solidFill>
                  <a:srgbClr val="990000"/>
                </a:solidFill>
                <a:latin typeface="Arial"/>
                <a:ea typeface="DejaVu Sans"/>
              </a:rPr>
              <a:t>2016-03-11</a:t>
            </a:r>
            <a:endParaRPr lang="en-US" sz="1600" b="0" strike="noStrike" spc="-1">
              <a:latin typeface="Arial"/>
            </a:endParaRPr>
          </a:p>
        </p:txBody>
      </p:sp>
      <p:sp>
        <p:nvSpPr>
          <p:cNvPr id="416" name="Textfeld 5"/>
          <p:cNvSpPr/>
          <p:nvPr/>
        </p:nvSpPr>
        <p:spPr>
          <a:xfrm>
            <a:off x="251640" y="1124640"/>
            <a:ext cx="8496360" cy="5148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50000"/>
              </a:lnSpc>
              <a:spcBef>
                <a:spcPts val="601"/>
              </a:spcBef>
              <a:buNone/>
            </a:pPr>
            <a:r>
              <a:rPr lang="en-GB" sz="2000" b="1" strike="noStrike" spc="-1">
                <a:solidFill>
                  <a:srgbClr val="000000"/>
                </a:solidFill>
                <a:latin typeface="Arial"/>
                <a:ea typeface="DejaVu Sans"/>
              </a:rPr>
              <a:t>Main updates</a:t>
            </a:r>
            <a:endParaRPr lang="en-US" sz="2000" b="0" strike="noStrike" spc="-1">
              <a:latin typeface="Arial"/>
            </a:endParaRPr>
          </a:p>
          <a:p>
            <a:pPr marL="343080" indent="-343080">
              <a:lnSpc>
                <a:spcPct val="130000"/>
              </a:lnSpc>
              <a:spcBef>
                <a:spcPts val="601"/>
              </a:spcBef>
              <a:buClr>
                <a:srgbClr val="000000"/>
              </a:buClr>
              <a:buFont typeface="Arial"/>
              <a:buChar char="•"/>
            </a:pPr>
            <a:r>
              <a:rPr lang="en-GB" sz="1400" b="0" strike="noStrike" spc="-1">
                <a:solidFill>
                  <a:srgbClr val="000000"/>
                </a:solidFill>
                <a:latin typeface="Arial"/>
                <a:ea typeface="DejaVu Sans"/>
              </a:rPr>
              <a:t>New simulation modes: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Pwheel (SiCo),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Measured Speed (with/without gear)</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v_air/beta cross-wind correction (vcdb)</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Adaptations of powertrain components architecture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Move wheels inertia from vehicle to wheels</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Auxiliaries no longer connected via clutch to the engine but via a separate port</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Engine checks overload of gearbox and engine overload</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Fixed some driving behavior related issues in VectoCore: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When the vehicle comes to a halt during gear shift, instead of aborting the cycle, it tries to drive away again with an appropriate gear.</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ModData Format changed for better information and clarity</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Added validation of input values (according to latest VectoInputParameters.xls)</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Various bugfixes</a:t>
            </a:r>
            <a:endParaRPr lang="en-US" sz="1400" b="0" strike="noStrike" spc="-1">
              <a:latin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Pwheel (SiCo) Mode</a:t>
            </a:r>
            <a:endParaRPr lang="en-US" sz="2400" b="0" strike="noStrike" spc="-1">
              <a:latin typeface="Arial"/>
            </a:endParaRPr>
          </a:p>
        </p:txBody>
      </p:sp>
      <p:sp>
        <p:nvSpPr>
          <p:cNvPr id="418"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 as already available in Vecto 2.2 also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specifies power at wheel, engine speed, gear, and auxiliary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creating reference results for SiCo tests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Simulation Models / Pwheel Input (SiCo)</a:t>
            </a:r>
            <a:endParaRPr lang="en-US" sz="1800" b="0" strike="noStrike" spc="-1">
              <a:latin typeface="Arial"/>
            </a:endParaRPr>
          </a:p>
          <a:p>
            <a:pPr>
              <a:lnSpc>
                <a:spcPct val="100000"/>
              </a:lnSpc>
              <a:buNone/>
            </a:pPr>
            <a:endParaRPr lang="en-US" sz="1800" b="0" strike="noStrike" spc="-1">
              <a:latin typeface="Arial"/>
            </a:endParaRPr>
          </a:p>
          <a:p>
            <a:pPr>
              <a:lnSpc>
                <a:spcPct val="100000"/>
              </a:lnSpc>
              <a:spcBef>
                <a:spcPts val="400"/>
              </a:spcBef>
              <a:buNone/>
            </a:pPr>
            <a:endParaRPr lang="en-US" sz="2000" b="0" strike="noStrike" spc="-1">
              <a:latin typeface="Arial"/>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Measured Speed Mode</a:t>
            </a:r>
            <a:endParaRPr lang="en-US" sz="2400" b="0" strike="noStrike" spc="-1">
              <a:latin typeface="Arial"/>
            </a:endParaRPr>
          </a:p>
        </p:txBody>
      </p:sp>
      <p:sp>
        <p:nvSpPr>
          <p:cNvPr id="42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Functionality already available in Vecto 2.2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not defined by target speed but by actual speed. 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 and engine speed can be specified in the driving cycle. In this case 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“proof of concept” purposes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Calculation Modes / Engineering Mode / Measured Speed</a:t>
            </a:r>
            <a:endParaRPr lang="en-US" sz="1800" b="0" strike="noStrike" spc="-1">
              <a:latin typeface="Arial"/>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.vmod File Update</a:t>
            </a:r>
            <a:endParaRPr lang="en-US" sz="2400" b="0" strike="noStrike" spc="-1">
              <a:latin typeface="Arial"/>
            </a:endParaRPr>
          </a:p>
        </p:txBody>
      </p:sp>
      <p:sp>
        <p:nvSpPr>
          <p:cNvPr id="422"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details see the user manual: Input and Output / Modal Results (.vmod)</a:t>
            </a:r>
            <a:endParaRPr lang="en-US" sz="2000" b="0" strike="noStrike" spc="-1">
              <a:latin typeface="Aria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Changelog 3.0.2</a:t>
            </a:r>
            <a:endParaRPr lang="en-US" sz="2400" b="0" strike="noStrike" spc="-1">
              <a:latin typeface="Arial"/>
            </a:endParaRPr>
          </a:p>
        </p:txBody>
      </p:sp>
      <p:sp>
        <p:nvSpPr>
          <p:cNvPr id="42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simulation modes: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 with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Pwheel (SiCo)</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Adaptations of powertrain components architecture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Move wheels inertia from vehicle to wheels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Auxiliaries no longer connected via clutch to the engine but via a separate port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Engine checks overload of gearbox and engine overload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Fixed some driving behavior related issues in VectoCore: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When the vehicle comes to a halt during gear shift, instead of aborting the cycle, it tries to drive away again with an appropriate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[ModData Format](#modal-results-.vmod) changed for better information and clarity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Entries in the sum-file are sorted in the same way as in Vecto 2.2</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In engineering mode the execution mode (distance-based, time-based measured speed, time-based measured speed with gear, engine only) are detected based on the cycle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Added validation of input values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Gravity constant set to 9.80665 (NIST standard acceleration for gravity)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Improved input data handling: sort input values of full-load curves (engine, gbx, retarder)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Better Integration of VectoCore into GUI (Notifications and Messages)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v_air/beta cross-wind correction (vcdb) impemented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For all calculations the averaged values of the current simulation step are used for interpolations in loss-maps.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Allow extrapolation of loss maps in engineering mode (warnings)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input data handling: separate InputDataProvider interfaces for model data</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result handling: separate result container and output writer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Long-Haul driving cycle included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User Manual updated for VECTO V3.x</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 sparse representation of declaration cycles had some missing entries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computation of engine's preferred speed </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wrong vehicle class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duplicate entries in intersected full-load curves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retarder takes the retarder ratio into account for lossmap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use unique identifier for jobs in job list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triagulation of fuel consumption map</a:t>
            </a:r>
            <a:endParaRPr lang="en-US" sz="800" b="0" strike="noStrike" spc="-1">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16985</Words>
  <Application>Microsoft Office PowerPoint</Application>
  <PresentationFormat>Bildschirmpräsentation (4:3)</PresentationFormat>
  <Paragraphs>1765</Paragraphs>
  <Slides>145</Slides>
  <Notes>0</Notes>
  <HiddenSlides>0</HiddenSlides>
  <MMClips>0</MMClips>
  <ScaleCrop>false</ScaleCrop>
  <HeadingPairs>
    <vt:vector size="6" baseType="variant">
      <vt:variant>
        <vt:lpstr>Verwendete Schriftarten</vt:lpstr>
      </vt:variant>
      <vt:variant>
        <vt:i4>10</vt:i4>
      </vt:variant>
      <vt:variant>
        <vt:lpstr>Design</vt:lpstr>
      </vt:variant>
      <vt:variant>
        <vt:i4>2</vt:i4>
      </vt:variant>
      <vt:variant>
        <vt:lpstr>Folientitel</vt:lpstr>
      </vt:variant>
      <vt:variant>
        <vt:i4>145</vt:i4>
      </vt:variant>
    </vt:vector>
  </HeadingPairs>
  <TitlesOfParts>
    <vt:vector size="157" baseType="lpstr">
      <vt:lpstr>Microsoft YaHei</vt:lpstr>
      <vt:lpstr>Arial</vt:lpstr>
      <vt:lpstr>Calibri</vt:lpstr>
      <vt:lpstr>Cambria Math</vt:lpstr>
      <vt:lpstr>Courier New</vt:lpstr>
      <vt:lpstr>DejaVu Sans</vt:lpstr>
      <vt:lpstr>Symbol</vt:lpstr>
      <vt:lpstr>Times New Roman</vt:lpstr>
      <vt:lpstr>Verdana</vt:lpstr>
      <vt:lpstr>Wingdings</vt:lpstr>
      <vt:lpstr>Office Theme</vt:lpstr>
      <vt:lpstr>Office Theme</vt:lpstr>
      <vt:lpstr>PowerPoint-Präsentation</vt:lpstr>
      <vt:lpstr>Vecto 0.7.9.xxx  Development Version  March 2023</vt:lpstr>
      <vt:lpstr>Declaration Mode Lorries – Overview (1/2)</vt:lpstr>
      <vt:lpstr>Declaration Mode Lorries – Overview (2/2)</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parametrisation P-HEV strategy </vt:lpstr>
      <vt:lpstr>DECL Lorries – Generic parametrisation P-HEV strategy </vt:lpstr>
      <vt:lpstr>DECL Lorries – Generic parametrisation P-HEV strategy </vt:lpstr>
      <vt:lpstr>Updated P-HEV gear shift model (DECL + ENG) </vt:lpstr>
      <vt:lpstr>Updated P-HEV gear shift model (DECL + ENG) </vt:lpstr>
      <vt:lpstr>Updated time-based with gear mode for AT (ENG only)​</vt:lpstr>
      <vt:lpstr>DECL Lorries – Generic parametrisation usable SOC range</vt:lpstr>
      <vt:lpstr>DECL Lorries – Separate approach „CD mode“ simulation</vt:lpstr>
      <vt:lpstr>DECL Lorries – Calculation EC at “battery terminals”</vt:lpstr>
      <vt:lpstr>DECL Lorries – Calculation EC at “battery terminals”</vt:lpstr>
      <vt:lpstr>DECL Lorries – Calculation EC at “battery terminals”</vt:lpstr>
      <vt:lpstr>DECL Lorries – Calculation EC at “battery terminals”</vt:lpstr>
      <vt:lpstr>DECL Lorries – Automation of OVC-HEV simulation</vt:lpstr>
      <vt:lpstr>DECL Lorries – Automation of OVC-HEV simulation</vt:lpstr>
      <vt:lpstr>DECL Lorries – Range calculations</vt:lpstr>
      <vt:lpstr>DECL Lorries – Automation of OVC-HEV simulation</vt:lpstr>
      <vt:lpstr>DECL Lorries – Automation of OVC-HEV simulation - EX</vt:lpstr>
      <vt:lpstr>DECL Lorries – Automation of OVC-HEV simulation - EX</vt:lpstr>
      <vt:lpstr>DECL Lorries – Generic e-PTO in MUN cycle</vt:lpstr>
      <vt:lpstr>DECL Lorries – Known issues with current version</vt:lpstr>
      <vt:lpstr>DECL Lorries – Testing requests and organ. of feedback</vt:lpstr>
      <vt:lpstr>Vecto 0.7.9.2864 JRC Development Version  November 2022</vt:lpstr>
      <vt:lpstr>Vecto 0.7.9.2741 Development Version June 2022</vt:lpstr>
      <vt:lpstr>Modeling of IEPC component</vt:lpstr>
      <vt:lpstr>Peculiarities of IEPC</vt:lpstr>
      <vt:lpstr>Input data for IEPC component</vt:lpstr>
      <vt:lpstr>Input data for IEPC component</vt:lpstr>
      <vt:lpstr>Input data for IEPC component</vt:lpstr>
      <vt:lpstr>IEPC Input Form</vt:lpstr>
      <vt:lpstr>Gearbox Form for IEPC Vehicles</vt:lpstr>
      <vt:lpstr>Modeling of IHPC component</vt:lpstr>
      <vt:lpstr>Input data for IHPC component</vt:lpstr>
      <vt:lpstr>Input data for IHPC component</vt:lpstr>
      <vt:lpstr>Input data for IHPC component</vt:lpstr>
      <vt:lpstr>IHPC Input Form</vt:lpstr>
      <vt:lpstr>Adaptations Serial Hybrid Strategy  (1/3)</vt:lpstr>
      <vt:lpstr>Adaptations Serial Hybrid Strategy  (2/3)</vt:lpstr>
      <vt:lpstr>Adaptations Serial Hybrid Strategy  (3/3)</vt:lpstr>
      <vt:lpstr>SoC Correction for HEV-S</vt:lpstr>
      <vt:lpstr>Vecto 0.7.8.2679 Development Version April 2022</vt:lpstr>
      <vt:lpstr>Serial Hybrid Implementation</vt:lpstr>
      <vt:lpstr>Serial Hybrids: GenSet Pre-Processing</vt:lpstr>
      <vt:lpstr>Serial Hybrid Strategy (main principles)</vt:lpstr>
      <vt:lpstr>Serial Hybrids: GenSet</vt:lpstr>
      <vt:lpstr>Serial Hybrid Strategy Parameters</vt:lpstr>
      <vt:lpstr>PowerPoint-Präsentation</vt:lpstr>
      <vt:lpstr>EM: overload buffer calculated from both voltage levels</vt:lpstr>
      <vt:lpstr>Consider gearbox MaxTorque limits for HEV</vt:lpstr>
      <vt:lpstr>Vecto 0.7.8.xxx Development Version April 2022</vt:lpstr>
      <vt:lpstr>Vecto 0.7.8.xxx Development Version April 2022</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0.7.6.2451 Development Version September 2021</vt:lpstr>
      <vt:lpstr>Vecto 0.7.5.2353 Development Version June 2021</vt:lpstr>
      <vt:lpstr>Vecto 0.7.3.2164 Development Version December 2020</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subject/>
  <dc:creator>martinrexeis</dc:creator>
  <dc:description/>
  <cp:lastModifiedBy>Martini Harald</cp:lastModifiedBy>
  <cp:revision>1297</cp:revision>
  <cp:lastPrinted>2013-01-22T12:03:30Z</cp:lastPrinted>
  <dcterms:created xsi:type="dcterms:W3CDTF">2010-01-07T15:28:02Z</dcterms:created>
  <dcterms:modified xsi:type="dcterms:W3CDTF">2023-03-14T16:09:12Z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