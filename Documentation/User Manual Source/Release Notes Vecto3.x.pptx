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2"/>
  </p:notesMasterIdLst>
  <p:handoutMasterIdLst>
    <p:handoutMasterId r:id="rId63"/>
  </p:handoutMasterIdLst>
  <p:sldIdLst>
    <p:sldId id="575" r:id="rId2"/>
    <p:sldId id="700" r:id="rId3"/>
    <p:sldId id="693" r:id="rId4"/>
    <p:sldId id="699" r:id="rId5"/>
    <p:sldId id="698" r:id="rId6"/>
    <p:sldId id="697" r:id="rId7"/>
    <p:sldId id="696" r:id="rId8"/>
    <p:sldId id="695" r:id="rId9"/>
    <p:sldId id="694" r:id="rId10"/>
    <p:sldId id="681" r:id="rId11"/>
    <p:sldId id="692" r:id="rId12"/>
    <p:sldId id="691" r:id="rId13"/>
    <p:sldId id="690" r:id="rId14"/>
    <p:sldId id="688" r:id="rId15"/>
    <p:sldId id="689" r:id="rId16"/>
    <p:sldId id="687" r:id="rId17"/>
    <p:sldId id="686" r:id="rId18"/>
    <p:sldId id="683" r:id="rId19"/>
    <p:sldId id="684" r:id="rId20"/>
    <p:sldId id="677" r:id="rId21"/>
    <p:sldId id="685" r:id="rId22"/>
    <p:sldId id="682" r:id="rId23"/>
    <p:sldId id="680" r:id="rId24"/>
    <p:sldId id="679" r:id="rId25"/>
    <p:sldId id="678" r:id="rId26"/>
    <p:sldId id="671" r:id="rId27"/>
    <p:sldId id="676" r:id="rId28"/>
    <p:sldId id="675" r:id="rId29"/>
    <p:sldId id="674" r:id="rId30"/>
    <p:sldId id="673" r:id="rId31"/>
    <p:sldId id="672" r:id="rId32"/>
    <p:sldId id="669" r:id="rId33"/>
    <p:sldId id="670" r:id="rId34"/>
    <p:sldId id="664" r:id="rId35"/>
    <p:sldId id="666" r:id="rId36"/>
    <p:sldId id="667" r:id="rId37"/>
    <p:sldId id="668" r:id="rId38"/>
    <p:sldId id="665" r:id="rId39"/>
    <p:sldId id="663" r:id="rId40"/>
    <p:sldId id="661" r:id="rId41"/>
    <p:sldId id="662" r:id="rId42"/>
    <p:sldId id="657" r:id="rId43"/>
    <p:sldId id="659" r:id="rId44"/>
    <p:sldId id="660" r:id="rId45"/>
    <p:sldId id="656" r:id="rId46"/>
    <p:sldId id="655" r:id="rId47"/>
    <p:sldId id="654" r:id="rId48"/>
    <p:sldId id="653" r:id="rId49"/>
    <p:sldId id="651" r:id="rId50"/>
    <p:sldId id="648" r:id="rId51"/>
    <p:sldId id="649" r:id="rId52"/>
    <p:sldId id="650" r:id="rId53"/>
    <p:sldId id="645" r:id="rId54"/>
    <p:sldId id="647" r:id="rId55"/>
    <p:sldId id="646" r:id="rId56"/>
    <p:sldId id="640" r:id="rId57"/>
    <p:sldId id="641" r:id="rId58"/>
    <p:sldId id="642" r:id="rId59"/>
    <p:sldId id="643" r:id="rId60"/>
    <p:sldId id="644" r:id="rId61"/>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12" d="100"/>
          <a:sy n="112" d="100"/>
        </p:scale>
        <p:origin x="840" y="7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handoutMaster" Target="handoutMasters/handout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Hybrid</a:t>
            </a:r>
          </a:p>
          <a:p>
            <a:pPr eaLnBrk="1" hangingPunct="1"/>
            <a:r>
              <a:rPr lang="en-US" sz="2000" dirty="0">
                <a:solidFill>
                  <a:srgbClr val="990000"/>
                </a:solidFill>
              </a:rPr>
              <a:t>10/2020</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0.7.1.2108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100" dirty="0"/>
              <a:t>More stable operating point search hybrid strategy</a:t>
            </a:r>
          </a:p>
          <a:p>
            <a:pPr lvl="1">
              <a:tabLst>
                <a:tab pos="1885950" algn="l"/>
              </a:tabLst>
            </a:pPr>
            <a:r>
              <a:rPr lang="en-US" sz="1100" dirty="0"/>
              <a:t>Bugfixes hybrid strategy</a:t>
            </a:r>
          </a:p>
          <a:p>
            <a:pPr lvl="1">
              <a:tabLst>
                <a:tab pos="1885950" algn="l"/>
              </a:tabLst>
            </a:pPr>
            <a:r>
              <a:rPr lang="en-US" sz="1100" dirty="0"/>
              <a:t>Adding Super Cap as REESS </a:t>
            </a:r>
          </a:p>
          <a:p>
            <a:pPr lvl="1">
              <a:tabLst>
                <a:tab pos="1885950" algn="l"/>
              </a:tabLst>
            </a:pPr>
            <a:r>
              <a:rPr lang="en-US" sz="1100" dirty="0"/>
              <a:t>Adding electric machine thermal de-rating</a:t>
            </a:r>
          </a:p>
          <a:p>
            <a:pPr lvl="1">
              <a:tabLst>
                <a:tab pos="1885950" algn="l"/>
              </a:tabLst>
            </a:pPr>
            <a:r>
              <a:rPr lang="en-US" sz="1100" dirty="0"/>
              <a:t>Modified battery model: max charge/discharge current over state of charge</a:t>
            </a:r>
          </a:p>
          <a:p>
            <a:pPr lvl="1">
              <a:tabLst>
                <a:tab pos="1885950" algn="l"/>
              </a:tabLst>
            </a:pPr>
            <a:r>
              <a:rPr lang="en-US" sz="1100" dirty="0"/>
              <a:t>Improvements simulation time hybrid vehicles</a:t>
            </a:r>
          </a:p>
        </p:txBody>
      </p:sp>
      <p:sp>
        <p:nvSpPr>
          <p:cNvPr id="4" name="Textfeld 3">
            <a:extLst>
              <a:ext uri="{FF2B5EF4-FFF2-40B4-BE49-F238E27FC236}">
                <a16:creationId xmlns:a16="http://schemas.microsoft.com/office/drawing/2014/main" id="{11E754D7-A129-4B4B-B6C2-639F4ACFF34D}"/>
              </a:ext>
            </a:extLst>
          </p:cNvPr>
          <p:cNvSpPr txBox="1"/>
          <p:nvPr/>
        </p:nvSpPr>
        <p:spPr>
          <a:xfrm>
            <a:off x="719572" y="3161128"/>
            <a:ext cx="7704856" cy="738664"/>
          </a:xfrm>
          <a:prstGeom prst="rect">
            <a:avLst/>
          </a:prstGeom>
          <a:noFill/>
          <a:ln>
            <a:noFill/>
          </a:ln>
        </p:spPr>
        <p:txBody>
          <a:bodyPr wrap="square" rtlCol="0">
            <a:spAutoFit/>
          </a:bodyPr>
          <a:lstStyle/>
          <a:p>
            <a:pPr algn="l">
              <a:spcBef>
                <a:spcPts val="0"/>
              </a:spcBef>
            </a:pPr>
            <a:r>
              <a:rPr lang="en-US" sz="1400" dirty="0"/>
              <a:t>Note: </a:t>
            </a:r>
            <a:r>
              <a:rPr lang="en-US" sz="1400" b="0" dirty="0"/>
              <a:t>As the model data for electric machine and battery changed from the previous VECTO version for hybrid vehicles it is necessary to open the models and provide the newly added model parameters. </a:t>
            </a:r>
            <a:endParaRPr lang="de-AT" sz="1400" b="0" dirty="0" err="1"/>
          </a:p>
        </p:txBody>
      </p:sp>
    </p:spTree>
    <p:extLst>
      <p:ext uri="{BB962C8B-B14F-4D97-AF65-F5344CB8AC3E}">
        <p14:creationId xmlns:p14="http://schemas.microsoft.com/office/powerpoint/2010/main" val="28144814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0.7.0.2076 Development Version</a:t>
            </a:r>
            <a:br>
              <a:rPr lang="en-US" dirty="0"/>
            </a:br>
            <a:r>
              <a:rPr lang="en-US" sz="1600" dirty="0"/>
              <a:t>September 2020</a:t>
            </a:r>
          </a:p>
        </p:txBody>
      </p:sp>
      <p:sp>
        <p:nvSpPr>
          <p:cNvPr id="3" name="Inhaltsplatzhalter 2"/>
          <p:cNvSpPr>
            <a:spLocks noGrp="1"/>
          </p:cNvSpPr>
          <p:nvPr>
            <p:ph idx="1"/>
          </p:nvPr>
        </p:nvSpPr>
        <p:spPr>
          <a:xfrm>
            <a:off x="323529" y="1268760"/>
            <a:ext cx="8496943" cy="5112568"/>
          </a:xfrm>
        </p:spPr>
        <p:txBody>
          <a:bodyPr/>
          <a:lstStyle/>
          <a:p>
            <a:pPr>
              <a:tabLst>
                <a:tab pos="1885950" algn="l"/>
              </a:tabLst>
            </a:pPr>
            <a:r>
              <a:rPr lang="en-US" sz="1200" b="1" dirty="0"/>
              <a:t>Changes</a:t>
            </a:r>
          </a:p>
          <a:p>
            <a:pPr lvl="1">
              <a:tabLst>
                <a:tab pos="1885950" algn="l"/>
              </a:tabLst>
            </a:pPr>
            <a:r>
              <a:rPr lang="en-US" sz="1000" i="1" dirty="0"/>
              <a:t>This release is the first beta version with capabilities to simulate hybrid and battery electric vehicles</a:t>
            </a:r>
            <a:r>
              <a:rPr lang="en-US" sz="1000" dirty="0"/>
              <a:t>.</a:t>
            </a:r>
          </a:p>
          <a:p>
            <a:pPr lvl="1">
              <a:tabLst>
                <a:tab pos="1885950" algn="l"/>
              </a:tabLst>
            </a:pPr>
            <a:r>
              <a:rPr lang="en-US" sz="1000" dirty="0"/>
              <a:t>It covers powertrain architectures “P2”, “P3”, “P4” for hybrid electric vehicles (HEV) and  “E3”, “E4” for battery electric vehicles (PEV, pure electric vehicles).</a:t>
            </a:r>
          </a:p>
          <a:p>
            <a:pPr lvl="1">
              <a:tabLst>
                <a:tab pos="1885950" algn="l"/>
              </a:tabLst>
            </a:pPr>
            <a:r>
              <a:rPr lang="en-US" sz="1000" dirty="0"/>
              <a:t>The definitions of the powertrain architectures and other input parameters on vehicle level can be found in the document </a:t>
            </a:r>
            <a:r>
              <a:rPr lang="en-US" sz="1000" i="1" dirty="0"/>
              <a:t>Input parameters vehicle level 20200907.docx</a:t>
            </a:r>
            <a:r>
              <a:rPr lang="en-US" sz="1000" dirty="0"/>
              <a:t>. This document is an excerpt of working document 3 of the HDV CO2 Editing board. Items marked in red are not yet featured by the tool and will follow in the next releases. </a:t>
            </a:r>
          </a:p>
          <a:p>
            <a:pPr lvl="1">
              <a:tabLst>
                <a:tab pos="1885950" algn="l"/>
              </a:tabLst>
            </a:pPr>
            <a:r>
              <a:rPr lang="en-US" sz="1000" dirty="0"/>
              <a:t>Known limitations</a:t>
            </a:r>
          </a:p>
          <a:p>
            <a:pPr lvl="2">
              <a:tabLst>
                <a:tab pos="1885950" algn="l"/>
              </a:tabLst>
            </a:pPr>
            <a:r>
              <a:rPr lang="en-US" sz="900" dirty="0"/>
              <a:t>Electric machine system overload feature not available – work in progress</a:t>
            </a:r>
          </a:p>
          <a:p>
            <a:pPr lvl="2">
              <a:tabLst>
                <a:tab pos="1885950" algn="l"/>
              </a:tabLst>
            </a:pPr>
            <a:r>
              <a:rPr lang="en-US" sz="900" dirty="0" err="1"/>
              <a:t>Supercaps</a:t>
            </a:r>
            <a:r>
              <a:rPr lang="en-US" sz="900" dirty="0"/>
              <a:t> not implemented – work in progress</a:t>
            </a:r>
          </a:p>
          <a:p>
            <a:pPr lvl="2">
              <a:tabLst>
                <a:tab pos="1885950" algn="l"/>
              </a:tabLst>
            </a:pPr>
            <a:r>
              <a:rPr lang="en-US" sz="900" dirty="0"/>
              <a:t>Engine Stop Start Utility Factor has to be set to 1 – further discussions in task force needed how UF-approach shall be aligned with hybrid control strategy</a:t>
            </a:r>
          </a:p>
          <a:p>
            <a:pPr lvl="2">
              <a:tabLst>
                <a:tab pos="1885950" algn="l"/>
              </a:tabLst>
            </a:pPr>
            <a:r>
              <a:rPr lang="en-US" sz="900" dirty="0" err="1"/>
              <a:t>P_aux_el</a:t>
            </a:r>
            <a:r>
              <a:rPr lang="en-US" sz="900" dirty="0"/>
              <a:t> are electric auxiliaries connected to the high-voltage system. For hybrid electric vehicles this model parameter shall currently be set to 0. – further discussions in task force needed</a:t>
            </a:r>
          </a:p>
          <a:p>
            <a:pPr lvl="2">
              <a:tabLst>
                <a:tab pos="1885950" algn="l"/>
              </a:tabLst>
            </a:pPr>
            <a:r>
              <a:rPr lang="en-US" sz="900" dirty="0"/>
              <a:t>APTs with HEV – to be implemented</a:t>
            </a:r>
          </a:p>
          <a:p>
            <a:pPr lvl="2">
              <a:tabLst>
                <a:tab pos="1885950" algn="l"/>
              </a:tabLst>
            </a:pPr>
            <a:r>
              <a:rPr lang="en-US" sz="900" dirty="0"/>
              <a:t>Eco-roll and PCC not implemented</a:t>
            </a:r>
          </a:p>
        </p:txBody>
      </p:sp>
    </p:spTree>
    <p:extLst>
      <p:ext uri="{BB962C8B-B14F-4D97-AF65-F5344CB8AC3E}">
        <p14:creationId xmlns:p14="http://schemas.microsoft.com/office/powerpoint/2010/main" val="3150849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0.6.1.1975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a:t>Bugfixes</a:t>
            </a:r>
            <a:r>
              <a:rPr lang="en-US" sz="1600" b="1" dirty="0"/>
              <a:t> </a:t>
            </a:r>
          </a:p>
          <a:p>
            <a:pPr lvl="1">
              <a:tabLst>
                <a:tab pos="1885950" algn="l"/>
              </a:tabLst>
            </a:pPr>
            <a:r>
              <a:rPr lang="en-US" sz="1000" dirty="0"/>
              <a:t>Change passenger density primary vehicle for IU cycle</a:t>
            </a:r>
          </a:p>
          <a:p>
            <a:pPr lvl="1">
              <a:tabLst>
                <a:tab pos="1885950" algn="l"/>
              </a:tabLst>
            </a:pPr>
            <a:r>
              <a:rPr lang="en-US" sz="1000" dirty="0"/>
              <a:t>primary vehicle: ignore TPMLM (to limit payload, do not abort simulation)</a:t>
            </a:r>
          </a:p>
          <a:p>
            <a:pPr lvl="1">
              <a:tabLst>
                <a:tab pos="1885950" algn="l"/>
              </a:tabLst>
            </a:pPr>
            <a:r>
              <a:rPr lang="en-US" sz="1000" dirty="0"/>
              <a:t>completed vehicle: limit total mass with TPMLM (abort simulation)</a:t>
            </a:r>
          </a:p>
          <a:p>
            <a:pPr lvl="1">
              <a:tabLst>
                <a:tab pos="1885950" algn="l"/>
              </a:tabLst>
            </a:pPr>
            <a:r>
              <a:rPr lang="en-US" sz="1000" dirty="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a:t>set alternator gear efficiency to 1 to align with lorries (currently 0.92)</a:t>
            </a:r>
          </a:p>
          <a:p>
            <a:pPr lvl="1">
              <a:tabLst>
                <a:tab pos="1885950" algn="l"/>
              </a:tabLst>
            </a:pPr>
            <a:r>
              <a:rPr lang="en-US" sz="1000" dirty="0"/>
              <a:t>electric system / radio: all vehicles are equipped with radio. modify consumed amps to consider 'usage factor' - updated already in master excel.</a:t>
            </a:r>
          </a:p>
          <a:p>
            <a:pPr lvl="1">
              <a:tabLst>
                <a:tab pos="1885950" algn="l"/>
              </a:tabLst>
            </a:pPr>
            <a:r>
              <a:rPr lang="en-US" sz="1000" dirty="0"/>
              <a:t>Update generic values for primary HF vehicles </a:t>
            </a:r>
            <a:r>
              <a:rPr lang="en-US" sz="1000" dirty="0" err="1"/>
              <a:t>CdxA</a:t>
            </a:r>
            <a:endParaRPr lang="en-US" sz="1000" dirty="0"/>
          </a:p>
          <a:p>
            <a:pPr lvl="1">
              <a:tabLst>
                <a:tab pos="1885950" algn="l"/>
              </a:tabLst>
            </a:pPr>
            <a:r>
              <a:rPr lang="en-US" sz="1000" dirty="0"/>
              <a:t>HVAC: check/correct internal height for coaches (shall be 1.8m)</a:t>
            </a:r>
          </a:p>
          <a:p>
            <a:pPr lvl="1">
              <a:tabLst>
                <a:tab pos="1885950" algn="l"/>
              </a:tabLst>
            </a:pPr>
            <a:r>
              <a:rPr lang="en-US" sz="1000" dirty="0"/>
              <a:t>HVAC: subtract driver compartment from total volume for max cooling capacity passengers</a:t>
            </a:r>
          </a:p>
          <a:p>
            <a:pPr lvl="1">
              <a:tabLst>
                <a:tab pos="1885950" algn="l"/>
              </a:tabLst>
            </a:pPr>
            <a:r>
              <a:rPr lang="en-US" sz="1000" dirty="0"/>
              <a:t>HVAC: add configuration #10, add sanity checks (i.e. if driver AC is provided for configurations #2,</a:t>
            </a:r>
          </a:p>
          <a:p>
            <a:pPr lvl="1">
              <a:tabLst>
                <a:tab pos="1885950" algn="l"/>
              </a:tabLst>
            </a:pPr>
            <a:r>
              <a:rPr lang="en-US" sz="1000" dirty="0"/>
              <a:t>Steering pump power demand: tubing factor only applied for first steered axle (as the additionally steered axles are close to the engine and the distance is not known)</a:t>
            </a:r>
          </a:p>
          <a:p>
            <a:pPr lvl="1">
              <a:tabLst>
                <a:tab pos="1885950" algn="l"/>
              </a:tabLst>
            </a:pPr>
            <a:r>
              <a:rPr lang="en-US" sz="1000" dirty="0"/>
              <a:t>Allow enabling/disabling LAC in declaration mode via GUI (not persistent). Additional input on “Options” tab to set min activation speed</a:t>
            </a:r>
          </a:p>
          <a:p>
            <a:pPr lvl="1">
              <a:tabLst>
                <a:tab pos="1885950" algn="l"/>
              </a:tabLst>
            </a:pPr>
            <a:r>
              <a:rPr lang="en-US" sz="1000" dirty="0"/>
              <a:t>.</a:t>
            </a:r>
            <a:r>
              <a:rPr lang="en-US" sz="1000" dirty="0" err="1"/>
              <a:t>vsum</a:t>
            </a:r>
            <a:r>
              <a:rPr lang="en-US" sz="1000" dirty="0"/>
              <a:t> file: E_AUX_SUM matches sum of individual AUX entries; bugfix writing </a:t>
            </a:r>
            <a:r>
              <a:rPr lang="en-US" sz="1000" dirty="0" err="1"/>
              <a:t>P_busAux_ES_mech</a:t>
            </a:r>
            <a:endParaRPr lang="en-US" sz="1000" dirty="0"/>
          </a:p>
          <a:p>
            <a:pPr lvl="1">
              <a:tabLst>
                <a:tab pos="1885950" algn="l"/>
              </a:tabLst>
            </a:pPr>
            <a:r>
              <a:rPr lang="en-US" sz="1000" dirty="0"/>
              <a:t>Update user manual on VTP cycle file format</a:t>
            </a:r>
          </a:p>
          <a:p>
            <a:pPr lvl="1">
              <a:tabLst>
                <a:tab pos="1885950" algn="l"/>
              </a:tabLst>
            </a:pPr>
            <a:r>
              <a:rPr lang="en-US" sz="1000" dirty="0"/>
              <a:t>APT gearbox (all gears) generic efficiency 0.925</a:t>
            </a:r>
          </a:p>
          <a:p>
            <a:pPr lvl="1">
              <a:tabLst>
                <a:tab pos="1885950" algn="l"/>
              </a:tabLst>
            </a:pPr>
            <a:r>
              <a:rPr lang="en-US" sz="1000" dirty="0"/>
              <a:t>retarder: set factor for generic retarder losses from 0.5 to 1 (i.e., use </a:t>
            </a:r>
            <a:r>
              <a:rPr lang="en-US" sz="1000" dirty="0" err="1"/>
              <a:t>standardvalues</a:t>
            </a:r>
            <a:r>
              <a:rPr lang="en-US" sz="1000" dirty="0"/>
              <a:t>)</a:t>
            </a:r>
          </a:p>
          <a:p>
            <a:pPr lvl="1">
              <a:tabLst>
                <a:tab pos="1885950" algn="l"/>
              </a:tabLst>
            </a:pPr>
            <a:r>
              <a:rPr lang="en-US" sz="1000" dirty="0"/>
              <a:t>VTP engineering mode - </a:t>
            </a:r>
            <a:r>
              <a:rPr lang="en-US" sz="1000" dirty="0" err="1"/>
              <a:t>vsum</a:t>
            </a:r>
            <a:r>
              <a:rPr lang="en-US" sz="1000" dirty="0"/>
              <a:t> actual CF different to declaration mode</a:t>
            </a:r>
          </a:p>
          <a:p>
            <a:pPr>
              <a:tabLst>
                <a:tab pos="1885950" algn="l"/>
              </a:tabLst>
            </a:pPr>
            <a:r>
              <a:rPr lang="en-US" sz="1200" dirty="0"/>
              <a:t>Improvements</a:t>
            </a:r>
          </a:p>
          <a:p>
            <a:pPr lvl="1">
              <a:tabLst>
                <a:tab pos="1885950" algn="l"/>
              </a:tabLst>
            </a:pPr>
            <a:r>
              <a:rPr lang="en-US" sz="1000" dirty="0"/>
              <a:t>Switch GUI to 64bit mode (see VECTO-1270)</a:t>
            </a:r>
          </a:p>
          <a:p>
            <a:pPr lvl="1">
              <a:tabLst>
                <a:tab pos="1885950" algn="l"/>
              </a:tabLst>
            </a:pPr>
            <a:r>
              <a:rPr lang="en-US" sz="1000" dirty="0"/>
              <a:t>New normalization/</a:t>
            </a:r>
            <a:r>
              <a:rPr lang="en-US" sz="1000" dirty="0" err="1"/>
              <a:t>denormalization</a:t>
            </a:r>
            <a:r>
              <a:rPr lang="en-US" sz="1000" dirty="0"/>
              <a:t> method for generic engine FC-Map (see VECTO-1269) </a:t>
            </a:r>
          </a:p>
          <a:p>
            <a:pPr lvl="1">
              <a:tabLst>
                <a:tab pos="1885950" algn="l"/>
              </a:tabLst>
            </a:pPr>
            <a:r>
              <a:rPr lang="en-US" sz="1000" dirty="0"/>
              <a:t>.</a:t>
            </a:r>
            <a:r>
              <a:rPr lang="en-US" sz="1000" dirty="0" err="1"/>
              <a:t>vsum</a:t>
            </a:r>
            <a:r>
              <a:rPr lang="en-US" sz="1000" dirty="0"/>
              <a:t>-file: new entries </a:t>
            </a:r>
            <a:r>
              <a:rPr lang="en-US" sz="1000" dirty="0" err="1"/>
              <a:t>P_ice_fcmap</a:t>
            </a:r>
            <a:r>
              <a:rPr lang="en-US" sz="1000" dirty="0"/>
              <a:t>, </a:t>
            </a:r>
            <a:r>
              <a:rPr lang="en-US" sz="1000" dirty="0" err="1"/>
              <a:t>P_wheel_in</a:t>
            </a:r>
            <a:r>
              <a:rPr lang="en-US" sz="1000" dirty="0"/>
              <a:t>, </a:t>
            </a:r>
            <a:r>
              <a:rPr lang="en-US" sz="1000" dirty="0" err="1"/>
              <a:t>k_vehline</a:t>
            </a:r>
            <a:r>
              <a:rPr lang="en-US" sz="1000" dirty="0"/>
              <a:t> (previous </a:t>
            </a:r>
            <a:r>
              <a:rPr lang="en-US" sz="1000" dirty="0" err="1"/>
              <a:t>k_vehline</a:t>
            </a:r>
            <a:r>
              <a:rPr lang="en-US" sz="1000" dirty="0"/>
              <a:t> is now </a:t>
            </a:r>
            <a:r>
              <a:rPr lang="en-US" sz="1000" dirty="0" err="1"/>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3662797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a:t>Improvements </a:t>
            </a:r>
          </a:p>
          <a:p>
            <a:pPr lvl="1">
              <a:tabLst>
                <a:tab pos="1885950" algn="l"/>
              </a:tabLst>
            </a:pPr>
            <a:r>
              <a:rPr lang="en-US" sz="1600" dirty="0"/>
              <a:t>Declaration mode for complete and completed buses via “factor method”</a:t>
            </a:r>
          </a:p>
          <a:p>
            <a:pPr lvl="1">
              <a:tabLst>
                <a:tab pos="1885950" algn="l"/>
              </a:tabLst>
            </a:pPr>
            <a:r>
              <a:rPr lang="en-US" sz="1600" dirty="0"/>
              <a:t>VTP mode for heavy buses</a:t>
            </a:r>
          </a:p>
          <a:p>
            <a:pPr lvl="1">
              <a:tabLst>
                <a:tab pos="1885950" algn="l"/>
              </a:tabLst>
            </a:pPr>
            <a:r>
              <a:rPr lang="en-US" sz="1600" dirty="0"/>
              <a:t>VTP mode for dual-fuel vehicles (new cycle file required!)</a:t>
            </a:r>
          </a:p>
          <a:p>
            <a:pPr lvl="1">
              <a:tabLst>
                <a:tab pos="1885950" algn="l"/>
              </a:tabLst>
            </a:pPr>
            <a:r>
              <a:rPr lang="en-US" sz="1600" dirty="0"/>
              <a:t>“Single bus” mode with generic data from segmentation table completed vehicle (previous version used generic data from primary vehicle)</a:t>
            </a:r>
          </a:p>
          <a:p>
            <a:pPr lvl="1">
              <a:tabLst>
                <a:tab pos="1885950" algn="l"/>
              </a:tabLst>
            </a:pPr>
            <a:r>
              <a:rPr lang="en-US" sz="1600" dirty="0"/>
              <a:t>Adding highway sections on coach cycle (required for PCC)</a:t>
            </a:r>
          </a:p>
          <a:p>
            <a:pPr lvl="1">
              <a:tabLst>
                <a:tab pos="1885950" algn="l"/>
              </a:tabLst>
            </a:pPr>
            <a:r>
              <a:rPr lang="en-US" sz="1600" dirty="0"/>
              <a:t>New graphical user interface (VECTO3.exe) (</a:t>
            </a:r>
            <a:r>
              <a:rPr lang="en-US" sz="1600" i="1" dirty="0">
                <a:solidFill>
                  <a:schemeClr val="accent2">
                    <a:lumMod val="75000"/>
                  </a:schemeClr>
                </a:solidFill>
              </a:rPr>
              <a:t>alpha version!</a:t>
            </a:r>
            <a:r>
              <a:rPr lang="en-US" sz="1600" dirty="0"/>
              <a:t>)</a:t>
            </a:r>
          </a:p>
          <a:p>
            <a:pPr lvl="2">
              <a:tabLst>
                <a:tab pos="1885950" algn="l"/>
              </a:tabLst>
            </a:pPr>
            <a:r>
              <a:rPr lang="en-US" sz="1200" dirty="0"/>
              <a:t>Creating &amp; editing complete(d) bus XML</a:t>
            </a:r>
          </a:p>
          <a:p>
            <a:pPr lvl="2">
              <a:tabLst>
                <a:tab pos="1885950" algn="l"/>
              </a:tabLst>
            </a:pPr>
            <a:r>
              <a:rPr lang="en-US" sz="1200" dirty="0"/>
              <a:t>Creating &amp; editing complete(d) bus job file (PIF + completed XML)</a:t>
            </a:r>
          </a:p>
          <a:p>
            <a:pPr lvl="2">
              <a:tabLst>
                <a:tab pos="1885950" algn="l"/>
              </a:tabLst>
            </a:pPr>
            <a:r>
              <a:rPr lang="en-US" sz="1200" dirty="0"/>
              <a:t>Creating &amp; editing single bus job file (primary XML + completed XML)</a:t>
            </a:r>
          </a:p>
          <a:p>
            <a:pPr lvl="2">
              <a:tabLst>
                <a:tab pos="1885950" algn="l"/>
              </a:tabLst>
            </a:pPr>
            <a:r>
              <a:rPr lang="en-US" sz="1200" dirty="0"/>
              <a:t>Simulation of all types of VECTO jobs</a:t>
            </a:r>
          </a:p>
          <a:p>
            <a:pPr lvl="2">
              <a:tabLst>
                <a:tab pos="1885950" algn="l"/>
              </a:tabLst>
            </a:pPr>
            <a:r>
              <a:rPr lang="en-US" sz="1200" dirty="0"/>
              <a:t>Currently, other existing job files can not be edited in the new GUI – planned to be extended in future</a:t>
            </a:r>
          </a:p>
          <a:p>
            <a:pPr lvl="2">
              <a:tabLst>
                <a:tab pos="1885950" algn="l"/>
              </a:tabLst>
            </a:pPr>
            <a:r>
              <a:rPr lang="en-US" sz="1200" dirty="0"/>
              <a:t>Functionality similar to currently official VECTO version, for further information see separate user manual on new GUI</a:t>
            </a:r>
          </a:p>
          <a:p>
            <a:pPr lvl="1">
              <a:tabLst>
                <a:tab pos="1885950" algn="l"/>
              </a:tabLst>
            </a:pPr>
            <a:r>
              <a:rPr lang="en-US" sz="1600" dirty="0"/>
              <a:t>XML reports (MRF, CIF, PIF) according to draft Annex IV</a:t>
            </a:r>
          </a:p>
          <a:p>
            <a:pPr lvl="1">
              <a:tabLst>
                <a:tab pos="1885950" algn="l"/>
              </a:tabLst>
            </a:pPr>
            <a:r>
              <a:rPr lang="en-US" sz="1600" i="1" dirty="0">
                <a:solidFill>
                  <a:schemeClr val="accent2">
                    <a:lumMod val="75000"/>
                  </a:schemeClr>
                </a:solidFill>
              </a:rPr>
              <a:t>Expert feature:</a:t>
            </a:r>
            <a:r>
              <a:rPr lang="en-US" sz="1600" dirty="0"/>
              <a:t> allow adding torque converter data to PIF manually (not added by VECTO automatically)  to investigate on generic TC data for APT-P (see generic vehicles for reference)</a:t>
            </a:r>
          </a:p>
          <a:p>
            <a:pPr lvl="1">
              <a:tabLst>
                <a:tab pos="1885950" algn="l"/>
              </a:tabLst>
            </a:pPr>
            <a:r>
              <a:rPr lang="en-US" sz="1600" i="1" dirty="0">
                <a:solidFill>
                  <a:schemeClr val="accent2">
                    <a:lumMod val="75000"/>
                  </a:schemeClr>
                </a:solidFill>
              </a:rPr>
              <a:t>Expert feature: </a:t>
            </a:r>
            <a:r>
              <a:rPr lang="en-US" sz="1600" dirty="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heavy buses </a:t>
            </a:r>
          </a:p>
          <a:p>
            <a:pPr lvl="1">
              <a:tabLst>
                <a:tab pos="1885950" algn="l"/>
              </a:tabLst>
            </a:pPr>
            <a:r>
              <a:rPr lang="en-US" sz="1600" dirty="0"/>
              <a:t>Correcting power demand for engine fan</a:t>
            </a:r>
          </a:p>
          <a:p>
            <a:pPr lvl="1">
              <a:tabLst>
                <a:tab pos="1885950" algn="l"/>
              </a:tabLst>
            </a:pPr>
            <a:r>
              <a:rPr lang="en-US" sz="1600" dirty="0"/>
              <a:t>Consider electric auxiliaries (fan, steering pump) as electrical consumer</a:t>
            </a:r>
          </a:p>
          <a:p>
            <a:pPr lvl="1">
              <a:tabLst>
                <a:tab pos="1885950" algn="l"/>
              </a:tabLst>
            </a:pPr>
            <a:r>
              <a:rPr lang="en-US" sz="1600" dirty="0"/>
              <a:t>Correcting power demand pneumatic system with mechanical clutch</a:t>
            </a:r>
          </a:p>
          <a:p>
            <a:pPr lvl="1">
              <a:tabLst>
                <a:tab pos="1885950" algn="l"/>
              </a:tabLst>
            </a:pPr>
            <a:r>
              <a:rPr lang="en-US" sz="1600" dirty="0"/>
              <a:t>Correcting electrical consumers LED bonus</a:t>
            </a:r>
          </a:p>
          <a:p>
            <a:pPr lvl="1">
              <a:tabLst>
                <a:tab pos="1885950" algn="l"/>
              </a:tabLst>
            </a:pPr>
            <a:r>
              <a:rPr lang="en-US" sz="1600" dirty="0"/>
              <a:t>Correction for double compensation of smart electrics (battery &amp; generated vs. consumed)</a:t>
            </a:r>
          </a:p>
          <a:p>
            <a:pPr lvl="1">
              <a:tabLst>
                <a:tab pos="1885950" algn="l"/>
              </a:tabLst>
            </a:pPr>
            <a:r>
              <a:rPr lang="en-US" sz="1600" dirty="0"/>
              <a:t>Correcting passenger count depending on HVAC configuration</a:t>
            </a:r>
          </a:p>
          <a:p>
            <a:pPr>
              <a:tabLst>
                <a:tab pos="1885950" algn="l"/>
              </a:tabLst>
            </a:pPr>
            <a:r>
              <a:rPr lang="en-US" sz="1800" dirty="0" err="1"/>
              <a:t>Bugfixes</a:t>
            </a:r>
            <a:r>
              <a:rPr lang="en-US" sz="1800" dirty="0"/>
              <a:t> medium lorries</a:t>
            </a:r>
          </a:p>
          <a:p>
            <a:pPr lvl="1">
              <a:tabLst>
                <a:tab pos="1885950" algn="l"/>
              </a:tabLst>
            </a:pPr>
            <a:r>
              <a:rPr lang="en-US" sz="1600" dirty="0"/>
              <a:t>New technologies for electric steering pump</a:t>
            </a:r>
          </a:p>
          <a:p>
            <a:pPr lvl="1">
              <a:tabLst>
                <a:tab pos="1885950" algn="l"/>
              </a:tabLst>
            </a:pPr>
            <a:r>
              <a:rPr lang="en-US" sz="1600" dirty="0"/>
              <a:t>New </a:t>
            </a:r>
            <a:r>
              <a:rPr lang="en-US" sz="1600" dirty="0" err="1"/>
              <a:t>tyre</a:t>
            </a:r>
            <a:r>
              <a:rPr lang="en-US" sz="1600" dirty="0"/>
              <a:t> xml supported</a:t>
            </a:r>
          </a:p>
          <a:p>
            <a:pPr lvl="1">
              <a:tabLst>
                <a:tab pos="1885950" algn="l"/>
              </a:tabLst>
            </a:pPr>
            <a:r>
              <a:rPr lang="en-US" sz="1600" dirty="0" err="1"/>
              <a:t>Bugfixes</a:t>
            </a:r>
            <a:r>
              <a:rPr lang="en-US" sz="1600" dirty="0"/>
              <a:t> graphical user interface</a:t>
            </a:r>
          </a:p>
          <a:p>
            <a:pPr lvl="1">
              <a:tabLst>
                <a:tab pos="1885950" algn="l"/>
              </a:tabLst>
            </a:pPr>
            <a:r>
              <a:rPr lang="en-US" sz="1600" dirty="0"/>
              <a:t>New sample </a:t>
            </a:r>
            <a:r>
              <a:rPr lang="en-US" sz="1600"/>
              <a:t>data VTP</a:t>
            </a:r>
            <a:endParaRPr lang="en-US" sz="1600" dirty="0"/>
          </a:p>
        </p:txBody>
      </p:sp>
    </p:spTree>
    <p:extLst>
      <p:ext uri="{BB962C8B-B14F-4D97-AF65-F5344CB8AC3E}">
        <p14:creationId xmlns:p14="http://schemas.microsoft.com/office/powerpoint/2010/main" val="33255105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0.6.0.1908 Development Version</a:t>
            </a:r>
            <a:br>
              <a:rPr lang="en-US" dirty="0"/>
            </a:br>
            <a:r>
              <a:rPr lang="en-US" sz="1600" dirty="0"/>
              <a:t>March.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p>
          <a:p>
            <a:pPr lvl="1">
              <a:tabLst>
                <a:tab pos="1885950" algn="l"/>
              </a:tabLst>
            </a:pPr>
            <a:r>
              <a:rPr lang="en-US" dirty="0"/>
              <a:t>Consider vehicle’s max speed when validating input data, calculating velocity drop during traction interruption </a:t>
            </a:r>
          </a:p>
          <a:p>
            <a:pPr lvl="1">
              <a:tabLst>
                <a:tab pos="1885950" algn="l"/>
              </a:tabLst>
            </a:pPr>
            <a:r>
              <a:rPr lang="en-US" dirty="0"/>
              <a:t>Reading vehicle design speed (85km/h) from segment table (also related to vehicle’s max speed)</a:t>
            </a:r>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exception simulating vehicles in engineering mode</a:t>
            </a:r>
          </a:p>
        </p:txBody>
      </p:sp>
    </p:spTree>
    <p:extLst>
      <p:ext uri="{BB962C8B-B14F-4D97-AF65-F5344CB8AC3E}">
        <p14:creationId xmlns:p14="http://schemas.microsoft.com/office/powerpoint/2010/main" val="3175294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0.6.0.1884 Development Version</a:t>
            </a:r>
            <a:br>
              <a:rPr lang="en-US" dirty="0"/>
            </a:br>
            <a:r>
              <a:rPr lang="en-US" sz="1600" dirty="0"/>
              <a:t>Feb.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matrix, </a:t>
            </a:r>
          </a:p>
          <a:p>
            <a:pPr lvl="1">
              <a:tabLst>
                <a:tab pos="1885950" algn="l"/>
              </a:tabLst>
            </a:pPr>
            <a:r>
              <a:rPr lang="en-US" dirty="0"/>
              <a:t>Support for P0 hybrids in </a:t>
            </a:r>
            <a:r>
              <a:rPr lang="en-US"/>
              <a:t>bus auxiliaries model</a:t>
            </a:r>
            <a:endParaRPr lang="en-US" dirty="0"/>
          </a:p>
          <a:p>
            <a:pPr lvl="1">
              <a:tabLst>
                <a:tab pos="1885950" algn="l"/>
              </a:tabLst>
            </a:pPr>
            <a:r>
              <a:rPr lang="en-US" dirty="0"/>
              <a:t>Support for “primary bus” (declaration mode)</a:t>
            </a:r>
          </a:p>
          <a:p>
            <a:pPr lvl="1">
              <a:tabLst>
                <a:tab pos="1885950" algn="l"/>
              </a:tabLst>
            </a:pPr>
            <a:r>
              <a:rPr lang="en-US" dirty="0"/>
              <a:t>Support for “single bus” – combine input parameters of primary bus and completed bus to a single simulation (no factor method) (declaration mode)</a:t>
            </a:r>
          </a:p>
          <a:p>
            <a:pPr lvl="1">
              <a:tabLst>
                <a:tab pos="1885950" algn="l"/>
              </a:tabLst>
            </a:pPr>
            <a:r>
              <a:rPr lang="en-US" dirty="0"/>
              <a:t>Support for medium lorries</a:t>
            </a:r>
          </a:p>
          <a:p>
            <a:pPr lvl="1">
              <a:tabLst>
                <a:tab pos="1885950" algn="l"/>
              </a:tabLst>
            </a:pPr>
            <a:r>
              <a:rPr lang="en-US" dirty="0"/>
              <a:t>Support for vehicles with front-wheel drive (</a:t>
            </a:r>
            <a:r>
              <a:rPr lang="en-US" dirty="0" err="1"/>
              <a:t>axlegear</a:t>
            </a:r>
            <a:r>
              <a:rPr lang="en-US" dirty="0"/>
              <a:t> included in gearbox)</a:t>
            </a:r>
          </a:p>
          <a:p>
            <a:pPr lvl="1">
              <a:tabLst>
                <a:tab pos="1885950" algn="l"/>
              </a:tabLst>
            </a:pPr>
            <a:r>
              <a:rPr lang="en-US" dirty="0"/>
              <a:t>VTP Mode for medium lorries</a:t>
            </a:r>
          </a:p>
          <a:p>
            <a:pPr lvl="1">
              <a:tabLst>
                <a:tab pos="1885950" algn="l"/>
              </a:tabLst>
            </a:pPr>
            <a:r>
              <a:rPr lang="en-US" dirty="0"/>
              <a:t>New XML schema for new vehicle categories, adapted XML schema for generated reports (MRF, CIF, PIF)</a:t>
            </a:r>
          </a:p>
          <a:p>
            <a:pPr marL="457200" lvl="1" indent="0">
              <a:buNone/>
              <a:tabLst>
                <a:tab pos="1885950" algn="l"/>
              </a:tabLst>
            </a:pPr>
            <a:endParaRPr lang="en-US" sz="1600" dirty="0"/>
          </a:p>
          <a:p>
            <a:pPr marL="457200" lvl="1" indent="0">
              <a:buNone/>
              <a:tabLst>
                <a:tab pos="1885950" algn="l"/>
              </a:tabLst>
            </a:pPr>
            <a:r>
              <a:rPr lang="en-US" sz="1600" dirty="0"/>
              <a:t>This development version includes all features already included in version 0.5.0</a:t>
            </a:r>
          </a:p>
          <a:p>
            <a:pPr lvl="1">
              <a:tabLst>
                <a:tab pos="1885950" algn="l"/>
              </a:tabLst>
            </a:pPr>
            <a:endParaRPr lang="en-US" sz="1400" dirty="0"/>
          </a:p>
        </p:txBody>
      </p:sp>
    </p:spTree>
    <p:extLst>
      <p:ext uri="{BB962C8B-B14F-4D97-AF65-F5344CB8AC3E}">
        <p14:creationId xmlns:p14="http://schemas.microsoft.com/office/powerpoint/2010/main" val="5519250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0.5.0 Development Version</a:t>
            </a:r>
            <a:br>
              <a:rPr lang="en-US" dirty="0"/>
            </a:br>
            <a:r>
              <a:rPr lang="en-US" sz="1600" dirty="0"/>
              <a:t>Dec. 2019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endParaRPr lang="en-US" sz="1800" dirty="0"/>
          </a:p>
          <a:p>
            <a:pPr lvl="1">
              <a:tabLst>
                <a:tab pos="1885950" algn="l"/>
              </a:tabLst>
            </a:pPr>
            <a:r>
              <a:rPr lang="en-US" dirty="0"/>
              <a:t>Adding in-the-loop simulation of advanced driver assistant systems (ADAS)</a:t>
            </a:r>
          </a:p>
          <a:p>
            <a:pPr lvl="2">
              <a:tabLst>
                <a:tab pos="1885950" algn="l"/>
              </a:tabLst>
            </a:pPr>
            <a:r>
              <a:rPr lang="en-US" sz="1200" dirty="0"/>
              <a:t>Engine stop-start during vehicle stop</a:t>
            </a:r>
          </a:p>
          <a:p>
            <a:pPr lvl="2">
              <a:tabLst>
                <a:tab pos="1885950" algn="l"/>
              </a:tabLst>
            </a:pPr>
            <a:r>
              <a:rPr lang="en-US" sz="1200" dirty="0"/>
              <a:t>Eco-roll with and without engine stop</a:t>
            </a:r>
          </a:p>
          <a:p>
            <a:pPr lvl="2">
              <a:tabLst>
                <a:tab pos="1885950" algn="l"/>
              </a:tabLst>
            </a:pPr>
            <a:r>
              <a:rPr lang="en-US" sz="1200" dirty="0"/>
              <a:t>Predictive cruise control: dip coasting, crest coasting</a:t>
            </a:r>
          </a:p>
          <a:p>
            <a:pPr lvl="1">
              <a:tabLst>
                <a:tab pos="1885950" algn="l"/>
              </a:tabLst>
            </a:pPr>
            <a:r>
              <a:rPr lang="en-US" sz="1600" dirty="0"/>
              <a:t>Adding support for dual-fuel vehicles</a:t>
            </a:r>
          </a:p>
          <a:p>
            <a:pPr lvl="1">
              <a:tabLst>
                <a:tab pos="1885950" algn="l"/>
              </a:tabLst>
            </a:pPr>
            <a:r>
              <a:rPr lang="en-US" sz="1600" dirty="0"/>
              <a:t>Adding support for waste- / exhaust-heat recovery systems (electrical and mechanical)</a:t>
            </a:r>
          </a:p>
          <a:p>
            <a:pPr lvl="1">
              <a:tabLst>
                <a:tab pos="1885950" algn="l"/>
              </a:tabLst>
            </a:pPr>
            <a:r>
              <a:rPr lang="en-US" sz="1600" dirty="0"/>
              <a:t>New gear shift strategy (</a:t>
            </a:r>
            <a:r>
              <a:rPr lang="en-US" sz="1600" dirty="0" err="1"/>
              <a:t>EffShift</a:t>
            </a:r>
            <a:r>
              <a:rPr lang="en-US" sz="1600" dirty="0"/>
              <a:t>) for AMT and AT transmissions</a:t>
            </a:r>
          </a:p>
          <a:p>
            <a:pPr marL="457200" lvl="1" indent="0">
              <a:buNone/>
              <a:tabLst>
                <a:tab pos="1885950" algn="l"/>
              </a:tabLst>
            </a:pPr>
            <a:endParaRPr lang="en-US" sz="1600" dirty="0"/>
          </a:p>
          <a:p>
            <a:pPr marL="457200" lvl="1" indent="0">
              <a:buNone/>
              <a:tabLst>
                <a:tab pos="1885950" algn="l"/>
              </a:tabLst>
            </a:pPr>
            <a:r>
              <a:rPr lang="en-US" sz="1600" dirty="0"/>
              <a:t>Details on the new models, model parameters, and new signals in the output are described in the user manual</a:t>
            </a:r>
          </a:p>
          <a:p>
            <a:pPr lvl="1">
              <a:tabLst>
                <a:tab pos="1885950" algn="l"/>
              </a:tabLst>
            </a:pPr>
            <a:endParaRPr lang="en-US" sz="1400" dirty="0"/>
          </a:p>
        </p:txBody>
      </p:sp>
    </p:spTree>
    <p:extLst>
      <p:ext uri="{BB962C8B-B14F-4D97-AF65-F5344CB8AC3E}">
        <p14:creationId xmlns:p14="http://schemas.microsoft.com/office/powerpoint/2010/main" val="1997754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41739814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8382</Words>
  <Application>Microsoft Office PowerPoint</Application>
  <PresentationFormat>Bildschirmpräsentation (4:3)</PresentationFormat>
  <Paragraphs>793</Paragraphs>
  <Slides>60</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60</vt:i4>
      </vt:variant>
    </vt:vector>
  </HeadingPairs>
  <TitlesOfParts>
    <vt:vector size="66" baseType="lpstr">
      <vt:lpstr>Arial</vt:lpstr>
      <vt:lpstr>Calibri</vt:lpstr>
      <vt:lpstr>Courier New</vt:lpstr>
      <vt:lpstr>Times New Roman</vt:lpstr>
      <vt:lpstr>Verdana</vt:lpstr>
      <vt:lpstr>Standarddesign</vt:lpstr>
      <vt:lpstr>PowerPoint-Präsentation</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1242</cp:revision>
  <cp:lastPrinted>2013-01-22T12:03:30Z</cp:lastPrinted>
  <dcterms:created xsi:type="dcterms:W3CDTF">2010-01-07T15:28:02Z</dcterms:created>
  <dcterms:modified xsi:type="dcterms:W3CDTF">2020-10-09T09:00:26Z</dcterms:modified>
</cp:coreProperties>
</file>