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handoutMasterIdLst>
    <p:handoutMasterId r:id="rId66"/>
  </p:handoutMasterIdLst>
  <p:sldIdLst>
    <p:sldId id="575" r:id="rId2"/>
    <p:sldId id="703" r:id="rId3"/>
    <p:sldId id="681" r:id="rId4"/>
    <p:sldId id="702" r:id="rId5"/>
    <p:sldId id="701" r:id="rId6"/>
    <p:sldId id="700" r:id="rId7"/>
    <p:sldId id="699" r:id="rId8"/>
    <p:sldId id="698" r:id="rId9"/>
    <p:sldId id="697" r:id="rId10"/>
    <p:sldId id="696" r:id="rId11"/>
    <p:sldId id="695" r:id="rId12"/>
    <p:sldId id="694" r:id="rId13"/>
    <p:sldId id="693" r:id="rId14"/>
    <p:sldId id="692" r:id="rId15"/>
    <p:sldId id="691" r:id="rId16"/>
    <p:sldId id="690" r:id="rId17"/>
    <p:sldId id="688" r:id="rId18"/>
    <p:sldId id="689" r:id="rId19"/>
    <p:sldId id="687" r:id="rId20"/>
    <p:sldId id="686" r:id="rId21"/>
    <p:sldId id="683" r:id="rId22"/>
    <p:sldId id="684" r:id="rId23"/>
    <p:sldId id="677" r:id="rId24"/>
    <p:sldId id="685" r:id="rId25"/>
    <p:sldId id="682" r:id="rId26"/>
    <p:sldId id="680" r:id="rId27"/>
    <p:sldId id="679" r:id="rId28"/>
    <p:sldId id="678" r:id="rId29"/>
    <p:sldId id="671" r:id="rId30"/>
    <p:sldId id="676" r:id="rId31"/>
    <p:sldId id="675" r:id="rId32"/>
    <p:sldId id="674" r:id="rId33"/>
    <p:sldId id="673" r:id="rId34"/>
    <p:sldId id="672" r:id="rId35"/>
    <p:sldId id="669" r:id="rId36"/>
    <p:sldId id="670" r:id="rId37"/>
    <p:sldId id="664" r:id="rId38"/>
    <p:sldId id="666" r:id="rId39"/>
    <p:sldId id="667" r:id="rId40"/>
    <p:sldId id="668" r:id="rId41"/>
    <p:sldId id="665" r:id="rId42"/>
    <p:sldId id="663" r:id="rId43"/>
    <p:sldId id="661" r:id="rId44"/>
    <p:sldId id="662" r:id="rId45"/>
    <p:sldId id="657" r:id="rId46"/>
    <p:sldId id="659" r:id="rId47"/>
    <p:sldId id="660" r:id="rId48"/>
    <p:sldId id="656" r:id="rId49"/>
    <p:sldId id="655" r:id="rId50"/>
    <p:sldId id="654" r:id="rId51"/>
    <p:sldId id="653" r:id="rId52"/>
    <p:sldId id="651" r:id="rId53"/>
    <p:sldId id="648" r:id="rId54"/>
    <p:sldId id="649" r:id="rId55"/>
    <p:sldId id="650" r:id="rId56"/>
    <p:sldId id="645" r:id="rId57"/>
    <p:sldId id="647" r:id="rId58"/>
    <p:sldId id="646" r:id="rId59"/>
    <p:sldId id="640" r:id="rId60"/>
    <p:sldId id="641" r:id="rId61"/>
    <p:sldId id="642" r:id="rId62"/>
    <p:sldId id="643" r:id="rId63"/>
    <p:sldId id="644" r:id="rId64"/>
  </p:sldIdLst>
  <p:sldSz cx="9144000" cy="6858000" type="screen4x3"/>
  <p:notesSz cx="6805613" cy="9944100"/>
  <p:defaultTextStyle>
    <a:defPPr>
      <a:defRPr lang="de-AT"/>
    </a:defPPr>
    <a:lvl1pPr algn="ctr" rtl="0" fontAlgn="base">
      <a:spcBef>
        <a:spcPct val="50000"/>
      </a:spcBef>
      <a:spcAft>
        <a:spcPct val="0"/>
      </a:spcAft>
      <a:defRPr sz="1600" b="1" kern="1200">
        <a:solidFill>
          <a:schemeClr val="tx1"/>
        </a:solidFill>
        <a:latin typeface="Arial" charset="0"/>
        <a:ea typeface="+mn-ea"/>
        <a:cs typeface="+mn-cs"/>
      </a:defRPr>
    </a:lvl1pPr>
    <a:lvl2pPr marL="457200" algn="ctr" rtl="0" fontAlgn="base">
      <a:spcBef>
        <a:spcPct val="50000"/>
      </a:spcBef>
      <a:spcAft>
        <a:spcPct val="0"/>
      </a:spcAft>
      <a:defRPr sz="1600" b="1" kern="1200">
        <a:solidFill>
          <a:schemeClr val="tx1"/>
        </a:solidFill>
        <a:latin typeface="Arial" charset="0"/>
        <a:ea typeface="+mn-ea"/>
        <a:cs typeface="+mn-cs"/>
      </a:defRPr>
    </a:lvl2pPr>
    <a:lvl3pPr marL="914400" algn="ctr" rtl="0" fontAlgn="base">
      <a:spcBef>
        <a:spcPct val="50000"/>
      </a:spcBef>
      <a:spcAft>
        <a:spcPct val="0"/>
      </a:spcAft>
      <a:defRPr sz="1600" b="1" kern="1200">
        <a:solidFill>
          <a:schemeClr val="tx1"/>
        </a:solidFill>
        <a:latin typeface="Arial" charset="0"/>
        <a:ea typeface="+mn-ea"/>
        <a:cs typeface="+mn-cs"/>
      </a:defRPr>
    </a:lvl3pPr>
    <a:lvl4pPr marL="1371600" algn="ctr" rtl="0" fontAlgn="base">
      <a:spcBef>
        <a:spcPct val="50000"/>
      </a:spcBef>
      <a:spcAft>
        <a:spcPct val="0"/>
      </a:spcAft>
      <a:defRPr sz="1600" b="1" kern="1200">
        <a:solidFill>
          <a:schemeClr val="tx1"/>
        </a:solidFill>
        <a:latin typeface="Arial" charset="0"/>
        <a:ea typeface="+mn-ea"/>
        <a:cs typeface="+mn-cs"/>
      </a:defRPr>
    </a:lvl4pPr>
    <a:lvl5pPr marL="1828800" algn="ctr" rtl="0" fontAlgn="base">
      <a:spcBef>
        <a:spcPct val="50000"/>
      </a:spcBef>
      <a:spcAft>
        <a:spcPct val="0"/>
      </a:spcAft>
      <a:defRPr sz="1600" b="1" kern="1200">
        <a:solidFill>
          <a:schemeClr val="tx1"/>
        </a:solidFill>
        <a:latin typeface="Arial" charset="0"/>
        <a:ea typeface="+mn-ea"/>
        <a:cs typeface="+mn-cs"/>
      </a:defRPr>
    </a:lvl5pPr>
    <a:lvl6pPr marL="2286000" algn="l" defTabSz="914400" rtl="0" eaLnBrk="1" latinLnBrk="0" hangingPunct="1">
      <a:defRPr sz="1600" b="1" kern="1200">
        <a:solidFill>
          <a:schemeClr val="tx1"/>
        </a:solidFill>
        <a:latin typeface="Arial" charset="0"/>
        <a:ea typeface="+mn-ea"/>
        <a:cs typeface="+mn-cs"/>
      </a:defRPr>
    </a:lvl6pPr>
    <a:lvl7pPr marL="2743200" algn="l" defTabSz="914400" rtl="0" eaLnBrk="1" latinLnBrk="0" hangingPunct="1">
      <a:defRPr sz="1600" b="1" kern="1200">
        <a:solidFill>
          <a:schemeClr val="tx1"/>
        </a:solidFill>
        <a:latin typeface="Arial" charset="0"/>
        <a:ea typeface="+mn-ea"/>
        <a:cs typeface="+mn-cs"/>
      </a:defRPr>
    </a:lvl7pPr>
    <a:lvl8pPr marL="3200400" algn="l" defTabSz="914400" rtl="0" eaLnBrk="1" latinLnBrk="0" hangingPunct="1">
      <a:defRPr sz="1600" b="1" kern="1200">
        <a:solidFill>
          <a:schemeClr val="tx1"/>
        </a:solidFill>
        <a:latin typeface="Arial" charset="0"/>
        <a:ea typeface="+mn-ea"/>
        <a:cs typeface="+mn-cs"/>
      </a:defRPr>
    </a:lvl8pPr>
    <a:lvl9pPr marL="3657600" algn="l" defTabSz="914400" rtl="0" eaLnBrk="1" latinLnBrk="0" hangingPunct="1">
      <a:defRPr sz="16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32">
          <p15:clr>
            <a:srgbClr val="A4A3A4"/>
          </p15:clr>
        </p15:guide>
        <p15:guide id="2" pos="2143">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ausberger Stefan" initials="H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B3B3"/>
    <a:srgbClr val="FFFFFF"/>
    <a:srgbClr val="FF9900"/>
    <a:srgbClr val="E9EDF4"/>
    <a:srgbClr val="F8F8F8"/>
    <a:srgbClr val="FF6600"/>
    <a:srgbClr val="0066FF"/>
    <a:srgbClr val="FF00FF"/>
    <a:srgbClr val="FF5757"/>
    <a:srgbClr val="E4E4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Helle Formatvorlag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7853C-536D-4A76-A0AE-DD22124D55A5}" styleName="Designformatvorlage 1 - Akz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84" autoAdjust="0"/>
    <p:restoredTop sz="94289" autoAdjust="0"/>
  </p:normalViewPr>
  <p:slideViewPr>
    <p:cSldViewPr>
      <p:cViewPr varScale="1">
        <p:scale>
          <a:sx n="151" d="100"/>
          <a:sy n="151" d="100"/>
        </p:scale>
        <p:origin x="2010" y="132"/>
      </p:cViewPr>
      <p:guideLst>
        <p:guide orient="horz" pos="2160"/>
        <p:guide pos="2880"/>
      </p:guideLst>
    </p:cSldViewPr>
  </p:slideViewPr>
  <p:notesTextViewPr>
    <p:cViewPr>
      <p:scale>
        <a:sx n="100" d="100"/>
        <a:sy n="100" d="100"/>
      </p:scale>
      <p:origin x="0" y="0"/>
    </p:cViewPr>
  </p:notesTextViewPr>
  <p:sorterViewPr>
    <p:cViewPr>
      <p:scale>
        <a:sx n="140" d="100"/>
        <a:sy n="140" d="100"/>
      </p:scale>
      <p:origin x="0" y="0"/>
    </p:cViewPr>
  </p:sorterViewPr>
  <p:notesViewPr>
    <p:cSldViewPr>
      <p:cViewPr varScale="1">
        <p:scale>
          <a:sx n="94" d="100"/>
          <a:sy n="94" d="100"/>
        </p:scale>
        <p:origin x="-3690" y="-96"/>
      </p:cViewPr>
      <p:guideLst>
        <p:guide orient="horz" pos="3132"/>
        <p:guide pos="2143"/>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1"/>
            <a:ext cx="2948846" cy="49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331" tIns="44166" rIns="88331" bIns="44166" numCol="1" anchor="t" anchorCtr="0" compatLnSpc="1">
            <a:prstTxWarp prst="textNoShape">
              <a:avLst/>
            </a:prstTxWarp>
          </a:bodyPr>
          <a:lstStyle>
            <a:lvl1pPr algn="l">
              <a:spcBef>
                <a:spcPct val="0"/>
              </a:spcBef>
              <a:defRPr sz="1200" b="0">
                <a:latin typeface="Arial" pitchFamily="34" charset="0"/>
              </a:defRPr>
            </a:lvl1pPr>
          </a:lstStyle>
          <a:p>
            <a:pPr>
              <a:defRPr/>
            </a:pPr>
            <a:endParaRPr lang="de-AT"/>
          </a:p>
        </p:txBody>
      </p:sp>
      <p:sp>
        <p:nvSpPr>
          <p:cNvPr id="52227" name="Rectangle 3"/>
          <p:cNvSpPr>
            <a:spLocks noGrp="1" noChangeArrowheads="1"/>
          </p:cNvSpPr>
          <p:nvPr>
            <p:ph type="dt" sz="quarter" idx="1"/>
          </p:nvPr>
        </p:nvSpPr>
        <p:spPr bwMode="auto">
          <a:xfrm>
            <a:off x="3855247" y="1"/>
            <a:ext cx="2948845" cy="49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331" tIns="44166" rIns="88331" bIns="44166" numCol="1" anchor="t" anchorCtr="0" compatLnSpc="1">
            <a:prstTxWarp prst="textNoShape">
              <a:avLst/>
            </a:prstTxWarp>
          </a:bodyPr>
          <a:lstStyle>
            <a:lvl1pPr algn="r">
              <a:spcBef>
                <a:spcPct val="0"/>
              </a:spcBef>
              <a:defRPr sz="1200" b="0">
                <a:latin typeface="Arial" pitchFamily="34" charset="0"/>
              </a:defRPr>
            </a:lvl1pPr>
          </a:lstStyle>
          <a:p>
            <a:pPr>
              <a:defRPr/>
            </a:pPr>
            <a:endParaRPr lang="de-AT"/>
          </a:p>
        </p:txBody>
      </p:sp>
      <p:sp>
        <p:nvSpPr>
          <p:cNvPr id="52229" name="Rectangle 5"/>
          <p:cNvSpPr>
            <a:spLocks noGrp="1" noChangeArrowheads="1"/>
          </p:cNvSpPr>
          <p:nvPr>
            <p:ph type="sldNum" sz="quarter" idx="3"/>
          </p:nvPr>
        </p:nvSpPr>
        <p:spPr bwMode="auto">
          <a:xfrm>
            <a:off x="3855247" y="9445893"/>
            <a:ext cx="2948845" cy="49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331" tIns="44166" rIns="88331" bIns="44166" numCol="1" anchor="b" anchorCtr="0" compatLnSpc="1">
            <a:prstTxWarp prst="textNoShape">
              <a:avLst/>
            </a:prstTxWarp>
          </a:bodyPr>
          <a:lstStyle>
            <a:lvl1pPr algn="r">
              <a:spcBef>
                <a:spcPct val="0"/>
              </a:spcBef>
              <a:defRPr sz="1200" b="0">
                <a:latin typeface="Arial" pitchFamily="34" charset="0"/>
              </a:defRPr>
            </a:lvl1pPr>
          </a:lstStyle>
          <a:p>
            <a:pPr>
              <a:defRPr/>
            </a:pPr>
            <a:fld id="{D05DC883-6C08-43D1-9D4B-869193C2D549}" type="slidenum">
              <a:rPr lang="de-AT"/>
              <a:pPr>
                <a:defRPr/>
              </a:pPr>
              <a:t>‹Nr.›</a:t>
            </a:fld>
            <a:endParaRPr lang="de-AT"/>
          </a:p>
        </p:txBody>
      </p:sp>
      <p:sp>
        <p:nvSpPr>
          <p:cNvPr id="2" name="Footer Placeholder 1"/>
          <p:cNvSpPr>
            <a:spLocks noGrp="1"/>
          </p:cNvSpPr>
          <p:nvPr>
            <p:ph type="ftr" sz="quarter" idx="2"/>
          </p:nvPr>
        </p:nvSpPr>
        <p:spPr>
          <a:xfrm>
            <a:off x="0" y="9445625"/>
            <a:ext cx="2949575" cy="496888"/>
          </a:xfrm>
          <a:prstGeom prst="rect">
            <a:avLst/>
          </a:prstGeom>
        </p:spPr>
        <p:txBody>
          <a:bodyPr vert="horz" lIns="91440" tIns="45720" rIns="91440" bIns="45720" rtlCol="0" anchor="b"/>
          <a:lstStyle>
            <a:lvl1pPr algn="l">
              <a:defRPr sz="1200"/>
            </a:lvl1pPr>
          </a:lstStyle>
          <a:p>
            <a:endParaRPr lang="en-IE"/>
          </a:p>
        </p:txBody>
      </p:sp>
    </p:spTree>
    <p:extLst>
      <p:ext uri="{BB962C8B-B14F-4D97-AF65-F5344CB8AC3E}">
        <p14:creationId xmlns:p14="http://schemas.microsoft.com/office/powerpoint/2010/main" val="14769111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1"/>
            <a:ext cx="2948846" cy="49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680" tIns="47840" rIns="95680" bIns="47840" numCol="1" anchor="t" anchorCtr="0" compatLnSpc="1">
            <a:prstTxWarp prst="textNoShape">
              <a:avLst/>
            </a:prstTxWarp>
          </a:bodyPr>
          <a:lstStyle>
            <a:lvl1pPr algn="l" defTabSz="956920">
              <a:spcBef>
                <a:spcPct val="0"/>
              </a:spcBef>
              <a:defRPr sz="1300" b="0">
                <a:latin typeface="Arial" pitchFamily="34" charset="0"/>
              </a:defRPr>
            </a:lvl1pPr>
          </a:lstStyle>
          <a:p>
            <a:pPr>
              <a:defRPr/>
            </a:pPr>
            <a:endParaRPr lang="de-AT"/>
          </a:p>
        </p:txBody>
      </p:sp>
      <p:sp>
        <p:nvSpPr>
          <p:cNvPr id="25603" name="Rectangle 3"/>
          <p:cNvSpPr>
            <a:spLocks noGrp="1" noChangeArrowheads="1"/>
          </p:cNvSpPr>
          <p:nvPr>
            <p:ph type="dt" idx="1"/>
          </p:nvPr>
        </p:nvSpPr>
        <p:spPr bwMode="auto">
          <a:xfrm>
            <a:off x="3855247" y="1"/>
            <a:ext cx="2948845" cy="49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680" tIns="47840" rIns="95680" bIns="47840" numCol="1" anchor="t" anchorCtr="0" compatLnSpc="1">
            <a:prstTxWarp prst="textNoShape">
              <a:avLst/>
            </a:prstTxWarp>
          </a:bodyPr>
          <a:lstStyle>
            <a:lvl1pPr algn="r" defTabSz="956920">
              <a:spcBef>
                <a:spcPct val="0"/>
              </a:spcBef>
              <a:defRPr sz="1300" b="0">
                <a:latin typeface="Arial" pitchFamily="34" charset="0"/>
              </a:defRPr>
            </a:lvl1pPr>
          </a:lstStyle>
          <a:p>
            <a:pPr>
              <a:defRPr/>
            </a:pPr>
            <a:endParaRPr lang="de-AT"/>
          </a:p>
        </p:txBody>
      </p:sp>
      <p:sp>
        <p:nvSpPr>
          <p:cNvPr id="33796" name="Rectangle 4"/>
          <p:cNvSpPr>
            <a:spLocks noGrp="1" noRot="1" noChangeAspect="1" noChangeArrowheads="1" noTextEdit="1"/>
          </p:cNvSpPr>
          <p:nvPr>
            <p:ph type="sldImg" idx="2"/>
          </p:nvPr>
        </p:nvSpPr>
        <p:spPr bwMode="auto">
          <a:xfrm>
            <a:off x="917575" y="746125"/>
            <a:ext cx="4970463" cy="372903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5605" name="Rectangle 5"/>
          <p:cNvSpPr>
            <a:spLocks noGrp="1" noChangeArrowheads="1"/>
          </p:cNvSpPr>
          <p:nvPr>
            <p:ph type="body" sz="quarter" idx="3"/>
          </p:nvPr>
        </p:nvSpPr>
        <p:spPr bwMode="auto">
          <a:xfrm>
            <a:off x="679802" y="4722946"/>
            <a:ext cx="5446010" cy="4474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680" tIns="47840" rIns="95680" bIns="47840" numCol="1" anchor="t" anchorCtr="0" compatLnSpc="1">
            <a:prstTxWarp prst="textNoShape">
              <a:avLst/>
            </a:prstTxWarp>
          </a:bodyPr>
          <a:lstStyle/>
          <a:p>
            <a:pPr lvl="0"/>
            <a:r>
              <a:rPr lang="de-AT" noProof="0"/>
              <a:t>Textmasterformate durch Klicken bearbeiten</a:t>
            </a:r>
          </a:p>
          <a:p>
            <a:pPr lvl="1"/>
            <a:r>
              <a:rPr lang="de-AT" noProof="0"/>
              <a:t>Zweite Ebene</a:t>
            </a:r>
          </a:p>
          <a:p>
            <a:pPr lvl="2"/>
            <a:r>
              <a:rPr lang="de-AT" noProof="0"/>
              <a:t>Dritte Ebene</a:t>
            </a:r>
          </a:p>
          <a:p>
            <a:pPr lvl="3"/>
            <a:r>
              <a:rPr lang="de-AT" noProof="0"/>
              <a:t>Vierte Ebene</a:t>
            </a:r>
          </a:p>
          <a:p>
            <a:pPr lvl="4"/>
            <a:r>
              <a:rPr lang="de-AT" noProof="0"/>
              <a:t>Fünfte Ebene</a:t>
            </a:r>
          </a:p>
        </p:txBody>
      </p:sp>
      <p:sp>
        <p:nvSpPr>
          <p:cNvPr id="25606" name="Rectangle 6"/>
          <p:cNvSpPr>
            <a:spLocks noGrp="1" noChangeArrowheads="1"/>
          </p:cNvSpPr>
          <p:nvPr>
            <p:ph type="ftr" sz="quarter" idx="4"/>
          </p:nvPr>
        </p:nvSpPr>
        <p:spPr bwMode="auto">
          <a:xfrm>
            <a:off x="0" y="9445893"/>
            <a:ext cx="2948846" cy="49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680" tIns="47840" rIns="95680" bIns="47840" numCol="1" anchor="b" anchorCtr="0" compatLnSpc="1">
            <a:prstTxWarp prst="textNoShape">
              <a:avLst/>
            </a:prstTxWarp>
          </a:bodyPr>
          <a:lstStyle>
            <a:lvl1pPr algn="l" defTabSz="956920">
              <a:spcBef>
                <a:spcPct val="0"/>
              </a:spcBef>
              <a:defRPr sz="1300" b="0">
                <a:latin typeface="Arial" pitchFamily="34" charset="0"/>
              </a:defRPr>
            </a:lvl1pPr>
          </a:lstStyle>
          <a:p>
            <a:pPr>
              <a:defRPr/>
            </a:pPr>
            <a:endParaRPr lang="de-AT"/>
          </a:p>
        </p:txBody>
      </p:sp>
      <p:sp>
        <p:nvSpPr>
          <p:cNvPr id="25607" name="Rectangle 7"/>
          <p:cNvSpPr>
            <a:spLocks noGrp="1" noChangeArrowheads="1"/>
          </p:cNvSpPr>
          <p:nvPr>
            <p:ph type="sldNum" sz="quarter" idx="5"/>
          </p:nvPr>
        </p:nvSpPr>
        <p:spPr bwMode="auto">
          <a:xfrm>
            <a:off x="3855247" y="9445893"/>
            <a:ext cx="2948845" cy="49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680" tIns="47840" rIns="95680" bIns="47840" numCol="1" anchor="b" anchorCtr="0" compatLnSpc="1">
            <a:prstTxWarp prst="textNoShape">
              <a:avLst/>
            </a:prstTxWarp>
          </a:bodyPr>
          <a:lstStyle>
            <a:lvl1pPr algn="r" defTabSz="956920">
              <a:spcBef>
                <a:spcPct val="0"/>
              </a:spcBef>
              <a:defRPr sz="1300" b="0">
                <a:latin typeface="Arial" pitchFamily="34" charset="0"/>
              </a:defRPr>
            </a:lvl1pPr>
          </a:lstStyle>
          <a:p>
            <a:pPr>
              <a:defRPr/>
            </a:pPr>
            <a:fld id="{8335CF79-0E4B-49EE-B3D5-651E591A0B85}" type="slidenum">
              <a:rPr lang="de-AT"/>
              <a:pPr>
                <a:defRPr/>
              </a:pPr>
              <a:t>‹Nr.›</a:t>
            </a:fld>
            <a:endParaRPr lang="de-AT"/>
          </a:p>
        </p:txBody>
      </p:sp>
    </p:spTree>
    <p:extLst>
      <p:ext uri="{BB962C8B-B14F-4D97-AF65-F5344CB8AC3E}">
        <p14:creationId xmlns:p14="http://schemas.microsoft.com/office/powerpoint/2010/main" val="367040662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2130429"/>
            <a:ext cx="7772400" cy="1470025"/>
          </a:xfrm>
        </p:spPr>
        <p:txBody>
          <a:bodyPr/>
          <a:lstStyle/>
          <a:p>
            <a:r>
              <a:rPr lang="de-DE"/>
              <a:t>Titelmasterformat durch Klicken bearbeiten</a:t>
            </a:r>
            <a:endParaRPr lang="de-AT"/>
          </a:p>
        </p:txBody>
      </p:sp>
      <p:sp>
        <p:nvSpPr>
          <p:cNvPr id="3" name="Untertitel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a:t>Formatvorlage des Untertitelmasters durch Klicken bearbeiten</a:t>
            </a:r>
            <a:endParaRPr lang="de-AT"/>
          </a:p>
        </p:txBody>
      </p:sp>
    </p:spTree>
    <p:extLst>
      <p:ext uri="{BB962C8B-B14F-4D97-AF65-F5344CB8AC3E}">
        <p14:creationId xmlns:p14="http://schemas.microsoft.com/office/powerpoint/2010/main" val="1857079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de-AT"/>
          </a:p>
        </p:txBody>
      </p:sp>
      <p:sp>
        <p:nvSpPr>
          <p:cNvPr id="3" name="Inhaltsplatzhalter 2"/>
          <p:cNvSpPr>
            <a:spLocks noGrp="1"/>
          </p:cNvSpPr>
          <p:nvPr>
            <p:ph idx="1"/>
          </p:nvPr>
        </p:nvSpPr>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AT"/>
          </a:p>
        </p:txBody>
      </p:sp>
    </p:spTree>
    <p:extLst>
      <p:ext uri="{BB962C8B-B14F-4D97-AF65-F5344CB8AC3E}">
        <p14:creationId xmlns:p14="http://schemas.microsoft.com/office/powerpoint/2010/main" val="4212520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4406904"/>
            <a:ext cx="7772400" cy="1362075"/>
          </a:xfrm>
        </p:spPr>
        <p:txBody>
          <a:bodyPr anchor="t"/>
          <a:lstStyle>
            <a:lvl1pPr algn="l">
              <a:defRPr sz="4000" b="1" cap="all"/>
            </a:lvl1pPr>
          </a:lstStyle>
          <a:p>
            <a:r>
              <a:rPr lang="de-DE"/>
              <a:t>Titelmasterformat durch Klicken bearbeiten</a:t>
            </a:r>
            <a:endParaRPr lang="de-AT"/>
          </a:p>
        </p:txBody>
      </p:sp>
      <p:sp>
        <p:nvSpPr>
          <p:cNvPr id="3" name="Textplatzhalt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 bearbeiten</a:t>
            </a:r>
          </a:p>
        </p:txBody>
      </p:sp>
    </p:spTree>
    <p:extLst>
      <p:ext uri="{BB962C8B-B14F-4D97-AF65-F5344CB8AC3E}">
        <p14:creationId xmlns:p14="http://schemas.microsoft.com/office/powerpoint/2010/main" val="4195738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de-AT"/>
          </a:p>
        </p:txBody>
      </p:sp>
      <p:sp>
        <p:nvSpPr>
          <p:cNvPr id="3" name="Inhaltsplatzhalter 2"/>
          <p:cNvSpPr>
            <a:spLocks noGrp="1"/>
          </p:cNvSpPr>
          <p:nvPr>
            <p:ph sz="half" idx="1"/>
          </p:nvPr>
        </p:nvSpPr>
        <p:spPr>
          <a:xfrm>
            <a:off x="468313" y="1582738"/>
            <a:ext cx="4032250" cy="45434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Inhaltsplatzhalter 3"/>
          <p:cNvSpPr>
            <a:spLocks noGrp="1"/>
          </p:cNvSpPr>
          <p:nvPr>
            <p:ph sz="half" idx="2"/>
          </p:nvPr>
        </p:nvSpPr>
        <p:spPr>
          <a:xfrm>
            <a:off x="4652965" y="1582738"/>
            <a:ext cx="4033837" cy="45434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AT"/>
          </a:p>
        </p:txBody>
      </p:sp>
    </p:spTree>
    <p:extLst>
      <p:ext uri="{BB962C8B-B14F-4D97-AF65-F5344CB8AC3E}">
        <p14:creationId xmlns:p14="http://schemas.microsoft.com/office/powerpoint/2010/main" val="79265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8229600" cy="1143000"/>
          </a:xfrm>
        </p:spPr>
        <p:txBody>
          <a:bodyPr/>
          <a:lstStyle>
            <a:lvl1pPr>
              <a:defRPr/>
            </a:lvl1pPr>
          </a:lstStyle>
          <a:p>
            <a:r>
              <a:rPr lang="de-DE"/>
              <a:t>Titelmasterformat durch Klicken bearbeiten</a:t>
            </a:r>
            <a:endParaRPr lang="de-AT"/>
          </a:p>
        </p:txBody>
      </p:sp>
      <p:sp>
        <p:nvSpPr>
          <p:cNvPr id="3" name="Textplatzhalt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4" name="Inhaltsplatzhalt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5" name="Textplatzhalt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6" name="Inhaltsplatzhalt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AT"/>
          </a:p>
        </p:txBody>
      </p:sp>
    </p:spTree>
    <p:extLst>
      <p:ext uri="{BB962C8B-B14F-4D97-AF65-F5344CB8AC3E}">
        <p14:creationId xmlns:p14="http://schemas.microsoft.com/office/powerpoint/2010/main" val="689680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de-AT"/>
          </a:p>
        </p:txBody>
      </p:sp>
    </p:spTree>
    <p:extLst>
      <p:ext uri="{BB962C8B-B14F-4D97-AF65-F5344CB8AC3E}">
        <p14:creationId xmlns:p14="http://schemas.microsoft.com/office/powerpoint/2010/main" val="2085824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3620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273050"/>
            <a:ext cx="3008313" cy="1162050"/>
          </a:xfrm>
        </p:spPr>
        <p:txBody>
          <a:bodyPr anchor="b"/>
          <a:lstStyle>
            <a:lvl1pPr algn="l">
              <a:defRPr sz="2000" b="1"/>
            </a:lvl1pPr>
          </a:lstStyle>
          <a:p>
            <a:r>
              <a:rPr lang="de-DE"/>
              <a:t>Titelmasterformat durch Klicken bearbeiten</a:t>
            </a:r>
            <a:endParaRPr lang="de-AT"/>
          </a:p>
        </p:txBody>
      </p:sp>
      <p:sp>
        <p:nvSpPr>
          <p:cNvPr id="3" name="Inhaltsplatzhalter 2"/>
          <p:cNvSpPr>
            <a:spLocks noGrp="1"/>
          </p:cNvSpPr>
          <p:nvPr>
            <p:ph idx="1"/>
          </p:nvPr>
        </p:nvSpPr>
        <p:spPr>
          <a:xfrm>
            <a:off x="3575051"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Textplatzhalter 3"/>
          <p:cNvSpPr>
            <a:spLocks noGrp="1"/>
          </p:cNvSpPr>
          <p:nvPr>
            <p:ph type="body" sz="half" idx="2"/>
          </p:nvPr>
        </p:nvSpPr>
        <p:spPr>
          <a:xfrm>
            <a:off x="457200"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 bearbeiten</a:t>
            </a:r>
          </a:p>
        </p:txBody>
      </p:sp>
    </p:spTree>
    <p:extLst>
      <p:ext uri="{BB962C8B-B14F-4D97-AF65-F5344CB8AC3E}">
        <p14:creationId xmlns:p14="http://schemas.microsoft.com/office/powerpoint/2010/main" val="3560464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2000" b="1"/>
            </a:lvl1pPr>
          </a:lstStyle>
          <a:p>
            <a:r>
              <a:rPr lang="de-DE"/>
              <a:t>Titelmasterformat durch Klicken bearbeiten</a:t>
            </a:r>
            <a:endParaRPr lang="de-AT"/>
          </a:p>
        </p:txBody>
      </p:sp>
      <p:sp>
        <p:nvSpPr>
          <p:cNvPr id="3" name="Bildplatzhalt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AT" noProof="0"/>
          </a:p>
        </p:txBody>
      </p:sp>
      <p:sp>
        <p:nvSpPr>
          <p:cNvPr id="4" name="Textplatzhalt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 bearbeiten</a:t>
            </a:r>
          </a:p>
        </p:txBody>
      </p:sp>
    </p:spTree>
    <p:extLst>
      <p:ext uri="{BB962C8B-B14F-4D97-AF65-F5344CB8AC3E}">
        <p14:creationId xmlns:p14="http://schemas.microsoft.com/office/powerpoint/2010/main" val="3144828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de-AT"/>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AT"/>
          </a:p>
        </p:txBody>
      </p:sp>
    </p:spTree>
    <p:extLst>
      <p:ext uri="{BB962C8B-B14F-4D97-AF65-F5344CB8AC3E}">
        <p14:creationId xmlns:p14="http://schemas.microsoft.com/office/powerpoint/2010/main" val="2131937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32575" y="714375"/>
            <a:ext cx="2054225" cy="5411788"/>
          </a:xfrm>
        </p:spPr>
        <p:txBody>
          <a:bodyPr vert="eaVert"/>
          <a:lstStyle/>
          <a:p>
            <a:r>
              <a:rPr lang="de-DE"/>
              <a:t>Titelmasterformat durch Klicken bearbeiten</a:t>
            </a:r>
            <a:endParaRPr lang="de-AT"/>
          </a:p>
        </p:txBody>
      </p:sp>
      <p:sp>
        <p:nvSpPr>
          <p:cNvPr id="3" name="Vertikaler Textplatzhalter 2"/>
          <p:cNvSpPr>
            <a:spLocks noGrp="1"/>
          </p:cNvSpPr>
          <p:nvPr>
            <p:ph type="body" orient="vert" idx="1"/>
          </p:nvPr>
        </p:nvSpPr>
        <p:spPr>
          <a:xfrm>
            <a:off x="468315" y="714375"/>
            <a:ext cx="6011862" cy="5411788"/>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AT"/>
          </a:p>
        </p:txBody>
      </p:sp>
    </p:spTree>
    <p:extLst>
      <p:ext uri="{BB962C8B-B14F-4D97-AF65-F5344CB8AC3E}">
        <p14:creationId xmlns:p14="http://schemas.microsoft.com/office/powerpoint/2010/main" val="37266897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Inhalt">
    <p:spTree>
      <p:nvGrpSpPr>
        <p:cNvPr id="1" name=""/>
        <p:cNvGrpSpPr/>
        <p:nvPr/>
      </p:nvGrpSpPr>
      <p:grpSpPr>
        <a:xfrm>
          <a:off x="0" y="0"/>
          <a:ext cx="0" cy="0"/>
          <a:chOff x="0" y="0"/>
          <a:chExt cx="0" cy="0"/>
        </a:xfrm>
      </p:grpSpPr>
      <p:sp>
        <p:nvSpPr>
          <p:cNvPr id="2" name="Inhaltsplatzhalter 1"/>
          <p:cNvSpPr>
            <a:spLocks noGrp="1"/>
          </p:cNvSpPr>
          <p:nvPr>
            <p:ph/>
          </p:nvPr>
        </p:nvSpPr>
        <p:spPr>
          <a:xfrm>
            <a:off x="468315" y="714375"/>
            <a:ext cx="8218487" cy="541178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AT"/>
          </a:p>
        </p:txBody>
      </p:sp>
    </p:spTree>
    <p:extLst>
      <p:ext uri="{BB962C8B-B14F-4D97-AF65-F5344CB8AC3E}">
        <p14:creationId xmlns:p14="http://schemas.microsoft.com/office/powerpoint/2010/main" val="5602284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Tabellenplatzhalter 2"/>
          <p:cNvSpPr>
            <a:spLocks noGrp="1"/>
          </p:cNvSpPr>
          <p:nvPr>
            <p:ph type="tbl" idx="1"/>
          </p:nvPr>
        </p:nvSpPr>
        <p:spPr>
          <a:xfrm>
            <a:off x="468315" y="1582738"/>
            <a:ext cx="8218487" cy="4543425"/>
          </a:xfrm>
        </p:spPr>
        <p:txBody>
          <a:bodyPr/>
          <a:lstStyle/>
          <a:p>
            <a:pPr lvl="0"/>
            <a:endParaRPr lang="de-AT" noProof="0"/>
          </a:p>
        </p:txBody>
      </p:sp>
      <p:sp>
        <p:nvSpPr>
          <p:cNvPr id="4" name="Title 3"/>
          <p:cNvSpPr>
            <a:spLocks noGrp="1"/>
          </p:cNvSpPr>
          <p:nvPr>
            <p:ph type="title"/>
          </p:nvPr>
        </p:nvSpPr>
        <p:spPr/>
        <p:txBody>
          <a:bodyPr/>
          <a:lstStyle/>
          <a:p>
            <a:r>
              <a:rPr lang="en-US"/>
              <a:t>Click to edit Master title style</a:t>
            </a:r>
            <a:endParaRPr lang="en-IE"/>
          </a:p>
        </p:txBody>
      </p:sp>
    </p:spTree>
    <p:extLst>
      <p:ext uri="{BB962C8B-B14F-4D97-AF65-F5344CB8AC3E}">
        <p14:creationId xmlns:p14="http://schemas.microsoft.com/office/powerpoint/2010/main" val="3658998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0"/>
          <p:cNvSpPr>
            <a:spLocks noChangeShapeType="1"/>
          </p:cNvSpPr>
          <p:nvPr userDrawn="1"/>
        </p:nvSpPr>
        <p:spPr bwMode="auto">
          <a:xfrm>
            <a:off x="0" y="415925"/>
            <a:ext cx="9144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AT"/>
          </a:p>
        </p:txBody>
      </p:sp>
      <p:sp>
        <p:nvSpPr>
          <p:cNvPr id="1028" name="Rectangle 22"/>
          <p:cNvSpPr>
            <a:spLocks noGrp="1" noChangeArrowheads="1"/>
          </p:cNvSpPr>
          <p:nvPr>
            <p:ph type="title"/>
          </p:nvPr>
        </p:nvSpPr>
        <p:spPr bwMode="auto">
          <a:xfrm>
            <a:off x="468315" y="714375"/>
            <a:ext cx="8218487" cy="6810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de-DE"/>
          </a:p>
        </p:txBody>
      </p:sp>
      <p:sp>
        <p:nvSpPr>
          <p:cNvPr id="1029" name="Rectangle 23"/>
          <p:cNvSpPr>
            <a:spLocks noGrp="1" noChangeArrowheads="1"/>
          </p:cNvSpPr>
          <p:nvPr>
            <p:ph type="body" idx="1"/>
          </p:nvPr>
        </p:nvSpPr>
        <p:spPr bwMode="auto">
          <a:xfrm>
            <a:off x="468315" y="1582738"/>
            <a:ext cx="8218487" cy="454342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DDDDD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de-AT"/>
              <a:t>Erste Ebene</a:t>
            </a:r>
          </a:p>
          <a:p>
            <a:pPr lvl="1"/>
            <a:r>
              <a:rPr lang="de-AT"/>
              <a:t>Zweite Ebene</a:t>
            </a:r>
          </a:p>
          <a:p>
            <a:pPr lvl="2"/>
            <a:r>
              <a:rPr lang="de-AT"/>
              <a:t>Dritte Ebene</a:t>
            </a:r>
          </a:p>
          <a:p>
            <a:pPr lvl="3"/>
            <a:r>
              <a:rPr lang="de-AT"/>
              <a:t>Vierte Ebene</a:t>
            </a:r>
          </a:p>
          <a:p>
            <a:pPr lvl="4"/>
            <a:r>
              <a:rPr lang="de-AT"/>
              <a:t>Fünfte Ebene</a:t>
            </a:r>
          </a:p>
        </p:txBody>
      </p:sp>
      <p:sp>
        <p:nvSpPr>
          <p:cNvPr id="1030" name="Text Box 24"/>
          <p:cNvSpPr txBox="1">
            <a:spLocks noChangeArrowheads="1"/>
          </p:cNvSpPr>
          <p:nvPr userDrawn="1"/>
        </p:nvSpPr>
        <p:spPr bwMode="auto">
          <a:xfrm>
            <a:off x="7996238" y="6599242"/>
            <a:ext cx="92551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30000"/>
              </a:spcBef>
              <a:defRPr sz="2000" b="1">
                <a:solidFill>
                  <a:schemeClr val="tx1"/>
                </a:solidFill>
                <a:latin typeface="Arial" charset="0"/>
              </a:defRPr>
            </a:lvl1pPr>
            <a:lvl2pPr marL="742950" indent="-285750" eaLnBrk="0" hangingPunct="0">
              <a:spcBef>
                <a:spcPct val="30000"/>
              </a:spcBef>
              <a:defRPr sz="2000" b="1">
                <a:solidFill>
                  <a:schemeClr val="tx1"/>
                </a:solidFill>
                <a:latin typeface="Arial" charset="0"/>
              </a:defRPr>
            </a:lvl2pPr>
            <a:lvl3pPr marL="1143000" indent="-228600" eaLnBrk="0" hangingPunct="0">
              <a:spcBef>
                <a:spcPct val="30000"/>
              </a:spcBef>
              <a:defRPr sz="2000" b="1">
                <a:solidFill>
                  <a:schemeClr val="tx1"/>
                </a:solidFill>
                <a:latin typeface="Arial" charset="0"/>
              </a:defRPr>
            </a:lvl3pPr>
            <a:lvl4pPr marL="1600200" indent="-228600" eaLnBrk="0" hangingPunct="0">
              <a:spcBef>
                <a:spcPct val="30000"/>
              </a:spcBef>
              <a:defRPr sz="2000" b="1">
                <a:solidFill>
                  <a:schemeClr val="tx1"/>
                </a:solidFill>
                <a:latin typeface="Arial" charset="0"/>
              </a:defRPr>
            </a:lvl4pPr>
            <a:lvl5pPr marL="2057400" indent="-228600" eaLnBrk="0" hangingPunct="0">
              <a:spcBef>
                <a:spcPct val="30000"/>
              </a:spcBef>
              <a:defRPr sz="2000" b="1">
                <a:solidFill>
                  <a:schemeClr val="tx1"/>
                </a:solidFill>
                <a:latin typeface="Arial" charset="0"/>
              </a:defRPr>
            </a:lvl5pPr>
            <a:lvl6pPr marL="2514600" indent="-228600" algn="ctr" eaLnBrk="0" fontAlgn="base" hangingPunct="0">
              <a:spcBef>
                <a:spcPct val="30000"/>
              </a:spcBef>
              <a:spcAft>
                <a:spcPct val="0"/>
              </a:spcAft>
              <a:defRPr sz="2000" b="1">
                <a:solidFill>
                  <a:schemeClr val="tx1"/>
                </a:solidFill>
                <a:latin typeface="Arial" charset="0"/>
              </a:defRPr>
            </a:lvl6pPr>
            <a:lvl7pPr marL="2971800" indent="-228600" algn="ctr" eaLnBrk="0" fontAlgn="base" hangingPunct="0">
              <a:spcBef>
                <a:spcPct val="30000"/>
              </a:spcBef>
              <a:spcAft>
                <a:spcPct val="0"/>
              </a:spcAft>
              <a:defRPr sz="2000" b="1">
                <a:solidFill>
                  <a:schemeClr val="tx1"/>
                </a:solidFill>
                <a:latin typeface="Arial" charset="0"/>
              </a:defRPr>
            </a:lvl7pPr>
            <a:lvl8pPr marL="3429000" indent="-228600" algn="ctr" eaLnBrk="0" fontAlgn="base" hangingPunct="0">
              <a:spcBef>
                <a:spcPct val="30000"/>
              </a:spcBef>
              <a:spcAft>
                <a:spcPct val="0"/>
              </a:spcAft>
              <a:defRPr sz="2000" b="1">
                <a:solidFill>
                  <a:schemeClr val="tx1"/>
                </a:solidFill>
                <a:latin typeface="Arial" charset="0"/>
              </a:defRPr>
            </a:lvl8pPr>
            <a:lvl9pPr marL="3886200" indent="-228600" algn="ctr" eaLnBrk="0" fontAlgn="base" hangingPunct="0">
              <a:spcBef>
                <a:spcPct val="30000"/>
              </a:spcBef>
              <a:spcAft>
                <a:spcPct val="0"/>
              </a:spcAft>
              <a:defRPr sz="2000" b="1">
                <a:solidFill>
                  <a:schemeClr val="tx1"/>
                </a:solidFill>
                <a:latin typeface="Arial" charset="0"/>
              </a:defRPr>
            </a:lvl9pPr>
          </a:lstStyle>
          <a:p>
            <a:pPr algn="r" eaLnBrk="1" hangingPunct="1">
              <a:spcBef>
                <a:spcPct val="50000"/>
              </a:spcBef>
              <a:defRPr/>
            </a:pPr>
            <a:fld id="{F754889F-290A-4ED1-8905-D84A8ECF4D9C}" type="slidenum">
              <a:rPr lang="de-AT" sz="1000" smtClean="0">
                <a:solidFill>
                  <a:srgbClr val="7D7D7D"/>
                </a:solidFill>
                <a:latin typeface="Verdana" pitchFamily="34" charset="0"/>
              </a:rPr>
              <a:pPr algn="r" eaLnBrk="1" hangingPunct="1">
                <a:spcBef>
                  <a:spcPct val="50000"/>
                </a:spcBef>
                <a:defRPr/>
              </a:pPr>
              <a:t>‹Nr.›</a:t>
            </a:fld>
            <a:endParaRPr lang="de-AT" sz="1000">
              <a:solidFill>
                <a:srgbClr val="7D7D7D"/>
              </a:solidFill>
              <a:latin typeface="Verdana" pitchFamily="34" charset="0"/>
            </a:endParaRPr>
          </a:p>
        </p:txBody>
      </p:sp>
      <p:sp>
        <p:nvSpPr>
          <p:cNvPr id="13" name="Text Box 30"/>
          <p:cNvSpPr txBox="1">
            <a:spLocks noChangeArrowheads="1"/>
          </p:cNvSpPr>
          <p:nvPr userDrawn="1"/>
        </p:nvSpPr>
        <p:spPr bwMode="auto">
          <a:xfrm>
            <a:off x="144393" y="6627817"/>
            <a:ext cx="1882924"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39600" anchor="ctr"/>
          <a:lstStyle>
            <a:lvl1pPr eaLnBrk="0" hangingPunct="0">
              <a:spcBef>
                <a:spcPct val="30000"/>
              </a:spcBef>
              <a:defRPr sz="2000" b="1">
                <a:solidFill>
                  <a:schemeClr val="tx1"/>
                </a:solidFill>
                <a:latin typeface="Arial" charset="0"/>
              </a:defRPr>
            </a:lvl1pPr>
            <a:lvl2pPr marL="742950" indent="-285750" eaLnBrk="0" hangingPunct="0">
              <a:spcBef>
                <a:spcPct val="30000"/>
              </a:spcBef>
              <a:defRPr sz="2000" b="1">
                <a:solidFill>
                  <a:schemeClr val="tx1"/>
                </a:solidFill>
                <a:latin typeface="Arial" charset="0"/>
              </a:defRPr>
            </a:lvl2pPr>
            <a:lvl3pPr marL="1143000" indent="-228600" eaLnBrk="0" hangingPunct="0">
              <a:spcBef>
                <a:spcPct val="30000"/>
              </a:spcBef>
              <a:defRPr sz="2000" b="1">
                <a:solidFill>
                  <a:schemeClr val="tx1"/>
                </a:solidFill>
                <a:latin typeface="Arial" charset="0"/>
              </a:defRPr>
            </a:lvl3pPr>
            <a:lvl4pPr marL="1600200" indent="-228600" eaLnBrk="0" hangingPunct="0">
              <a:spcBef>
                <a:spcPct val="30000"/>
              </a:spcBef>
              <a:defRPr sz="2000" b="1">
                <a:solidFill>
                  <a:schemeClr val="tx1"/>
                </a:solidFill>
                <a:latin typeface="Arial" charset="0"/>
              </a:defRPr>
            </a:lvl4pPr>
            <a:lvl5pPr marL="2057400" indent="-228600" eaLnBrk="0" hangingPunct="0">
              <a:spcBef>
                <a:spcPct val="30000"/>
              </a:spcBef>
              <a:defRPr sz="2000" b="1">
                <a:solidFill>
                  <a:schemeClr val="tx1"/>
                </a:solidFill>
                <a:latin typeface="Arial" charset="0"/>
              </a:defRPr>
            </a:lvl5pPr>
            <a:lvl6pPr marL="2514600" indent="-228600" algn="ctr" eaLnBrk="0" fontAlgn="base" hangingPunct="0">
              <a:spcBef>
                <a:spcPct val="30000"/>
              </a:spcBef>
              <a:spcAft>
                <a:spcPct val="0"/>
              </a:spcAft>
              <a:defRPr sz="2000" b="1">
                <a:solidFill>
                  <a:schemeClr val="tx1"/>
                </a:solidFill>
                <a:latin typeface="Arial" charset="0"/>
              </a:defRPr>
            </a:lvl6pPr>
            <a:lvl7pPr marL="2971800" indent="-228600" algn="ctr" eaLnBrk="0" fontAlgn="base" hangingPunct="0">
              <a:spcBef>
                <a:spcPct val="30000"/>
              </a:spcBef>
              <a:spcAft>
                <a:spcPct val="0"/>
              </a:spcAft>
              <a:defRPr sz="2000" b="1">
                <a:solidFill>
                  <a:schemeClr val="tx1"/>
                </a:solidFill>
                <a:latin typeface="Arial" charset="0"/>
              </a:defRPr>
            </a:lvl7pPr>
            <a:lvl8pPr marL="3429000" indent="-228600" algn="ctr" eaLnBrk="0" fontAlgn="base" hangingPunct="0">
              <a:spcBef>
                <a:spcPct val="30000"/>
              </a:spcBef>
              <a:spcAft>
                <a:spcPct val="0"/>
              </a:spcAft>
              <a:defRPr sz="2000" b="1">
                <a:solidFill>
                  <a:schemeClr val="tx1"/>
                </a:solidFill>
                <a:latin typeface="Arial" charset="0"/>
              </a:defRPr>
            </a:lvl8pPr>
            <a:lvl9pPr marL="3886200" indent="-228600" algn="ctr" eaLnBrk="0" fontAlgn="base" hangingPunct="0">
              <a:spcBef>
                <a:spcPct val="30000"/>
              </a:spcBef>
              <a:spcAft>
                <a:spcPct val="0"/>
              </a:spcAft>
              <a:defRPr sz="2000" b="1">
                <a:solidFill>
                  <a:schemeClr val="tx1"/>
                </a:solidFill>
                <a:latin typeface="Arial" charset="0"/>
              </a:defRPr>
            </a:lvl9pPr>
          </a:lstStyle>
          <a:p>
            <a:pPr algn="l" eaLnBrk="1" hangingPunct="1">
              <a:spcBef>
                <a:spcPct val="50000"/>
              </a:spcBef>
              <a:defRPr/>
            </a:pPr>
            <a:r>
              <a:rPr lang="en-US" sz="1100" b="0" dirty="0">
                <a:latin typeface="Verdana" pitchFamily="34" charset="0"/>
              </a:rPr>
              <a:t>VECTO </a:t>
            </a:r>
            <a:r>
              <a:rPr lang="en-US" sz="1100" b="0" baseline="0" dirty="0">
                <a:latin typeface="Verdana" pitchFamily="34" charset="0"/>
              </a:rPr>
              <a:t>Release Notes</a:t>
            </a:r>
            <a:endParaRPr lang="en-GB" sz="1100" b="0" dirty="0">
              <a:latin typeface="Verdana" pitchFamily="34" charset="0"/>
            </a:endParaRPr>
          </a:p>
        </p:txBody>
      </p:sp>
      <p:pic>
        <p:nvPicPr>
          <p:cNvPr id="2" name="Picture 2"/>
          <p:cNvPicPr>
            <a:picLocks noChangeAspect="1" noChangeArrowheads="1"/>
          </p:cNvPicPr>
          <p:nvPr userDrawn="1"/>
        </p:nvPicPr>
        <p:blipFill>
          <a:blip r:embed="rId15" cstate="print">
            <a:extLst>
              <a:ext uri="{28A0092B-C50C-407E-A947-70E740481C1C}">
                <a14:useLocalDpi xmlns:a14="http://schemas.microsoft.com/office/drawing/2010/main" val="0"/>
              </a:ext>
            </a:extLst>
          </a:blip>
          <a:stretch>
            <a:fillRect/>
          </a:stretch>
        </p:blipFill>
        <p:spPr bwMode="auto">
          <a:xfrm>
            <a:off x="7389209" y="37884"/>
            <a:ext cx="1421346" cy="35297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 descr="I:\raphaelluz\VECTO\source\VECTO\User Manual\pics\VECTO-small.PNG"/>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07504" y="58588"/>
            <a:ext cx="978351" cy="332270"/>
          </a:xfrm>
          <a:prstGeom prst="rect">
            <a:avLst/>
          </a:prstGeom>
          <a:noFill/>
          <a:extLst>
            <a:ext uri="{909E8E84-426E-40DD-AFC4-6F175D3DCCD1}">
              <a14:hiddenFill xmlns:a14="http://schemas.microsoft.com/office/drawing/2010/main">
                <a:solidFill>
                  <a:srgbClr val="FFFFFF"/>
                </a:solidFill>
              </a14:hiddenFill>
            </a:ext>
          </a:extLst>
        </p:spPr>
      </p:pic>
      <p:sp>
        <p:nvSpPr>
          <p:cNvPr id="14" name="Line 20"/>
          <p:cNvSpPr>
            <a:spLocks noChangeShapeType="1"/>
          </p:cNvSpPr>
          <p:nvPr userDrawn="1"/>
        </p:nvSpPr>
        <p:spPr bwMode="auto">
          <a:xfrm>
            <a:off x="0" y="6599242"/>
            <a:ext cx="9144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A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0" fontAlgn="base" hangingPunct="0">
        <a:spcBef>
          <a:spcPct val="0"/>
        </a:spcBef>
        <a:spcAft>
          <a:spcPct val="0"/>
        </a:spcAft>
        <a:defRPr sz="2400" b="1">
          <a:solidFill>
            <a:srgbClr val="990000"/>
          </a:solidFill>
          <a:latin typeface="+mj-lt"/>
          <a:ea typeface="+mj-ea"/>
          <a:cs typeface="+mj-cs"/>
        </a:defRPr>
      </a:lvl1pPr>
      <a:lvl2pPr algn="ctr" rtl="0" eaLnBrk="0" fontAlgn="base" hangingPunct="0">
        <a:spcBef>
          <a:spcPct val="0"/>
        </a:spcBef>
        <a:spcAft>
          <a:spcPct val="0"/>
        </a:spcAft>
        <a:defRPr sz="2400" b="1">
          <a:solidFill>
            <a:srgbClr val="990000"/>
          </a:solidFill>
          <a:latin typeface="Arial" pitchFamily="34" charset="0"/>
        </a:defRPr>
      </a:lvl2pPr>
      <a:lvl3pPr algn="ctr" rtl="0" eaLnBrk="0" fontAlgn="base" hangingPunct="0">
        <a:spcBef>
          <a:spcPct val="0"/>
        </a:spcBef>
        <a:spcAft>
          <a:spcPct val="0"/>
        </a:spcAft>
        <a:defRPr sz="2400" b="1">
          <a:solidFill>
            <a:srgbClr val="990000"/>
          </a:solidFill>
          <a:latin typeface="Arial" pitchFamily="34" charset="0"/>
        </a:defRPr>
      </a:lvl3pPr>
      <a:lvl4pPr algn="ctr" rtl="0" eaLnBrk="0" fontAlgn="base" hangingPunct="0">
        <a:spcBef>
          <a:spcPct val="0"/>
        </a:spcBef>
        <a:spcAft>
          <a:spcPct val="0"/>
        </a:spcAft>
        <a:defRPr sz="2400" b="1">
          <a:solidFill>
            <a:srgbClr val="990000"/>
          </a:solidFill>
          <a:latin typeface="Arial" pitchFamily="34" charset="0"/>
        </a:defRPr>
      </a:lvl4pPr>
      <a:lvl5pPr algn="ctr" rtl="0" eaLnBrk="0" fontAlgn="base" hangingPunct="0">
        <a:spcBef>
          <a:spcPct val="0"/>
        </a:spcBef>
        <a:spcAft>
          <a:spcPct val="0"/>
        </a:spcAft>
        <a:defRPr sz="2400" b="1">
          <a:solidFill>
            <a:srgbClr val="990000"/>
          </a:solidFill>
          <a:latin typeface="Arial" pitchFamily="34" charset="0"/>
        </a:defRPr>
      </a:lvl5pPr>
      <a:lvl6pPr marL="457200" algn="ctr" rtl="0" fontAlgn="base">
        <a:spcBef>
          <a:spcPct val="0"/>
        </a:spcBef>
        <a:spcAft>
          <a:spcPct val="0"/>
        </a:spcAft>
        <a:defRPr sz="2400" b="1">
          <a:solidFill>
            <a:srgbClr val="990000"/>
          </a:solidFill>
          <a:latin typeface="Arial" pitchFamily="34" charset="0"/>
        </a:defRPr>
      </a:lvl6pPr>
      <a:lvl7pPr marL="914400" algn="ctr" rtl="0" fontAlgn="base">
        <a:spcBef>
          <a:spcPct val="0"/>
        </a:spcBef>
        <a:spcAft>
          <a:spcPct val="0"/>
        </a:spcAft>
        <a:defRPr sz="2400" b="1">
          <a:solidFill>
            <a:srgbClr val="990000"/>
          </a:solidFill>
          <a:latin typeface="Arial" pitchFamily="34" charset="0"/>
        </a:defRPr>
      </a:lvl7pPr>
      <a:lvl8pPr marL="1371600" algn="ctr" rtl="0" fontAlgn="base">
        <a:spcBef>
          <a:spcPct val="0"/>
        </a:spcBef>
        <a:spcAft>
          <a:spcPct val="0"/>
        </a:spcAft>
        <a:defRPr sz="2400" b="1">
          <a:solidFill>
            <a:srgbClr val="990000"/>
          </a:solidFill>
          <a:latin typeface="Arial" pitchFamily="34" charset="0"/>
        </a:defRPr>
      </a:lvl8pPr>
      <a:lvl9pPr marL="1828800" algn="ctr" rtl="0" fontAlgn="base">
        <a:spcBef>
          <a:spcPct val="0"/>
        </a:spcBef>
        <a:spcAft>
          <a:spcPct val="0"/>
        </a:spcAft>
        <a:defRPr sz="2400" b="1">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94"/>
          <p:cNvSpPr txBox="1">
            <a:spLocks noChangeArrowheads="1"/>
          </p:cNvSpPr>
          <p:nvPr/>
        </p:nvSpPr>
        <p:spPr bwMode="auto">
          <a:xfrm>
            <a:off x="539554" y="1052736"/>
            <a:ext cx="8136259"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b="1">
                <a:solidFill>
                  <a:schemeClr val="tx1"/>
                </a:solidFill>
                <a:latin typeface="Arial" charset="0"/>
              </a:defRPr>
            </a:lvl1pPr>
            <a:lvl2pPr marL="742950" indent="-285750" eaLnBrk="0" hangingPunct="0">
              <a:defRPr sz="1600" b="1">
                <a:solidFill>
                  <a:schemeClr val="tx1"/>
                </a:solidFill>
                <a:latin typeface="Arial" charset="0"/>
              </a:defRPr>
            </a:lvl2pPr>
            <a:lvl3pPr marL="1143000" indent="-228600" eaLnBrk="0" hangingPunct="0">
              <a:defRPr sz="1600" b="1">
                <a:solidFill>
                  <a:schemeClr val="tx1"/>
                </a:solidFill>
                <a:latin typeface="Arial" charset="0"/>
              </a:defRPr>
            </a:lvl3pPr>
            <a:lvl4pPr marL="1600200" indent="-228600" eaLnBrk="0" hangingPunct="0">
              <a:defRPr sz="1600" b="1">
                <a:solidFill>
                  <a:schemeClr val="tx1"/>
                </a:solidFill>
                <a:latin typeface="Arial" charset="0"/>
              </a:defRPr>
            </a:lvl4pPr>
            <a:lvl5pPr marL="2057400" indent="-228600" eaLnBrk="0" hangingPunct="0">
              <a:defRPr sz="1600" b="1">
                <a:solidFill>
                  <a:schemeClr val="tx1"/>
                </a:solidFill>
                <a:latin typeface="Arial" charset="0"/>
              </a:defRPr>
            </a:lvl5pPr>
            <a:lvl6pPr marL="2514600" indent="-228600" algn="ctr" eaLnBrk="0" fontAlgn="base" hangingPunct="0">
              <a:spcBef>
                <a:spcPct val="50000"/>
              </a:spcBef>
              <a:spcAft>
                <a:spcPct val="0"/>
              </a:spcAft>
              <a:defRPr sz="1600" b="1">
                <a:solidFill>
                  <a:schemeClr val="tx1"/>
                </a:solidFill>
                <a:latin typeface="Arial" charset="0"/>
              </a:defRPr>
            </a:lvl6pPr>
            <a:lvl7pPr marL="2971800" indent="-228600" algn="ctr" eaLnBrk="0" fontAlgn="base" hangingPunct="0">
              <a:spcBef>
                <a:spcPct val="50000"/>
              </a:spcBef>
              <a:spcAft>
                <a:spcPct val="0"/>
              </a:spcAft>
              <a:defRPr sz="1600" b="1">
                <a:solidFill>
                  <a:schemeClr val="tx1"/>
                </a:solidFill>
                <a:latin typeface="Arial" charset="0"/>
              </a:defRPr>
            </a:lvl7pPr>
            <a:lvl8pPr marL="3429000" indent="-228600" algn="ctr" eaLnBrk="0" fontAlgn="base" hangingPunct="0">
              <a:spcBef>
                <a:spcPct val="50000"/>
              </a:spcBef>
              <a:spcAft>
                <a:spcPct val="0"/>
              </a:spcAft>
              <a:defRPr sz="1600" b="1">
                <a:solidFill>
                  <a:schemeClr val="tx1"/>
                </a:solidFill>
                <a:latin typeface="Arial" charset="0"/>
              </a:defRPr>
            </a:lvl8pPr>
            <a:lvl9pPr marL="3886200" indent="-228600" algn="ctr" eaLnBrk="0" fontAlgn="base" hangingPunct="0">
              <a:spcBef>
                <a:spcPct val="50000"/>
              </a:spcBef>
              <a:spcAft>
                <a:spcPct val="0"/>
              </a:spcAft>
              <a:defRPr sz="1600" b="1">
                <a:solidFill>
                  <a:schemeClr val="tx1"/>
                </a:solidFill>
                <a:latin typeface="Arial" charset="0"/>
              </a:defRPr>
            </a:lvl9pPr>
          </a:lstStyle>
          <a:p>
            <a:pPr eaLnBrk="1" hangingPunct="1"/>
            <a:r>
              <a:rPr lang="en-US" sz="3200" dirty="0">
                <a:solidFill>
                  <a:srgbClr val="990000"/>
                </a:solidFill>
              </a:rPr>
              <a:t>VECTO 3.x</a:t>
            </a:r>
          </a:p>
          <a:p>
            <a:pPr eaLnBrk="1" hangingPunct="1"/>
            <a:r>
              <a:rPr lang="en-US" sz="2000" dirty="0">
                <a:solidFill>
                  <a:srgbClr val="990000"/>
                </a:solidFill>
              </a:rPr>
              <a:t>17.11.2020</a:t>
            </a:r>
          </a:p>
          <a:p>
            <a:pPr eaLnBrk="1" hangingPunct="1"/>
            <a:endParaRPr lang="en-US" sz="2000" dirty="0">
              <a:solidFill>
                <a:srgbClr val="990000"/>
              </a:solidFill>
            </a:endParaRPr>
          </a:p>
          <a:p>
            <a:pPr eaLnBrk="1" hangingPunct="1"/>
            <a:endParaRPr lang="en-US" sz="2000" dirty="0">
              <a:solidFill>
                <a:srgbClr val="990000"/>
              </a:solidFill>
            </a:endParaRPr>
          </a:p>
          <a:p>
            <a:pPr eaLnBrk="1" hangingPunct="1"/>
            <a:endParaRPr lang="en-US" sz="2400" dirty="0">
              <a:solidFill>
                <a:srgbClr val="C00000"/>
              </a:solidFill>
            </a:endParaRPr>
          </a:p>
          <a:p>
            <a:pPr eaLnBrk="1" hangingPunct="1"/>
            <a:endParaRPr lang="en-US" sz="2400" dirty="0">
              <a:solidFill>
                <a:srgbClr val="C00000"/>
              </a:solidFill>
            </a:endParaRPr>
          </a:p>
          <a:p>
            <a:pPr eaLnBrk="1" hangingPunct="1"/>
            <a:endParaRPr lang="en-US" sz="2400" dirty="0">
              <a:solidFill>
                <a:srgbClr val="C00000"/>
              </a:solidFill>
            </a:endParaRPr>
          </a:p>
          <a:p>
            <a:pPr eaLnBrk="1" hangingPunct="1"/>
            <a:r>
              <a:rPr lang="en-US" sz="2400" dirty="0">
                <a:solidFill>
                  <a:srgbClr val="990000"/>
                </a:solidFill>
              </a:rPr>
              <a:t>Release Notes</a:t>
            </a:r>
          </a:p>
        </p:txBody>
      </p:sp>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70" y="2420888"/>
            <a:ext cx="4176464" cy="1627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1384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3.3.9. 2175 Official Release</a:t>
            </a:r>
            <a:br>
              <a:rPr lang="en-US" dirty="0"/>
            </a:br>
            <a:r>
              <a:rPr lang="en-US" sz="1600" dirty="0"/>
              <a:t>2020-12-15</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Bugfixes (compared to version 3.3.9.2147)</a:t>
            </a:r>
          </a:p>
          <a:p>
            <a:pPr lvl="1">
              <a:tabLst>
                <a:tab pos="1885950" algn="l"/>
              </a:tabLst>
            </a:pPr>
            <a:r>
              <a:rPr lang="en-US" sz="1600" dirty="0"/>
              <a:t>[VECTO-1374] - VECTO VTP error – regression update</a:t>
            </a:r>
          </a:p>
        </p:txBody>
      </p:sp>
      <p:sp>
        <p:nvSpPr>
          <p:cNvPr id="4" name="Rectangle 1">
            <a:extLst>
              <a:ext uri="{FF2B5EF4-FFF2-40B4-BE49-F238E27FC236}">
                <a16:creationId xmlns:a16="http://schemas.microsoft.com/office/drawing/2014/main" id="{B3F80CC9-2CE8-4593-A50D-6AA688AFA8F6}"/>
              </a:ext>
            </a:extLst>
          </p:cNvPr>
          <p:cNvSpPr>
            <a:spLocks noChangeArrowheads="1"/>
          </p:cNvSpPr>
          <p:nvPr/>
        </p:nvSpPr>
        <p:spPr bwMode="auto">
          <a:xfrm>
            <a:off x="0" y="0"/>
            <a:ext cx="9144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900" b="0" i="0" u="none" strike="noStrike" cap="none" normalizeH="0" baseline="0">
                <a:ln>
                  <a:noFill/>
                </a:ln>
                <a:solidFill>
                  <a:srgbClr val="A31515"/>
                </a:solidFill>
                <a:effectLst/>
                <a:latin typeface="Consolas" panose="020B0609020204030204" pitchFamily="49" charset="0"/>
              </a:rPr>
              <a:t>2175</a:t>
            </a:r>
            <a:r>
              <a:rPr kumimoji="0" lang="de-DE" altLang="de-DE" sz="900" b="0" i="0" u="none" strike="noStrike" cap="none" normalizeH="0" baseline="0">
                <a:ln>
                  <a:noFill/>
                </a:ln>
                <a:solidFill>
                  <a:srgbClr val="000000"/>
                </a:solidFill>
                <a:effectLst/>
                <a:latin typeface="Consolas" panose="020B0609020204030204" pitchFamily="49" charset="0"/>
              </a:rPr>
              <a:t> </a:t>
            </a:r>
            <a:endParaRPr kumimoji="0" lang="de-DE" altLang="de-DE"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309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3.3.9.2147 Release Candidate</a:t>
            </a:r>
            <a:br>
              <a:rPr lang="en-US" dirty="0"/>
            </a:br>
            <a:r>
              <a:rPr lang="en-US" sz="1600" dirty="0"/>
              <a:t>2020-11-17</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endParaRPr lang="en-US" sz="1800" b="1" dirty="0"/>
          </a:p>
          <a:p>
            <a:pPr lvl="1">
              <a:tabLst>
                <a:tab pos="1885950" algn="l"/>
              </a:tabLst>
            </a:pPr>
            <a:r>
              <a:rPr lang="en-US" sz="1600" dirty="0"/>
              <a:t>[VECTO-1331] - VTP Mode does not function for vehicles of group 3</a:t>
            </a:r>
          </a:p>
          <a:p>
            <a:pPr lvl="1">
              <a:tabLst>
                <a:tab pos="1885950" algn="l"/>
              </a:tabLst>
            </a:pPr>
            <a:r>
              <a:rPr lang="en-US" sz="1600" dirty="0"/>
              <a:t>[VECTO-1355] - VTP Simulation Abort</a:t>
            </a:r>
          </a:p>
          <a:p>
            <a:pPr lvl="1">
              <a:tabLst>
                <a:tab pos="1885950" algn="l"/>
              </a:tabLst>
            </a:pPr>
            <a:r>
              <a:rPr lang="en-US" sz="1600" dirty="0"/>
              <a:t>[VECTO-1356] - PTO Losses not considered in VTP simulation</a:t>
            </a:r>
          </a:p>
          <a:p>
            <a:pPr lvl="1">
              <a:tabLst>
                <a:tab pos="1885950" algn="l"/>
              </a:tabLst>
            </a:pPr>
            <a:r>
              <a:rPr lang="en-US" sz="1600" dirty="0"/>
              <a:t>[VECTO-1361] - Torque Converter in use for the First and Second Gear VTP file does not allow for this</a:t>
            </a:r>
          </a:p>
          <a:p>
            <a:pPr lvl="1">
              <a:tabLst>
                <a:tab pos="1885950" algn="l"/>
              </a:tabLst>
            </a:pPr>
            <a:r>
              <a:rPr lang="en-US" sz="1600" dirty="0"/>
              <a:t>[VECTO-1372] - Deviation of </a:t>
            </a:r>
            <a:r>
              <a:rPr lang="en-US" sz="1600" dirty="0" err="1"/>
              <a:t>CdxA</a:t>
            </a:r>
            <a:r>
              <a:rPr lang="en-US" sz="1600" dirty="0"/>
              <a:t> Input vs. Output for HDV16</a:t>
            </a:r>
          </a:p>
          <a:p>
            <a:pPr lvl="1">
              <a:tabLst>
                <a:tab pos="1885950" algn="l"/>
              </a:tabLst>
            </a:pPr>
            <a:r>
              <a:rPr lang="en-US" sz="1600" dirty="0"/>
              <a:t>[VECTO-1374] - VECTO VTP error</a:t>
            </a:r>
          </a:p>
          <a:p>
            <a:pPr>
              <a:tabLst>
                <a:tab pos="1885950" algn="l"/>
              </a:tabLst>
            </a:pPr>
            <a:r>
              <a:rPr lang="en-US" sz="1800" b="1" dirty="0"/>
              <a:t>Improvements</a:t>
            </a:r>
          </a:p>
          <a:p>
            <a:pPr lvl="1">
              <a:tabLst>
                <a:tab pos="1885950" algn="l"/>
              </a:tabLst>
            </a:pPr>
            <a:r>
              <a:rPr lang="en-US" sz="1600" dirty="0"/>
              <a:t>[VECTO-1360] - make unit tests execute in parallel</a:t>
            </a:r>
          </a:p>
        </p:txBody>
      </p:sp>
    </p:spTree>
    <p:extLst>
      <p:ext uri="{BB962C8B-B14F-4D97-AF65-F5344CB8AC3E}">
        <p14:creationId xmlns:p14="http://schemas.microsoft.com/office/powerpoint/2010/main" val="4173981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a:t>Vecto 3.3.8.2052 Official Release</a:t>
            </a:r>
            <a:br>
              <a:rPr lang="en-US" dirty="0"/>
            </a:br>
            <a:r>
              <a:rPr lang="en-US" sz="1600" dirty="0"/>
              <a:t>2020-08-14</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endParaRPr lang="en-US" sz="1800" b="1" dirty="0"/>
          </a:p>
          <a:p>
            <a:pPr lvl="1">
              <a:tabLst>
                <a:tab pos="1885950" algn="l"/>
              </a:tabLst>
            </a:pPr>
            <a:r>
              <a:rPr lang="en-US" sz="1600" dirty="0"/>
              <a:t>No additional </a:t>
            </a:r>
            <a:r>
              <a:rPr lang="en-US" sz="1600" dirty="0" err="1"/>
              <a:t>bugfixes</a:t>
            </a:r>
            <a:r>
              <a:rPr lang="en-US" sz="1600" dirty="0"/>
              <a:t> compared to VECTO 3.3.8.2024</a:t>
            </a:r>
          </a:p>
        </p:txBody>
      </p:sp>
    </p:spTree>
    <p:extLst>
      <p:ext uri="{BB962C8B-B14F-4D97-AF65-F5344CB8AC3E}">
        <p14:creationId xmlns:p14="http://schemas.microsoft.com/office/powerpoint/2010/main" val="522544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a:t>Vecto 3.3.8.2024 </a:t>
            </a:r>
            <a:r>
              <a:rPr lang="en-US" dirty="0"/>
              <a:t>Release Candidate</a:t>
            </a:r>
            <a:br>
              <a:rPr lang="en-US"/>
            </a:br>
            <a:r>
              <a:rPr lang="en-US" sz="1600"/>
              <a:t>2020-07-17</a:t>
            </a:r>
            <a:endParaRPr lang="en-US" sz="1600" dirty="0"/>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endParaRPr lang="en-US" sz="1800" b="1" dirty="0"/>
          </a:p>
          <a:p>
            <a:pPr lvl="1">
              <a:tabLst>
                <a:tab pos="1885950" algn="l"/>
              </a:tabLst>
            </a:pPr>
            <a:r>
              <a:rPr lang="en-US" sz="1600" dirty="0"/>
              <a:t>[VECTO-1288] - Simulation Abort UD RL</a:t>
            </a:r>
          </a:p>
          <a:p>
            <a:pPr lvl="1">
              <a:tabLst>
                <a:tab pos="1885950" algn="l"/>
              </a:tabLst>
            </a:pPr>
            <a:r>
              <a:rPr lang="en-US" sz="1600" dirty="0"/>
              <a:t>[VECTO-1327] - Simulation abort Construction </a:t>
            </a:r>
            <a:r>
              <a:rPr lang="en-US" sz="1600" dirty="0" err="1"/>
              <a:t>RefLoad</a:t>
            </a:r>
            <a:r>
              <a:rPr lang="en-US" sz="1600" dirty="0"/>
              <a:t>: unexpected response </a:t>
            </a:r>
            <a:r>
              <a:rPr lang="en-US" sz="1600" dirty="0" err="1"/>
              <a:t>ResponseOverload</a:t>
            </a:r>
            <a:endParaRPr lang="en-US" sz="1600" dirty="0"/>
          </a:p>
          <a:p>
            <a:pPr lvl="1">
              <a:tabLst>
                <a:tab pos="1885950" algn="l"/>
              </a:tabLst>
            </a:pPr>
            <a:r>
              <a:rPr lang="en-US" sz="1600" dirty="0"/>
              <a:t>[VECTO-1266] - Gear 4 Loss-Map was extrapolated</a:t>
            </a:r>
          </a:p>
        </p:txBody>
      </p:sp>
    </p:spTree>
    <p:extLst>
      <p:ext uri="{BB962C8B-B14F-4D97-AF65-F5344CB8AC3E}">
        <p14:creationId xmlns:p14="http://schemas.microsoft.com/office/powerpoint/2010/main" val="3191220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3.3.7.1964 Official Release</a:t>
            </a:r>
            <a:br>
              <a:rPr lang="en-US" dirty="0"/>
            </a:br>
            <a:r>
              <a:rPr lang="en-US" sz="1600" dirty="0"/>
              <a:t>2020-05-18</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endParaRPr lang="en-US" sz="1800" b="1" dirty="0"/>
          </a:p>
          <a:p>
            <a:pPr lvl="1">
              <a:tabLst>
                <a:tab pos="1885950" algn="l"/>
              </a:tabLst>
            </a:pPr>
            <a:r>
              <a:rPr lang="en-US" sz="1600" dirty="0"/>
              <a:t>[VECTO-1254] - Hashing method does not ignore certain XML attributes</a:t>
            </a:r>
          </a:p>
          <a:p>
            <a:pPr lvl="1">
              <a:tabLst>
                <a:tab pos="1885950" algn="l"/>
              </a:tabLst>
            </a:pPr>
            <a:r>
              <a:rPr lang="en-US" sz="1600" dirty="0"/>
              <a:t>[VECTO-1259] - Mission profile weighting factors for vehicles of group 16 are not correct</a:t>
            </a:r>
          </a:p>
        </p:txBody>
      </p:sp>
    </p:spTree>
    <p:extLst>
      <p:ext uri="{BB962C8B-B14F-4D97-AF65-F5344CB8AC3E}">
        <p14:creationId xmlns:p14="http://schemas.microsoft.com/office/powerpoint/2010/main" val="761802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3.3.6.1916 Official Release</a:t>
            </a:r>
            <a:br>
              <a:rPr lang="en-US" dirty="0"/>
            </a:br>
            <a:r>
              <a:rPr lang="en-US" sz="1600" dirty="0"/>
              <a:t>2020-03-31</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endParaRPr lang="en-US" sz="1800" b="1" dirty="0"/>
          </a:p>
          <a:p>
            <a:pPr lvl="1">
              <a:tabLst>
                <a:tab pos="1885950" algn="l"/>
              </a:tabLst>
            </a:pPr>
            <a:r>
              <a:rPr lang="en-US" sz="1600" dirty="0"/>
              <a:t>[VECTO-1250] - Error creating new gearbox file from scratch</a:t>
            </a:r>
          </a:p>
        </p:txBody>
      </p:sp>
    </p:spTree>
    <p:extLst>
      <p:ext uri="{BB962C8B-B14F-4D97-AF65-F5344CB8AC3E}">
        <p14:creationId xmlns:p14="http://schemas.microsoft.com/office/powerpoint/2010/main" val="4227088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3.3.6.1898 Release Candidate</a:t>
            </a:r>
            <a:br>
              <a:rPr lang="en-US" dirty="0"/>
            </a:br>
            <a:r>
              <a:rPr lang="en-US" sz="1600" dirty="0"/>
              <a:t>2020-03-13</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Improvement</a:t>
            </a:r>
          </a:p>
          <a:p>
            <a:pPr lvl="1">
              <a:tabLst>
                <a:tab pos="1885950" algn="l"/>
              </a:tabLst>
            </a:pPr>
            <a:r>
              <a:rPr lang="en-US" sz="1600" dirty="0"/>
              <a:t>[VECTO-1239] - Adaptation of Mission Profile Weighting Factors</a:t>
            </a:r>
          </a:p>
          <a:p>
            <a:pPr lvl="1">
              <a:tabLst>
                <a:tab pos="1885950" algn="l"/>
              </a:tabLst>
            </a:pPr>
            <a:r>
              <a:rPr lang="en-US" sz="1600" dirty="0"/>
              <a:t>[VECTO-1241] - Engineering mode: Adding support for additional PTO activations</a:t>
            </a:r>
          </a:p>
          <a:p>
            <a:pPr>
              <a:tabLst>
                <a:tab pos="1885950" algn="l"/>
              </a:tabLst>
            </a:pPr>
            <a:endParaRPr lang="en-US" sz="1800" b="1" dirty="0"/>
          </a:p>
          <a:p>
            <a:pPr>
              <a:tabLst>
                <a:tab pos="1885950" algn="l"/>
              </a:tabLst>
            </a:pPr>
            <a:r>
              <a:rPr lang="en-US" sz="1800" b="1" dirty="0" err="1"/>
              <a:t>Bugfixes</a:t>
            </a:r>
            <a:endParaRPr lang="en-US" sz="1800" b="1" dirty="0"/>
          </a:p>
          <a:p>
            <a:pPr lvl="1">
              <a:tabLst>
                <a:tab pos="1885950" algn="l"/>
              </a:tabLst>
            </a:pPr>
            <a:r>
              <a:rPr lang="en-US" sz="1600" dirty="0"/>
              <a:t>[VECTO-1243] - Bug in VTP mode for heavy lorries</a:t>
            </a:r>
          </a:p>
          <a:p>
            <a:pPr lvl="1">
              <a:tabLst>
                <a:tab pos="1885950" algn="l"/>
              </a:tabLst>
            </a:pPr>
            <a:r>
              <a:rPr lang="en-US" sz="1600" dirty="0"/>
              <a:t>[VECTO-1234] - urban cycle at reference load not running for bug when find braking operating point</a:t>
            </a:r>
          </a:p>
        </p:txBody>
      </p:sp>
    </p:spTree>
    <p:extLst>
      <p:ext uri="{BB962C8B-B14F-4D97-AF65-F5344CB8AC3E}">
        <p14:creationId xmlns:p14="http://schemas.microsoft.com/office/powerpoint/2010/main" val="1876633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3.3.5.1812 Official Release</a:t>
            </a:r>
            <a:br>
              <a:rPr lang="en-US" dirty="0"/>
            </a:br>
            <a:r>
              <a:rPr lang="en-US" sz="1600" dirty="0"/>
              <a:t>2019-12-18</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r>
              <a:rPr lang="en-US" sz="1800" b="1" dirty="0"/>
              <a:t> </a:t>
            </a:r>
            <a:r>
              <a:rPr lang="en-US" sz="1800" dirty="0"/>
              <a:t>(compared to VECTO 3.3.5.1783-RC)</a:t>
            </a:r>
            <a:endParaRPr lang="en-US" sz="1800" b="1" dirty="0"/>
          </a:p>
          <a:p>
            <a:pPr lvl="1">
              <a:tabLst>
                <a:tab pos="1885950" algn="l"/>
              </a:tabLst>
            </a:pPr>
            <a:r>
              <a:rPr lang="en-US" sz="1600" dirty="0"/>
              <a:t>[VECTO-1220] - Simulation Abort Urban Delivery </a:t>
            </a:r>
            <a:r>
              <a:rPr lang="en-US" sz="1600" dirty="0" err="1"/>
              <a:t>RefLoad</a:t>
            </a:r>
            <a:endParaRPr lang="en-US" sz="1600" dirty="0"/>
          </a:p>
        </p:txBody>
      </p:sp>
    </p:spTree>
    <p:extLst>
      <p:ext uri="{BB962C8B-B14F-4D97-AF65-F5344CB8AC3E}">
        <p14:creationId xmlns:p14="http://schemas.microsoft.com/office/powerpoint/2010/main" val="992855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3.3.5.1783 Release Candidate</a:t>
            </a:r>
            <a:br>
              <a:rPr lang="en-US" dirty="0"/>
            </a:br>
            <a:r>
              <a:rPr lang="en-US" sz="1600" dirty="0"/>
              <a:t>2019-11-19</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Improvement</a:t>
            </a:r>
          </a:p>
          <a:p>
            <a:pPr lvl="1">
              <a:tabLst>
                <a:tab pos="1885950" algn="l"/>
              </a:tabLst>
            </a:pPr>
            <a:r>
              <a:rPr lang="en-US" sz="1600" dirty="0"/>
              <a:t>[VECTO-1194] - Handling input parameter 'vocational' for groups other than 4, 5, 9, 10</a:t>
            </a:r>
          </a:p>
          <a:p>
            <a:pPr lvl="1">
              <a:tabLst>
                <a:tab pos="1885950" algn="l"/>
              </a:tabLst>
            </a:pPr>
            <a:r>
              <a:rPr lang="en-US" sz="1600" dirty="0"/>
              <a:t>[VECTO-1147] - Updating declaration mode cycles values in user manual </a:t>
            </a:r>
          </a:p>
          <a:p>
            <a:pPr lvl="1">
              <a:tabLst>
                <a:tab pos="1885950" algn="l"/>
              </a:tabLst>
            </a:pPr>
            <a:r>
              <a:rPr lang="en-US" sz="1600" dirty="0"/>
              <a:t>[VECTO-1207] - run VECTO in 64bit mode by default</a:t>
            </a:r>
          </a:p>
          <a:p>
            <a:pPr>
              <a:tabLst>
                <a:tab pos="1885950" algn="l"/>
              </a:tabLst>
            </a:pPr>
            <a:endParaRPr lang="en-US" sz="1800" dirty="0"/>
          </a:p>
          <a:p>
            <a:pPr>
              <a:tabLst>
                <a:tab pos="1885950" algn="l"/>
              </a:tabLst>
            </a:pPr>
            <a:r>
              <a:rPr lang="en-US" sz="1800" b="1" dirty="0" err="1"/>
              <a:t>Bugfixes</a:t>
            </a:r>
            <a:endParaRPr lang="en-US" sz="1800" b="1" dirty="0"/>
          </a:p>
          <a:p>
            <a:pPr lvl="1">
              <a:tabLst>
                <a:tab pos="1885950" algn="l"/>
              </a:tabLst>
            </a:pPr>
            <a:r>
              <a:rPr lang="en-US" sz="1600" dirty="0"/>
              <a:t>[VECTO-1074] - </a:t>
            </a:r>
            <a:r>
              <a:rPr lang="en-US" sz="1600" dirty="0" err="1"/>
              <a:t>Vecto</a:t>
            </a:r>
            <a:r>
              <a:rPr lang="en-US" sz="1600" dirty="0"/>
              <a:t> Calculation Aborts with Interpolation Error</a:t>
            </a:r>
          </a:p>
          <a:p>
            <a:pPr lvl="1">
              <a:tabLst>
                <a:tab pos="1885950" algn="l"/>
              </a:tabLst>
            </a:pPr>
            <a:r>
              <a:rPr lang="en-US" sz="1600" dirty="0"/>
              <a:t>[VECTO-1159] - Simulation Abort in </a:t>
            </a:r>
            <a:r>
              <a:rPr lang="en-US" sz="1600" dirty="0" err="1"/>
              <a:t>UrbanDelivery</a:t>
            </a:r>
            <a:r>
              <a:rPr lang="en-US" sz="1600" dirty="0"/>
              <a:t> </a:t>
            </a:r>
            <a:r>
              <a:rPr lang="en-US" sz="1600" dirty="0" err="1"/>
              <a:t>LowLoading</a:t>
            </a:r>
            <a:endParaRPr lang="en-US" sz="1600" dirty="0"/>
          </a:p>
          <a:p>
            <a:pPr lvl="1">
              <a:tabLst>
                <a:tab pos="1885950" algn="l"/>
              </a:tabLst>
            </a:pPr>
            <a:r>
              <a:rPr lang="en-US" sz="1600" dirty="0"/>
              <a:t>[VECTO-1189] - Error in </a:t>
            </a:r>
            <a:r>
              <a:rPr lang="en-US" sz="1600" dirty="0" err="1"/>
              <a:t>delaunay</a:t>
            </a:r>
            <a:r>
              <a:rPr lang="en-US" sz="1600" dirty="0"/>
              <a:t> triangulation invariant violated</a:t>
            </a:r>
          </a:p>
          <a:p>
            <a:pPr lvl="1">
              <a:tabLst>
                <a:tab pos="1885950" algn="l"/>
              </a:tabLst>
            </a:pPr>
            <a:r>
              <a:rPr lang="en-US" sz="1600" dirty="0"/>
              <a:t>[VECTO-1209] - Unexpected Response </a:t>
            </a:r>
            <a:r>
              <a:rPr lang="en-US" sz="1600" dirty="0" err="1"/>
              <a:t>Response</a:t>
            </a:r>
            <a:r>
              <a:rPr lang="en-US" sz="1600" dirty="0"/>
              <a:t> Overload</a:t>
            </a:r>
          </a:p>
          <a:p>
            <a:pPr lvl="1">
              <a:tabLst>
                <a:tab pos="1885950" algn="l"/>
              </a:tabLst>
            </a:pPr>
            <a:r>
              <a:rPr lang="en-US" sz="1600" dirty="0"/>
              <a:t>[VECTO-1211] - Simulation Abort Urban Delivery Ref Load</a:t>
            </a:r>
          </a:p>
          <a:p>
            <a:pPr lvl="1">
              <a:tabLst>
                <a:tab pos="1885950" algn="l"/>
              </a:tabLst>
            </a:pPr>
            <a:r>
              <a:rPr lang="en-US" sz="1600" dirty="0"/>
              <a:t>[VECTO-1214] - Validation of input data fails when gearbox speed limits are applied</a:t>
            </a:r>
          </a:p>
        </p:txBody>
      </p:sp>
    </p:spTree>
    <p:extLst>
      <p:ext uri="{BB962C8B-B14F-4D97-AF65-F5344CB8AC3E}">
        <p14:creationId xmlns:p14="http://schemas.microsoft.com/office/powerpoint/2010/main" val="1141178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3.3.4.1716 Official Release</a:t>
            </a:r>
            <a:br>
              <a:rPr lang="en-US" dirty="0"/>
            </a:br>
            <a:r>
              <a:rPr lang="en-US" sz="1600" dirty="0"/>
              <a:t>2019-09-13</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r>
              <a:rPr lang="en-US" sz="1800" b="1" dirty="0"/>
              <a:t> </a:t>
            </a:r>
            <a:r>
              <a:rPr lang="en-US" sz="1800" dirty="0"/>
              <a:t>(compared to VECTO 3.3.4.1686-RC)</a:t>
            </a:r>
          </a:p>
          <a:p>
            <a:pPr lvl="1">
              <a:tabLst>
                <a:tab pos="1885950" algn="l"/>
              </a:tabLst>
            </a:pPr>
            <a:r>
              <a:rPr lang="en-US" sz="1600" dirty="0"/>
              <a:t>[VECTO-1074] - </a:t>
            </a:r>
            <a:r>
              <a:rPr lang="en-US" sz="1600" dirty="0" err="1"/>
              <a:t>Vecto</a:t>
            </a:r>
            <a:r>
              <a:rPr lang="en-US" sz="1600" dirty="0"/>
              <a:t> Calculation Aborts with Interpolation Error ([VECTO-1046])</a:t>
            </a:r>
          </a:p>
          <a:p>
            <a:pPr lvl="1">
              <a:tabLst>
                <a:tab pos="1885950" algn="l"/>
              </a:tabLst>
            </a:pPr>
            <a:r>
              <a:rPr lang="en-US" sz="1600" dirty="0"/>
              <a:t>[VECTO-1111] - Simulation Abort in Municipal Reference Load</a:t>
            </a:r>
            <a:endParaRPr lang="en-US" sz="1400" dirty="0"/>
          </a:p>
        </p:txBody>
      </p:sp>
    </p:spTree>
    <p:extLst>
      <p:ext uri="{BB962C8B-B14F-4D97-AF65-F5344CB8AC3E}">
        <p14:creationId xmlns:p14="http://schemas.microsoft.com/office/powerpoint/2010/main" val="1640371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3.3.4.1686 Release Candidate</a:t>
            </a:r>
            <a:br>
              <a:rPr lang="en-US" dirty="0"/>
            </a:br>
            <a:r>
              <a:rPr lang="en-US" sz="1600" dirty="0"/>
              <a:t>2019-08-14</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Improvement</a:t>
            </a:r>
          </a:p>
          <a:p>
            <a:pPr lvl="1">
              <a:tabLst>
                <a:tab pos="1885950" algn="l"/>
              </a:tabLst>
            </a:pPr>
            <a:r>
              <a:rPr lang="en-US" sz="1600" dirty="0"/>
              <a:t>[VECTO-1042] - Add option to write results into a certain directory</a:t>
            </a:r>
          </a:p>
          <a:p>
            <a:pPr lvl="1">
              <a:tabLst>
                <a:tab pos="1885950" algn="l"/>
              </a:tabLst>
            </a:pPr>
            <a:r>
              <a:rPr lang="en-US" sz="1600" dirty="0"/>
              <a:t>[VECTO-1064] - add weighting factors for vehicle groups 1, 2, 3, 11, 12, 16</a:t>
            </a:r>
          </a:p>
          <a:p>
            <a:pPr lvl="1">
              <a:tabLst>
                <a:tab pos="1885950" algn="l"/>
              </a:tabLst>
            </a:pPr>
            <a:endParaRPr lang="en-US" sz="1600" dirty="0"/>
          </a:p>
          <a:p>
            <a:pPr>
              <a:tabLst>
                <a:tab pos="1885950" algn="l"/>
              </a:tabLst>
            </a:pPr>
            <a:r>
              <a:rPr lang="en-US" sz="1800" b="1" dirty="0" err="1"/>
              <a:t>Bugfixes</a:t>
            </a:r>
            <a:endParaRPr lang="en-US" sz="1800" b="1" dirty="0"/>
          </a:p>
          <a:p>
            <a:pPr lvl="1">
              <a:tabLst>
                <a:tab pos="1885950" algn="l"/>
              </a:tabLst>
            </a:pPr>
            <a:r>
              <a:rPr lang="en-US" sz="1600" dirty="0"/>
              <a:t>[VECTO-1030] - Exceeded max iterations when searching for operating point! Failed to find operating point!</a:t>
            </a:r>
          </a:p>
          <a:p>
            <a:pPr lvl="1">
              <a:tabLst>
                <a:tab pos="1885950" algn="l"/>
              </a:tabLst>
            </a:pPr>
            <a:r>
              <a:rPr lang="en-US" sz="1600" dirty="0"/>
              <a:t>[VECTO-1032] - Gear 5 </a:t>
            </a:r>
            <a:r>
              <a:rPr lang="en-US" sz="1600" dirty="0" err="1"/>
              <a:t>LossMap</a:t>
            </a:r>
            <a:r>
              <a:rPr lang="en-US" sz="1600" dirty="0"/>
              <a:t> data was extrapolated in Declaration Mode: range for loss map is not sufficient</a:t>
            </a:r>
          </a:p>
          <a:p>
            <a:pPr lvl="1">
              <a:tabLst>
                <a:tab pos="1885950" algn="l"/>
              </a:tabLst>
            </a:pPr>
            <a:r>
              <a:rPr lang="en-US" sz="1600" dirty="0"/>
              <a:t>[VECTO-1067] - </a:t>
            </a:r>
            <a:r>
              <a:rPr lang="en-US" sz="1600" dirty="0" err="1"/>
              <a:t>Vair</a:t>
            </a:r>
            <a:r>
              <a:rPr lang="en-US" sz="1600" dirty="0"/>
              <a:t> and Beta correction for Aerodynamics</a:t>
            </a:r>
          </a:p>
          <a:p>
            <a:pPr lvl="1">
              <a:tabLst>
                <a:tab pos="1885950" algn="l"/>
              </a:tabLst>
            </a:pPr>
            <a:r>
              <a:rPr lang="en-US" sz="1600" dirty="0"/>
              <a:t>[VECTO-1000] - Error Loss-Map extrapolation in Declaration Mode</a:t>
            </a:r>
          </a:p>
          <a:p>
            <a:pPr lvl="1">
              <a:tabLst>
                <a:tab pos="1885950" algn="l"/>
              </a:tabLst>
            </a:pPr>
            <a:r>
              <a:rPr lang="en-US" sz="1600" dirty="0"/>
              <a:t>[VECTO-1040] - Gear 6 </a:t>
            </a:r>
            <a:r>
              <a:rPr lang="en-US" sz="1600" dirty="0" err="1"/>
              <a:t>LossMap</a:t>
            </a:r>
            <a:r>
              <a:rPr lang="en-US" sz="1600" dirty="0"/>
              <a:t> data was extrapolated in Declaration Mode</a:t>
            </a:r>
          </a:p>
          <a:p>
            <a:pPr lvl="1">
              <a:tabLst>
                <a:tab pos="1885950" algn="l"/>
              </a:tabLst>
            </a:pPr>
            <a:r>
              <a:rPr lang="en-US" sz="1600" dirty="0"/>
              <a:t>[VECTO-1047] - Failed to find operating point on construction cycle, ref load, AT gearbox</a:t>
            </a:r>
          </a:p>
          <a:p>
            <a:pPr lvl="1">
              <a:tabLst>
                <a:tab pos="1885950" algn="l"/>
              </a:tabLst>
            </a:pPr>
            <a:endParaRPr lang="en-US" sz="1400" dirty="0"/>
          </a:p>
        </p:txBody>
      </p:sp>
    </p:spTree>
    <p:extLst>
      <p:ext uri="{BB962C8B-B14F-4D97-AF65-F5344CB8AC3E}">
        <p14:creationId xmlns:p14="http://schemas.microsoft.com/office/powerpoint/2010/main" val="3250032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a:t> 3.3.3.1639 </a:t>
            </a:r>
            <a:r>
              <a:rPr lang="en-US" dirty="0"/>
              <a:t>Official Release</a:t>
            </a:r>
            <a:br>
              <a:rPr lang="en-US" dirty="0"/>
            </a:br>
            <a:r>
              <a:rPr lang="en-US" sz="1600" dirty="0"/>
              <a:t>2019-06-27</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r>
              <a:rPr lang="en-US" sz="1800" b="1" dirty="0"/>
              <a:t> </a:t>
            </a:r>
            <a:r>
              <a:rPr lang="en-US" sz="1800" dirty="0"/>
              <a:t>(compared to VECTO 3.3.3.1609-RC)</a:t>
            </a:r>
          </a:p>
          <a:p>
            <a:pPr lvl="1">
              <a:tabLst>
                <a:tab pos="1885950" algn="l"/>
              </a:tabLst>
            </a:pPr>
            <a:r>
              <a:rPr lang="en-US" sz="1600" dirty="0"/>
              <a:t>[VECTO-1003] - </a:t>
            </a:r>
            <a:r>
              <a:rPr lang="en-US" sz="1600" dirty="0" err="1"/>
              <a:t>Vecto</a:t>
            </a:r>
            <a:r>
              <a:rPr lang="en-US" sz="1600" dirty="0"/>
              <a:t> Error: Loss-Map extrapolation in declaration mode required</a:t>
            </a:r>
            <a:br>
              <a:rPr lang="en-US" sz="1600" dirty="0"/>
            </a:br>
            <a:r>
              <a:rPr lang="en-US" sz="1600" dirty="0"/>
              <a:t>(issue VECTO-991)</a:t>
            </a:r>
          </a:p>
          <a:p>
            <a:pPr lvl="1">
              <a:tabLst>
                <a:tab pos="1885950" algn="l"/>
              </a:tabLst>
            </a:pPr>
            <a:r>
              <a:rPr lang="en-US" sz="1600" dirty="0"/>
              <a:t>[VECTO-1006] - Failed to find torque converter operating point on UD cycle </a:t>
            </a:r>
            <a:br>
              <a:rPr lang="en-US" sz="1600" dirty="0"/>
            </a:br>
            <a:r>
              <a:rPr lang="en-US" sz="1600" dirty="0"/>
              <a:t>(issue VECTO-996)</a:t>
            </a:r>
          </a:p>
          <a:p>
            <a:pPr lvl="1">
              <a:tabLst>
                <a:tab pos="1885950" algn="l"/>
              </a:tabLst>
            </a:pPr>
            <a:r>
              <a:rPr lang="en-US" sz="1600" dirty="0"/>
              <a:t>[VECTO-1010] - Unexpected Response: </a:t>
            </a:r>
            <a:r>
              <a:rPr lang="en-US" sz="1600" dirty="0" err="1"/>
              <a:t>ResponseOverload</a:t>
            </a:r>
            <a:r>
              <a:rPr lang="en-US" sz="1600" dirty="0"/>
              <a:t> in UD cycle </a:t>
            </a:r>
            <a:br>
              <a:rPr lang="en-US" sz="1600" dirty="0"/>
            </a:br>
            <a:r>
              <a:rPr lang="en-US" sz="1600" dirty="0"/>
              <a:t>(issue VECTO-996)</a:t>
            </a:r>
          </a:p>
          <a:p>
            <a:pPr lvl="1">
              <a:tabLst>
                <a:tab pos="1885950" algn="l"/>
              </a:tabLst>
            </a:pPr>
            <a:r>
              <a:rPr lang="en-US" sz="1600" dirty="0"/>
              <a:t>[VECTO-1015] - XML Schema not correctly identified</a:t>
            </a:r>
          </a:p>
          <a:p>
            <a:pPr lvl="1">
              <a:tabLst>
                <a:tab pos="1885950" algn="l"/>
              </a:tabLst>
            </a:pPr>
            <a:r>
              <a:rPr lang="en-US" sz="1600" dirty="0"/>
              <a:t>[VECTO-1019] - Error opening job in case a file is missing</a:t>
            </a:r>
          </a:p>
          <a:p>
            <a:pPr lvl="1">
              <a:tabLst>
                <a:tab pos="1885950" algn="l"/>
              </a:tabLst>
            </a:pPr>
            <a:r>
              <a:rPr lang="en-US" sz="1600" dirty="0"/>
              <a:t>[VECTO-1020] - </a:t>
            </a:r>
            <a:r>
              <a:rPr lang="en-US" sz="1600" dirty="0" err="1"/>
              <a:t>HashingTool</a:t>
            </a:r>
            <a:r>
              <a:rPr lang="en-US" sz="1600" dirty="0"/>
              <a:t> Crashes</a:t>
            </a:r>
          </a:p>
          <a:p>
            <a:pPr lvl="1">
              <a:tabLst>
                <a:tab pos="1885950" algn="l"/>
              </a:tabLst>
            </a:pPr>
            <a:r>
              <a:rPr lang="en-US" sz="1600" dirty="0"/>
              <a:t>[VECTO-1021] - Invalid hash of job data</a:t>
            </a:r>
          </a:p>
          <a:p>
            <a:pPr lvl="1">
              <a:tabLst>
                <a:tab pos="1885950" algn="l"/>
              </a:tabLst>
            </a:pPr>
            <a:endParaRPr lang="en-US" sz="1600" dirty="0"/>
          </a:p>
          <a:p>
            <a:pPr lvl="1">
              <a:tabLst>
                <a:tab pos="1885950" algn="l"/>
              </a:tabLst>
            </a:pPr>
            <a:endParaRPr lang="en-US" sz="1400" dirty="0"/>
          </a:p>
        </p:txBody>
      </p:sp>
    </p:spTree>
    <p:extLst>
      <p:ext uri="{BB962C8B-B14F-4D97-AF65-F5344CB8AC3E}">
        <p14:creationId xmlns:p14="http://schemas.microsoft.com/office/powerpoint/2010/main" val="3752328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3.3.3.1609 Release Candidate</a:t>
            </a:r>
            <a:br>
              <a:rPr lang="en-US" dirty="0"/>
            </a:br>
            <a:r>
              <a:rPr lang="en-US" sz="1600" dirty="0"/>
              <a:t>2019-05-29</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 Improvement</a:t>
            </a:r>
          </a:p>
          <a:p>
            <a:pPr lvl="1">
              <a:tabLst>
                <a:tab pos="1885950" algn="l"/>
              </a:tabLst>
            </a:pPr>
            <a:r>
              <a:rPr lang="en-US" sz="1600" dirty="0"/>
              <a:t>[VECTO-916] - Adding new </a:t>
            </a:r>
            <a:r>
              <a:rPr lang="en-US" sz="1600" dirty="0" err="1"/>
              <a:t>tyre</a:t>
            </a:r>
            <a:r>
              <a:rPr lang="en-US" sz="1600" dirty="0"/>
              <a:t> sizes</a:t>
            </a:r>
          </a:p>
          <a:p>
            <a:pPr lvl="1">
              <a:tabLst>
                <a:tab pos="1885950" algn="l"/>
              </a:tabLst>
            </a:pPr>
            <a:r>
              <a:rPr lang="en-US" sz="1600" dirty="0"/>
              <a:t>[VECTO-946] - Refactoring XML reading</a:t>
            </a:r>
          </a:p>
          <a:p>
            <a:pPr lvl="1">
              <a:tabLst>
                <a:tab pos="1885950" algn="l"/>
              </a:tabLst>
            </a:pPr>
            <a:r>
              <a:rPr lang="en-US" sz="1600" dirty="0"/>
              <a:t>[VECTO-965] - Add input fields for ADAS into VECTO GUI</a:t>
            </a:r>
          </a:p>
          <a:p>
            <a:pPr lvl="1">
              <a:tabLst>
                <a:tab pos="1885950" algn="l"/>
              </a:tabLst>
            </a:pPr>
            <a:r>
              <a:rPr lang="en-US" sz="1600" dirty="0"/>
              <a:t>[VECTO-966] - Allow selecting Tank System for NG engines in GUI</a:t>
            </a:r>
          </a:p>
          <a:p>
            <a:pPr lvl="1">
              <a:tabLst>
                <a:tab pos="1885950" algn="l"/>
              </a:tabLst>
            </a:pPr>
            <a:r>
              <a:rPr lang="en-US" sz="1600" dirty="0"/>
              <a:t>[VECTO-932] - Consistency in NA values in the </a:t>
            </a:r>
            <a:r>
              <a:rPr lang="en-US" sz="1600" dirty="0" err="1"/>
              <a:t>vsum</a:t>
            </a:r>
            <a:r>
              <a:rPr lang="en-US" sz="1600" dirty="0"/>
              <a:t> file</a:t>
            </a:r>
          </a:p>
          <a:p>
            <a:pPr>
              <a:tabLst>
                <a:tab pos="1885950" algn="l"/>
              </a:tabLst>
            </a:pPr>
            <a:r>
              <a:rPr lang="en-US" sz="1800" b="1" dirty="0" err="1"/>
              <a:t>Bugfixes</a:t>
            </a:r>
            <a:endParaRPr lang="en-US" sz="1800" b="1" dirty="0"/>
          </a:p>
          <a:p>
            <a:pPr lvl="1">
              <a:tabLst>
                <a:tab pos="1885950" algn="l"/>
              </a:tabLst>
            </a:pPr>
            <a:r>
              <a:rPr lang="en-US" sz="1600" dirty="0"/>
              <a:t>[VECTO-954] - Failed to find operating point for braking power (Fix for Notification Art. 10(2) - [VECTO-952])</a:t>
            </a:r>
          </a:p>
          <a:p>
            <a:pPr lvl="1">
              <a:tabLst>
                <a:tab pos="1885950" algn="l"/>
              </a:tabLst>
            </a:pPr>
            <a:r>
              <a:rPr lang="en-US" sz="1600" dirty="0"/>
              <a:t>[VECTO-979] - VECTO Simulation abort with 8-speed MT transmission (Fix for Notification Art. 10(2) - [VECTO-978])</a:t>
            </a:r>
          </a:p>
          <a:p>
            <a:pPr lvl="1">
              <a:tabLst>
                <a:tab pos="1885950" algn="l"/>
              </a:tabLst>
            </a:pPr>
            <a:r>
              <a:rPr lang="en-US" sz="1600" dirty="0"/>
              <a:t>[VECTO-931] - AT error in VECTO version 3.3.2.1519</a:t>
            </a:r>
          </a:p>
          <a:p>
            <a:pPr lvl="1">
              <a:tabLst>
                <a:tab pos="1885950" algn="l"/>
              </a:tabLst>
            </a:pPr>
            <a:r>
              <a:rPr lang="en-US" sz="1600" dirty="0"/>
              <a:t>[VECTO-950] - Error when loading Engine Full-load curve</a:t>
            </a:r>
          </a:p>
          <a:p>
            <a:pPr lvl="1">
              <a:tabLst>
                <a:tab pos="1885950" algn="l"/>
              </a:tabLst>
            </a:pPr>
            <a:r>
              <a:rPr lang="en-US" sz="1600" dirty="0"/>
              <a:t>[VECTO-967] - Engine-Only mode: Engine Torque reported in .</a:t>
            </a:r>
            <a:r>
              <a:rPr lang="en-US" sz="1600" dirty="0" err="1"/>
              <a:t>vmod</a:t>
            </a:r>
            <a:r>
              <a:rPr lang="en-US" sz="1600" dirty="0"/>
              <a:t> does not match the provided cycle</a:t>
            </a:r>
          </a:p>
          <a:p>
            <a:pPr lvl="1">
              <a:tabLst>
                <a:tab pos="1885950" algn="l"/>
              </a:tabLst>
            </a:pPr>
            <a:r>
              <a:rPr lang="en-US" sz="1600" dirty="0"/>
              <a:t>[VECTO-980] - Error during simulation run</a:t>
            </a:r>
            <a:endParaRPr lang="en-US" sz="1400" dirty="0"/>
          </a:p>
        </p:txBody>
      </p:sp>
    </p:spTree>
    <p:extLst>
      <p:ext uri="{BB962C8B-B14F-4D97-AF65-F5344CB8AC3E}">
        <p14:creationId xmlns:p14="http://schemas.microsoft.com/office/powerpoint/2010/main" val="1752051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3.3.2.1548 Official Release</a:t>
            </a:r>
            <a:br>
              <a:rPr lang="en-US" dirty="0"/>
            </a:br>
            <a:r>
              <a:rPr lang="en-US" sz="1600" dirty="0"/>
              <a:t>2019-03-29</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r>
              <a:rPr lang="en-US" sz="1800" b="1" dirty="0"/>
              <a:t> (compared to 3.3.2.1519-RC)</a:t>
            </a:r>
          </a:p>
          <a:p>
            <a:pPr lvl="1">
              <a:tabLst>
                <a:tab pos="1885950" algn="l"/>
              </a:tabLst>
            </a:pPr>
            <a:r>
              <a:rPr lang="en-US" sz="1600" dirty="0"/>
              <a:t>[VECTO-861] - 3.3.1: Torque converter not working correctly</a:t>
            </a:r>
          </a:p>
          <a:p>
            <a:pPr lvl="1">
              <a:tabLst>
                <a:tab pos="1885950" algn="l"/>
              </a:tabLst>
            </a:pPr>
            <a:r>
              <a:rPr lang="en-US" sz="1600" dirty="0"/>
              <a:t>[VECTO-904] - Range for gear loss map not sufficient.</a:t>
            </a:r>
          </a:p>
          <a:p>
            <a:pPr lvl="1">
              <a:tabLst>
                <a:tab pos="1885950" algn="l"/>
              </a:tabLst>
            </a:pPr>
            <a:r>
              <a:rPr lang="en-US" sz="1600" dirty="0"/>
              <a:t>[VECTO-909] - 3.3.2.1519: Problems running more than one input .xml</a:t>
            </a:r>
          </a:p>
          <a:p>
            <a:pPr lvl="1">
              <a:tabLst>
                <a:tab pos="1885950" algn="l"/>
              </a:tabLst>
            </a:pPr>
            <a:r>
              <a:rPr lang="en-US" sz="1600" dirty="0"/>
              <a:t>[VECTO-917] - </a:t>
            </a:r>
            <a:r>
              <a:rPr lang="en-US" sz="1600" dirty="0" err="1"/>
              <a:t>TargetVelocity</a:t>
            </a:r>
            <a:r>
              <a:rPr lang="en-US" sz="1600" dirty="0"/>
              <a:t> (0.0000) and </a:t>
            </a:r>
            <a:r>
              <a:rPr lang="en-US" sz="1600" dirty="0" err="1"/>
              <a:t>VehicleVelocity</a:t>
            </a:r>
            <a:r>
              <a:rPr lang="en-US" sz="1600" dirty="0"/>
              <a:t> (&gt;0) must be zero when vehicle is halting</a:t>
            </a:r>
          </a:p>
          <a:p>
            <a:pPr lvl="1">
              <a:tabLst>
                <a:tab pos="1885950" algn="l"/>
              </a:tabLst>
            </a:pPr>
            <a:r>
              <a:rPr lang="en-US" sz="1600" dirty="0"/>
              <a:t>[VECTO-918] - </a:t>
            </a:r>
            <a:r>
              <a:rPr lang="en-US" sz="1600" dirty="0" err="1"/>
              <a:t>RegionalDeliveryEMS</a:t>
            </a:r>
            <a:r>
              <a:rPr lang="en-US" sz="1600" dirty="0"/>
              <a:t> </a:t>
            </a:r>
            <a:r>
              <a:rPr lang="en-US" sz="1600" dirty="0" err="1"/>
              <a:t>LowLoading</a:t>
            </a:r>
            <a:r>
              <a:rPr lang="en-US" sz="1600" dirty="0"/>
              <a:t> - </a:t>
            </a:r>
            <a:r>
              <a:rPr lang="en-US" sz="1600" dirty="0" err="1"/>
              <a:t>ResponseSpeedLimitExceeded</a:t>
            </a:r>
            <a:endParaRPr lang="en-US" sz="1600" dirty="0"/>
          </a:p>
          <a:p>
            <a:pPr lvl="1">
              <a:tabLst>
                <a:tab pos="1885950" algn="l"/>
              </a:tabLst>
            </a:pPr>
            <a:r>
              <a:rPr lang="en-US" sz="1600" dirty="0"/>
              <a:t>[VECTO-920] - Urban Delivery: Simulation Run Aborted, </a:t>
            </a:r>
            <a:r>
              <a:rPr lang="en-US" sz="1600" dirty="0" err="1"/>
              <a:t>TargetVelocity</a:t>
            </a:r>
            <a:r>
              <a:rPr lang="en-US" sz="1600" dirty="0"/>
              <a:t> and </a:t>
            </a:r>
            <a:r>
              <a:rPr lang="en-US" sz="1600" dirty="0" err="1"/>
              <a:t>VehicleVelocity</a:t>
            </a:r>
            <a:r>
              <a:rPr lang="en-US" sz="1600" dirty="0"/>
              <a:t> must be zero when vehicle is halting!</a:t>
            </a:r>
          </a:p>
        </p:txBody>
      </p:sp>
    </p:spTree>
    <p:extLst>
      <p:ext uri="{BB962C8B-B14F-4D97-AF65-F5344CB8AC3E}">
        <p14:creationId xmlns:p14="http://schemas.microsoft.com/office/powerpoint/2010/main" val="2487530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3.3.2.1519 Release Candidate</a:t>
            </a:r>
            <a:br>
              <a:rPr lang="en-US" dirty="0"/>
            </a:br>
            <a:r>
              <a:rPr lang="en-US" sz="1600" dirty="0"/>
              <a:t>2019-03-01</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Improvements</a:t>
            </a:r>
          </a:p>
          <a:p>
            <a:pPr lvl="1">
              <a:tabLst>
                <a:tab pos="1885950" algn="l"/>
              </a:tabLst>
            </a:pPr>
            <a:r>
              <a:rPr lang="en-US" sz="1600" dirty="0"/>
              <a:t>[VECTO-869] - change new vehicle input fields (ADAS, sleeper cab, etc.) to be mandatory</a:t>
            </a:r>
          </a:p>
          <a:p>
            <a:pPr lvl="1">
              <a:tabLst>
                <a:tab pos="1885950" algn="l"/>
              </a:tabLst>
            </a:pPr>
            <a:r>
              <a:rPr lang="en-US" sz="1600" dirty="0"/>
              <a:t>[VECTO-784] - Configuration file for VECTO log files</a:t>
            </a:r>
          </a:p>
          <a:p>
            <a:pPr lvl="1">
              <a:tabLst>
                <a:tab pos="1885950" algn="l"/>
              </a:tabLst>
            </a:pPr>
            <a:r>
              <a:rPr lang="en-US" sz="1600" dirty="0"/>
              <a:t>[VECTO-865] - Extend Sum-Data</a:t>
            </a:r>
          </a:p>
          <a:p>
            <a:pPr lvl="1">
              <a:tabLst>
                <a:tab pos="1885950" algn="l"/>
              </a:tabLst>
            </a:pPr>
            <a:r>
              <a:rPr lang="en-US" sz="1600" dirty="0"/>
              <a:t>[VECTO-873] - Add digest value to </a:t>
            </a:r>
            <a:r>
              <a:rPr lang="en-US" sz="1600" dirty="0" err="1"/>
              <a:t>SumData</a:t>
            </a:r>
            <a:endParaRPr lang="en-US" sz="1600" dirty="0"/>
          </a:p>
          <a:p>
            <a:pPr>
              <a:tabLst>
                <a:tab pos="1885950" algn="l"/>
              </a:tabLst>
            </a:pPr>
            <a:r>
              <a:rPr lang="en-US" sz="1800" b="1" dirty="0" err="1"/>
              <a:t>Bugfixes</a:t>
            </a:r>
            <a:endParaRPr lang="en-US" sz="1800" b="1" dirty="0"/>
          </a:p>
          <a:p>
            <a:pPr lvl="1">
              <a:tabLst>
                <a:tab pos="1885950" algn="l"/>
              </a:tabLst>
            </a:pPr>
            <a:r>
              <a:rPr lang="en-US" sz="1600" dirty="0"/>
              <a:t>[VECTO-729] - Bugs APT </a:t>
            </a:r>
            <a:r>
              <a:rPr lang="en-US" sz="1600" dirty="0" err="1"/>
              <a:t>submodel</a:t>
            </a:r>
            <a:endParaRPr lang="en-US" sz="1600" dirty="0"/>
          </a:p>
          <a:p>
            <a:pPr lvl="1">
              <a:tabLst>
                <a:tab pos="1885950" algn="l"/>
              </a:tabLst>
            </a:pPr>
            <a:r>
              <a:rPr lang="en-US" sz="1600" dirty="0"/>
              <a:t>[VECTO-787] - APT: </a:t>
            </a:r>
            <a:r>
              <a:rPr lang="en-US" sz="1600" dirty="0" err="1"/>
              <a:t>DrivingAction</a:t>
            </a:r>
            <a:r>
              <a:rPr lang="en-US" sz="1600" dirty="0"/>
              <a:t> Accelerate after Overload</a:t>
            </a:r>
          </a:p>
          <a:p>
            <a:pPr lvl="1">
              <a:tabLst>
                <a:tab pos="1885950" algn="l"/>
              </a:tabLst>
            </a:pPr>
            <a:r>
              <a:rPr lang="en-US" sz="1600" dirty="0"/>
              <a:t>[VECTO-789] - APT: </a:t>
            </a:r>
            <a:r>
              <a:rPr lang="en-US" sz="1600" dirty="0" err="1"/>
              <a:t>ResponseUnderload</a:t>
            </a:r>
            <a:endParaRPr lang="en-US" sz="1600" dirty="0"/>
          </a:p>
          <a:p>
            <a:pPr lvl="1">
              <a:tabLst>
                <a:tab pos="1885950" algn="l"/>
              </a:tabLst>
            </a:pPr>
            <a:r>
              <a:rPr lang="en-US" sz="1600" dirty="0"/>
              <a:t>[VECTO-797] - VECTO abort with AT transmission and TC table value</a:t>
            </a:r>
          </a:p>
          <a:p>
            <a:pPr lvl="1">
              <a:tabLst>
                <a:tab pos="1885950" algn="l"/>
              </a:tabLst>
            </a:pPr>
            <a:r>
              <a:rPr lang="en-US" sz="1600" dirty="0"/>
              <a:t>[VECTO-798] - VECTO abort with certified AT transmission data and certified TC data</a:t>
            </a:r>
          </a:p>
          <a:p>
            <a:pPr lvl="1">
              <a:tabLst>
                <a:tab pos="1885950" algn="l"/>
              </a:tabLst>
            </a:pPr>
            <a:r>
              <a:rPr lang="en-US" sz="1600" dirty="0"/>
              <a:t>[VECTO-807] - VECTO errors in vehicle class 1/2/3</a:t>
            </a:r>
          </a:p>
          <a:p>
            <a:pPr lvl="1">
              <a:tabLst>
                <a:tab pos="1885950" algn="l"/>
              </a:tabLst>
            </a:pPr>
            <a:r>
              <a:rPr lang="en-US" sz="1600" dirty="0"/>
              <a:t>[VECTO-827] - Torque converter inertia </a:t>
            </a:r>
          </a:p>
          <a:p>
            <a:pPr lvl="1">
              <a:tabLst>
                <a:tab pos="1885950" algn="l"/>
              </a:tabLst>
            </a:pPr>
            <a:r>
              <a:rPr lang="en-US" sz="1600" dirty="0"/>
              <a:t>[VECTO-838] - APT: </a:t>
            </a:r>
            <a:r>
              <a:rPr lang="en-US" sz="1600" dirty="0" err="1"/>
              <a:t>ResponseOverload</a:t>
            </a:r>
            <a:endParaRPr lang="en-US" sz="1600" dirty="0"/>
          </a:p>
        </p:txBody>
      </p:sp>
      <p:sp>
        <p:nvSpPr>
          <p:cNvPr id="4" name="Textfeld 3"/>
          <p:cNvSpPr txBox="1"/>
          <p:nvPr/>
        </p:nvSpPr>
        <p:spPr>
          <a:xfrm>
            <a:off x="8142761" y="6228020"/>
            <a:ext cx="792088" cy="369332"/>
          </a:xfrm>
          <a:prstGeom prst="rect">
            <a:avLst/>
          </a:prstGeom>
          <a:noFill/>
          <a:ln>
            <a:noFill/>
          </a:ln>
        </p:spPr>
        <p:txBody>
          <a:bodyPr wrap="square" rtlCol="0">
            <a:spAutoFit/>
          </a:bodyPr>
          <a:lstStyle/>
          <a:p>
            <a:pPr algn="l">
              <a:spcBef>
                <a:spcPts val="0"/>
              </a:spcBef>
            </a:pPr>
            <a:r>
              <a:rPr lang="en-US" sz="1800" b="0" dirty="0"/>
              <a:t>cont.</a:t>
            </a:r>
            <a:endParaRPr lang="de-AT" sz="1800" b="0" dirty="0" err="1"/>
          </a:p>
        </p:txBody>
      </p:sp>
    </p:spTree>
    <p:extLst>
      <p:ext uri="{BB962C8B-B14F-4D97-AF65-F5344CB8AC3E}">
        <p14:creationId xmlns:p14="http://schemas.microsoft.com/office/powerpoint/2010/main" val="1994297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3.3.2.1519 Release Candidate</a:t>
            </a:r>
            <a:br>
              <a:rPr lang="en-US" dirty="0"/>
            </a:br>
            <a:r>
              <a:rPr lang="en-US" sz="1600" dirty="0"/>
              <a:t>2019-03-01</a:t>
            </a:r>
          </a:p>
        </p:txBody>
      </p:sp>
      <p:sp>
        <p:nvSpPr>
          <p:cNvPr id="3" name="Inhaltsplatzhalter 2"/>
          <p:cNvSpPr>
            <a:spLocks noGrp="1"/>
          </p:cNvSpPr>
          <p:nvPr>
            <p:ph idx="1"/>
          </p:nvPr>
        </p:nvSpPr>
        <p:spPr>
          <a:xfrm>
            <a:off x="323529" y="1340768"/>
            <a:ext cx="8820472" cy="5112568"/>
          </a:xfrm>
        </p:spPr>
        <p:txBody>
          <a:bodyPr/>
          <a:lstStyle/>
          <a:p>
            <a:pPr>
              <a:tabLst>
                <a:tab pos="1885950" algn="l"/>
              </a:tabLst>
            </a:pPr>
            <a:r>
              <a:rPr lang="en-US" sz="1800" b="1" dirty="0" err="1"/>
              <a:t>Bugfixes</a:t>
            </a:r>
            <a:endParaRPr lang="en-US" sz="1800" b="1" dirty="0"/>
          </a:p>
          <a:p>
            <a:pPr lvl="1">
              <a:tabLst>
                <a:tab pos="1885950" algn="l"/>
              </a:tabLst>
            </a:pPr>
            <a:r>
              <a:rPr lang="en-US" sz="1600" dirty="0"/>
              <a:t>[VECTO-843] - AT Transmissions problem on VECTO 3.3.1.1463</a:t>
            </a:r>
          </a:p>
          <a:p>
            <a:pPr lvl="1">
              <a:tabLst>
                <a:tab pos="1885950" algn="l"/>
              </a:tabLst>
            </a:pPr>
            <a:r>
              <a:rPr lang="en-US" sz="1600" dirty="0"/>
              <a:t>[VECTO-844] - Error with AT gearbox model</a:t>
            </a:r>
          </a:p>
          <a:p>
            <a:pPr lvl="1">
              <a:tabLst>
                <a:tab pos="1885950" algn="l"/>
              </a:tabLst>
            </a:pPr>
            <a:r>
              <a:rPr lang="en-US" sz="1600" dirty="0"/>
              <a:t>[VECTO-847] - Simulation abort due to error in </a:t>
            </a:r>
            <a:r>
              <a:rPr lang="en-US" sz="1600" dirty="0" err="1"/>
              <a:t>NLog</a:t>
            </a:r>
            <a:r>
              <a:rPr lang="en-US" sz="1600" dirty="0"/>
              <a:t>?</a:t>
            </a:r>
          </a:p>
          <a:p>
            <a:pPr lvl="1">
              <a:tabLst>
                <a:tab pos="1885950" algn="l"/>
              </a:tabLst>
            </a:pPr>
            <a:r>
              <a:rPr lang="en-US" sz="1600" dirty="0"/>
              <a:t>[VECTO-848] - AT Gearbox Simulation abort (was: Problem related to </a:t>
            </a:r>
            <a:r>
              <a:rPr lang="en-US" sz="1600" dirty="0" err="1"/>
              <a:t>Tyres</a:t>
            </a:r>
            <a:r>
              <a:rPr lang="en-US" sz="1600" dirty="0"/>
              <a:t>?)</a:t>
            </a:r>
          </a:p>
          <a:p>
            <a:pPr lvl="1">
              <a:tabLst>
                <a:tab pos="1885950" algn="l"/>
              </a:tabLst>
            </a:pPr>
            <a:r>
              <a:rPr lang="en-US" sz="1600" dirty="0"/>
              <a:t>[VECTO-858] - Urban Delivery Abort - with APT-S Transmission and TC</a:t>
            </a:r>
          </a:p>
          <a:p>
            <a:pPr lvl="1">
              <a:tabLst>
                <a:tab pos="1885950" algn="l"/>
              </a:tabLst>
            </a:pPr>
            <a:r>
              <a:rPr lang="en-US" sz="1600" dirty="0"/>
              <a:t>[VECTO-861] - 3.3.1: Torque converter not working correctly</a:t>
            </a:r>
          </a:p>
          <a:p>
            <a:pPr lvl="1">
              <a:tabLst>
                <a:tab pos="1885950" algn="l"/>
              </a:tabLst>
            </a:pPr>
            <a:r>
              <a:rPr lang="en-US" sz="1600" dirty="0"/>
              <a:t>[VECTO-872] - MRF/CIF: Torque Converter certification method and certification </a:t>
            </a:r>
            <a:r>
              <a:rPr lang="en-US" sz="1600" dirty="0" err="1"/>
              <a:t>nbr</a:t>
            </a:r>
            <a:r>
              <a:rPr lang="en-US" sz="1600" dirty="0"/>
              <a:t> not correctly set</a:t>
            </a:r>
          </a:p>
          <a:p>
            <a:pPr lvl="1">
              <a:tabLst>
                <a:tab pos="1885950" algn="l"/>
              </a:tabLst>
            </a:pPr>
            <a:r>
              <a:rPr lang="en-US" sz="1600" dirty="0"/>
              <a:t>[VECTO-879] - SIMULATION RUN ABORTED </a:t>
            </a:r>
            <a:r>
              <a:rPr lang="en-US" sz="1600" dirty="0" err="1"/>
              <a:t>DistanceRun</a:t>
            </a:r>
            <a:r>
              <a:rPr lang="en-US" sz="1600" dirty="0"/>
              <a:t> got an unexpected resp.</a:t>
            </a:r>
          </a:p>
          <a:p>
            <a:pPr lvl="1">
              <a:tabLst>
                <a:tab pos="1885950" algn="l"/>
              </a:tabLst>
            </a:pPr>
            <a:r>
              <a:rPr lang="en-US" sz="1600" dirty="0"/>
              <a:t>[VECTO-883] - Traction interruption may be too long</a:t>
            </a:r>
          </a:p>
          <a:p>
            <a:pPr lvl="1">
              <a:tabLst>
                <a:tab pos="1885950" algn="l"/>
              </a:tabLst>
            </a:pPr>
            <a:r>
              <a:rPr lang="en-US" sz="1600" dirty="0"/>
              <a:t>[VECTO-815] - Unexpected Response: </a:t>
            </a:r>
            <a:r>
              <a:rPr lang="en-US" sz="1600" dirty="0" err="1"/>
              <a:t>SpeedLimitExceeded</a:t>
            </a:r>
            <a:endParaRPr lang="en-US" sz="1600" dirty="0"/>
          </a:p>
          <a:p>
            <a:pPr lvl="1">
              <a:tabLst>
                <a:tab pos="1885950" algn="l"/>
              </a:tabLst>
            </a:pPr>
            <a:r>
              <a:rPr lang="en-US" sz="1600" dirty="0"/>
              <a:t>[VECTO-816] - object reference not set to an instance of an object</a:t>
            </a:r>
          </a:p>
          <a:p>
            <a:pPr lvl="1">
              <a:tabLst>
                <a:tab pos="1885950" algn="l"/>
              </a:tabLst>
            </a:pPr>
            <a:r>
              <a:rPr lang="en-US" sz="1600" dirty="0"/>
              <a:t>[VECTO-817] - </a:t>
            </a:r>
            <a:r>
              <a:rPr lang="en-US" sz="1600" dirty="0" err="1"/>
              <a:t>TargetVelocity</a:t>
            </a:r>
            <a:r>
              <a:rPr lang="en-US" sz="1600" dirty="0"/>
              <a:t> and </a:t>
            </a:r>
            <a:r>
              <a:rPr lang="en-US" sz="1600" dirty="0" err="1"/>
              <a:t>VehicleVelocity</a:t>
            </a:r>
            <a:r>
              <a:rPr lang="en-US" sz="1600" dirty="0"/>
              <a:t> must not be 0</a:t>
            </a:r>
          </a:p>
          <a:p>
            <a:pPr lvl="1">
              <a:tabLst>
                <a:tab pos="1885950" algn="l"/>
              </a:tabLst>
            </a:pPr>
            <a:r>
              <a:rPr lang="en-US" sz="1600" dirty="0"/>
              <a:t>[VECTO-820] - </a:t>
            </a:r>
            <a:r>
              <a:rPr lang="en-US" sz="1600" dirty="0" err="1"/>
              <a:t>DistanceRun</a:t>
            </a:r>
            <a:r>
              <a:rPr lang="en-US" sz="1600" dirty="0"/>
              <a:t> got an unexpected response: </a:t>
            </a:r>
            <a:r>
              <a:rPr lang="en-US" sz="1600" dirty="0" err="1"/>
              <a:t>ResponseSpeedLimitExceeded</a:t>
            </a:r>
            <a:endParaRPr lang="en-US" sz="1600" dirty="0"/>
          </a:p>
          <a:p>
            <a:pPr lvl="1">
              <a:tabLst>
                <a:tab pos="1885950" algn="l"/>
              </a:tabLst>
            </a:pPr>
            <a:r>
              <a:rPr lang="en-US" sz="1600" dirty="0"/>
              <a:t>[VECTO-864] - Prevent VECTO loss-map extension to result in negative torque loss</a:t>
            </a:r>
          </a:p>
        </p:txBody>
      </p:sp>
    </p:spTree>
    <p:extLst>
      <p:ext uri="{BB962C8B-B14F-4D97-AF65-F5344CB8AC3E}">
        <p14:creationId xmlns:p14="http://schemas.microsoft.com/office/powerpoint/2010/main" val="3069259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3.3.2.1519 Release Candidate</a:t>
            </a:r>
            <a:br>
              <a:rPr lang="en-US" dirty="0"/>
            </a:br>
            <a:r>
              <a:rPr lang="en-US" sz="1600" dirty="0"/>
              <a:t>2019-03-01</a:t>
            </a:r>
          </a:p>
        </p:txBody>
      </p:sp>
      <p:sp>
        <p:nvSpPr>
          <p:cNvPr id="3" name="Inhaltsplatzhalter 2"/>
          <p:cNvSpPr>
            <a:spLocks noGrp="1"/>
          </p:cNvSpPr>
          <p:nvPr>
            <p:ph idx="1"/>
          </p:nvPr>
        </p:nvSpPr>
        <p:spPr>
          <a:xfrm>
            <a:off x="323529" y="1340768"/>
            <a:ext cx="8496943" cy="5112568"/>
          </a:xfrm>
        </p:spPr>
        <p:txBody>
          <a:bodyPr/>
          <a:lstStyle/>
          <a:p>
            <a:pPr>
              <a:tabLst>
                <a:tab pos="1885950" algn="l"/>
              </a:tabLst>
            </a:pPr>
            <a:r>
              <a:rPr lang="en-US" sz="1800" b="1" dirty="0"/>
              <a:t>Installation Option </a:t>
            </a:r>
            <a:r>
              <a:rPr lang="en-US" sz="1800" dirty="0"/>
              <a:t>(VECTO-784)</a:t>
            </a:r>
          </a:p>
          <a:p>
            <a:pPr lvl="1">
              <a:tabLst>
                <a:tab pos="1885950" algn="l"/>
              </a:tabLst>
            </a:pPr>
            <a:r>
              <a:rPr lang="en-US" sz="1600" dirty="0"/>
              <a:t>VECTO 3.3.2 adds a new feature to run as ‘installed application’ instead of the ‘portable’ mode</a:t>
            </a:r>
          </a:p>
          <a:p>
            <a:pPr lvl="1">
              <a:tabLst>
                <a:tab pos="1885950" algn="l"/>
              </a:tabLst>
            </a:pPr>
            <a:r>
              <a:rPr lang="en-US" sz="1600" dirty="0"/>
              <a:t>VECTO as ‘installed application’</a:t>
            </a:r>
          </a:p>
          <a:p>
            <a:pPr lvl="2">
              <a:tabLst>
                <a:tab pos="1885950" algn="l"/>
              </a:tabLst>
            </a:pPr>
            <a:r>
              <a:rPr lang="en-US" sz="1200" dirty="0"/>
              <a:t>Needs no write permissions to the VECTO application folder</a:t>
            </a:r>
          </a:p>
          <a:p>
            <a:pPr lvl="2">
              <a:tabLst>
                <a:tab pos="1885950" algn="l"/>
              </a:tabLst>
            </a:pPr>
            <a:r>
              <a:rPr lang="en-US" sz="1200" dirty="0"/>
              <a:t>All configuration files and settings are written to %</a:t>
            </a:r>
            <a:r>
              <a:rPr lang="en-US" sz="1200" dirty="0" err="1"/>
              <a:t>AppData</a:t>
            </a:r>
            <a:r>
              <a:rPr lang="en-US" sz="1200" dirty="0"/>
              <a:t>%\VECTO\&lt;Version&gt;</a:t>
            </a:r>
          </a:p>
          <a:p>
            <a:pPr lvl="2">
              <a:tabLst>
                <a:tab pos="1885950" algn="l"/>
              </a:tabLst>
            </a:pPr>
            <a:r>
              <a:rPr lang="en-US" sz="1200" dirty="0"/>
              <a:t>All log files are written to %</a:t>
            </a:r>
            <a:r>
              <a:rPr lang="en-US" sz="1200" dirty="0" err="1"/>
              <a:t>LocalAppData</a:t>
            </a:r>
            <a:r>
              <a:rPr lang="en-US" sz="1200" dirty="0"/>
              <a:t>%\VECTO\&lt;Version&gt;</a:t>
            </a:r>
          </a:p>
          <a:p>
            <a:pPr lvl="1">
              <a:tabLst>
                <a:tab pos="1885950" algn="l"/>
              </a:tabLst>
            </a:pPr>
            <a:r>
              <a:rPr lang="en-US" sz="1600" dirty="0"/>
              <a:t>Switch to ‘installed application’</a:t>
            </a:r>
          </a:p>
          <a:p>
            <a:pPr lvl="2">
              <a:buFont typeface="+mj-lt"/>
              <a:buAutoNum type="arabicPeriod"/>
              <a:tabLst>
                <a:tab pos="1885950" algn="l"/>
              </a:tabLst>
            </a:pPr>
            <a:r>
              <a:rPr lang="en-US" sz="1200" dirty="0"/>
              <a:t>Copy the VECTO directory and all its files and subdirectories to the appropriate location where the user has execute permissions</a:t>
            </a:r>
          </a:p>
          <a:p>
            <a:pPr lvl="2">
              <a:buFont typeface="+mj-lt"/>
              <a:buAutoNum type="arabicPeriod"/>
              <a:tabLst>
                <a:tab pos="1885950" algn="l"/>
              </a:tabLst>
            </a:pPr>
            <a:r>
              <a:rPr lang="en-US" sz="1200" dirty="0"/>
              <a:t>Edit the file ‘</a:t>
            </a:r>
            <a:r>
              <a:rPr lang="en-US" sz="1200" i="1" dirty="0"/>
              <a:t>install.ini</a:t>
            </a:r>
            <a:r>
              <a:rPr lang="en-US" sz="1200" dirty="0"/>
              <a:t>’ and remove the comment character (#) in the line containing </a:t>
            </a:r>
            <a:br>
              <a:rPr lang="en-US" sz="1200" dirty="0"/>
            </a:br>
            <a:r>
              <a:rPr lang="en-US" sz="1200" dirty="0"/>
              <a:t>	</a:t>
            </a:r>
            <a:r>
              <a:rPr lang="en-US" sz="1200" b="1" dirty="0" err="1">
                <a:latin typeface="Courier New" panose="02070309020205020404" pitchFamily="49" charset="0"/>
                <a:cs typeface="Courier New" panose="02070309020205020404" pitchFamily="49" charset="0"/>
              </a:rPr>
              <a:t>ExecutionMode</a:t>
            </a:r>
            <a:r>
              <a:rPr lang="en-US" sz="1200" b="1" dirty="0">
                <a:latin typeface="Courier New" panose="02070309020205020404" pitchFamily="49" charset="0"/>
                <a:cs typeface="Courier New" panose="02070309020205020404" pitchFamily="49" charset="0"/>
              </a:rPr>
              <a:t> = install</a:t>
            </a:r>
          </a:p>
        </p:txBody>
      </p:sp>
    </p:spTree>
    <p:extLst>
      <p:ext uri="{BB962C8B-B14F-4D97-AF65-F5344CB8AC3E}">
        <p14:creationId xmlns:p14="http://schemas.microsoft.com/office/powerpoint/2010/main" val="25117858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3.3.1.1492 Official Release</a:t>
            </a:r>
            <a:br>
              <a:rPr lang="en-US" dirty="0"/>
            </a:br>
            <a:r>
              <a:rPr lang="en-US" sz="1600" dirty="0"/>
              <a:t>2019-02-01</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r>
              <a:rPr lang="en-US" sz="1800" b="1" dirty="0"/>
              <a:t> (compared to 3.3.1.1463-RC)</a:t>
            </a:r>
          </a:p>
          <a:p>
            <a:pPr lvl="1">
              <a:tabLst>
                <a:tab pos="1885950" algn="l"/>
              </a:tabLst>
            </a:pPr>
            <a:r>
              <a:rPr lang="en-US" sz="1400" dirty="0"/>
              <a:t>[VECTO-845] - Fixing bug for VECTO-840</a:t>
            </a:r>
          </a:p>
          <a:p>
            <a:pPr lvl="1">
              <a:tabLst>
                <a:tab pos="1885950" algn="l"/>
              </a:tabLst>
            </a:pPr>
            <a:r>
              <a:rPr lang="en-US" sz="1400" dirty="0"/>
              <a:t>[VECTO-826] - </a:t>
            </a:r>
            <a:r>
              <a:rPr lang="en-US" sz="1400" dirty="0" err="1"/>
              <a:t>DistanceRun</a:t>
            </a:r>
            <a:r>
              <a:rPr lang="en-US" sz="1400" dirty="0"/>
              <a:t> got an unexpected response: </a:t>
            </a:r>
            <a:r>
              <a:rPr lang="en-US" sz="1400" dirty="0" err="1"/>
              <a:t>ResponseSpeedLimitExceeded</a:t>
            </a:r>
            <a:endParaRPr lang="en-US" sz="1400" dirty="0"/>
          </a:p>
          <a:p>
            <a:pPr lvl="1">
              <a:tabLst>
                <a:tab pos="1885950" algn="l"/>
              </a:tabLst>
            </a:pPr>
            <a:r>
              <a:rPr lang="en-US" sz="1400" dirty="0"/>
              <a:t>[VECTO-837] - VECTO GUI displays incorrect cycles prior to simulation</a:t>
            </a:r>
          </a:p>
          <a:p>
            <a:pPr lvl="1">
              <a:tabLst>
                <a:tab pos="1885950" algn="l"/>
              </a:tabLst>
            </a:pPr>
            <a:r>
              <a:rPr lang="en-US" sz="1400" dirty="0"/>
              <a:t>[VECTO-831] - Addition of indication to be added in Help and Release notes for simulations with LNG</a:t>
            </a:r>
          </a:p>
        </p:txBody>
      </p:sp>
      <p:sp>
        <p:nvSpPr>
          <p:cNvPr id="5" name="Textfeld 4"/>
          <p:cNvSpPr txBox="1"/>
          <p:nvPr/>
        </p:nvSpPr>
        <p:spPr>
          <a:xfrm>
            <a:off x="8142761" y="6228020"/>
            <a:ext cx="792088" cy="369332"/>
          </a:xfrm>
          <a:prstGeom prst="rect">
            <a:avLst/>
          </a:prstGeom>
          <a:noFill/>
          <a:ln>
            <a:noFill/>
          </a:ln>
        </p:spPr>
        <p:txBody>
          <a:bodyPr wrap="square" rtlCol="0">
            <a:spAutoFit/>
          </a:bodyPr>
          <a:lstStyle/>
          <a:p>
            <a:pPr algn="l">
              <a:spcBef>
                <a:spcPts val="0"/>
              </a:spcBef>
            </a:pPr>
            <a:r>
              <a:rPr lang="en-US" sz="1800" b="0" dirty="0"/>
              <a:t>cont.</a:t>
            </a:r>
            <a:endParaRPr lang="de-AT" sz="1800" b="0" dirty="0" err="1"/>
          </a:p>
        </p:txBody>
      </p:sp>
    </p:spTree>
    <p:extLst>
      <p:ext uri="{BB962C8B-B14F-4D97-AF65-F5344CB8AC3E}">
        <p14:creationId xmlns:p14="http://schemas.microsoft.com/office/powerpoint/2010/main" val="481833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3.3.1.1463 Release Candidate</a:t>
            </a:r>
            <a:br>
              <a:rPr lang="en-US" dirty="0"/>
            </a:br>
            <a:r>
              <a:rPr lang="en-US" sz="1600" dirty="0"/>
              <a:t>2019-01-03</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Changes according to 2017/2400 amendments</a:t>
            </a:r>
          </a:p>
          <a:p>
            <a:pPr lvl="1">
              <a:tabLst>
                <a:tab pos="1885950" algn="l"/>
              </a:tabLst>
            </a:pPr>
            <a:r>
              <a:rPr lang="en-US" sz="1400" dirty="0"/>
              <a:t>[VECTO-761] - Adaptation of input XML Schema</a:t>
            </a:r>
          </a:p>
          <a:p>
            <a:pPr lvl="1">
              <a:tabLst>
                <a:tab pos="1885950" algn="l"/>
              </a:tabLst>
            </a:pPr>
            <a:r>
              <a:rPr lang="en-US" sz="1400" dirty="0"/>
              <a:t>[VECTO-762] - Extension of Input Interfaces</a:t>
            </a:r>
          </a:p>
          <a:p>
            <a:pPr lvl="1">
              <a:tabLst>
                <a:tab pos="1885950" algn="l"/>
              </a:tabLst>
            </a:pPr>
            <a:r>
              <a:rPr lang="en-US" sz="1400" dirty="0"/>
              <a:t>[VECTO-763] - Extension of Segmentation Table</a:t>
            </a:r>
          </a:p>
          <a:p>
            <a:pPr lvl="1">
              <a:tabLst>
                <a:tab pos="1885950" algn="l"/>
              </a:tabLst>
            </a:pPr>
            <a:r>
              <a:rPr lang="en-US" sz="1400" dirty="0"/>
              <a:t>[VECTO-764] - ADAS benefits (according to Annex III Point 8. of amendment to 2017/2400)</a:t>
            </a:r>
          </a:p>
          <a:p>
            <a:pPr lvl="1">
              <a:tabLst>
                <a:tab pos="1885950" algn="l"/>
              </a:tabLst>
            </a:pPr>
            <a:r>
              <a:rPr lang="en-US" sz="1400" dirty="0"/>
              <a:t>[VECTO-766] - Update power demand auxiliaries (for extended segmentation table)</a:t>
            </a:r>
          </a:p>
          <a:p>
            <a:pPr lvl="1">
              <a:tabLst>
                <a:tab pos="1885950" algn="l"/>
              </a:tabLst>
            </a:pPr>
            <a:r>
              <a:rPr lang="en-US" sz="1400" dirty="0"/>
              <a:t>[VECTO-767] - Report for exempted vehicles</a:t>
            </a:r>
          </a:p>
          <a:p>
            <a:pPr lvl="1">
              <a:tabLst>
                <a:tab pos="1885950" algn="l"/>
              </a:tabLst>
            </a:pPr>
            <a:r>
              <a:rPr lang="en-US" sz="1400" dirty="0"/>
              <a:t>[VECTO-768] - VTP mode</a:t>
            </a:r>
          </a:p>
          <a:p>
            <a:pPr lvl="1">
              <a:tabLst>
                <a:tab pos="1885950" algn="l"/>
              </a:tabLst>
            </a:pPr>
            <a:r>
              <a:rPr lang="en-US" sz="1400" dirty="0"/>
              <a:t>[VECTO-770] - Fuel Types</a:t>
            </a:r>
          </a:p>
          <a:p>
            <a:pPr lvl="1">
              <a:tabLst>
                <a:tab pos="1885950" algn="l"/>
              </a:tabLst>
            </a:pPr>
            <a:r>
              <a:rPr lang="en-US" sz="1400" dirty="0"/>
              <a:t>[VECTO-771] - Handling of exempted vehicles</a:t>
            </a:r>
          </a:p>
          <a:p>
            <a:pPr lvl="1">
              <a:tabLst>
                <a:tab pos="1885950" algn="l"/>
              </a:tabLst>
            </a:pPr>
            <a:r>
              <a:rPr lang="en-US" sz="1400" dirty="0"/>
              <a:t>[VECTO-824] - Throw exception for certain combinations of exempted vehicle parameters</a:t>
            </a:r>
          </a:p>
          <a:p>
            <a:pPr lvl="1">
              <a:tabLst>
                <a:tab pos="1885950" algn="l"/>
              </a:tabLst>
            </a:pPr>
            <a:r>
              <a:rPr lang="en-US" sz="1400" dirty="0"/>
              <a:t>[VECTO-773] - Correction Factor for Reference Fuel</a:t>
            </a:r>
          </a:p>
          <a:p>
            <a:pPr lvl="1">
              <a:tabLst>
                <a:tab pos="1885950" algn="l"/>
              </a:tabLst>
            </a:pPr>
            <a:r>
              <a:rPr lang="en-US" sz="1400" dirty="0"/>
              <a:t>[VECTO-790] - Adapt generic data for construction/municipal utility</a:t>
            </a:r>
          </a:p>
          <a:p>
            <a:pPr lvl="1">
              <a:tabLst>
                <a:tab pos="1885950" algn="l"/>
              </a:tabLst>
            </a:pPr>
            <a:r>
              <a:rPr lang="en-US" sz="1400" dirty="0"/>
              <a:t>[VECTO-493] - Implementation of generic body weights and air drag values for construction cycle</a:t>
            </a:r>
          </a:p>
          <a:p>
            <a:pPr lvl="1">
              <a:tabLst>
                <a:tab pos="1885950" algn="l"/>
              </a:tabLst>
            </a:pPr>
            <a:r>
              <a:rPr lang="en-US" sz="1400" dirty="0"/>
              <a:t>[VECTO-565] - Consideration of LNG as possible fuel is missing</a:t>
            </a:r>
          </a:p>
        </p:txBody>
      </p:sp>
      <p:sp>
        <p:nvSpPr>
          <p:cNvPr id="4" name="Textfeld 3"/>
          <p:cNvSpPr txBox="1"/>
          <p:nvPr/>
        </p:nvSpPr>
        <p:spPr>
          <a:xfrm>
            <a:off x="8142761" y="6228020"/>
            <a:ext cx="792088" cy="369332"/>
          </a:xfrm>
          <a:prstGeom prst="rect">
            <a:avLst/>
          </a:prstGeom>
          <a:noFill/>
          <a:ln>
            <a:noFill/>
          </a:ln>
        </p:spPr>
        <p:txBody>
          <a:bodyPr wrap="square" rtlCol="0">
            <a:spAutoFit/>
          </a:bodyPr>
          <a:lstStyle/>
          <a:p>
            <a:pPr algn="l">
              <a:spcBef>
                <a:spcPts val="0"/>
              </a:spcBef>
            </a:pPr>
            <a:r>
              <a:rPr lang="en-US" sz="1800" b="0"/>
              <a:t>cont.</a:t>
            </a:r>
            <a:endParaRPr lang="de-AT" sz="1800" b="0" dirty="0" err="1"/>
          </a:p>
        </p:txBody>
      </p:sp>
    </p:spTree>
    <p:extLst>
      <p:ext uri="{BB962C8B-B14F-4D97-AF65-F5344CB8AC3E}">
        <p14:creationId xmlns:p14="http://schemas.microsoft.com/office/powerpoint/2010/main" val="4221839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3.3.1.1463 Release Candidate</a:t>
            </a:r>
            <a:br>
              <a:rPr lang="en-US" dirty="0"/>
            </a:br>
            <a:r>
              <a:rPr lang="en-US" sz="1600" dirty="0"/>
              <a:t>2019-01-03</a:t>
            </a:r>
          </a:p>
        </p:txBody>
      </p:sp>
      <p:sp>
        <p:nvSpPr>
          <p:cNvPr id="3" name="Inhaltsplatzhalter 2"/>
          <p:cNvSpPr>
            <a:spLocks noGrp="1"/>
          </p:cNvSpPr>
          <p:nvPr>
            <p:ph idx="1"/>
          </p:nvPr>
        </p:nvSpPr>
        <p:spPr>
          <a:xfrm>
            <a:off x="323529" y="1196752"/>
            <a:ext cx="8640960" cy="1584176"/>
          </a:xfrm>
        </p:spPr>
        <p:txBody>
          <a:bodyPr/>
          <a:lstStyle/>
          <a:p>
            <a:pPr>
              <a:tabLst>
                <a:tab pos="1885950" algn="l"/>
              </a:tabLst>
            </a:pPr>
            <a:r>
              <a:rPr lang="en-US" sz="1800" b="1" dirty="0"/>
              <a:t>New input parameters</a:t>
            </a:r>
          </a:p>
          <a:p>
            <a:pPr lvl="1">
              <a:tabLst>
                <a:tab pos="1885950" algn="l"/>
              </a:tabLst>
            </a:pPr>
            <a:r>
              <a:rPr lang="en-US" sz="1400" dirty="0"/>
              <a:t>The new input fields (see table below) are optional in this version. When this release candidate will be an official version manufacturers MAY certify their new vehicles using the new input parameters. As from 1</a:t>
            </a:r>
            <a:r>
              <a:rPr lang="en-US" sz="1400" baseline="30000" dirty="0"/>
              <a:t>st</a:t>
            </a:r>
            <a:r>
              <a:rPr lang="en-US" sz="1400" dirty="0"/>
              <a:t> July 2019 the new input fields will become mandatory. Further details are provided in the timetable on the next page.</a:t>
            </a:r>
          </a:p>
          <a:p>
            <a:pPr lvl="1">
              <a:tabLst>
                <a:tab pos="1885950" algn="l"/>
              </a:tabLst>
            </a:pPr>
            <a:r>
              <a:rPr lang="en-US" sz="1400" dirty="0"/>
              <a:t>Default values when the new input parameters are not provided:</a:t>
            </a:r>
          </a:p>
        </p:txBody>
      </p:sp>
      <p:sp>
        <p:nvSpPr>
          <p:cNvPr id="4" name="Textfeld 3"/>
          <p:cNvSpPr txBox="1"/>
          <p:nvPr/>
        </p:nvSpPr>
        <p:spPr>
          <a:xfrm>
            <a:off x="8142761" y="6228020"/>
            <a:ext cx="792088" cy="369332"/>
          </a:xfrm>
          <a:prstGeom prst="rect">
            <a:avLst/>
          </a:prstGeom>
          <a:noFill/>
          <a:ln>
            <a:noFill/>
          </a:ln>
        </p:spPr>
        <p:txBody>
          <a:bodyPr wrap="square" rtlCol="0">
            <a:spAutoFit/>
          </a:bodyPr>
          <a:lstStyle/>
          <a:p>
            <a:pPr algn="l">
              <a:spcBef>
                <a:spcPts val="0"/>
              </a:spcBef>
            </a:pPr>
            <a:r>
              <a:rPr lang="en-US" sz="1800" b="0" dirty="0"/>
              <a:t>cont.</a:t>
            </a:r>
            <a:endParaRPr lang="de-AT" sz="1800" b="0" dirty="0" err="1"/>
          </a:p>
        </p:txBody>
      </p:sp>
      <p:graphicFrame>
        <p:nvGraphicFramePr>
          <p:cNvPr id="5" name="Tabelle 4"/>
          <p:cNvGraphicFramePr>
            <a:graphicFrameLocks noGrp="1"/>
          </p:cNvGraphicFramePr>
          <p:nvPr>
            <p:extLst>
              <p:ext uri="{D42A27DB-BD31-4B8C-83A1-F6EECF244321}">
                <p14:modId xmlns:p14="http://schemas.microsoft.com/office/powerpoint/2010/main" val="1239747512"/>
              </p:ext>
            </p:extLst>
          </p:nvPr>
        </p:nvGraphicFramePr>
        <p:xfrm>
          <a:off x="1475656" y="2768666"/>
          <a:ext cx="6022519" cy="2892582"/>
        </p:xfrm>
        <a:graphic>
          <a:graphicData uri="http://schemas.openxmlformats.org/drawingml/2006/table">
            <a:tbl>
              <a:tblPr firstRow="1" firstCol="1" bandRow="1">
                <a:tableStyleId>{5C22544A-7EE6-4342-B048-85BDC9FD1C3A}</a:tableStyleId>
              </a:tblPr>
              <a:tblGrid>
                <a:gridCol w="2092423">
                  <a:extLst>
                    <a:ext uri="{9D8B030D-6E8A-4147-A177-3AD203B41FA5}">
                      <a16:colId xmlns:a16="http://schemas.microsoft.com/office/drawing/2014/main" val="543711055"/>
                    </a:ext>
                  </a:extLst>
                </a:gridCol>
                <a:gridCol w="3930096">
                  <a:extLst>
                    <a:ext uri="{9D8B030D-6E8A-4147-A177-3AD203B41FA5}">
                      <a16:colId xmlns:a16="http://schemas.microsoft.com/office/drawing/2014/main" val="2752458222"/>
                    </a:ext>
                  </a:extLst>
                </a:gridCol>
              </a:tblGrid>
              <a:tr h="176442">
                <a:tc gridSpan="2">
                  <a:txBody>
                    <a:bodyPr/>
                    <a:lstStyle/>
                    <a:p>
                      <a:pPr>
                        <a:lnSpc>
                          <a:spcPct val="115000"/>
                        </a:lnSpc>
                        <a:spcAft>
                          <a:spcPts val="0"/>
                        </a:spcAft>
                      </a:pPr>
                      <a:r>
                        <a:rPr lang="en-GB" sz="1050" dirty="0">
                          <a:effectLst/>
                        </a:rPr>
                        <a:t>Input parameters vehicle – Table 1 Annex III</a:t>
                      </a:r>
                      <a:endParaRPr lang="de-AT"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hMerge="1">
                  <a:txBody>
                    <a:bodyPr/>
                    <a:lstStyle/>
                    <a:p>
                      <a:endParaRPr lang="de-AT"/>
                    </a:p>
                  </a:txBody>
                  <a:tcPr/>
                </a:tc>
                <a:extLst>
                  <a:ext uri="{0D108BD9-81ED-4DB2-BD59-A6C34878D82A}">
                    <a16:rowId xmlns:a16="http://schemas.microsoft.com/office/drawing/2014/main" val="3960192209"/>
                  </a:ext>
                </a:extLst>
              </a:tr>
              <a:tr h="176442">
                <a:tc>
                  <a:txBody>
                    <a:bodyPr/>
                    <a:lstStyle/>
                    <a:p>
                      <a:pPr>
                        <a:lnSpc>
                          <a:spcPct val="115000"/>
                        </a:lnSpc>
                        <a:spcAft>
                          <a:spcPts val="0"/>
                        </a:spcAft>
                      </a:pPr>
                      <a:r>
                        <a:rPr lang="en-GB" sz="1050">
                          <a:effectLst/>
                        </a:rPr>
                        <a:t>Field</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a:txBody>
                    <a:bodyPr/>
                    <a:lstStyle/>
                    <a:p>
                      <a:pPr>
                        <a:lnSpc>
                          <a:spcPct val="115000"/>
                        </a:lnSpc>
                        <a:spcAft>
                          <a:spcPts val="0"/>
                        </a:spcAft>
                      </a:pPr>
                      <a:r>
                        <a:rPr lang="en-GB" sz="1050">
                          <a:effectLst/>
                        </a:rPr>
                        <a:t>Default value</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extLst>
                  <a:ext uri="{0D108BD9-81ED-4DB2-BD59-A6C34878D82A}">
                    <a16:rowId xmlns:a16="http://schemas.microsoft.com/office/drawing/2014/main" val="4216612759"/>
                  </a:ext>
                </a:extLst>
              </a:tr>
              <a:tr h="355385">
                <a:tc>
                  <a:txBody>
                    <a:bodyPr/>
                    <a:lstStyle/>
                    <a:p>
                      <a:pPr>
                        <a:lnSpc>
                          <a:spcPct val="115000"/>
                        </a:lnSpc>
                        <a:spcAft>
                          <a:spcPts val="0"/>
                        </a:spcAft>
                      </a:pPr>
                      <a:r>
                        <a:rPr lang="en-GB" sz="1050" dirty="0" err="1">
                          <a:effectLst/>
                        </a:rPr>
                        <a:t>VehicleCategory</a:t>
                      </a:r>
                      <a:endParaRPr lang="de-AT"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a:txBody>
                    <a:bodyPr/>
                    <a:lstStyle/>
                    <a:p>
                      <a:pPr>
                        <a:lnSpc>
                          <a:spcPct val="115000"/>
                        </a:lnSpc>
                        <a:spcAft>
                          <a:spcPts val="0"/>
                        </a:spcAft>
                      </a:pPr>
                      <a:r>
                        <a:rPr lang="en-GB" sz="1050">
                          <a:effectLst/>
                        </a:rPr>
                        <a:t>No default value but input 'rigid truck' will be converted automatically into 'rigid lorry'</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extLst>
                  <a:ext uri="{0D108BD9-81ED-4DB2-BD59-A6C34878D82A}">
                    <a16:rowId xmlns:a16="http://schemas.microsoft.com/office/drawing/2014/main" val="2436722423"/>
                  </a:ext>
                </a:extLst>
              </a:tr>
              <a:tr h="352883">
                <a:tc>
                  <a:txBody>
                    <a:bodyPr/>
                    <a:lstStyle/>
                    <a:p>
                      <a:pPr>
                        <a:lnSpc>
                          <a:spcPct val="115000"/>
                        </a:lnSpc>
                        <a:spcAft>
                          <a:spcPts val="0"/>
                        </a:spcAft>
                      </a:pPr>
                      <a:r>
                        <a:rPr lang="en-GB" sz="1050" dirty="0" err="1">
                          <a:effectLst/>
                        </a:rPr>
                        <a:t>ZeroEmissionVehicle</a:t>
                      </a:r>
                      <a:endParaRPr lang="de-AT"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a:txBody>
                    <a:bodyPr/>
                    <a:lstStyle/>
                    <a:p>
                      <a:pPr>
                        <a:lnSpc>
                          <a:spcPct val="115000"/>
                        </a:lnSpc>
                        <a:spcAft>
                          <a:spcPts val="0"/>
                        </a:spcAft>
                      </a:pPr>
                      <a:r>
                        <a:rPr lang="en-GB" sz="1050">
                          <a:effectLst/>
                        </a:rPr>
                        <a:t>'No'</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extLst>
                  <a:ext uri="{0D108BD9-81ED-4DB2-BD59-A6C34878D82A}">
                    <a16:rowId xmlns:a16="http://schemas.microsoft.com/office/drawing/2014/main" val="641749525"/>
                  </a:ext>
                </a:extLst>
              </a:tr>
              <a:tr h="352883">
                <a:tc>
                  <a:txBody>
                    <a:bodyPr/>
                    <a:lstStyle/>
                    <a:p>
                      <a:pPr>
                        <a:lnSpc>
                          <a:spcPct val="115000"/>
                        </a:lnSpc>
                        <a:spcAft>
                          <a:spcPts val="0"/>
                        </a:spcAft>
                      </a:pPr>
                      <a:r>
                        <a:rPr lang="en-GB" sz="1050">
                          <a:effectLst/>
                        </a:rPr>
                        <a:t>NgTankSystem</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a:txBody>
                    <a:bodyPr/>
                    <a:lstStyle/>
                    <a:p>
                      <a:pPr>
                        <a:lnSpc>
                          <a:spcPct val="115000"/>
                        </a:lnSpc>
                        <a:spcAft>
                          <a:spcPts val="0"/>
                        </a:spcAft>
                      </a:pPr>
                      <a:r>
                        <a:rPr lang="en-GB" sz="1050">
                          <a:effectLst/>
                        </a:rPr>
                        <a:t>'Compressed' (only applicable to gas vehicles)</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extLst>
                  <a:ext uri="{0D108BD9-81ED-4DB2-BD59-A6C34878D82A}">
                    <a16:rowId xmlns:a16="http://schemas.microsoft.com/office/drawing/2014/main" val="2510073349"/>
                  </a:ext>
                </a:extLst>
              </a:tr>
              <a:tr h="176442">
                <a:tc>
                  <a:txBody>
                    <a:bodyPr/>
                    <a:lstStyle/>
                    <a:p>
                      <a:pPr>
                        <a:lnSpc>
                          <a:spcPct val="115000"/>
                        </a:lnSpc>
                        <a:spcAft>
                          <a:spcPts val="0"/>
                        </a:spcAft>
                      </a:pPr>
                      <a:r>
                        <a:rPr lang="en-GB" sz="1050">
                          <a:effectLst/>
                        </a:rPr>
                        <a:t>SleeperCab</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a:txBody>
                    <a:bodyPr/>
                    <a:lstStyle/>
                    <a:p>
                      <a:pPr>
                        <a:lnSpc>
                          <a:spcPct val="115000"/>
                        </a:lnSpc>
                        <a:spcAft>
                          <a:spcPts val="0"/>
                        </a:spcAft>
                      </a:pPr>
                      <a:r>
                        <a:rPr lang="en-GB" sz="1050">
                          <a:effectLst/>
                        </a:rPr>
                        <a:t>'Yes'</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extLst>
                  <a:ext uri="{0D108BD9-81ED-4DB2-BD59-A6C34878D82A}">
                    <a16:rowId xmlns:a16="http://schemas.microsoft.com/office/drawing/2014/main" val="1552715830"/>
                  </a:ext>
                </a:extLst>
              </a:tr>
              <a:tr h="176442">
                <a:tc gridSpan="2">
                  <a:txBody>
                    <a:bodyPr/>
                    <a:lstStyle/>
                    <a:p>
                      <a:pPr>
                        <a:lnSpc>
                          <a:spcPct val="115000"/>
                        </a:lnSpc>
                        <a:spcAft>
                          <a:spcPts val="0"/>
                        </a:spcAft>
                      </a:pPr>
                      <a:r>
                        <a:rPr lang="en-GB" sz="1050" dirty="0">
                          <a:effectLst/>
                        </a:rPr>
                        <a:t>Input parameters ADAS – Pt. 8 Annex III</a:t>
                      </a:r>
                      <a:endParaRPr lang="de-AT"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hMerge="1">
                  <a:txBody>
                    <a:bodyPr/>
                    <a:lstStyle/>
                    <a:p>
                      <a:endParaRPr lang="de-AT"/>
                    </a:p>
                  </a:txBody>
                  <a:tcPr/>
                </a:tc>
                <a:extLst>
                  <a:ext uri="{0D108BD9-81ED-4DB2-BD59-A6C34878D82A}">
                    <a16:rowId xmlns:a16="http://schemas.microsoft.com/office/drawing/2014/main" val="330869859"/>
                  </a:ext>
                </a:extLst>
              </a:tr>
              <a:tr h="176442">
                <a:tc>
                  <a:txBody>
                    <a:bodyPr/>
                    <a:lstStyle/>
                    <a:p>
                      <a:pPr>
                        <a:lnSpc>
                          <a:spcPct val="115000"/>
                        </a:lnSpc>
                        <a:spcAft>
                          <a:spcPts val="0"/>
                        </a:spcAft>
                      </a:pPr>
                      <a:r>
                        <a:rPr lang="en-GB" sz="1050">
                          <a:effectLst/>
                        </a:rPr>
                        <a:t>Field</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a:txBody>
                    <a:bodyPr/>
                    <a:lstStyle/>
                    <a:p>
                      <a:pPr>
                        <a:lnSpc>
                          <a:spcPct val="115000"/>
                        </a:lnSpc>
                        <a:spcAft>
                          <a:spcPts val="0"/>
                        </a:spcAft>
                      </a:pPr>
                      <a:r>
                        <a:rPr lang="en-GB" sz="1050">
                          <a:effectLst/>
                        </a:rPr>
                        <a:t>Default value</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extLst>
                  <a:ext uri="{0D108BD9-81ED-4DB2-BD59-A6C34878D82A}">
                    <a16:rowId xmlns:a16="http://schemas.microsoft.com/office/drawing/2014/main" val="2665863538"/>
                  </a:ext>
                </a:extLst>
              </a:tr>
              <a:tr h="250583">
                <a:tc>
                  <a:txBody>
                    <a:bodyPr/>
                    <a:lstStyle/>
                    <a:p>
                      <a:pPr>
                        <a:lnSpc>
                          <a:spcPct val="115000"/>
                        </a:lnSpc>
                        <a:spcAft>
                          <a:spcPts val="0"/>
                        </a:spcAft>
                      </a:pPr>
                      <a:r>
                        <a:rPr lang="en-GB" sz="1050" dirty="0" err="1">
                          <a:effectLst/>
                        </a:rPr>
                        <a:t>EngineStartStop</a:t>
                      </a:r>
                      <a:endParaRPr lang="de-AT"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a:txBody>
                    <a:bodyPr/>
                    <a:lstStyle/>
                    <a:p>
                      <a:pPr>
                        <a:lnSpc>
                          <a:spcPct val="115000"/>
                        </a:lnSpc>
                        <a:spcAft>
                          <a:spcPts val="0"/>
                        </a:spcAft>
                      </a:pPr>
                      <a:r>
                        <a:rPr lang="en-GB" sz="1050">
                          <a:effectLst/>
                        </a:rPr>
                        <a:t>'No'</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extLst>
                  <a:ext uri="{0D108BD9-81ED-4DB2-BD59-A6C34878D82A}">
                    <a16:rowId xmlns:a16="http://schemas.microsoft.com/office/drawing/2014/main" val="3719152744"/>
                  </a:ext>
                </a:extLst>
              </a:tr>
              <a:tr h="216024">
                <a:tc>
                  <a:txBody>
                    <a:bodyPr/>
                    <a:lstStyle/>
                    <a:p>
                      <a:pPr>
                        <a:lnSpc>
                          <a:spcPct val="115000"/>
                        </a:lnSpc>
                        <a:spcAft>
                          <a:spcPts val="0"/>
                        </a:spcAft>
                      </a:pPr>
                      <a:r>
                        <a:rPr lang="en-GB" sz="1050" dirty="0" err="1">
                          <a:effectLst/>
                        </a:rPr>
                        <a:t>EcoRollWithoutEngineStop</a:t>
                      </a:r>
                      <a:endParaRPr lang="de-AT"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a:txBody>
                    <a:bodyPr/>
                    <a:lstStyle/>
                    <a:p>
                      <a:pPr>
                        <a:lnSpc>
                          <a:spcPct val="115000"/>
                        </a:lnSpc>
                        <a:spcAft>
                          <a:spcPts val="0"/>
                        </a:spcAft>
                      </a:pPr>
                      <a:r>
                        <a:rPr lang="en-GB" sz="1050">
                          <a:effectLst/>
                        </a:rPr>
                        <a:t>'No'</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extLst>
                  <a:ext uri="{0D108BD9-81ED-4DB2-BD59-A6C34878D82A}">
                    <a16:rowId xmlns:a16="http://schemas.microsoft.com/office/drawing/2014/main" val="1947807477"/>
                  </a:ext>
                </a:extLst>
              </a:tr>
              <a:tr h="216024">
                <a:tc>
                  <a:txBody>
                    <a:bodyPr/>
                    <a:lstStyle/>
                    <a:p>
                      <a:pPr>
                        <a:lnSpc>
                          <a:spcPct val="115000"/>
                        </a:lnSpc>
                        <a:spcAft>
                          <a:spcPts val="0"/>
                        </a:spcAft>
                      </a:pPr>
                      <a:r>
                        <a:rPr lang="en-GB" sz="1050">
                          <a:effectLst/>
                        </a:rPr>
                        <a:t>EcoRollWithEngineStop</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a:txBody>
                    <a:bodyPr/>
                    <a:lstStyle/>
                    <a:p>
                      <a:pPr>
                        <a:lnSpc>
                          <a:spcPct val="115000"/>
                        </a:lnSpc>
                        <a:spcAft>
                          <a:spcPts val="0"/>
                        </a:spcAft>
                      </a:pPr>
                      <a:r>
                        <a:rPr lang="en-GB" sz="1050">
                          <a:effectLst/>
                        </a:rPr>
                        <a:t>'No'</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extLst>
                  <a:ext uri="{0D108BD9-81ED-4DB2-BD59-A6C34878D82A}">
                    <a16:rowId xmlns:a16="http://schemas.microsoft.com/office/drawing/2014/main" val="3928609188"/>
                  </a:ext>
                </a:extLst>
              </a:tr>
              <a:tr h="216024">
                <a:tc>
                  <a:txBody>
                    <a:bodyPr/>
                    <a:lstStyle/>
                    <a:p>
                      <a:pPr>
                        <a:lnSpc>
                          <a:spcPct val="115000"/>
                        </a:lnSpc>
                        <a:spcAft>
                          <a:spcPts val="0"/>
                        </a:spcAft>
                      </a:pPr>
                      <a:r>
                        <a:rPr lang="en-GB" sz="1050">
                          <a:effectLst/>
                        </a:rPr>
                        <a:t>PredictiveCruiseControl</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a:txBody>
                    <a:bodyPr/>
                    <a:lstStyle/>
                    <a:p>
                      <a:pPr>
                        <a:lnSpc>
                          <a:spcPct val="115000"/>
                        </a:lnSpc>
                        <a:spcAft>
                          <a:spcPts val="0"/>
                        </a:spcAft>
                      </a:pPr>
                      <a:r>
                        <a:rPr lang="en-GB" sz="1050" dirty="0">
                          <a:effectLst/>
                        </a:rPr>
                        <a:t>'No'</a:t>
                      </a:r>
                      <a:endParaRPr lang="de-AT"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extLst>
                  <a:ext uri="{0D108BD9-81ED-4DB2-BD59-A6C34878D82A}">
                    <a16:rowId xmlns:a16="http://schemas.microsoft.com/office/drawing/2014/main" val="3413410808"/>
                  </a:ext>
                </a:extLst>
              </a:tr>
            </a:tbl>
          </a:graphicData>
        </a:graphic>
      </p:graphicFrame>
      <p:sp>
        <p:nvSpPr>
          <p:cNvPr id="6" name="Inhaltsplatzhalter 2"/>
          <p:cNvSpPr txBox="1">
            <a:spLocks/>
          </p:cNvSpPr>
          <p:nvPr/>
        </p:nvSpPr>
        <p:spPr bwMode="auto">
          <a:xfrm>
            <a:off x="166435" y="5661248"/>
            <a:ext cx="8640960" cy="9361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DDDDD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lvl="1">
              <a:tabLst>
                <a:tab pos="1885950" algn="l"/>
              </a:tabLst>
            </a:pPr>
            <a:r>
              <a:rPr lang="en-US" sz="1400" b="0" kern="0" dirty="0"/>
              <a:t>Currently </a:t>
            </a:r>
            <a:r>
              <a:rPr lang="en-US" sz="1400" kern="0" dirty="0"/>
              <a:t>only</a:t>
            </a:r>
            <a:r>
              <a:rPr lang="en-US" sz="1400" b="0" kern="0" dirty="0"/>
              <a:t> the fuel type ‘</a:t>
            </a:r>
            <a:r>
              <a:rPr lang="en-US" sz="1400" kern="0" dirty="0"/>
              <a:t>NG PI</a:t>
            </a:r>
            <a:r>
              <a:rPr lang="en-US" sz="1400" b="0" kern="0" dirty="0"/>
              <a:t>’ for the </a:t>
            </a:r>
            <a:r>
              <a:rPr lang="en-US" sz="1400" kern="0" dirty="0"/>
              <a:t>engine certification </a:t>
            </a:r>
            <a:r>
              <a:rPr lang="en-US" sz="1400" b="0" kern="0" dirty="0"/>
              <a:t>is allowed by 2017/2400. For LNG vehicles, therefore, the engine fuel type has to be set to ‘</a:t>
            </a:r>
            <a:r>
              <a:rPr lang="en-US" sz="1400" kern="0" dirty="0"/>
              <a:t>NG PI</a:t>
            </a:r>
            <a:r>
              <a:rPr lang="en-US" sz="1400" b="0" kern="0" dirty="0"/>
              <a:t>’ and at the vehicle level </a:t>
            </a:r>
            <a:r>
              <a:rPr lang="en-US" sz="1400" b="0" kern="0" dirty="0" err="1"/>
              <a:t>NgTankSystem</a:t>
            </a:r>
            <a:r>
              <a:rPr lang="en-US" sz="1400" b="0" kern="0" dirty="0"/>
              <a:t> has to be set to </a:t>
            </a:r>
            <a:r>
              <a:rPr lang="en-US" sz="1400" kern="0" dirty="0"/>
              <a:t>liquefied</a:t>
            </a:r>
            <a:r>
              <a:rPr lang="en-US" sz="1400" b="0" kern="0" dirty="0"/>
              <a:t>. For CNG the same engine fuel type is used but </a:t>
            </a:r>
            <a:r>
              <a:rPr lang="en-US" sz="1400" b="0" kern="0" dirty="0" err="1"/>
              <a:t>NgTankSystem</a:t>
            </a:r>
            <a:r>
              <a:rPr lang="en-US" sz="1400" b="0" kern="0" dirty="0"/>
              <a:t> has to be set to </a:t>
            </a:r>
            <a:r>
              <a:rPr lang="en-US" sz="1400" kern="0" dirty="0"/>
              <a:t>compressed</a:t>
            </a:r>
            <a:r>
              <a:rPr lang="en-US" sz="1400" b="0" kern="0" dirty="0"/>
              <a:t>.</a:t>
            </a:r>
          </a:p>
        </p:txBody>
      </p:sp>
    </p:spTree>
    <p:extLst>
      <p:ext uri="{BB962C8B-B14F-4D97-AF65-F5344CB8AC3E}">
        <p14:creationId xmlns:p14="http://schemas.microsoft.com/office/powerpoint/2010/main" val="14682214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3.3.1.1463 Release Candidate</a:t>
            </a:r>
            <a:br>
              <a:rPr lang="en-US" dirty="0"/>
            </a:br>
            <a:r>
              <a:rPr lang="en-US" sz="1600" dirty="0"/>
              <a:t>2019-01-03</a:t>
            </a:r>
          </a:p>
        </p:txBody>
      </p:sp>
      <p:sp>
        <p:nvSpPr>
          <p:cNvPr id="3" name="Inhaltsplatzhalter 2"/>
          <p:cNvSpPr>
            <a:spLocks noGrp="1"/>
          </p:cNvSpPr>
          <p:nvPr>
            <p:ph idx="1"/>
          </p:nvPr>
        </p:nvSpPr>
        <p:spPr>
          <a:xfrm>
            <a:off x="323529" y="1628800"/>
            <a:ext cx="8640960" cy="1584176"/>
          </a:xfrm>
        </p:spPr>
        <p:txBody>
          <a:bodyPr/>
          <a:lstStyle/>
          <a:p>
            <a:pPr>
              <a:tabLst>
                <a:tab pos="1885950" algn="l"/>
              </a:tabLst>
            </a:pPr>
            <a:r>
              <a:rPr lang="en-US" sz="1800" b="1" dirty="0"/>
              <a:t>Timetable</a:t>
            </a:r>
          </a:p>
        </p:txBody>
      </p:sp>
      <p:sp>
        <p:nvSpPr>
          <p:cNvPr id="4" name="Textfeld 3"/>
          <p:cNvSpPr txBox="1"/>
          <p:nvPr/>
        </p:nvSpPr>
        <p:spPr>
          <a:xfrm>
            <a:off x="8142761" y="6228020"/>
            <a:ext cx="792088" cy="369332"/>
          </a:xfrm>
          <a:prstGeom prst="rect">
            <a:avLst/>
          </a:prstGeom>
          <a:noFill/>
          <a:ln>
            <a:noFill/>
          </a:ln>
        </p:spPr>
        <p:txBody>
          <a:bodyPr wrap="square" rtlCol="0">
            <a:spAutoFit/>
          </a:bodyPr>
          <a:lstStyle/>
          <a:p>
            <a:pPr algn="l">
              <a:spcBef>
                <a:spcPts val="0"/>
              </a:spcBef>
            </a:pPr>
            <a:r>
              <a:rPr lang="en-US" sz="1800" b="0"/>
              <a:t>cont.</a:t>
            </a:r>
            <a:endParaRPr lang="de-AT" sz="1800" b="0" dirty="0" err="1"/>
          </a:p>
        </p:txBody>
      </p:sp>
      <p:graphicFrame>
        <p:nvGraphicFramePr>
          <p:cNvPr id="6" name="Tabelle 5"/>
          <p:cNvGraphicFramePr>
            <a:graphicFrameLocks noGrp="1"/>
          </p:cNvGraphicFramePr>
          <p:nvPr>
            <p:extLst>
              <p:ext uri="{D42A27DB-BD31-4B8C-83A1-F6EECF244321}">
                <p14:modId xmlns:p14="http://schemas.microsoft.com/office/powerpoint/2010/main" val="1245703818"/>
              </p:ext>
            </p:extLst>
          </p:nvPr>
        </p:nvGraphicFramePr>
        <p:xfrm>
          <a:off x="899592" y="2100456"/>
          <a:ext cx="7787211" cy="2763520"/>
        </p:xfrm>
        <a:graphic>
          <a:graphicData uri="http://schemas.openxmlformats.org/drawingml/2006/table">
            <a:tbl>
              <a:tblPr firstRow="1" bandRow="1">
                <a:tableStyleId>{5C22544A-7EE6-4342-B048-85BDC9FD1C3A}</a:tableStyleId>
              </a:tblPr>
              <a:tblGrid>
                <a:gridCol w="1800200">
                  <a:extLst>
                    <a:ext uri="{9D8B030D-6E8A-4147-A177-3AD203B41FA5}">
                      <a16:colId xmlns:a16="http://schemas.microsoft.com/office/drawing/2014/main" val="1173524122"/>
                    </a:ext>
                  </a:extLst>
                </a:gridCol>
                <a:gridCol w="1512168">
                  <a:extLst>
                    <a:ext uri="{9D8B030D-6E8A-4147-A177-3AD203B41FA5}">
                      <a16:colId xmlns:a16="http://schemas.microsoft.com/office/drawing/2014/main" val="1743443225"/>
                    </a:ext>
                  </a:extLst>
                </a:gridCol>
                <a:gridCol w="4474843">
                  <a:extLst>
                    <a:ext uri="{9D8B030D-6E8A-4147-A177-3AD203B41FA5}">
                      <a16:colId xmlns:a16="http://schemas.microsoft.com/office/drawing/2014/main" val="3448558419"/>
                    </a:ext>
                  </a:extLst>
                </a:gridCol>
              </a:tblGrid>
              <a:tr h="370840">
                <a:tc>
                  <a:txBody>
                    <a:bodyPr/>
                    <a:lstStyle/>
                    <a:p>
                      <a:r>
                        <a:rPr lang="en-US" dirty="0"/>
                        <a:t>Planned Date</a:t>
                      </a:r>
                      <a:endParaRPr lang="de-AT" dirty="0"/>
                    </a:p>
                  </a:txBody>
                  <a:tcPr/>
                </a:tc>
                <a:tc>
                  <a:txBody>
                    <a:bodyPr/>
                    <a:lstStyle/>
                    <a:p>
                      <a:r>
                        <a:rPr lang="en-US" dirty="0"/>
                        <a:t>Version</a:t>
                      </a:r>
                      <a:endParaRPr lang="de-AT" dirty="0"/>
                    </a:p>
                  </a:txBody>
                  <a:tcPr/>
                </a:tc>
                <a:tc>
                  <a:txBody>
                    <a:bodyPr/>
                    <a:lstStyle/>
                    <a:p>
                      <a:r>
                        <a:rPr lang="en-US" dirty="0"/>
                        <a:t>Description</a:t>
                      </a:r>
                      <a:endParaRPr lang="de-AT" dirty="0"/>
                    </a:p>
                  </a:txBody>
                  <a:tcPr/>
                </a:tc>
                <a:extLst>
                  <a:ext uri="{0D108BD9-81ED-4DB2-BD59-A6C34878D82A}">
                    <a16:rowId xmlns:a16="http://schemas.microsoft.com/office/drawing/2014/main" val="3743603897"/>
                  </a:ext>
                </a:extLst>
              </a:tr>
              <a:tr h="370840">
                <a:tc>
                  <a:txBody>
                    <a:bodyPr/>
                    <a:lstStyle/>
                    <a:p>
                      <a:r>
                        <a:rPr lang="en-US" dirty="0"/>
                        <a:t>1. Feb. 2019</a:t>
                      </a:r>
                      <a:endParaRPr lang="de-AT" dirty="0"/>
                    </a:p>
                  </a:txBody>
                  <a:tcPr/>
                </a:tc>
                <a:tc>
                  <a:txBody>
                    <a:bodyPr/>
                    <a:lstStyle/>
                    <a:p>
                      <a:r>
                        <a:rPr lang="en-US" dirty="0"/>
                        <a:t>3.3.1.x</a:t>
                      </a:r>
                      <a:endParaRPr lang="de-AT" dirty="0"/>
                    </a:p>
                  </a:txBody>
                  <a:tcPr/>
                </a:tc>
                <a:tc>
                  <a:txBody>
                    <a:bodyPr/>
                    <a:lstStyle/>
                    <a:p>
                      <a:r>
                        <a:rPr lang="en-US" dirty="0"/>
                        <a:t>Release of official version</a:t>
                      </a:r>
                      <a:r>
                        <a:rPr lang="en-US" baseline="0" dirty="0"/>
                        <a:t> of release candidate 3.3.1.1463</a:t>
                      </a:r>
                      <a:endParaRPr lang="de-AT" dirty="0"/>
                    </a:p>
                  </a:txBody>
                  <a:tcPr/>
                </a:tc>
                <a:extLst>
                  <a:ext uri="{0D108BD9-81ED-4DB2-BD59-A6C34878D82A}">
                    <a16:rowId xmlns:a16="http://schemas.microsoft.com/office/drawing/2014/main" val="3876645964"/>
                  </a:ext>
                </a:extLst>
              </a:tr>
              <a:tr h="370840">
                <a:tc>
                  <a:txBody>
                    <a:bodyPr/>
                    <a:lstStyle/>
                    <a:p>
                      <a:r>
                        <a:rPr lang="en-US" dirty="0"/>
                        <a:t>1. March 2019</a:t>
                      </a:r>
                      <a:endParaRPr lang="de-AT" dirty="0"/>
                    </a:p>
                  </a:txBody>
                  <a:tcPr/>
                </a:tc>
                <a:tc>
                  <a:txBody>
                    <a:bodyPr/>
                    <a:lstStyle/>
                    <a:p>
                      <a:r>
                        <a:rPr lang="en-US" dirty="0"/>
                        <a:t>3.3.2.x-RC</a:t>
                      </a:r>
                      <a:endParaRPr lang="de-AT" dirty="0"/>
                    </a:p>
                  </a:txBody>
                  <a:tcPr/>
                </a:tc>
                <a:tc>
                  <a:txBody>
                    <a:bodyPr/>
                    <a:lstStyle/>
                    <a:p>
                      <a:r>
                        <a:rPr lang="en-US" dirty="0"/>
                        <a:t>Release candidate, new input parameters are mandatory (+ further</a:t>
                      </a:r>
                      <a:r>
                        <a:rPr lang="en-US" baseline="0" dirty="0"/>
                        <a:t> </a:t>
                      </a:r>
                      <a:r>
                        <a:rPr lang="en-US" baseline="0" dirty="0" err="1"/>
                        <a:t>bugfixes</a:t>
                      </a:r>
                      <a:r>
                        <a:rPr lang="en-US" baseline="0" dirty="0"/>
                        <a:t>)</a:t>
                      </a:r>
                      <a:endParaRPr lang="de-AT" dirty="0"/>
                    </a:p>
                  </a:txBody>
                  <a:tcPr/>
                </a:tc>
                <a:extLst>
                  <a:ext uri="{0D108BD9-81ED-4DB2-BD59-A6C34878D82A}">
                    <a16:rowId xmlns:a16="http://schemas.microsoft.com/office/drawing/2014/main" val="2057187536"/>
                  </a:ext>
                </a:extLst>
              </a:tr>
              <a:tr h="370840">
                <a:tc>
                  <a:txBody>
                    <a:bodyPr/>
                    <a:lstStyle/>
                    <a:p>
                      <a:r>
                        <a:rPr lang="en-US" dirty="0"/>
                        <a:t>1. April 2019</a:t>
                      </a:r>
                      <a:endParaRPr lang="de-AT" dirty="0"/>
                    </a:p>
                  </a:txBody>
                  <a:tcPr/>
                </a:tc>
                <a:tc>
                  <a:txBody>
                    <a:bodyPr/>
                    <a:lstStyle/>
                    <a:p>
                      <a:r>
                        <a:rPr lang="en-US" dirty="0"/>
                        <a:t>3.3.2.x</a:t>
                      </a:r>
                      <a:endParaRPr lang="de-AT" dirty="0"/>
                    </a:p>
                  </a:txBody>
                  <a:tcPr/>
                </a:tc>
                <a:tc>
                  <a:txBody>
                    <a:bodyPr/>
                    <a:lstStyle/>
                    <a:p>
                      <a:r>
                        <a:rPr lang="en-US" dirty="0"/>
                        <a:t>Official version of VECTO 3.3.2</a:t>
                      </a:r>
                      <a:endParaRPr lang="de-AT" dirty="0"/>
                    </a:p>
                  </a:txBody>
                  <a:tcPr/>
                </a:tc>
                <a:extLst>
                  <a:ext uri="{0D108BD9-81ED-4DB2-BD59-A6C34878D82A}">
                    <a16:rowId xmlns:a16="http://schemas.microsoft.com/office/drawing/2014/main" val="539644511"/>
                  </a:ext>
                </a:extLst>
              </a:tr>
              <a:tr h="370840">
                <a:tc>
                  <a:txBody>
                    <a:bodyPr/>
                    <a:lstStyle/>
                    <a:p>
                      <a:r>
                        <a:rPr lang="en-US" dirty="0"/>
                        <a:t>1. May 2019</a:t>
                      </a:r>
                      <a:endParaRPr lang="de-AT" dirty="0"/>
                    </a:p>
                  </a:txBody>
                  <a:tcPr/>
                </a:tc>
                <a:tc>
                  <a:txBody>
                    <a:bodyPr/>
                    <a:lstStyle/>
                    <a:p>
                      <a:endParaRPr lang="de-AT" dirty="0"/>
                    </a:p>
                  </a:txBody>
                  <a:tcPr/>
                </a:tc>
                <a:tc>
                  <a:txBody>
                    <a:bodyPr/>
                    <a:lstStyle/>
                    <a:p>
                      <a:r>
                        <a:rPr lang="en-US" dirty="0"/>
                        <a:t>Mandatory use of 3.3.1.x for certification</a:t>
                      </a:r>
                      <a:endParaRPr lang="de-AT" dirty="0"/>
                    </a:p>
                  </a:txBody>
                  <a:tcPr/>
                </a:tc>
                <a:extLst>
                  <a:ext uri="{0D108BD9-81ED-4DB2-BD59-A6C34878D82A}">
                    <a16:rowId xmlns:a16="http://schemas.microsoft.com/office/drawing/2014/main" val="436690386"/>
                  </a:ext>
                </a:extLst>
              </a:tr>
              <a:tr h="370840">
                <a:tc>
                  <a:txBody>
                    <a:bodyPr/>
                    <a:lstStyle/>
                    <a:p>
                      <a:r>
                        <a:rPr lang="en-US" dirty="0"/>
                        <a:t>1. July 2019</a:t>
                      </a:r>
                      <a:endParaRPr lang="de-AT" dirty="0"/>
                    </a:p>
                  </a:txBody>
                  <a:tcPr/>
                </a:tc>
                <a:tc>
                  <a:txBody>
                    <a:bodyPr/>
                    <a:lstStyle/>
                    <a:p>
                      <a:endParaRPr lang="de-AT" dirty="0"/>
                    </a:p>
                  </a:txBody>
                  <a:tcPr/>
                </a:tc>
                <a:tc>
                  <a:txBody>
                    <a:bodyPr/>
                    <a:lstStyle/>
                    <a:p>
                      <a:r>
                        <a:rPr lang="en-US" dirty="0"/>
                        <a:t>Mandatory use of 3.3.2.x for certification</a:t>
                      </a:r>
                      <a:endParaRPr lang="de-AT" dirty="0"/>
                    </a:p>
                  </a:txBody>
                  <a:tcPr/>
                </a:tc>
                <a:extLst>
                  <a:ext uri="{0D108BD9-81ED-4DB2-BD59-A6C34878D82A}">
                    <a16:rowId xmlns:a16="http://schemas.microsoft.com/office/drawing/2014/main" val="3874497654"/>
                  </a:ext>
                </a:extLst>
              </a:tr>
            </a:tbl>
          </a:graphicData>
        </a:graphic>
      </p:graphicFrame>
    </p:spTree>
    <p:extLst>
      <p:ext uri="{BB962C8B-B14F-4D97-AF65-F5344CB8AC3E}">
        <p14:creationId xmlns:p14="http://schemas.microsoft.com/office/powerpoint/2010/main" val="20523590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3.3.1.1463 Release Candidate</a:t>
            </a:r>
            <a:br>
              <a:rPr lang="en-US" dirty="0"/>
            </a:br>
            <a:r>
              <a:rPr lang="en-US" sz="1600" dirty="0"/>
              <a:t>2019-01-03</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Changes/Improvements</a:t>
            </a:r>
          </a:p>
          <a:p>
            <a:pPr lvl="1">
              <a:tabLst>
                <a:tab pos="1885950" algn="l"/>
              </a:tabLst>
            </a:pPr>
            <a:r>
              <a:rPr lang="en-US" sz="1400" dirty="0"/>
              <a:t>[VECTO-799] - Remove TUG Logos from Simulation Tool, Hashing Tool</a:t>
            </a:r>
          </a:p>
          <a:p>
            <a:pPr lvl="1">
              <a:tabLst>
                <a:tab pos="1885950" algn="l"/>
              </a:tabLst>
            </a:pPr>
            <a:r>
              <a:rPr lang="en-US" sz="1400" dirty="0"/>
              <a:t>[VECTO-808] - Add Monitoring Report</a:t>
            </a:r>
          </a:p>
          <a:p>
            <a:pPr lvl="1">
              <a:tabLst>
                <a:tab pos="1885950" algn="l"/>
              </a:tabLst>
            </a:pPr>
            <a:r>
              <a:rPr lang="en-US" sz="1400" dirty="0"/>
              <a:t>[VECTO-754] - Extending Loss-Maps in case of AT gearbox for each gear, </a:t>
            </a:r>
            <a:r>
              <a:rPr lang="en-US" sz="1400" dirty="0" err="1"/>
              <a:t>axlegear</a:t>
            </a:r>
            <a:r>
              <a:rPr lang="en-US" sz="1400" dirty="0"/>
              <a:t>, gearbox </a:t>
            </a:r>
          </a:p>
          <a:p>
            <a:pPr lvl="1">
              <a:tabLst>
                <a:tab pos="1885950" algn="l"/>
              </a:tabLst>
            </a:pPr>
            <a:r>
              <a:rPr lang="en-US" sz="1400" dirty="0"/>
              <a:t>[VECTO-757] - Correct contact mail address in Hashing Tool</a:t>
            </a:r>
          </a:p>
          <a:p>
            <a:pPr lvl="1">
              <a:tabLst>
                <a:tab pos="1885950" algn="l"/>
              </a:tabLst>
            </a:pPr>
            <a:r>
              <a:rPr lang="en-US" sz="1400" dirty="0"/>
              <a:t>[VECTO-779] - Update Construction Cycle - shorter stop times</a:t>
            </a:r>
          </a:p>
          <a:p>
            <a:pPr lvl="1">
              <a:tabLst>
                <a:tab pos="1885950" algn="l"/>
              </a:tabLst>
            </a:pPr>
            <a:r>
              <a:rPr lang="en-US" sz="1400" dirty="0"/>
              <a:t>[VECTO-783] - Rename columns in segmentation table and GUI</a:t>
            </a:r>
          </a:p>
          <a:p>
            <a:pPr lvl="1">
              <a:tabLst>
                <a:tab pos="1885950" algn="l"/>
              </a:tabLst>
            </a:pPr>
            <a:r>
              <a:rPr lang="en-US" sz="1400" dirty="0"/>
              <a:t>[VECTO-709] - VTP editor from user manual not matching new VECTO one: updated documentation</a:t>
            </a:r>
          </a:p>
          <a:p>
            <a:pPr lvl="1">
              <a:tabLst>
                <a:tab pos="1885950" algn="l"/>
              </a:tabLst>
            </a:pPr>
            <a:r>
              <a:rPr lang="en-US" sz="1400" dirty="0"/>
              <a:t>[VECTO-785] - Handling of Vehicles that cannot reach the cycle's target speed: Limit max speed in driver model</a:t>
            </a:r>
          </a:p>
          <a:p>
            <a:pPr lvl="1">
              <a:tabLst>
                <a:tab pos="1885950" algn="l"/>
              </a:tabLst>
            </a:pPr>
            <a:r>
              <a:rPr lang="en-US" sz="1400" dirty="0"/>
              <a:t>[VECTO-716] - Validate data in Settings Tab: update documentation</a:t>
            </a:r>
          </a:p>
          <a:p>
            <a:pPr lvl="1">
              <a:tabLst>
                <a:tab pos="1885950" algn="l"/>
              </a:tabLst>
            </a:pPr>
            <a:r>
              <a:rPr lang="en-US" sz="1400" dirty="0"/>
              <a:t>[VECTO-793] - Inconsistency between GUI, Help and Regulation: update wording in GUI and user manual</a:t>
            </a:r>
          </a:p>
          <a:p>
            <a:pPr lvl="1">
              <a:tabLst>
                <a:tab pos="1885950" algn="l"/>
              </a:tabLst>
            </a:pPr>
            <a:r>
              <a:rPr lang="en-US" sz="1400" dirty="0"/>
              <a:t>[VECTO-796] - Adaptation of </a:t>
            </a:r>
            <a:r>
              <a:rPr lang="en-US" sz="1400" dirty="0" err="1"/>
              <a:t>FuelProperties</a:t>
            </a:r>
            <a:endParaRPr lang="en-US" sz="1400" dirty="0"/>
          </a:p>
          <a:p>
            <a:pPr lvl="1">
              <a:tabLst>
                <a:tab pos="1885950" algn="l"/>
              </a:tabLst>
            </a:pPr>
            <a:r>
              <a:rPr lang="en-US" sz="1400" dirty="0"/>
              <a:t>[VECTO-806] - extend loss-maps (</a:t>
            </a:r>
            <a:r>
              <a:rPr lang="en-US" sz="1400" dirty="0" err="1"/>
              <a:t>gbx</a:t>
            </a:r>
            <a:r>
              <a:rPr lang="en-US" sz="1400" dirty="0"/>
              <a:t>, </a:t>
            </a:r>
            <a:r>
              <a:rPr lang="en-US" sz="1400" dirty="0" err="1"/>
              <a:t>axl</a:t>
            </a:r>
            <a:r>
              <a:rPr lang="en-US" sz="1400" dirty="0"/>
              <a:t>, </a:t>
            </a:r>
            <a:r>
              <a:rPr lang="en-US" sz="1400" dirty="0" err="1"/>
              <a:t>angl</a:t>
            </a:r>
            <a:r>
              <a:rPr lang="en-US" sz="1400" dirty="0"/>
              <a:t>) for MT and AMT transmissions</a:t>
            </a:r>
          </a:p>
          <a:p>
            <a:pPr lvl="1">
              <a:tabLst>
                <a:tab pos="1885950" algn="l"/>
              </a:tabLst>
            </a:pPr>
            <a:r>
              <a:rPr lang="en-US" sz="1400" dirty="0"/>
              <a:t>[VECTO-750] - Simulation error </a:t>
            </a:r>
            <a:r>
              <a:rPr lang="en-US" sz="1400" dirty="0" err="1"/>
              <a:t>DrivingAction</a:t>
            </a:r>
            <a:r>
              <a:rPr lang="en-US" sz="1400" dirty="0"/>
              <a:t>: adapt downshift rules for AT to drive over hill with 6% inclination</a:t>
            </a:r>
          </a:p>
          <a:p>
            <a:pPr>
              <a:tabLst>
                <a:tab pos="1885950" algn="l"/>
              </a:tabLst>
            </a:pPr>
            <a:endParaRPr lang="en-US" sz="1600" dirty="0"/>
          </a:p>
        </p:txBody>
      </p:sp>
      <p:sp>
        <p:nvSpPr>
          <p:cNvPr id="4" name="Textfeld 3"/>
          <p:cNvSpPr txBox="1"/>
          <p:nvPr/>
        </p:nvSpPr>
        <p:spPr>
          <a:xfrm>
            <a:off x="8142761" y="6228020"/>
            <a:ext cx="792088" cy="369332"/>
          </a:xfrm>
          <a:prstGeom prst="rect">
            <a:avLst/>
          </a:prstGeom>
          <a:noFill/>
          <a:ln>
            <a:noFill/>
          </a:ln>
        </p:spPr>
        <p:txBody>
          <a:bodyPr wrap="square" rtlCol="0">
            <a:spAutoFit/>
          </a:bodyPr>
          <a:lstStyle/>
          <a:p>
            <a:pPr algn="l">
              <a:spcBef>
                <a:spcPts val="0"/>
              </a:spcBef>
            </a:pPr>
            <a:r>
              <a:rPr lang="en-US" sz="1800" b="0"/>
              <a:t>cont.</a:t>
            </a:r>
            <a:endParaRPr lang="de-AT" sz="1800" b="0" dirty="0" err="1"/>
          </a:p>
        </p:txBody>
      </p:sp>
    </p:spTree>
    <p:extLst>
      <p:ext uri="{BB962C8B-B14F-4D97-AF65-F5344CB8AC3E}">
        <p14:creationId xmlns:p14="http://schemas.microsoft.com/office/powerpoint/2010/main" val="4862308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3.3.1.1463 Release Candidate</a:t>
            </a:r>
            <a:br>
              <a:rPr lang="en-US" dirty="0"/>
            </a:br>
            <a:r>
              <a:rPr lang="en-US" sz="1600" dirty="0"/>
              <a:t>2019-01-03</a:t>
            </a:r>
          </a:p>
        </p:txBody>
      </p:sp>
      <p:sp>
        <p:nvSpPr>
          <p:cNvPr id="3" name="Inhaltsplatzhalter 2"/>
          <p:cNvSpPr>
            <a:spLocks noGrp="1"/>
          </p:cNvSpPr>
          <p:nvPr>
            <p:ph idx="1"/>
          </p:nvPr>
        </p:nvSpPr>
        <p:spPr>
          <a:xfrm>
            <a:off x="323529" y="1628800"/>
            <a:ext cx="8640960" cy="504056"/>
          </a:xfrm>
        </p:spPr>
        <p:txBody>
          <a:bodyPr/>
          <a:lstStyle/>
          <a:p>
            <a:pPr>
              <a:tabLst>
                <a:tab pos="1885950" algn="l"/>
              </a:tabLst>
            </a:pPr>
            <a:r>
              <a:rPr lang="en-US" sz="1800" b="1" dirty="0"/>
              <a:t>Update of Fuel Properties [VECTO-796]</a:t>
            </a:r>
          </a:p>
        </p:txBody>
      </p:sp>
      <p:sp>
        <p:nvSpPr>
          <p:cNvPr id="4" name="Textfeld 3"/>
          <p:cNvSpPr txBox="1"/>
          <p:nvPr/>
        </p:nvSpPr>
        <p:spPr>
          <a:xfrm>
            <a:off x="8142761" y="6228020"/>
            <a:ext cx="792088" cy="369332"/>
          </a:xfrm>
          <a:prstGeom prst="rect">
            <a:avLst/>
          </a:prstGeom>
          <a:noFill/>
          <a:ln>
            <a:noFill/>
          </a:ln>
        </p:spPr>
        <p:txBody>
          <a:bodyPr wrap="square" rtlCol="0">
            <a:spAutoFit/>
          </a:bodyPr>
          <a:lstStyle/>
          <a:p>
            <a:pPr algn="l">
              <a:spcBef>
                <a:spcPts val="0"/>
              </a:spcBef>
            </a:pPr>
            <a:r>
              <a:rPr lang="en-US" sz="1800" b="0"/>
              <a:t>cont.</a:t>
            </a:r>
            <a:endParaRPr lang="de-AT" sz="1800" b="0" dirty="0" err="1"/>
          </a:p>
        </p:txBody>
      </p:sp>
      <p:graphicFrame>
        <p:nvGraphicFramePr>
          <p:cNvPr id="5" name="Tabelle 4"/>
          <p:cNvGraphicFramePr>
            <a:graphicFrameLocks noGrp="1"/>
          </p:cNvGraphicFramePr>
          <p:nvPr>
            <p:extLst>
              <p:ext uri="{D42A27DB-BD31-4B8C-83A1-F6EECF244321}">
                <p14:modId xmlns:p14="http://schemas.microsoft.com/office/powerpoint/2010/main" val="1154977572"/>
              </p:ext>
            </p:extLst>
          </p:nvPr>
        </p:nvGraphicFramePr>
        <p:xfrm>
          <a:off x="468314" y="2606250"/>
          <a:ext cx="8218487" cy="2150563"/>
        </p:xfrm>
        <a:graphic>
          <a:graphicData uri="http://schemas.openxmlformats.org/drawingml/2006/table">
            <a:tbl>
              <a:tblPr>
                <a:tableStyleId>{5C22544A-7EE6-4342-B048-85BDC9FD1C3A}</a:tableStyleId>
              </a:tblPr>
              <a:tblGrid>
                <a:gridCol w="947409">
                  <a:extLst>
                    <a:ext uri="{9D8B030D-6E8A-4147-A177-3AD203B41FA5}">
                      <a16:colId xmlns:a16="http://schemas.microsoft.com/office/drawing/2014/main" val="3700778006"/>
                    </a:ext>
                  </a:extLst>
                </a:gridCol>
                <a:gridCol w="1369748">
                  <a:extLst>
                    <a:ext uri="{9D8B030D-6E8A-4147-A177-3AD203B41FA5}">
                      <a16:colId xmlns:a16="http://schemas.microsoft.com/office/drawing/2014/main" val="1771650291"/>
                    </a:ext>
                  </a:extLst>
                </a:gridCol>
                <a:gridCol w="947409">
                  <a:extLst>
                    <a:ext uri="{9D8B030D-6E8A-4147-A177-3AD203B41FA5}">
                      <a16:colId xmlns:a16="http://schemas.microsoft.com/office/drawing/2014/main" val="268818924"/>
                    </a:ext>
                  </a:extLst>
                </a:gridCol>
                <a:gridCol w="947409">
                  <a:extLst>
                    <a:ext uri="{9D8B030D-6E8A-4147-A177-3AD203B41FA5}">
                      <a16:colId xmlns:a16="http://schemas.microsoft.com/office/drawing/2014/main" val="2526456145"/>
                    </a:ext>
                  </a:extLst>
                </a:gridCol>
                <a:gridCol w="947409">
                  <a:extLst>
                    <a:ext uri="{9D8B030D-6E8A-4147-A177-3AD203B41FA5}">
                      <a16:colId xmlns:a16="http://schemas.microsoft.com/office/drawing/2014/main" val="1228519122"/>
                    </a:ext>
                  </a:extLst>
                </a:gridCol>
                <a:gridCol w="3059103">
                  <a:extLst>
                    <a:ext uri="{9D8B030D-6E8A-4147-A177-3AD203B41FA5}">
                      <a16:colId xmlns:a16="http://schemas.microsoft.com/office/drawing/2014/main" val="141332823"/>
                    </a:ext>
                  </a:extLst>
                </a:gridCol>
              </a:tblGrid>
              <a:tr h="342437">
                <a:tc>
                  <a:txBody>
                    <a:bodyPr/>
                    <a:lstStyle/>
                    <a:p>
                      <a:pPr algn="ctr" fontAlgn="b"/>
                      <a:r>
                        <a:rPr lang="de-AT" sz="1000" u="none" strike="noStrike">
                          <a:effectLst/>
                        </a:rPr>
                        <a:t>Fuel type</a:t>
                      </a:r>
                      <a:endParaRPr lang="de-AT"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Reference for fuel properties</a:t>
                      </a:r>
                      <a:endParaRPr lang="de-AT"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Density</a:t>
                      </a:r>
                      <a:endParaRPr lang="de-AT"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CO2 emission factor</a:t>
                      </a:r>
                      <a:endParaRPr lang="de-AT"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Lower Heating Value</a:t>
                      </a:r>
                      <a:endParaRPr lang="de-AT"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Data Source</a:t>
                      </a:r>
                      <a:endParaRPr lang="de-AT" sz="10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697809286"/>
                  </a:ext>
                </a:extLst>
              </a:tr>
              <a:tr h="171218">
                <a:tc>
                  <a:txBody>
                    <a:bodyPr/>
                    <a:lstStyle/>
                    <a:p>
                      <a:pPr algn="ctr" fontAlgn="b"/>
                      <a:r>
                        <a:rPr lang="de-AT" sz="1000" u="none" strike="noStrike">
                          <a:effectLst/>
                        </a:rPr>
                        <a:t>[-]</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[kg/m³]</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[g_CO2/g_Fuel]</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[MJ/kg]</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a:t>
                      </a:r>
                      <a:endParaRPr lang="de-AT"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704892865"/>
                  </a:ext>
                </a:extLst>
              </a:tr>
              <a:tr h="171218">
                <a:tc>
                  <a:txBody>
                    <a:bodyPr/>
                    <a:lstStyle/>
                    <a:p>
                      <a:pPr algn="l" fontAlgn="b"/>
                      <a:r>
                        <a:rPr lang="de-AT" sz="1000" u="none" strike="noStrike" dirty="0">
                          <a:effectLst/>
                        </a:rPr>
                        <a:t>Diesel</a:t>
                      </a:r>
                      <a:endParaRPr lang="de-AT" sz="1000" b="1"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B7</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836</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3.13</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42.7</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l" fontAlgn="ctr"/>
                      <a:r>
                        <a:rPr lang="de-AT" sz="1000" u="none" strike="noStrike" dirty="0">
                          <a:effectLst/>
                        </a:rPr>
                        <a:t>CONCAWE/JEC (2018) </a:t>
                      </a:r>
                      <a:endParaRPr lang="de-AT" sz="10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657120108"/>
                  </a:ext>
                </a:extLst>
              </a:tr>
              <a:tr h="171218">
                <a:tc>
                  <a:txBody>
                    <a:bodyPr/>
                    <a:lstStyle/>
                    <a:p>
                      <a:pPr algn="l" fontAlgn="b"/>
                      <a:r>
                        <a:rPr lang="de-AT" sz="1000" u="none" strike="noStrike" dirty="0">
                          <a:effectLst/>
                        </a:rPr>
                        <a:t>ED95</a:t>
                      </a:r>
                      <a:endParaRPr lang="de-AT" sz="1000" b="1"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ED95</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820</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1.81</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25.4</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l" fontAlgn="ctr"/>
                      <a:r>
                        <a:rPr lang="de-AT" sz="1000" u="none" strike="noStrike" dirty="0">
                          <a:effectLst/>
                        </a:rPr>
                        <a:t>CONCAWE/JEC (2018)</a:t>
                      </a:r>
                      <a:endParaRPr lang="de-AT" sz="10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729365657"/>
                  </a:ext>
                </a:extLst>
              </a:tr>
              <a:tr h="171218">
                <a:tc>
                  <a:txBody>
                    <a:bodyPr/>
                    <a:lstStyle/>
                    <a:p>
                      <a:pPr algn="l" fontAlgn="b"/>
                      <a:r>
                        <a:rPr lang="de-AT" sz="1000" u="none" strike="noStrike" dirty="0">
                          <a:effectLst/>
                        </a:rPr>
                        <a:t>Petrol</a:t>
                      </a:r>
                      <a:endParaRPr lang="de-AT" sz="1000" b="1"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E10</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748</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3.04</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41.5</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l" fontAlgn="ctr"/>
                      <a:r>
                        <a:rPr lang="de-AT" sz="1000" u="none" strike="noStrike">
                          <a:effectLst/>
                        </a:rPr>
                        <a:t>CONCAWE/JEC (2018)</a:t>
                      </a:r>
                      <a:endParaRPr lang="de-AT" sz="10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91817707"/>
                  </a:ext>
                </a:extLst>
              </a:tr>
              <a:tr h="171218">
                <a:tc>
                  <a:txBody>
                    <a:bodyPr/>
                    <a:lstStyle/>
                    <a:p>
                      <a:pPr algn="l" fontAlgn="b"/>
                      <a:r>
                        <a:rPr lang="de-AT" sz="1000" u="none" strike="noStrike" dirty="0">
                          <a:effectLst/>
                        </a:rPr>
                        <a:t>E85</a:t>
                      </a:r>
                      <a:endParaRPr lang="de-AT" sz="1000" b="1"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E85</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786</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2.10</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29.3</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l" fontAlgn="ctr"/>
                      <a:r>
                        <a:rPr lang="en-US" sz="1000" u="none" strike="noStrike">
                          <a:effectLst/>
                        </a:rPr>
                        <a:t>Calculated from E0 and E100  from CONCAWE/JEC (2018)</a:t>
                      </a:r>
                      <a:endParaRPr lang="en-US" sz="10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127333600"/>
                  </a:ext>
                </a:extLst>
              </a:tr>
              <a:tr h="171218">
                <a:tc>
                  <a:txBody>
                    <a:bodyPr/>
                    <a:lstStyle/>
                    <a:p>
                      <a:pPr algn="l" fontAlgn="b"/>
                      <a:r>
                        <a:rPr lang="de-AT" sz="1000" u="none" strike="noStrike" dirty="0">
                          <a:effectLst/>
                        </a:rPr>
                        <a:t>LPG</a:t>
                      </a:r>
                      <a:endParaRPr lang="de-AT" sz="1000" b="1"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LPG</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not required*</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3.02</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46.0</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l" fontAlgn="ctr"/>
                      <a:r>
                        <a:rPr lang="de-AT" sz="1000" u="none" strike="noStrike">
                          <a:effectLst/>
                        </a:rPr>
                        <a:t>CONCAWE/JEC (2018)</a:t>
                      </a:r>
                      <a:endParaRPr lang="de-AT" sz="10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397813831"/>
                  </a:ext>
                </a:extLst>
              </a:tr>
              <a:tr h="171218">
                <a:tc>
                  <a:txBody>
                    <a:bodyPr/>
                    <a:lstStyle/>
                    <a:p>
                      <a:pPr algn="l" fontAlgn="ctr"/>
                      <a:r>
                        <a:rPr lang="de-AT" sz="1000" u="none" strike="noStrike" dirty="0">
                          <a:effectLst/>
                        </a:rPr>
                        <a:t>CNG</a:t>
                      </a:r>
                      <a:endParaRPr lang="de-AT" sz="10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r>
                        <a:rPr lang="de-AT" sz="1000" u="none" strike="noStrike" dirty="0">
                          <a:effectLst/>
                        </a:rPr>
                        <a:t>CNG (H-Gas)</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not required*</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2.69</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48.0</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l" fontAlgn="ctr"/>
                      <a:r>
                        <a:rPr lang="de-AT" sz="1000" u="none" strike="noStrike">
                          <a:effectLst/>
                        </a:rPr>
                        <a:t>CONCAWE/JEC (2018)</a:t>
                      </a:r>
                      <a:endParaRPr lang="de-AT" sz="10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856461540"/>
                  </a:ext>
                </a:extLst>
              </a:tr>
              <a:tr h="171218">
                <a:tc>
                  <a:txBody>
                    <a:bodyPr/>
                    <a:lstStyle/>
                    <a:p>
                      <a:pPr algn="l" fontAlgn="b"/>
                      <a:r>
                        <a:rPr lang="de-AT" sz="1000" u="none" strike="noStrike" dirty="0">
                          <a:effectLst/>
                        </a:rPr>
                        <a:t>LNG</a:t>
                      </a:r>
                      <a:endParaRPr lang="de-AT" sz="1000" b="1"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LNG (EU mix. 2016/2030)</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not required*</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2.77</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49.1</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l" fontAlgn="ctr"/>
                      <a:r>
                        <a:rPr lang="de-AT" sz="1000" u="none" strike="noStrike" dirty="0">
                          <a:effectLst/>
                        </a:rPr>
                        <a:t>CONCAWE/JEC (2018)</a:t>
                      </a:r>
                      <a:endParaRPr lang="de-AT" sz="10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91430651"/>
                  </a:ext>
                </a:extLst>
              </a:tr>
              <a:tr h="171218">
                <a:tc gridSpan="4">
                  <a:txBody>
                    <a:bodyPr/>
                    <a:lstStyle/>
                    <a:p>
                      <a:pPr algn="l" fontAlgn="b"/>
                      <a:r>
                        <a:rPr lang="en-US" sz="1000" u="none" strike="noStrike">
                          <a:effectLst/>
                        </a:rPr>
                        <a:t>* VECTO does not provide volume based figures for gaseous fuels</a:t>
                      </a:r>
                      <a:endParaRPr lang="en-US" sz="1000" b="0" i="0" u="none" strike="noStrike">
                        <a:solidFill>
                          <a:srgbClr val="000000"/>
                        </a:solidFill>
                        <a:effectLst/>
                        <a:latin typeface="Calibri" panose="020F0502020204030204" pitchFamily="34" charset="0"/>
                      </a:endParaRPr>
                    </a:p>
                  </a:txBody>
                  <a:tcPr marL="0" marR="0" marT="0" marB="0" anchor="b"/>
                </a:tc>
                <a:tc hMerge="1">
                  <a:txBody>
                    <a:bodyPr/>
                    <a:lstStyle/>
                    <a:p>
                      <a:endParaRPr lang="de-AT"/>
                    </a:p>
                  </a:txBody>
                  <a:tcPr/>
                </a:tc>
                <a:tc hMerge="1">
                  <a:txBody>
                    <a:bodyPr/>
                    <a:lstStyle/>
                    <a:p>
                      <a:endParaRPr lang="de-AT"/>
                    </a:p>
                  </a:txBody>
                  <a:tcPr/>
                </a:tc>
                <a:tc hMerge="1">
                  <a:txBody>
                    <a:bodyPr/>
                    <a:lstStyle/>
                    <a:p>
                      <a:endParaRPr lang="de-AT"/>
                    </a:p>
                  </a:txBody>
                  <a:tcPr/>
                </a:tc>
                <a:tc>
                  <a:txBody>
                    <a:bodyPr/>
                    <a:lstStyle/>
                    <a:p>
                      <a:pPr algn="l" fontAlgn="b"/>
                      <a:r>
                        <a:rPr lang="de-AT" sz="1000" u="none" strike="noStrike">
                          <a:effectLst/>
                        </a:rPr>
                        <a:t> </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de-AT" sz="1000" u="none" strike="noStrike" dirty="0">
                          <a:effectLst/>
                        </a:rPr>
                        <a:t> </a:t>
                      </a:r>
                      <a:endParaRPr lang="de-AT" sz="10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947650625"/>
                  </a:ext>
                </a:extLst>
              </a:tr>
            </a:tbl>
          </a:graphicData>
        </a:graphic>
      </p:graphicFrame>
      <p:sp>
        <p:nvSpPr>
          <p:cNvPr id="10" name="Rectangle 3"/>
          <p:cNvSpPr>
            <a:spLocks noChangeArrowheads="1"/>
          </p:cNvSpPr>
          <p:nvPr/>
        </p:nvSpPr>
        <p:spPr bwMode="auto">
          <a:xfrm>
            <a:off x="396044" y="5150196"/>
            <a:ext cx="8142761"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57188" lvl="0" indent="-357188" algn="l" eaLnBrk="0" hangingPunct="0">
              <a:spcBef>
                <a:spcPct val="0"/>
              </a:spcBef>
            </a:pPr>
            <a:r>
              <a:rPr lang="de-AT" sz="1050" b="0" dirty="0"/>
              <a:t>CONCAWE/JEC (2018): </a:t>
            </a:r>
            <a:r>
              <a:rPr kumimoji="0" lang="en-GB" altLang="de-DE" sz="1050" b="0" i="0" u="none" strike="noStrike" cap="none" normalizeH="0" baseline="0" dirty="0">
                <a:ln>
                  <a:noFill/>
                </a:ln>
                <a:solidFill>
                  <a:schemeClr val="tx1"/>
                </a:solidFill>
                <a:effectLst/>
                <a:latin typeface="Arial" panose="020B0604020202020204" pitchFamily="34" charset="0"/>
              </a:rPr>
              <a:t>Specifications are based on a recent analysis (2018) performed by CONCAWE/EUCAR and shall reflect typical fuel on the European market. The data is scheduled to be published in March 2019 in the context of the study: </a:t>
            </a:r>
            <a:br>
              <a:rPr kumimoji="0" lang="en-GB" altLang="de-DE" sz="1050" b="0" i="0" u="none" strike="noStrike" cap="none" normalizeH="0" baseline="0" dirty="0">
                <a:ln>
                  <a:noFill/>
                </a:ln>
                <a:solidFill>
                  <a:schemeClr val="tx1"/>
                </a:solidFill>
                <a:effectLst/>
                <a:latin typeface="Arial" panose="020B0604020202020204" pitchFamily="34" charset="0"/>
              </a:rPr>
            </a:br>
            <a:r>
              <a:rPr kumimoji="0" lang="en-GB" altLang="de-DE" sz="1050" b="0" i="0" u="none" strike="noStrike" cap="none" normalizeH="0" baseline="0" dirty="0">
                <a:ln>
                  <a:noFill/>
                </a:ln>
                <a:solidFill>
                  <a:schemeClr val="tx1"/>
                </a:solidFill>
                <a:effectLst/>
                <a:latin typeface="Arial" panose="020B0604020202020204" pitchFamily="34" charset="0"/>
              </a:rPr>
              <a:t>Well-To-Wheels Analysis Of Future Automotive Fuels And Powertrains in the European Context – Heavy Duty vehicles</a:t>
            </a:r>
          </a:p>
        </p:txBody>
      </p:sp>
    </p:spTree>
    <p:extLst>
      <p:ext uri="{BB962C8B-B14F-4D97-AF65-F5344CB8AC3E}">
        <p14:creationId xmlns:p14="http://schemas.microsoft.com/office/powerpoint/2010/main" val="41319657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3.3.1.1463 Release Candidate</a:t>
            </a:r>
            <a:br>
              <a:rPr lang="en-US" dirty="0"/>
            </a:br>
            <a:r>
              <a:rPr lang="en-US" sz="1600" dirty="0"/>
              <a:t>2019-01-03</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endParaRPr lang="en-US" sz="1800" b="1" dirty="0"/>
          </a:p>
          <a:p>
            <a:pPr lvl="1">
              <a:tabLst>
                <a:tab pos="1885950" algn="l"/>
              </a:tabLst>
            </a:pPr>
            <a:r>
              <a:rPr lang="en-US" sz="1400" dirty="0"/>
              <a:t>[VECTO-819] - object reference not set to an instance of an object</a:t>
            </a:r>
          </a:p>
          <a:p>
            <a:pPr lvl="1">
              <a:tabLst>
                <a:tab pos="1885950" algn="l"/>
              </a:tabLst>
            </a:pPr>
            <a:r>
              <a:rPr lang="en-US" sz="1400" dirty="0"/>
              <a:t>[VECTO-818] - </a:t>
            </a:r>
            <a:r>
              <a:rPr lang="en-US" sz="1400" dirty="0" err="1"/>
              <a:t>SearchOperatingPoint</a:t>
            </a:r>
            <a:r>
              <a:rPr lang="en-US" sz="1400" dirty="0"/>
              <a:t>: Unknown response type. </a:t>
            </a:r>
            <a:r>
              <a:rPr lang="en-US" sz="1400" dirty="0" err="1"/>
              <a:t>ResponseOverload</a:t>
            </a:r>
            <a:endParaRPr lang="en-US" sz="1400" dirty="0"/>
          </a:p>
          <a:p>
            <a:pPr lvl="1">
              <a:tabLst>
                <a:tab pos="1885950" algn="l"/>
              </a:tabLst>
            </a:pPr>
            <a:r>
              <a:rPr lang="en-US" sz="1400" dirty="0"/>
              <a:t>[VECTO-813] - Error "Infinity [] is not allowed for SI-Value"</a:t>
            </a:r>
          </a:p>
          <a:p>
            <a:pPr lvl="1">
              <a:tabLst>
                <a:tab pos="1885950" algn="l"/>
              </a:tabLst>
            </a:pPr>
            <a:r>
              <a:rPr lang="en-US" sz="1400" dirty="0"/>
              <a:t>[VECTO-769] - </a:t>
            </a:r>
            <a:r>
              <a:rPr lang="en-US" sz="1400" dirty="0" err="1"/>
              <a:t>DrivingAction</a:t>
            </a:r>
            <a:r>
              <a:rPr lang="en-US" sz="1400" dirty="0"/>
              <a:t> Brake: request failed after braking power was </a:t>
            </a:r>
            <a:r>
              <a:rPr lang="en-US" sz="1400" dirty="0" err="1"/>
              <a:t>found.ResponseEngineSpeedTooHigh</a:t>
            </a:r>
            <a:endParaRPr lang="en-US" sz="1400" dirty="0"/>
          </a:p>
          <a:p>
            <a:pPr lvl="1">
              <a:tabLst>
                <a:tab pos="1885950" algn="l"/>
              </a:tabLst>
            </a:pPr>
            <a:r>
              <a:rPr lang="en-US" sz="1400" dirty="0"/>
              <a:t>[VECTO-804] - Error on simulation with VECTO 3.3.0.1433</a:t>
            </a:r>
          </a:p>
          <a:p>
            <a:pPr lvl="1">
              <a:tabLst>
                <a:tab pos="1885950" algn="l"/>
              </a:tabLst>
            </a:pPr>
            <a:r>
              <a:rPr lang="en-US" sz="1400" dirty="0"/>
              <a:t>[VECTO-805] - Total vehicle mass exceeds TPMLM</a:t>
            </a:r>
          </a:p>
          <a:p>
            <a:pPr lvl="1">
              <a:tabLst>
                <a:tab pos="1885950" algn="l"/>
              </a:tabLst>
            </a:pPr>
            <a:r>
              <a:rPr lang="en-US" sz="1400" dirty="0"/>
              <a:t>[VECTO-811] - AMT: </a:t>
            </a:r>
            <a:r>
              <a:rPr lang="en-US" sz="1400" dirty="0" err="1"/>
              <a:t>ResponseGearShift</a:t>
            </a:r>
            <a:endParaRPr lang="en-US" sz="1400" dirty="0"/>
          </a:p>
          <a:p>
            <a:pPr lvl="1">
              <a:tabLst>
                <a:tab pos="1885950" algn="l"/>
              </a:tabLst>
            </a:pPr>
            <a:r>
              <a:rPr lang="en-US" sz="1400" dirty="0"/>
              <a:t>[VECTO-812] - AMT: </a:t>
            </a:r>
            <a:r>
              <a:rPr lang="en-US" sz="1400" dirty="0" err="1"/>
              <a:t>ResponseOverload</a:t>
            </a:r>
            <a:endParaRPr lang="en-US" sz="1400" dirty="0"/>
          </a:p>
          <a:p>
            <a:pPr lvl="1">
              <a:tabLst>
                <a:tab pos="1885950" algn="l"/>
              </a:tabLst>
            </a:pPr>
            <a:r>
              <a:rPr lang="en-US" sz="1400" dirty="0"/>
              <a:t>[VECTO-822] - SIMULATION RUN ABORTED by Infinity</a:t>
            </a:r>
          </a:p>
          <a:p>
            <a:pPr lvl="1">
              <a:tabLst>
                <a:tab pos="1885950" algn="l"/>
              </a:tabLst>
            </a:pPr>
            <a:r>
              <a:rPr lang="en-US" sz="1400" dirty="0"/>
              <a:t>[VECTO-792] - </a:t>
            </a:r>
            <a:r>
              <a:rPr lang="en-US" sz="1400" dirty="0" err="1"/>
              <a:t>Vecto</a:t>
            </a:r>
            <a:r>
              <a:rPr lang="en-US" sz="1400" dirty="0"/>
              <a:t> Hashing Tool - error object reference not set to an instance of an object (overwriting Date element)</a:t>
            </a:r>
          </a:p>
          <a:p>
            <a:pPr lvl="1">
              <a:tabLst>
                <a:tab pos="1885950" algn="l"/>
              </a:tabLst>
            </a:pPr>
            <a:r>
              <a:rPr lang="en-US" sz="1400" dirty="0"/>
              <a:t>[VECTO-696] - Problem with Primary Retarder: regression update, set torque loss to 0 for 0 speed and engaged gear</a:t>
            </a:r>
          </a:p>
          <a:p>
            <a:pPr lvl="1">
              <a:tabLst>
                <a:tab pos="1885950" algn="l"/>
              </a:tabLst>
            </a:pPr>
            <a:r>
              <a:rPr lang="en-US" sz="1400" dirty="0"/>
              <a:t>[VECTO-776] - Decision Factor (DF)  field is emptied after each simulation</a:t>
            </a:r>
          </a:p>
          <a:p>
            <a:pPr lvl="1">
              <a:tabLst>
                <a:tab pos="1885950" algn="l"/>
              </a:tabLst>
            </a:pPr>
            <a:r>
              <a:rPr lang="en-US" sz="1400" dirty="0"/>
              <a:t>[VECTO-814] - Error: </a:t>
            </a:r>
            <a:r>
              <a:rPr lang="en-US" sz="1400" dirty="0" err="1"/>
              <a:t>DistanceRun</a:t>
            </a:r>
            <a:r>
              <a:rPr lang="en-US" sz="1400" dirty="0"/>
              <a:t> got an unexpected response: </a:t>
            </a:r>
            <a:r>
              <a:rPr lang="en-US" sz="1400" dirty="0" err="1"/>
              <a:t>ResponseGearshift</a:t>
            </a:r>
            <a:endParaRPr lang="en-US" sz="1400" dirty="0"/>
          </a:p>
          <a:p>
            <a:pPr lvl="1">
              <a:tabLst>
                <a:tab pos="1885950" algn="l"/>
              </a:tabLst>
            </a:pPr>
            <a:endParaRPr lang="en-US" sz="1400" dirty="0"/>
          </a:p>
        </p:txBody>
      </p:sp>
    </p:spTree>
    <p:extLst>
      <p:ext uri="{BB962C8B-B14F-4D97-AF65-F5344CB8AC3E}">
        <p14:creationId xmlns:p14="http://schemas.microsoft.com/office/powerpoint/2010/main" val="17279962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3.3.0.1433 Official Release</a:t>
            </a:r>
            <a:br>
              <a:rPr lang="en-US" dirty="0"/>
            </a:br>
            <a:r>
              <a:rPr lang="en-US" sz="1600" dirty="0"/>
              <a:t>2018-12-04</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r>
              <a:rPr lang="en-US" sz="1800" b="1" dirty="0"/>
              <a:t> (compared to 3.3.0.1398)</a:t>
            </a:r>
          </a:p>
          <a:p>
            <a:pPr lvl="1">
              <a:tabLst>
                <a:tab pos="1885950" algn="l"/>
              </a:tabLst>
            </a:pPr>
            <a:r>
              <a:rPr lang="en-US" sz="1600" dirty="0"/>
              <a:t>[VECTO-795] – VECTO Hashing Tool crashes</a:t>
            </a:r>
          </a:p>
          <a:p>
            <a:pPr lvl="1">
              <a:tabLst>
                <a:tab pos="1885950" algn="l"/>
              </a:tabLst>
            </a:pPr>
            <a:r>
              <a:rPr lang="en-US" sz="1600" dirty="0"/>
              <a:t>[VECTO-802] – Error in XML schema for manufacturer's record file</a:t>
            </a:r>
          </a:p>
          <a:p>
            <a:pPr>
              <a:tabLst>
                <a:tab pos="1885950" algn="l"/>
              </a:tabLst>
            </a:pPr>
            <a:r>
              <a:rPr lang="en-US" sz="1800" b="1" dirty="0" err="1"/>
              <a:t>Bugfixes</a:t>
            </a:r>
            <a:r>
              <a:rPr lang="en-US" sz="1800" b="1" dirty="0"/>
              <a:t> (compared to 3.3.0.1250)</a:t>
            </a:r>
          </a:p>
          <a:p>
            <a:pPr lvl="1">
              <a:tabLst>
                <a:tab pos="1885950" algn="l"/>
              </a:tabLst>
            </a:pPr>
            <a:r>
              <a:rPr lang="en-US" sz="1400" dirty="0"/>
              <a:t>[VECTO-723] - Simulation aborts with engine speed too high in RD cycle</a:t>
            </a:r>
          </a:p>
          <a:p>
            <a:pPr lvl="1">
              <a:tabLst>
                <a:tab pos="1885950" algn="l"/>
              </a:tabLst>
            </a:pPr>
            <a:r>
              <a:rPr lang="en-US" sz="1400" dirty="0"/>
              <a:t>[VECTO-724] - Simulation aborts with error '</a:t>
            </a:r>
            <a:r>
              <a:rPr lang="en-US" sz="1400" dirty="0" err="1"/>
              <a:t>EngineSpeedTooHigh</a:t>
            </a:r>
            <a:r>
              <a:rPr lang="en-US" sz="1400" dirty="0"/>
              <a:t>' - duplicate of VECTO-744</a:t>
            </a:r>
          </a:p>
          <a:p>
            <a:pPr lvl="1">
              <a:tabLst>
                <a:tab pos="1885950" algn="l"/>
              </a:tabLst>
            </a:pPr>
            <a:r>
              <a:rPr lang="en-US" sz="1400" dirty="0"/>
              <a:t>[VECTO-728] - Simulation aborts when vehicle's max speed (n95h) is below the target speed</a:t>
            </a:r>
          </a:p>
          <a:p>
            <a:pPr lvl="1">
              <a:tabLst>
                <a:tab pos="1885950" algn="l"/>
              </a:tabLst>
            </a:pPr>
            <a:r>
              <a:rPr lang="en-US" sz="1400" dirty="0"/>
              <a:t>[VECTO-730] - Simulation Aborts with </a:t>
            </a:r>
            <a:r>
              <a:rPr lang="en-US" sz="1400" dirty="0" err="1"/>
              <a:t>ResponseOverload</a:t>
            </a:r>
            <a:endParaRPr lang="en-US" sz="1400" dirty="0"/>
          </a:p>
          <a:p>
            <a:pPr lvl="1">
              <a:tabLst>
                <a:tab pos="1885950" algn="l"/>
              </a:tabLst>
            </a:pPr>
            <a:r>
              <a:rPr lang="en-US" sz="1400" dirty="0"/>
              <a:t>[VECTO-744] - </a:t>
            </a:r>
            <a:r>
              <a:rPr lang="en-US" sz="1400" dirty="0" err="1"/>
              <a:t>ResponseEngineSpeedTooHigh</a:t>
            </a:r>
            <a:r>
              <a:rPr lang="en-US" sz="1400" dirty="0"/>
              <a:t> (due to torque limits in gearbox)</a:t>
            </a:r>
          </a:p>
          <a:p>
            <a:pPr lvl="1">
              <a:tabLst>
                <a:tab pos="1885950" algn="l"/>
              </a:tabLst>
            </a:pPr>
            <a:r>
              <a:rPr lang="en-US" sz="1400" dirty="0"/>
              <a:t>[VECTO-731] - Case Mismatch - Torque Converter</a:t>
            </a:r>
          </a:p>
          <a:p>
            <a:pPr lvl="1">
              <a:tabLst>
                <a:tab pos="1885950" algn="l"/>
              </a:tabLst>
            </a:pPr>
            <a:r>
              <a:rPr lang="en-US" sz="1400" dirty="0"/>
              <a:t>[VECTO-711] - Elements without types in CIF and MRF</a:t>
            </a:r>
          </a:p>
          <a:p>
            <a:pPr lvl="1">
              <a:tabLst>
                <a:tab pos="1885950" algn="l"/>
              </a:tabLst>
            </a:pPr>
            <a:r>
              <a:rPr lang="en-US" sz="1400" dirty="0"/>
              <a:t>[VECTO-757] - Correct contact mail address in Hashing Tool</a:t>
            </a:r>
          </a:p>
          <a:p>
            <a:pPr lvl="1">
              <a:tabLst>
                <a:tab pos="1885950" algn="l"/>
              </a:tabLst>
            </a:pPr>
            <a:r>
              <a:rPr lang="en-US" sz="1400" dirty="0"/>
              <a:t>[VECTO-703] - PTO output in MRF file</a:t>
            </a:r>
          </a:p>
          <a:p>
            <a:pPr lvl="1">
              <a:tabLst>
                <a:tab pos="1885950" algn="l"/>
              </a:tabLst>
            </a:pPr>
            <a:r>
              <a:rPr lang="en-US" sz="1400" dirty="0"/>
              <a:t>[VECTO-713] - Manufacturer Information File in the legislation is not compatible with the Simulation results</a:t>
            </a:r>
          </a:p>
          <a:p>
            <a:pPr>
              <a:tabLst>
                <a:tab pos="1885950" algn="l"/>
              </a:tabLst>
            </a:pPr>
            <a:r>
              <a:rPr lang="en-US" sz="1800" b="1" dirty="0"/>
              <a:t>Improvement (compared to 3.3.0.1250)</a:t>
            </a:r>
            <a:endParaRPr lang="en-US" sz="1600" b="1" dirty="0"/>
          </a:p>
          <a:p>
            <a:pPr lvl="1">
              <a:tabLst>
                <a:tab pos="1885950" algn="l"/>
              </a:tabLst>
            </a:pPr>
            <a:r>
              <a:rPr lang="en-US" sz="1400" dirty="0"/>
              <a:t>[VECTO-704] - Allow VTP-simulations for AT gearboxes</a:t>
            </a:r>
            <a:endParaRPr lang="en-US" sz="1800" b="1" dirty="0"/>
          </a:p>
        </p:txBody>
      </p:sp>
    </p:spTree>
    <p:extLst>
      <p:ext uri="{BB962C8B-B14F-4D97-AF65-F5344CB8AC3E}">
        <p14:creationId xmlns:p14="http://schemas.microsoft.com/office/powerpoint/2010/main" val="36663193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3.3.0.1398 Release </a:t>
            </a:r>
            <a:r>
              <a:rPr lang="en-US" dirty="0" err="1"/>
              <a:t>Candiate</a:t>
            </a:r>
            <a:br>
              <a:rPr lang="en-US" dirty="0"/>
            </a:br>
            <a:r>
              <a:rPr lang="en-US" sz="1600" dirty="0"/>
              <a:t>2018-10-30</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endParaRPr lang="en-US" sz="1800" b="1" dirty="0"/>
          </a:p>
          <a:p>
            <a:pPr lvl="1">
              <a:tabLst>
                <a:tab pos="1885950" algn="l"/>
              </a:tabLst>
            </a:pPr>
            <a:r>
              <a:rPr lang="en-US" sz="1400" dirty="0"/>
              <a:t>[VECTO-723] - Simulation aborts with engine speed too high in RD cycle</a:t>
            </a:r>
          </a:p>
          <a:p>
            <a:pPr lvl="1">
              <a:tabLst>
                <a:tab pos="1885950" algn="l"/>
              </a:tabLst>
            </a:pPr>
            <a:r>
              <a:rPr lang="en-US" sz="1400" dirty="0"/>
              <a:t>[VECTO-724] - Simulation aborts with error '</a:t>
            </a:r>
            <a:r>
              <a:rPr lang="en-US" sz="1400" dirty="0" err="1"/>
              <a:t>EngineSpeedTooHigh</a:t>
            </a:r>
            <a:r>
              <a:rPr lang="en-US" sz="1400" dirty="0"/>
              <a:t>' - duplicate of VECTO-744</a:t>
            </a:r>
          </a:p>
          <a:p>
            <a:pPr lvl="1">
              <a:tabLst>
                <a:tab pos="1885950" algn="l"/>
              </a:tabLst>
            </a:pPr>
            <a:r>
              <a:rPr lang="en-US" sz="1400" dirty="0"/>
              <a:t>[VECTO-728] - Simulation aborts when vehicle's max speed (n95h) is below the target speed</a:t>
            </a:r>
          </a:p>
          <a:p>
            <a:pPr lvl="1">
              <a:tabLst>
                <a:tab pos="1885950" algn="l"/>
              </a:tabLst>
            </a:pPr>
            <a:r>
              <a:rPr lang="en-US" sz="1400" dirty="0"/>
              <a:t>[VECTO-730] - Simulation Aborts with </a:t>
            </a:r>
            <a:r>
              <a:rPr lang="en-US" sz="1400" dirty="0" err="1"/>
              <a:t>ResponseOverload</a:t>
            </a:r>
            <a:endParaRPr lang="en-US" sz="1400" dirty="0"/>
          </a:p>
          <a:p>
            <a:pPr lvl="1">
              <a:tabLst>
                <a:tab pos="1885950" algn="l"/>
              </a:tabLst>
            </a:pPr>
            <a:r>
              <a:rPr lang="en-US" sz="1400" dirty="0"/>
              <a:t>[VECTO-744] - </a:t>
            </a:r>
            <a:r>
              <a:rPr lang="en-US" sz="1400" dirty="0" err="1"/>
              <a:t>ResponseEngineSpeedTooHigh</a:t>
            </a:r>
            <a:r>
              <a:rPr lang="en-US" sz="1400" dirty="0"/>
              <a:t> (due to torque limits in gearbox)</a:t>
            </a:r>
          </a:p>
          <a:p>
            <a:pPr lvl="1">
              <a:tabLst>
                <a:tab pos="1885950" algn="l"/>
              </a:tabLst>
            </a:pPr>
            <a:r>
              <a:rPr lang="en-US" sz="1400" dirty="0"/>
              <a:t>[VECTO-731] - Case Mismatch - Torque Converter</a:t>
            </a:r>
          </a:p>
          <a:p>
            <a:pPr lvl="1">
              <a:tabLst>
                <a:tab pos="1885950" algn="l"/>
              </a:tabLst>
            </a:pPr>
            <a:r>
              <a:rPr lang="en-US" sz="1400" dirty="0"/>
              <a:t>[VECTO-711] - Elements without types in CIF and MRF</a:t>
            </a:r>
          </a:p>
          <a:p>
            <a:pPr lvl="1">
              <a:tabLst>
                <a:tab pos="1885950" algn="l"/>
              </a:tabLst>
            </a:pPr>
            <a:r>
              <a:rPr lang="en-US" sz="1400" dirty="0"/>
              <a:t>[VECTO-757] - Correct contact mail address in Hashing Tool</a:t>
            </a:r>
          </a:p>
          <a:p>
            <a:pPr lvl="1">
              <a:tabLst>
                <a:tab pos="1885950" algn="l"/>
              </a:tabLst>
            </a:pPr>
            <a:r>
              <a:rPr lang="en-US" sz="1400" dirty="0"/>
              <a:t>[VECTO-703] - PTO output in MRF file</a:t>
            </a:r>
          </a:p>
          <a:p>
            <a:pPr lvl="1">
              <a:tabLst>
                <a:tab pos="1885950" algn="l"/>
              </a:tabLst>
            </a:pPr>
            <a:r>
              <a:rPr lang="en-US" sz="1400" dirty="0"/>
              <a:t>[VECTO-713] - Manufacturer Information File in the legislation is not compatible with the Simulation results</a:t>
            </a:r>
          </a:p>
          <a:p>
            <a:pPr>
              <a:tabLst>
                <a:tab pos="1885950" algn="l"/>
              </a:tabLst>
            </a:pPr>
            <a:r>
              <a:rPr lang="en-US" sz="1800" b="1" dirty="0"/>
              <a:t>Improvement</a:t>
            </a:r>
            <a:endParaRPr lang="en-US" sz="1600" b="1" dirty="0"/>
          </a:p>
          <a:p>
            <a:pPr lvl="1">
              <a:tabLst>
                <a:tab pos="1885950" algn="l"/>
              </a:tabLst>
            </a:pPr>
            <a:r>
              <a:rPr lang="en-US" sz="1400" dirty="0"/>
              <a:t>[VECTO-704] - Allow VTP-simulations for AT gearboxes</a:t>
            </a:r>
            <a:endParaRPr lang="en-US" sz="1800" b="1" dirty="0"/>
          </a:p>
        </p:txBody>
      </p:sp>
    </p:spTree>
    <p:extLst>
      <p:ext uri="{BB962C8B-B14F-4D97-AF65-F5344CB8AC3E}">
        <p14:creationId xmlns:p14="http://schemas.microsoft.com/office/powerpoint/2010/main" val="35414466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3.3.0.1250</a:t>
            </a:r>
            <a:br>
              <a:rPr lang="en-US" dirty="0"/>
            </a:br>
            <a:r>
              <a:rPr lang="en-US" sz="1600" dirty="0"/>
              <a:t>2018-06-04</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Improvement</a:t>
            </a:r>
          </a:p>
          <a:p>
            <a:pPr lvl="1">
              <a:tabLst>
                <a:tab pos="1885950" algn="l"/>
              </a:tabLst>
            </a:pPr>
            <a:r>
              <a:rPr lang="en-US" sz="1400" dirty="0"/>
              <a:t>[VECTO-665] - Adding style information to XML Reports</a:t>
            </a:r>
          </a:p>
          <a:p>
            <a:pPr lvl="1">
              <a:tabLst>
                <a:tab pos="1885950" algn="l"/>
              </a:tabLst>
            </a:pPr>
            <a:r>
              <a:rPr lang="en-US" sz="1400" dirty="0"/>
              <a:t>[VECTO-669] - Group 1 vehicle comprises vehicles with gross vehicle weight &gt; 7.5t</a:t>
            </a:r>
          </a:p>
          <a:p>
            <a:pPr lvl="1">
              <a:tabLst>
                <a:tab pos="1885950" algn="l"/>
              </a:tabLst>
            </a:pPr>
            <a:r>
              <a:rPr lang="en-US" sz="1400" dirty="0"/>
              <a:t>[VECTO-672] - Keep manual choice for "Validate data"</a:t>
            </a:r>
          </a:p>
          <a:p>
            <a:pPr lvl="1">
              <a:tabLst>
                <a:tab pos="1885950" algn="l"/>
              </a:tabLst>
            </a:pPr>
            <a:r>
              <a:rPr lang="en-US" sz="1400" dirty="0"/>
              <a:t>[VECTO-682] - VTP Simulation in declaration mode</a:t>
            </a:r>
          </a:p>
          <a:p>
            <a:pPr lvl="1">
              <a:tabLst>
                <a:tab pos="1885950" algn="l"/>
              </a:tabLst>
            </a:pPr>
            <a:r>
              <a:rPr lang="en-US" sz="1400" dirty="0"/>
              <a:t>[VECTO-652] - VTP: Check Cycle matches simulation mode</a:t>
            </a:r>
          </a:p>
          <a:p>
            <a:pPr lvl="1">
              <a:tabLst>
                <a:tab pos="1885950" algn="l"/>
              </a:tabLst>
            </a:pPr>
            <a:r>
              <a:rPr lang="en-US" sz="1400" dirty="0"/>
              <a:t>[VECTO-683] - VTP: Quality and plausibility checks for recorded data from VTP</a:t>
            </a:r>
          </a:p>
          <a:p>
            <a:pPr lvl="1">
              <a:tabLst>
                <a:tab pos="1885950" algn="l"/>
              </a:tabLst>
            </a:pPr>
            <a:r>
              <a:rPr lang="en-US" sz="1400" dirty="0"/>
              <a:t>[VECTO-685] - VTP Programming of standard VECTO VTP report</a:t>
            </a:r>
          </a:p>
          <a:p>
            <a:pPr lvl="1">
              <a:tabLst>
                <a:tab pos="1885950" algn="l"/>
              </a:tabLst>
            </a:pPr>
            <a:r>
              <a:rPr lang="en-US" sz="1400" dirty="0"/>
              <a:t>[VECTO-689] - Additional </a:t>
            </a:r>
            <a:r>
              <a:rPr lang="en-US" sz="1400" dirty="0" err="1"/>
              <a:t>Tyre</a:t>
            </a:r>
            <a:r>
              <a:rPr lang="en-US" sz="1400" dirty="0"/>
              <a:t> sizes</a:t>
            </a:r>
          </a:p>
          <a:p>
            <a:pPr lvl="1">
              <a:tabLst>
                <a:tab pos="1885950" algn="l"/>
              </a:tabLst>
            </a:pPr>
            <a:r>
              <a:rPr lang="en-US" sz="1400" dirty="0"/>
              <a:t>[VECTO-702] - Hashing tool: adapt warnings</a:t>
            </a:r>
          </a:p>
          <a:p>
            <a:pPr lvl="1">
              <a:tabLst>
                <a:tab pos="1885950" algn="l"/>
              </a:tabLst>
            </a:pPr>
            <a:r>
              <a:rPr lang="en-US" sz="1400" dirty="0"/>
              <a:t>[VECTO-667] - Removing NCV Correction Factor</a:t>
            </a:r>
          </a:p>
          <a:p>
            <a:pPr lvl="1">
              <a:tabLst>
                <a:tab pos="1885950" algn="l"/>
              </a:tabLst>
            </a:pPr>
            <a:r>
              <a:rPr lang="en-US" sz="1400" dirty="0"/>
              <a:t>[VECTO-679] - Engine n95h computation gives wrong (too high) engine speed (above measured FLD, n70h)</a:t>
            </a:r>
          </a:p>
          <a:p>
            <a:pPr lvl="1">
              <a:tabLst>
                <a:tab pos="1885950" algn="l"/>
              </a:tabLst>
            </a:pPr>
            <a:r>
              <a:rPr lang="en-US" sz="1400" dirty="0"/>
              <a:t>[VECTO-693] - extend vehicle performance in manufacturer record</a:t>
            </a:r>
            <a:endParaRPr lang="en-US" sz="1800" b="1" dirty="0"/>
          </a:p>
        </p:txBody>
      </p:sp>
    </p:spTree>
    <p:extLst>
      <p:ext uri="{BB962C8B-B14F-4D97-AF65-F5344CB8AC3E}">
        <p14:creationId xmlns:p14="http://schemas.microsoft.com/office/powerpoint/2010/main" val="15199056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3.3.0.1250</a:t>
            </a:r>
            <a:br>
              <a:rPr lang="en-US" dirty="0"/>
            </a:br>
            <a:r>
              <a:rPr lang="en-US" sz="1600" dirty="0"/>
              <a:t>2018-06-04</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endParaRPr lang="en-US" sz="1800" b="1" dirty="0"/>
          </a:p>
          <a:p>
            <a:pPr lvl="1">
              <a:tabLst>
                <a:tab pos="1885950" algn="l"/>
              </a:tabLst>
            </a:pPr>
            <a:r>
              <a:rPr lang="en-US" sz="1400" dirty="0"/>
              <a:t>[VECTO-656] - Distance computation in </a:t>
            </a:r>
            <a:r>
              <a:rPr lang="en-US" sz="1400" dirty="0" err="1"/>
              <a:t>vsum</a:t>
            </a:r>
            <a:endParaRPr lang="en-US" sz="1400" dirty="0"/>
          </a:p>
          <a:p>
            <a:pPr lvl="1">
              <a:tabLst>
                <a:tab pos="1885950" algn="l"/>
              </a:tabLst>
            </a:pPr>
            <a:r>
              <a:rPr lang="en-US" sz="1400" dirty="0"/>
              <a:t>[VECTO-666] - </a:t>
            </a:r>
            <a:r>
              <a:rPr lang="en-US" sz="1400" dirty="0" err="1"/>
              <a:t>CF_RegPer</a:t>
            </a:r>
            <a:r>
              <a:rPr lang="en-US" sz="1400" dirty="0"/>
              <a:t> no effect in vehicle simulation -- added to the engine correction factors</a:t>
            </a:r>
          </a:p>
          <a:p>
            <a:pPr lvl="1">
              <a:tabLst>
                <a:tab pos="1885950" algn="l"/>
              </a:tabLst>
            </a:pPr>
            <a:r>
              <a:rPr lang="en-US" sz="1400" dirty="0"/>
              <a:t>[VECTO-687] - Saving a Engine-Only Job is not possible</a:t>
            </a:r>
          </a:p>
          <a:p>
            <a:pPr lvl="1">
              <a:tabLst>
                <a:tab pos="1885950" algn="l"/>
              </a:tabLst>
            </a:pPr>
            <a:r>
              <a:rPr lang="en-US" sz="1400" dirty="0"/>
              <a:t>[VECTO-695] - Bug in vectocmd.exe - process does not terminate</a:t>
            </a:r>
          </a:p>
          <a:p>
            <a:pPr lvl="1">
              <a:tabLst>
                <a:tab pos="1885950" algn="l"/>
              </a:tabLst>
            </a:pPr>
            <a:r>
              <a:rPr lang="en-US" sz="1400" dirty="0"/>
              <a:t>[VECTO-699] - Output in manufacturer report and customer report (VECTO) uses different units than described in legislation</a:t>
            </a:r>
          </a:p>
          <a:p>
            <a:pPr lvl="1">
              <a:tabLst>
                <a:tab pos="1885950" algn="l"/>
              </a:tabLst>
            </a:pPr>
            <a:r>
              <a:rPr lang="en-US" sz="1400" dirty="0"/>
              <a:t>[VECTO-700] - </a:t>
            </a:r>
            <a:r>
              <a:rPr lang="en-US" sz="1400" dirty="0" err="1"/>
              <a:t>errorr</a:t>
            </a:r>
            <a:r>
              <a:rPr lang="en-US" sz="1400" dirty="0"/>
              <a:t> in simulation with 0 stop time at the beginning of the cycle </a:t>
            </a:r>
          </a:p>
        </p:txBody>
      </p:sp>
    </p:spTree>
    <p:extLst>
      <p:ext uri="{BB962C8B-B14F-4D97-AF65-F5344CB8AC3E}">
        <p14:creationId xmlns:p14="http://schemas.microsoft.com/office/powerpoint/2010/main" val="34319596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3.2.1.1133</a:t>
            </a:r>
            <a:br>
              <a:rPr lang="en-US" dirty="0"/>
            </a:br>
            <a:r>
              <a:rPr lang="en-US" sz="1600" dirty="0"/>
              <a:t>2018-02-07</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Improvement</a:t>
            </a:r>
          </a:p>
          <a:p>
            <a:pPr lvl="1">
              <a:tabLst>
                <a:tab pos="1885950" algn="l"/>
              </a:tabLst>
            </a:pPr>
            <a:r>
              <a:rPr lang="en-US" sz="1400" dirty="0">
                <a:ea typeface="+mn-ea"/>
                <a:cs typeface="+mn-cs"/>
              </a:rPr>
              <a:t>[VECTO-634] - VTP Mode: specific fuel consumption</a:t>
            </a:r>
          </a:p>
          <a:p>
            <a:pPr>
              <a:tabLst>
                <a:tab pos="1885950" algn="l"/>
              </a:tabLst>
            </a:pPr>
            <a:r>
              <a:rPr lang="en-US" sz="1800" b="1" dirty="0" err="1"/>
              <a:t>Bugfixes</a:t>
            </a:r>
            <a:endParaRPr lang="en-US" sz="1800" b="1" dirty="0"/>
          </a:p>
          <a:p>
            <a:pPr lvl="1">
              <a:tabLst>
                <a:tab pos="1885950" algn="l"/>
              </a:tabLst>
            </a:pPr>
            <a:r>
              <a:rPr lang="en-US" sz="1400" dirty="0">
                <a:ea typeface="+mn-ea"/>
                <a:cs typeface="+mn-cs"/>
              </a:rPr>
              <a:t>[VECTO-642] - VECTO BUG – secondary retarder losses: </a:t>
            </a:r>
            <a:br>
              <a:rPr lang="en-US" sz="1400" dirty="0">
                <a:ea typeface="+mn-ea"/>
                <a:cs typeface="+mn-cs"/>
              </a:rPr>
            </a:br>
            <a:r>
              <a:rPr lang="en-US" sz="1400" b="1" dirty="0">
                <a:ea typeface="+mn-ea"/>
                <a:cs typeface="+mn-cs"/>
              </a:rPr>
              <a:t>IMPORTANT:</a:t>
            </a:r>
            <a:r>
              <a:rPr lang="en-US" sz="1400" dirty="0">
                <a:ea typeface="+mn-ea"/>
                <a:cs typeface="+mn-cs"/>
              </a:rPr>
              <a:t> Fuel-consumption relevant bug! wrong calculation of retarder losses for retarder ratio not equal to 1</a:t>
            </a:r>
          </a:p>
          <a:p>
            <a:pPr lvl="1">
              <a:tabLst>
                <a:tab pos="1885950" algn="l"/>
              </a:tabLst>
            </a:pPr>
            <a:r>
              <a:rPr lang="en-US" sz="1400" dirty="0">
                <a:ea typeface="+mn-ea"/>
                <a:cs typeface="+mn-cs"/>
              </a:rPr>
              <a:t>[VECTO-624] - Crash w/o comment: Infinite recursion</a:t>
            </a:r>
          </a:p>
          <a:p>
            <a:pPr lvl="1">
              <a:tabLst>
                <a:tab pos="1885950" algn="l"/>
              </a:tabLst>
            </a:pPr>
            <a:r>
              <a:rPr lang="en-US" sz="1400" dirty="0">
                <a:ea typeface="+mn-ea"/>
                <a:cs typeface="+mn-cs"/>
              </a:rPr>
              <a:t>[VECTO-627] - Cannot open Engine-Only Job</a:t>
            </a:r>
          </a:p>
          <a:p>
            <a:pPr lvl="1">
              <a:tabLst>
                <a:tab pos="1885950" algn="l"/>
              </a:tabLst>
            </a:pPr>
            <a:r>
              <a:rPr lang="en-US" sz="1400" dirty="0">
                <a:ea typeface="+mn-ea"/>
                <a:cs typeface="+mn-cs"/>
              </a:rPr>
              <a:t>[VECTO-629] - </a:t>
            </a:r>
            <a:r>
              <a:rPr lang="en-US" sz="1400" dirty="0" err="1">
                <a:ea typeface="+mn-ea"/>
                <a:cs typeface="+mn-cs"/>
              </a:rPr>
              <a:t>Vecto</a:t>
            </a:r>
            <a:r>
              <a:rPr lang="en-US" sz="1400" dirty="0">
                <a:ea typeface="+mn-ea"/>
                <a:cs typeface="+mn-cs"/>
              </a:rPr>
              <a:t> crashes without </a:t>
            </a:r>
            <a:r>
              <a:rPr lang="en-US" sz="1400" dirty="0" err="1">
                <a:ea typeface="+mn-ea"/>
                <a:cs typeface="+mn-cs"/>
              </a:rPr>
              <a:t>errror</a:t>
            </a:r>
            <a:r>
              <a:rPr lang="en-US" sz="1400" dirty="0">
                <a:ea typeface="+mn-ea"/>
                <a:cs typeface="+mn-cs"/>
              </a:rPr>
              <a:t> message (same issue as VECTO-624)</a:t>
            </a:r>
          </a:p>
          <a:p>
            <a:pPr lvl="1">
              <a:tabLst>
                <a:tab pos="1885950" algn="l"/>
              </a:tabLst>
            </a:pPr>
            <a:r>
              <a:rPr lang="en-US" sz="1400" dirty="0">
                <a:ea typeface="+mn-ea"/>
                <a:cs typeface="+mn-cs"/>
              </a:rPr>
              <a:t>[VECTO-639] - Failed to find operating point for braking power: cycle with low target speed (3km/h). allow driving with slipping clutch</a:t>
            </a:r>
          </a:p>
          <a:p>
            <a:pPr lvl="1">
              <a:tabLst>
                <a:tab pos="1885950" algn="l"/>
              </a:tabLst>
            </a:pPr>
            <a:r>
              <a:rPr lang="en-US" sz="1400" dirty="0">
                <a:ea typeface="+mn-ea"/>
                <a:cs typeface="+mn-cs"/>
              </a:rPr>
              <a:t>[VECTO-640] - Exceeded max. iterations: driving fully-loaded vehicle steep uphill. fixed by allowing full-stop and drive off again</a:t>
            </a:r>
          </a:p>
          <a:p>
            <a:pPr lvl="1">
              <a:tabLst>
                <a:tab pos="1885950" algn="l"/>
              </a:tabLst>
            </a:pPr>
            <a:r>
              <a:rPr lang="en-US" sz="1400" dirty="0">
                <a:ea typeface="+mn-ea"/>
                <a:cs typeface="+mn-cs"/>
              </a:rPr>
              <a:t>[VECTO-633] - unable to start VTP Mode simulation</a:t>
            </a:r>
          </a:p>
          <a:p>
            <a:pPr lvl="1">
              <a:tabLst>
                <a:tab pos="1885950" algn="l"/>
              </a:tabLst>
            </a:pPr>
            <a:r>
              <a:rPr lang="en-US" sz="1400" dirty="0">
                <a:ea typeface="+mn-ea"/>
                <a:cs typeface="+mn-cs"/>
              </a:rPr>
              <a:t>[VECTO-645] - Encountered error while validating </a:t>
            </a:r>
            <a:r>
              <a:rPr lang="en-US" sz="1400" dirty="0" err="1">
                <a:ea typeface="+mn-ea"/>
                <a:cs typeface="+mn-cs"/>
              </a:rPr>
              <a:t>Vecto</a:t>
            </a:r>
            <a:r>
              <a:rPr lang="en-US" sz="1400" dirty="0">
                <a:ea typeface="+mn-ea"/>
                <a:cs typeface="+mn-cs"/>
              </a:rPr>
              <a:t> output (generated by API) through Hashing tool for vehicle without retarder</a:t>
            </a:r>
          </a:p>
        </p:txBody>
      </p:sp>
    </p:spTree>
    <p:extLst>
      <p:ext uri="{BB962C8B-B14F-4D97-AF65-F5344CB8AC3E}">
        <p14:creationId xmlns:p14="http://schemas.microsoft.com/office/powerpoint/2010/main" val="21954555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3.2.1.1079</a:t>
            </a:r>
            <a:br>
              <a:rPr lang="en-US" dirty="0"/>
            </a:br>
            <a:r>
              <a:rPr lang="en-US" sz="1600" dirty="0"/>
              <a:t>2017-12-15</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600" b="1" dirty="0"/>
              <a:t>Improvement</a:t>
            </a:r>
          </a:p>
          <a:p>
            <a:pPr lvl="1">
              <a:tabLst>
                <a:tab pos="1885950" algn="l"/>
              </a:tabLst>
            </a:pPr>
            <a:r>
              <a:rPr lang="en-US" sz="1400" dirty="0">
                <a:ea typeface="+mn-ea"/>
                <a:cs typeface="+mn-cs"/>
              </a:rPr>
              <a:t>[VECTO-618] - Add Hash value of </a:t>
            </a:r>
            <a:r>
              <a:rPr lang="en-US" sz="1400" dirty="0" err="1">
                <a:ea typeface="+mn-ea"/>
                <a:cs typeface="+mn-cs"/>
              </a:rPr>
              <a:t>tyres</a:t>
            </a:r>
            <a:r>
              <a:rPr lang="en-US" sz="1400" dirty="0">
                <a:ea typeface="+mn-ea"/>
                <a:cs typeface="+mn-cs"/>
              </a:rPr>
              <a:t> to manufacturer's record file</a:t>
            </a:r>
          </a:p>
          <a:p>
            <a:pPr lvl="1">
              <a:tabLst>
                <a:tab pos="1885950" algn="l"/>
              </a:tabLst>
            </a:pPr>
            <a:r>
              <a:rPr lang="en-US" sz="1400" dirty="0">
                <a:ea typeface="+mn-ea"/>
                <a:cs typeface="+mn-cs"/>
              </a:rPr>
              <a:t>[VECTO-590] - Handling of hash values: customer's record contains hash of manufacturer's record</a:t>
            </a:r>
          </a:p>
          <a:p>
            <a:pPr lvl="1">
              <a:tabLst>
                <a:tab pos="1885950" algn="l"/>
              </a:tabLst>
            </a:pPr>
            <a:r>
              <a:rPr lang="en-US" sz="1400" dirty="0">
                <a:ea typeface="+mn-ea"/>
                <a:cs typeface="+mn-cs"/>
              </a:rPr>
              <a:t>[VECTO-612] - Continuously changing hashes: Info in GUI of </a:t>
            </a:r>
            <a:r>
              <a:rPr lang="en-US" sz="1400" dirty="0" err="1">
                <a:ea typeface="+mn-ea"/>
                <a:cs typeface="+mn-cs"/>
              </a:rPr>
              <a:t>HashingTool</a:t>
            </a:r>
            <a:endParaRPr lang="en-US" sz="1400" dirty="0">
              <a:ea typeface="+mn-ea"/>
              <a:cs typeface="+mn-cs"/>
            </a:endParaRPr>
          </a:p>
          <a:p>
            <a:pPr lvl="1">
              <a:tabLst>
                <a:tab pos="1885950" algn="l"/>
              </a:tabLst>
            </a:pPr>
            <a:r>
              <a:rPr lang="en-US" sz="1400" dirty="0">
                <a:ea typeface="+mn-ea"/>
                <a:cs typeface="+mn-cs"/>
              </a:rPr>
              <a:t>[VECTO-560] - Change Mail-Address of general VECTO contact</a:t>
            </a:r>
          </a:p>
          <a:p>
            <a:pPr lvl="1">
              <a:tabLst>
                <a:tab pos="1885950" algn="l"/>
              </a:tabLst>
            </a:pPr>
            <a:r>
              <a:rPr lang="en-US" sz="1400" dirty="0">
                <a:ea typeface="+mn-ea"/>
                <a:cs typeface="+mn-cs"/>
              </a:rPr>
              <a:t>[VECTO-616] - SI-Unit - display derived unit instead of base units</a:t>
            </a:r>
          </a:p>
          <a:p>
            <a:pPr>
              <a:tabLst>
                <a:tab pos="1885950" algn="l"/>
              </a:tabLst>
            </a:pPr>
            <a:r>
              <a:rPr lang="en-US" sz="1800" b="1" dirty="0" err="1"/>
              <a:t>Bugfixes</a:t>
            </a:r>
            <a:endParaRPr lang="en-US" sz="1800" b="1" dirty="0"/>
          </a:p>
          <a:p>
            <a:pPr lvl="1">
              <a:tabLst>
                <a:tab pos="1885950" algn="l"/>
              </a:tabLst>
            </a:pPr>
            <a:r>
              <a:rPr lang="en-US" sz="1400" dirty="0">
                <a:ea typeface="+mn-ea"/>
                <a:cs typeface="+mn-cs"/>
              </a:rPr>
              <a:t>[VECTO-608] - Power balance in EPT-mode not closed</a:t>
            </a:r>
          </a:p>
          <a:p>
            <a:pPr lvl="1">
              <a:tabLst>
                <a:tab pos="1885950" algn="l"/>
              </a:tabLst>
            </a:pPr>
            <a:r>
              <a:rPr lang="en-US" sz="1400" dirty="0">
                <a:ea typeface="+mn-ea"/>
                <a:cs typeface="+mn-cs"/>
              </a:rPr>
              <a:t> [VECTO-611] - Invalid input. Cannot cast </a:t>
            </a:r>
            <a:r>
              <a:rPr lang="en-US" sz="1400" dirty="0" err="1">
                <a:ea typeface="+mn-ea"/>
                <a:cs typeface="+mn-cs"/>
              </a:rPr>
              <a:t>Newtonsoft.Json.Linq.JObject</a:t>
            </a:r>
            <a:r>
              <a:rPr lang="en-US" sz="1400" dirty="0">
                <a:ea typeface="+mn-ea"/>
                <a:cs typeface="+mn-cs"/>
              </a:rPr>
              <a:t> to </a:t>
            </a:r>
            <a:r>
              <a:rPr lang="en-US" sz="1400" dirty="0" err="1">
                <a:ea typeface="+mn-ea"/>
                <a:cs typeface="+mn-cs"/>
              </a:rPr>
              <a:t>Newtonsoft.Json.Linq.Jtoken</a:t>
            </a:r>
            <a:endParaRPr lang="en-US" sz="1400" dirty="0">
              <a:ea typeface="+mn-ea"/>
              <a:cs typeface="+mn-cs"/>
            </a:endParaRPr>
          </a:p>
          <a:p>
            <a:pPr lvl="1">
              <a:tabLst>
                <a:tab pos="1885950" algn="l"/>
              </a:tabLst>
            </a:pPr>
            <a:r>
              <a:rPr lang="en-US" sz="1400" dirty="0">
                <a:ea typeface="+mn-ea"/>
                <a:cs typeface="+mn-cs"/>
              </a:rPr>
              <a:t>[VECTO-610] - </a:t>
            </a:r>
            <a:r>
              <a:rPr lang="en-US" sz="1400" dirty="0" err="1">
                <a:ea typeface="+mn-ea"/>
                <a:cs typeface="+mn-cs"/>
              </a:rPr>
              <a:t>TyreCertificationNumber</a:t>
            </a:r>
            <a:r>
              <a:rPr lang="en-US" sz="1400" dirty="0">
                <a:ea typeface="+mn-ea"/>
                <a:cs typeface="+mn-cs"/>
              </a:rPr>
              <a:t> missing in Manufacturer Report</a:t>
            </a:r>
          </a:p>
          <a:p>
            <a:pPr lvl="1">
              <a:tabLst>
                <a:tab pos="1885950" algn="l"/>
              </a:tabLst>
            </a:pPr>
            <a:r>
              <a:rPr lang="en-US" sz="1400" dirty="0">
                <a:ea typeface="+mn-ea"/>
                <a:cs typeface="+mn-cs"/>
              </a:rPr>
              <a:t>[VECTO-613] - Incomplete description of allowed values of </a:t>
            </a:r>
            <a:r>
              <a:rPr lang="en-US" sz="1400" dirty="0" err="1">
                <a:ea typeface="+mn-ea"/>
                <a:cs typeface="+mn-cs"/>
              </a:rPr>
              <a:t>LegislativeClass</a:t>
            </a:r>
            <a:r>
              <a:rPr lang="en-US" sz="1400" dirty="0">
                <a:ea typeface="+mn-ea"/>
                <a:cs typeface="+mn-cs"/>
              </a:rPr>
              <a:t> (p251) in VECTO parameter documentation</a:t>
            </a:r>
          </a:p>
          <a:p>
            <a:pPr lvl="1">
              <a:tabLst>
                <a:tab pos="1885950" algn="l"/>
              </a:tabLst>
            </a:pPr>
            <a:r>
              <a:rPr lang="en-US" sz="1400" dirty="0">
                <a:ea typeface="+mn-ea"/>
                <a:cs typeface="+mn-cs"/>
              </a:rPr>
              <a:t>[VECTO-625] - Update XML Schema: </a:t>
            </a:r>
            <a:r>
              <a:rPr lang="en-US" sz="1400" dirty="0" err="1">
                <a:ea typeface="+mn-ea"/>
                <a:cs typeface="+mn-cs"/>
              </a:rPr>
              <a:t>Tyre</a:t>
            </a:r>
            <a:r>
              <a:rPr lang="en-US" sz="1400" dirty="0">
                <a:ea typeface="+mn-ea"/>
                <a:cs typeface="+mn-cs"/>
              </a:rPr>
              <a:t> dimensions according to </a:t>
            </a:r>
            <a:r>
              <a:rPr lang="en-US" sz="1400" dirty="0" err="1">
                <a:ea typeface="+mn-ea"/>
                <a:cs typeface="+mn-cs"/>
              </a:rPr>
              <a:t>Technicall</a:t>
            </a:r>
            <a:r>
              <a:rPr lang="en-US" sz="1400" dirty="0">
                <a:ea typeface="+mn-ea"/>
                <a:cs typeface="+mn-cs"/>
              </a:rPr>
              <a:t> Annex, trailing spaces in </a:t>
            </a:r>
            <a:r>
              <a:rPr lang="en-US" sz="1400" dirty="0" err="1">
                <a:ea typeface="+mn-ea"/>
                <a:cs typeface="+mn-cs"/>
              </a:rPr>
              <a:t>enums</a:t>
            </a:r>
            <a:endParaRPr lang="en-US" sz="1400" dirty="0">
              <a:ea typeface="+mn-ea"/>
              <a:cs typeface="+mn-cs"/>
            </a:endParaRPr>
          </a:p>
          <a:p>
            <a:pPr>
              <a:tabLst>
                <a:tab pos="1885950" algn="l"/>
              </a:tabLst>
            </a:pPr>
            <a:r>
              <a:rPr lang="en-US" sz="1800" b="1" dirty="0"/>
              <a:t>Support</a:t>
            </a:r>
          </a:p>
          <a:p>
            <a:pPr lvl="1">
              <a:tabLst>
                <a:tab pos="1885950" algn="l"/>
              </a:tabLst>
            </a:pPr>
            <a:r>
              <a:rPr lang="en-US" sz="1600" b="1" dirty="0"/>
              <a:t> </a:t>
            </a:r>
            <a:r>
              <a:rPr lang="en-US" sz="1400" dirty="0">
                <a:ea typeface="+mn-ea"/>
                <a:cs typeface="+mn-cs"/>
              </a:rPr>
              <a:t>[VECTO-615] - Error torque interpolation in declaration jobs exported to </a:t>
            </a:r>
            <a:r>
              <a:rPr lang="en-US" sz="1400" dirty="0" err="1">
                <a:ea typeface="+mn-ea"/>
                <a:cs typeface="+mn-cs"/>
              </a:rPr>
              <a:t>XMLImprovements</a:t>
            </a:r>
            <a:endParaRPr lang="en-US" sz="1400" dirty="0">
              <a:ea typeface="+mn-ea"/>
              <a:cs typeface="+mn-cs"/>
            </a:endParaRPr>
          </a:p>
        </p:txBody>
      </p:sp>
    </p:spTree>
    <p:extLst>
      <p:ext uri="{BB962C8B-B14F-4D97-AF65-F5344CB8AC3E}">
        <p14:creationId xmlns:p14="http://schemas.microsoft.com/office/powerpoint/2010/main" val="32617460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3.2.1.1054</a:t>
            </a:r>
            <a:br>
              <a:rPr lang="en-US" dirty="0"/>
            </a:br>
            <a:r>
              <a:rPr lang="en-US" sz="1600" dirty="0"/>
              <a:t>2017-11-20</a:t>
            </a:r>
          </a:p>
        </p:txBody>
      </p:sp>
      <p:sp>
        <p:nvSpPr>
          <p:cNvPr id="3" name="Inhaltsplatzhalter 2"/>
          <p:cNvSpPr>
            <a:spLocks noGrp="1"/>
          </p:cNvSpPr>
          <p:nvPr>
            <p:ph idx="1"/>
          </p:nvPr>
        </p:nvSpPr>
        <p:spPr>
          <a:xfrm>
            <a:off x="323529" y="1628800"/>
            <a:ext cx="8640960" cy="4752528"/>
          </a:xfrm>
        </p:spPr>
        <p:txBody>
          <a:bodyPr/>
          <a:lstStyle/>
          <a:p>
            <a:pPr marL="0" indent="0">
              <a:buNone/>
              <a:tabLst>
                <a:tab pos="1885950" algn="l"/>
              </a:tabLst>
            </a:pPr>
            <a:r>
              <a:rPr lang="en-US" sz="1600" b="1" dirty="0"/>
              <a:t>Improvements</a:t>
            </a:r>
          </a:p>
          <a:p>
            <a:pPr>
              <a:tabLst>
                <a:tab pos="1885950" algn="l"/>
              </a:tabLst>
            </a:pPr>
            <a:r>
              <a:rPr lang="en-US" sz="1400" dirty="0"/>
              <a:t>[VECTO-592] - VTP Simulation Mode</a:t>
            </a:r>
          </a:p>
          <a:p>
            <a:pPr>
              <a:tabLst>
                <a:tab pos="1885950" algn="l"/>
              </a:tabLst>
            </a:pPr>
            <a:r>
              <a:rPr lang="en-US" sz="1400" dirty="0"/>
              <a:t>[VECTO-605] - Improve simulation speed</a:t>
            </a:r>
          </a:p>
          <a:p>
            <a:pPr marL="0" indent="0">
              <a:buNone/>
              <a:tabLst>
                <a:tab pos="1885950" algn="l"/>
              </a:tabLst>
            </a:pPr>
            <a:endParaRPr lang="en-US" sz="1400" dirty="0"/>
          </a:p>
          <a:p>
            <a:pPr marL="0" indent="0">
              <a:buNone/>
              <a:tabLst>
                <a:tab pos="1885950" algn="l"/>
              </a:tabLst>
            </a:pPr>
            <a:r>
              <a:rPr lang="en-US" sz="1600" b="1" dirty="0" err="1"/>
              <a:t>Bugfixes</a:t>
            </a:r>
            <a:endParaRPr lang="en-US" sz="1600" b="1" dirty="0"/>
          </a:p>
          <a:p>
            <a:pPr>
              <a:tabLst>
                <a:tab pos="1885950" algn="l"/>
              </a:tabLst>
            </a:pPr>
            <a:r>
              <a:rPr lang="en-US" sz="1400" dirty="0"/>
              <a:t>[VECTO-602] - Error in simulation without </a:t>
            </a:r>
            <a:r>
              <a:rPr lang="en-US" sz="1400" dirty="0" err="1"/>
              <a:t>airdrag</a:t>
            </a:r>
            <a:r>
              <a:rPr lang="en-US" sz="1400" dirty="0"/>
              <a:t> component</a:t>
            </a:r>
          </a:p>
          <a:p>
            <a:pPr>
              <a:tabLst>
                <a:tab pos="1885950" algn="l"/>
              </a:tabLst>
            </a:pPr>
            <a:r>
              <a:rPr lang="en-US" sz="1400" dirty="0"/>
              <a:t>[VECTO-589] - Scheme .xml error</a:t>
            </a:r>
          </a:p>
        </p:txBody>
      </p:sp>
    </p:spTree>
    <p:extLst>
      <p:ext uri="{BB962C8B-B14F-4D97-AF65-F5344CB8AC3E}">
        <p14:creationId xmlns:p14="http://schemas.microsoft.com/office/powerpoint/2010/main" val="37770491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3"/>
            <a:ext cx="8218487" cy="576064"/>
          </a:xfrm>
        </p:spPr>
        <p:txBody>
          <a:bodyPr/>
          <a:lstStyle/>
          <a:p>
            <a:r>
              <a:rPr lang="en-US" dirty="0"/>
              <a:t>VTP Simulation Mode</a:t>
            </a:r>
            <a:endParaRPr lang="de-AT" dirty="0"/>
          </a:p>
        </p:txBody>
      </p:sp>
      <p:sp>
        <p:nvSpPr>
          <p:cNvPr id="3" name="Inhaltsplatzhalter 2"/>
          <p:cNvSpPr>
            <a:spLocks noGrp="1"/>
          </p:cNvSpPr>
          <p:nvPr>
            <p:ph idx="1"/>
          </p:nvPr>
        </p:nvSpPr>
        <p:spPr>
          <a:xfrm>
            <a:off x="468315" y="1196752"/>
            <a:ext cx="8218487" cy="5112568"/>
          </a:xfrm>
        </p:spPr>
        <p:txBody>
          <a:bodyPr/>
          <a:lstStyle/>
          <a:p>
            <a:r>
              <a:rPr lang="en-US" sz="1800" dirty="0"/>
              <a:t>Verification Test Procedure (VTP) Simulation Mode</a:t>
            </a:r>
          </a:p>
          <a:p>
            <a:pPr lvl="1"/>
            <a:r>
              <a:rPr lang="en-US" sz="1600" dirty="0"/>
              <a:t>Similar to </a:t>
            </a:r>
            <a:r>
              <a:rPr lang="en-US" sz="1600" dirty="0" err="1"/>
              <a:t>Pwheel</a:t>
            </a:r>
            <a:r>
              <a:rPr lang="en-US" sz="1600" dirty="0"/>
              <a:t> mode, different cycle format (see user manual)</a:t>
            </a:r>
          </a:p>
          <a:p>
            <a:pPr lvl="1"/>
            <a:r>
              <a:rPr lang="en-US" sz="1600" dirty="0"/>
              <a:t>Requires:</a:t>
            </a:r>
          </a:p>
          <a:p>
            <a:pPr lvl="2"/>
            <a:r>
              <a:rPr lang="en-US" sz="1200" dirty="0"/>
              <a:t>Vehicle in declaration mode (XML)</a:t>
            </a:r>
          </a:p>
          <a:p>
            <a:pPr lvl="2"/>
            <a:r>
              <a:rPr lang="en-US" sz="1200" dirty="0"/>
              <a:t>Measured driving cycle</a:t>
            </a:r>
          </a:p>
          <a:p>
            <a:pPr lvl="2"/>
            <a:r>
              <a:rPr lang="en-US" sz="1200" dirty="0"/>
              <a:t>Parameters for engine-fan model</a:t>
            </a:r>
          </a:p>
          <a:p>
            <a:pPr lvl="1"/>
            <a:r>
              <a:rPr lang="en-US" sz="1600" dirty="0"/>
              <a:t>VECTO calculates the gear based on the wheel speed and engine speed (and vehicle parameters) and ignores the gear provided in the driving cycle</a:t>
            </a:r>
          </a:p>
          <a:p>
            <a:pPr lvl="1"/>
            <a:r>
              <a:rPr lang="en-US" sz="1600" dirty="0"/>
              <a:t>Fuel consumption interpolation is done using the engine speed from the cycle and calculated power demand (to avoid wrong engine speeds due to wrong gear selection)</a:t>
            </a:r>
          </a:p>
          <a:p>
            <a:pPr lvl="1"/>
            <a:r>
              <a:rPr lang="en-US" sz="1600" dirty="0"/>
              <a:t>Simulation uses all auxiliaries except engine fan</a:t>
            </a:r>
          </a:p>
          <a:p>
            <a:pPr lvl="2"/>
            <a:r>
              <a:rPr lang="en-US" sz="1200" dirty="0"/>
              <a:t>Engine fan is modeled separately, power demand depends on fan speed (see user manual)</a:t>
            </a:r>
          </a:p>
          <a:p>
            <a:pPr lvl="1"/>
            <a:r>
              <a:rPr lang="en-US" sz="1600" dirty="0"/>
              <a:t>Auxiliary power selected according to segment table, BUT power demand depends on vehicle speed</a:t>
            </a:r>
          </a:p>
          <a:p>
            <a:pPr lvl="2"/>
            <a:r>
              <a:rPr lang="en-US" sz="1200" dirty="0"/>
              <a:t>v &lt; 50 km/h: Urban</a:t>
            </a:r>
          </a:p>
          <a:p>
            <a:pPr lvl="2"/>
            <a:r>
              <a:rPr lang="en-US" sz="1200" dirty="0"/>
              <a:t>50 &lt;= v &lt; 70 km/h: Rural</a:t>
            </a:r>
          </a:p>
          <a:p>
            <a:pPr lvl="2"/>
            <a:r>
              <a:rPr lang="en-US" sz="1200" dirty="0"/>
              <a:t>v &gt;70 km/h: Long haul</a:t>
            </a:r>
          </a:p>
          <a:p>
            <a:pPr lvl="1"/>
            <a:r>
              <a:rPr lang="en-US" sz="1600" dirty="0"/>
              <a:t>Gear and fuel consumption in the driving cycle are optional for now, may be used in future versions</a:t>
            </a:r>
            <a:endParaRPr lang="de-AT" sz="1600" dirty="0"/>
          </a:p>
        </p:txBody>
      </p:sp>
    </p:spTree>
    <p:extLst>
      <p:ext uri="{BB962C8B-B14F-4D97-AF65-F5344CB8AC3E}">
        <p14:creationId xmlns:p14="http://schemas.microsoft.com/office/powerpoint/2010/main" val="40257845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3.2.0.1022</a:t>
            </a:r>
            <a:br>
              <a:rPr lang="en-US" dirty="0"/>
            </a:br>
            <a:r>
              <a:rPr lang="en-US" sz="1600" dirty="0"/>
              <a:t>2017-10-19</a:t>
            </a:r>
          </a:p>
        </p:txBody>
      </p:sp>
      <p:sp>
        <p:nvSpPr>
          <p:cNvPr id="3" name="Inhaltsplatzhalter 2"/>
          <p:cNvSpPr>
            <a:spLocks noGrp="1"/>
          </p:cNvSpPr>
          <p:nvPr>
            <p:ph idx="1"/>
          </p:nvPr>
        </p:nvSpPr>
        <p:spPr>
          <a:xfrm>
            <a:off x="323529" y="1628800"/>
            <a:ext cx="8640960" cy="4752528"/>
          </a:xfrm>
        </p:spPr>
        <p:txBody>
          <a:bodyPr/>
          <a:lstStyle/>
          <a:p>
            <a:pPr marL="0" indent="0">
              <a:buNone/>
            </a:pPr>
            <a:r>
              <a:rPr lang="en-US" sz="1600" b="1" dirty="0" err="1"/>
              <a:t>Bugfixes</a:t>
            </a:r>
            <a:endParaRPr lang="en-US" sz="1600" b="1" dirty="0"/>
          </a:p>
          <a:p>
            <a:pPr>
              <a:tabLst>
                <a:tab pos="1885950" algn="l"/>
              </a:tabLst>
            </a:pPr>
            <a:r>
              <a:rPr lang="en-US" sz="1400" dirty="0"/>
              <a:t>[VECTO-585, VECTO-587] – VECTO Simulation aborts when run as WCF Service</a:t>
            </a:r>
          </a:p>
          <a:p>
            <a:pPr>
              <a:tabLst>
                <a:tab pos="1885950" algn="l"/>
              </a:tabLst>
            </a:pPr>
            <a:r>
              <a:rPr lang="en-US" sz="1400" dirty="0"/>
              <a:t>[VECTO-586] – </a:t>
            </a:r>
            <a:r>
              <a:rPr lang="en-US" sz="1400" dirty="0" err="1"/>
              <a:t>Gearshiftcout</a:t>
            </a:r>
            <a:r>
              <a:rPr lang="en-US" sz="1400" dirty="0"/>
              <a:t> in reports too high</a:t>
            </a:r>
          </a:p>
          <a:p>
            <a:pPr>
              <a:tabLst>
                <a:tab pos="1885950" algn="l"/>
              </a:tabLst>
            </a:pPr>
            <a:r>
              <a:rPr lang="en-US" sz="1400" dirty="0"/>
              <a:t>[VECTO-573] – Use of old library references </a:t>
            </a:r>
            <a:r>
              <a:rPr lang="en-US" sz="1400" dirty="0" err="1"/>
              <a:t>.net</a:t>
            </a:r>
            <a:r>
              <a:rPr lang="en-US" sz="1400" dirty="0"/>
              <a:t> </a:t>
            </a:r>
            <a:r>
              <a:rPr lang="en-US" sz="1400"/>
              <a:t>framework 2.0</a:t>
            </a:r>
            <a:endParaRPr lang="en-US" sz="1400" dirty="0"/>
          </a:p>
        </p:txBody>
      </p:sp>
    </p:spTree>
    <p:extLst>
      <p:ext uri="{BB962C8B-B14F-4D97-AF65-F5344CB8AC3E}">
        <p14:creationId xmlns:p14="http://schemas.microsoft.com/office/powerpoint/2010/main" val="42691533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3.2.0.1005</a:t>
            </a:r>
            <a:br>
              <a:rPr lang="en-US" dirty="0"/>
            </a:br>
            <a:r>
              <a:rPr lang="en-US" sz="1600" dirty="0"/>
              <a:t>2017-10-02</a:t>
            </a:r>
          </a:p>
        </p:txBody>
      </p:sp>
      <p:sp>
        <p:nvSpPr>
          <p:cNvPr id="3" name="Inhaltsplatzhalter 2"/>
          <p:cNvSpPr>
            <a:spLocks noGrp="1"/>
          </p:cNvSpPr>
          <p:nvPr>
            <p:ph idx="1"/>
          </p:nvPr>
        </p:nvSpPr>
        <p:spPr>
          <a:xfrm>
            <a:off x="323529" y="1628800"/>
            <a:ext cx="8640960" cy="4752528"/>
          </a:xfrm>
        </p:spPr>
        <p:txBody>
          <a:bodyPr/>
          <a:lstStyle/>
          <a:p>
            <a:pPr marL="0" indent="0">
              <a:buNone/>
            </a:pPr>
            <a:r>
              <a:rPr lang="en-US" sz="1600" b="1" dirty="0"/>
              <a:t>Improvements</a:t>
            </a:r>
          </a:p>
          <a:p>
            <a:r>
              <a:rPr lang="en-US" sz="1600" b="1" dirty="0"/>
              <a:t>Release of </a:t>
            </a:r>
            <a:r>
              <a:rPr lang="en-US" sz="1600" b="1" dirty="0" err="1"/>
              <a:t>Vecto</a:t>
            </a:r>
            <a:r>
              <a:rPr lang="en-US" sz="1600" b="1" dirty="0"/>
              <a:t> Hashing Tool</a:t>
            </a:r>
          </a:p>
          <a:p>
            <a:r>
              <a:rPr lang="en-US" sz="1400" dirty="0"/>
              <a:t>[VECTO-557] Engine speed simulated too high during long stops</a:t>
            </a:r>
          </a:p>
          <a:p>
            <a:endParaRPr lang="en-US" sz="1600" b="1" dirty="0"/>
          </a:p>
          <a:p>
            <a:pPr marL="0" indent="0">
              <a:buNone/>
            </a:pPr>
            <a:r>
              <a:rPr lang="en-US" sz="1600" b="1" dirty="0" err="1"/>
              <a:t>Bugfixes</a:t>
            </a:r>
            <a:endParaRPr lang="en-US" sz="1600" b="1" dirty="0"/>
          </a:p>
          <a:p>
            <a:pPr>
              <a:tabLst>
                <a:tab pos="1885950" algn="l"/>
              </a:tabLst>
            </a:pPr>
            <a:r>
              <a:rPr lang="en-US" sz="1400" dirty="0"/>
              <a:t>[VECTO-569] - ‘Engine Retarder’ not correctly recognized as input</a:t>
            </a:r>
          </a:p>
          <a:p>
            <a:pPr>
              <a:tabLst>
                <a:tab pos="1885950" algn="l"/>
              </a:tabLst>
            </a:pPr>
            <a:r>
              <a:rPr lang="en-US" sz="1400" dirty="0"/>
              <a:t>[VECTO-571] - Customer Report – wrong output format of average RRC</a:t>
            </a:r>
          </a:p>
          <a:p>
            <a:pPr>
              <a:tabLst>
                <a:tab pos="1885950" algn="l"/>
              </a:tabLst>
            </a:pPr>
            <a:r>
              <a:rPr lang="en-US" sz="1400" dirty="0"/>
              <a:t>[VECTO-573] - Correction of displayed units in graph window</a:t>
            </a:r>
          </a:p>
          <a:p>
            <a:pPr>
              <a:tabLst>
                <a:tab pos="1885950" algn="l"/>
              </a:tabLst>
            </a:pPr>
            <a:r>
              <a:rPr lang="en-US" sz="1400" dirty="0"/>
              <a:t>[VECTO-575] - Correction of simulation aborts (due to gearbox inertia, engineering mode)</a:t>
            </a:r>
          </a:p>
          <a:p>
            <a:pPr>
              <a:tabLst>
                <a:tab pos="1885950" algn="l"/>
              </a:tabLst>
            </a:pPr>
            <a:r>
              <a:rPr lang="en-US" sz="1400" dirty="0"/>
              <a:t>[VECTO-577] - Correction of XML export functionality</a:t>
            </a:r>
          </a:p>
          <a:p>
            <a:pPr>
              <a:tabLst>
                <a:tab pos="1885950" algn="l"/>
              </a:tabLst>
            </a:pPr>
            <a:r>
              <a:rPr lang="en-US" sz="1400" dirty="0"/>
              <a:t>[VECTO-579] - Bug fix GUI crashes on invalid input</a:t>
            </a:r>
          </a:p>
          <a:p>
            <a:pPr>
              <a:tabLst>
                <a:tab pos="1885950" algn="l"/>
              </a:tabLst>
            </a:pPr>
            <a:r>
              <a:rPr lang="en-US" sz="1400" dirty="0"/>
              <a:t>[VECTO-558] - Correction of output in .</a:t>
            </a:r>
            <a:r>
              <a:rPr lang="en-US" sz="1400" dirty="0" err="1"/>
              <a:t>vsum</a:t>
            </a:r>
            <a:r>
              <a:rPr lang="en-US" sz="1400" dirty="0"/>
              <a:t> file – </a:t>
            </a:r>
            <a:r>
              <a:rPr lang="en-US" sz="1400" dirty="0" err="1"/>
              <a:t>BFColdHot</a:t>
            </a:r>
            <a:r>
              <a:rPr lang="en-US" sz="1400" dirty="0"/>
              <a:t> always 0</a:t>
            </a:r>
          </a:p>
          <a:p>
            <a:pPr>
              <a:tabLst>
                <a:tab pos="1885950" algn="l"/>
              </a:tabLst>
            </a:pPr>
            <a:r>
              <a:rPr lang="en-US" sz="1400" dirty="0"/>
              <a:t>[VECTO-564] - Bug fix: correct output of vehicle group in XML report</a:t>
            </a:r>
          </a:p>
          <a:p>
            <a:pPr>
              <a:tabLst>
                <a:tab pos="1885950" algn="l"/>
              </a:tabLst>
            </a:pPr>
            <a:r>
              <a:rPr lang="en-US" sz="1400" dirty="0"/>
              <a:t>[VECTO-566] - Vehicle height not correctly read (engineering mode)</a:t>
            </a:r>
          </a:p>
          <a:p>
            <a:pPr>
              <a:tabLst>
                <a:tab pos="1885950" algn="l"/>
              </a:tabLst>
            </a:pPr>
            <a:r>
              <a:rPr lang="en-US" sz="1400" dirty="0"/>
              <a:t>[VECTO-545] - Update documentation on Settings dialog</a:t>
            </a:r>
          </a:p>
        </p:txBody>
      </p:sp>
    </p:spTree>
    <p:extLst>
      <p:ext uri="{BB962C8B-B14F-4D97-AF65-F5344CB8AC3E}">
        <p14:creationId xmlns:p14="http://schemas.microsoft.com/office/powerpoint/2010/main" val="39395374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3.2.0.940</a:t>
            </a:r>
            <a:br>
              <a:rPr lang="en-US" dirty="0"/>
            </a:br>
            <a:r>
              <a:rPr lang="en-US" sz="1600" dirty="0"/>
              <a:t>2017-07-28</a:t>
            </a:r>
          </a:p>
        </p:txBody>
      </p:sp>
      <p:sp>
        <p:nvSpPr>
          <p:cNvPr id="3" name="Inhaltsplatzhalter 2"/>
          <p:cNvSpPr>
            <a:spLocks noGrp="1"/>
          </p:cNvSpPr>
          <p:nvPr>
            <p:ph idx="1"/>
          </p:nvPr>
        </p:nvSpPr>
        <p:spPr>
          <a:xfrm>
            <a:off x="323529" y="1628800"/>
            <a:ext cx="8640960" cy="4752528"/>
          </a:xfrm>
        </p:spPr>
        <p:txBody>
          <a:bodyPr/>
          <a:lstStyle/>
          <a:p>
            <a:pPr marL="0" indent="0">
              <a:buNone/>
            </a:pPr>
            <a:r>
              <a:rPr lang="en-US" sz="1600" b="1" dirty="0" err="1"/>
              <a:t>Bugfixes</a:t>
            </a:r>
            <a:endParaRPr lang="en-US" sz="1600" b="1" dirty="0"/>
          </a:p>
          <a:p>
            <a:r>
              <a:rPr lang="en-US" sz="1400" dirty="0"/>
              <a:t>[VECTO-546] - </a:t>
            </a:r>
            <a:r>
              <a:rPr lang="en-US" sz="1400" dirty="0" err="1"/>
              <a:t>GearboxCertificationOptionType</a:t>
            </a:r>
            <a:r>
              <a:rPr lang="en-US" sz="1400" dirty="0"/>
              <a:t> Option 2 not accepted by VECTO</a:t>
            </a:r>
          </a:p>
          <a:p>
            <a:r>
              <a:rPr lang="en-US" sz="1400" dirty="0"/>
              <a:t>[VECTO-547] - Engine Manufacturer and Engine Model are empty in .</a:t>
            </a:r>
            <a:r>
              <a:rPr lang="en-US" sz="1400" dirty="0" err="1"/>
              <a:t>vsum</a:t>
            </a:r>
            <a:r>
              <a:rPr lang="en-US" sz="1400" dirty="0"/>
              <a:t> </a:t>
            </a:r>
          </a:p>
          <a:p>
            <a:r>
              <a:rPr lang="en-US" sz="1400" dirty="0"/>
              <a:t>[VECTO-548] - online user manual</a:t>
            </a:r>
          </a:p>
          <a:p>
            <a:r>
              <a:rPr lang="en-US" sz="1400" dirty="0"/>
              <a:t>[VECTO-549] - Inconsistent (and wrong) decimal separator in XML output (manufacturer report)</a:t>
            </a:r>
          </a:p>
          <a:p>
            <a:r>
              <a:rPr lang="en-US" sz="1400" dirty="0"/>
              <a:t>[VECTO-551] - Average </a:t>
            </a:r>
            <a:r>
              <a:rPr lang="en-US" sz="1400" dirty="0" err="1"/>
              <a:t>Tyre</a:t>
            </a:r>
            <a:r>
              <a:rPr lang="en-US" sz="1400" dirty="0"/>
              <a:t> RRC not in Customer Information File output</a:t>
            </a:r>
          </a:p>
          <a:p>
            <a:r>
              <a:rPr lang="en-US" sz="1400" dirty="0"/>
              <a:t>[VECTO-536] - GUI: improvements vehicle dialog (add missing pictures for vehicle categories)</a:t>
            </a:r>
          </a:p>
          <a:p>
            <a:r>
              <a:rPr lang="en-US" sz="1400" dirty="0"/>
              <a:t>[VECTO-550] - Allow custom settings for </a:t>
            </a:r>
            <a:r>
              <a:rPr lang="en-US" sz="1400" dirty="0" err="1"/>
              <a:t>AirDensity</a:t>
            </a:r>
            <a:r>
              <a:rPr lang="en-US" sz="1400" dirty="0"/>
              <a:t> in Engineering mode</a:t>
            </a:r>
          </a:p>
          <a:p>
            <a:r>
              <a:rPr lang="en-US" sz="1400" dirty="0"/>
              <a:t>[VECTO-552] - set engine rated power, rated speed to computed values from FLD if not provided as input</a:t>
            </a:r>
          </a:p>
        </p:txBody>
      </p:sp>
    </p:spTree>
    <p:extLst>
      <p:ext uri="{BB962C8B-B14F-4D97-AF65-F5344CB8AC3E}">
        <p14:creationId xmlns:p14="http://schemas.microsoft.com/office/powerpoint/2010/main" val="13393741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3.2.0.925</a:t>
            </a:r>
            <a:br>
              <a:rPr lang="en-US" dirty="0"/>
            </a:br>
            <a:r>
              <a:rPr lang="en-US" sz="1600" dirty="0"/>
              <a:t>2017-07-14</a:t>
            </a:r>
          </a:p>
        </p:txBody>
      </p:sp>
      <p:sp>
        <p:nvSpPr>
          <p:cNvPr id="3" name="Inhaltsplatzhalter 2"/>
          <p:cNvSpPr>
            <a:spLocks noGrp="1"/>
          </p:cNvSpPr>
          <p:nvPr>
            <p:ph idx="1"/>
          </p:nvPr>
        </p:nvSpPr>
        <p:spPr>
          <a:xfrm>
            <a:off x="323529" y="1628800"/>
            <a:ext cx="8640960" cy="4752528"/>
          </a:xfrm>
        </p:spPr>
        <p:txBody>
          <a:bodyPr/>
          <a:lstStyle/>
          <a:p>
            <a:pPr marL="0" indent="0">
              <a:buNone/>
            </a:pPr>
            <a:r>
              <a:rPr lang="en-US" sz="1400" b="1" dirty="0"/>
              <a:t>Improvements</a:t>
            </a:r>
          </a:p>
          <a:p>
            <a:r>
              <a:rPr lang="en-US" sz="1400" dirty="0"/>
              <a:t>[VECTO-366] added EMS vehicle configuration, EMS is only simulated when engine rated power &gt; 300kW</a:t>
            </a:r>
          </a:p>
          <a:p>
            <a:r>
              <a:rPr lang="en-US" sz="1400" dirty="0"/>
              <a:t>[VECTO-463] add pneumatic system technology 'vacuum pump‘</a:t>
            </a:r>
          </a:p>
          <a:p>
            <a:r>
              <a:rPr lang="en-US" sz="1400" dirty="0"/>
              <a:t>[VECTO-465] change RRC value of trailers (declaration mode) from 0.00555 to 0.0055 (due to limits in user interface)</a:t>
            </a:r>
          </a:p>
          <a:p>
            <a:r>
              <a:rPr lang="en-US" sz="1400" dirty="0"/>
              <a:t>[VECTO-477] AT Gearbox, </a:t>
            </a:r>
            <a:r>
              <a:rPr lang="en-US" sz="1400" dirty="0" err="1"/>
              <a:t>powershift</a:t>
            </a:r>
            <a:r>
              <a:rPr lang="en-US" sz="1400" dirty="0"/>
              <a:t> losses: remove inertia factor</a:t>
            </a:r>
          </a:p>
          <a:p>
            <a:r>
              <a:rPr lang="en-US" sz="1400" dirty="0"/>
              <a:t>[VECTO-471] update cross-wind correction model: height-dependent wind speed (see Excel spreadsheet in User Manual folder for details)</a:t>
            </a:r>
          </a:p>
          <a:p>
            <a:r>
              <a:rPr lang="en-US" sz="1400" dirty="0"/>
              <a:t>[VECTO-367] Add Vehicle Design Speed to segmentation table</a:t>
            </a:r>
          </a:p>
          <a:p>
            <a:r>
              <a:rPr lang="en-US" sz="1400" dirty="0"/>
              <a:t>[VECTO-470] Add XML reading and export functionality</a:t>
            </a:r>
          </a:p>
          <a:p>
            <a:r>
              <a:rPr lang="en-US" sz="1400" dirty="0"/>
              <a:t>[VECTO-486] Adding hashing library</a:t>
            </a:r>
          </a:p>
          <a:p>
            <a:r>
              <a:rPr lang="en-US" sz="1400" dirty="0"/>
              <a:t>[VECTO-469] Limit engine max torque (either due to vehicle or gearbox limits), limit gearbox input speed</a:t>
            </a:r>
          </a:p>
          <a:p>
            <a:r>
              <a:rPr lang="en-US" sz="1400" dirty="0"/>
              <a:t>[VECTO-466] Update vehicle payloads: 10% loaded and reference load are simulated</a:t>
            </a:r>
          </a:p>
          <a:p>
            <a:r>
              <a:rPr lang="en-US" sz="1400" dirty="0"/>
              <a:t>[VECTO-467] Add generic PTO activation in municipal cycle</a:t>
            </a:r>
          </a:p>
          <a:p>
            <a:r>
              <a:rPr lang="en-US" sz="1400" dirty="0"/>
              <a:t>[VECTO-468] Add PTO losses (idle) in declaration mode</a:t>
            </a:r>
          </a:p>
          <a:p>
            <a:r>
              <a:rPr lang="en-US" sz="1400" dirty="0"/>
              <a:t>[VECTO-479</a:t>
            </a:r>
            <a:r>
              <a:rPr lang="en-US" sz="1600" dirty="0"/>
              <a:t>] Added PTO option 'only one engaged gearwheel above oil level' with 0 losses</a:t>
            </a:r>
          </a:p>
        </p:txBody>
      </p:sp>
    </p:spTree>
    <p:extLst>
      <p:ext uri="{BB962C8B-B14F-4D97-AF65-F5344CB8AC3E}">
        <p14:creationId xmlns:p14="http://schemas.microsoft.com/office/powerpoint/2010/main" val="9357171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3.2.0.925</a:t>
            </a:r>
            <a:br>
              <a:rPr lang="en-US" dirty="0"/>
            </a:br>
            <a:r>
              <a:rPr lang="en-US" sz="1600" dirty="0"/>
              <a:t>2017-07-14</a:t>
            </a:r>
          </a:p>
        </p:txBody>
      </p:sp>
      <p:sp>
        <p:nvSpPr>
          <p:cNvPr id="3" name="Inhaltsplatzhalter 2"/>
          <p:cNvSpPr>
            <a:spLocks noGrp="1"/>
          </p:cNvSpPr>
          <p:nvPr>
            <p:ph idx="1"/>
          </p:nvPr>
        </p:nvSpPr>
        <p:spPr>
          <a:xfrm>
            <a:off x="323529" y="1628800"/>
            <a:ext cx="8640960" cy="4752528"/>
          </a:xfrm>
        </p:spPr>
        <p:txBody>
          <a:bodyPr/>
          <a:lstStyle/>
          <a:p>
            <a:pPr marL="0" indent="0">
              <a:buNone/>
            </a:pPr>
            <a:r>
              <a:rPr lang="en-US" sz="1400" b="1" dirty="0"/>
              <a:t>Improvements</a:t>
            </a:r>
          </a:p>
          <a:p>
            <a:r>
              <a:rPr lang="en-US" sz="1400" dirty="0"/>
              <a:t>[VECTO-483] Adapt </a:t>
            </a:r>
            <a:r>
              <a:rPr lang="en-US" sz="1400" dirty="0" err="1"/>
              <a:t>CdxA</a:t>
            </a:r>
            <a:r>
              <a:rPr lang="en-US" sz="1400" dirty="0"/>
              <a:t> supplement for </a:t>
            </a:r>
            <a:r>
              <a:rPr lang="en-US" sz="1400"/>
              <a:t>additional trailers</a:t>
            </a:r>
            <a:endParaRPr lang="en-US" sz="1400" dirty="0"/>
          </a:p>
          <a:p>
            <a:r>
              <a:rPr lang="en-US" sz="1400" dirty="0"/>
              <a:t>[VECTO-494] Implementation of different fuel types</a:t>
            </a:r>
          </a:p>
          <a:p>
            <a:r>
              <a:rPr lang="en-US" sz="1400" dirty="0"/>
              <a:t>[VECTO-502] Implementing standard values for air-drag area (if not measured)</a:t>
            </a:r>
          </a:p>
          <a:p>
            <a:r>
              <a:rPr lang="en-US" sz="1400" dirty="0"/>
              <a:t>[VECTO-501] Implement engine idle speed set in vehicle (must be higher than engine's idle speed value)</a:t>
            </a:r>
          </a:p>
          <a:p>
            <a:r>
              <a:rPr lang="en-US" sz="1400" dirty="0"/>
              <a:t>[VECTO-504] Adding HVAC technology 'none‘</a:t>
            </a:r>
          </a:p>
          <a:p>
            <a:r>
              <a:rPr lang="en-US" sz="1400" dirty="0"/>
              <a:t>[VECTO-489] Extrapolate gearbox </a:t>
            </a:r>
            <a:r>
              <a:rPr lang="en-US" sz="1400" dirty="0" err="1"/>
              <a:t>lossmaps</a:t>
            </a:r>
            <a:r>
              <a:rPr lang="en-US" sz="1400" dirty="0"/>
              <a:t> (required when torque limitation by gearbox is ignored)</a:t>
            </a:r>
          </a:p>
          <a:p>
            <a:r>
              <a:rPr lang="en-US" sz="1400" dirty="0"/>
              <a:t>[VECTO-505] Implement AT transmissions in declaration mode</a:t>
            </a:r>
          </a:p>
          <a:p>
            <a:r>
              <a:rPr lang="en-US" sz="1400" dirty="0"/>
              <a:t>[VECTO-507] Allow to ignore validation of model data when starting a simulation (significant improvement on simulation startup time - about 10s)</a:t>
            </a:r>
          </a:p>
          <a:p>
            <a:r>
              <a:rPr lang="en-US" sz="1400" dirty="0"/>
              <a:t>[VECTO-506] modified method how torque-converter characteristics in drag is extended. allow drag-values in the input, only add one point at a high speed ratio</a:t>
            </a:r>
          </a:p>
          <a:p>
            <a:r>
              <a:rPr lang="en-US" sz="1400" dirty="0"/>
              <a:t>[VECTO-509] Add axle-type (vehicle driven, vehicle non-driven, trailer) to GUI</a:t>
            </a:r>
          </a:p>
          <a:p>
            <a:r>
              <a:rPr lang="en-US" sz="1400" dirty="0"/>
              <a:t>[VECTO-511] Add engine idle speed to Vehicle input form (GUI)</a:t>
            </a:r>
          </a:p>
          <a:p>
            <a:r>
              <a:rPr lang="en-US" sz="1400" dirty="0"/>
              <a:t>[VECTO-510] Write XML reports (manufacturer, customer information) in declaration mode</a:t>
            </a:r>
          </a:p>
          <a:p>
            <a:r>
              <a:rPr lang="en-US" sz="1400" dirty="0"/>
              <a:t>[VECTO-474] new driving cycles for Municipal and Regional Delivery</a:t>
            </a:r>
          </a:p>
        </p:txBody>
      </p:sp>
    </p:spTree>
    <p:extLst>
      <p:ext uri="{BB962C8B-B14F-4D97-AF65-F5344CB8AC3E}">
        <p14:creationId xmlns:p14="http://schemas.microsoft.com/office/powerpoint/2010/main" val="11906420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3.2.0.925</a:t>
            </a:r>
            <a:br>
              <a:rPr lang="en-US" dirty="0"/>
            </a:br>
            <a:r>
              <a:rPr lang="en-US" sz="1600" dirty="0"/>
              <a:t>2017-07-14</a:t>
            </a:r>
          </a:p>
        </p:txBody>
      </p:sp>
      <p:sp>
        <p:nvSpPr>
          <p:cNvPr id="3" name="Inhaltsplatzhalter 2"/>
          <p:cNvSpPr>
            <a:spLocks noGrp="1"/>
          </p:cNvSpPr>
          <p:nvPr>
            <p:ph idx="1"/>
          </p:nvPr>
        </p:nvSpPr>
        <p:spPr>
          <a:xfrm>
            <a:off x="323529" y="1628800"/>
            <a:ext cx="8640960" cy="4752528"/>
          </a:xfrm>
        </p:spPr>
        <p:txBody>
          <a:bodyPr/>
          <a:lstStyle/>
          <a:p>
            <a:pPr marL="0" indent="0">
              <a:buNone/>
            </a:pPr>
            <a:r>
              <a:rPr lang="en-US" sz="1400" b="1" dirty="0"/>
              <a:t>Improvements</a:t>
            </a:r>
          </a:p>
          <a:p>
            <a:r>
              <a:rPr lang="en-US" sz="1400" dirty="0"/>
              <a:t>[VECTO-522] step-up ratio for using torque converter in second gear set to 1.85 for busses (still 1.8 for trucks)</a:t>
            </a:r>
          </a:p>
          <a:p>
            <a:r>
              <a:rPr lang="en-US" sz="1400" dirty="0"/>
              <a:t>[VECTO-525] remove info-box with max loading in GUI</a:t>
            </a:r>
          </a:p>
          <a:p>
            <a:r>
              <a:rPr lang="en-US" sz="1400" dirty="0"/>
              <a:t>[VECTO-531] Payload calculation: limit truck payload to the truck's max payload. (earlier versions only limited the total payload of </a:t>
            </a:r>
            <a:r>
              <a:rPr lang="en-US" sz="1400" dirty="0" err="1"/>
              <a:t>truc</a:t>
            </a:r>
            <a:r>
              <a:rPr lang="en-US" sz="1400" dirty="0"/>
              <a:t> + trailer to the total max. payload, i.e. allowed to shifted loading from truck to the trailer)</a:t>
            </a:r>
          </a:p>
          <a:p>
            <a:r>
              <a:rPr lang="en-US" sz="1400" dirty="0"/>
              <a:t>[VECTO-533] allow second driven axle, </a:t>
            </a:r>
            <a:r>
              <a:rPr lang="en-US" sz="1400" dirty="0" err="1"/>
              <a:t>rdyn</a:t>
            </a:r>
            <a:r>
              <a:rPr lang="en-US" sz="1400" dirty="0"/>
              <a:t> is calculated as average of both driven axles</a:t>
            </a:r>
          </a:p>
          <a:p>
            <a:r>
              <a:rPr lang="en-US" sz="1400" dirty="0"/>
              <a:t>[VECTO-537] new Suburban driving cycles</a:t>
            </a:r>
          </a:p>
          <a:p>
            <a:r>
              <a:rPr lang="en-US" sz="1400" dirty="0"/>
              <a:t>[VECTO-541] increase declaration mode PT1 curve to higher speeds (2500 is too low for some engines)</a:t>
            </a:r>
          </a:p>
          <a:p>
            <a:r>
              <a:rPr lang="en-US" sz="1400" dirty="0"/>
              <a:t>[VECTO-542] reduce </a:t>
            </a:r>
            <a:r>
              <a:rPr lang="en-US" sz="1400" dirty="0" err="1"/>
              <a:t>overspeed</a:t>
            </a:r>
            <a:r>
              <a:rPr lang="en-US" sz="1400" dirty="0"/>
              <a:t> in declaration mode to 2.5km/h</a:t>
            </a:r>
          </a:p>
        </p:txBody>
      </p:sp>
    </p:spTree>
    <p:extLst>
      <p:ext uri="{BB962C8B-B14F-4D97-AF65-F5344CB8AC3E}">
        <p14:creationId xmlns:p14="http://schemas.microsoft.com/office/powerpoint/2010/main" val="13671776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3.2.0.925</a:t>
            </a:r>
            <a:br>
              <a:rPr lang="en-US" dirty="0"/>
            </a:br>
            <a:r>
              <a:rPr lang="en-US" sz="1600" dirty="0"/>
              <a:t>2017-07-14</a:t>
            </a:r>
          </a:p>
        </p:txBody>
      </p:sp>
      <p:sp>
        <p:nvSpPr>
          <p:cNvPr id="3" name="Inhaltsplatzhalter 2"/>
          <p:cNvSpPr>
            <a:spLocks noGrp="1"/>
          </p:cNvSpPr>
          <p:nvPr>
            <p:ph idx="1"/>
          </p:nvPr>
        </p:nvSpPr>
        <p:spPr>
          <a:xfrm>
            <a:off x="323529" y="1628800"/>
            <a:ext cx="8640960" cy="4752528"/>
          </a:xfrm>
        </p:spPr>
        <p:txBody>
          <a:bodyPr/>
          <a:lstStyle/>
          <a:p>
            <a:pPr marL="0" indent="0">
              <a:buNone/>
            </a:pPr>
            <a:r>
              <a:rPr lang="en-US" sz="1600" b="1" dirty="0" err="1"/>
              <a:t>Bugfixes</a:t>
            </a:r>
            <a:endParaRPr lang="en-US" sz="1600" b="1" dirty="0"/>
          </a:p>
          <a:p>
            <a:r>
              <a:rPr lang="en-US" sz="1400" dirty="0"/>
              <a:t>[VECTO-462] fix: decision if PTO cycle is simulated</a:t>
            </a:r>
          </a:p>
          <a:p>
            <a:r>
              <a:rPr lang="en-US" sz="1400" dirty="0"/>
              <a:t>[VECTO-473] fix: adapt range for validation of torque converter characteristics</a:t>
            </a:r>
          </a:p>
          <a:p>
            <a:r>
              <a:rPr lang="en-US" sz="1400" dirty="0"/>
              <a:t>[VECTO-464] fix: extrapolation of engine full-load curve gives neg. max. torque. Limit engine speed to n95h</a:t>
            </a:r>
          </a:p>
          <a:p>
            <a:r>
              <a:rPr lang="en-US" sz="1400" dirty="0"/>
              <a:t>[VECTO-480] fix: </a:t>
            </a:r>
            <a:r>
              <a:rPr lang="en-US" sz="1400" dirty="0" err="1"/>
              <a:t>a_pos</a:t>
            </a:r>
            <a:r>
              <a:rPr lang="en-US" sz="1400" dirty="0"/>
              <a:t> in .</a:t>
            </a:r>
            <a:r>
              <a:rPr lang="en-US" sz="1400" dirty="0" err="1"/>
              <a:t>vsum</a:t>
            </a:r>
            <a:r>
              <a:rPr lang="en-US" sz="1400" dirty="0"/>
              <a:t> was less than zero</a:t>
            </a:r>
          </a:p>
          <a:p>
            <a:r>
              <a:rPr lang="en-US" sz="1400" dirty="0"/>
              <a:t>[VECTO-487] fix: Duration of PTO cycle was computed incorrectly if PTO cycle does not start at t=0</a:t>
            </a:r>
          </a:p>
          <a:p>
            <a:r>
              <a:rPr lang="en-US" sz="1400" dirty="0"/>
              <a:t>[VECTO-514] fix: sort entries in .</a:t>
            </a:r>
            <a:r>
              <a:rPr lang="en-US" sz="1400" dirty="0" err="1"/>
              <a:t>vsum</a:t>
            </a:r>
            <a:r>
              <a:rPr lang="en-US" sz="1400" dirty="0"/>
              <a:t> numerically, not lexically</a:t>
            </a:r>
          </a:p>
          <a:p>
            <a:r>
              <a:rPr lang="en-US" sz="1400" dirty="0"/>
              <a:t>[VECTO-516] fix: consider </a:t>
            </a:r>
            <a:r>
              <a:rPr lang="en-US" sz="1400" dirty="0" err="1"/>
              <a:t>axlegear</a:t>
            </a:r>
            <a:r>
              <a:rPr lang="en-US" sz="1400" dirty="0"/>
              <a:t> losses for estimation of acceleration after gearshifts</a:t>
            </a:r>
          </a:p>
          <a:p>
            <a:r>
              <a:rPr lang="en-US" sz="1400" dirty="0"/>
              <a:t>[VECTO-517] fix: valid shift polygon was considered invalid when extended to very high torque ranges</a:t>
            </a:r>
          </a:p>
          <a:p>
            <a:r>
              <a:rPr lang="en-US" sz="1400" dirty="0"/>
              <a:t>[VECTO-424] fix: VectoCore.dll could not be found when the current working directory is different to the directory of the vectocmd.exe</a:t>
            </a:r>
          </a:p>
          <a:p>
            <a:r>
              <a:rPr lang="en-US" sz="1400" dirty="0"/>
              <a:t>[VECTO-425] fix: vectocmd.exe - check if the output is redirected, and skip updating of the progress bar when this is the case</a:t>
            </a:r>
          </a:p>
          <a:p>
            <a:r>
              <a:rPr lang="en-US" sz="1400" dirty="0"/>
              <a:t>[VECTO-426] fix: vectocmd.exe - log errors to STDERR</a:t>
            </a:r>
          </a:p>
          <a:p>
            <a:r>
              <a:rPr lang="en-US" sz="1400" dirty="0"/>
              <a:t>[VECTO-519] fix: computation of n95h fails for a valid full-load curve due to numerical inaccuracy. add tolerance when searching for solutions</a:t>
            </a:r>
          </a:p>
          <a:p>
            <a:r>
              <a:rPr lang="en-US" sz="1400" dirty="0"/>
              <a:t>[VECTO-520] fix: </a:t>
            </a:r>
            <a:r>
              <a:rPr lang="en-US" sz="1400" dirty="0" err="1"/>
              <a:t>gearashift</a:t>
            </a:r>
            <a:r>
              <a:rPr lang="en-US" sz="1400" dirty="0"/>
              <a:t> count in </a:t>
            </a:r>
            <a:r>
              <a:rPr lang="en-US" sz="1400" dirty="0" err="1"/>
              <a:t>vsum</a:t>
            </a:r>
            <a:r>
              <a:rPr lang="en-US" sz="1400" dirty="0"/>
              <a:t> is 0</a:t>
            </a:r>
          </a:p>
        </p:txBody>
      </p:sp>
    </p:spTree>
    <p:extLst>
      <p:ext uri="{BB962C8B-B14F-4D97-AF65-F5344CB8AC3E}">
        <p14:creationId xmlns:p14="http://schemas.microsoft.com/office/powerpoint/2010/main" val="21454717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3.1.2.810</a:t>
            </a:r>
            <a:br>
              <a:rPr lang="en-US" dirty="0"/>
            </a:br>
            <a:r>
              <a:rPr lang="en-US" sz="1600" dirty="0"/>
              <a:t>2017-01-18</a:t>
            </a:r>
          </a:p>
        </p:txBody>
      </p:sp>
      <p:sp>
        <p:nvSpPr>
          <p:cNvPr id="3" name="Inhaltsplatzhalter 2"/>
          <p:cNvSpPr>
            <a:spLocks noGrp="1"/>
          </p:cNvSpPr>
          <p:nvPr>
            <p:ph idx="1"/>
          </p:nvPr>
        </p:nvSpPr>
        <p:spPr>
          <a:xfrm>
            <a:off x="323529" y="1628800"/>
            <a:ext cx="8640960" cy="4752528"/>
          </a:xfrm>
        </p:spPr>
        <p:txBody>
          <a:bodyPr/>
          <a:lstStyle/>
          <a:p>
            <a:pPr marL="0" indent="0">
              <a:buNone/>
            </a:pPr>
            <a:r>
              <a:rPr lang="en-US" sz="1400" b="1" dirty="0"/>
              <a:t>Improvements</a:t>
            </a:r>
          </a:p>
          <a:p>
            <a:r>
              <a:rPr lang="en-US" sz="1400" dirty="0"/>
              <a:t>[VECTO-445] Additional columns in </a:t>
            </a:r>
            <a:r>
              <a:rPr lang="en-US" sz="1400" dirty="0" err="1"/>
              <a:t>vsum</a:t>
            </a:r>
            <a:r>
              <a:rPr lang="en-US" sz="1400" dirty="0"/>
              <a:t> file</a:t>
            </a:r>
          </a:p>
          <a:p>
            <a:r>
              <a:rPr lang="en-US" sz="1400" dirty="0"/>
              <a:t>Allow splitting shift losses among multiple simulation intervals</a:t>
            </a:r>
          </a:p>
          <a:p>
            <a:r>
              <a:rPr lang="en-US" sz="1400" dirty="0"/>
              <a:t>Allow coasting </a:t>
            </a:r>
            <a:r>
              <a:rPr lang="en-US" sz="1400" dirty="0" err="1"/>
              <a:t>overspeed</a:t>
            </a:r>
            <a:r>
              <a:rPr lang="en-US" sz="1400" dirty="0"/>
              <a:t> only if vehicle speed &gt; 0</a:t>
            </a:r>
          </a:p>
          <a:p>
            <a:r>
              <a:rPr lang="en-US" sz="1400" dirty="0"/>
              <a:t>Torque converter: better handling of ‘creeping’ situations</a:t>
            </a:r>
          </a:p>
          <a:p>
            <a:endParaRPr lang="en-US" sz="1400" dirty="0"/>
          </a:p>
          <a:p>
            <a:pPr marL="0" indent="0">
              <a:buNone/>
            </a:pPr>
            <a:r>
              <a:rPr lang="en-US" sz="1400" b="1" dirty="0" err="1"/>
              <a:t>Bugfixes</a:t>
            </a:r>
            <a:r>
              <a:rPr lang="en-US" sz="1400" b="1" dirty="0"/>
              <a:t>:</a:t>
            </a:r>
          </a:p>
          <a:p>
            <a:r>
              <a:rPr lang="en-US" sz="1400" dirty="0"/>
              <a:t>[VECTO-443] </a:t>
            </a:r>
            <a:r>
              <a:rPr lang="en-US" sz="1400" dirty="0" err="1"/>
              <a:t>Bugfix</a:t>
            </a:r>
            <a:r>
              <a:rPr lang="en-US" sz="1400" dirty="0"/>
              <a:t> in AMT shift strategy: skip gears not working correctly</a:t>
            </a:r>
          </a:p>
          <a:p>
            <a:endParaRPr lang="en-US" sz="1400" dirty="0"/>
          </a:p>
        </p:txBody>
      </p:sp>
    </p:spTree>
    <p:extLst>
      <p:ext uri="{BB962C8B-B14F-4D97-AF65-F5344CB8AC3E}">
        <p14:creationId xmlns:p14="http://schemas.microsoft.com/office/powerpoint/2010/main" val="40560706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3.1.2.796</a:t>
            </a:r>
            <a:br>
              <a:rPr lang="en-US" dirty="0"/>
            </a:br>
            <a:r>
              <a:rPr lang="en-US" sz="1600" dirty="0"/>
              <a:t>2017-03-07</a:t>
            </a:r>
          </a:p>
        </p:txBody>
      </p:sp>
      <p:sp>
        <p:nvSpPr>
          <p:cNvPr id="3" name="Inhaltsplatzhalter 2"/>
          <p:cNvSpPr>
            <a:spLocks noGrp="1"/>
          </p:cNvSpPr>
          <p:nvPr>
            <p:ph idx="1"/>
          </p:nvPr>
        </p:nvSpPr>
        <p:spPr>
          <a:xfrm>
            <a:off x="323529" y="1196752"/>
            <a:ext cx="8640960" cy="5184576"/>
          </a:xfrm>
        </p:spPr>
        <p:txBody>
          <a:bodyPr/>
          <a:lstStyle/>
          <a:p>
            <a:pPr marL="0" indent="0">
              <a:buNone/>
            </a:pPr>
            <a:r>
              <a:rPr lang="en-US" sz="1200" b="1" dirty="0"/>
              <a:t>Improvements:</a:t>
            </a:r>
          </a:p>
          <a:p>
            <a:r>
              <a:rPr lang="en-US" sz="1200" dirty="0"/>
              <a:t>[VECTO-405] Adding clutch-losses for AMT/MT gearboxes during drive-off, reduce drive-off distance after stop from 1m to 0.25m, set clutch closing speed (normalized) to 6.5%, changes in clutch model</a:t>
            </a:r>
          </a:p>
          <a:p>
            <a:r>
              <a:rPr lang="en-US" sz="1200" dirty="0"/>
              <a:t>[VECTO-379] Make GUI more tolerant against missing files. Instead of aborting reading the input data the GUI shows a suffix for missing input files</a:t>
            </a:r>
          </a:p>
          <a:p>
            <a:r>
              <a:rPr lang="en-US" sz="1200" dirty="0"/>
              <a:t>[VECTO-411] Allow a traction interruption of 0s for AMT/MT gearboxes</a:t>
            </a:r>
          </a:p>
          <a:p>
            <a:r>
              <a:rPr lang="en-US" sz="1200" dirty="0"/>
              <a:t>[VECTO-408] Gearbox Inertia for AT gearboxes set to 0</a:t>
            </a:r>
          </a:p>
          <a:p>
            <a:r>
              <a:rPr lang="en-US" sz="1200" dirty="0"/>
              <a:t>[VECTO-419] Adapted error messages, added list of errors</a:t>
            </a:r>
          </a:p>
          <a:p>
            <a:r>
              <a:rPr lang="en-US" sz="1200" dirty="0"/>
              <a:t>[VECTO-421,VECTO-439] Added volume-related results to </a:t>
            </a:r>
            <a:r>
              <a:rPr lang="en-US" sz="1200" dirty="0" err="1"/>
              <a:t>vsum</a:t>
            </a:r>
            <a:r>
              <a:rPr lang="en-US" sz="1200" dirty="0"/>
              <a:t> file (volume is computed based on default bodies)</a:t>
            </a:r>
          </a:p>
          <a:p>
            <a:r>
              <a:rPr lang="en-US" sz="1200" dirty="0"/>
              <a:t>[] Energy balance (</a:t>
            </a:r>
            <a:r>
              <a:rPr lang="en-US" sz="1200" dirty="0" err="1"/>
              <a:t>vsum</a:t>
            </a:r>
            <a:r>
              <a:rPr lang="en-US" sz="1200" dirty="0"/>
              <a:t>) and balance of engine power output and power consumers (</a:t>
            </a:r>
            <a:r>
              <a:rPr lang="en-US" sz="1200" dirty="0" err="1"/>
              <a:t>vmod</a:t>
            </a:r>
            <a:r>
              <a:rPr lang="en-US" sz="1200" dirty="0"/>
              <a:t>) level</a:t>
            </a:r>
          </a:p>
          <a:p>
            <a:r>
              <a:rPr lang="en-US" sz="1200" dirty="0"/>
              <a:t>[VECTO-430] AT shift strategy: upshifts may happen too early</a:t>
            </a:r>
          </a:p>
          <a:p>
            <a:r>
              <a:rPr lang="en-US" sz="1200" dirty="0"/>
              <a:t>[VECTO-431] AMT shift strategy always started in first gear due to changes in clutch model</a:t>
            </a:r>
          </a:p>
          <a:p>
            <a:r>
              <a:rPr lang="en-US" sz="1200" dirty="0"/>
              <a:t>[VECTO-433] adapt generic vehicles: use typical WHTC correction factors</a:t>
            </a:r>
          </a:p>
          <a:p>
            <a:r>
              <a:rPr lang="en-US" sz="1200" dirty="0"/>
              <a:t>[VECTO-437] set vehicle speed at clutch-closed to 1.3 m/s</a:t>
            </a:r>
          </a:p>
          <a:p>
            <a:r>
              <a:rPr lang="en-US" sz="1200" dirty="0"/>
              <a:t>[VECTO-436] fix simulation aborts with AT gearbox (neg. braking power, unexpected response, underload)</a:t>
            </a:r>
          </a:p>
          <a:p>
            <a:pPr marL="0" indent="0">
              <a:buNone/>
            </a:pPr>
            <a:r>
              <a:rPr lang="en-US" sz="1200" b="1" dirty="0" err="1"/>
              <a:t>Bugfixes</a:t>
            </a:r>
            <a:r>
              <a:rPr lang="en-US" sz="1200" b="1" dirty="0"/>
              <a:t>:</a:t>
            </a:r>
          </a:p>
          <a:p>
            <a:r>
              <a:rPr lang="en-US" sz="1200" dirty="0"/>
              <a:t>[VECTO-415] </a:t>
            </a:r>
            <a:r>
              <a:rPr lang="en-US" sz="1200" dirty="0" err="1"/>
              <a:t>Powershift</a:t>
            </a:r>
            <a:r>
              <a:rPr lang="en-US" sz="1200" dirty="0"/>
              <a:t> Losses were not considered for AT gearboxes with </a:t>
            </a:r>
            <a:r>
              <a:rPr lang="en-US" sz="1200" dirty="0" err="1"/>
              <a:t>PowerSplit</a:t>
            </a:r>
            <a:endParaRPr lang="en-US" sz="1200" dirty="0"/>
          </a:p>
          <a:p>
            <a:r>
              <a:rPr lang="en-US" sz="1200" dirty="0"/>
              <a:t>[VECTO-416] Measured Speed with gear failed when cycle contained parts with eco-roll (computation of next gear failed)</a:t>
            </a:r>
          </a:p>
          <a:p>
            <a:r>
              <a:rPr lang="en-US" sz="1200" dirty="0"/>
              <a:t>[VECTO-428] Sum of timeshares adds up to 100%</a:t>
            </a:r>
          </a:p>
          <a:p>
            <a:r>
              <a:rPr lang="en-US" sz="1200" dirty="0"/>
              <a:t>[VECTO-429] Min Velocity for </a:t>
            </a:r>
            <a:r>
              <a:rPr lang="en-US" sz="1200" dirty="0" err="1"/>
              <a:t>lookahead</a:t>
            </a:r>
            <a:r>
              <a:rPr lang="en-US" sz="1200" dirty="0"/>
              <a:t> coasting was not written to JSON file</a:t>
            </a:r>
          </a:p>
          <a:p>
            <a:pPr marL="0" indent="0">
              <a:buNone/>
            </a:pPr>
            <a:endParaRPr lang="en-US" sz="1200" dirty="0"/>
          </a:p>
        </p:txBody>
      </p:sp>
    </p:spTree>
    <p:extLst>
      <p:ext uri="{BB962C8B-B14F-4D97-AF65-F5344CB8AC3E}">
        <p14:creationId xmlns:p14="http://schemas.microsoft.com/office/powerpoint/2010/main" val="6524155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3.1.1.748</a:t>
            </a:r>
            <a:br>
              <a:rPr lang="en-US" dirty="0"/>
            </a:br>
            <a:r>
              <a:rPr lang="en-US" sz="1600" dirty="0"/>
              <a:t>2017-01-18</a:t>
            </a:r>
          </a:p>
        </p:txBody>
      </p:sp>
      <p:sp>
        <p:nvSpPr>
          <p:cNvPr id="3" name="Inhaltsplatzhalter 2"/>
          <p:cNvSpPr>
            <a:spLocks noGrp="1"/>
          </p:cNvSpPr>
          <p:nvPr>
            <p:ph idx="1"/>
          </p:nvPr>
        </p:nvSpPr>
        <p:spPr>
          <a:xfrm>
            <a:off x="323529" y="1628800"/>
            <a:ext cx="8640960" cy="4752528"/>
          </a:xfrm>
        </p:spPr>
        <p:txBody>
          <a:bodyPr/>
          <a:lstStyle/>
          <a:p>
            <a:pPr marL="0" indent="0">
              <a:buNone/>
            </a:pPr>
            <a:r>
              <a:rPr lang="en-US" sz="1400" b="1" dirty="0" err="1"/>
              <a:t>Bugfixes</a:t>
            </a:r>
            <a:r>
              <a:rPr lang="en-US" sz="1400" b="1" dirty="0"/>
              <a:t>:</a:t>
            </a:r>
          </a:p>
          <a:p>
            <a:r>
              <a:rPr lang="en-US" sz="1400" dirty="0"/>
              <a:t>[VECTO-404] Driving Cycle with PTO stopped simulation after first PTO activation</a:t>
            </a:r>
          </a:p>
        </p:txBody>
      </p:sp>
    </p:spTree>
    <p:extLst>
      <p:ext uri="{BB962C8B-B14F-4D97-AF65-F5344CB8AC3E}">
        <p14:creationId xmlns:p14="http://schemas.microsoft.com/office/powerpoint/2010/main" val="34905096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a:t> 3.1.1.742</a:t>
            </a:r>
            <a:br>
              <a:rPr lang="en-US"/>
            </a:br>
            <a:r>
              <a:rPr lang="en-US" sz="1600"/>
              <a:t>2017-01-12</a:t>
            </a:r>
            <a:endParaRPr lang="en-US" sz="1600" dirty="0"/>
          </a:p>
        </p:txBody>
      </p:sp>
      <p:sp>
        <p:nvSpPr>
          <p:cNvPr id="3" name="Inhaltsplatzhalter 2"/>
          <p:cNvSpPr>
            <a:spLocks noGrp="1"/>
          </p:cNvSpPr>
          <p:nvPr>
            <p:ph idx="1"/>
          </p:nvPr>
        </p:nvSpPr>
        <p:spPr>
          <a:xfrm>
            <a:off x="323529" y="1196752"/>
            <a:ext cx="8640960" cy="5184576"/>
          </a:xfrm>
        </p:spPr>
        <p:txBody>
          <a:bodyPr/>
          <a:lstStyle/>
          <a:p>
            <a:pPr marL="0" indent="0">
              <a:buNone/>
            </a:pPr>
            <a:r>
              <a:rPr lang="en-US" sz="1400" b="1" dirty="0"/>
              <a:t>Improvements:</a:t>
            </a:r>
          </a:p>
          <a:p>
            <a:r>
              <a:rPr lang="en-US" sz="1400" dirty="0"/>
              <a:t>[VECTO-390, VECTO-400] Adapt engine speed to estimated engine speed after gear shift during traction interruption (double clutching)</a:t>
            </a:r>
          </a:p>
          <a:p>
            <a:r>
              <a:rPr lang="en-US" sz="1400" dirty="0"/>
              <a:t>[VECTO-396, VECTO-388] Add shift losses for AT power shifts</a:t>
            </a:r>
          </a:p>
          <a:p>
            <a:r>
              <a:rPr lang="en-US" sz="1400" dirty="0"/>
              <a:t>[VECTO-389] new gear shift rules for AT gearboxes</a:t>
            </a:r>
          </a:p>
          <a:p>
            <a:r>
              <a:rPr lang="en-US" sz="1400" dirty="0"/>
              <a:t>[VECTO-387] added max input speed for torque converter</a:t>
            </a:r>
          </a:p>
          <a:p>
            <a:r>
              <a:rPr lang="en-US" sz="1400" dirty="0"/>
              <a:t>[VECTO-385] Automatically add generic torque converter data for drag</a:t>
            </a:r>
          </a:p>
          <a:p>
            <a:r>
              <a:rPr lang="en-US" sz="1400" dirty="0"/>
              <a:t>[VECTO-399] Add missions and loadings for vehicle categories 11, 12, and 16 (declaration mode)</a:t>
            </a:r>
          </a:p>
          <a:p>
            <a:r>
              <a:rPr lang="en-US" sz="1400" dirty="0"/>
              <a:t>[VECTO-384] cleanup memory after simulation run</a:t>
            </a:r>
          </a:p>
          <a:p>
            <a:r>
              <a:rPr lang="en-US" sz="1400" dirty="0"/>
              <a:t>[VECTO-394] new option for </a:t>
            </a:r>
            <a:r>
              <a:rPr lang="en-US" sz="1400" dirty="0" err="1"/>
              <a:t>vectocmd</a:t>
            </a:r>
            <a:r>
              <a:rPr lang="en-US" sz="1400" dirty="0"/>
              <a:t> to disable all output</a:t>
            </a:r>
          </a:p>
          <a:p>
            <a:r>
              <a:rPr lang="en-US" sz="1400" dirty="0"/>
              <a:t>[VECTO-392] make the GUI scale depending on the Windows font size</a:t>
            </a:r>
          </a:p>
          <a:p>
            <a:r>
              <a:rPr lang="en-US" sz="1400" dirty="0"/>
              <a:t>[VECTO-391] Gearbox output speed and output torque added to .</a:t>
            </a:r>
            <a:r>
              <a:rPr lang="en-US" sz="1400" dirty="0" err="1"/>
              <a:t>vmod</a:t>
            </a:r>
            <a:r>
              <a:rPr lang="en-US" sz="1400" dirty="0"/>
              <a:t> files</a:t>
            </a:r>
          </a:p>
          <a:p>
            <a:r>
              <a:rPr lang="en-US" sz="1400" dirty="0"/>
              <a:t>[VECTO-386] Gearbox window: disable input fields not applicable for the selected gearbox type</a:t>
            </a:r>
          </a:p>
          <a:p>
            <a:pPr marL="0" indent="0">
              <a:buNone/>
            </a:pPr>
            <a:r>
              <a:rPr lang="en-US" sz="1400" b="1" dirty="0" err="1"/>
              <a:t>Bugfixes</a:t>
            </a:r>
            <a:r>
              <a:rPr lang="en-US" sz="1400" b="1" dirty="0"/>
              <a:t>:</a:t>
            </a:r>
          </a:p>
          <a:p>
            <a:r>
              <a:rPr lang="en-US" sz="1400" dirty="0"/>
              <a:t>[VECTO-401] Computation of n_95h etc. fails if engine’s max torque is constant 0 </a:t>
            </a:r>
          </a:p>
          <a:p>
            <a:r>
              <a:rPr lang="en-US" sz="1400" dirty="0"/>
              <a:t>Lookup of </a:t>
            </a:r>
            <a:r>
              <a:rPr lang="en-US" sz="1400" dirty="0" err="1"/>
              <a:t>Airdrag</a:t>
            </a:r>
            <a:r>
              <a:rPr lang="en-US" sz="1400" dirty="0"/>
              <a:t> parameters in declaration mode</a:t>
            </a:r>
          </a:p>
          <a:p>
            <a:r>
              <a:rPr lang="en-US" sz="1400" dirty="0"/>
              <a:t>[VECTO-378] Improved file-handling in AAUX module</a:t>
            </a:r>
          </a:p>
        </p:txBody>
      </p:sp>
    </p:spTree>
    <p:extLst>
      <p:ext uri="{BB962C8B-B14F-4D97-AF65-F5344CB8AC3E}">
        <p14:creationId xmlns:p14="http://schemas.microsoft.com/office/powerpoint/2010/main" val="25208355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3.1.0.683</a:t>
            </a:r>
            <a:br>
              <a:rPr lang="en-US" dirty="0"/>
            </a:br>
            <a:r>
              <a:rPr lang="en-US" sz="1600" dirty="0"/>
              <a:t>2016-11-14</a:t>
            </a:r>
          </a:p>
        </p:txBody>
      </p:sp>
      <p:sp>
        <p:nvSpPr>
          <p:cNvPr id="3" name="Inhaltsplatzhalter 2"/>
          <p:cNvSpPr>
            <a:spLocks noGrp="1"/>
          </p:cNvSpPr>
          <p:nvPr>
            <p:ph idx="1"/>
          </p:nvPr>
        </p:nvSpPr>
        <p:spPr>
          <a:xfrm>
            <a:off x="323529" y="1196752"/>
            <a:ext cx="8640960" cy="5184576"/>
          </a:xfrm>
        </p:spPr>
        <p:txBody>
          <a:bodyPr/>
          <a:lstStyle/>
          <a:p>
            <a:pPr marL="0" indent="0">
              <a:buNone/>
            </a:pPr>
            <a:r>
              <a:rPr lang="en-US" sz="1600" b="1" dirty="0" err="1"/>
              <a:t>Bugfixes</a:t>
            </a:r>
            <a:r>
              <a:rPr lang="en-US" sz="1600" b="1" dirty="0"/>
              <a:t>:</a:t>
            </a:r>
          </a:p>
          <a:p>
            <a:r>
              <a:rPr lang="en-US" sz="1600" dirty="0"/>
              <a:t>[VECTO-375] Fixed bug when braking during slope change from negative to positive values.</a:t>
            </a:r>
          </a:p>
          <a:p>
            <a:r>
              <a:rPr lang="en-US" sz="1600" dirty="0"/>
              <a:t>[VECTO-372] Added check for unusual acceleration/deceleration data which could lead to error when halting.</a:t>
            </a:r>
          </a:p>
          <a:p>
            <a:r>
              <a:rPr lang="en-US" sz="1600" dirty="0"/>
              <a:t>[VECTO-371] Added additional behavior to overcome such situations</a:t>
            </a:r>
          </a:p>
          <a:p>
            <a:r>
              <a:rPr lang="en-US" sz="1600" dirty="0"/>
              <a:t>[VECTO-370] Added additional behavior to overcome such situations</a:t>
            </a:r>
          </a:p>
          <a:p>
            <a:r>
              <a:rPr lang="en-US" sz="1600" dirty="0"/>
              <a:t>[VECTO-369] </a:t>
            </a:r>
            <a:r>
              <a:rPr lang="en-US" sz="1600" dirty="0" err="1"/>
              <a:t>CrosswindCorrection</a:t>
            </a:r>
            <a:r>
              <a:rPr lang="en-US" sz="1600" dirty="0"/>
              <a:t> is now saved and read again from JSON files</a:t>
            </a:r>
          </a:p>
          <a:p>
            <a:r>
              <a:rPr lang="en-US" sz="1600" dirty="0"/>
              <a:t>[VECTO-373] WHTC-Engineering correction factor now correctly read/write in JSON files</a:t>
            </a:r>
          </a:p>
          <a:p>
            <a:r>
              <a:rPr lang="en-US" sz="1600" dirty="0"/>
              <a:t>[VECTO-368] Fixed validation for specific cases when values are intentionally invalid.</a:t>
            </a:r>
          </a:p>
          <a:p>
            <a:r>
              <a:rPr lang="en-US" sz="1600" dirty="0"/>
              <a:t>[VECTO-357] Updated GUI to not show ECO-Roll option to avoid confusion</a:t>
            </a:r>
          </a:p>
          <a:p>
            <a:r>
              <a:rPr lang="en-US" sz="1600" dirty="0"/>
              <a:t>Fixed numerous bugs in AT-</a:t>
            </a:r>
            <a:r>
              <a:rPr lang="en-US" sz="1600" dirty="0" err="1"/>
              <a:t>ShiftStrategy</a:t>
            </a:r>
            <a:r>
              <a:rPr lang="en-US" sz="1600" dirty="0"/>
              <a:t> regarding the Torque Converter</a:t>
            </a:r>
          </a:p>
          <a:p>
            <a:r>
              <a:rPr lang="en-US" sz="1600" dirty="0"/>
              <a:t>Fixed numerous bugs in </a:t>
            </a:r>
            <a:r>
              <a:rPr lang="en-US" sz="1600" dirty="0" err="1"/>
              <a:t>MeasuredSpeed</a:t>
            </a:r>
            <a:r>
              <a:rPr lang="en-US" sz="1600" dirty="0"/>
              <a:t> Mode (and </a:t>
            </a:r>
            <a:r>
              <a:rPr lang="en-US" sz="1600" dirty="0" err="1"/>
              <a:t>MeasuredSpeed</a:t>
            </a:r>
            <a:r>
              <a:rPr lang="en-US" sz="1600" dirty="0"/>
              <a:t> with Gear) in connection with AT-Gearbox and </a:t>
            </a:r>
            <a:r>
              <a:rPr lang="en-US" sz="1600" dirty="0" err="1"/>
              <a:t>TorqueConverter</a:t>
            </a:r>
            <a:endParaRPr lang="en-US" sz="1600" dirty="0"/>
          </a:p>
          <a:p>
            <a:r>
              <a:rPr lang="en-US" sz="1600" dirty="0"/>
              <a:t>Fixed a bug when PTO-Cycle was missing</a:t>
            </a:r>
          </a:p>
          <a:p>
            <a:r>
              <a:rPr lang="en-US" sz="1600" dirty="0"/>
              <a:t>Corrected axle loss maps for Generic Vehicles in Declaration Mode to match technical annex</a:t>
            </a:r>
          </a:p>
          <a:p>
            <a:r>
              <a:rPr lang="en-US" sz="1600" dirty="0"/>
              <a:t>Corrected </a:t>
            </a:r>
            <a:r>
              <a:rPr lang="en-US" sz="1600" dirty="0" err="1"/>
              <a:t>SumFile</a:t>
            </a:r>
            <a:r>
              <a:rPr lang="en-US" sz="1600" dirty="0"/>
              <a:t> Cruise Time Share. Added that timeshares must add up to 100%</a:t>
            </a:r>
          </a:p>
          <a:p>
            <a:pPr marL="0" indent="0">
              <a:buNone/>
            </a:pPr>
            <a:endParaRPr lang="en-US" sz="1600" dirty="0"/>
          </a:p>
        </p:txBody>
      </p:sp>
    </p:spTree>
    <p:extLst>
      <p:ext uri="{BB962C8B-B14F-4D97-AF65-F5344CB8AC3E}">
        <p14:creationId xmlns:p14="http://schemas.microsoft.com/office/powerpoint/2010/main" val="26170151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p:cNvSpPr>
            <a:spLocks noGrp="1"/>
          </p:cNvSpPr>
          <p:nvPr>
            <p:ph idx="1"/>
          </p:nvPr>
        </p:nvSpPr>
        <p:spPr>
          <a:xfrm>
            <a:off x="468315" y="1412776"/>
            <a:ext cx="8496173" cy="4968552"/>
          </a:xfrm>
        </p:spPr>
        <p:txBody>
          <a:bodyPr/>
          <a:lstStyle/>
          <a:p>
            <a:pPr marL="0" indent="0">
              <a:buNone/>
            </a:pPr>
            <a:r>
              <a:rPr lang="en-US" sz="1600" b="1" dirty="0"/>
              <a:t>Improvements:</a:t>
            </a:r>
          </a:p>
          <a:p>
            <a:r>
              <a:rPr lang="en-US" sz="1600" dirty="0"/>
              <a:t>[VECTO-355] Updated documentation, added powertrain schematics in chapter "Simulation Models"</a:t>
            </a:r>
          </a:p>
          <a:p>
            <a:r>
              <a:rPr lang="en-US" sz="1600" dirty="0"/>
              <a:t>[VECTO-374] Check range for Torque Converter speed ratio input data to be at least between 0 and 2.2</a:t>
            </a:r>
          </a:p>
          <a:p>
            <a:r>
              <a:rPr lang="en-US" sz="1600" dirty="0"/>
              <a:t>Updated many error messages to be more explicit about the reason of error</a:t>
            </a:r>
          </a:p>
          <a:p>
            <a:r>
              <a:rPr lang="en-US" sz="1600" dirty="0"/>
              <a:t>Added "Mission Profiles" Directory with driving cycles publicly available in the application root directory.</a:t>
            </a:r>
          </a:p>
          <a:p>
            <a:r>
              <a:rPr lang="en-US" sz="1600" dirty="0"/>
              <a:t>Added "Declaration" directory with the declaration data files in the application root directory.</a:t>
            </a:r>
          </a:p>
          <a:p>
            <a:r>
              <a:rPr lang="en-US" sz="1600" dirty="0"/>
              <a:t>Added warning when engine inertia is 0</a:t>
            </a:r>
          </a:p>
          <a:p>
            <a:r>
              <a:rPr lang="en-US" sz="1600" dirty="0"/>
              <a:t>Added check that engine speed must not fall below idle speed (even in measured speed mode)</a:t>
            </a:r>
          </a:p>
          <a:p>
            <a:r>
              <a:rPr lang="en-US" sz="1600" dirty="0"/>
              <a:t>Shift curve validation for AT gearboxes: shift curves may now overlap due to different shift logic in </a:t>
            </a:r>
            <a:r>
              <a:rPr lang="en-US" sz="1600" dirty="0" err="1"/>
              <a:t>AutomaticTransmissions</a:t>
            </a:r>
            <a:r>
              <a:rPr lang="en-US" sz="1600" dirty="0"/>
              <a:t>.</a:t>
            </a:r>
          </a:p>
          <a:p>
            <a:r>
              <a:rPr lang="en-US" sz="1600" dirty="0"/>
              <a:t>Updated Crosswind Coefficients for </a:t>
            </a:r>
            <a:r>
              <a:rPr lang="de-AT" sz="1600" dirty="0" err="1"/>
              <a:t>Tractor+Semitrailer</a:t>
            </a:r>
            <a:endParaRPr lang="en-US" sz="1600" dirty="0"/>
          </a:p>
          <a:p>
            <a:endParaRPr lang="en-US" sz="1600" dirty="0"/>
          </a:p>
        </p:txBody>
      </p:sp>
      <p:sp>
        <p:nvSpPr>
          <p:cNvPr id="5" name="Titel 1"/>
          <p:cNvSpPr txBox="1">
            <a:spLocks/>
          </p:cNvSpPr>
          <p:nvPr/>
        </p:nvSpPr>
        <p:spPr bwMode="auto">
          <a:xfrm>
            <a:off x="468315" y="476672"/>
            <a:ext cx="8218487" cy="6810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b="1">
                <a:solidFill>
                  <a:srgbClr val="990000"/>
                </a:solidFill>
                <a:latin typeface="+mj-lt"/>
                <a:ea typeface="+mj-ea"/>
                <a:cs typeface="+mj-cs"/>
              </a:defRPr>
            </a:lvl1pPr>
            <a:lvl2pPr algn="ctr" rtl="0" eaLnBrk="0" fontAlgn="base" hangingPunct="0">
              <a:spcBef>
                <a:spcPct val="0"/>
              </a:spcBef>
              <a:spcAft>
                <a:spcPct val="0"/>
              </a:spcAft>
              <a:defRPr sz="2400" b="1">
                <a:solidFill>
                  <a:srgbClr val="990000"/>
                </a:solidFill>
                <a:latin typeface="Arial" pitchFamily="34" charset="0"/>
              </a:defRPr>
            </a:lvl2pPr>
            <a:lvl3pPr algn="ctr" rtl="0" eaLnBrk="0" fontAlgn="base" hangingPunct="0">
              <a:spcBef>
                <a:spcPct val="0"/>
              </a:spcBef>
              <a:spcAft>
                <a:spcPct val="0"/>
              </a:spcAft>
              <a:defRPr sz="2400" b="1">
                <a:solidFill>
                  <a:srgbClr val="990000"/>
                </a:solidFill>
                <a:latin typeface="Arial" pitchFamily="34" charset="0"/>
              </a:defRPr>
            </a:lvl3pPr>
            <a:lvl4pPr algn="ctr" rtl="0" eaLnBrk="0" fontAlgn="base" hangingPunct="0">
              <a:spcBef>
                <a:spcPct val="0"/>
              </a:spcBef>
              <a:spcAft>
                <a:spcPct val="0"/>
              </a:spcAft>
              <a:defRPr sz="2400" b="1">
                <a:solidFill>
                  <a:srgbClr val="990000"/>
                </a:solidFill>
                <a:latin typeface="Arial" pitchFamily="34" charset="0"/>
              </a:defRPr>
            </a:lvl4pPr>
            <a:lvl5pPr algn="ctr" rtl="0" eaLnBrk="0" fontAlgn="base" hangingPunct="0">
              <a:spcBef>
                <a:spcPct val="0"/>
              </a:spcBef>
              <a:spcAft>
                <a:spcPct val="0"/>
              </a:spcAft>
              <a:defRPr sz="2400" b="1">
                <a:solidFill>
                  <a:srgbClr val="990000"/>
                </a:solidFill>
                <a:latin typeface="Arial" pitchFamily="34" charset="0"/>
              </a:defRPr>
            </a:lvl5pPr>
            <a:lvl6pPr marL="457200" algn="ctr" rtl="0" fontAlgn="base">
              <a:spcBef>
                <a:spcPct val="0"/>
              </a:spcBef>
              <a:spcAft>
                <a:spcPct val="0"/>
              </a:spcAft>
              <a:defRPr sz="2400" b="1">
                <a:solidFill>
                  <a:srgbClr val="990000"/>
                </a:solidFill>
                <a:latin typeface="Arial" pitchFamily="34" charset="0"/>
              </a:defRPr>
            </a:lvl6pPr>
            <a:lvl7pPr marL="914400" algn="ctr" rtl="0" fontAlgn="base">
              <a:spcBef>
                <a:spcPct val="0"/>
              </a:spcBef>
              <a:spcAft>
                <a:spcPct val="0"/>
              </a:spcAft>
              <a:defRPr sz="2400" b="1">
                <a:solidFill>
                  <a:srgbClr val="990000"/>
                </a:solidFill>
                <a:latin typeface="Arial" pitchFamily="34" charset="0"/>
              </a:defRPr>
            </a:lvl7pPr>
            <a:lvl8pPr marL="1371600" algn="ctr" rtl="0" fontAlgn="base">
              <a:spcBef>
                <a:spcPct val="0"/>
              </a:spcBef>
              <a:spcAft>
                <a:spcPct val="0"/>
              </a:spcAft>
              <a:defRPr sz="2400" b="1">
                <a:solidFill>
                  <a:srgbClr val="990000"/>
                </a:solidFill>
                <a:latin typeface="Arial" pitchFamily="34" charset="0"/>
              </a:defRPr>
            </a:lvl8pPr>
            <a:lvl9pPr marL="1828800" algn="ctr" rtl="0" fontAlgn="base">
              <a:spcBef>
                <a:spcPct val="0"/>
              </a:spcBef>
              <a:spcAft>
                <a:spcPct val="0"/>
              </a:spcAft>
              <a:defRPr sz="2400" b="1">
                <a:solidFill>
                  <a:srgbClr val="990000"/>
                </a:solidFill>
                <a:latin typeface="Arial" pitchFamily="34" charset="0"/>
              </a:defRPr>
            </a:lvl9pPr>
          </a:lstStyle>
          <a:p>
            <a:r>
              <a:rPr lang="en-US" kern="0"/>
              <a:t>Vecto 3.1.0.683</a:t>
            </a:r>
            <a:br>
              <a:rPr lang="en-US" kern="0"/>
            </a:br>
            <a:r>
              <a:rPr lang="en-US" sz="1600" kern="0"/>
              <a:t>2016-11-14</a:t>
            </a:r>
            <a:endParaRPr lang="en-US" sz="1600" kern="0" dirty="0"/>
          </a:p>
        </p:txBody>
      </p:sp>
    </p:spTree>
    <p:extLst>
      <p:ext uri="{BB962C8B-B14F-4D97-AF65-F5344CB8AC3E}">
        <p14:creationId xmlns:p14="http://schemas.microsoft.com/office/powerpoint/2010/main" val="7502648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err="1"/>
              <a:t>Vecto</a:t>
            </a:r>
            <a:r>
              <a:rPr lang="en-US" dirty="0"/>
              <a:t> 3.1.0.662</a:t>
            </a:r>
            <a:br>
              <a:rPr lang="en-US" dirty="0"/>
            </a:br>
            <a:r>
              <a:rPr lang="en-US" sz="1600" dirty="0"/>
              <a:t>2016-10-24</a:t>
            </a:r>
          </a:p>
        </p:txBody>
      </p:sp>
      <p:sp>
        <p:nvSpPr>
          <p:cNvPr id="3" name="Inhaltsplatzhalter 2"/>
          <p:cNvSpPr>
            <a:spLocks noGrp="1"/>
          </p:cNvSpPr>
          <p:nvPr>
            <p:ph idx="1"/>
          </p:nvPr>
        </p:nvSpPr>
        <p:spPr>
          <a:xfrm>
            <a:off x="468315" y="1412776"/>
            <a:ext cx="8496173" cy="4968552"/>
          </a:xfrm>
        </p:spPr>
        <p:txBody>
          <a:bodyPr/>
          <a:lstStyle/>
          <a:p>
            <a:r>
              <a:rPr lang="en-US" sz="1800" b="1" dirty="0" err="1"/>
              <a:t>Bugfixes</a:t>
            </a:r>
            <a:r>
              <a:rPr lang="en-US" sz="1800" dirty="0"/>
              <a:t>:</a:t>
            </a:r>
          </a:p>
          <a:p>
            <a:pPr lvl="1"/>
            <a:r>
              <a:rPr lang="en-US" sz="1600" dirty="0"/>
              <a:t>[VECTO-360] Fixed error during startup of VECTO (loading of DLLs).</a:t>
            </a:r>
          </a:p>
          <a:p>
            <a:pPr lvl="1"/>
            <a:r>
              <a:rPr lang="en-US" sz="1600" dirty="0"/>
              <a:t>[VECTO-358] Fixed errors during simulation where vehicle unintentionally was driving backwards. Fixed 1Hz-Filter for </a:t>
            </a:r>
            <a:r>
              <a:rPr lang="en-US" sz="1600" dirty="0" err="1"/>
              <a:t>ModFiles</a:t>
            </a:r>
            <a:r>
              <a:rPr lang="en-US" sz="1600" dirty="0"/>
              <a:t> (distance was wrong under certain circumstances, vehicle seemingly jumping back before halt)</a:t>
            </a:r>
          </a:p>
          <a:p>
            <a:pPr lvl="1"/>
            <a:r>
              <a:rPr lang="en-US" sz="1600" dirty="0"/>
              <a:t>[VECTO-361] Fixed classification of vehicles with GVM of exactly 7500kg</a:t>
            </a:r>
          </a:p>
          <a:p>
            <a:pPr lvl="1"/>
            <a:r>
              <a:rPr lang="en-US" sz="1600" dirty="0"/>
              <a:t>[VECTO-364] Fixed an error in measured speed mode (run aborts).</a:t>
            </a:r>
          </a:p>
          <a:p>
            <a:pPr lvl="1"/>
            <a:r>
              <a:rPr lang="en-US" sz="1600" dirty="0"/>
              <a:t>[VECTO-363] Compute shift polygons in declaration mode now uses correct boundary for full load margin.</a:t>
            </a:r>
          </a:p>
          <a:p>
            <a:pPr lvl="1"/>
            <a:r>
              <a:rPr lang="en-US" sz="1600" dirty="0"/>
              <a:t>[VECTO-365] Fixed editing gears in declaration mode</a:t>
            </a:r>
          </a:p>
          <a:p>
            <a:r>
              <a:rPr lang="en-US" sz="1800" b="1" dirty="0"/>
              <a:t>Improvements</a:t>
            </a:r>
            <a:r>
              <a:rPr lang="en-US" sz="1800" dirty="0"/>
              <a:t>:</a:t>
            </a:r>
          </a:p>
          <a:p>
            <a:pPr lvl="1"/>
            <a:r>
              <a:rPr lang="en-US" sz="1600" dirty="0"/>
              <a:t>[VECTO-355] User Manual updated (Screenshots, Descriptions, File Formats, </a:t>
            </a:r>
            <a:r>
              <a:rPr lang="en-US" sz="1600" dirty="0" err="1"/>
              <a:t>Vecto</a:t>
            </a:r>
            <a:r>
              <a:rPr lang="en-US" sz="1600" dirty="0"/>
              <a:t> V2 Comments removed).</a:t>
            </a:r>
          </a:p>
          <a:p>
            <a:pPr lvl="1"/>
            <a:r>
              <a:rPr lang="en-US" sz="1600" dirty="0"/>
              <a:t>[VECTO-317] Declaration data for Wheel sizes updated</a:t>
            </a:r>
          </a:p>
          <a:p>
            <a:pPr lvl="1"/>
            <a:r>
              <a:rPr lang="en-US" sz="1600" dirty="0"/>
              <a:t>[VECTO-359] Simplified code regarding PT1 behavior.</a:t>
            </a:r>
          </a:p>
          <a:p>
            <a:pPr lvl="1"/>
            <a:r>
              <a:rPr lang="en-US" sz="1600" dirty="0"/>
              <a:t>[VECTO-323] PTO-Cycle may now be left empty when not used in driving cycle.</a:t>
            </a:r>
          </a:p>
        </p:txBody>
      </p:sp>
    </p:spTree>
    <p:extLst>
      <p:ext uri="{BB962C8B-B14F-4D97-AF65-F5344CB8AC3E}">
        <p14:creationId xmlns:p14="http://schemas.microsoft.com/office/powerpoint/2010/main" val="38927240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err="1"/>
              <a:t>Vecto</a:t>
            </a:r>
            <a:r>
              <a:rPr lang="en-US" dirty="0"/>
              <a:t> 3.1.0.652</a:t>
            </a:r>
            <a:br>
              <a:rPr lang="en-US" dirty="0"/>
            </a:br>
            <a:r>
              <a:rPr lang="en-US" sz="1600" dirty="0"/>
              <a:t>2016-10-14</a:t>
            </a:r>
          </a:p>
        </p:txBody>
      </p:sp>
      <p:sp>
        <p:nvSpPr>
          <p:cNvPr id="3" name="Inhaltsplatzhalter 2"/>
          <p:cNvSpPr>
            <a:spLocks noGrp="1"/>
          </p:cNvSpPr>
          <p:nvPr>
            <p:ph idx="1"/>
          </p:nvPr>
        </p:nvSpPr>
        <p:spPr>
          <a:xfrm>
            <a:off x="468315" y="1412776"/>
            <a:ext cx="8496173" cy="4713387"/>
          </a:xfrm>
        </p:spPr>
        <p:txBody>
          <a:bodyPr/>
          <a:lstStyle/>
          <a:p>
            <a:r>
              <a:rPr lang="en-US" dirty="0"/>
              <a:t>Main Updates</a:t>
            </a:r>
          </a:p>
          <a:p>
            <a:pPr lvl="1"/>
            <a:r>
              <a:rPr lang="en-US" dirty="0"/>
              <a:t>Removed VECTO Core 2.2</a:t>
            </a:r>
          </a:p>
          <a:p>
            <a:pPr lvl="1"/>
            <a:r>
              <a:rPr lang="en-US" dirty="0"/>
              <a:t>Refactoring of the User-Interface Backend: loading, saving files and validating user input uses </a:t>
            </a:r>
            <a:r>
              <a:rPr lang="en-US" dirty="0" err="1"/>
              <a:t>Vecto</a:t>
            </a:r>
            <a:r>
              <a:rPr lang="en-US" dirty="0"/>
              <a:t> 3 models</a:t>
            </a:r>
          </a:p>
          <a:p>
            <a:pPr lvl="1"/>
            <a:r>
              <a:rPr lang="en-US" dirty="0"/>
              <a:t>AT-Gearbox Model: differentiate between AT gearbox with serial torque converter and AT gearbox using </a:t>
            </a:r>
            <a:r>
              <a:rPr lang="en-US" dirty="0" err="1"/>
              <a:t>powersplit</a:t>
            </a:r>
            <a:endParaRPr lang="en-US" dirty="0"/>
          </a:p>
          <a:p>
            <a:pPr lvl="1"/>
            <a:r>
              <a:rPr lang="en-US" dirty="0"/>
              <a:t>Numbering of gears with AT gearbox corresponds to mechanical gears, new column </a:t>
            </a:r>
            <a:r>
              <a:rPr lang="en-US" dirty="0" err="1"/>
              <a:t>TC_locked</a:t>
            </a:r>
            <a:r>
              <a:rPr lang="en-US" dirty="0"/>
              <a:t> in .</a:t>
            </a:r>
            <a:r>
              <a:rPr lang="en-US" dirty="0" err="1"/>
              <a:t>vmod</a:t>
            </a:r>
            <a:r>
              <a:rPr lang="en-US" dirty="0"/>
              <a:t> file to indicate if torque converter is active</a:t>
            </a:r>
          </a:p>
          <a:p>
            <a:pPr lvl="1"/>
            <a:r>
              <a:rPr lang="en-US" dirty="0"/>
              <a:t>Torque converter gear no longer allowed in input (added by </a:t>
            </a:r>
            <a:r>
              <a:rPr lang="en-US" dirty="0" err="1"/>
              <a:t>Vecto</a:t>
            </a:r>
            <a:r>
              <a:rPr lang="en-US" dirty="0"/>
              <a:t> depending on the AT model)</a:t>
            </a:r>
          </a:p>
          <a:p>
            <a:pPr lvl="1"/>
            <a:r>
              <a:rPr lang="en-US" dirty="0"/>
              <a:t>New implementation of torque converter model (analytic solutions)</a:t>
            </a:r>
          </a:p>
          <a:p>
            <a:pPr lvl="1"/>
            <a:r>
              <a:rPr lang="en-US" dirty="0"/>
              <a:t>Added PTO option for municipal utility vehicles: PTO idle losses, separate PTO cycle during standstill</a:t>
            </a:r>
          </a:p>
          <a:p>
            <a:pPr lvl="1"/>
            <a:r>
              <a:rPr lang="en-US" dirty="0"/>
              <a:t>Added </a:t>
            </a:r>
            <a:r>
              <a:rPr lang="en-US" dirty="0" err="1"/>
              <a:t>Angledrive</a:t>
            </a:r>
            <a:r>
              <a:rPr lang="en-US" dirty="0"/>
              <a:t> Component</a:t>
            </a:r>
          </a:p>
          <a:p>
            <a:pPr lvl="1"/>
            <a:r>
              <a:rPr lang="en-US" dirty="0"/>
              <a:t>Option for constant Auxiliary Power Demand in Job-File</a:t>
            </a:r>
          </a:p>
        </p:txBody>
      </p:sp>
    </p:spTree>
    <p:extLst>
      <p:ext uri="{BB962C8B-B14F-4D97-AF65-F5344CB8AC3E}">
        <p14:creationId xmlns:p14="http://schemas.microsoft.com/office/powerpoint/2010/main" val="35954454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err="1"/>
              <a:t>Vecto</a:t>
            </a:r>
            <a:r>
              <a:rPr lang="en-US" dirty="0"/>
              <a:t> 3.1.0.652</a:t>
            </a:r>
            <a:br>
              <a:rPr lang="en-US" dirty="0"/>
            </a:br>
            <a:r>
              <a:rPr lang="en-US" sz="1600" dirty="0"/>
              <a:t>2016-10-14</a:t>
            </a:r>
          </a:p>
        </p:txBody>
      </p:sp>
      <p:sp>
        <p:nvSpPr>
          <p:cNvPr id="3" name="Inhaltsplatzhalter 2"/>
          <p:cNvSpPr>
            <a:spLocks noGrp="1"/>
          </p:cNvSpPr>
          <p:nvPr>
            <p:ph idx="1"/>
          </p:nvPr>
        </p:nvSpPr>
        <p:spPr>
          <a:xfrm>
            <a:off x="468315" y="1268760"/>
            <a:ext cx="8496173" cy="4857403"/>
          </a:xfrm>
        </p:spPr>
        <p:txBody>
          <a:bodyPr/>
          <a:lstStyle/>
          <a:p>
            <a:r>
              <a:rPr lang="en-US" dirty="0"/>
              <a:t>Main Updates (cont.)</a:t>
            </a:r>
          </a:p>
          <a:p>
            <a:pPr lvl="1"/>
            <a:r>
              <a:rPr lang="en-US" dirty="0"/>
              <a:t>Normalize x/y values before triangulating Delaunay map (transmission loss-maps, fuel consumption loss map)</a:t>
            </a:r>
          </a:p>
          <a:p>
            <a:pPr lvl="1"/>
            <a:r>
              <a:rPr lang="en-US" dirty="0"/>
              <a:t>Additional fuel consumption correction factor in declaration mode: cold/hot balancing factor</a:t>
            </a:r>
          </a:p>
          <a:p>
            <a:pPr lvl="1"/>
            <a:r>
              <a:rPr lang="en-US" dirty="0"/>
              <a:t>Added fuel consumption correction factor (WHTC, Cold/Hot balancing, …) in engineering mode</a:t>
            </a:r>
          </a:p>
          <a:p>
            <a:pPr lvl="1"/>
            <a:r>
              <a:rPr lang="en-US" dirty="0"/>
              <a:t>Update auxiliaries power demand according to latest </a:t>
            </a:r>
            <a:r>
              <a:rPr lang="en-US" dirty="0" err="1"/>
              <a:t>whitebook</a:t>
            </a:r>
            <a:endParaRPr lang="en-US" dirty="0"/>
          </a:p>
          <a:p>
            <a:pPr lvl="1"/>
            <a:r>
              <a:rPr lang="en-US" dirty="0"/>
              <a:t>Allow multiple steered axles</a:t>
            </a:r>
          </a:p>
          <a:p>
            <a:pPr lvl="1"/>
            <a:r>
              <a:rPr lang="en-US" dirty="0"/>
              <a:t>Adapted engine idle controller (during declutch) – engine speed decreases faster</a:t>
            </a:r>
          </a:p>
          <a:p>
            <a:pPr lvl="1"/>
            <a:r>
              <a:rPr lang="en-US" dirty="0"/>
              <a:t>SUM-File: split </a:t>
            </a:r>
            <a:r>
              <a:rPr lang="en-US" dirty="0" err="1"/>
              <a:t>E_axl_gbx</a:t>
            </a:r>
            <a:r>
              <a:rPr lang="en-US" dirty="0"/>
              <a:t> into two columns, </a:t>
            </a:r>
            <a:r>
              <a:rPr lang="en-US" dirty="0" err="1"/>
              <a:t>E_axl</a:t>
            </a:r>
            <a:r>
              <a:rPr lang="en-US" dirty="0"/>
              <a:t> and </a:t>
            </a:r>
            <a:r>
              <a:rPr lang="en-US" dirty="0" err="1"/>
              <a:t>E_gbx</a:t>
            </a:r>
            <a:endParaRPr lang="en-US" dirty="0"/>
          </a:p>
          <a:p>
            <a:pPr lvl="1"/>
            <a:r>
              <a:rPr lang="en-US" dirty="0"/>
              <a:t>New columns in mod-file: PTO, torque converter</a:t>
            </a:r>
          </a:p>
          <a:p>
            <a:pPr lvl="1"/>
            <a:r>
              <a:rPr lang="en-US" dirty="0"/>
              <a:t>Removed full-load curve per gear, only single value </a:t>
            </a:r>
            <a:r>
              <a:rPr lang="en-US" dirty="0" err="1"/>
              <a:t>MaxTorque</a:t>
            </a:r>
            <a:endParaRPr lang="en-US" dirty="0"/>
          </a:p>
          <a:p>
            <a:pPr lvl="1"/>
            <a:r>
              <a:rPr lang="en-US" dirty="0"/>
              <a:t>Removed rims (dynamic wheel radius depends on wheel type)</a:t>
            </a:r>
          </a:p>
          <a:p>
            <a:pPr lvl="1"/>
            <a:r>
              <a:rPr lang="en-US" dirty="0"/>
              <a:t>Fixes in AAUX module: open correct file-browser, save selected files</a:t>
            </a:r>
          </a:p>
          <a:p>
            <a:pPr lvl="1"/>
            <a:endParaRPr lang="en-US" dirty="0"/>
          </a:p>
        </p:txBody>
      </p:sp>
    </p:spTree>
    <p:extLst>
      <p:ext uri="{BB962C8B-B14F-4D97-AF65-F5344CB8AC3E}">
        <p14:creationId xmlns:p14="http://schemas.microsoft.com/office/powerpoint/2010/main" val="30031125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296532" y="476672"/>
            <a:ext cx="8451932" cy="576064"/>
          </a:xfrm>
        </p:spPr>
        <p:txBody>
          <a:bodyPr/>
          <a:lstStyle/>
          <a:p>
            <a:pPr algn="l"/>
            <a:r>
              <a:rPr lang="en-US" dirty="0"/>
              <a:t>Status quo VECTO software and open issues (Oct. 2016)</a:t>
            </a:r>
          </a:p>
        </p:txBody>
      </p:sp>
      <p:sp>
        <p:nvSpPr>
          <p:cNvPr id="3" name="Textfeld 2"/>
          <p:cNvSpPr txBox="1"/>
          <p:nvPr/>
        </p:nvSpPr>
        <p:spPr>
          <a:xfrm>
            <a:off x="323528" y="908720"/>
            <a:ext cx="8496944" cy="400110"/>
          </a:xfrm>
          <a:prstGeom prst="rect">
            <a:avLst/>
          </a:prstGeom>
          <a:noFill/>
        </p:spPr>
        <p:txBody>
          <a:bodyPr wrap="square" rtlCol="0">
            <a:spAutoFit/>
          </a:bodyPr>
          <a:lstStyle/>
          <a:p>
            <a:pPr algn="l"/>
            <a:r>
              <a:rPr lang="de-AT" sz="2000" dirty="0"/>
              <a:t>Next </a:t>
            </a:r>
            <a:r>
              <a:rPr lang="de-AT" sz="2000" dirty="0" err="1"/>
              <a:t>issues</a:t>
            </a:r>
            <a:r>
              <a:rPr lang="de-AT" sz="2000" dirty="0"/>
              <a:t> on </a:t>
            </a:r>
            <a:r>
              <a:rPr lang="de-AT" sz="2000" dirty="0" err="1"/>
              <a:t>the</a:t>
            </a:r>
            <a:r>
              <a:rPr lang="de-AT" sz="2000" dirty="0"/>
              <a:t> </a:t>
            </a:r>
            <a:r>
              <a:rPr lang="de-AT" sz="2000" dirty="0" err="1"/>
              <a:t>to</a:t>
            </a:r>
            <a:r>
              <a:rPr lang="de-AT" sz="2000" dirty="0"/>
              <a:t> do </a:t>
            </a:r>
            <a:r>
              <a:rPr lang="de-AT" sz="2000" dirty="0" err="1"/>
              <a:t>list</a:t>
            </a:r>
            <a:endParaRPr lang="de-AT" sz="2000" dirty="0"/>
          </a:p>
        </p:txBody>
      </p:sp>
      <p:sp>
        <p:nvSpPr>
          <p:cNvPr id="7" name="Textfeld 6"/>
          <p:cNvSpPr txBox="1"/>
          <p:nvPr/>
        </p:nvSpPr>
        <p:spPr>
          <a:xfrm>
            <a:off x="539552" y="1484784"/>
            <a:ext cx="8352928" cy="5093702"/>
          </a:xfrm>
          <a:prstGeom prst="rect">
            <a:avLst/>
          </a:prstGeom>
          <a:noFill/>
        </p:spPr>
        <p:txBody>
          <a:bodyPr wrap="square" rtlCol="0">
            <a:spAutoFit/>
          </a:bodyPr>
          <a:lstStyle/>
          <a:p>
            <a:pPr marL="285750" indent="-285750" algn="l">
              <a:buFont typeface="Arial" panose="020B0604020202020204" pitchFamily="34" charset="0"/>
              <a:buChar char="•"/>
            </a:pPr>
            <a:r>
              <a:rPr lang="en-GB" sz="1400" dirty="0"/>
              <a:t>Further development of the AT model</a:t>
            </a:r>
            <a:br>
              <a:rPr lang="en-GB" sz="1400" dirty="0"/>
            </a:br>
            <a:r>
              <a:rPr lang="en-GB" sz="1400" b="0" dirty="0"/>
              <a:t>Consideration of losses during power shifts, update of gear shift logics</a:t>
            </a:r>
          </a:p>
          <a:p>
            <a:pPr marL="285750" indent="-285750" algn="l">
              <a:buFont typeface="Arial" panose="020B0604020202020204" pitchFamily="34" charset="0"/>
              <a:buChar char="•"/>
            </a:pPr>
            <a:r>
              <a:rPr lang="en-GB" sz="1400" dirty="0"/>
              <a:t>Reimplementation of engine stop/start</a:t>
            </a:r>
          </a:p>
          <a:p>
            <a:pPr marL="285750" indent="-285750" algn="l">
              <a:buFont typeface="Arial" panose="020B0604020202020204" pitchFamily="34" charset="0"/>
              <a:buChar char="•"/>
            </a:pPr>
            <a:r>
              <a:rPr lang="en-GB" sz="1400" dirty="0"/>
              <a:t>Declaration mode: implementation of EMS vehicle configurations</a:t>
            </a:r>
          </a:p>
          <a:p>
            <a:pPr marL="285750" indent="-285750" algn="l">
              <a:buFont typeface="Arial" panose="020B0604020202020204" pitchFamily="34" charset="0"/>
              <a:buChar char="•"/>
            </a:pPr>
            <a:endParaRPr lang="en-GB" sz="1400" dirty="0"/>
          </a:p>
          <a:p>
            <a:pPr algn="l"/>
            <a:r>
              <a:rPr lang="en-GB" sz="1400" u="sng" dirty="0"/>
              <a:t>Items waiting for decision on methods and resources:</a:t>
            </a:r>
          </a:p>
          <a:p>
            <a:pPr marL="285750" indent="-285750" algn="l">
              <a:buFont typeface="Arial" panose="020B0604020202020204" pitchFamily="34" charset="0"/>
              <a:buChar char="•"/>
            </a:pPr>
            <a:r>
              <a:rPr lang="en-GB" sz="1400" dirty="0"/>
              <a:t>Update engine data (according to update of Annex II)</a:t>
            </a:r>
            <a:br>
              <a:rPr lang="en-GB" sz="1400" dirty="0"/>
            </a:br>
            <a:r>
              <a:rPr lang="en-GB" sz="1400" b="0" dirty="0"/>
              <a:t>Other fuels than diesel, “top torque” feature, correction factor for periodic </a:t>
            </a:r>
            <a:r>
              <a:rPr lang="en-GB" sz="1400" b="0" dirty="0" err="1"/>
              <a:t>regerating</a:t>
            </a:r>
            <a:r>
              <a:rPr lang="en-GB" sz="1400" b="0" dirty="0"/>
              <a:t> DPFs</a:t>
            </a:r>
          </a:p>
          <a:p>
            <a:pPr marL="285750" indent="-285750" algn="l">
              <a:buFont typeface="Arial" panose="020B0604020202020204" pitchFamily="34" charset="0"/>
              <a:buChar char="•"/>
            </a:pPr>
            <a:r>
              <a:rPr lang="en-GB" sz="1400" dirty="0"/>
              <a:t>Declaration mode: </a:t>
            </a:r>
          </a:p>
          <a:p>
            <a:pPr marL="742950" lvl="1" indent="-285750" algn="l">
              <a:spcBef>
                <a:spcPts val="300"/>
              </a:spcBef>
              <a:buFont typeface="Arial" panose="020B0604020202020204" pitchFamily="34" charset="0"/>
              <a:buChar char="•"/>
            </a:pPr>
            <a:r>
              <a:rPr lang="en-GB" sz="1400" dirty="0"/>
              <a:t>Revision of calculated vehicle loads</a:t>
            </a:r>
          </a:p>
          <a:p>
            <a:pPr marL="742950" lvl="1" indent="-285750" algn="l">
              <a:spcBef>
                <a:spcPts val="300"/>
              </a:spcBef>
              <a:buFont typeface="Arial" panose="020B0604020202020204" pitchFamily="34" charset="0"/>
              <a:buChar char="•"/>
            </a:pPr>
            <a:r>
              <a:rPr lang="en-GB" sz="1400" dirty="0"/>
              <a:t>implementation of refuse cycle (instead “municipal”)</a:t>
            </a:r>
            <a:br>
              <a:rPr lang="en-GB" sz="1400" dirty="0"/>
            </a:br>
            <a:r>
              <a:rPr lang="en-GB" sz="1400" b="0" dirty="0"/>
              <a:t>Update of driving cycle, consideration of generic PTO loads during collection part,</a:t>
            </a:r>
            <a:br>
              <a:rPr lang="en-GB" sz="1400" b="0" dirty="0"/>
            </a:br>
            <a:r>
              <a:rPr lang="en-GB" sz="1400" b="0" dirty="0"/>
              <a:t>generic body weight and payload</a:t>
            </a:r>
          </a:p>
          <a:p>
            <a:pPr marL="742950" lvl="1" indent="-285750" algn="l">
              <a:spcBef>
                <a:spcPts val="300"/>
              </a:spcBef>
              <a:buFont typeface="Arial" panose="020B0604020202020204" pitchFamily="34" charset="0"/>
              <a:buChar char="•"/>
            </a:pPr>
            <a:r>
              <a:rPr lang="en-GB" sz="1400" dirty="0"/>
              <a:t>VECTO output (approval authorities, customer info, monitoring)</a:t>
            </a:r>
          </a:p>
          <a:p>
            <a:pPr marL="742950" lvl="1" indent="-285750" algn="l">
              <a:spcBef>
                <a:spcPts val="300"/>
              </a:spcBef>
              <a:buFont typeface="Arial" panose="020B0604020202020204" pitchFamily="34" charset="0"/>
              <a:buChar char="•"/>
            </a:pPr>
            <a:r>
              <a:rPr lang="en-GB" sz="1400" dirty="0"/>
              <a:t>Buses</a:t>
            </a:r>
            <a:endParaRPr lang="en-GB" sz="1400" b="0" dirty="0"/>
          </a:p>
          <a:p>
            <a:pPr marL="285750" indent="-285750" algn="l">
              <a:buFont typeface="Arial" panose="020B0604020202020204" pitchFamily="34" charset="0"/>
              <a:buChar char="•"/>
            </a:pPr>
            <a:r>
              <a:rPr lang="en-GB" sz="1400" dirty="0"/>
              <a:t>Predictive ADAS</a:t>
            </a:r>
          </a:p>
          <a:p>
            <a:pPr marL="285750" indent="-285750" algn="l">
              <a:buFont typeface="Arial" panose="020B0604020202020204" pitchFamily="34" charset="0"/>
              <a:buChar char="•"/>
            </a:pPr>
            <a:endParaRPr lang="en-GB" sz="1400" dirty="0"/>
          </a:p>
          <a:p>
            <a:pPr marL="285750" indent="-285750" algn="l">
              <a:buFont typeface="Arial" panose="020B0604020202020204" pitchFamily="34" charset="0"/>
              <a:buChar char="•"/>
            </a:pPr>
            <a:endParaRPr lang="en-GB" sz="1400" dirty="0"/>
          </a:p>
        </p:txBody>
      </p:sp>
    </p:spTree>
    <p:extLst>
      <p:ext uri="{BB962C8B-B14F-4D97-AF65-F5344CB8AC3E}">
        <p14:creationId xmlns:p14="http://schemas.microsoft.com/office/powerpoint/2010/main" val="41393297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err="1"/>
              <a:t>Vecto</a:t>
            </a:r>
            <a:r>
              <a:rPr lang="en-US" dirty="0"/>
              <a:t> 3.0.4.565</a:t>
            </a:r>
            <a:br>
              <a:rPr lang="en-US" dirty="0"/>
            </a:br>
            <a:r>
              <a:rPr lang="en-US" sz="1600" dirty="0"/>
              <a:t>2016-07-19</a:t>
            </a:r>
            <a:endParaRPr lang="en-US" dirty="0"/>
          </a:p>
        </p:txBody>
      </p:sp>
      <p:sp>
        <p:nvSpPr>
          <p:cNvPr id="3" name="Inhaltsplatzhalter 2"/>
          <p:cNvSpPr>
            <a:spLocks noGrp="1"/>
          </p:cNvSpPr>
          <p:nvPr>
            <p:ph idx="1"/>
          </p:nvPr>
        </p:nvSpPr>
        <p:spPr/>
        <p:txBody>
          <a:bodyPr/>
          <a:lstStyle/>
          <a:p>
            <a:r>
              <a:rPr lang="en-US" dirty="0" err="1"/>
              <a:t>Bugfixes</a:t>
            </a:r>
            <a:endParaRPr lang="en-US" dirty="0"/>
          </a:p>
          <a:p>
            <a:pPr lvl="1"/>
            <a:r>
              <a:rPr lang="en-US" dirty="0"/>
              <a:t>AAUX HVAC Dialog does not store path to </a:t>
            </a:r>
            <a:r>
              <a:rPr lang="en-US" dirty="0" err="1"/>
              <a:t>ActuationsMap</a:t>
            </a:r>
            <a:r>
              <a:rPr lang="en-US" dirty="0"/>
              <a:t> and </a:t>
            </a:r>
            <a:r>
              <a:rPr lang="en-US" dirty="0" err="1"/>
              <a:t>SSMSource</a:t>
            </a:r>
            <a:endParaRPr lang="en-US" dirty="0"/>
          </a:p>
          <a:p>
            <a:pPr lvl="1"/>
            <a:r>
              <a:rPr lang="en-US"/>
              <a:t>GUI</a:t>
            </a:r>
            <a:r>
              <a:rPr lang="en-US" dirty="0"/>
              <a:t>: check for axle loads in declaration mode renders editing dialog useless </a:t>
            </a:r>
          </a:p>
          <a:p>
            <a:pPr lvl="1"/>
            <a:r>
              <a:rPr lang="en-US" dirty="0" err="1"/>
              <a:t>Vecto</a:t>
            </a:r>
            <a:r>
              <a:rPr lang="en-US" dirty="0"/>
              <a:t> 2.2: Simulation aborts (</a:t>
            </a:r>
            <a:r>
              <a:rPr lang="en-US" dirty="0" err="1"/>
              <a:t>Vecto</a:t>
            </a:r>
            <a:r>
              <a:rPr lang="en-US" dirty="0"/>
              <a:t> terminates) when simulating </a:t>
            </a:r>
            <a:r>
              <a:rPr lang="en-US" dirty="0" err="1"/>
              <a:t>EngineOnly</a:t>
            </a:r>
            <a:r>
              <a:rPr lang="en-US" dirty="0"/>
              <a:t> cycles</a:t>
            </a:r>
          </a:p>
          <a:p>
            <a:pPr lvl="1"/>
            <a:r>
              <a:rPr lang="en-US" dirty="0" err="1"/>
              <a:t>Vecto</a:t>
            </a:r>
            <a:r>
              <a:rPr lang="en-US" dirty="0"/>
              <a:t> 3: Building </a:t>
            </a:r>
            <a:r>
              <a:rPr lang="en-US" dirty="0" err="1"/>
              <a:t>SimulationRun</a:t>
            </a:r>
            <a:r>
              <a:rPr lang="en-US" dirty="0"/>
              <a:t> </a:t>
            </a:r>
            <a:r>
              <a:rPr lang="en-US" dirty="0" err="1"/>
              <a:t>EngineOnly</a:t>
            </a:r>
            <a:r>
              <a:rPr lang="en-US" dirty="0"/>
              <a:t> simulation failed</a:t>
            </a:r>
          </a:p>
        </p:txBody>
      </p:sp>
    </p:spTree>
    <p:extLst>
      <p:ext uri="{BB962C8B-B14F-4D97-AF65-F5344CB8AC3E}">
        <p14:creationId xmlns:p14="http://schemas.microsoft.com/office/powerpoint/2010/main" val="14219820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786383"/>
            <a:ext cx="8218487" cy="482377"/>
          </a:xfrm>
        </p:spPr>
        <p:txBody>
          <a:bodyPr/>
          <a:lstStyle/>
          <a:p>
            <a:r>
              <a:rPr lang="en-US" dirty="0" err="1"/>
              <a:t>Vecto</a:t>
            </a:r>
            <a:r>
              <a:rPr lang="en-US" dirty="0"/>
              <a:t> 3.0.4.544</a:t>
            </a:r>
            <a:br>
              <a:rPr lang="en-US" dirty="0"/>
            </a:br>
            <a:r>
              <a:rPr lang="en-US" sz="1600" dirty="0"/>
              <a:t>2016-06-28</a:t>
            </a:r>
            <a:endParaRPr lang="en-US" dirty="0"/>
          </a:p>
        </p:txBody>
      </p:sp>
      <p:sp>
        <p:nvSpPr>
          <p:cNvPr id="3" name="Inhaltsplatzhalter 2"/>
          <p:cNvSpPr>
            <a:spLocks noGrp="1"/>
          </p:cNvSpPr>
          <p:nvPr>
            <p:ph idx="1"/>
          </p:nvPr>
        </p:nvSpPr>
        <p:spPr>
          <a:xfrm>
            <a:off x="539553" y="1628800"/>
            <a:ext cx="8064896" cy="4353347"/>
          </a:xfrm>
        </p:spPr>
        <p:txBody>
          <a:bodyPr/>
          <a:lstStyle/>
          <a:p>
            <a:r>
              <a:rPr lang="en-US" dirty="0"/>
              <a:t>Main Updates</a:t>
            </a:r>
          </a:p>
          <a:p>
            <a:pPr lvl="1"/>
            <a:r>
              <a:rPr lang="en-US" dirty="0"/>
              <a:t>New gear shift strategy according to White Book 2016</a:t>
            </a:r>
          </a:p>
          <a:p>
            <a:pPr lvl="1"/>
            <a:r>
              <a:rPr lang="en-US" dirty="0"/>
              <a:t>New coasting strategy according to White Book 2016</a:t>
            </a:r>
          </a:p>
          <a:p>
            <a:pPr lvl="1"/>
            <a:r>
              <a:rPr lang="en-US" dirty="0"/>
              <a:t>New input parameters (</a:t>
            </a:r>
            <a:r>
              <a:rPr lang="en-US" dirty="0" err="1"/>
              <a:t>enineering</a:t>
            </a:r>
            <a:r>
              <a:rPr lang="en-US" dirty="0"/>
              <a:t> mode) for coasting and gear shift behavior</a:t>
            </a:r>
          </a:p>
          <a:p>
            <a:pPr lvl="1"/>
            <a:r>
              <a:rPr lang="en-US" dirty="0"/>
              <a:t>Use SI units in Advanced Auxiliaries Module and compile with strict compiler settings (no implicit casts, etc.)</a:t>
            </a:r>
          </a:p>
          <a:p>
            <a:pPr lvl="1"/>
            <a:r>
              <a:rPr lang="en-US" dirty="0"/>
              <a:t>Allow efficiency for transmission losses (in engineering mode)</a:t>
            </a:r>
          </a:p>
          <a:p>
            <a:endParaRPr lang="en-US" dirty="0"/>
          </a:p>
          <a:p>
            <a:r>
              <a:rPr lang="en-US" dirty="0" err="1"/>
              <a:t>Bugfixes</a:t>
            </a:r>
            <a:endParaRPr lang="en-US" dirty="0"/>
          </a:p>
          <a:p>
            <a:pPr lvl="1"/>
            <a:r>
              <a:rPr lang="en-US" dirty="0"/>
              <a:t>Auxiliary </a:t>
            </a:r>
            <a:r>
              <a:rPr lang="en-US" dirty="0" err="1"/>
              <a:t>TechList</a:t>
            </a:r>
            <a:r>
              <a:rPr lang="en-US" dirty="0"/>
              <a:t> not read from JSON input data</a:t>
            </a:r>
          </a:p>
          <a:p>
            <a:pPr lvl="1"/>
            <a:r>
              <a:rPr lang="en-US" dirty="0"/>
              <a:t>Improvements in driver strategy</a:t>
            </a:r>
          </a:p>
          <a:p>
            <a:pPr lvl="1"/>
            <a:r>
              <a:rPr lang="en-US" dirty="0" err="1"/>
              <a:t>Bugfixes</a:t>
            </a:r>
            <a:r>
              <a:rPr lang="en-US" dirty="0"/>
              <a:t> in </a:t>
            </a:r>
            <a:r>
              <a:rPr lang="en-US" dirty="0" err="1"/>
              <a:t>MeasuredSpeed</a:t>
            </a:r>
            <a:r>
              <a:rPr lang="en-US" dirty="0"/>
              <a:t> mode</a:t>
            </a:r>
          </a:p>
        </p:txBody>
      </p:sp>
    </p:spTree>
    <p:extLst>
      <p:ext uri="{BB962C8B-B14F-4D97-AF65-F5344CB8AC3E}">
        <p14:creationId xmlns:p14="http://schemas.microsoft.com/office/powerpoint/2010/main" val="39979102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Notes for using </a:t>
            </a:r>
            <a:r>
              <a:rPr lang="en-US" dirty="0" err="1"/>
              <a:t>Vecto</a:t>
            </a:r>
            <a:r>
              <a:rPr lang="en-US" dirty="0"/>
              <a:t> 3.x with AAUX (1)</a:t>
            </a:r>
          </a:p>
        </p:txBody>
      </p:sp>
      <p:sp>
        <p:nvSpPr>
          <p:cNvPr id="3" name="Inhaltsplatzhalter 2"/>
          <p:cNvSpPr>
            <a:spLocks noGrp="1"/>
          </p:cNvSpPr>
          <p:nvPr>
            <p:ph idx="1"/>
          </p:nvPr>
        </p:nvSpPr>
        <p:spPr/>
        <p:txBody>
          <a:bodyPr/>
          <a:lstStyle/>
          <a:p>
            <a:r>
              <a:rPr lang="en-US" dirty="0"/>
              <a:t>The </a:t>
            </a:r>
            <a:r>
              <a:rPr lang="en-US" dirty="0" err="1"/>
              <a:t>AdvancedAuxiliaries</a:t>
            </a:r>
            <a:r>
              <a:rPr lang="en-US" dirty="0"/>
              <a:t> module requires the number of activations for pneumatic consumers (brakes, doors, kneeling) and the (estimated) total cycle time. This can be configured in the .APAC-file (actuations file). For standard bus/coach cycles (i.e., the cycle file contains “bus” </a:t>
            </a:r>
            <a:r>
              <a:rPr lang="en-US" b="1" dirty="0"/>
              <a:t>and</a:t>
            </a:r>
            <a:r>
              <a:rPr lang="en-US" dirty="0"/>
              <a:t> “</a:t>
            </a:r>
            <a:r>
              <a:rPr lang="en-US" dirty="0" err="1"/>
              <a:t>heavy_urban</a:t>
            </a:r>
            <a:r>
              <a:rPr lang="en-US" dirty="0"/>
              <a:t>” or “suburban” or “interurban” or “urban”; </a:t>
            </a:r>
            <a:r>
              <a:rPr lang="en-US" b="1" dirty="0"/>
              <a:t>or</a:t>
            </a:r>
            <a:r>
              <a:rPr lang="en-US" dirty="0"/>
              <a:t> the cycle contains “coach” (</a:t>
            </a:r>
            <a:r>
              <a:rPr lang="en-US" i="1" dirty="0"/>
              <a:t>case insensitive</a:t>
            </a:r>
            <a:r>
              <a:rPr lang="en-US" dirty="0"/>
              <a:t>)) the actuations file already contains the number of activations and the cycle time. For other cycles the filename without extension is used to lookup the activations in the .APAC file (</a:t>
            </a:r>
            <a:r>
              <a:rPr lang="en-US" i="1" dirty="0"/>
              <a:t>case sensitive</a:t>
            </a:r>
            <a:r>
              <a:rPr lang="en-US" dirty="0"/>
              <a:t>)</a:t>
            </a:r>
          </a:p>
        </p:txBody>
      </p:sp>
    </p:spTree>
    <p:extLst>
      <p:ext uri="{BB962C8B-B14F-4D97-AF65-F5344CB8AC3E}">
        <p14:creationId xmlns:p14="http://schemas.microsoft.com/office/powerpoint/2010/main" val="37500136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7544" y="548680"/>
            <a:ext cx="8218487" cy="504056"/>
          </a:xfrm>
        </p:spPr>
        <p:txBody>
          <a:bodyPr/>
          <a:lstStyle/>
          <a:p>
            <a:r>
              <a:rPr lang="en-US" dirty="0"/>
              <a:t>Notes for using </a:t>
            </a:r>
            <a:r>
              <a:rPr lang="en-US" dirty="0" err="1"/>
              <a:t>Vecto</a:t>
            </a:r>
            <a:r>
              <a:rPr lang="en-US" dirty="0"/>
              <a:t> 3.x with AAUX (2)</a:t>
            </a:r>
          </a:p>
        </p:txBody>
      </p:sp>
      <p:sp>
        <p:nvSpPr>
          <p:cNvPr id="3" name="Inhaltsplatzhalter 2"/>
          <p:cNvSpPr>
            <a:spLocks noGrp="1"/>
          </p:cNvSpPr>
          <p:nvPr>
            <p:ph idx="1"/>
          </p:nvPr>
        </p:nvSpPr>
        <p:spPr>
          <a:xfrm>
            <a:off x="179511" y="1124744"/>
            <a:ext cx="8856985" cy="5328592"/>
          </a:xfrm>
        </p:spPr>
        <p:txBody>
          <a:bodyPr/>
          <a:lstStyle/>
          <a:p>
            <a:r>
              <a:rPr lang="en-US" dirty="0" err="1"/>
              <a:t>Vecto</a:t>
            </a:r>
            <a:r>
              <a:rPr lang="en-US" dirty="0"/>
              <a:t> 3 uses an average auxiliaries load (determined by the AAUX module depending on the settings) for the simulation. The AAUX module computes the fuel consumption in parallel to </a:t>
            </a:r>
            <a:r>
              <a:rPr lang="en-US" dirty="0" err="1"/>
              <a:t>VectoCore</a:t>
            </a:r>
            <a:r>
              <a:rPr lang="en-US" dirty="0"/>
              <a:t> and accounts for smart consumers (e.g., alternator, pneumatics, …).</a:t>
            </a:r>
          </a:p>
          <a:p>
            <a:r>
              <a:rPr lang="en-US" dirty="0"/>
              <a:t>Output</a:t>
            </a:r>
          </a:p>
          <a:p>
            <a:pPr lvl="1"/>
            <a:r>
              <a:rPr lang="en-US" dirty="0"/>
              <a:t>The .</a:t>
            </a:r>
            <a:r>
              <a:rPr lang="en-US" dirty="0" err="1"/>
              <a:t>vmod</a:t>
            </a:r>
            <a:r>
              <a:rPr lang="en-US" dirty="0"/>
              <a:t> file contains both, the fuel consumption calculated by </a:t>
            </a:r>
            <a:r>
              <a:rPr lang="en-US" dirty="0" err="1"/>
              <a:t>VectoCore</a:t>
            </a:r>
            <a:r>
              <a:rPr lang="en-US" dirty="0"/>
              <a:t> (per simulation interval) and AAUX (accumulated and per simulation interval).</a:t>
            </a:r>
            <a:br>
              <a:rPr lang="en-US" dirty="0"/>
            </a:br>
            <a:r>
              <a:rPr lang="en-US" dirty="0"/>
              <a:t>Columns in .</a:t>
            </a:r>
            <a:r>
              <a:rPr lang="en-US" dirty="0" err="1"/>
              <a:t>vmod</a:t>
            </a:r>
            <a:r>
              <a:rPr lang="en-US" dirty="0"/>
              <a:t> file:</a:t>
            </a:r>
          </a:p>
          <a:p>
            <a:pPr lvl="2"/>
            <a:r>
              <a:rPr lang="en-US" dirty="0" err="1"/>
              <a:t>AA_TotalCycleFC_Grams</a:t>
            </a:r>
            <a:r>
              <a:rPr lang="en-US" dirty="0"/>
              <a:t> [g]: accumulated fuel consumption as computed by the AAUX model, considering smart consumers</a:t>
            </a:r>
          </a:p>
          <a:p>
            <a:pPr lvl="2"/>
            <a:r>
              <a:rPr lang="en-US" dirty="0"/>
              <a:t>FC-Map [g/h]: fuel consumption as computed by </a:t>
            </a:r>
            <a:r>
              <a:rPr lang="en-US" dirty="0" err="1"/>
              <a:t>VectoCore</a:t>
            </a:r>
            <a:r>
              <a:rPr lang="en-US" dirty="0"/>
              <a:t> interpolating in the FC-Map, using an average base load of auxiliaries</a:t>
            </a:r>
          </a:p>
          <a:p>
            <a:pPr lvl="2"/>
            <a:r>
              <a:rPr lang="en-US" dirty="0"/>
              <a:t>FC-</a:t>
            </a:r>
            <a:r>
              <a:rPr lang="en-US" dirty="0" err="1"/>
              <a:t>AUXc</a:t>
            </a:r>
            <a:r>
              <a:rPr lang="en-US" dirty="0"/>
              <a:t> [g/h]: fuel consumption corrected due to engine stop/start (currently not applicable)</a:t>
            </a:r>
          </a:p>
          <a:p>
            <a:pPr lvl="2"/>
            <a:r>
              <a:rPr lang="en-US" dirty="0"/>
              <a:t>FC-</a:t>
            </a:r>
            <a:r>
              <a:rPr lang="en-US" dirty="0" err="1"/>
              <a:t>WHTCc</a:t>
            </a:r>
            <a:r>
              <a:rPr lang="en-US" dirty="0"/>
              <a:t> [g/h]: WHTC-corrected fuel consumption (not applicable in engineering mode)</a:t>
            </a:r>
          </a:p>
          <a:p>
            <a:pPr lvl="2"/>
            <a:r>
              <a:rPr lang="en-US" dirty="0"/>
              <a:t>FC-AAUX [g/h]: fuel consumption per simulation interval, derived from </a:t>
            </a:r>
            <a:r>
              <a:rPr lang="en-US" dirty="0" err="1"/>
              <a:t>AA_TotalCycleFC_Grams</a:t>
            </a:r>
            <a:endParaRPr lang="en-US" dirty="0"/>
          </a:p>
          <a:p>
            <a:pPr lvl="2"/>
            <a:r>
              <a:rPr lang="en-US" dirty="0"/>
              <a:t>FC-Final [g/h]: final fuel consumption value with all (applicable) corrections applied (stop/start, WHTC, smart auxiliaries)</a:t>
            </a:r>
          </a:p>
        </p:txBody>
      </p:sp>
    </p:spTree>
    <p:extLst>
      <p:ext uri="{BB962C8B-B14F-4D97-AF65-F5344CB8AC3E}">
        <p14:creationId xmlns:p14="http://schemas.microsoft.com/office/powerpoint/2010/main" val="19499192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7544" y="548680"/>
            <a:ext cx="8218487" cy="504056"/>
          </a:xfrm>
        </p:spPr>
        <p:txBody>
          <a:bodyPr/>
          <a:lstStyle/>
          <a:p>
            <a:r>
              <a:rPr lang="en-US" dirty="0"/>
              <a:t>Notes for using </a:t>
            </a:r>
            <a:r>
              <a:rPr lang="en-US" dirty="0" err="1"/>
              <a:t>Vecto</a:t>
            </a:r>
            <a:r>
              <a:rPr lang="en-US" dirty="0"/>
              <a:t> 3.x with AAUX (3)</a:t>
            </a:r>
          </a:p>
        </p:txBody>
      </p:sp>
      <p:sp>
        <p:nvSpPr>
          <p:cNvPr id="3" name="Inhaltsplatzhalter 2"/>
          <p:cNvSpPr>
            <a:spLocks noGrp="1"/>
          </p:cNvSpPr>
          <p:nvPr>
            <p:ph idx="1"/>
          </p:nvPr>
        </p:nvSpPr>
        <p:spPr>
          <a:xfrm>
            <a:off x="251521" y="1628800"/>
            <a:ext cx="8640959" cy="4608512"/>
          </a:xfrm>
        </p:spPr>
        <p:txBody>
          <a:bodyPr/>
          <a:lstStyle/>
          <a:p>
            <a:r>
              <a:rPr lang="en-US" dirty="0"/>
              <a:t>Output .</a:t>
            </a:r>
            <a:r>
              <a:rPr lang="en-US" dirty="0" err="1"/>
              <a:t>vsum</a:t>
            </a:r>
            <a:endParaRPr lang="en-US" dirty="0"/>
          </a:p>
          <a:p>
            <a:pPr lvl="1"/>
            <a:r>
              <a:rPr lang="en-US" dirty="0"/>
              <a:t>Columns in .</a:t>
            </a:r>
            <a:r>
              <a:rPr lang="en-US" dirty="0" err="1"/>
              <a:t>vsum</a:t>
            </a:r>
            <a:r>
              <a:rPr lang="en-US" dirty="0"/>
              <a:t> file:</a:t>
            </a:r>
          </a:p>
          <a:p>
            <a:pPr lvl="2"/>
            <a:r>
              <a:rPr lang="en-US" dirty="0"/>
              <a:t>FC-Map: total fuel consumption as computed by </a:t>
            </a:r>
            <a:r>
              <a:rPr lang="en-US" dirty="0" err="1"/>
              <a:t>VectoCore</a:t>
            </a:r>
            <a:r>
              <a:rPr lang="en-US" dirty="0"/>
              <a:t> interpolating in the FC-Map, using an average base load of auxiliaries</a:t>
            </a:r>
          </a:p>
          <a:p>
            <a:pPr lvl="2"/>
            <a:r>
              <a:rPr lang="en-US" dirty="0"/>
              <a:t>FC-</a:t>
            </a:r>
            <a:r>
              <a:rPr lang="en-US" dirty="0" err="1"/>
              <a:t>AUXc</a:t>
            </a:r>
            <a:r>
              <a:rPr lang="en-US" dirty="0"/>
              <a:t>: total fuel consumption corrected due to engine stop/start (currently not applicable)</a:t>
            </a:r>
          </a:p>
          <a:p>
            <a:pPr lvl="2"/>
            <a:r>
              <a:rPr lang="en-US" dirty="0"/>
              <a:t>FC-</a:t>
            </a:r>
            <a:r>
              <a:rPr lang="en-US" dirty="0" err="1"/>
              <a:t>WHTCc</a:t>
            </a:r>
            <a:r>
              <a:rPr lang="en-US" dirty="0"/>
              <a:t>: WHTC-corrected fuel consumption (not applicable in engineering mode)</a:t>
            </a:r>
          </a:p>
          <a:p>
            <a:pPr lvl="2"/>
            <a:r>
              <a:rPr lang="en-US" dirty="0"/>
              <a:t>FC-AAUX: fuel consumption per simulation interval, derived from </a:t>
            </a:r>
            <a:r>
              <a:rPr lang="en-US" dirty="0" err="1"/>
              <a:t>AA_TotalCycleFC_Grams</a:t>
            </a:r>
            <a:endParaRPr lang="en-US" dirty="0"/>
          </a:p>
          <a:p>
            <a:pPr lvl="2"/>
            <a:r>
              <a:rPr lang="en-US" dirty="0"/>
              <a:t>FC-Final: final fuel consumption value with all (applicable) corrections applied (stop/start, WHTC, smart auxiliaries)</a:t>
            </a:r>
          </a:p>
        </p:txBody>
      </p:sp>
    </p:spTree>
    <p:extLst>
      <p:ext uri="{BB962C8B-B14F-4D97-AF65-F5344CB8AC3E}">
        <p14:creationId xmlns:p14="http://schemas.microsoft.com/office/powerpoint/2010/main" val="1202051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570359"/>
            <a:ext cx="8218487" cy="482377"/>
          </a:xfrm>
        </p:spPr>
        <p:txBody>
          <a:bodyPr/>
          <a:lstStyle/>
          <a:p>
            <a:r>
              <a:rPr lang="en-US" dirty="0" err="1"/>
              <a:t>Vecto</a:t>
            </a:r>
            <a:r>
              <a:rPr lang="en-US" dirty="0"/>
              <a:t> 3.0.3.537</a:t>
            </a:r>
            <a:br>
              <a:rPr lang="en-US" dirty="0"/>
            </a:br>
            <a:r>
              <a:rPr lang="en-US" sz="1600" dirty="0"/>
              <a:t>2016-06-21</a:t>
            </a:r>
            <a:endParaRPr lang="en-US" dirty="0"/>
          </a:p>
        </p:txBody>
      </p:sp>
      <p:sp>
        <p:nvSpPr>
          <p:cNvPr id="3" name="Inhaltsplatzhalter 2"/>
          <p:cNvSpPr>
            <a:spLocks noGrp="1"/>
          </p:cNvSpPr>
          <p:nvPr>
            <p:ph idx="1"/>
          </p:nvPr>
        </p:nvSpPr>
        <p:spPr>
          <a:xfrm>
            <a:off x="179512" y="1124744"/>
            <a:ext cx="8784975" cy="4857403"/>
          </a:xfrm>
        </p:spPr>
        <p:txBody>
          <a:bodyPr/>
          <a:lstStyle/>
          <a:p>
            <a:r>
              <a:rPr lang="en-US" dirty="0"/>
              <a:t>Main Updates</a:t>
            </a:r>
          </a:p>
          <a:p>
            <a:pPr lvl="1"/>
            <a:r>
              <a:rPr lang="en-US" dirty="0"/>
              <a:t>Plot shift lines as computed according to WB 2016 declaration mode in GUI</a:t>
            </a:r>
          </a:p>
          <a:p>
            <a:r>
              <a:rPr lang="en-US" dirty="0" err="1"/>
              <a:t>Bugfixes</a:t>
            </a:r>
            <a:endParaRPr lang="en-US" dirty="0"/>
          </a:p>
          <a:p>
            <a:pPr lvl="1"/>
            <a:r>
              <a:rPr lang="en-US" dirty="0"/>
              <a:t>GUI: Buttons to add/remove auxiliaries are visible again</a:t>
            </a:r>
          </a:p>
          <a:p>
            <a:pPr lvl="1"/>
            <a:r>
              <a:rPr lang="en-US" dirty="0"/>
              <a:t>Error in calculation of WHTC correction factor</a:t>
            </a:r>
          </a:p>
          <a:p>
            <a:pPr lvl="1"/>
            <a:r>
              <a:rPr lang="en-US" dirty="0"/>
              <a:t>Fix: consider gearbox inertia (engineering mode) for searching operating point</a:t>
            </a:r>
          </a:p>
          <a:p>
            <a:pPr lvl="1"/>
            <a:r>
              <a:rPr lang="en-US" dirty="0"/>
              <a:t>Wrong output of road gradient in measured speed mode (correct gradient for simulation)</a:t>
            </a:r>
          </a:p>
          <a:p>
            <a:pPr lvl="1"/>
            <a:r>
              <a:rPr lang="en-US" dirty="0"/>
              <a:t>Fuel consumption in .</a:t>
            </a:r>
            <a:r>
              <a:rPr lang="en-US" dirty="0" err="1"/>
              <a:t>vsum</a:t>
            </a:r>
            <a:r>
              <a:rPr lang="en-US" dirty="0"/>
              <a:t> file now accounts for </a:t>
            </a:r>
            <a:r>
              <a:rPr lang="en-US" dirty="0" err="1"/>
              <a:t>AdvancedAuxiliaries</a:t>
            </a:r>
            <a:r>
              <a:rPr lang="en-US" dirty="0"/>
              <a:t> model</a:t>
            </a:r>
          </a:p>
          <a:p>
            <a:pPr lvl="1"/>
            <a:r>
              <a:rPr lang="en-US" dirty="0" err="1"/>
              <a:t>GraphDrawer</a:t>
            </a:r>
            <a:r>
              <a:rPr lang="en-US" dirty="0"/>
              <a:t> (</a:t>
            </a:r>
            <a:r>
              <a:rPr lang="en-US" dirty="0" err="1"/>
              <a:t>Vecto</a:t>
            </a:r>
            <a:r>
              <a:rPr lang="en-US" dirty="0"/>
              <a:t>): handle new .</a:t>
            </a:r>
            <a:r>
              <a:rPr lang="en-US" dirty="0" err="1"/>
              <a:t>vmod</a:t>
            </a:r>
            <a:r>
              <a:rPr lang="en-US" dirty="0"/>
              <a:t> format of </a:t>
            </a:r>
            <a:r>
              <a:rPr lang="en-US" dirty="0" err="1"/>
              <a:t>Vecto</a:t>
            </a:r>
            <a:r>
              <a:rPr lang="en-US" dirty="0"/>
              <a:t> 3</a:t>
            </a:r>
          </a:p>
          <a:p>
            <a:pPr lvl="1"/>
            <a:r>
              <a:rPr lang="en-US" dirty="0" err="1"/>
              <a:t>AdvancedAuxiliaries</a:t>
            </a:r>
            <a:r>
              <a:rPr lang="en-US" dirty="0"/>
              <a:t>: language-settings independent input parsing</a:t>
            </a:r>
          </a:p>
          <a:p>
            <a:pPr lvl="1"/>
            <a:r>
              <a:rPr lang="en-US" dirty="0" err="1"/>
              <a:t>Paux</a:t>
            </a:r>
            <a:r>
              <a:rPr lang="en-US" dirty="0"/>
              <a:t> was ignored when running </a:t>
            </a:r>
            <a:r>
              <a:rPr lang="en-US" dirty="0" err="1"/>
              <a:t>Vecto</a:t>
            </a:r>
            <a:r>
              <a:rPr lang="en-US" dirty="0"/>
              <a:t> 2.2</a:t>
            </a:r>
          </a:p>
          <a:p>
            <a:pPr lvl="1"/>
            <a:r>
              <a:rPr lang="en-US" dirty="0"/>
              <a:t>Error in massive multithreaded execution</a:t>
            </a:r>
          </a:p>
          <a:p>
            <a:pPr lvl="1"/>
            <a:r>
              <a:rPr lang="en-US" dirty="0"/>
              <a:t>Fix unhandled response during simulation</a:t>
            </a:r>
          </a:p>
          <a:p>
            <a:pPr lvl="1"/>
            <a:r>
              <a:rPr lang="en-US" dirty="0"/>
              <a:t>Fix output columns in .</a:t>
            </a:r>
            <a:r>
              <a:rPr lang="en-US" dirty="0" err="1"/>
              <a:t>vmod</a:t>
            </a:r>
            <a:endParaRPr lang="en-US" dirty="0"/>
          </a:p>
        </p:txBody>
      </p:sp>
    </p:spTree>
    <p:extLst>
      <p:ext uri="{BB962C8B-B14F-4D97-AF65-F5344CB8AC3E}">
        <p14:creationId xmlns:p14="http://schemas.microsoft.com/office/powerpoint/2010/main" val="40963866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err="1"/>
              <a:t>Vecto</a:t>
            </a:r>
            <a:r>
              <a:rPr lang="en-US" dirty="0"/>
              <a:t> 3.0.3.495</a:t>
            </a:r>
            <a:br>
              <a:rPr lang="en-US" dirty="0"/>
            </a:br>
            <a:r>
              <a:rPr lang="en-US" sz="1600" dirty="0"/>
              <a:t>2016-05-10</a:t>
            </a:r>
            <a:endParaRPr lang="en-US" dirty="0"/>
          </a:p>
        </p:txBody>
      </p:sp>
      <p:sp>
        <p:nvSpPr>
          <p:cNvPr id="3" name="Inhaltsplatzhalter 2"/>
          <p:cNvSpPr>
            <a:spLocks noGrp="1"/>
          </p:cNvSpPr>
          <p:nvPr>
            <p:ph idx="1"/>
          </p:nvPr>
        </p:nvSpPr>
        <p:spPr/>
        <p:txBody>
          <a:bodyPr/>
          <a:lstStyle/>
          <a:p>
            <a:r>
              <a:rPr lang="en-US" dirty="0"/>
              <a:t>Main Updates</a:t>
            </a:r>
          </a:p>
          <a:p>
            <a:pPr lvl="1"/>
            <a:r>
              <a:rPr lang="en-US" dirty="0"/>
              <a:t>Support for Advanced Auxiliaries (Ricardo) in </a:t>
            </a:r>
            <a:r>
              <a:rPr lang="en-US" dirty="0" err="1"/>
              <a:t>Vecto</a:t>
            </a:r>
            <a:r>
              <a:rPr lang="en-US" dirty="0"/>
              <a:t> 3.0.3 and </a:t>
            </a:r>
            <a:r>
              <a:rPr lang="en-US" dirty="0" err="1"/>
              <a:t>Vecto</a:t>
            </a:r>
            <a:r>
              <a:rPr lang="en-US" dirty="0"/>
              <a:t> 2.2</a:t>
            </a:r>
          </a:p>
          <a:p>
            <a:pPr lvl="1"/>
            <a:r>
              <a:rPr lang="en-US" dirty="0"/>
              <a:t>Performance improvements</a:t>
            </a:r>
          </a:p>
          <a:p>
            <a:pPr lvl="1"/>
            <a:r>
              <a:rPr lang="en-US" dirty="0"/>
              <a:t>Gearshift polygons according to WB 2016</a:t>
            </a:r>
          </a:p>
          <a:p>
            <a:pPr lvl="1"/>
            <a:r>
              <a:rPr lang="en-US" dirty="0"/>
              <a:t>Revision of SUM-data file, changed order of columns, changed column headers</a:t>
            </a:r>
          </a:p>
          <a:p>
            <a:r>
              <a:rPr lang="en-US" dirty="0" err="1"/>
              <a:t>Bugfixes</a:t>
            </a:r>
            <a:endParaRPr lang="en-US" dirty="0"/>
          </a:p>
          <a:p>
            <a:pPr lvl="1"/>
            <a:r>
              <a:rPr lang="en-US" dirty="0"/>
              <a:t>Delaunay Maps: additional check for duplicate input points</a:t>
            </a:r>
          </a:p>
          <a:p>
            <a:pPr lvl="1"/>
            <a:r>
              <a:rPr lang="en-US" dirty="0"/>
              <a:t>Creation of PDF Report when running multiple jobs at once</a:t>
            </a:r>
          </a:p>
          <a:p>
            <a:pPr lvl="1"/>
            <a:r>
              <a:rPr lang="en-US" dirty="0"/>
              <a:t>Sanity checks for gear shift lines</a:t>
            </a:r>
          </a:p>
          <a:p>
            <a:pPr lvl="1"/>
            <a:r>
              <a:rPr lang="en-US" dirty="0"/>
              <a:t>Improvements </a:t>
            </a:r>
            <a:r>
              <a:rPr lang="en-US" dirty="0" err="1"/>
              <a:t>DriverStrategy</a:t>
            </a:r>
            <a:r>
              <a:rPr lang="en-US" dirty="0"/>
              <a:t>: handling special cases</a:t>
            </a:r>
          </a:p>
        </p:txBody>
      </p:sp>
    </p:spTree>
    <p:extLst>
      <p:ext uri="{BB962C8B-B14F-4D97-AF65-F5344CB8AC3E}">
        <p14:creationId xmlns:p14="http://schemas.microsoft.com/office/powerpoint/2010/main" val="37117345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1049265"/>
            <a:ext cx="7488832" cy="4750785"/>
          </a:xfrm>
          <a:prstGeom prst="rect">
            <a:avLst/>
          </a:prstGeom>
        </p:spPr>
      </p:pic>
      <p:sp>
        <p:nvSpPr>
          <p:cNvPr id="2" name="Titel 1"/>
          <p:cNvSpPr>
            <a:spLocks noGrp="1"/>
          </p:cNvSpPr>
          <p:nvPr>
            <p:ph type="title"/>
          </p:nvPr>
        </p:nvSpPr>
        <p:spPr>
          <a:xfrm>
            <a:off x="468315" y="476672"/>
            <a:ext cx="8218487" cy="681038"/>
          </a:xfrm>
        </p:spPr>
        <p:txBody>
          <a:bodyPr/>
          <a:lstStyle/>
          <a:p>
            <a:r>
              <a:rPr lang="en-US" dirty="0"/>
              <a:t>Performance Comparison</a:t>
            </a:r>
          </a:p>
        </p:txBody>
      </p:sp>
      <p:sp>
        <p:nvSpPr>
          <p:cNvPr id="5" name="Textfeld 4"/>
          <p:cNvSpPr txBox="1"/>
          <p:nvPr/>
        </p:nvSpPr>
        <p:spPr>
          <a:xfrm rot="16200000">
            <a:off x="1160693" y="2848509"/>
            <a:ext cx="684803" cy="261610"/>
          </a:xfrm>
          <a:prstGeom prst="rect">
            <a:avLst/>
          </a:prstGeom>
          <a:noFill/>
          <a:ln>
            <a:noFill/>
          </a:ln>
        </p:spPr>
        <p:txBody>
          <a:bodyPr wrap="none" rtlCol="0">
            <a:spAutoFit/>
          </a:bodyPr>
          <a:lstStyle/>
          <a:p>
            <a:pPr algn="l">
              <a:spcBef>
                <a:spcPts val="0"/>
              </a:spcBef>
            </a:pPr>
            <a:r>
              <a:rPr lang="en-US" sz="1100" b="0" dirty="0"/>
              <a:t>Time [s]</a:t>
            </a:r>
          </a:p>
        </p:txBody>
      </p:sp>
      <p:sp>
        <p:nvSpPr>
          <p:cNvPr id="6" name="Textfeld 5"/>
          <p:cNvSpPr txBox="1"/>
          <p:nvPr/>
        </p:nvSpPr>
        <p:spPr>
          <a:xfrm>
            <a:off x="89810" y="5764614"/>
            <a:ext cx="8328114" cy="369332"/>
          </a:xfrm>
          <a:prstGeom prst="rect">
            <a:avLst/>
          </a:prstGeom>
          <a:noFill/>
          <a:ln>
            <a:noFill/>
          </a:ln>
        </p:spPr>
        <p:txBody>
          <a:bodyPr wrap="none" rtlCol="0">
            <a:spAutoFit/>
          </a:bodyPr>
          <a:lstStyle/>
          <a:p>
            <a:pPr algn="l">
              <a:spcBef>
                <a:spcPts val="0"/>
              </a:spcBef>
            </a:pPr>
            <a:r>
              <a:rPr lang="en-US" sz="1800" b="0" dirty="0"/>
              <a:t>Total execution time (15 runs in parallel):  </a:t>
            </a:r>
            <a:r>
              <a:rPr lang="en-US" sz="1800" b="0" dirty="0" err="1"/>
              <a:t>Vecto</a:t>
            </a:r>
            <a:r>
              <a:rPr lang="en-US" sz="1800" b="0" dirty="0"/>
              <a:t> 3.0.2: 6min 6s; </a:t>
            </a:r>
            <a:r>
              <a:rPr lang="en-US" sz="1800" dirty="0" err="1"/>
              <a:t>Vecto</a:t>
            </a:r>
            <a:r>
              <a:rPr lang="en-US" sz="1800" dirty="0"/>
              <a:t> 3.0.3: 35s</a:t>
            </a:r>
          </a:p>
        </p:txBody>
      </p:sp>
    </p:spTree>
    <p:extLst>
      <p:ext uri="{BB962C8B-B14F-4D97-AF65-F5344CB8AC3E}">
        <p14:creationId xmlns:p14="http://schemas.microsoft.com/office/powerpoint/2010/main" val="5325256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0" y="778669"/>
            <a:ext cx="9144000" cy="3460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b="1">
                <a:solidFill>
                  <a:srgbClr val="990000"/>
                </a:solidFill>
                <a:latin typeface="+mj-lt"/>
                <a:ea typeface="+mj-ea"/>
                <a:cs typeface="+mj-cs"/>
              </a:defRPr>
            </a:lvl1pPr>
            <a:lvl2pPr algn="ctr" rtl="0" eaLnBrk="0" fontAlgn="base" hangingPunct="0">
              <a:spcBef>
                <a:spcPct val="0"/>
              </a:spcBef>
              <a:spcAft>
                <a:spcPct val="0"/>
              </a:spcAft>
              <a:defRPr sz="2400" b="1">
                <a:solidFill>
                  <a:srgbClr val="990000"/>
                </a:solidFill>
                <a:latin typeface="Arial" pitchFamily="34" charset="0"/>
              </a:defRPr>
            </a:lvl2pPr>
            <a:lvl3pPr algn="ctr" rtl="0" eaLnBrk="0" fontAlgn="base" hangingPunct="0">
              <a:spcBef>
                <a:spcPct val="0"/>
              </a:spcBef>
              <a:spcAft>
                <a:spcPct val="0"/>
              </a:spcAft>
              <a:defRPr sz="2400" b="1">
                <a:solidFill>
                  <a:srgbClr val="990000"/>
                </a:solidFill>
                <a:latin typeface="Arial" pitchFamily="34" charset="0"/>
              </a:defRPr>
            </a:lvl3pPr>
            <a:lvl4pPr algn="ctr" rtl="0" eaLnBrk="0" fontAlgn="base" hangingPunct="0">
              <a:spcBef>
                <a:spcPct val="0"/>
              </a:spcBef>
              <a:spcAft>
                <a:spcPct val="0"/>
              </a:spcAft>
              <a:defRPr sz="2400" b="1">
                <a:solidFill>
                  <a:srgbClr val="990000"/>
                </a:solidFill>
                <a:latin typeface="Arial" pitchFamily="34" charset="0"/>
              </a:defRPr>
            </a:lvl4pPr>
            <a:lvl5pPr algn="ctr" rtl="0" eaLnBrk="0" fontAlgn="base" hangingPunct="0">
              <a:spcBef>
                <a:spcPct val="0"/>
              </a:spcBef>
              <a:spcAft>
                <a:spcPct val="0"/>
              </a:spcAft>
              <a:defRPr sz="2400" b="1">
                <a:solidFill>
                  <a:srgbClr val="990000"/>
                </a:solidFill>
                <a:latin typeface="Arial" pitchFamily="34" charset="0"/>
              </a:defRPr>
            </a:lvl5pPr>
            <a:lvl6pPr marL="457200" algn="ctr" rtl="0" fontAlgn="base">
              <a:spcBef>
                <a:spcPct val="0"/>
              </a:spcBef>
              <a:spcAft>
                <a:spcPct val="0"/>
              </a:spcAft>
              <a:defRPr sz="2400" b="1">
                <a:solidFill>
                  <a:srgbClr val="990000"/>
                </a:solidFill>
                <a:latin typeface="Arial" pitchFamily="34" charset="0"/>
              </a:defRPr>
            </a:lvl6pPr>
            <a:lvl7pPr marL="914400" algn="ctr" rtl="0" fontAlgn="base">
              <a:spcBef>
                <a:spcPct val="0"/>
              </a:spcBef>
              <a:spcAft>
                <a:spcPct val="0"/>
              </a:spcAft>
              <a:defRPr sz="2400" b="1">
                <a:solidFill>
                  <a:srgbClr val="990000"/>
                </a:solidFill>
                <a:latin typeface="Arial" pitchFamily="34" charset="0"/>
              </a:defRPr>
            </a:lvl7pPr>
            <a:lvl8pPr marL="1371600" algn="ctr" rtl="0" fontAlgn="base">
              <a:spcBef>
                <a:spcPct val="0"/>
              </a:spcBef>
              <a:spcAft>
                <a:spcPct val="0"/>
              </a:spcAft>
              <a:defRPr sz="2400" b="1">
                <a:solidFill>
                  <a:srgbClr val="990000"/>
                </a:solidFill>
                <a:latin typeface="Arial" pitchFamily="34" charset="0"/>
              </a:defRPr>
            </a:lvl8pPr>
            <a:lvl9pPr marL="1828800" algn="ctr" rtl="0" fontAlgn="base">
              <a:spcBef>
                <a:spcPct val="0"/>
              </a:spcBef>
              <a:spcAft>
                <a:spcPct val="0"/>
              </a:spcAft>
              <a:defRPr sz="2400" b="1">
                <a:solidFill>
                  <a:srgbClr val="990000"/>
                </a:solidFill>
                <a:latin typeface="Arial" pitchFamily="34" charset="0"/>
              </a:defRPr>
            </a:lvl9pPr>
          </a:lstStyle>
          <a:p>
            <a:pPr eaLnBrk="1" hangingPunct="1"/>
            <a:r>
              <a:rPr lang="en-GB" sz="2800" kern="0" dirty="0"/>
              <a:t>VECTO 3.0.2</a:t>
            </a:r>
            <a:br>
              <a:rPr lang="en-GB" sz="2800" kern="0" dirty="0"/>
            </a:br>
            <a:r>
              <a:rPr lang="en-GB" sz="1600" kern="0" dirty="0"/>
              <a:t>2016-03-11</a:t>
            </a:r>
            <a:endParaRPr lang="en-GB" sz="2800" kern="0" dirty="0"/>
          </a:p>
        </p:txBody>
      </p:sp>
      <p:sp>
        <p:nvSpPr>
          <p:cNvPr id="6" name="Textfeld 5"/>
          <p:cNvSpPr txBox="1"/>
          <p:nvPr/>
        </p:nvSpPr>
        <p:spPr>
          <a:xfrm>
            <a:off x="251522" y="1124744"/>
            <a:ext cx="8496944" cy="5206041"/>
          </a:xfrm>
          <a:prstGeom prst="rect">
            <a:avLst/>
          </a:prstGeom>
          <a:noFill/>
          <a:ln>
            <a:noFill/>
          </a:ln>
        </p:spPr>
        <p:txBody>
          <a:bodyPr wrap="square" rtlCol="0">
            <a:spAutoFit/>
          </a:bodyPr>
          <a:lstStyle/>
          <a:p>
            <a:pPr algn="l">
              <a:lnSpc>
                <a:spcPct val="150000"/>
              </a:lnSpc>
              <a:spcBef>
                <a:spcPts val="600"/>
              </a:spcBef>
            </a:pPr>
            <a:r>
              <a:rPr lang="en-GB" sz="2000" dirty="0"/>
              <a:t>Main updates</a:t>
            </a:r>
          </a:p>
          <a:p>
            <a:pPr marL="342900" indent="-342900" algn="l">
              <a:lnSpc>
                <a:spcPct val="130000"/>
              </a:lnSpc>
              <a:spcBef>
                <a:spcPts val="600"/>
              </a:spcBef>
              <a:buFont typeface="Arial" pitchFamily="34" charset="0"/>
              <a:buChar char="•"/>
            </a:pPr>
            <a:r>
              <a:rPr lang="en-GB" sz="1400" b="0" dirty="0"/>
              <a:t>New simulation modes: </a:t>
            </a:r>
          </a:p>
          <a:p>
            <a:pPr marL="800100" lvl="1" indent="-342900" algn="l">
              <a:lnSpc>
                <a:spcPct val="130000"/>
              </a:lnSpc>
              <a:spcBef>
                <a:spcPts val="300"/>
              </a:spcBef>
              <a:buFont typeface="Arial" pitchFamily="34" charset="0"/>
              <a:buChar char="•"/>
            </a:pPr>
            <a:r>
              <a:rPr lang="en-GB" sz="1400" b="0" dirty="0" err="1"/>
              <a:t>Pwheel</a:t>
            </a:r>
            <a:r>
              <a:rPr lang="en-GB" sz="1400" b="0" dirty="0"/>
              <a:t> (</a:t>
            </a:r>
            <a:r>
              <a:rPr lang="en-GB" sz="1400" b="0" dirty="0" err="1"/>
              <a:t>SiCo</a:t>
            </a:r>
            <a:r>
              <a:rPr lang="en-GB" sz="1400" b="0" dirty="0"/>
              <a:t>), </a:t>
            </a:r>
          </a:p>
          <a:p>
            <a:pPr marL="800100" lvl="1" indent="-342900" algn="l">
              <a:lnSpc>
                <a:spcPct val="130000"/>
              </a:lnSpc>
              <a:spcBef>
                <a:spcPts val="300"/>
              </a:spcBef>
              <a:buFont typeface="Arial" pitchFamily="34" charset="0"/>
              <a:buChar char="•"/>
            </a:pPr>
            <a:r>
              <a:rPr lang="en-GB" sz="1400" b="0" dirty="0"/>
              <a:t>Measured Speed (with/without gear)</a:t>
            </a:r>
          </a:p>
          <a:p>
            <a:pPr marL="800100" lvl="1" indent="-342900" algn="l">
              <a:lnSpc>
                <a:spcPct val="130000"/>
              </a:lnSpc>
              <a:spcBef>
                <a:spcPts val="300"/>
              </a:spcBef>
              <a:buFont typeface="Arial" pitchFamily="34" charset="0"/>
              <a:buChar char="•"/>
            </a:pPr>
            <a:r>
              <a:rPr lang="en-GB" sz="1400" b="0" dirty="0" err="1"/>
              <a:t>v_air</a:t>
            </a:r>
            <a:r>
              <a:rPr lang="en-GB" sz="1400" b="0" dirty="0"/>
              <a:t>/beta cross-wind correction (</a:t>
            </a:r>
            <a:r>
              <a:rPr lang="en-GB" sz="1400" b="0" dirty="0" err="1"/>
              <a:t>vcdb</a:t>
            </a:r>
            <a:r>
              <a:rPr lang="en-GB" sz="1400" b="0" dirty="0"/>
              <a:t>)</a:t>
            </a:r>
          </a:p>
          <a:p>
            <a:pPr marL="342900" indent="-342900" algn="l">
              <a:lnSpc>
                <a:spcPct val="130000"/>
              </a:lnSpc>
              <a:spcBef>
                <a:spcPts val="600"/>
              </a:spcBef>
              <a:buFont typeface="Arial" pitchFamily="34" charset="0"/>
              <a:buChar char="•"/>
            </a:pPr>
            <a:r>
              <a:rPr lang="en-US" sz="1400" b="0" dirty="0"/>
              <a:t>Adaptations of powertrain components architecture</a:t>
            </a:r>
          </a:p>
          <a:p>
            <a:pPr marL="800100" lvl="1" indent="-342900" algn="l">
              <a:lnSpc>
                <a:spcPct val="130000"/>
              </a:lnSpc>
              <a:spcBef>
                <a:spcPts val="300"/>
              </a:spcBef>
              <a:buFont typeface="Arial" pitchFamily="34" charset="0"/>
              <a:buChar char="•"/>
            </a:pPr>
            <a:r>
              <a:rPr lang="en-US" sz="1400" b="0" dirty="0"/>
              <a:t>Move wheels inertia from vehicle to wheels</a:t>
            </a:r>
          </a:p>
          <a:p>
            <a:pPr marL="800100" lvl="1" indent="-342900" algn="l">
              <a:lnSpc>
                <a:spcPct val="130000"/>
              </a:lnSpc>
              <a:spcBef>
                <a:spcPts val="300"/>
              </a:spcBef>
              <a:buFont typeface="Arial" pitchFamily="34" charset="0"/>
              <a:buChar char="•"/>
            </a:pPr>
            <a:r>
              <a:rPr lang="en-US" sz="1400" b="0" dirty="0"/>
              <a:t>Auxiliaries no longer connected via clutch to the engine but via a separate port</a:t>
            </a:r>
          </a:p>
          <a:p>
            <a:pPr marL="800100" lvl="1" indent="-342900" algn="l">
              <a:lnSpc>
                <a:spcPct val="130000"/>
              </a:lnSpc>
              <a:spcBef>
                <a:spcPts val="300"/>
              </a:spcBef>
              <a:buFont typeface="Arial" pitchFamily="34" charset="0"/>
              <a:buChar char="•"/>
            </a:pPr>
            <a:r>
              <a:rPr lang="en-US" sz="1400" b="0" dirty="0"/>
              <a:t>Engine checks overload of gearbox and engine overload</a:t>
            </a:r>
          </a:p>
          <a:p>
            <a:pPr marL="342900" indent="-342900" algn="l">
              <a:lnSpc>
                <a:spcPct val="130000"/>
              </a:lnSpc>
              <a:spcBef>
                <a:spcPts val="600"/>
              </a:spcBef>
              <a:buFont typeface="Arial" pitchFamily="34" charset="0"/>
              <a:buChar char="•"/>
            </a:pPr>
            <a:r>
              <a:rPr lang="en-US" sz="1400" b="0" dirty="0"/>
              <a:t>Fixed some driving behavior related issues in </a:t>
            </a:r>
            <a:r>
              <a:rPr lang="en-US" sz="1400" b="0" dirty="0" err="1"/>
              <a:t>VectoCore</a:t>
            </a:r>
            <a:r>
              <a:rPr lang="en-US" sz="1400" b="0" dirty="0"/>
              <a:t>:</a:t>
            </a:r>
          </a:p>
          <a:p>
            <a:pPr marL="800100" lvl="1" indent="-342900" algn="l">
              <a:lnSpc>
                <a:spcPct val="130000"/>
              </a:lnSpc>
              <a:spcBef>
                <a:spcPts val="300"/>
              </a:spcBef>
              <a:buFont typeface="Arial" pitchFamily="34" charset="0"/>
              <a:buChar char="•"/>
            </a:pPr>
            <a:r>
              <a:rPr lang="en-US" sz="1400" b="0" dirty="0"/>
              <a:t>When the vehicle comes to a halt during gear shift, instead of aborting the cycle, it tries to drive away again with an appropriate gear.</a:t>
            </a:r>
          </a:p>
          <a:p>
            <a:pPr marL="342900" indent="-342900" algn="l">
              <a:lnSpc>
                <a:spcPct val="130000"/>
              </a:lnSpc>
              <a:spcBef>
                <a:spcPts val="600"/>
              </a:spcBef>
              <a:buFont typeface="Arial" pitchFamily="34" charset="0"/>
              <a:buChar char="•"/>
            </a:pPr>
            <a:r>
              <a:rPr lang="en-US" sz="1400" b="0" dirty="0" err="1"/>
              <a:t>ModData</a:t>
            </a:r>
            <a:r>
              <a:rPr lang="en-US" sz="1400" b="0" dirty="0"/>
              <a:t> Format changed for better information and clarity</a:t>
            </a:r>
          </a:p>
          <a:p>
            <a:pPr marL="342900" indent="-342900" algn="l">
              <a:lnSpc>
                <a:spcPct val="130000"/>
              </a:lnSpc>
              <a:spcBef>
                <a:spcPts val="600"/>
              </a:spcBef>
              <a:buFont typeface="Arial" pitchFamily="34" charset="0"/>
              <a:buChar char="•"/>
            </a:pPr>
            <a:r>
              <a:rPr lang="en-US" sz="1400" b="0" dirty="0"/>
              <a:t>Added validation of input values (according to latest VectoInputParameters.xls)</a:t>
            </a:r>
          </a:p>
          <a:p>
            <a:pPr marL="342900" indent="-342900" algn="l">
              <a:lnSpc>
                <a:spcPct val="130000"/>
              </a:lnSpc>
              <a:spcBef>
                <a:spcPts val="600"/>
              </a:spcBef>
              <a:buFont typeface="Arial" pitchFamily="34" charset="0"/>
              <a:buChar char="•"/>
            </a:pPr>
            <a:r>
              <a:rPr lang="en-US" sz="1400" b="0" dirty="0"/>
              <a:t>Various </a:t>
            </a:r>
            <a:r>
              <a:rPr lang="en-US" sz="1400" b="0" dirty="0" err="1"/>
              <a:t>bugfixes</a:t>
            </a:r>
            <a:endParaRPr lang="en-GB" sz="1400" b="0" dirty="0"/>
          </a:p>
        </p:txBody>
      </p:sp>
    </p:spTree>
    <p:extLst>
      <p:ext uri="{BB962C8B-B14F-4D97-AF65-F5344CB8AC3E}">
        <p14:creationId xmlns:p14="http://schemas.microsoft.com/office/powerpoint/2010/main" val="21678138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err="1"/>
              <a:t>Pwheel</a:t>
            </a:r>
            <a:r>
              <a:rPr lang="en-US" dirty="0"/>
              <a:t> (</a:t>
            </a:r>
            <a:r>
              <a:rPr lang="en-US" dirty="0" err="1"/>
              <a:t>SiCo</a:t>
            </a:r>
            <a:r>
              <a:rPr lang="en-US" dirty="0"/>
              <a:t>) Mode</a:t>
            </a:r>
          </a:p>
        </p:txBody>
      </p:sp>
      <p:sp>
        <p:nvSpPr>
          <p:cNvPr id="3" name="Inhaltsplatzhalter 2"/>
          <p:cNvSpPr>
            <a:spLocks noGrp="1"/>
          </p:cNvSpPr>
          <p:nvPr>
            <p:ph idx="1"/>
          </p:nvPr>
        </p:nvSpPr>
        <p:spPr/>
        <p:txBody>
          <a:bodyPr/>
          <a:lstStyle/>
          <a:p>
            <a:r>
              <a:rPr lang="en-US" dirty="0"/>
              <a:t>Function as already available in </a:t>
            </a:r>
            <a:r>
              <a:rPr lang="en-US" dirty="0" err="1"/>
              <a:t>Vecto</a:t>
            </a:r>
            <a:r>
              <a:rPr lang="en-US" dirty="0"/>
              <a:t> 2.2 also added in </a:t>
            </a:r>
            <a:r>
              <a:rPr lang="en-US" dirty="0" err="1"/>
              <a:t>Vecto</a:t>
            </a:r>
            <a:r>
              <a:rPr lang="en-US" dirty="0"/>
              <a:t> 3.0.2</a:t>
            </a:r>
          </a:p>
          <a:p>
            <a:pPr lvl="1"/>
            <a:r>
              <a:rPr lang="en-US" dirty="0"/>
              <a:t>Driving cycle specifies power at wheel, engine speed, gear, and auxiliary power</a:t>
            </a:r>
          </a:p>
          <a:p>
            <a:pPr lvl="1"/>
            <a:r>
              <a:rPr lang="en-US" dirty="0"/>
              <a:t>No driver model in the simulation.</a:t>
            </a:r>
          </a:p>
          <a:p>
            <a:pPr lvl="1"/>
            <a:r>
              <a:rPr lang="en-US" dirty="0"/>
              <a:t>The </a:t>
            </a:r>
            <a:r>
              <a:rPr lang="en-US" dirty="0" err="1"/>
              <a:t>Vecto</a:t>
            </a:r>
            <a:r>
              <a:rPr lang="en-US" dirty="0"/>
              <a:t> gear-shift model is overruled.</a:t>
            </a:r>
          </a:p>
          <a:p>
            <a:pPr lvl="1"/>
            <a:r>
              <a:rPr lang="en-US" dirty="0"/>
              <a:t>Function used for creating reference results for </a:t>
            </a:r>
            <a:r>
              <a:rPr lang="en-US" dirty="0" err="1"/>
              <a:t>SiCo</a:t>
            </a:r>
            <a:r>
              <a:rPr lang="en-US" dirty="0"/>
              <a:t> tests</a:t>
            </a:r>
          </a:p>
          <a:p>
            <a:pPr lvl="1"/>
            <a:r>
              <a:rPr lang="en-US" dirty="0"/>
              <a:t>For details see user manual: Simulation Models / </a:t>
            </a:r>
            <a:r>
              <a:rPr lang="en-US" dirty="0" err="1"/>
              <a:t>Pwheel</a:t>
            </a:r>
            <a:r>
              <a:rPr lang="en-US" dirty="0"/>
              <a:t> Input (</a:t>
            </a:r>
            <a:r>
              <a:rPr lang="en-US" dirty="0" err="1"/>
              <a:t>SiCo</a:t>
            </a:r>
            <a:r>
              <a:rPr lang="en-US" dirty="0"/>
              <a:t>)</a:t>
            </a:r>
          </a:p>
          <a:p>
            <a:pPr lvl="1"/>
            <a:endParaRPr lang="en-US" dirty="0"/>
          </a:p>
          <a:p>
            <a:endParaRPr lang="en-US" dirty="0"/>
          </a:p>
        </p:txBody>
      </p:sp>
    </p:spTree>
    <p:extLst>
      <p:ext uri="{BB962C8B-B14F-4D97-AF65-F5344CB8AC3E}">
        <p14:creationId xmlns:p14="http://schemas.microsoft.com/office/powerpoint/2010/main" val="31765222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Measured Speed Mode</a:t>
            </a:r>
          </a:p>
        </p:txBody>
      </p:sp>
      <p:sp>
        <p:nvSpPr>
          <p:cNvPr id="3" name="Inhaltsplatzhalter 2"/>
          <p:cNvSpPr>
            <a:spLocks noGrp="1"/>
          </p:cNvSpPr>
          <p:nvPr>
            <p:ph idx="1"/>
          </p:nvPr>
        </p:nvSpPr>
        <p:spPr/>
        <p:txBody>
          <a:bodyPr/>
          <a:lstStyle/>
          <a:p>
            <a:r>
              <a:rPr lang="en-US" dirty="0"/>
              <a:t>Functionality already available in </a:t>
            </a:r>
            <a:r>
              <a:rPr lang="en-US" dirty="0" err="1"/>
              <a:t>Vecto</a:t>
            </a:r>
            <a:r>
              <a:rPr lang="en-US" dirty="0"/>
              <a:t> 2.2 added in </a:t>
            </a:r>
            <a:r>
              <a:rPr lang="en-US" dirty="0" err="1"/>
              <a:t>Vecto</a:t>
            </a:r>
            <a:r>
              <a:rPr lang="en-US" dirty="0"/>
              <a:t> 3.0.2</a:t>
            </a:r>
          </a:p>
          <a:p>
            <a:pPr lvl="1"/>
            <a:r>
              <a:rPr lang="en-US" dirty="0"/>
              <a:t>Driving cycle not defined by target speed but by actual speed. No driver model in the simulation.</a:t>
            </a:r>
          </a:p>
          <a:p>
            <a:pPr lvl="1"/>
            <a:r>
              <a:rPr lang="en-US" dirty="0"/>
              <a:t>Gear and engine speed can be specified in the driving cycle. In this case the </a:t>
            </a:r>
            <a:r>
              <a:rPr lang="en-US" dirty="0" err="1"/>
              <a:t>Vecto</a:t>
            </a:r>
            <a:r>
              <a:rPr lang="en-US" dirty="0"/>
              <a:t> gear-shift model is overruled.</a:t>
            </a:r>
          </a:p>
          <a:p>
            <a:pPr lvl="1"/>
            <a:r>
              <a:rPr lang="en-US" dirty="0"/>
              <a:t>Function used for “proof of concept” purposes</a:t>
            </a:r>
          </a:p>
          <a:p>
            <a:pPr lvl="1"/>
            <a:r>
              <a:rPr lang="en-US" dirty="0"/>
              <a:t>For details see user manual: Calculation Modes / Engineering Mode / Measured Speed</a:t>
            </a:r>
          </a:p>
        </p:txBody>
      </p:sp>
    </p:spTree>
    <p:extLst>
      <p:ext uri="{BB962C8B-B14F-4D97-AF65-F5344CB8AC3E}">
        <p14:creationId xmlns:p14="http://schemas.microsoft.com/office/powerpoint/2010/main" val="37358088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a:t>
            </a:r>
            <a:r>
              <a:rPr lang="en-US" dirty="0" err="1"/>
              <a:t>vmod</a:t>
            </a:r>
            <a:r>
              <a:rPr lang="en-US" dirty="0"/>
              <a:t> File Update</a:t>
            </a:r>
          </a:p>
        </p:txBody>
      </p:sp>
      <p:sp>
        <p:nvSpPr>
          <p:cNvPr id="3" name="Inhaltsplatzhalter 2"/>
          <p:cNvSpPr>
            <a:spLocks noGrp="1"/>
          </p:cNvSpPr>
          <p:nvPr>
            <p:ph idx="1"/>
          </p:nvPr>
        </p:nvSpPr>
        <p:spPr/>
        <p:txBody>
          <a:bodyPr/>
          <a:lstStyle/>
          <a:p>
            <a:r>
              <a:rPr lang="en-US" dirty="0"/>
              <a:t>In </a:t>
            </a:r>
            <a:r>
              <a:rPr lang="en-US" dirty="0" err="1"/>
              <a:t>Vecto</a:t>
            </a:r>
            <a:r>
              <a:rPr lang="en-US" dirty="0"/>
              <a:t> 3.0.2 the structure of the modal data output has been revised and re-structured. </a:t>
            </a:r>
            <a:r>
              <a:rPr lang="en-US" dirty="0" err="1"/>
              <a:t>Basicaly</a:t>
            </a:r>
            <a:r>
              <a:rPr lang="en-US" dirty="0"/>
              <a:t> for every powertrain component the .</a:t>
            </a:r>
            <a:r>
              <a:rPr lang="en-US" dirty="0" err="1"/>
              <a:t>vmod</a:t>
            </a:r>
            <a:r>
              <a:rPr lang="en-US" dirty="0"/>
              <a:t> file contains the power at the input shaft and the individual power losses for every component. For the engine the power, torque and engine speed at the output shaft is given along with the internal power and torque used for computing the fuel consumption.</a:t>
            </a:r>
          </a:p>
          <a:p>
            <a:r>
              <a:rPr lang="en-US" dirty="0"/>
              <a:t>For details see the user manual: Input and Output / Modal Results (.</a:t>
            </a:r>
            <a:r>
              <a:rPr lang="en-US" dirty="0" err="1"/>
              <a:t>vmod</a:t>
            </a:r>
            <a:r>
              <a:rPr lang="en-US" dirty="0"/>
              <a:t>)</a:t>
            </a:r>
          </a:p>
        </p:txBody>
      </p:sp>
    </p:spTree>
    <p:extLst>
      <p:ext uri="{BB962C8B-B14F-4D97-AF65-F5344CB8AC3E}">
        <p14:creationId xmlns:p14="http://schemas.microsoft.com/office/powerpoint/2010/main" val="38697541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Changelog 3.0.2</a:t>
            </a:r>
          </a:p>
        </p:txBody>
      </p:sp>
      <p:sp>
        <p:nvSpPr>
          <p:cNvPr id="3" name="Inhaltsplatzhalter 2"/>
          <p:cNvSpPr>
            <a:spLocks noGrp="1"/>
          </p:cNvSpPr>
          <p:nvPr>
            <p:ph idx="1"/>
          </p:nvPr>
        </p:nvSpPr>
        <p:spPr/>
        <p:txBody>
          <a:bodyPr/>
          <a:lstStyle/>
          <a:p>
            <a:r>
              <a:rPr lang="en-US" sz="800" dirty="0"/>
              <a:t>- New simulation modes:</a:t>
            </a:r>
          </a:p>
          <a:p>
            <a:r>
              <a:rPr lang="en-US" sz="800" dirty="0"/>
              <a:t>+ Measured Speed</a:t>
            </a:r>
          </a:p>
          <a:p>
            <a:r>
              <a:rPr lang="en-US" sz="800" dirty="0"/>
              <a:t>+ Measured Speed with Gear</a:t>
            </a:r>
          </a:p>
          <a:p>
            <a:r>
              <a:rPr lang="en-US" sz="800" dirty="0"/>
              <a:t>+ </a:t>
            </a:r>
            <a:r>
              <a:rPr lang="en-US" sz="800" dirty="0" err="1"/>
              <a:t>Pwheel</a:t>
            </a:r>
            <a:r>
              <a:rPr lang="en-US" sz="800" dirty="0"/>
              <a:t> (</a:t>
            </a:r>
            <a:r>
              <a:rPr lang="en-US" sz="800" dirty="0" err="1"/>
              <a:t>SiCo</a:t>
            </a:r>
            <a:r>
              <a:rPr lang="en-US" sz="800" dirty="0"/>
              <a:t>)</a:t>
            </a:r>
          </a:p>
          <a:p>
            <a:r>
              <a:rPr lang="en-US" sz="800" dirty="0"/>
              <a:t>- Adaptations of powertrain components architecture</a:t>
            </a:r>
          </a:p>
          <a:p>
            <a:r>
              <a:rPr lang="en-US" sz="800" dirty="0"/>
              <a:t>+ Move wheels inertia from vehicle to wheels</a:t>
            </a:r>
          </a:p>
          <a:p>
            <a:r>
              <a:rPr lang="en-US" sz="800" dirty="0"/>
              <a:t>+ Auxiliaries no longer connected via clutch to the engine but via a separate port</a:t>
            </a:r>
          </a:p>
          <a:p>
            <a:r>
              <a:rPr lang="en-US" sz="800" dirty="0"/>
              <a:t>+ Engine checks overload of gearbox and engine overload</a:t>
            </a:r>
          </a:p>
          <a:p>
            <a:r>
              <a:rPr lang="en-US" sz="800" dirty="0"/>
              <a:t>- Fixed some driving behavior related issues in </a:t>
            </a:r>
            <a:r>
              <a:rPr lang="en-US" sz="800" dirty="0" err="1"/>
              <a:t>VectoCore</a:t>
            </a:r>
            <a:r>
              <a:rPr lang="en-US" sz="800" dirty="0"/>
              <a:t>:</a:t>
            </a:r>
          </a:p>
          <a:p>
            <a:r>
              <a:rPr lang="en-US" sz="800" dirty="0"/>
              <a:t>+ When the vehicle comes to a halt during gear shift, instead of aborting the cycle, it tries to drive away again with an appropriate gear.</a:t>
            </a:r>
          </a:p>
          <a:p>
            <a:r>
              <a:rPr lang="en-US" sz="800" dirty="0"/>
              <a:t>- [</a:t>
            </a:r>
            <a:r>
              <a:rPr lang="en-US" sz="800" dirty="0" err="1"/>
              <a:t>ModData</a:t>
            </a:r>
            <a:r>
              <a:rPr lang="en-US" sz="800" dirty="0"/>
              <a:t> Format](#modal-results-.</a:t>
            </a:r>
            <a:r>
              <a:rPr lang="en-US" sz="800" dirty="0" err="1"/>
              <a:t>vmod</a:t>
            </a:r>
            <a:r>
              <a:rPr lang="en-US" sz="800" dirty="0"/>
              <a:t>) changed for better information and clarity</a:t>
            </a:r>
          </a:p>
          <a:p>
            <a:r>
              <a:rPr lang="en-US" sz="800" dirty="0"/>
              <a:t>- Entries in the sum-file are sorted in the same way as in </a:t>
            </a:r>
            <a:r>
              <a:rPr lang="en-US" sz="800" dirty="0" err="1"/>
              <a:t>Vecto</a:t>
            </a:r>
            <a:r>
              <a:rPr lang="en-US" sz="800" dirty="0"/>
              <a:t> 2.2</a:t>
            </a:r>
          </a:p>
          <a:p>
            <a:r>
              <a:rPr lang="en-US" sz="800" dirty="0"/>
              <a:t>- In engineering mode the execution mode (distance-based, time-based measured speed, time-based measured speed with gear, engine only) are detected based on the cycle</a:t>
            </a:r>
          </a:p>
          <a:p>
            <a:r>
              <a:rPr lang="en-US" sz="800" dirty="0"/>
              <a:t>- Added validation of input values</a:t>
            </a:r>
          </a:p>
          <a:p>
            <a:r>
              <a:rPr lang="en-US" sz="800" dirty="0"/>
              <a:t>- Gravity constant set to 9.80665 (NIST standard acceleration for gravity)</a:t>
            </a:r>
          </a:p>
          <a:p>
            <a:r>
              <a:rPr lang="en-US" sz="800" dirty="0"/>
              <a:t>- Improved input data handling: sort input values of full-load curves (engine, </a:t>
            </a:r>
            <a:r>
              <a:rPr lang="en-US" sz="800" dirty="0" err="1"/>
              <a:t>gbx</a:t>
            </a:r>
            <a:r>
              <a:rPr lang="en-US" sz="800" dirty="0"/>
              <a:t>, retarder)</a:t>
            </a:r>
          </a:p>
          <a:p>
            <a:r>
              <a:rPr lang="en-US" sz="800" dirty="0"/>
              <a:t>- Better Integration of </a:t>
            </a:r>
            <a:r>
              <a:rPr lang="en-US" sz="800" dirty="0" err="1"/>
              <a:t>VectoCore</a:t>
            </a:r>
            <a:r>
              <a:rPr lang="en-US" sz="800" dirty="0"/>
              <a:t> into GUI (Notifications and Messages)</a:t>
            </a:r>
          </a:p>
          <a:p>
            <a:r>
              <a:rPr lang="en-US" sz="800" dirty="0"/>
              <a:t>- </a:t>
            </a:r>
            <a:r>
              <a:rPr lang="en-US" sz="800" dirty="0" err="1"/>
              <a:t>v_air</a:t>
            </a:r>
            <a:r>
              <a:rPr lang="en-US" sz="800" dirty="0"/>
              <a:t>/beta cross-wind correction (</a:t>
            </a:r>
            <a:r>
              <a:rPr lang="en-US" sz="800" dirty="0" err="1"/>
              <a:t>vcdb</a:t>
            </a:r>
            <a:r>
              <a:rPr lang="en-US" sz="800" dirty="0"/>
              <a:t>) </a:t>
            </a:r>
            <a:r>
              <a:rPr lang="en-US" sz="800" dirty="0" err="1"/>
              <a:t>impemented</a:t>
            </a:r>
            <a:endParaRPr lang="en-US" sz="800" dirty="0"/>
          </a:p>
          <a:p>
            <a:r>
              <a:rPr lang="en-US" sz="800" dirty="0"/>
              <a:t>- For all calculations the averaged values of the current simulation step are used for interpolations in loss-maps.</a:t>
            </a:r>
          </a:p>
          <a:p>
            <a:r>
              <a:rPr lang="en-US" sz="800" dirty="0"/>
              <a:t>- Allow extrapolation of loss maps in engineering mode (warnings)</a:t>
            </a:r>
          </a:p>
          <a:p>
            <a:r>
              <a:rPr lang="en-US" sz="800" dirty="0"/>
              <a:t>- Refactoring of input data handling: separate </a:t>
            </a:r>
            <a:r>
              <a:rPr lang="en-US" sz="800" dirty="0" err="1"/>
              <a:t>InputDataProvider</a:t>
            </a:r>
            <a:r>
              <a:rPr lang="en-US" sz="800" dirty="0"/>
              <a:t> interfaces for model data</a:t>
            </a:r>
          </a:p>
          <a:p>
            <a:r>
              <a:rPr lang="en-US" sz="800" dirty="0"/>
              <a:t>- Refactoring of result handling: separate result container and output writer</a:t>
            </a:r>
          </a:p>
          <a:p>
            <a:r>
              <a:rPr lang="en-US" sz="800" dirty="0"/>
              <a:t>- New Long-Haul driving cycle included</a:t>
            </a:r>
          </a:p>
          <a:p>
            <a:r>
              <a:rPr lang="en-US" sz="800" dirty="0"/>
              <a:t>- User Manual updated for VECTO V3.x</a:t>
            </a:r>
          </a:p>
          <a:p>
            <a:r>
              <a:rPr lang="en-US" sz="800" dirty="0"/>
              <a:t>- Fix: sparse representation of declaration cycles had some missing entries</a:t>
            </a:r>
          </a:p>
          <a:p>
            <a:r>
              <a:rPr lang="en-US" sz="800" dirty="0"/>
              <a:t>- </a:t>
            </a:r>
            <a:r>
              <a:rPr lang="en-US" sz="800" dirty="0" err="1"/>
              <a:t>Bugfix</a:t>
            </a:r>
            <a:r>
              <a:rPr lang="en-US" sz="800" dirty="0"/>
              <a:t>: error in computation of engine's preferred speed </a:t>
            </a:r>
          </a:p>
          <a:p>
            <a:r>
              <a:rPr lang="en-US" sz="800" dirty="0"/>
              <a:t>- </a:t>
            </a:r>
            <a:r>
              <a:rPr lang="en-US" sz="800" dirty="0" err="1"/>
              <a:t>Bugfix</a:t>
            </a:r>
            <a:r>
              <a:rPr lang="en-US" sz="800" dirty="0"/>
              <a:t>: wrong vehicle class lookup</a:t>
            </a:r>
          </a:p>
          <a:p>
            <a:r>
              <a:rPr lang="en-US" sz="800" dirty="0"/>
              <a:t>- </a:t>
            </a:r>
            <a:r>
              <a:rPr lang="en-US" sz="800" dirty="0" err="1"/>
              <a:t>Bugfix</a:t>
            </a:r>
            <a:r>
              <a:rPr lang="en-US" sz="800" dirty="0"/>
              <a:t>: duplicate entries in intersected full-load curves</a:t>
            </a:r>
          </a:p>
          <a:p>
            <a:r>
              <a:rPr lang="en-US" sz="800" dirty="0"/>
              <a:t>- </a:t>
            </a:r>
            <a:r>
              <a:rPr lang="en-US" sz="800" dirty="0" err="1"/>
              <a:t>Bugfix</a:t>
            </a:r>
            <a:r>
              <a:rPr lang="en-US" sz="800" dirty="0"/>
              <a:t>: retarder takes the retarder ratio into account for </a:t>
            </a:r>
            <a:r>
              <a:rPr lang="en-US" sz="800" dirty="0" err="1"/>
              <a:t>lossmap</a:t>
            </a:r>
            <a:r>
              <a:rPr lang="en-US" sz="800" dirty="0"/>
              <a:t> lookup</a:t>
            </a:r>
          </a:p>
          <a:p>
            <a:r>
              <a:rPr lang="en-US" sz="800" dirty="0"/>
              <a:t>- </a:t>
            </a:r>
            <a:r>
              <a:rPr lang="en-US" sz="800" dirty="0" err="1"/>
              <a:t>Bugfix</a:t>
            </a:r>
            <a:r>
              <a:rPr lang="en-US" sz="800" dirty="0"/>
              <a:t>: use unique identifier for jobs in job list</a:t>
            </a:r>
          </a:p>
          <a:p>
            <a:r>
              <a:rPr lang="en-US" sz="800" dirty="0"/>
              <a:t>- </a:t>
            </a:r>
            <a:r>
              <a:rPr lang="en-US" sz="800" dirty="0" err="1"/>
              <a:t>Bugfix</a:t>
            </a:r>
            <a:r>
              <a:rPr lang="en-US" sz="800" dirty="0"/>
              <a:t>: error in </a:t>
            </a:r>
            <a:r>
              <a:rPr lang="en-US" sz="800" dirty="0" err="1"/>
              <a:t>triagulation</a:t>
            </a:r>
            <a:r>
              <a:rPr lang="en-US" sz="800" dirty="0"/>
              <a:t> of fuel consumption map</a:t>
            </a:r>
          </a:p>
        </p:txBody>
      </p:sp>
    </p:spTree>
    <p:extLst>
      <p:ext uri="{BB962C8B-B14F-4D97-AF65-F5344CB8AC3E}">
        <p14:creationId xmlns:p14="http://schemas.microsoft.com/office/powerpoint/2010/main" val="179170135"/>
      </p:ext>
    </p:extLst>
  </p:cSld>
  <p:clrMapOvr>
    <a:masterClrMapping/>
  </p:clrMapOvr>
</p:sld>
</file>

<file path=ppt/theme/theme1.xml><?xml version="1.0" encoding="utf-8"?>
<a:theme xmlns:a="http://schemas.openxmlformats.org/drawingml/2006/main" name="Standard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ndarddesign">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ctr" anchorCtr="0" compatLnSpc="1">
        <a:prstTxWarp prst="textNoShape">
          <a:avLst/>
        </a:prstTxWarp>
        <a:spAutoFit/>
      </a:bodyPr>
      <a:lstStyle>
        <a:defPPr marL="0" marR="0" indent="0" algn="ctr" defTabSz="914400" rtl="0" eaLnBrk="1" fontAlgn="base" latinLnBrk="0" hangingPunct="1">
          <a:lnSpc>
            <a:spcPct val="100000"/>
          </a:lnSpc>
          <a:spcBef>
            <a:spcPct val="30000"/>
          </a:spcBef>
          <a:spcAft>
            <a:spcPct val="0"/>
          </a:spcAft>
          <a:buClrTx/>
          <a:buSzTx/>
          <a:buFontTx/>
          <a:buNone/>
          <a:tabLst/>
          <a:defRPr b="0">
            <a:latin typeface="Arial" pitchFamily="34" charset="0"/>
          </a:defRPr>
        </a:defPPr>
      </a:lstStyle>
    </a:spDef>
    <a:lnDef>
      <a:spPr bwMode="auto">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ln>
          <a:noFill/>
        </a:ln>
      </a:spPr>
      <a:bodyPr wrap="none" rtlCol="0">
        <a:spAutoFit/>
      </a:bodyPr>
      <a:lstStyle>
        <a:defPPr algn="l">
          <a:spcBef>
            <a:spcPts val="0"/>
          </a:spcBef>
          <a:defRPr sz="1800" b="0" dirty="0" err="1" smtClean="0"/>
        </a:defPPr>
      </a:lstStyle>
    </a:txDef>
  </a:objectDefaults>
  <a:extraClrSchemeLst>
    <a:extraClrScheme>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tandard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tandard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tandard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tandard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tandard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tandard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tandard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ariss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7662</Words>
  <Application>Microsoft Office PowerPoint</Application>
  <PresentationFormat>Bildschirmpräsentation (4:3)</PresentationFormat>
  <Paragraphs>757</Paragraphs>
  <Slides>63</Slides>
  <Notes>0</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63</vt:i4>
      </vt:variant>
    </vt:vector>
  </HeadingPairs>
  <TitlesOfParts>
    <vt:vector size="70" baseType="lpstr">
      <vt:lpstr>Arial</vt:lpstr>
      <vt:lpstr>Calibri</vt:lpstr>
      <vt:lpstr>Consolas</vt:lpstr>
      <vt:lpstr>Courier New</vt:lpstr>
      <vt:lpstr>Times New Roman</vt:lpstr>
      <vt:lpstr>Verdana</vt:lpstr>
      <vt:lpstr>Standarddesign</vt:lpstr>
      <vt:lpstr>PowerPoint-Präsentation</vt:lpstr>
      <vt:lpstr>Vecto 3.3.9. 2175 Official Release 2020-12-15</vt:lpstr>
      <vt:lpstr>Vecto 3.3.9.2147 Release Candidate 2020-11-17</vt:lpstr>
      <vt:lpstr>Vecto 3.3.8.2052 Official Release 2020-08-14</vt:lpstr>
      <vt:lpstr>Vecto 3.3.8.2024 Release Candidate 2020-07-17</vt:lpstr>
      <vt:lpstr>Vecto 3.3.7.1964 Official Release 2020-05-18</vt:lpstr>
      <vt:lpstr>Vecto 3.3.6.1916 Official Release 2020-03-31</vt:lpstr>
      <vt:lpstr>Vecto 3.3.6.1898 Release Candidate 2020-03-13</vt:lpstr>
      <vt:lpstr>Vecto 3.3.5.1812 Official Release 2019-12-18</vt:lpstr>
      <vt:lpstr>Vecto 3.3.5.1783 Release Candidate 2019-11-19</vt:lpstr>
      <vt:lpstr>Vecto 3.3.4.1716 Official Release 2019-09-13</vt:lpstr>
      <vt:lpstr>Vecto 3.3.4.1686 Release Candidate 2019-08-14</vt:lpstr>
      <vt:lpstr>Vecto 3.3.3.1639 Official Release 2019-06-27</vt:lpstr>
      <vt:lpstr>Vecto 3.3.3.1609 Release Candidate 2019-05-29</vt:lpstr>
      <vt:lpstr>Vecto 3.3.2.1548 Official Release 2019-03-29</vt:lpstr>
      <vt:lpstr>Vecto 3.3.2.1519 Release Candidate 2019-03-01</vt:lpstr>
      <vt:lpstr>Vecto 3.3.2.1519 Release Candidate 2019-03-01</vt:lpstr>
      <vt:lpstr>Vecto 3.3.2.1519 Release Candidate 2019-03-01</vt:lpstr>
      <vt:lpstr>Vecto 3.3.1.1492 Official Release 2019-02-01</vt:lpstr>
      <vt:lpstr>Vecto 3.3.1.1463 Release Candidate 2019-01-03</vt:lpstr>
      <vt:lpstr>Vecto 3.3.1.1463 Release Candidate 2019-01-03</vt:lpstr>
      <vt:lpstr>Vecto 3.3.1.1463 Release Candidate 2019-01-03</vt:lpstr>
      <vt:lpstr>Vecto 3.3.1.1463 Release Candidate 2019-01-03</vt:lpstr>
      <vt:lpstr>Vecto 3.3.1.1463 Release Candidate 2019-01-03</vt:lpstr>
      <vt:lpstr>Vecto 3.3.1.1463 Release Candidate 2019-01-03</vt:lpstr>
      <vt:lpstr>Vecto 3.3.0.1433 Official Release 2018-12-04</vt:lpstr>
      <vt:lpstr>Vecto 3.3.0.1398 Release Candiate 2018-10-30</vt:lpstr>
      <vt:lpstr>Vecto 3.3.0.1250 2018-06-04</vt:lpstr>
      <vt:lpstr>Vecto 3.3.0.1250 2018-06-04</vt:lpstr>
      <vt:lpstr>Vecto 3.2.1.1133 2018-02-07</vt:lpstr>
      <vt:lpstr>Vecto 3.2.1.1079 2017-12-15</vt:lpstr>
      <vt:lpstr>Vecto 3.2.1.1054 2017-11-20</vt:lpstr>
      <vt:lpstr>VTP Simulation Mode</vt:lpstr>
      <vt:lpstr>Vecto 3.2.0.1022 2017-10-19</vt:lpstr>
      <vt:lpstr>Vecto 3.2.0.1005 2017-10-02</vt:lpstr>
      <vt:lpstr>Vecto 3.2.0.940 2017-07-28</vt:lpstr>
      <vt:lpstr>Vecto 3.2.0.925 2017-07-14</vt:lpstr>
      <vt:lpstr>Vecto 3.2.0.925 2017-07-14</vt:lpstr>
      <vt:lpstr>Vecto 3.2.0.925 2017-07-14</vt:lpstr>
      <vt:lpstr>Vecto 3.2.0.925 2017-07-14</vt:lpstr>
      <vt:lpstr>Vecto 3.1.2.810 2017-01-18</vt:lpstr>
      <vt:lpstr>Vecto 3.1.2.796 2017-03-07</vt:lpstr>
      <vt:lpstr>Vecto 3.1.1.748 2017-01-18</vt:lpstr>
      <vt:lpstr>Vecto 3.1.1.742 2017-01-12</vt:lpstr>
      <vt:lpstr>Vecto 3.1.0.683 2016-11-14</vt:lpstr>
      <vt:lpstr>PowerPoint-Präsentation</vt:lpstr>
      <vt:lpstr>Vecto 3.1.0.662 2016-10-24</vt:lpstr>
      <vt:lpstr>Vecto 3.1.0.652 2016-10-14</vt:lpstr>
      <vt:lpstr>Vecto 3.1.0.652 2016-10-14</vt:lpstr>
      <vt:lpstr>Status quo VECTO software and open issues (Oct. 2016)</vt:lpstr>
      <vt:lpstr>Vecto 3.0.4.565 2016-07-19</vt:lpstr>
      <vt:lpstr>Vecto 3.0.4.544 2016-06-28</vt:lpstr>
      <vt:lpstr>Notes for using Vecto 3.x with AAUX (1)</vt:lpstr>
      <vt:lpstr>Notes for using Vecto 3.x with AAUX (2)</vt:lpstr>
      <vt:lpstr>Notes for using Vecto 3.x with AAUX (3)</vt:lpstr>
      <vt:lpstr>Vecto 3.0.3.537 2016-06-21</vt:lpstr>
      <vt:lpstr>Vecto 3.0.3.495 2016-05-10</vt:lpstr>
      <vt:lpstr>Performance Comparison</vt:lpstr>
      <vt:lpstr>PowerPoint-Präsentation</vt:lpstr>
      <vt:lpstr>Pwheel (SiCo) Mode</vt:lpstr>
      <vt:lpstr>Measured Speed Mode</vt:lpstr>
      <vt:lpstr>.vmod File Update</vt:lpstr>
      <vt:lpstr>Changelog 3.0.2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martinrexeis</dc:creator>
  <cp:lastModifiedBy>Quaritsch Markus</cp:lastModifiedBy>
  <cp:revision>1234</cp:revision>
  <cp:lastPrinted>2013-01-22T12:03:30Z</cp:lastPrinted>
  <dcterms:created xsi:type="dcterms:W3CDTF">2010-01-07T15:28:02Z</dcterms:created>
  <dcterms:modified xsi:type="dcterms:W3CDTF">2020-12-15T09:34:28Z</dcterms:modified>
</cp:coreProperties>
</file>