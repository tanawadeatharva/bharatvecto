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handoutMasterIdLst>
    <p:handoutMasterId r:id="rId84"/>
  </p:handoutMasterIdLst>
  <p:sldIdLst>
    <p:sldId id="575" r:id="rId2"/>
    <p:sldId id="707" r:id="rId3"/>
    <p:sldId id="721" r:id="rId4"/>
    <p:sldId id="720" r:id="rId5"/>
    <p:sldId id="719" r:id="rId6"/>
    <p:sldId id="718" r:id="rId7"/>
    <p:sldId id="708" r:id="rId8"/>
    <p:sldId id="709" r:id="rId9"/>
    <p:sldId id="710" r:id="rId10"/>
    <p:sldId id="711" r:id="rId11"/>
    <p:sldId id="712" r:id="rId12"/>
    <p:sldId id="713" r:id="rId13"/>
    <p:sldId id="714" r:id="rId14"/>
    <p:sldId id="715" r:id="rId15"/>
    <p:sldId id="716" r:id="rId16"/>
    <p:sldId id="717" r:id="rId17"/>
    <p:sldId id="705" r:id="rId18"/>
    <p:sldId id="706" r:id="rId19"/>
    <p:sldId id="703" r:id="rId20"/>
    <p:sldId id="704" r:id="rId21"/>
    <p:sldId id="681" r:id="rId22"/>
    <p:sldId id="702" r:id="rId23"/>
    <p:sldId id="701" r:id="rId24"/>
    <p:sldId id="700" r:id="rId25"/>
    <p:sldId id="699" r:id="rId26"/>
    <p:sldId id="698" r:id="rId27"/>
    <p:sldId id="697" r:id="rId28"/>
    <p:sldId id="696" r:id="rId29"/>
    <p:sldId id="695" r:id="rId30"/>
    <p:sldId id="694" r:id="rId31"/>
    <p:sldId id="693" r:id="rId32"/>
    <p:sldId id="692" r:id="rId33"/>
    <p:sldId id="691" r:id="rId34"/>
    <p:sldId id="690" r:id="rId35"/>
    <p:sldId id="688" r:id="rId36"/>
    <p:sldId id="689" r:id="rId37"/>
    <p:sldId id="687" r:id="rId38"/>
    <p:sldId id="686" r:id="rId39"/>
    <p:sldId id="683" r:id="rId40"/>
    <p:sldId id="684" r:id="rId41"/>
    <p:sldId id="677" r:id="rId42"/>
    <p:sldId id="685" r:id="rId43"/>
    <p:sldId id="682" r:id="rId44"/>
    <p:sldId id="680" r:id="rId45"/>
    <p:sldId id="679" r:id="rId46"/>
    <p:sldId id="678" r:id="rId47"/>
    <p:sldId id="671" r:id="rId48"/>
    <p:sldId id="676" r:id="rId49"/>
    <p:sldId id="675" r:id="rId50"/>
    <p:sldId id="674" r:id="rId51"/>
    <p:sldId id="673" r:id="rId52"/>
    <p:sldId id="672" r:id="rId53"/>
    <p:sldId id="669" r:id="rId54"/>
    <p:sldId id="670" r:id="rId55"/>
    <p:sldId id="664" r:id="rId56"/>
    <p:sldId id="666" r:id="rId57"/>
    <p:sldId id="667" r:id="rId58"/>
    <p:sldId id="668" r:id="rId59"/>
    <p:sldId id="665" r:id="rId60"/>
    <p:sldId id="663" r:id="rId61"/>
    <p:sldId id="661" r:id="rId62"/>
    <p:sldId id="662" r:id="rId63"/>
    <p:sldId id="657" r:id="rId64"/>
    <p:sldId id="659" r:id="rId65"/>
    <p:sldId id="660" r:id="rId66"/>
    <p:sldId id="656" r:id="rId67"/>
    <p:sldId id="655" r:id="rId68"/>
    <p:sldId id="654" r:id="rId69"/>
    <p:sldId id="653" r:id="rId70"/>
    <p:sldId id="651" r:id="rId71"/>
    <p:sldId id="648" r:id="rId72"/>
    <p:sldId id="649" r:id="rId73"/>
    <p:sldId id="650" r:id="rId74"/>
    <p:sldId id="645" r:id="rId75"/>
    <p:sldId id="647" r:id="rId76"/>
    <p:sldId id="646" r:id="rId77"/>
    <p:sldId id="640" r:id="rId78"/>
    <p:sldId id="641" r:id="rId79"/>
    <p:sldId id="642" r:id="rId80"/>
    <p:sldId id="643" r:id="rId81"/>
    <p:sldId id="644" r:id="rId8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84" autoAdjust="0"/>
    <p:restoredTop sz="94289" autoAdjust="0"/>
  </p:normalViewPr>
  <p:slideViewPr>
    <p:cSldViewPr>
      <p:cViewPr varScale="1">
        <p:scale>
          <a:sx n="104" d="100"/>
          <a:sy n="104" d="100"/>
        </p:scale>
        <p:origin x="114" y="115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handoutMaster" Target="handoutMasters/handoutMaster1.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21.12.2021</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0.7.7.XXXX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Implementation APT-N Gearbox + shift strategy</a:t>
            </a:r>
          </a:p>
          <a:p>
            <a:pPr lvl="1">
              <a:tabLst>
                <a:tab pos="1885950" algn="l"/>
              </a:tabLst>
            </a:pPr>
            <a:r>
              <a:rPr lang="en-US" sz="1400" dirty="0"/>
              <a:t>Update EM model (drag curve independent of voltage level)</a:t>
            </a:r>
          </a:p>
          <a:p>
            <a:pPr lvl="1">
              <a:tabLst>
                <a:tab pos="1885950" algn="l"/>
              </a:tabLst>
            </a:pPr>
            <a:r>
              <a:rPr lang="en-US" sz="1400" dirty="0"/>
              <a:t>Update EM electric power map interpolation method</a:t>
            </a:r>
          </a:p>
          <a:p>
            <a:pPr lvl="1">
              <a:tabLst>
                <a:tab pos="1885950" algn="l"/>
              </a:tabLst>
            </a:pPr>
            <a:r>
              <a:rPr lang="en-US" sz="1400" dirty="0"/>
              <a:t>Update user manual</a:t>
            </a:r>
          </a:p>
          <a:p>
            <a:pPr lvl="1">
              <a:tabLst>
                <a:tab pos="1885950" algn="l"/>
              </a:tabLst>
            </a:pPr>
            <a:r>
              <a:rPr lang="en-US" sz="1400" dirty="0"/>
              <a:t>Update/bugfixes PEV shift strategy (influence of drag curve, error in calculation of costs)</a:t>
            </a:r>
          </a:p>
          <a:p>
            <a:pPr lvl="1">
              <a:tabLst>
                <a:tab pos="1885950" algn="l"/>
              </a:tabLst>
            </a:pPr>
            <a:r>
              <a:rPr lang="en-US" sz="1400" dirty="0"/>
              <a:t>Bugfix calculation </a:t>
            </a:r>
            <a:r>
              <a:rPr lang="en-US" sz="1400" dirty="0" err="1"/>
              <a:t>E_EM_off_loss</a:t>
            </a:r>
            <a:endParaRPr lang="en-US" sz="1400" dirty="0"/>
          </a:p>
          <a:p>
            <a:pPr lvl="1">
              <a:tabLst>
                <a:tab pos="1885950" algn="l"/>
              </a:tabLst>
            </a:pPr>
            <a:r>
              <a:rPr lang="en-US" sz="1400" dirty="0"/>
              <a:t>Update generic shift lines for PEV E2</a:t>
            </a:r>
          </a:p>
          <a:p>
            <a:pPr lvl="1">
              <a:tabLst>
                <a:tab pos="1885950" algn="l"/>
              </a:tabLst>
            </a:pPr>
            <a:r>
              <a:rPr lang="en-US" sz="1400" dirty="0"/>
              <a:t>Bugfix post-processing fuel consumption correction bus auxiliaries (in case of no alternator)</a:t>
            </a:r>
          </a:p>
          <a:p>
            <a:pPr lvl="1">
              <a:tabLst>
                <a:tab pos="1885950" algn="l"/>
              </a:tabLst>
            </a:pPr>
            <a:r>
              <a:rPr lang="en-US" sz="1400" dirty="0"/>
              <a:t>Bugfixes PCC for </a:t>
            </a:r>
            <a:r>
              <a:rPr lang="en-US" sz="1400" dirty="0" err="1"/>
              <a:t>xEV</a:t>
            </a:r>
            <a:endParaRPr lang="en-US" sz="14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0.7.7.XXXX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[VECTO-1460] - APT-N Gearbox</a:t>
            </a:r>
          </a:p>
          <a:p>
            <a:pPr lvl="1">
              <a:tabLst>
                <a:tab pos="1885950" algn="l"/>
              </a:tabLst>
            </a:pPr>
            <a:r>
              <a:rPr lang="en-US" sz="1400" dirty="0"/>
              <a:t>[VECTO-1501] - Update EM Map interpolation method</a:t>
            </a:r>
          </a:p>
          <a:p>
            <a:pPr lvl="1">
              <a:tabLst>
                <a:tab pos="1885950" algn="l"/>
              </a:tabLst>
            </a:pPr>
            <a:r>
              <a:rPr lang="en-US" sz="1400" dirty="0"/>
              <a:t>[VECTO-1477] - Update user manual</a:t>
            </a:r>
          </a:p>
          <a:p>
            <a:pPr lvl="1">
              <a:tabLst>
                <a:tab pos="1885950" algn="l"/>
              </a:tabLst>
            </a:pPr>
            <a:r>
              <a:rPr lang="en-US" sz="1400" dirty="0"/>
              <a:t>[VECTO-1383] - E2 PEV, 2-speed AMT: "Failed to find operating point"</a:t>
            </a:r>
          </a:p>
          <a:p>
            <a:pPr lvl="1">
              <a:tabLst>
                <a:tab pos="1885950" algn="l"/>
              </a:tabLst>
            </a:pPr>
            <a:r>
              <a:rPr lang="en-US" sz="1400" dirty="0"/>
              <a:t>[VECTO-1384] - E2 PEV, 2-speed AMT: Downshifts missing</a:t>
            </a:r>
          </a:p>
          <a:p>
            <a:pPr lvl="1">
              <a:tabLst>
                <a:tab pos="1885950" algn="l"/>
              </a:tabLst>
            </a:pPr>
            <a:r>
              <a:rPr lang="en-US" sz="1400" dirty="0"/>
              <a:t>[VECTO-1414] - E2 selects high gear at low speed after take-off, does not reach target acc</a:t>
            </a:r>
          </a:p>
          <a:p>
            <a:pPr lvl="1">
              <a:tabLst>
                <a:tab pos="1885950" algn="l"/>
              </a:tabLst>
            </a:pPr>
            <a:r>
              <a:rPr lang="en-US" sz="1400" dirty="0"/>
              <a:t>[VECTO-1443] - 0.7.5.2356 </a:t>
            </a:r>
            <a:r>
              <a:rPr lang="en-US" sz="1400" dirty="0" err="1"/>
              <a:t>EC_el_final</a:t>
            </a:r>
            <a:r>
              <a:rPr lang="en-US" sz="1400" dirty="0"/>
              <a:t> calculated from REESS terminal signals</a:t>
            </a:r>
          </a:p>
          <a:p>
            <a:pPr lvl="1">
              <a:tabLst>
                <a:tab pos="1885950" algn="l"/>
              </a:tabLst>
            </a:pPr>
            <a:r>
              <a:rPr lang="en-US" sz="1400" dirty="0"/>
              <a:t>[VECTO-1445] - 073.2356, E2 Missing Downshifts, simulation abort</a:t>
            </a:r>
          </a:p>
          <a:p>
            <a:pPr lvl="1">
              <a:tabLst>
                <a:tab pos="1885950" algn="l"/>
              </a:tabLst>
            </a:pPr>
            <a:r>
              <a:rPr lang="en-US" sz="1400" dirty="0"/>
              <a:t>[VECTO-1464] - Engine Off not working with activated PCC (Hybrid Vehicles)</a:t>
            </a:r>
          </a:p>
          <a:p>
            <a:pPr lvl="1">
              <a:tabLst>
                <a:tab pos="1885950" algn="l"/>
              </a:tabLst>
            </a:pPr>
            <a:r>
              <a:rPr lang="en-US" sz="1400" dirty="0"/>
              <a:t>[VECTO-1465] - PEV </a:t>
            </a:r>
            <a:r>
              <a:rPr lang="en-US" sz="1400" dirty="0" err="1"/>
              <a:t>PCCState</a:t>
            </a:r>
            <a:r>
              <a:rPr lang="en-US" sz="1400" dirty="0"/>
              <a:t> oscillates between Interrupt and UseCase1</a:t>
            </a:r>
          </a:p>
          <a:p>
            <a:pPr lvl="1">
              <a:tabLst>
                <a:tab pos="1885950" algn="l"/>
              </a:tabLst>
            </a:pPr>
            <a:r>
              <a:rPr lang="en-US" sz="1400" dirty="0"/>
              <a:t>[VECTO-1467] - PCC HEV Small Spike at end of UseCase1 when Target speed is reached</a:t>
            </a:r>
          </a:p>
          <a:p>
            <a:pPr lvl="1">
              <a:tabLst>
                <a:tab pos="1885950" algn="l"/>
              </a:tabLst>
            </a:pPr>
            <a:r>
              <a:rPr lang="en-US" sz="1400" dirty="0"/>
              <a:t>[VECTO-1468] - EM map interpolation comments</a:t>
            </a:r>
          </a:p>
          <a:p>
            <a:pPr lvl="1">
              <a:tabLst>
                <a:tab pos="1885950" algn="l"/>
              </a:tabLst>
            </a:pPr>
            <a:r>
              <a:rPr lang="en-US" sz="1400" dirty="0"/>
              <a:t>[VECTO-1470] - 076.2463 EM drag torque questions/findings</a:t>
            </a:r>
          </a:p>
          <a:p>
            <a:pPr lvl="1">
              <a:tabLst>
                <a:tab pos="1885950" algn="l"/>
              </a:tabLst>
            </a:pPr>
            <a:r>
              <a:rPr lang="en-US" sz="1400" dirty="0"/>
              <a:t>[VECTO-1482] - Hybrid Vehicle EM speed gets very high, no gearshift</a:t>
            </a:r>
          </a:p>
          <a:p>
            <a:pPr lvl="1">
              <a:tabLst>
                <a:tab pos="1885950" algn="l"/>
              </a:tabLst>
            </a:pPr>
            <a:r>
              <a:rPr lang="en-US" sz="1400" dirty="0"/>
              <a:t>[VECTO-1483] - Job aborting: E4_Group 5 LH_ll_LongHaul_mod5_id_2</a:t>
            </a:r>
          </a:p>
          <a:p>
            <a:pPr lvl="1">
              <a:tabLst>
                <a:tab pos="1885950" algn="l"/>
              </a:tabLst>
            </a:pPr>
            <a:r>
              <a:rPr lang="en-US" sz="1400" dirty="0"/>
              <a:t>[VECTO-1484] - Job aborting: P2_Group5_s2c0_rep_Payload_LongHaul_mod5_id_27</a:t>
            </a:r>
          </a:p>
          <a:p>
            <a:pPr lvl="1">
              <a:tabLst>
                <a:tab pos="1885950" algn="l"/>
              </a:tabLst>
            </a:pPr>
            <a:r>
              <a:rPr lang="en-US" sz="1400" dirty="0"/>
              <a:t>[VECTO-1486] - NG PI fuel type not working with Engine GUI (.</a:t>
            </a:r>
            <a:r>
              <a:rPr lang="en-US" sz="1400" dirty="0" err="1"/>
              <a:t>veng</a:t>
            </a:r>
            <a:r>
              <a:rPr lang="en-US" sz="1400" dirty="0"/>
              <a:t>) in Engineering Mode</a:t>
            </a:r>
          </a:p>
        </p:txBody>
      </p:sp>
    </p:spTree>
    <p:extLst>
      <p:ext uri="{BB962C8B-B14F-4D97-AF65-F5344CB8AC3E}">
        <p14:creationId xmlns:p14="http://schemas.microsoft.com/office/powerpoint/2010/main" val="2024835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0.7.7.XXXX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[VECTO-1487] - Calculation of EM efficiency during recuperation</a:t>
            </a:r>
          </a:p>
          <a:p>
            <a:pPr lvl="1">
              <a:tabLst>
                <a:tab pos="1885950" algn="l"/>
              </a:tabLst>
            </a:pPr>
            <a:r>
              <a:rPr lang="en-US" sz="1400" dirty="0"/>
              <a:t>[VECTO-1490] - Exceeded max iterations: Operating Point could not be found</a:t>
            </a:r>
          </a:p>
          <a:p>
            <a:pPr lvl="1">
              <a:tabLst>
                <a:tab pos="1885950" algn="l"/>
              </a:tabLst>
            </a:pPr>
            <a:r>
              <a:rPr lang="en-US" sz="1400" dirty="0"/>
              <a:t>[VECTO-1491] - Electric Energy Storage Editor does not show values</a:t>
            </a:r>
          </a:p>
          <a:p>
            <a:pPr lvl="1">
              <a:tabLst>
                <a:tab pos="1885950" algn="l"/>
              </a:tabLst>
            </a:pPr>
            <a:r>
              <a:rPr lang="en-US" sz="1400" dirty="0"/>
              <a:t>[VECTO-1499] - Energy balance when ICE is turned on in a P1 hybrid configuration</a:t>
            </a:r>
          </a:p>
          <a:p>
            <a:pPr lvl="1">
              <a:tabLst>
                <a:tab pos="1885950" algn="l"/>
              </a:tabLst>
            </a:pPr>
            <a:r>
              <a:rPr lang="en-US" sz="1400" dirty="0"/>
              <a:t>[VECTO-1514] - </a:t>
            </a:r>
            <a:r>
              <a:rPr lang="en-US" sz="1400" dirty="0" err="1"/>
              <a:t>Modeldata</a:t>
            </a:r>
            <a:r>
              <a:rPr lang="en-US" sz="1400" dirty="0"/>
              <a:t> uses wrong inertia in case multiple EMs are used on a position</a:t>
            </a:r>
          </a:p>
          <a:p>
            <a:pPr lvl="1">
              <a:tabLst>
                <a:tab pos="1885950" algn="l"/>
              </a:tabLst>
            </a:pPr>
            <a:r>
              <a:rPr lang="en-US" sz="1400" dirty="0"/>
              <a:t>[VECTO-1448] - 075.2356, E2 Selecting high gear in downhill, needs to use wheel brakes</a:t>
            </a:r>
          </a:p>
          <a:p>
            <a:pPr lvl="1">
              <a:tabLst>
                <a:tab pos="1885950" algn="l"/>
              </a:tabLst>
            </a:pPr>
            <a:r>
              <a:rPr lang="en-US" sz="1400" dirty="0"/>
              <a:t>[VECTO-1472] - Do not end PCC if acceleration is still high enough</a:t>
            </a:r>
          </a:p>
          <a:p>
            <a:pPr lvl="1">
              <a:tabLst>
                <a:tab pos="1885950" algn="l"/>
              </a:tabLst>
            </a:pPr>
            <a:r>
              <a:rPr lang="en-US" sz="1400" dirty="0"/>
              <a:t>[VECTO-1473] - Additional </a:t>
            </a:r>
            <a:r>
              <a:rPr lang="en-US" sz="1400" dirty="0" err="1"/>
              <a:t>tyre</a:t>
            </a:r>
            <a:r>
              <a:rPr lang="en-US" sz="1400" dirty="0"/>
              <a:t> dimensions</a:t>
            </a:r>
          </a:p>
          <a:p>
            <a:pPr lvl="1">
              <a:tabLst>
                <a:tab pos="1885950" algn="l"/>
              </a:tabLst>
            </a:pPr>
            <a:r>
              <a:rPr lang="en-US" sz="1400" dirty="0"/>
              <a:t>[VECTO-1476] - Update EM GUI, EM component</a:t>
            </a:r>
          </a:p>
          <a:p>
            <a:pPr lvl="1">
              <a:tabLst>
                <a:tab pos="1885950" algn="l"/>
              </a:tabLst>
            </a:pPr>
            <a:r>
              <a:rPr lang="en-US" sz="1400" dirty="0"/>
              <a:t>[VECTO-1493] - Use </a:t>
            </a:r>
            <a:r>
              <a:rPr lang="en-US" sz="1400" dirty="0" err="1"/>
              <a:t>EngineStartStop</a:t>
            </a:r>
            <a:r>
              <a:rPr lang="en-US" sz="1400" dirty="0"/>
              <a:t> in PCC-Events for Hybrid P1</a:t>
            </a:r>
          </a:p>
          <a:p>
            <a:pPr lvl="1">
              <a:tabLst>
                <a:tab pos="1885950" algn="l"/>
              </a:tabLst>
            </a:pPr>
            <a:r>
              <a:rPr lang="en-US" sz="1400" dirty="0"/>
              <a:t>[VECTO-1498] - Crosswind correction in engineering mode</a:t>
            </a:r>
          </a:p>
          <a:p>
            <a:pPr lvl="1">
              <a:tabLst>
                <a:tab pos="1885950" algn="l"/>
              </a:tabLst>
            </a:pPr>
            <a:r>
              <a:rPr lang="en-US" sz="1400" dirty="0"/>
              <a:t>[VECTO-1508] - EM-Off Losses in .</a:t>
            </a:r>
            <a:r>
              <a:rPr lang="en-US" sz="1400" dirty="0" err="1"/>
              <a:t>vsum</a:t>
            </a:r>
            <a:endParaRPr lang="en-US" sz="1400" dirty="0"/>
          </a:p>
          <a:p>
            <a:pPr lvl="1">
              <a:tabLst>
                <a:tab pos="1885950" algn="l"/>
              </a:tabLst>
            </a:pPr>
            <a:r>
              <a:rPr lang="en-US" sz="1400" dirty="0"/>
              <a:t>[VECTO-1509] - SP Technology "Electric" already contains mechanical power demand</a:t>
            </a:r>
          </a:p>
          <a:p>
            <a:pPr lvl="1">
              <a:tabLst>
                <a:tab pos="1885950" algn="l"/>
              </a:tabLst>
            </a:pPr>
            <a:r>
              <a:rPr lang="en-US" sz="1400" dirty="0"/>
              <a:t>[VECTO-1510] - Remove selection of shift strategy in job dialog</a:t>
            </a:r>
          </a:p>
          <a:p>
            <a:pPr lvl="1">
              <a:tabLst>
                <a:tab pos="1885950" algn="l"/>
              </a:tabLst>
            </a:pPr>
            <a:r>
              <a:rPr lang="en-US" sz="1400" dirty="0"/>
              <a:t>[VECTO-1512] - Adapt shift lines for </a:t>
            </a:r>
            <a:r>
              <a:rPr lang="en-US" sz="1400" dirty="0" err="1"/>
              <a:t>xEV</a:t>
            </a:r>
            <a:r>
              <a:rPr lang="en-US" sz="1400" dirty="0"/>
              <a:t> vehicles</a:t>
            </a:r>
          </a:p>
          <a:p>
            <a:pPr lvl="1">
              <a:tabLst>
                <a:tab pos="1885950" algn="l"/>
              </a:tabLst>
            </a:pPr>
            <a:r>
              <a:rPr lang="en-US" sz="1400" dirty="0"/>
              <a:t>[VECTO-1513] - Bus Aux post-processing correction</a:t>
            </a:r>
          </a:p>
          <a:p>
            <a:pPr lvl="1">
              <a:tabLst>
                <a:tab pos="1885950" algn="l"/>
              </a:tabLst>
            </a:pPr>
            <a:r>
              <a:rPr lang="en-US" sz="1400" dirty="0"/>
              <a:t>[VECTO-1481] - Fix error/warning message</a:t>
            </a:r>
          </a:p>
        </p:txBody>
      </p:sp>
    </p:spTree>
    <p:extLst>
      <p:ext uri="{BB962C8B-B14F-4D97-AF65-F5344CB8AC3E}">
        <p14:creationId xmlns:p14="http://schemas.microsoft.com/office/powerpoint/2010/main" val="39459706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0.7.6.2451 Development Version</a:t>
            </a:r>
            <a:br>
              <a:rPr lang="en-US" dirty="0"/>
            </a:br>
            <a:r>
              <a:rPr lang="en-US" sz="1600" dirty="0"/>
              <a:t>September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ADAS for HEV and PEV vehicles</a:t>
            </a:r>
          </a:p>
          <a:p>
            <a:pPr lvl="2">
              <a:tabLst>
                <a:tab pos="1885950" algn="l"/>
              </a:tabLst>
            </a:pPr>
            <a:r>
              <a:rPr lang="en-US" sz="1000" dirty="0"/>
              <a:t>For HEV vehicles interaction of PCC and HEV strategy under further analysis</a:t>
            </a:r>
          </a:p>
          <a:p>
            <a:pPr lvl="1">
              <a:tabLst>
                <a:tab pos="1885950" algn="l"/>
              </a:tabLst>
            </a:pPr>
            <a:r>
              <a:rPr lang="en-US" sz="1400" dirty="0"/>
              <a:t>Update electric motor model: support for different voltage levels</a:t>
            </a:r>
          </a:p>
          <a:p>
            <a:pPr lvl="1">
              <a:tabLst>
                <a:tab pos="1885950" algn="l"/>
              </a:tabLst>
            </a:pPr>
            <a:r>
              <a:rPr lang="en-US" sz="1400" dirty="0"/>
              <a:t>Update battery model: modular battery components</a:t>
            </a:r>
          </a:p>
          <a:p>
            <a:pPr lvl="1">
              <a:tabLst>
                <a:tab pos="1885950" algn="l"/>
              </a:tabLst>
            </a:pPr>
            <a:r>
              <a:rPr lang="en-US" sz="1400" dirty="0"/>
              <a:t>Update battery model: pulse-duration dependent internal resistance</a:t>
            </a:r>
          </a:p>
          <a:p>
            <a:pPr lvl="1">
              <a:tabLst>
                <a:tab pos="1885950" algn="l"/>
              </a:tabLst>
            </a:pPr>
            <a:r>
              <a:rPr lang="en-US" sz="1400" dirty="0"/>
              <a:t>Bugfixes</a:t>
            </a:r>
          </a:p>
          <a:p>
            <a:pPr lvl="1">
              <a:tabLst>
                <a:tab pos="1885950" algn="l"/>
              </a:tabLst>
            </a:pPr>
            <a:endParaRPr lang="en-US" sz="1400" dirty="0"/>
          </a:p>
        </p:txBody>
      </p:sp>
    </p:spTree>
    <p:extLst>
      <p:ext uri="{BB962C8B-B14F-4D97-AF65-F5344CB8AC3E}">
        <p14:creationId xmlns:p14="http://schemas.microsoft.com/office/powerpoint/2010/main" val="755355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0.7.5.2353 Development Version</a:t>
            </a:r>
            <a:br>
              <a:rPr lang="en-US" dirty="0"/>
            </a:br>
            <a:r>
              <a:rPr lang="en-US" sz="1600" dirty="0"/>
              <a:t>June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Additional Powertrain architectures</a:t>
            </a:r>
          </a:p>
          <a:p>
            <a:pPr lvl="2">
              <a:tabLst>
                <a:tab pos="1885950" algn="l"/>
              </a:tabLst>
            </a:pPr>
            <a:r>
              <a:rPr lang="en-US" sz="1000" dirty="0"/>
              <a:t>P1 AMT and APT-S/P</a:t>
            </a:r>
          </a:p>
          <a:p>
            <a:pPr lvl="2">
              <a:tabLst>
                <a:tab pos="1885950" algn="l"/>
              </a:tabLst>
            </a:pPr>
            <a:r>
              <a:rPr lang="en-US" sz="1000" dirty="0"/>
              <a:t>P2.5 (transmission ratio EM per gear)</a:t>
            </a:r>
          </a:p>
          <a:p>
            <a:pPr lvl="2">
              <a:tabLst>
                <a:tab pos="1885950" algn="l"/>
              </a:tabLst>
            </a:pPr>
            <a:r>
              <a:rPr lang="en-US" sz="1000" dirty="0"/>
              <a:t>P3 &amp; P4 with APT transmissions</a:t>
            </a:r>
          </a:p>
          <a:p>
            <a:pPr lvl="1">
              <a:tabLst>
                <a:tab pos="1885950" algn="l"/>
              </a:tabLst>
            </a:pPr>
            <a:r>
              <a:rPr lang="en-US" sz="1400" dirty="0"/>
              <a:t>Loss-map for electric machine</a:t>
            </a:r>
          </a:p>
          <a:p>
            <a:pPr lvl="1">
              <a:tabLst>
                <a:tab pos="1885950" algn="l"/>
              </a:tabLst>
            </a:pPr>
            <a:r>
              <a:rPr lang="en-US" sz="1400" dirty="0"/>
              <a:t>Bus auxiliaries in engineering mode</a:t>
            </a:r>
          </a:p>
          <a:p>
            <a:pPr lvl="1">
              <a:tabLst>
                <a:tab pos="1885950" algn="l"/>
              </a:tabLst>
            </a:pPr>
            <a:r>
              <a:rPr lang="en-US" sz="1400" dirty="0"/>
              <a:t>Combine Bus auxiliaries with HEV powertrains</a:t>
            </a:r>
          </a:p>
          <a:p>
            <a:pPr lvl="1">
              <a:tabLst>
                <a:tab pos="1885950" algn="l"/>
              </a:tabLst>
            </a:pPr>
            <a:r>
              <a:rPr lang="en-US" sz="1400" dirty="0"/>
              <a:t>Refactoring Engine Stop/Start approach</a:t>
            </a:r>
          </a:p>
          <a:p>
            <a:pPr lvl="2">
              <a:tabLst>
                <a:tab pos="1885950" algn="l"/>
              </a:tabLst>
            </a:pPr>
            <a:r>
              <a:rPr lang="en-US" sz="1000" dirty="0"/>
              <a:t>ICE is always off during simulation, balance missing energy in case ICE is on / ICE is off for all auxiliaries in .</a:t>
            </a:r>
            <a:r>
              <a:rPr lang="en-US" sz="1000" dirty="0" err="1"/>
              <a:t>vmod</a:t>
            </a:r>
            <a:r>
              <a:rPr lang="en-US" sz="1000" dirty="0"/>
              <a:t>.</a:t>
            </a:r>
          </a:p>
          <a:p>
            <a:pPr lvl="2">
              <a:tabLst>
                <a:tab pos="1885950" algn="l"/>
              </a:tabLst>
            </a:pPr>
            <a:r>
              <a:rPr lang="en-US" sz="1000" dirty="0"/>
              <a:t>Correct for missing aux energy in post-processing (not fully implemented in this version)</a:t>
            </a:r>
          </a:p>
          <a:p>
            <a:pPr lvl="1">
              <a:tabLst>
                <a:tab pos="1885950" algn="l"/>
              </a:tabLst>
            </a:pPr>
            <a:r>
              <a:rPr lang="en-US" sz="1400" dirty="0"/>
              <a:t>Added vehicle propulsion limits (relative to ICE max torque)</a:t>
            </a:r>
          </a:p>
          <a:p>
            <a:pPr lvl="2">
              <a:tabLst>
                <a:tab pos="1885950" algn="l"/>
              </a:tabLst>
            </a:pPr>
            <a:r>
              <a:rPr lang="en-US" sz="1000" dirty="0"/>
              <a:t>P2, P3, and P4</a:t>
            </a:r>
          </a:p>
          <a:p>
            <a:pPr lvl="1">
              <a:tabLst>
                <a:tab pos="1885950" algn="l"/>
              </a:tabLst>
            </a:pPr>
            <a:r>
              <a:rPr lang="en-US" sz="1400" dirty="0"/>
              <a:t>Refactored EM model: continuous torque, overload torque as separate inputs</a:t>
            </a:r>
          </a:p>
        </p:txBody>
      </p:sp>
    </p:spTree>
    <p:extLst>
      <p:ext uri="{BB962C8B-B14F-4D97-AF65-F5344CB8AC3E}">
        <p14:creationId xmlns:p14="http://schemas.microsoft.com/office/powerpoint/2010/main" val="3280255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600149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10094</Words>
  <Application>Microsoft Office PowerPoint</Application>
  <PresentationFormat>Bildschirmpräsentation (4:3)</PresentationFormat>
  <Paragraphs>969</Paragraphs>
  <Slides>81</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81</vt:i4>
      </vt:variant>
    </vt:vector>
  </HeadingPairs>
  <TitlesOfParts>
    <vt:vector size="87" baseType="lpstr">
      <vt:lpstr>Arial</vt:lpstr>
      <vt:lpstr>Calibri</vt:lpstr>
      <vt:lpstr>Courier New</vt:lpstr>
      <vt:lpstr>Times New Roman</vt:lpstr>
      <vt:lpstr>Verdana</vt:lpstr>
      <vt:lpstr>Standarddesign</vt:lpstr>
      <vt:lpstr>PowerPoint-Präsentation</vt:lpstr>
      <vt:lpstr>Vecto 0.7.7.XXXX Development Version December 2021</vt:lpstr>
      <vt:lpstr>Vecto 0.7.7.XXXX Development Version December 2021</vt:lpstr>
      <vt:lpstr>Vecto 0.7.7.XXXX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1255</cp:revision>
  <cp:lastPrinted>2013-01-22T12:03:30Z</cp:lastPrinted>
  <dcterms:created xsi:type="dcterms:W3CDTF">2010-01-07T15:28:02Z</dcterms:created>
  <dcterms:modified xsi:type="dcterms:W3CDTF">2021-12-17T07:58:37Z</dcterms:modified>
</cp:coreProperties>
</file>