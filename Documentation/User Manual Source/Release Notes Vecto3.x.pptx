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7"/>
  </p:notesMasterIdLst>
  <p:handoutMasterIdLst>
    <p:handoutMasterId r:id="rId48"/>
  </p:handoutMasterIdLst>
  <p:sldIdLst>
    <p:sldId id="575" r:id="rId2"/>
    <p:sldId id="681" r:id="rId3"/>
    <p:sldId id="683" r:id="rId4"/>
    <p:sldId id="684" r:id="rId5"/>
    <p:sldId id="677" r:id="rId6"/>
    <p:sldId id="685" r:id="rId7"/>
    <p:sldId id="682" r:id="rId8"/>
    <p:sldId id="680" r:id="rId9"/>
    <p:sldId id="679" r:id="rId10"/>
    <p:sldId id="678" r:id="rId11"/>
    <p:sldId id="671" r:id="rId12"/>
    <p:sldId id="676" r:id="rId13"/>
    <p:sldId id="675" r:id="rId14"/>
    <p:sldId id="674" r:id="rId15"/>
    <p:sldId id="673" r:id="rId16"/>
    <p:sldId id="672" r:id="rId17"/>
    <p:sldId id="669" r:id="rId18"/>
    <p:sldId id="670" r:id="rId19"/>
    <p:sldId id="664" r:id="rId20"/>
    <p:sldId id="666" r:id="rId21"/>
    <p:sldId id="667" r:id="rId22"/>
    <p:sldId id="668" r:id="rId23"/>
    <p:sldId id="665" r:id="rId24"/>
    <p:sldId id="663" r:id="rId25"/>
    <p:sldId id="661" r:id="rId26"/>
    <p:sldId id="662" r:id="rId27"/>
    <p:sldId id="657" r:id="rId28"/>
    <p:sldId id="659" r:id="rId29"/>
    <p:sldId id="660" r:id="rId30"/>
    <p:sldId id="656" r:id="rId31"/>
    <p:sldId id="655" r:id="rId32"/>
    <p:sldId id="654" r:id="rId33"/>
    <p:sldId id="653" r:id="rId34"/>
    <p:sldId id="651" r:id="rId35"/>
    <p:sldId id="648" r:id="rId36"/>
    <p:sldId id="649" r:id="rId37"/>
    <p:sldId id="650" r:id="rId38"/>
    <p:sldId id="645" r:id="rId39"/>
    <p:sldId id="647" r:id="rId40"/>
    <p:sldId id="646" r:id="rId41"/>
    <p:sldId id="640" r:id="rId42"/>
    <p:sldId id="641" r:id="rId43"/>
    <p:sldId id="642" r:id="rId44"/>
    <p:sldId id="643" r:id="rId45"/>
    <p:sldId id="644" r:id="rId46"/>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05" d="100"/>
          <a:sy n="105" d="100"/>
        </p:scale>
        <p:origin x="1710" y="96"/>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dirty="0" smtClean="0">
                <a:solidFill>
                  <a:srgbClr val="990000"/>
                </a:solidFill>
              </a:rPr>
              <a:t>03.01.2019</a:t>
            </a: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smtClean="0"/>
              <a:t>[</a:t>
            </a:r>
            <a:r>
              <a:rPr lang="en-US" sz="1400" dirty="0"/>
              <a:t>VECTO-761] - Adaptation of input XML Schema</a:t>
            </a:r>
          </a:p>
          <a:p>
            <a:pPr lvl="1">
              <a:tabLst>
                <a:tab pos="1885950" algn="l"/>
              </a:tabLst>
            </a:pPr>
            <a:r>
              <a:rPr lang="en-US" sz="1400" dirty="0" smtClean="0"/>
              <a:t>[</a:t>
            </a:r>
            <a:r>
              <a:rPr lang="en-US" sz="1400" dirty="0"/>
              <a:t>VECTO-762] - Extension of Input Interfaces</a:t>
            </a:r>
          </a:p>
          <a:p>
            <a:pPr lvl="1">
              <a:tabLst>
                <a:tab pos="1885950" algn="l"/>
              </a:tabLst>
            </a:pPr>
            <a:r>
              <a:rPr lang="en-US" sz="1400" dirty="0" smtClean="0"/>
              <a:t>[</a:t>
            </a:r>
            <a:r>
              <a:rPr lang="en-US" sz="1400" dirty="0"/>
              <a:t>VECTO-763] - Extension of Segmentation Table</a:t>
            </a:r>
          </a:p>
          <a:p>
            <a:pPr lvl="1">
              <a:tabLst>
                <a:tab pos="1885950" algn="l"/>
              </a:tabLst>
            </a:pPr>
            <a:r>
              <a:rPr lang="en-US" sz="1400" dirty="0" smtClean="0"/>
              <a:t>[</a:t>
            </a:r>
            <a:r>
              <a:rPr lang="en-US" sz="1400" dirty="0"/>
              <a:t>VECTO-764] - ADAS </a:t>
            </a:r>
            <a:r>
              <a:rPr lang="en-US" sz="1400" dirty="0" smtClean="0"/>
              <a:t>benefits (according to Annex III Point 8. of amendment to 2017/2400)</a:t>
            </a:r>
            <a:endParaRPr lang="en-US" sz="1400" dirty="0"/>
          </a:p>
          <a:p>
            <a:pPr lvl="1">
              <a:tabLst>
                <a:tab pos="1885950" algn="l"/>
              </a:tabLst>
            </a:pPr>
            <a:r>
              <a:rPr lang="en-US" sz="1400" dirty="0" smtClean="0"/>
              <a:t>[</a:t>
            </a:r>
            <a:r>
              <a:rPr lang="en-US" sz="1400" dirty="0"/>
              <a:t>VECTO-766] - Update </a:t>
            </a:r>
            <a:r>
              <a:rPr lang="en-US" sz="1400" dirty="0" smtClean="0"/>
              <a:t>power demand </a:t>
            </a:r>
            <a:r>
              <a:rPr lang="en-US" sz="1400" dirty="0" smtClean="0"/>
              <a:t>auxiliaries (for extended segmentation table)</a:t>
            </a:r>
            <a:endParaRPr lang="en-US" sz="1400" dirty="0"/>
          </a:p>
          <a:p>
            <a:pPr lvl="1">
              <a:tabLst>
                <a:tab pos="1885950" algn="l"/>
              </a:tabLst>
            </a:pPr>
            <a:r>
              <a:rPr lang="en-US" sz="1400" dirty="0" smtClean="0"/>
              <a:t>[</a:t>
            </a:r>
            <a:r>
              <a:rPr lang="en-US" sz="1400" dirty="0"/>
              <a:t>VECTO-767] - Report for exempted vehicles</a:t>
            </a:r>
          </a:p>
          <a:p>
            <a:pPr lvl="1">
              <a:tabLst>
                <a:tab pos="1885950" algn="l"/>
              </a:tabLst>
            </a:pPr>
            <a:r>
              <a:rPr lang="en-US" sz="1400" dirty="0" smtClean="0"/>
              <a:t>[</a:t>
            </a:r>
            <a:r>
              <a:rPr lang="en-US" sz="1400" dirty="0"/>
              <a:t>VECTO-768] - VTP mode</a:t>
            </a:r>
          </a:p>
          <a:p>
            <a:pPr lvl="1">
              <a:tabLst>
                <a:tab pos="1885950" algn="l"/>
              </a:tabLst>
            </a:pPr>
            <a:r>
              <a:rPr lang="en-US" sz="1400" dirty="0" smtClean="0"/>
              <a:t>[</a:t>
            </a:r>
            <a:r>
              <a:rPr lang="en-US" sz="1400" dirty="0"/>
              <a:t>VECTO-770] - Fuel Types</a:t>
            </a:r>
          </a:p>
          <a:p>
            <a:pPr lvl="1">
              <a:tabLst>
                <a:tab pos="1885950" algn="l"/>
              </a:tabLst>
            </a:pPr>
            <a:r>
              <a:rPr lang="en-US" sz="1400" dirty="0" smtClean="0"/>
              <a:t>[</a:t>
            </a:r>
            <a:r>
              <a:rPr lang="en-US" sz="1400" dirty="0"/>
              <a:t>VECTO-771] - Handling of exempted vehicles</a:t>
            </a:r>
          </a:p>
          <a:p>
            <a:pPr lvl="1">
              <a:tabLst>
                <a:tab pos="1885950" algn="l"/>
              </a:tabLst>
            </a:pPr>
            <a:r>
              <a:rPr lang="en-US" sz="1400" dirty="0" smtClean="0"/>
              <a:t>[</a:t>
            </a:r>
            <a:r>
              <a:rPr lang="en-US" sz="1400" dirty="0"/>
              <a:t>VECTO-824] - Throw exception for certain combinations of exempted vehicle parameters</a:t>
            </a:r>
          </a:p>
          <a:p>
            <a:pPr lvl="1">
              <a:tabLst>
                <a:tab pos="1885950" algn="l"/>
              </a:tabLst>
            </a:pPr>
            <a:r>
              <a:rPr lang="en-US" sz="1400" dirty="0" smtClean="0"/>
              <a:t>[</a:t>
            </a:r>
            <a:r>
              <a:rPr lang="en-US" sz="1400" dirty="0"/>
              <a:t>VECTO-773] - Correction Factor for Reference Fuel</a:t>
            </a:r>
          </a:p>
          <a:p>
            <a:pPr lvl="1">
              <a:tabLst>
                <a:tab pos="1885950" algn="l"/>
              </a:tabLst>
            </a:pPr>
            <a:r>
              <a:rPr lang="en-US" sz="1400" dirty="0" smtClean="0"/>
              <a:t>[</a:t>
            </a:r>
            <a:r>
              <a:rPr lang="en-US" sz="1400" dirty="0"/>
              <a:t>VECTO-790] - Adapt generic data for construction/municipal utility</a:t>
            </a:r>
          </a:p>
          <a:p>
            <a:pPr lvl="1">
              <a:tabLst>
                <a:tab pos="1885950" algn="l"/>
              </a:tabLst>
            </a:pPr>
            <a:r>
              <a:rPr lang="en-US" sz="1400" dirty="0" smtClean="0"/>
              <a:t>[</a:t>
            </a:r>
            <a:r>
              <a:rPr lang="en-US" sz="1400" dirty="0"/>
              <a:t>VECTO-493] - Implementation of generic body weights and air drag values for construction cycle</a:t>
            </a:r>
          </a:p>
          <a:p>
            <a:pPr lvl="1">
              <a:tabLst>
                <a:tab pos="1885950" algn="l"/>
              </a:tabLst>
            </a:pPr>
            <a:r>
              <a:rPr lang="en-US" sz="1400" dirty="0" smtClean="0"/>
              <a:t>[</a:t>
            </a:r>
            <a:r>
              <a:rPr lang="en-US" sz="1400" dirty="0"/>
              <a:t>VECTO-565] - Consideration of LNG as possible fuel is </a:t>
            </a:r>
            <a:r>
              <a:rPr lang="en-US" sz="1400" dirty="0" smtClean="0"/>
              <a:t>missing</a:t>
            </a:r>
            <a:endParaRPr lang="en-US" sz="1400" dirty="0" smtClean="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17398149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smtClean="0"/>
              <a:t>New input parameters</a:t>
            </a:r>
            <a:endParaRPr lang="en-US" sz="1800" b="1" dirty="0"/>
          </a:p>
          <a:p>
            <a:pPr lvl="1">
              <a:tabLst>
                <a:tab pos="1885950" algn="l"/>
              </a:tabLst>
            </a:pPr>
            <a:r>
              <a:rPr lang="en-US" sz="1400" dirty="0" smtClean="0"/>
              <a:t>The new input fields (see table below) are optional in this version. When this release candidate will be an official </a:t>
            </a:r>
            <a:r>
              <a:rPr lang="en-US" sz="1400" dirty="0" smtClean="0"/>
              <a:t>version </a:t>
            </a:r>
            <a:r>
              <a:rPr lang="en-US" sz="1400" dirty="0" smtClean="0"/>
              <a:t>manufacturers MAY certify their new vehicles using the new input parameters. As from 1</a:t>
            </a:r>
            <a:r>
              <a:rPr lang="en-US" sz="1400" baseline="30000" dirty="0" smtClean="0"/>
              <a:t>st</a:t>
            </a:r>
            <a:r>
              <a:rPr lang="en-US" sz="1400" dirty="0" smtClean="0"/>
              <a:t> July 2019 the new input fields will become </a:t>
            </a:r>
            <a:r>
              <a:rPr lang="en-US" sz="1400" dirty="0" smtClean="0"/>
              <a:t>mandatory. Further details are provided in the timetable on the next page.</a:t>
            </a:r>
            <a:endParaRPr lang="en-US" sz="1400" dirty="0" smtClean="0"/>
          </a:p>
          <a:p>
            <a:pPr lvl="1">
              <a:tabLst>
                <a:tab pos="1885950" algn="l"/>
              </a:tabLst>
            </a:pPr>
            <a:r>
              <a:rPr lang="en-US" sz="1400" dirty="0" smtClean="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3024880213"/>
              </p:ext>
            </p:extLst>
          </p:nvPr>
        </p:nvGraphicFramePr>
        <p:xfrm>
          <a:off x="1475656" y="3200714"/>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a:t>
                      </a:r>
                      <a:r>
                        <a:rPr lang="en-GB" sz="1050" dirty="0" smtClean="0">
                          <a:effectLst/>
                        </a:rPr>
                        <a:t>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t>
                      </a:r>
                      <a:r>
                        <a:rPr lang="en-GB" sz="1050" dirty="0" smtClean="0">
                          <a:effectLst/>
                        </a:rPr>
                        <a:t>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Tree>
    <p:extLst>
      <p:ext uri="{BB962C8B-B14F-4D97-AF65-F5344CB8AC3E}">
        <p14:creationId xmlns:p14="http://schemas.microsoft.com/office/powerpoint/2010/main" val="1468221435"/>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smtClean="0"/>
              <a:t>Timetable</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smtClean="0"/>
                        <a:t>Planned Date</a:t>
                      </a:r>
                      <a:endParaRPr lang="de-AT" dirty="0"/>
                    </a:p>
                  </a:txBody>
                  <a:tcPr/>
                </a:tc>
                <a:tc>
                  <a:txBody>
                    <a:bodyPr/>
                    <a:lstStyle/>
                    <a:p>
                      <a:r>
                        <a:rPr lang="en-US" dirty="0" smtClean="0"/>
                        <a:t>Version</a:t>
                      </a:r>
                      <a:endParaRPr lang="de-AT" dirty="0"/>
                    </a:p>
                  </a:txBody>
                  <a:tcPr/>
                </a:tc>
                <a:tc>
                  <a:txBody>
                    <a:bodyPr/>
                    <a:lstStyle/>
                    <a:p>
                      <a:r>
                        <a:rPr lang="en-US" dirty="0" smtClean="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smtClean="0"/>
                        <a:t>1. Feb. 2019</a:t>
                      </a:r>
                      <a:endParaRPr lang="de-AT" dirty="0"/>
                    </a:p>
                  </a:txBody>
                  <a:tcPr/>
                </a:tc>
                <a:tc>
                  <a:txBody>
                    <a:bodyPr/>
                    <a:lstStyle/>
                    <a:p>
                      <a:r>
                        <a:rPr lang="en-US" dirty="0" smtClean="0"/>
                        <a:t>3.3.1.x</a:t>
                      </a:r>
                      <a:endParaRPr lang="de-AT" dirty="0"/>
                    </a:p>
                  </a:txBody>
                  <a:tcPr/>
                </a:tc>
                <a:tc>
                  <a:txBody>
                    <a:bodyPr/>
                    <a:lstStyle/>
                    <a:p>
                      <a:r>
                        <a:rPr lang="en-US" dirty="0" smtClean="0"/>
                        <a:t>Release of official version</a:t>
                      </a:r>
                      <a:r>
                        <a:rPr lang="en-US" baseline="0" dirty="0" smtClean="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smtClean="0"/>
                        <a:t>1. March 2019</a:t>
                      </a:r>
                      <a:endParaRPr lang="de-AT" dirty="0"/>
                    </a:p>
                  </a:txBody>
                  <a:tcPr/>
                </a:tc>
                <a:tc>
                  <a:txBody>
                    <a:bodyPr/>
                    <a:lstStyle/>
                    <a:p>
                      <a:r>
                        <a:rPr lang="en-US" dirty="0" smtClean="0"/>
                        <a:t>3.3.2.x-RC</a:t>
                      </a:r>
                      <a:endParaRPr lang="de-AT" dirty="0"/>
                    </a:p>
                  </a:txBody>
                  <a:tcPr/>
                </a:tc>
                <a:tc>
                  <a:txBody>
                    <a:bodyPr/>
                    <a:lstStyle/>
                    <a:p>
                      <a:r>
                        <a:rPr lang="en-US" dirty="0" smtClean="0"/>
                        <a:t>Release candidate, new input parameters are mandatory (+ further</a:t>
                      </a:r>
                      <a:r>
                        <a:rPr lang="en-US" baseline="0" dirty="0" smtClean="0"/>
                        <a:t> </a:t>
                      </a:r>
                      <a:r>
                        <a:rPr lang="en-US" baseline="0" dirty="0" err="1" smtClean="0"/>
                        <a:t>bugfixes</a:t>
                      </a:r>
                      <a:r>
                        <a:rPr lang="en-US" baseline="0" dirty="0" smtClean="0"/>
                        <a:t>)</a:t>
                      </a:r>
                      <a:endParaRPr lang="de-AT" dirty="0"/>
                    </a:p>
                  </a:txBody>
                  <a:tcPr/>
                </a:tc>
                <a:extLst>
                  <a:ext uri="{0D108BD9-81ED-4DB2-BD59-A6C34878D82A}">
                    <a16:rowId xmlns:a16="http://schemas.microsoft.com/office/drawing/2014/main" val="2057187536"/>
                  </a:ext>
                </a:extLst>
              </a:tr>
              <a:tr h="370840">
                <a:tc>
                  <a:txBody>
                    <a:bodyPr/>
                    <a:lstStyle/>
                    <a:p>
                      <a:r>
                        <a:rPr lang="en-US" dirty="0" smtClean="0"/>
                        <a:t>1. April 2019</a:t>
                      </a:r>
                      <a:endParaRPr lang="de-AT" dirty="0"/>
                    </a:p>
                  </a:txBody>
                  <a:tcPr/>
                </a:tc>
                <a:tc>
                  <a:txBody>
                    <a:bodyPr/>
                    <a:lstStyle/>
                    <a:p>
                      <a:r>
                        <a:rPr lang="en-US" dirty="0" smtClean="0"/>
                        <a:t>3.3.2.x</a:t>
                      </a:r>
                      <a:endParaRPr lang="de-AT" dirty="0"/>
                    </a:p>
                  </a:txBody>
                  <a:tcPr/>
                </a:tc>
                <a:tc>
                  <a:txBody>
                    <a:bodyPr/>
                    <a:lstStyle/>
                    <a:p>
                      <a:r>
                        <a:rPr lang="en-US" dirty="0" smtClean="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smtClean="0"/>
                        <a:t>1. May 2019</a:t>
                      </a:r>
                      <a:endParaRPr lang="de-AT" dirty="0"/>
                    </a:p>
                  </a:txBody>
                  <a:tcPr/>
                </a:tc>
                <a:tc>
                  <a:txBody>
                    <a:bodyPr/>
                    <a:lstStyle/>
                    <a:p>
                      <a:endParaRPr lang="de-AT" dirty="0"/>
                    </a:p>
                  </a:txBody>
                  <a:tcPr/>
                </a:tc>
                <a:tc>
                  <a:txBody>
                    <a:bodyPr/>
                    <a:lstStyle/>
                    <a:p>
                      <a:r>
                        <a:rPr lang="en-US" dirty="0" smtClean="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smtClean="0"/>
                        <a:t>1. July 2019</a:t>
                      </a:r>
                      <a:endParaRPr lang="de-AT" dirty="0"/>
                    </a:p>
                  </a:txBody>
                  <a:tcPr/>
                </a:tc>
                <a:tc>
                  <a:txBody>
                    <a:bodyPr/>
                    <a:lstStyle/>
                    <a:p>
                      <a:endParaRPr lang="de-AT" dirty="0"/>
                    </a:p>
                  </a:txBody>
                  <a:tcPr/>
                </a:tc>
                <a:tc>
                  <a:txBody>
                    <a:bodyPr/>
                    <a:lstStyle/>
                    <a:p>
                      <a:r>
                        <a:rPr lang="en-US" dirty="0" smtClean="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Changes/Improvements</a:t>
            </a:r>
            <a:endParaRPr lang="en-US" sz="1800" b="1" dirty="0"/>
          </a:p>
          <a:p>
            <a:pPr lvl="1">
              <a:tabLst>
                <a:tab pos="1885950" algn="l"/>
              </a:tabLst>
            </a:pPr>
            <a:r>
              <a:rPr lang="en-US" sz="1400" dirty="0" smtClean="0"/>
              <a:t>[</a:t>
            </a:r>
            <a:r>
              <a:rPr lang="en-US" sz="1400" dirty="0"/>
              <a:t>VECTO-799] - Remove TUG Logos from Simulation Tool, Hashing Tool</a:t>
            </a:r>
          </a:p>
          <a:p>
            <a:pPr lvl="1">
              <a:tabLst>
                <a:tab pos="1885950" algn="l"/>
              </a:tabLst>
            </a:pPr>
            <a:r>
              <a:rPr lang="en-US" sz="1400" dirty="0" smtClean="0"/>
              <a:t>[</a:t>
            </a:r>
            <a:r>
              <a:rPr lang="en-US" sz="1400" dirty="0"/>
              <a:t>VECTO-808] - Add </a:t>
            </a:r>
            <a:r>
              <a:rPr lang="en-US" sz="1400" dirty="0" smtClean="0"/>
              <a:t>Monitoring </a:t>
            </a:r>
            <a:r>
              <a:rPr lang="en-US" sz="1400" dirty="0"/>
              <a:t>Report</a:t>
            </a:r>
          </a:p>
          <a:p>
            <a:pPr lvl="1">
              <a:tabLst>
                <a:tab pos="1885950" algn="l"/>
              </a:tabLst>
            </a:pPr>
            <a:r>
              <a:rPr lang="en-US" sz="1400" dirty="0" smtClean="0"/>
              <a:t>[</a:t>
            </a: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smtClean="0"/>
              <a:t>[</a:t>
            </a:r>
            <a:r>
              <a:rPr lang="en-US" sz="1400" dirty="0"/>
              <a:t>VECTO-757] - Correct contact mail address in Hashing Tool</a:t>
            </a:r>
          </a:p>
          <a:p>
            <a:pPr lvl="1">
              <a:tabLst>
                <a:tab pos="1885950" algn="l"/>
              </a:tabLst>
            </a:pPr>
            <a:r>
              <a:rPr lang="en-US" sz="1400" dirty="0" smtClean="0"/>
              <a:t>[</a:t>
            </a:r>
            <a:r>
              <a:rPr lang="en-US" sz="1400" dirty="0"/>
              <a:t>VECTO-779] - Update Construction Cycle - shorter stop times</a:t>
            </a:r>
          </a:p>
          <a:p>
            <a:pPr lvl="1">
              <a:tabLst>
                <a:tab pos="1885950" algn="l"/>
              </a:tabLst>
            </a:pPr>
            <a:r>
              <a:rPr lang="en-US" sz="1400" dirty="0" smtClean="0"/>
              <a:t>[</a:t>
            </a:r>
            <a:r>
              <a:rPr lang="en-US" sz="1400" dirty="0"/>
              <a:t>VECTO-783] - Rename columns in segmentation table and GUI</a:t>
            </a:r>
          </a:p>
          <a:p>
            <a:pPr lvl="1">
              <a:tabLst>
                <a:tab pos="1885950" algn="l"/>
              </a:tabLst>
            </a:pPr>
            <a:r>
              <a:rPr lang="en-US" sz="1400" dirty="0" smtClean="0"/>
              <a:t>[</a:t>
            </a:r>
            <a:r>
              <a:rPr lang="en-US" sz="1400" dirty="0"/>
              <a:t>VECTO-709] - VTP editor from user manual not matching new VECTO one: updated documentation</a:t>
            </a:r>
          </a:p>
          <a:p>
            <a:pPr lvl="1">
              <a:tabLst>
                <a:tab pos="1885950" algn="l"/>
              </a:tabLst>
            </a:pPr>
            <a:r>
              <a:rPr lang="en-US" sz="1400" dirty="0" smtClean="0"/>
              <a:t>[</a:t>
            </a:r>
            <a:r>
              <a:rPr lang="en-US" sz="1400" dirty="0"/>
              <a:t>VECTO-785] - Handling of Vehicles that cannot reach the cycle's target speed: Limit max speed in driver model</a:t>
            </a:r>
          </a:p>
          <a:p>
            <a:pPr lvl="1">
              <a:tabLst>
                <a:tab pos="1885950" algn="l"/>
              </a:tabLst>
            </a:pPr>
            <a:r>
              <a:rPr lang="en-US" sz="1400" dirty="0" smtClean="0"/>
              <a:t>[</a:t>
            </a:r>
            <a:r>
              <a:rPr lang="en-US" sz="1400" dirty="0"/>
              <a:t>VECTO-716] - Validate data in Settings Tab: update documentation</a:t>
            </a:r>
          </a:p>
          <a:p>
            <a:pPr lvl="1">
              <a:tabLst>
                <a:tab pos="1885950" algn="l"/>
              </a:tabLst>
            </a:pPr>
            <a:r>
              <a:rPr lang="en-US" sz="1400" dirty="0" smtClean="0"/>
              <a:t>[</a:t>
            </a:r>
            <a:r>
              <a:rPr lang="en-US" sz="1400" dirty="0"/>
              <a:t>VECTO-793] - Inconsistency between GUI, Help and Regulation: update wording in GUI and user manual</a:t>
            </a:r>
          </a:p>
          <a:p>
            <a:pPr lvl="1">
              <a:tabLst>
                <a:tab pos="1885950" algn="l"/>
              </a:tabLst>
            </a:pPr>
            <a:r>
              <a:rPr lang="en-US" sz="1400" dirty="0" smtClean="0"/>
              <a:t>[</a:t>
            </a:r>
            <a:r>
              <a:rPr lang="en-US" sz="1400" dirty="0"/>
              <a:t>VECTO-796] - Adaptation of </a:t>
            </a:r>
            <a:r>
              <a:rPr lang="en-US" sz="1400" dirty="0" err="1"/>
              <a:t>FuelProperties</a:t>
            </a:r>
            <a:endParaRPr lang="en-US" sz="1400" dirty="0"/>
          </a:p>
          <a:p>
            <a:pPr lvl="1">
              <a:tabLst>
                <a:tab pos="1885950" algn="l"/>
              </a:tabLst>
            </a:pPr>
            <a:r>
              <a:rPr lang="en-US" sz="1400" dirty="0" smtClean="0"/>
              <a:t>[</a:t>
            </a: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smtClean="0"/>
              <a:t>[</a:t>
            </a: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8623082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smtClean="0"/>
              <a:t>Update of Fuel Properties [</a:t>
            </a:r>
            <a:r>
              <a:rPr lang="en-US" sz="1800" b="1" dirty="0" smtClean="0"/>
              <a:t>VECTO-796]</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r>
                        <a:rPr lang="de-AT" sz="1000" u="none" strike="noStrike" dirty="0" smtClean="0">
                          <a:effectLst/>
                        </a:rPr>
                        <a:t>)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a:t>
            </a:r>
            <a:r>
              <a:rPr lang="de-AT" sz="1050" b="0" dirty="0" smtClean="0"/>
              <a:t>): </a:t>
            </a:r>
            <a:r>
              <a:rPr kumimoji="0" lang="en-GB" altLang="de-DE" sz="1050" b="0" i="0" u="none" strike="noStrike" cap="none" normalizeH="0" baseline="0" dirty="0" smtClean="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smtClean="0">
                <a:ln>
                  <a:noFill/>
                </a:ln>
                <a:solidFill>
                  <a:schemeClr val="tx1"/>
                </a:solidFill>
                <a:effectLst/>
                <a:latin typeface="Arial" panose="020B0604020202020204" pitchFamily="34" charset="0"/>
              </a:rPr>
            </a:br>
            <a:r>
              <a:rPr kumimoji="0" lang="en-GB" altLang="de-DE" sz="1050" b="0" i="0" u="none" strike="noStrike" cap="none" normalizeH="0" baseline="0" dirty="0" smtClean="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VECTO-819] - object reference not set to an instance of an object</a:t>
            </a:r>
          </a:p>
          <a:p>
            <a:pPr lvl="1">
              <a:tabLst>
                <a:tab pos="1885950" algn="l"/>
              </a:tabLst>
            </a:pPr>
            <a:r>
              <a:rPr lang="en-US" sz="1400" dirty="0" smtClean="0"/>
              <a:t>[</a:t>
            </a: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smtClean="0"/>
              <a:t>[</a:t>
            </a:r>
            <a:r>
              <a:rPr lang="en-US" sz="1400" dirty="0"/>
              <a:t>VECTO-813] - Error "Infinity [] is not allowed for SI-Value"</a:t>
            </a:r>
          </a:p>
          <a:p>
            <a:pPr lvl="1">
              <a:tabLst>
                <a:tab pos="1885950" algn="l"/>
              </a:tabLst>
            </a:pPr>
            <a:r>
              <a:rPr lang="en-US" sz="1400" dirty="0" smtClean="0"/>
              <a:t>[</a:t>
            </a: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smtClean="0"/>
              <a:t>[</a:t>
            </a:r>
            <a:r>
              <a:rPr lang="en-US" sz="1400" dirty="0"/>
              <a:t>VECTO-804] - Error on simulation with VECTO 3.3.0.1433</a:t>
            </a:r>
          </a:p>
          <a:p>
            <a:pPr lvl="1">
              <a:tabLst>
                <a:tab pos="1885950" algn="l"/>
              </a:tabLst>
            </a:pPr>
            <a:r>
              <a:rPr lang="en-US" sz="1400" dirty="0" smtClean="0"/>
              <a:t>[</a:t>
            </a:r>
            <a:r>
              <a:rPr lang="en-US" sz="1400" dirty="0"/>
              <a:t>VECTO-805] - Total vehicle mass exceeds TPMLM</a:t>
            </a:r>
          </a:p>
          <a:p>
            <a:pPr lvl="1">
              <a:tabLst>
                <a:tab pos="1885950" algn="l"/>
              </a:tabLst>
            </a:pPr>
            <a:r>
              <a:rPr lang="en-US" sz="1400" dirty="0" smtClean="0"/>
              <a:t>[</a:t>
            </a:r>
            <a:r>
              <a:rPr lang="en-US" sz="1400" dirty="0"/>
              <a:t>VECTO-811] - AMT: </a:t>
            </a:r>
            <a:r>
              <a:rPr lang="en-US" sz="1400" dirty="0" err="1"/>
              <a:t>ResponseGearShift</a:t>
            </a:r>
            <a:endParaRPr lang="en-US" sz="1400" dirty="0"/>
          </a:p>
          <a:p>
            <a:pPr lvl="1">
              <a:tabLst>
                <a:tab pos="1885950" algn="l"/>
              </a:tabLst>
            </a:pPr>
            <a:r>
              <a:rPr lang="en-US" sz="1400" dirty="0" smtClean="0"/>
              <a:t>[</a:t>
            </a:r>
            <a:r>
              <a:rPr lang="en-US" sz="1400" dirty="0"/>
              <a:t>VECTO-812] - AMT: </a:t>
            </a:r>
            <a:r>
              <a:rPr lang="en-US" sz="1400" dirty="0" err="1"/>
              <a:t>ResponseOverload</a:t>
            </a:r>
            <a:endParaRPr lang="en-US" sz="1400" dirty="0"/>
          </a:p>
          <a:p>
            <a:pPr lvl="1">
              <a:tabLst>
                <a:tab pos="1885950" algn="l"/>
              </a:tabLst>
            </a:pPr>
            <a:r>
              <a:rPr lang="en-US" sz="1400" dirty="0" smtClean="0"/>
              <a:t>[</a:t>
            </a:r>
            <a:r>
              <a:rPr lang="en-US" sz="1400" dirty="0"/>
              <a:t>VECTO-822] - SIMULATION RUN ABORTED by Infinity</a:t>
            </a:r>
          </a:p>
          <a:p>
            <a:pPr lvl="1">
              <a:tabLst>
                <a:tab pos="1885950" algn="l"/>
              </a:tabLst>
            </a:pPr>
            <a:r>
              <a:rPr lang="en-US" sz="1400" dirty="0" smtClean="0"/>
              <a:t>[</a:t>
            </a: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smtClean="0"/>
              <a:t>[</a:t>
            </a:r>
            <a:r>
              <a:rPr lang="en-US" sz="1400" dirty="0"/>
              <a:t>VECTO-696] - Problem with Primary Retarder: regression update, set torque loss to 0 for 0 speed and engaged gear</a:t>
            </a:r>
          </a:p>
          <a:p>
            <a:pPr lvl="1">
              <a:tabLst>
                <a:tab pos="1885950" algn="l"/>
              </a:tabLst>
            </a:pPr>
            <a:r>
              <a:rPr lang="en-US" sz="1400" dirty="0" smtClean="0"/>
              <a:t>[</a:t>
            </a:r>
            <a:r>
              <a:rPr lang="en-US" sz="1400" dirty="0"/>
              <a:t>VECTO-776] - Decision Factor (DF)  field is </a:t>
            </a:r>
            <a:r>
              <a:rPr lang="en-US" sz="1400" dirty="0" smtClean="0"/>
              <a:t>emptied </a:t>
            </a:r>
            <a:r>
              <a:rPr lang="en-US" sz="1400" dirty="0"/>
              <a:t>after each </a:t>
            </a:r>
            <a:r>
              <a:rPr lang="en-US" sz="1400" dirty="0" smtClean="0"/>
              <a:t>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3.3.0.1433 Official Release</a:t>
            </a:r>
            <a:r>
              <a:rPr lang="en-US" dirty="0"/>
              <a:t/>
            </a:r>
            <a:br>
              <a:rPr lang="en-US" dirty="0"/>
            </a:br>
            <a:r>
              <a:rPr lang="en-US" sz="1600" dirty="0" smtClean="0"/>
              <a:t>2018-12-04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3.3.0.1398)</a:t>
            </a:r>
          </a:p>
          <a:p>
            <a:pPr lvl="1">
              <a:tabLst>
                <a:tab pos="1885950" algn="l"/>
              </a:tabLst>
            </a:pPr>
            <a:r>
              <a:rPr lang="en-US" sz="1600" dirty="0" smtClean="0"/>
              <a:t>[VECTO-795] – VECTO Hashing Tool crashes</a:t>
            </a:r>
          </a:p>
          <a:p>
            <a:pPr lvl="1">
              <a:tabLst>
                <a:tab pos="1885950" algn="l"/>
              </a:tabLst>
            </a:pPr>
            <a:r>
              <a:rPr lang="en-US" sz="1600" dirty="0"/>
              <a:t>[VECTO-802] –</a:t>
            </a:r>
            <a:r>
              <a:rPr lang="en-US" sz="1600" dirty="0" smtClean="0"/>
              <a:t> </a:t>
            </a:r>
            <a:r>
              <a:rPr lang="en-US" sz="1600" dirty="0"/>
              <a:t>Error in XML schema for manufacturer's record </a:t>
            </a:r>
            <a:r>
              <a:rPr lang="en-US" sz="1600" dirty="0" smtClean="0"/>
              <a:t>file</a:t>
            </a:r>
          </a:p>
          <a:p>
            <a:pPr>
              <a:tabLst>
                <a:tab pos="1885950" algn="l"/>
              </a:tabLst>
            </a:pPr>
            <a:r>
              <a:rPr lang="en-US" sz="1800" b="1" dirty="0" err="1" smtClean="0"/>
              <a:t>Bugfixes</a:t>
            </a:r>
            <a:r>
              <a:rPr lang="en-US" sz="1800" b="1" dirty="0" smtClean="0"/>
              <a:t> (compared to 3.3.0.1250)</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 (compared to 3.3.0.1250)</a:t>
            </a:r>
            <a:endParaRPr lang="en-US" sz="1600" b="1" dirty="0"/>
          </a:p>
          <a:p>
            <a:pPr lvl="1">
              <a:tabLst>
                <a:tab pos="1885950" algn="l"/>
              </a:tabLst>
            </a:pPr>
            <a:r>
              <a:rPr lang="en-US" sz="1400" dirty="0"/>
              <a:t>[VECTO-704] - Allow VTP-simulations for AT </a:t>
            </a:r>
            <a:r>
              <a:rPr lang="en-US" sz="1400" dirty="0" smtClean="0"/>
              <a:t>gearboxes</a:t>
            </a:r>
            <a:endParaRPr lang="en-US" sz="1800" b="1" dirty="0"/>
          </a:p>
        </p:txBody>
      </p:sp>
    </p:spTree>
    <p:extLst>
      <p:ext uri="{BB962C8B-B14F-4D97-AF65-F5344CB8AC3E}">
        <p14:creationId xmlns:p14="http://schemas.microsoft.com/office/powerpoint/2010/main" val="366631938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3.3.0.1398 Release </a:t>
            </a:r>
            <a:r>
              <a:rPr lang="en-US" dirty="0" err="1" smtClean="0"/>
              <a:t>Candiate</a:t>
            </a:r>
            <a:r>
              <a:rPr lang="en-US" dirty="0"/>
              <a:t/>
            </a:r>
            <a:br>
              <a:rPr lang="en-US" dirty="0"/>
            </a:br>
            <a:r>
              <a:rPr lang="en-US" sz="1600" dirty="0" smtClean="0"/>
              <a:t>2018-10-30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400" dirty="0" smtClean="0"/>
              <a:t>[</a:t>
            </a:r>
            <a:r>
              <a:rPr lang="en-US" sz="1400" dirty="0"/>
              <a:t>VECTO-665] - Adding style information to XML Reports</a:t>
            </a:r>
          </a:p>
          <a:p>
            <a:pPr lvl="1">
              <a:tabLst>
                <a:tab pos="1885950" algn="l"/>
              </a:tabLst>
            </a:pPr>
            <a:r>
              <a:rPr lang="en-US" sz="1400" dirty="0" smtClean="0"/>
              <a:t>[</a:t>
            </a:r>
            <a:r>
              <a:rPr lang="en-US" sz="1400" dirty="0"/>
              <a:t>VECTO-669] - Group 1 vehicle comprises vehicles with gross vehicle weight &gt; 7.5t</a:t>
            </a:r>
          </a:p>
          <a:p>
            <a:pPr lvl="1">
              <a:tabLst>
                <a:tab pos="1885950" algn="l"/>
              </a:tabLst>
            </a:pPr>
            <a:r>
              <a:rPr lang="en-US" sz="1400" dirty="0" smtClean="0"/>
              <a:t>[</a:t>
            </a:r>
            <a:r>
              <a:rPr lang="en-US" sz="1400" dirty="0"/>
              <a:t>VECTO-672] - Keep manual choice for "Validate data"</a:t>
            </a:r>
          </a:p>
          <a:p>
            <a:pPr lvl="1">
              <a:tabLst>
                <a:tab pos="1885950" algn="l"/>
              </a:tabLst>
            </a:pPr>
            <a:r>
              <a:rPr lang="en-US" sz="1400" dirty="0" smtClean="0"/>
              <a:t>[</a:t>
            </a:r>
            <a:r>
              <a:rPr lang="en-US" sz="1400" dirty="0"/>
              <a:t>VECTO-682] - VTP Simulation in declaration mode</a:t>
            </a:r>
          </a:p>
          <a:p>
            <a:pPr lvl="1">
              <a:tabLst>
                <a:tab pos="1885950" algn="l"/>
              </a:tabLst>
            </a:pPr>
            <a:r>
              <a:rPr lang="en-US" sz="1400" dirty="0" smtClean="0"/>
              <a:t>[</a:t>
            </a:r>
            <a:r>
              <a:rPr lang="en-US" sz="1400" dirty="0"/>
              <a:t>VECTO-652] - VTP: Check Cycle matches simulation mode</a:t>
            </a:r>
          </a:p>
          <a:p>
            <a:pPr lvl="1">
              <a:tabLst>
                <a:tab pos="1885950" algn="l"/>
              </a:tabLst>
            </a:pPr>
            <a:r>
              <a:rPr lang="en-US" sz="1400" dirty="0" smtClean="0"/>
              <a:t>[</a:t>
            </a:r>
            <a:r>
              <a:rPr lang="en-US" sz="1400" dirty="0"/>
              <a:t>VECTO-683] - VTP: Quality and plausibility checks for recorded data from VTP</a:t>
            </a:r>
          </a:p>
          <a:p>
            <a:pPr lvl="1">
              <a:tabLst>
                <a:tab pos="1885950" algn="l"/>
              </a:tabLst>
            </a:pPr>
            <a:r>
              <a:rPr lang="en-US" sz="1400" dirty="0" smtClean="0"/>
              <a:t>[</a:t>
            </a:r>
            <a:r>
              <a:rPr lang="en-US" sz="1400" dirty="0"/>
              <a:t>VECTO-685] - VTP Programming of standard VECTO VTP report</a:t>
            </a:r>
          </a:p>
          <a:p>
            <a:pPr lvl="1">
              <a:tabLst>
                <a:tab pos="1885950" algn="l"/>
              </a:tabLst>
            </a:pPr>
            <a:r>
              <a:rPr lang="en-US" sz="1400" dirty="0" smtClean="0"/>
              <a:t>[</a:t>
            </a:r>
            <a:r>
              <a:rPr lang="en-US" sz="1400" dirty="0"/>
              <a:t>VECTO-689] - Additional </a:t>
            </a:r>
            <a:r>
              <a:rPr lang="en-US" sz="1400" dirty="0" err="1"/>
              <a:t>Tyre</a:t>
            </a:r>
            <a:r>
              <a:rPr lang="en-US" sz="1400" dirty="0"/>
              <a:t> sizes</a:t>
            </a:r>
          </a:p>
          <a:p>
            <a:pPr lvl="1">
              <a:tabLst>
                <a:tab pos="1885950" algn="l"/>
              </a:tabLst>
            </a:pPr>
            <a:r>
              <a:rPr lang="en-US" sz="1400" dirty="0" smtClean="0"/>
              <a:t>[</a:t>
            </a:r>
            <a:r>
              <a:rPr lang="en-US" sz="1400" dirty="0"/>
              <a:t>VECTO-702] - Hashing tool: adapt warnings</a:t>
            </a:r>
          </a:p>
          <a:p>
            <a:pPr lvl="1">
              <a:tabLst>
                <a:tab pos="1885950" algn="l"/>
              </a:tabLst>
            </a:pPr>
            <a:r>
              <a:rPr lang="en-US" sz="1400" dirty="0" smtClean="0"/>
              <a:t>[</a:t>
            </a:r>
            <a:r>
              <a:rPr lang="en-US" sz="1400" dirty="0"/>
              <a:t>VECTO-667] - Removing NCV Correction Factor</a:t>
            </a:r>
          </a:p>
          <a:p>
            <a:pPr lvl="1">
              <a:tabLst>
                <a:tab pos="1885950" algn="l"/>
              </a:tabLst>
            </a:pPr>
            <a:r>
              <a:rPr lang="en-US" sz="1400" dirty="0" smtClean="0"/>
              <a:t>[</a:t>
            </a:r>
            <a:r>
              <a:rPr lang="en-US" sz="1400" dirty="0"/>
              <a:t>VECTO-679] - Engine n95h computation gives wrong (too high) engine speed (above measured FLD, n70h)</a:t>
            </a:r>
          </a:p>
          <a:p>
            <a:pPr lvl="1">
              <a:tabLst>
                <a:tab pos="1885950" algn="l"/>
              </a:tabLst>
            </a:pPr>
            <a:r>
              <a:rPr lang="en-US" sz="1400" dirty="0" smtClean="0"/>
              <a:t>[</a:t>
            </a:r>
            <a:r>
              <a:rPr lang="en-US" sz="1400" dirty="0"/>
              <a:t>VECTO-693] - extend vehicle performance in manufacturer </a:t>
            </a:r>
            <a:r>
              <a:rPr lang="en-US" sz="1400" dirty="0" smtClean="0"/>
              <a:t>record</a:t>
            </a:r>
            <a:endParaRPr lang="en-US" sz="1800" b="1" dirty="0"/>
          </a:p>
        </p:txBody>
      </p:sp>
    </p:spTree>
    <p:extLst>
      <p:ext uri="{BB962C8B-B14F-4D97-AF65-F5344CB8AC3E}">
        <p14:creationId xmlns:p14="http://schemas.microsoft.com/office/powerpoint/2010/main" val="1519905641"/>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VECTO-656] - Distance computation in </a:t>
            </a:r>
            <a:r>
              <a:rPr lang="en-US" sz="1400" dirty="0" err="1"/>
              <a:t>vsum</a:t>
            </a:r>
            <a:endParaRPr lang="en-US" sz="1400" dirty="0"/>
          </a:p>
          <a:p>
            <a:pPr lvl="1">
              <a:tabLst>
                <a:tab pos="1885950" algn="l"/>
              </a:tabLst>
            </a:pPr>
            <a:r>
              <a:rPr lang="en-US" sz="1400" dirty="0" smtClean="0"/>
              <a:t>[</a:t>
            </a: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smtClean="0"/>
              <a:t>[</a:t>
            </a:r>
            <a:r>
              <a:rPr lang="en-US" sz="1400" dirty="0"/>
              <a:t>VECTO-687] - Saving a Engine-Only Job is not possible</a:t>
            </a:r>
          </a:p>
          <a:p>
            <a:pPr lvl="1">
              <a:tabLst>
                <a:tab pos="1885950" algn="l"/>
              </a:tabLst>
            </a:pPr>
            <a:r>
              <a:rPr lang="en-US" sz="1400" dirty="0" smtClean="0"/>
              <a:t>[</a:t>
            </a:r>
            <a:r>
              <a:rPr lang="en-US" sz="1400" dirty="0"/>
              <a:t>VECTO-695] - Bug in vectocmd.exe - process does not terminate</a:t>
            </a:r>
          </a:p>
          <a:p>
            <a:pPr lvl="1">
              <a:tabLst>
                <a:tab pos="1885950" algn="l"/>
              </a:tabLst>
            </a:pPr>
            <a:r>
              <a:rPr lang="en-US" sz="1400" dirty="0" smtClean="0"/>
              <a:t>[</a:t>
            </a:r>
            <a:r>
              <a:rPr lang="en-US" sz="1400" dirty="0"/>
              <a:t>VECTO-699] - Output in manufacturer report and customer report (VECTO) uses different units than described in legislation</a:t>
            </a:r>
          </a:p>
          <a:p>
            <a:pPr lvl="1">
              <a:tabLst>
                <a:tab pos="1885950" algn="l"/>
              </a:tabLst>
            </a:pPr>
            <a:r>
              <a:rPr lang="en-US" sz="1400" dirty="0" smtClean="0"/>
              <a:t>[</a:t>
            </a: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5529</Words>
  <Application>Microsoft Office PowerPoint</Application>
  <PresentationFormat>Bildschirmpräsentation (4:3)</PresentationFormat>
  <Paragraphs>607</Paragraphs>
  <Slides>45</Slides>
  <Notes>0</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45</vt:i4>
      </vt:variant>
    </vt:vector>
  </HeadingPairs>
  <TitlesOfParts>
    <vt:vector size="50" baseType="lpstr">
      <vt:lpstr>Arial</vt:lpstr>
      <vt:lpstr>Calibri</vt:lpstr>
      <vt:lpstr>Times New Roman</vt:lpstr>
      <vt:lpstr>Verdana</vt:lpstr>
      <vt:lpstr>Standarddesign</vt:lpstr>
      <vt:lpstr>PowerPoint-Präsentation</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1202</cp:revision>
  <cp:lastPrinted>2013-01-22T12:03:30Z</cp:lastPrinted>
  <dcterms:created xsi:type="dcterms:W3CDTF">2010-01-07T15:28:02Z</dcterms:created>
  <dcterms:modified xsi:type="dcterms:W3CDTF">2019-01-03T13:49:57Z</dcterms:modified>
</cp:coreProperties>
</file>