
<file path=[Content_Types].xml><?xml version="1.0" encoding="utf-8"?>
<Types xmlns="http://schemas.openxmlformats.org/package/2006/content-types">
  <Default Extension="png" ContentType="image/png"/>
  <Default Extension="jpeg" ContentType="image/jpeg"/>
  <Default Extension="wmf" ContentType="image/x-w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Lst>
  <p:sldIdLst>
    <p:sldId id="256" r:id="rId3"/>
    <p:sldId id="371"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Lst>
  <p:sldSz cx="9144000" cy="6858000" type="screen4x3"/>
  <p:notesSz cx="7772400" cy="100584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4" d="100"/>
          <a:sy n="154" d="100"/>
        </p:scale>
        <p:origin x="2004" y="1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12" Type="http://schemas.openxmlformats.org/officeDocument/2006/relationships/slide" Target="slides/slide110.xml"/><Relationship Id="rId16" Type="http://schemas.openxmlformats.org/officeDocument/2006/relationships/slide" Target="slides/slide14.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presProps" Target="presProps.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viewProps" Target="viewProps.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theme" Target="theme/theme1.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tableStyles" Target="tableStyles.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8"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9" name="PlaceHolder 2"/>
          <p:cNvSpPr>
            <a:spLocks noGrp="1"/>
          </p:cNvSpPr>
          <p:nvPr>
            <p:ph type="subTitle"/>
          </p:nvPr>
        </p:nvSpPr>
        <p:spPr>
          <a:xfrm>
            <a:off x="457200" y="1604520"/>
            <a:ext cx="8229240" cy="397728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11" name="PlaceHolder 2"/>
          <p:cNvSpPr>
            <a:spLocks noGrp="1"/>
          </p:cNvSpPr>
          <p:nvPr>
            <p:ph/>
          </p:nvPr>
        </p:nvSpPr>
        <p:spPr>
          <a:xfrm>
            <a:off x="457200" y="1604520"/>
            <a:ext cx="822924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13"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14"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5"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6" name="PlaceHolder 1"/>
          <p:cNvSpPr>
            <a:spLocks noGrp="1"/>
          </p:cNvSpPr>
          <p:nvPr>
            <p:ph type="subTitle"/>
          </p:nvPr>
        </p:nvSpPr>
        <p:spPr>
          <a:xfrm>
            <a:off x="457200" y="273600"/>
            <a:ext cx="8229240" cy="530784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18"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19"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0"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22"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3"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4" name="PlaceHolder 4"/>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26"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7"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8" name="PlaceHolder 4"/>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30" name="PlaceHolder 2"/>
          <p:cNvSpPr>
            <a:spLocks noGrp="1"/>
          </p:cNvSpPr>
          <p:nvPr>
            <p:ph/>
          </p:nvPr>
        </p:nvSpPr>
        <p:spPr>
          <a:xfrm>
            <a:off x="457200" y="160452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1" name="PlaceHolder 3"/>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33"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4"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5"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6" name="PlaceHolder 5"/>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38" name="PlaceHolder 2"/>
          <p:cNvSpPr>
            <a:spLocks noGrp="1"/>
          </p:cNvSpPr>
          <p:nvPr>
            <p:ph/>
          </p:nvPr>
        </p:nvSpPr>
        <p:spPr>
          <a:xfrm>
            <a:off x="45720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9" name="PlaceHolder 3"/>
          <p:cNvSpPr>
            <a:spLocks noGrp="1"/>
          </p:cNvSpPr>
          <p:nvPr>
            <p:ph/>
          </p:nvPr>
        </p:nvSpPr>
        <p:spPr>
          <a:xfrm>
            <a:off x="323964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0" name="PlaceHolder 4"/>
          <p:cNvSpPr>
            <a:spLocks noGrp="1"/>
          </p:cNvSpPr>
          <p:nvPr>
            <p:ph/>
          </p:nvPr>
        </p:nvSpPr>
        <p:spPr>
          <a:xfrm>
            <a:off x="602208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1" name="PlaceHolder 5"/>
          <p:cNvSpPr>
            <a:spLocks noGrp="1"/>
          </p:cNvSpPr>
          <p:nvPr>
            <p:ph/>
          </p:nvPr>
        </p:nvSpPr>
        <p:spPr>
          <a:xfrm>
            <a:off x="45720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2" name="PlaceHolder 6"/>
          <p:cNvSpPr>
            <a:spLocks noGrp="1"/>
          </p:cNvSpPr>
          <p:nvPr>
            <p:ph/>
          </p:nvPr>
        </p:nvSpPr>
        <p:spPr>
          <a:xfrm>
            <a:off x="323964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3" name="PlaceHolder 7"/>
          <p:cNvSpPr>
            <a:spLocks noGrp="1"/>
          </p:cNvSpPr>
          <p:nvPr>
            <p:ph/>
          </p:nvPr>
        </p:nvSpPr>
        <p:spPr>
          <a:xfrm>
            <a:off x="602208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2"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53" name="PlaceHolder 2"/>
          <p:cNvSpPr>
            <a:spLocks noGrp="1"/>
          </p:cNvSpPr>
          <p:nvPr>
            <p:ph type="subTitle"/>
          </p:nvPr>
        </p:nvSpPr>
        <p:spPr>
          <a:xfrm>
            <a:off x="457200" y="1604520"/>
            <a:ext cx="8229240" cy="397728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55" name="PlaceHolder 2"/>
          <p:cNvSpPr>
            <a:spLocks noGrp="1"/>
          </p:cNvSpPr>
          <p:nvPr>
            <p:ph/>
          </p:nvPr>
        </p:nvSpPr>
        <p:spPr>
          <a:xfrm>
            <a:off x="457200" y="1604520"/>
            <a:ext cx="822924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57"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58"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5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60" name="PlaceHolder 1"/>
          <p:cNvSpPr>
            <a:spLocks noGrp="1"/>
          </p:cNvSpPr>
          <p:nvPr>
            <p:ph type="subTitle"/>
          </p:nvPr>
        </p:nvSpPr>
        <p:spPr>
          <a:xfrm>
            <a:off x="457200" y="273600"/>
            <a:ext cx="8229240" cy="530784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62"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3"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4"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66"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7"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8" name="PlaceHolder 4"/>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70"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1"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2" name="PlaceHolder 4"/>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74" name="PlaceHolder 2"/>
          <p:cNvSpPr>
            <a:spLocks noGrp="1"/>
          </p:cNvSpPr>
          <p:nvPr>
            <p:ph/>
          </p:nvPr>
        </p:nvSpPr>
        <p:spPr>
          <a:xfrm>
            <a:off x="457200" y="160452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5" name="PlaceHolder 3"/>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77"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8"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9"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0" name="PlaceHolder 5"/>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81"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82" name="PlaceHolder 2"/>
          <p:cNvSpPr>
            <a:spLocks noGrp="1"/>
          </p:cNvSpPr>
          <p:nvPr>
            <p:ph/>
          </p:nvPr>
        </p:nvSpPr>
        <p:spPr>
          <a:xfrm>
            <a:off x="45720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3" name="PlaceHolder 3"/>
          <p:cNvSpPr>
            <a:spLocks noGrp="1"/>
          </p:cNvSpPr>
          <p:nvPr>
            <p:ph/>
          </p:nvPr>
        </p:nvSpPr>
        <p:spPr>
          <a:xfrm>
            <a:off x="323964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4" name="PlaceHolder 4"/>
          <p:cNvSpPr>
            <a:spLocks noGrp="1"/>
          </p:cNvSpPr>
          <p:nvPr>
            <p:ph/>
          </p:nvPr>
        </p:nvSpPr>
        <p:spPr>
          <a:xfrm>
            <a:off x="602208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5" name="PlaceHolder 5"/>
          <p:cNvSpPr>
            <a:spLocks noGrp="1"/>
          </p:cNvSpPr>
          <p:nvPr>
            <p:ph/>
          </p:nvPr>
        </p:nvSpPr>
        <p:spPr>
          <a:xfrm>
            <a:off x="45720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6" name="PlaceHolder 6"/>
          <p:cNvSpPr>
            <a:spLocks noGrp="1"/>
          </p:cNvSpPr>
          <p:nvPr>
            <p:ph/>
          </p:nvPr>
        </p:nvSpPr>
        <p:spPr>
          <a:xfrm>
            <a:off x="323964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7" name="PlaceHolder 7"/>
          <p:cNvSpPr>
            <a:spLocks noGrp="1"/>
          </p:cNvSpPr>
          <p:nvPr>
            <p:ph/>
          </p:nvPr>
        </p:nvSpPr>
        <p:spPr>
          <a:xfrm>
            <a:off x="602208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image" Target="../media/image2.png"/><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Line 20"/>
          <p:cNvSpPr/>
          <p:nvPr/>
        </p:nvSpPr>
        <p:spPr>
          <a:xfrm>
            <a:off x="0" y="41580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9" name="Text Box 24"/>
          <p:cNvSpPr/>
          <p:nvPr/>
        </p:nvSpPr>
        <p:spPr>
          <a:xfrm>
            <a:off x="7996320" y="6599160"/>
            <a:ext cx="924840" cy="242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spcBef>
                <a:spcPts val="499"/>
              </a:spcBef>
              <a:buNone/>
            </a:pPr>
            <a:fld id="{0A73C48F-7230-42C2-BF20-5E467D5F244F}" type="slidenum">
              <a:rPr lang="de-AT" sz="1000" b="1" strike="noStrike" spc="-1">
                <a:solidFill>
                  <a:srgbClr val="7D7D7D"/>
                </a:solidFill>
                <a:latin typeface="Verdana"/>
                <a:ea typeface="DejaVu Sans"/>
              </a:rPr>
              <a:t>‹Nr.›</a:t>
            </a:fld>
            <a:endParaRPr lang="en-US" sz="1000" b="0" strike="noStrike" spc="-1">
              <a:latin typeface="Arial"/>
            </a:endParaRPr>
          </a:p>
        </p:txBody>
      </p:sp>
      <p:sp>
        <p:nvSpPr>
          <p:cNvPr id="2" name="Text Box 30"/>
          <p:cNvSpPr/>
          <p:nvPr/>
        </p:nvSpPr>
        <p:spPr>
          <a:xfrm>
            <a:off x="144360" y="6627960"/>
            <a:ext cx="1882080" cy="215280"/>
          </a:xfrm>
          <a:prstGeom prst="rect">
            <a:avLst/>
          </a:prstGeom>
          <a:noFill/>
          <a:ln w="0">
            <a:noFill/>
          </a:ln>
        </p:spPr>
        <p:style>
          <a:lnRef idx="0">
            <a:scrgbClr r="0" g="0" b="0"/>
          </a:lnRef>
          <a:fillRef idx="0">
            <a:scrgbClr r="0" g="0" b="0"/>
          </a:fillRef>
          <a:effectRef idx="0">
            <a:scrgbClr r="0" g="0" b="0"/>
          </a:effectRef>
          <a:fontRef idx="minor"/>
        </p:style>
        <p:txBody>
          <a:bodyPr wrap="none" lIns="90000" tIns="39600" rIns="90000" bIns="45000" anchor="ctr">
            <a:noAutofit/>
          </a:bodyPr>
          <a:lstStyle/>
          <a:p>
            <a:pPr>
              <a:lnSpc>
                <a:spcPct val="100000"/>
              </a:lnSpc>
              <a:spcBef>
                <a:spcPts val="550"/>
              </a:spcBef>
              <a:buNone/>
            </a:pPr>
            <a:r>
              <a:rPr lang="en-US" sz="1100" b="0" strike="noStrike" spc="-1">
                <a:solidFill>
                  <a:srgbClr val="000000"/>
                </a:solidFill>
                <a:latin typeface="Verdana"/>
                <a:ea typeface="DejaVu Sans"/>
              </a:rPr>
              <a:t>VECTO Release Notes</a:t>
            </a:r>
            <a:endParaRPr lang="en-US" sz="1100" b="0" strike="noStrike" spc="-1">
              <a:latin typeface="Arial"/>
            </a:endParaRPr>
          </a:p>
        </p:txBody>
      </p:sp>
      <p:pic>
        <p:nvPicPr>
          <p:cNvPr id="3" name="Picture 2"/>
          <p:cNvPicPr/>
          <p:nvPr/>
        </p:nvPicPr>
        <p:blipFill>
          <a:blip r:embed="rId14"/>
          <a:stretch/>
        </p:blipFill>
        <p:spPr>
          <a:xfrm>
            <a:off x="7389360" y="37800"/>
            <a:ext cx="1420560" cy="352080"/>
          </a:xfrm>
          <a:prstGeom prst="rect">
            <a:avLst/>
          </a:prstGeom>
          <a:ln w="0">
            <a:noFill/>
          </a:ln>
        </p:spPr>
      </p:pic>
      <p:pic>
        <p:nvPicPr>
          <p:cNvPr id="4" name="Picture 3" descr="I:\raphaelluz\VECTO\source\VECTO\User Manual\pics\VECTO-small.PNG"/>
          <p:cNvPicPr/>
          <p:nvPr/>
        </p:nvPicPr>
        <p:blipFill>
          <a:blip r:embed="rId15"/>
          <a:stretch/>
        </p:blipFill>
        <p:spPr>
          <a:xfrm>
            <a:off x="107640" y="58680"/>
            <a:ext cx="977760" cy="331560"/>
          </a:xfrm>
          <a:prstGeom prst="rect">
            <a:avLst/>
          </a:prstGeom>
          <a:ln w="0">
            <a:noFill/>
          </a:ln>
        </p:spPr>
      </p:pic>
      <p:sp>
        <p:nvSpPr>
          <p:cNvPr id="5" name="Line 20"/>
          <p:cNvSpPr/>
          <p:nvPr/>
        </p:nvSpPr>
        <p:spPr>
          <a:xfrm>
            <a:off x="0" y="659916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6"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r>
              <a:rPr lang="en-US" sz="4400" b="0" strike="noStrike" spc="-1">
                <a:latin typeface="Arial"/>
              </a:rPr>
              <a:t>Click to edit the title text format</a:t>
            </a:r>
          </a:p>
        </p:txBody>
      </p:sp>
      <p:sp>
        <p:nvSpPr>
          <p:cNvPr id="7"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latin typeface="Arial"/>
              </a:rPr>
              <a:t>Second Outline Level</a:t>
            </a:r>
          </a:p>
          <a:p>
            <a:pPr marL="1296000" lvl="2" indent="-288000">
              <a:spcBef>
                <a:spcPts val="850"/>
              </a:spcBef>
              <a:buClr>
                <a:srgbClr val="000000"/>
              </a:buClr>
              <a:buSzPct val="45000"/>
              <a:buFont typeface="Wingdings" charset="2"/>
              <a:buChar char=""/>
            </a:pPr>
            <a:r>
              <a:rPr lang="en-US" sz="2400" b="0" strike="noStrike" spc="-1">
                <a:latin typeface="Arial"/>
              </a:rPr>
              <a:t>Third Outline Level</a:t>
            </a:r>
          </a:p>
          <a:p>
            <a:pPr marL="1728000" lvl="3" indent="-216000">
              <a:spcBef>
                <a:spcPts val="567"/>
              </a:spcBef>
              <a:buClr>
                <a:srgbClr val="000000"/>
              </a:buClr>
              <a:buSzPct val="75000"/>
              <a:buFont typeface="Symbol" charset="2"/>
              <a:buChar char=""/>
            </a:pPr>
            <a:r>
              <a:rPr lang="en-US" sz="2000" b="0" strike="noStrike" spc="-1">
                <a:latin typeface="Arial"/>
              </a:rPr>
              <a:t>Fourth Outline Level</a:t>
            </a:r>
          </a:p>
          <a:p>
            <a:pPr marL="2160000" lvl="4" indent="-216000">
              <a:spcBef>
                <a:spcPts val="283"/>
              </a:spcBef>
              <a:buClr>
                <a:srgbClr val="000000"/>
              </a:buClr>
              <a:buSzPct val="45000"/>
              <a:buFont typeface="Wingdings" charset="2"/>
              <a:buChar char=""/>
            </a:pPr>
            <a:r>
              <a:rPr lang="en-US" sz="2000" b="0" strike="noStrike" spc="-1">
                <a:latin typeface="Arial"/>
              </a:rPr>
              <a:t>Fifth Outline Level</a:t>
            </a:r>
          </a:p>
          <a:p>
            <a:pPr marL="2592000" lvl="5" indent="-216000">
              <a:spcBef>
                <a:spcPts val="283"/>
              </a:spcBef>
              <a:buClr>
                <a:srgbClr val="000000"/>
              </a:buClr>
              <a:buSzPct val="45000"/>
              <a:buFont typeface="Wingdings" charset="2"/>
              <a:buChar char=""/>
            </a:pPr>
            <a:r>
              <a:rPr lang="en-US" sz="2000" b="0" strike="noStrike" spc="-1">
                <a:latin typeface="Arial"/>
              </a:rPr>
              <a:t>Sixth Outline Level</a:t>
            </a:r>
          </a:p>
          <a:p>
            <a:pPr marL="3024000" lvl="6" indent="-216000">
              <a:spcBef>
                <a:spcPts val="283"/>
              </a:spcBef>
              <a:buClr>
                <a:srgbClr val="000000"/>
              </a:buClr>
              <a:buSzPct val="45000"/>
              <a:buFont typeface="Wingdings" charset="2"/>
              <a:buChar char=""/>
            </a:pPr>
            <a:r>
              <a:rPr lang="en-US"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 name="Line 20"/>
          <p:cNvSpPr/>
          <p:nvPr/>
        </p:nvSpPr>
        <p:spPr>
          <a:xfrm>
            <a:off x="0" y="41580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45" name="Text Box 24"/>
          <p:cNvSpPr/>
          <p:nvPr/>
        </p:nvSpPr>
        <p:spPr>
          <a:xfrm>
            <a:off x="7996320" y="6599160"/>
            <a:ext cx="924840" cy="242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spcBef>
                <a:spcPts val="499"/>
              </a:spcBef>
              <a:buNone/>
            </a:pPr>
            <a:fld id="{4CE03935-9F1B-40FD-BDE8-AA191BDA0FEB}" type="slidenum">
              <a:rPr lang="de-AT" sz="1000" b="1" strike="noStrike" spc="-1">
                <a:solidFill>
                  <a:srgbClr val="7D7D7D"/>
                </a:solidFill>
                <a:latin typeface="Verdana"/>
                <a:ea typeface="DejaVu Sans"/>
              </a:rPr>
              <a:t>‹Nr.›</a:t>
            </a:fld>
            <a:endParaRPr lang="en-US" sz="1000" b="0" strike="noStrike" spc="-1">
              <a:latin typeface="Arial"/>
            </a:endParaRPr>
          </a:p>
        </p:txBody>
      </p:sp>
      <p:sp>
        <p:nvSpPr>
          <p:cNvPr id="46" name="Text Box 30"/>
          <p:cNvSpPr/>
          <p:nvPr/>
        </p:nvSpPr>
        <p:spPr>
          <a:xfrm>
            <a:off x="144360" y="6627960"/>
            <a:ext cx="1882080" cy="215280"/>
          </a:xfrm>
          <a:prstGeom prst="rect">
            <a:avLst/>
          </a:prstGeom>
          <a:noFill/>
          <a:ln w="0">
            <a:noFill/>
          </a:ln>
        </p:spPr>
        <p:style>
          <a:lnRef idx="0">
            <a:scrgbClr r="0" g="0" b="0"/>
          </a:lnRef>
          <a:fillRef idx="0">
            <a:scrgbClr r="0" g="0" b="0"/>
          </a:fillRef>
          <a:effectRef idx="0">
            <a:scrgbClr r="0" g="0" b="0"/>
          </a:effectRef>
          <a:fontRef idx="minor"/>
        </p:style>
        <p:txBody>
          <a:bodyPr wrap="none" lIns="90000" tIns="39600" rIns="90000" bIns="45000" anchor="ctr">
            <a:noAutofit/>
          </a:bodyPr>
          <a:lstStyle/>
          <a:p>
            <a:pPr>
              <a:lnSpc>
                <a:spcPct val="100000"/>
              </a:lnSpc>
              <a:spcBef>
                <a:spcPts val="550"/>
              </a:spcBef>
              <a:buNone/>
            </a:pPr>
            <a:r>
              <a:rPr lang="en-US" sz="1100" b="0" strike="noStrike" spc="-1">
                <a:solidFill>
                  <a:srgbClr val="000000"/>
                </a:solidFill>
                <a:latin typeface="Verdana"/>
                <a:ea typeface="DejaVu Sans"/>
              </a:rPr>
              <a:t>VECTO Release Notes</a:t>
            </a:r>
            <a:endParaRPr lang="en-US" sz="1100" b="0" strike="noStrike" spc="-1">
              <a:latin typeface="Arial"/>
            </a:endParaRPr>
          </a:p>
        </p:txBody>
      </p:sp>
      <p:pic>
        <p:nvPicPr>
          <p:cNvPr id="47" name="Picture 2"/>
          <p:cNvPicPr/>
          <p:nvPr/>
        </p:nvPicPr>
        <p:blipFill>
          <a:blip r:embed="rId14"/>
          <a:stretch/>
        </p:blipFill>
        <p:spPr>
          <a:xfrm>
            <a:off x="7389360" y="37800"/>
            <a:ext cx="1420560" cy="352080"/>
          </a:xfrm>
          <a:prstGeom prst="rect">
            <a:avLst/>
          </a:prstGeom>
          <a:ln w="0">
            <a:noFill/>
          </a:ln>
        </p:spPr>
      </p:pic>
      <p:pic>
        <p:nvPicPr>
          <p:cNvPr id="48" name="Picture 3" descr="I:\raphaelluz\VECTO\source\VECTO\User Manual\pics\VECTO-small.PNG"/>
          <p:cNvPicPr/>
          <p:nvPr/>
        </p:nvPicPr>
        <p:blipFill>
          <a:blip r:embed="rId15"/>
          <a:stretch/>
        </p:blipFill>
        <p:spPr>
          <a:xfrm>
            <a:off x="107640" y="58680"/>
            <a:ext cx="977760" cy="331560"/>
          </a:xfrm>
          <a:prstGeom prst="rect">
            <a:avLst/>
          </a:prstGeom>
          <a:ln w="0">
            <a:noFill/>
          </a:ln>
        </p:spPr>
      </p:pic>
      <p:sp>
        <p:nvSpPr>
          <p:cNvPr id="49" name="Line 20"/>
          <p:cNvSpPr/>
          <p:nvPr/>
        </p:nvSpPr>
        <p:spPr>
          <a:xfrm>
            <a:off x="0" y="659916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50"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r>
              <a:rPr lang="en-US" sz="4400" b="0" strike="noStrike" spc="-1">
                <a:latin typeface="Arial"/>
              </a:rPr>
              <a:t>Click to edit the title text format</a:t>
            </a:r>
          </a:p>
        </p:txBody>
      </p:sp>
      <p:sp>
        <p:nvSpPr>
          <p:cNvPr id="51"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latin typeface="Arial"/>
              </a:rPr>
              <a:t>Second Outline Level</a:t>
            </a:r>
          </a:p>
          <a:p>
            <a:pPr marL="1296000" lvl="2" indent="-288000">
              <a:spcBef>
                <a:spcPts val="850"/>
              </a:spcBef>
              <a:buClr>
                <a:srgbClr val="000000"/>
              </a:buClr>
              <a:buSzPct val="45000"/>
              <a:buFont typeface="Wingdings" charset="2"/>
              <a:buChar char=""/>
            </a:pPr>
            <a:r>
              <a:rPr lang="en-US" sz="2400" b="0" strike="noStrike" spc="-1">
                <a:latin typeface="Arial"/>
              </a:rPr>
              <a:t>Third Outline Level</a:t>
            </a:r>
          </a:p>
          <a:p>
            <a:pPr marL="1728000" lvl="3" indent="-216000">
              <a:spcBef>
                <a:spcPts val="567"/>
              </a:spcBef>
              <a:buClr>
                <a:srgbClr val="000000"/>
              </a:buClr>
              <a:buSzPct val="75000"/>
              <a:buFont typeface="Symbol" charset="2"/>
              <a:buChar char=""/>
            </a:pPr>
            <a:r>
              <a:rPr lang="en-US" sz="2000" b="0" strike="noStrike" spc="-1">
                <a:latin typeface="Arial"/>
              </a:rPr>
              <a:t>Fourth Outline Level</a:t>
            </a:r>
          </a:p>
          <a:p>
            <a:pPr marL="2160000" lvl="4" indent="-216000">
              <a:spcBef>
                <a:spcPts val="283"/>
              </a:spcBef>
              <a:buClr>
                <a:srgbClr val="000000"/>
              </a:buClr>
              <a:buSzPct val="45000"/>
              <a:buFont typeface="Wingdings" charset="2"/>
              <a:buChar char=""/>
            </a:pPr>
            <a:r>
              <a:rPr lang="en-US" sz="2000" b="0" strike="noStrike" spc="-1">
                <a:latin typeface="Arial"/>
              </a:rPr>
              <a:t>Fifth Outline Level</a:t>
            </a:r>
          </a:p>
          <a:p>
            <a:pPr marL="2592000" lvl="5" indent="-216000">
              <a:spcBef>
                <a:spcPts val="283"/>
              </a:spcBef>
              <a:buClr>
                <a:srgbClr val="000000"/>
              </a:buClr>
              <a:buSzPct val="45000"/>
              <a:buFont typeface="Wingdings" charset="2"/>
              <a:buChar char=""/>
            </a:pPr>
            <a:r>
              <a:rPr lang="en-US" sz="2000" b="0" strike="noStrike" spc="-1">
                <a:latin typeface="Arial"/>
              </a:rPr>
              <a:t>Sixth Outline Level</a:t>
            </a:r>
          </a:p>
          <a:p>
            <a:pPr marL="3024000" lvl="6" indent="-216000">
              <a:spcBef>
                <a:spcPts val="283"/>
              </a:spcBef>
              <a:buClr>
                <a:srgbClr val="000000"/>
              </a:buClr>
              <a:buSzPct val="45000"/>
              <a:buFont typeface="Wingdings" charset="2"/>
              <a:buChar char=""/>
            </a:pPr>
            <a:r>
              <a:rPr lang="en-US"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hyperlink" Target="https://citnet.tech.ec.europa.eu/CITnet/jira/projects/VECTO/versions/341166" TargetMode="Externa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hyperlink" Target="https://citnet.tech.ec.europa.eu/CITnet/jira/projects/VECTO/versions/341166" TargetMode="Externa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33.wmf"/><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33.wmf"/><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hyperlink" Target="https://citnet.tech.ec.europa.eu/CITnet/jira/projects/VECTO/versions/335270" TargetMode="Externa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hyperlink" Target="https://citnet.tech.ec.europa.eu/CITnet/jira/projects/VECTO/versions/335270" TargetMode="Externa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Text Box 94"/>
          <p:cNvSpPr/>
          <p:nvPr/>
        </p:nvSpPr>
        <p:spPr>
          <a:xfrm>
            <a:off x="539640" y="1052640"/>
            <a:ext cx="8135640" cy="3945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1599"/>
              </a:spcBef>
              <a:buNone/>
            </a:pPr>
            <a:r>
              <a:rPr lang="en-US" sz="3200" b="1" strike="noStrike" spc="-1">
                <a:solidFill>
                  <a:srgbClr val="990000"/>
                </a:solidFill>
                <a:latin typeface="Arial"/>
                <a:ea typeface="DejaVu Sans"/>
              </a:rPr>
              <a:t>VECTO 3.x</a:t>
            </a:r>
            <a:endParaRPr lang="en-US" sz="3200" b="0" strike="noStrike" spc="-1">
              <a:latin typeface="Arial"/>
            </a:endParaRPr>
          </a:p>
          <a:p>
            <a:pPr algn="ctr">
              <a:lnSpc>
                <a:spcPct val="100000"/>
              </a:lnSpc>
              <a:spcBef>
                <a:spcPts val="1001"/>
              </a:spcBef>
              <a:buNone/>
            </a:pPr>
            <a:r>
              <a:rPr lang="en-US" sz="2000" b="1" strike="noStrike" spc="-1">
                <a:solidFill>
                  <a:srgbClr val="990000"/>
                </a:solidFill>
                <a:latin typeface="Arial"/>
                <a:ea typeface="DejaVu Sans"/>
              </a:rPr>
              <a:t>3.5.2022</a:t>
            </a:r>
            <a:endParaRPr lang="en-US" sz="2000" b="0" strike="noStrike" spc="-1">
              <a:latin typeface="Arial"/>
            </a:endParaRPr>
          </a:p>
          <a:p>
            <a:pPr algn="ctr">
              <a:lnSpc>
                <a:spcPct val="100000"/>
              </a:lnSpc>
              <a:spcBef>
                <a:spcPts val="1001"/>
              </a:spcBef>
              <a:buNone/>
            </a:pPr>
            <a:endParaRPr lang="en-US" sz="2000" b="0" strike="noStrike" spc="-1">
              <a:latin typeface="Arial"/>
            </a:endParaRPr>
          </a:p>
          <a:p>
            <a:pPr algn="ctr">
              <a:lnSpc>
                <a:spcPct val="100000"/>
              </a:lnSpc>
              <a:spcBef>
                <a:spcPts val="1001"/>
              </a:spcBef>
              <a:buNone/>
            </a:pPr>
            <a:endParaRPr lang="en-US" sz="2000" b="0" strike="noStrike" spc="-1">
              <a:latin typeface="Arial"/>
            </a:endParaRPr>
          </a:p>
          <a:p>
            <a:pPr algn="ctr">
              <a:lnSpc>
                <a:spcPct val="100000"/>
              </a:lnSpc>
              <a:spcBef>
                <a:spcPts val="1199"/>
              </a:spcBef>
              <a:buNone/>
            </a:pPr>
            <a:endParaRPr lang="en-US" sz="2400" b="0" strike="noStrike" spc="-1">
              <a:latin typeface="Arial"/>
            </a:endParaRPr>
          </a:p>
          <a:p>
            <a:pPr algn="ctr">
              <a:lnSpc>
                <a:spcPct val="100000"/>
              </a:lnSpc>
              <a:spcBef>
                <a:spcPts val="1199"/>
              </a:spcBef>
              <a:buNone/>
            </a:pPr>
            <a:endParaRPr lang="en-US" sz="2400" b="0" strike="noStrike" spc="-1">
              <a:latin typeface="Arial"/>
            </a:endParaRPr>
          </a:p>
          <a:p>
            <a:pPr algn="ctr">
              <a:lnSpc>
                <a:spcPct val="100000"/>
              </a:lnSpc>
              <a:spcBef>
                <a:spcPts val="1199"/>
              </a:spcBef>
              <a:buNone/>
            </a:pPr>
            <a:endParaRPr lang="en-US" sz="2400" b="0" strike="noStrike" spc="-1">
              <a:latin typeface="Arial"/>
            </a:endParaRPr>
          </a:p>
          <a:p>
            <a:pPr algn="ctr">
              <a:lnSpc>
                <a:spcPct val="100000"/>
              </a:lnSpc>
              <a:spcBef>
                <a:spcPts val="1199"/>
              </a:spcBef>
              <a:buNone/>
            </a:pPr>
            <a:r>
              <a:rPr lang="en-US" sz="2400" b="1" strike="noStrike" spc="-1">
                <a:solidFill>
                  <a:srgbClr val="990000"/>
                </a:solidFill>
                <a:latin typeface="Arial"/>
                <a:ea typeface="DejaVu Sans"/>
              </a:rPr>
              <a:t>Release Notes</a:t>
            </a:r>
            <a:endParaRPr lang="en-US" sz="2400" b="0" strike="noStrike" spc="-1">
              <a:latin typeface="Arial"/>
            </a:endParaRPr>
          </a:p>
        </p:txBody>
      </p:sp>
      <p:pic>
        <p:nvPicPr>
          <p:cNvPr id="89" name="Picture 2"/>
          <p:cNvPicPr/>
          <p:nvPr/>
        </p:nvPicPr>
        <p:blipFill>
          <a:blip r:embed="rId2"/>
          <a:stretch/>
        </p:blipFill>
        <p:spPr>
          <a:xfrm>
            <a:off x="2483640" y="2421000"/>
            <a:ext cx="4175640" cy="1626840"/>
          </a:xfrm>
          <a:prstGeom prst="rect">
            <a:avLst/>
          </a:prstGeom>
          <a:ln w="0">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468360" y="714240"/>
            <a:ext cx="8217720" cy="680400"/>
          </a:xfrm>
          <a:prstGeom prst="rect">
            <a:avLst/>
          </a:prstGeom>
          <a:noFill/>
          <a:ln w="0">
            <a:noFill/>
          </a:ln>
        </p:spPr>
        <p:txBody>
          <a:bodyPr lIns="0" tIns="0" rIns="0" bIns="0" numCol="1" spcCol="0" anchor="ctr">
            <a:noAutofit/>
          </a:bodyPr>
          <a:lstStyle/>
          <a:p>
            <a:pPr algn="ctr">
              <a:lnSpc>
                <a:spcPct val="100000"/>
              </a:lnSpc>
              <a:buNone/>
            </a:pPr>
            <a:r>
              <a:rPr lang="en-US" sz="2400" b="1" strike="noStrike" spc="-1" dirty="0" err="1">
                <a:solidFill>
                  <a:srgbClr val="990000"/>
                </a:solidFill>
                <a:latin typeface="Arial"/>
              </a:rPr>
              <a:t>Vecto</a:t>
            </a:r>
            <a:r>
              <a:rPr lang="en-US" sz="2400" b="1" strike="noStrike" spc="-1" dirty="0">
                <a:solidFill>
                  <a:srgbClr val="990000"/>
                </a:solidFill>
                <a:latin typeface="Arial"/>
              </a:rPr>
              <a:t> 0.7.9.xxx  Development Version</a:t>
            </a:r>
            <a:r>
              <a:rPr lang="en-US" sz="2400" b="0" strike="noStrike" spc="-1" dirty="0">
                <a:latin typeface="Arial"/>
              </a:rPr>
              <a:t> </a:t>
            </a:r>
            <a:br>
              <a:rPr sz="2400" dirty="0"/>
            </a:br>
            <a:r>
              <a:rPr lang="en-US" sz="1600" b="1" strike="noStrike" spc="-1" dirty="0">
                <a:solidFill>
                  <a:srgbClr val="990000"/>
                </a:solidFill>
                <a:latin typeface="Arial"/>
              </a:rPr>
              <a:t>March 2023</a:t>
            </a:r>
            <a:endParaRPr lang="en-US" sz="1600" b="0" strike="noStrike" spc="-1" dirty="0">
              <a:latin typeface="Arial"/>
            </a:endParaRPr>
          </a:p>
        </p:txBody>
      </p:sp>
      <p:sp>
        <p:nvSpPr>
          <p:cNvPr id="91" name="PlaceHolder 2"/>
          <p:cNvSpPr/>
          <p:nvPr/>
        </p:nvSpPr>
        <p:spPr>
          <a:xfrm>
            <a:off x="419760" y="1600200"/>
            <a:ext cx="8495280" cy="4822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dirty="0">
                <a:solidFill>
                  <a:srgbClr val="000000"/>
                </a:solidFill>
                <a:latin typeface="Arial"/>
              </a:rPr>
              <a:t>Important Note</a:t>
            </a:r>
            <a:br>
              <a:rPr sz="1600" dirty="0"/>
            </a:br>
            <a:r>
              <a:rPr lang="en-US" sz="1600" b="0" strike="noStrike" spc="-1" dirty="0">
                <a:solidFill>
                  <a:srgbClr val="000000"/>
                </a:solidFill>
                <a:latin typeface="Arial"/>
              </a:rPr>
              <a:t>This is a development release for </a:t>
            </a:r>
            <a:r>
              <a:rPr lang="en-US" sz="1600" b="0" strike="noStrike" spc="-1" dirty="0" err="1">
                <a:solidFill>
                  <a:srgbClr val="000000"/>
                </a:solidFill>
                <a:latin typeface="Arial"/>
              </a:rPr>
              <a:t>xEV</a:t>
            </a:r>
            <a:r>
              <a:rPr lang="en-US" sz="1600" b="0" strike="noStrike" spc="-1" dirty="0">
                <a:solidFill>
                  <a:srgbClr val="000000"/>
                </a:solidFill>
                <a:latin typeface="Arial"/>
              </a:rPr>
              <a:t>-Lorries. Bus related functionalities may be broken. </a:t>
            </a:r>
            <a:br>
              <a:rPr sz="1600" dirty="0"/>
            </a:br>
            <a:r>
              <a:rPr lang="en-US" sz="1600" b="0" strike="noStrike" spc="-1" dirty="0">
                <a:solidFill>
                  <a:srgbClr val="000000"/>
                </a:solidFill>
                <a:latin typeface="Arial"/>
              </a:rPr>
              <a:t> </a:t>
            </a:r>
            <a:endParaRPr lang="en-US" sz="1600" b="0" strike="noStrike" spc="-1" dirty="0">
              <a:latin typeface="Arial"/>
            </a:endParaRPr>
          </a:p>
          <a:p>
            <a:pPr marL="343080" indent="-343080">
              <a:lnSpc>
                <a:spcPct val="100000"/>
              </a:lnSpc>
              <a:spcBef>
                <a:spcPts val="320"/>
              </a:spcBef>
              <a:buClr>
                <a:srgbClr val="000000"/>
              </a:buClr>
              <a:buFont typeface="Symbol"/>
              <a:buChar char=""/>
              <a:tabLst>
                <a:tab pos="1886040" algn="l"/>
              </a:tabLst>
            </a:pPr>
            <a:r>
              <a:rPr lang="en-US" sz="1600" b="1" strike="noStrike" spc="-1" dirty="0">
                <a:solidFill>
                  <a:srgbClr val="000000"/>
                </a:solidFill>
                <a:latin typeface="Arial"/>
              </a:rPr>
              <a:t>Changes</a:t>
            </a:r>
            <a:endParaRPr lang="en-US" sz="1600" b="0" strike="noStrike" spc="-1" dirty="0">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dirty="0">
                <a:solidFill>
                  <a:srgbClr val="000000"/>
                </a:solidFill>
                <a:latin typeface="Arial"/>
              </a:rPr>
              <a:t>Implementation of Declaration-Mode for </a:t>
            </a:r>
            <a:r>
              <a:rPr lang="en-US" sz="1400" b="0" strike="noStrike" spc="-1" dirty="0" err="1">
                <a:solidFill>
                  <a:srgbClr val="000000"/>
                </a:solidFill>
                <a:latin typeface="Arial"/>
              </a:rPr>
              <a:t>xEV</a:t>
            </a:r>
            <a:r>
              <a:rPr lang="en-US" sz="1400" b="0" strike="noStrike" spc="-1" dirty="0">
                <a:solidFill>
                  <a:srgbClr val="000000"/>
                </a:solidFill>
                <a:latin typeface="Arial"/>
              </a:rPr>
              <a:t>-Lorries</a:t>
            </a:r>
          </a:p>
          <a:p>
            <a:pPr marL="743040" lvl="1" indent="-285840">
              <a:lnSpc>
                <a:spcPct val="100000"/>
              </a:lnSpc>
              <a:spcBef>
                <a:spcPts val="281"/>
              </a:spcBef>
              <a:buClr>
                <a:srgbClr val="000000"/>
              </a:buClr>
              <a:buFont typeface="Symbol"/>
              <a:buChar char=""/>
              <a:tabLst>
                <a:tab pos="1886040" algn="l"/>
              </a:tabLst>
            </a:pPr>
            <a:r>
              <a:rPr lang="en-US" sz="1400" spc="-1" dirty="0">
                <a:solidFill>
                  <a:srgbClr val="000000"/>
                </a:solidFill>
                <a:latin typeface="Arial"/>
              </a:rPr>
              <a:t>Test settings:</a:t>
            </a:r>
          </a:p>
          <a:p>
            <a:pPr marL="1200240" lvl="2" indent="-285840">
              <a:spcBef>
                <a:spcPts val="281"/>
              </a:spcBef>
              <a:buClr>
                <a:srgbClr val="000000"/>
              </a:buClr>
              <a:buFont typeface="Symbol"/>
              <a:buChar char=""/>
              <a:tabLst>
                <a:tab pos="1886040" algn="l"/>
              </a:tabLst>
            </a:pPr>
            <a:r>
              <a:rPr lang="en-US" sz="1400" spc="-1" dirty="0">
                <a:solidFill>
                  <a:srgbClr val="000000"/>
                </a:solidFill>
                <a:latin typeface="Arial"/>
              </a:rPr>
              <a:t>Charge-Sustaining-Mode:</a:t>
            </a:r>
          </a:p>
          <a:p>
            <a:pPr marL="1657440" lvl="3"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Iterative </a:t>
            </a:r>
            <a:r>
              <a:rPr lang="en-US" sz="1400" spc="-1" dirty="0">
                <a:solidFill>
                  <a:srgbClr val="000000"/>
                </a:solidFill>
                <a:latin typeface="Arial"/>
              </a:rPr>
              <a:t>simulation for OVC-P-HEVs </a:t>
            </a:r>
          </a:p>
          <a:p>
            <a:pPr lvl="3">
              <a:spcBef>
                <a:spcPts val="281"/>
              </a:spcBef>
              <a:buClr>
                <a:srgbClr val="000000"/>
              </a:buClr>
              <a:tabLst>
                <a:tab pos="1886040" algn="l"/>
              </a:tabLst>
            </a:pPr>
            <a:r>
              <a:rPr lang="en-US" sz="1400" spc="-1" dirty="0">
                <a:solidFill>
                  <a:srgbClr val="000000"/>
                </a:solidFill>
                <a:latin typeface="Arial"/>
              </a:rPr>
              <a:t>	can be disabled</a:t>
            </a:r>
          </a:p>
          <a:p>
            <a:pPr marL="1200240" lvl="2"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Charge</a:t>
            </a:r>
            <a:r>
              <a:rPr lang="en-US" sz="1400" spc="-1" dirty="0">
                <a:solidFill>
                  <a:srgbClr val="000000"/>
                </a:solidFill>
                <a:latin typeface="Arial"/>
              </a:rPr>
              <a:t>-</a:t>
            </a:r>
            <a:r>
              <a:rPr lang="en-US" sz="1400" b="0" strike="noStrike" spc="-1" dirty="0">
                <a:solidFill>
                  <a:srgbClr val="000000"/>
                </a:solidFill>
                <a:latin typeface="Arial"/>
              </a:rPr>
              <a:t>Depleting-</a:t>
            </a:r>
            <a:r>
              <a:rPr lang="en-US" sz="1400" spc="-1" dirty="0">
                <a:solidFill>
                  <a:srgbClr val="000000"/>
                </a:solidFill>
                <a:latin typeface="Arial"/>
              </a:rPr>
              <a:t>Mode:</a:t>
            </a:r>
          </a:p>
          <a:p>
            <a:pPr marL="1657440" lvl="3"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Central SOC can be overridden for </a:t>
            </a:r>
          </a:p>
          <a:p>
            <a:pPr lvl="3">
              <a:spcBef>
                <a:spcPts val="281"/>
              </a:spcBef>
              <a:buClr>
                <a:srgbClr val="000000"/>
              </a:buClr>
              <a:tabLst>
                <a:tab pos="1886040" algn="l"/>
              </a:tabLst>
            </a:pPr>
            <a:r>
              <a:rPr lang="en-US" sz="1400" spc="-1" dirty="0">
                <a:solidFill>
                  <a:srgbClr val="000000"/>
                </a:solidFill>
                <a:latin typeface="Arial"/>
              </a:rPr>
              <a:t>	</a:t>
            </a:r>
            <a:r>
              <a:rPr lang="en-US" sz="1400" b="0" strike="noStrike" spc="-1" dirty="0">
                <a:solidFill>
                  <a:srgbClr val="000000"/>
                </a:solidFill>
                <a:latin typeface="Arial"/>
              </a:rPr>
              <a:t>Charge</a:t>
            </a:r>
            <a:r>
              <a:rPr lang="en-US" sz="1400" spc="-1" dirty="0">
                <a:solidFill>
                  <a:srgbClr val="000000"/>
                </a:solidFill>
                <a:latin typeface="Arial"/>
              </a:rPr>
              <a:t>-Depleting-Mode </a:t>
            </a:r>
            <a:endParaRPr lang="en-US" sz="1400" b="0" strike="noStrike" spc="-1" dirty="0">
              <a:solidFill>
                <a:srgbClr val="000000"/>
              </a:solidFill>
              <a:latin typeface="Arial"/>
            </a:endParaRPr>
          </a:p>
          <a:p>
            <a:pPr marL="743040" lvl="1" indent="-285840">
              <a:lnSpc>
                <a:spcPct val="100000"/>
              </a:lnSpc>
              <a:spcBef>
                <a:spcPts val="281"/>
              </a:spcBef>
              <a:buClr>
                <a:srgbClr val="000000"/>
              </a:buClr>
              <a:buFont typeface="Symbol"/>
              <a:buChar char=""/>
              <a:tabLst>
                <a:tab pos="1886040" algn="l"/>
              </a:tabLst>
            </a:pPr>
            <a:r>
              <a:rPr lang="en-US" sz="1400" spc="-1" dirty="0">
                <a:solidFill>
                  <a:srgbClr val="000000"/>
                </a:solidFill>
                <a:latin typeface="Arial"/>
              </a:rPr>
              <a:t>Declaration values can be overridden by copying the particular file to &lt;</a:t>
            </a:r>
            <a:r>
              <a:rPr lang="en-US" sz="1400" spc="-1" dirty="0" err="1">
                <a:solidFill>
                  <a:srgbClr val="000000"/>
                </a:solidFill>
                <a:latin typeface="Arial"/>
              </a:rPr>
              <a:t>VectoDir</a:t>
            </a:r>
            <a:r>
              <a:rPr lang="en-US" sz="1400" spc="-1" dirty="0">
                <a:solidFill>
                  <a:srgbClr val="000000"/>
                </a:solidFill>
                <a:latin typeface="Arial"/>
              </a:rPr>
              <a:t>&gt;\Declaration\Override and changing the desired value.</a:t>
            </a:r>
          </a:p>
          <a:p>
            <a:pPr marL="743040" lvl="1" indent="-285840">
              <a:lnSpc>
                <a:spcPct val="100000"/>
              </a:lnSpc>
              <a:spcBef>
                <a:spcPts val="281"/>
              </a:spcBef>
              <a:buClr>
                <a:srgbClr val="000000"/>
              </a:buClr>
              <a:buFont typeface="Symbol"/>
              <a:buChar char=""/>
              <a:tabLst>
                <a:tab pos="1886040" algn="l"/>
              </a:tabLst>
            </a:pPr>
            <a:r>
              <a:rPr lang="en-US" sz="1400" b="0" strike="noStrike" spc="-1" dirty="0">
                <a:solidFill>
                  <a:srgbClr val="000000"/>
                </a:solidFill>
                <a:latin typeface="Arial"/>
              </a:rPr>
              <a:t>Support for </a:t>
            </a:r>
            <a:r>
              <a:rPr lang="en-US" sz="1400" spc="-1" dirty="0" err="1">
                <a:solidFill>
                  <a:srgbClr val="000000"/>
                </a:solidFill>
                <a:latin typeface="Arial"/>
              </a:rPr>
              <a:t>xEV</a:t>
            </a:r>
            <a:r>
              <a:rPr lang="en-US" sz="1400" spc="-1" dirty="0">
                <a:solidFill>
                  <a:srgbClr val="000000"/>
                </a:solidFill>
                <a:latin typeface="Arial"/>
              </a:rPr>
              <a:t>-JSON-Jobs in Declaration Mode</a:t>
            </a:r>
          </a:p>
          <a:p>
            <a:pPr marL="743040" lvl="1" indent="-285840">
              <a:lnSpc>
                <a:spcPct val="100000"/>
              </a:lnSpc>
              <a:spcBef>
                <a:spcPts val="281"/>
              </a:spcBef>
              <a:buClr>
                <a:srgbClr val="000000"/>
              </a:buClr>
              <a:buFont typeface="Symbol"/>
              <a:buChar char=""/>
              <a:tabLst>
                <a:tab pos="1886040" algn="l"/>
              </a:tabLst>
            </a:pPr>
            <a:r>
              <a:rPr lang="en-US" sz="1400" spc="-1" dirty="0">
                <a:solidFill>
                  <a:srgbClr val="000000"/>
                </a:solidFill>
                <a:latin typeface="Arial"/>
              </a:rPr>
              <a:t>New XSD-Schema for XML Reports</a:t>
            </a:r>
          </a:p>
          <a:p>
            <a:pPr marL="743040" lvl="1" indent="-285840">
              <a:lnSpc>
                <a:spcPct val="100000"/>
              </a:lnSpc>
              <a:spcBef>
                <a:spcPts val="281"/>
              </a:spcBef>
              <a:buClr>
                <a:srgbClr val="000000"/>
              </a:buClr>
              <a:buFont typeface="Symbol"/>
              <a:buChar char=""/>
              <a:tabLst>
                <a:tab pos="1886040" algn="l"/>
              </a:tabLst>
            </a:pPr>
            <a:r>
              <a:rPr lang="en-US" sz="1400" b="0" strike="noStrike" spc="-1" dirty="0">
                <a:solidFill>
                  <a:srgbClr val="000000"/>
                </a:solidFill>
                <a:latin typeface="Arial"/>
              </a:rPr>
              <a:t>Updated Hybrid </a:t>
            </a:r>
            <a:r>
              <a:rPr lang="en-US" sz="1400" spc="-1" dirty="0">
                <a:solidFill>
                  <a:srgbClr val="000000"/>
                </a:solidFill>
                <a:latin typeface="Arial"/>
              </a:rPr>
              <a:t>Strategy and G</a:t>
            </a:r>
            <a:r>
              <a:rPr lang="en-US" sz="1400" spc="-1">
                <a:solidFill>
                  <a:srgbClr val="000000"/>
                </a:solidFill>
                <a:latin typeface="Arial"/>
              </a:rPr>
              <a:t>earshifting</a:t>
            </a:r>
            <a:endParaRPr lang="en-US" sz="1400" b="0" strike="noStrike" spc="-1" dirty="0">
              <a:latin typeface="Arial"/>
            </a:endParaRPr>
          </a:p>
          <a:p>
            <a:pPr>
              <a:lnSpc>
                <a:spcPct val="100000"/>
              </a:lnSpc>
              <a:spcBef>
                <a:spcPts val="281"/>
              </a:spcBef>
              <a:buNone/>
              <a:tabLst>
                <a:tab pos="1886040" algn="l"/>
              </a:tabLst>
            </a:pPr>
            <a:endParaRPr lang="en-US" sz="1400" b="0" strike="noStrike" spc="-1" dirty="0">
              <a:latin typeface="Arial"/>
            </a:endParaRPr>
          </a:p>
          <a:p>
            <a:pPr>
              <a:lnSpc>
                <a:spcPct val="100000"/>
              </a:lnSpc>
              <a:buNone/>
              <a:tabLst>
                <a:tab pos="1886040" algn="l"/>
              </a:tabLst>
            </a:pPr>
            <a:endParaRPr lang="en-US" sz="1400" b="0" strike="noStrike" spc="-1" dirty="0">
              <a:latin typeface="Arial"/>
            </a:endParaRPr>
          </a:p>
          <a:p>
            <a:pPr>
              <a:lnSpc>
                <a:spcPct val="100000"/>
              </a:lnSpc>
              <a:buNone/>
              <a:tabLst>
                <a:tab pos="1886040" algn="l"/>
              </a:tabLst>
            </a:pPr>
            <a:endParaRPr lang="en-US" sz="1400" b="0" strike="noStrike" spc="-1" dirty="0">
              <a:latin typeface="Arial"/>
            </a:endParaRPr>
          </a:p>
        </p:txBody>
      </p:sp>
      <p:pic>
        <p:nvPicPr>
          <p:cNvPr id="2" name="Grafik 1">
            <a:extLst>
              <a:ext uri="{FF2B5EF4-FFF2-40B4-BE49-F238E27FC236}">
                <a16:creationId xmlns:a16="http://schemas.microsoft.com/office/drawing/2014/main" id="{476EFD3B-3989-4B04-9588-FADCA3A9950D}"/>
              </a:ext>
            </a:extLst>
          </p:cNvPr>
          <p:cNvPicPr>
            <a:picLocks noChangeAspect="1"/>
          </p:cNvPicPr>
          <p:nvPr/>
        </p:nvPicPr>
        <p:blipFill>
          <a:blip r:embed="rId2"/>
          <a:stretch>
            <a:fillRect/>
          </a:stretch>
        </p:blipFill>
        <p:spPr>
          <a:xfrm>
            <a:off x="5323286" y="3429000"/>
            <a:ext cx="3362794" cy="1505160"/>
          </a:xfrm>
          <a:prstGeom prst="rect">
            <a:avLst/>
          </a:prstGeom>
        </p:spPr>
      </p:pic>
    </p:spTree>
    <p:extLst>
      <p:ext uri="{BB962C8B-B14F-4D97-AF65-F5344CB8AC3E}">
        <p14:creationId xmlns:p14="http://schemas.microsoft.com/office/powerpoint/2010/main" val="22382985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468360" y="714240"/>
            <a:ext cx="8217720" cy="680400"/>
          </a:xfrm>
          <a:prstGeom prst="rect">
            <a:avLst/>
          </a:prstGeom>
          <a:noFill/>
          <a:ln w="0">
            <a:noFill/>
          </a:ln>
        </p:spPr>
        <p:txBody>
          <a:bodyPr lIns="0" tIns="0" rIns="0" bIns="0" numCol="1" spcCol="0" anchor="ctr">
            <a:noAutofit/>
          </a:bodyPr>
          <a:lstStyle/>
          <a:p>
            <a:pPr algn="ctr">
              <a:lnSpc>
                <a:spcPct val="100000"/>
              </a:lnSpc>
              <a:buNone/>
            </a:pPr>
            <a:r>
              <a:rPr lang="en-US" sz="2400" b="1" strike="noStrike" spc="-1">
                <a:solidFill>
                  <a:srgbClr val="990000"/>
                </a:solidFill>
                <a:latin typeface="Arial"/>
              </a:rPr>
              <a:t>Vecto 0.7.9.2864 JRC Development Version</a:t>
            </a:r>
            <a:r>
              <a:rPr lang="en-US" sz="2400" b="0" strike="noStrike" spc="-1">
                <a:latin typeface="Arial"/>
              </a:rPr>
              <a:t> </a:t>
            </a:r>
            <a:br>
              <a:rPr sz="2400"/>
            </a:br>
            <a:r>
              <a:rPr lang="en-US" sz="1600" b="1" strike="noStrike" spc="-1">
                <a:solidFill>
                  <a:srgbClr val="990000"/>
                </a:solidFill>
                <a:latin typeface="Arial"/>
              </a:rPr>
              <a:t>November 2022</a:t>
            </a:r>
            <a:endParaRPr lang="en-US" sz="1600" b="0" strike="noStrike" spc="-1">
              <a:latin typeface="Arial"/>
            </a:endParaRPr>
          </a:p>
        </p:txBody>
      </p:sp>
      <p:sp>
        <p:nvSpPr>
          <p:cNvPr id="91" name="PlaceHolder 2"/>
          <p:cNvSpPr/>
          <p:nvPr/>
        </p:nvSpPr>
        <p:spPr>
          <a:xfrm>
            <a:off x="419760" y="1600200"/>
            <a:ext cx="8495280" cy="4822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Important Note</a:t>
            </a:r>
            <a:br>
              <a:rPr sz="1600"/>
            </a:br>
            <a:r>
              <a:rPr lang="en-US" sz="1600" b="0" strike="noStrike" spc="-1">
                <a:solidFill>
                  <a:srgbClr val="000000"/>
                </a:solidFill>
                <a:latin typeface="Arial"/>
              </a:rPr>
              <a:t>This is a special development release by JRC to validate the time-runs for BEVs. </a:t>
            </a:r>
            <a:br>
              <a:rPr sz="1600"/>
            </a:br>
            <a:r>
              <a:rPr lang="en-US" sz="1600" b="0" strike="noStrike" spc="-1">
                <a:solidFill>
                  <a:srgbClr val="000000"/>
                </a:solidFill>
                <a:latin typeface="Arial"/>
              </a:rPr>
              <a:t> </a:t>
            </a:r>
            <a:endParaRPr lang="en-US" sz="1600" b="0" strike="noStrike" spc="-1">
              <a:latin typeface="Arial"/>
            </a:endParaRPr>
          </a:p>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measured speed cycle for BEVs (E2, E3, E4, IEPC)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measured speed with gear for BEVs (E2, IEPC)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Pwheel mode for BEVs (E2, E3, E4, IEPC)</a:t>
            </a:r>
            <a:br>
              <a:rPr sz="1400"/>
            </a:br>
            <a:r>
              <a:rPr lang="en-US" sz="1400" b="0" strike="noStrike" spc="-1">
                <a:solidFill>
                  <a:srgbClr val="000000"/>
                </a:solidFill>
                <a:latin typeface="Arial"/>
              </a:rPr>
              <a:t>In this type of cycle, the input field </a:t>
            </a:r>
            <a:r>
              <a:rPr lang="en-US" sz="1400" b="1" strike="noStrike" spc="-1">
                <a:solidFill>
                  <a:srgbClr val="000000"/>
                </a:solidFill>
                <a:latin typeface="Arial"/>
              </a:rPr>
              <a:t>&lt;n&gt;</a:t>
            </a:r>
            <a:r>
              <a:rPr lang="en-US" sz="1400" b="0" strike="noStrike" spc="-1">
                <a:solidFill>
                  <a:srgbClr val="000000"/>
                </a:solidFill>
                <a:latin typeface="Arial"/>
              </a:rPr>
              <a:t> stands for the speed of the electric motor.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ea typeface="Microsoft YaHei"/>
              </a:rPr>
              <a:t>The E2 vehicle job “Generic Vehicles\Engineering Mode\GenericVehicleE2\BEV_ENG_timeruns.vecto” is preconfigured to run time-run cycles.</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281"/>
              </a:spcBef>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0.7.9.2741 Development Version</a:t>
            </a:r>
            <a:br>
              <a:rPr sz="2400"/>
            </a:br>
            <a:r>
              <a:rPr lang="en-US" sz="1600" b="1" strike="noStrike" spc="-1">
                <a:solidFill>
                  <a:srgbClr val="990000"/>
                </a:solidFill>
                <a:latin typeface="Arial"/>
              </a:rPr>
              <a:t>June 2022</a:t>
            </a:r>
            <a:endParaRPr lang="en-US" sz="1600" b="0" strike="noStrike" spc="-1">
              <a:latin typeface="Arial"/>
            </a:endParaRPr>
          </a:p>
        </p:txBody>
      </p:sp>
      <p:sp>
        <p:nvSpPr>
          <p:cNvPr id="93"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Changes/Bugfixes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IEPC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IEPC-S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IHPC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Adaptations HEV-S strategy, SoC correction for HEV-S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PTO idle drag losses for PEV, adapting PTO idle losses according to 2nd amendment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Hashing tool crashes in .net version 6.0</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Corrected length for BusAux volume calculation</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281"/>
              </a:spcBef>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Modeling of IEPC component</a:t>
            </a:r>
            <a:endParaRPr lang="en-US" sz="2400" b="0" strike="noStrike" spc="-1">
              <a:latin typeface="Arial"/>
            </a:endParaRPr>
          </a:p>
        </p:txBody>
      </p:sp>
      <p:sp>
        <p:nvSpPr>
          <p:cNvPr id="95"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is modelled as APT-N transmission and electric machine</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Using already available models, same shift strategy as for E2/S2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Simplified transmission in case of single-speed IEPC</a:t>
            </a:r>
            <a:endParaRPr lang="en-US" sz="1800" b="0" strike="noStrike" spc="-1">
              <a:latin typeface="Arial"/>
            </a:endParaRPr>
          </a:p>
        </p:txBody>
      </p:sp>
      <p:sp>
        <p:nvSpPr>
          <p:cNvPr id="96" name="PlaceHolder 3"/>
          <p:cNvSpPr>
            <a:spLocks noGrp="1"/>
          </p:cNvSpPr>
          <p:nvPr>
            <p:ph type="sldNum" idx="1"/>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97" name="Grafik 72"/>
          <p:cNvPicPr/>
          <p:nvPr/>
        </p:nvPicPr>
        <p:blipFill>
          <a:blip r:embed="rId2"/>
          <a:stretch/>
        </p:blipFill>
        <p:spPr>
          <a:xfrm>
            <a:off x="2500920" y="3562200"/>
            <a:ext cx="3913560" cy="1592280"/>
          </a:xfrm>
          <a:prstGeom prst="rect">
            <a:avLst/>
          </a:prstGeom>
          <a:ln w="0">
            <a:noFill/>
          </a:ln>
        </p:spPr>
      </p:pic>
      <p:sp>
        <p:nvSpPr>
          <p:cNvPr id="98" name="Textfeld 73"/>
          <p:cNvSpPr/>
          <p:nvPr/>
        </p:nvSpPr>
        <p:spPr>
          <a:xfrm>
            <a:off x="0" y="5155200"/>
            <a:ext cx="9143280" cy="303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700"/>
              </a:spcBef>
              <a:buNone/>
            </a:pPr>
            <a:r>
              <a:rPr lang="en-US" sz="1400" b="1" strike="noStrike" spc="-1">
                <a:solidFill>
                  <a:srgbClr val="000000"/>
                </a:solidFill>
                <a:latin typeface="Courier New"/>
                <a:ea typeface="DejaVu Sans"/>
              </a:rPr>
              <a:t>_int </a:t>
            </a:r>
            <a:r>
              <a:rPr lang="en-US" sz="1400" b="1" strike="noStrike" spc="-1">
                <a:solidFill>
                  <a:srgbClr val="000000"/>
                </a:solidFill>
                <a:latin typeface="Arial"/>
                <a:ea typeface="DejaVu Sans"/>
              </a:rPr>
              <a:t>signals refer to the out-shaft of the electric motor</a:t>
            </a:r>
            <a:endParaRPr lang="en-US" sz="1400" b="0" strike="noStrike" spc="-1">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Peculiarities of IEPC</a:t>
            </a:r>
            <a:endParaRPr lang="en-US" sz="2400" b="0" strike="noStrike" spc="-1">
              <a:latin typeface="Arial"/>
            </a:endParaRPr>
          </a:p>
        </p:txBody>
      </p:sp>
      <p:sp>
        <p:nvSpPr>
          <p:cNvPr id="10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Model parameters (max torque, power maps) refer to IEPC out-shaft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Internally converted to electric motor</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Overload parameters are measured in the gear with the </a:t>
            </a:r>
            <a:br>
              <a:rPr sz="2000"/>
            </a:br>
            <a:r>
              <a:rPr lang="en-US" sz="2000" b="0" strike="noStrike" spc="-1">
                <a:solidFill>
                  <a:srgbClr val="000000"/>
                </a:solidFill>
                <a:latin typeface="Arial"/>
              </a:rPr>
              <a:t>ratio closest to 1 </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2 options for drag curve acc. to Annex Xb:</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 single drag curve is provided </a:t>
            </a:r>
            <a:br>
              <a:rPr sz="1800"/>
            </a:br>
            <a:r>
              <a:rPr lang="en-US" sz="1800" b="0" strike="noStrike" spc="-1">
                <a:solidFill>
                  <a:srgbClr val="000000"/>
                </a:solidFill>
                <a:latin typeface="Arial"/>
              </a:rPr>
              <a:t>(measured in gear with ratio closest to 1)</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Drag curve for every gear is provided</a:t>
            </a:r>
            <a:endParaRPr lang="en-US" sz="1800" b="0" strike="noStrike" spc="-1">
              <a:latin typeface="Arial"/>
            </a:endParaRPr>
          </a:p>
        </p:txBody>
      </p:sp>
      <p:sp>
        <p:nvSpPr>
          <p:cNvPr id="101" name="PlaceHolder 3"/>
          <p:cNvSpPr>
            <a:spLocks noGrp="1"/>
          </p:cNvSpPr>
          <p:nvPr>
            <p:ph type="sldNum" idx="2"/>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IEPC component</a:t>
            </a:r>
            <a:endParaRPr lang="en-US" sz="2400" b="0" strike="noStrike" spc="-1">
              <a:latin typeface="Arial"/>
            </a:endParaRPr>
          </a:p>
        </p:txBody>
      </p:sp>
      <p:sp>
        <p:nvSpPr>
          <p:cNvPr id="103" name="PlaceHolder 2"/>
          <p:cNvSpPr>
            <a:spLocks noGrp="1"/>
          </p:cNvSpPr>
          <p:nvPr>
            <p:ph/>
          </p:nvPr>
        </p:nvSpPr>
        <p:spPr>
          <a:xfrm>
            <a:off x="622440" y="2137320"/>
            <a:ext cx="8393760" cy="95688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powertrain architecture definition</a:t>
            </a:r>
            <a:endParaRPr lang="en-US" sz="2000" b="0" strike="noStrike" spc="-1">
              <a:latin typeface="Arial"/>
            </a:endParaRPr>
          </a:p>
          <a:p>
            <a:pPr marL="743040" lvl="1" indent="-285840">
              <a:lnSpc>
                <a:spcPct val="100000"/>
              </a:lnSpc>
              <a:spcBef>
                <a:spcPts val="281"/>
              </a:spcBef>
              <a:buClr>
                <a:srgbClr val="000000"/>
              </a:buClr>
              <a:buFont typeface="Symbol"/>
              <a:buChar char=""/>
            </a:pPr>
            <a:r>
              <a:rPr lang="en-US" sz="1400" b="0" strike="noStrike" spc="-1">
                <a:solidFill>
                  <a:srgbClr val="000000"/>
                </a:solidFill>
                <a:latin typeface="Arial"/>
              </a:rPr>
              <a:t>Specific system layout is described by setting of 3 parameters</a:t>
            </a:r>
            <a:br>
              <a:rPr sz="1400"/>
            </a:br>
            <a:r>
              <a:rPr lang="en-US" sz="1400" b="0" strike="noStrike" spc="-1">
                <a:solidFill>
                  <a:srgbClr val="000000"/>
                </a:solidFill>
                <a:latin typeface="Arial"/>
              </a:rPr>
              <a:t>(for detailed description please refer to Annex Xb)</a:t>
            </a:r>
            <a:endParaRPr lang="en-US" sz="1400" b="0" strike="noStrike" spc="-1">
              <a:latin typeface="Arial"/>
            </a:endParaRPr>
          </a:p>
        </p:txBody>
      </p:sp>
      <p:sp>
        <p:nvSpPr>
          <p:cNvPr id="104" name="PlaceHolder 3"/>
          <p:cNvSpPr>
            <a:spLocks noGrp="1"/>
          </p:cNvSpPr>
          <p:nvPr>
            <p:ph type="sldNum" idx="3"/>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05" name="Tabelle 4"/>
          <p:cNvGraphicFramePr/>
          <p:nvPr/>
        </p:nvGraphicFramePr>
        <p:xfrm>
          <a:off x="29160" y="2980800"/>
          <a:ext cx="9074160" cy="2890440"/>
        </p:xfrm>
        <a:graphic>
          <a:graphicData uri="http://schemas.openxmlformats.org/drawingml/2006/table">
            <a:tbl>
              <a:tblPr/>
              <a:tblGrid>
                <a:gridCol w="542520">
                  <a:extLst>
                    <a:ext uri="{9D8B030D-6E8A-4147-A177-3AD203B41FA5}">
                      <a16:colId xmlns:a16="http://schemas.microsoft.com/office/drawing/2014/main" val="20000"/>
                    </a:ext>
                  </a:extLst>
                </a:gridCol>
                <a:gridCol w="684000">
                  <a:extLst>
                    <a:ext uri="{9D8B030D-6E8A-4147-A177-3AD203B41FA5}">
                      <a16:colId xmlns:a16="http://schemas.microsoft.com/office/drawing/2014/main" val="20001"/>
                    </a:ext>
                  </a:extLst>
                </a:gridCol>
                <a:gridCol w="720000">
                  <a:extLst>
                    <a:ext uri="{9D8B030D-6E8A-4147-A177-3AD203B41FA5}">
                      <a16:colId xmlns:a16="http://schemas.microsoft.com/office/drawing/2014/main" val="20002"/>
                    </a:ext>
                  </a:extLst>
                </a:gridCol>
                <a:gridCol w="972000">
                  <a:extLst>
                    <a:ext uri="{9D8B030D-6E8A-4147-A177-3AD203B41FA5}">
                      <a16:colId xmlns:a16="http://schemas.microsoft.com/office/drawing/2014/main" val="20003"/>
                    </a:ext>
                  </a:extLst>
                </a:gridCol>
                <a:gridCol w="2700000">
                  <a:extLst>
                    <a:ext uri="{9D8B030D-6E8A-4147-A177-3AD203B41FA5}">
                      <a16:colId xmlns:a16="http://schemas.microsoft.com/office/drawing/2014/main" val="20004"/>
                    </a:ext>
                  </a:extLst>
                </a:gridCol>
                <a:gridCol w="3456000">
                  <a:extLst>
                    <a:ext uri="{9D8B030D-6E8A-4147-A177-3AD203B41FA5}">
                      <a16:colId xmlns:a16="http://schemas.microsoft.com/office/drawing/2014/main" val="20005"/>
                    </a:ext>
                  </a:extLst>
                </a:gridCol>
              </a:tblGrid>
              <a:tr h="370800">
                <a:tc>
                  <a:txBody>
                    <a:bodyPr/>
                    <a:lstStyle/>
                    <a:p>
                      <a:pPr algn="ctr">
                        <a:lnSpc>
                          <a:spcPct val="100000"/>
                        </a:lnSpc>
                        <a:buNone/>
                      </a:pPr>
                      <a:r>
                        <a:rPr lang="de-AT" sz="800" b="1" strike="noStrike" spc="-1">
                          <a:solidFill>
                            <a:srgbClr val="FFFFFF"/>
                          </a:solidFill>
                          <a:latin typeface="Arial"/>
                        </a:rPr>
                        <a:t>IEPC layout case #</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700" b="1" strike="noStrike" spc="-1">
                          <a:solidFill>
                            <a:srgbClr val="FFFFFF"/>
                          </a:solidFill>
                          <a:latin typeface="Arial"/>
                        </a:rPr>
                        <a:t>Differential</a:t>
                      </a:r>
                      <a:br>
                        <a:rPr sz="700"/>
                      </a:br>
                      <a:r>
                        <a:rPr lang="de-AT" sz="700" b="1" strike="noStrike" spc="-1">
                          <a:solidFill>
                            <a:srgbClr val="FFFFFF"/>
                          </a:solidFill>
                          <a:latin typeface="Arial"/>
                        </a:rPr>
                        <a:t>Included</a:t>
                      </a:r>
                      <a:endParaRPr lang="en-US" sz="7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700" b="1" strike="noStrike" spc="-1">
                          <a:solidFill>
                            <a:srgbClr val="FFFFFF"/>
                          </a:solidFill>
                          <a:latin typeface="Arial"/>
                        </a:rPr>
                        <a:t>DesignType</a:t>
                      </a:r>
                      <a:br>
                        <a:rPr sz="700"/>
                      </a:br>
                      <a:r>
                        <a:rPr lang="de-AT" sz="700" b="1" strike="noStrike" spc="-1">
                          <a:solidFill>
                            <a:srgbClr val="FFFFFF"/>
                          </a:solidFill>
                          <a:latin typeface="Arial"/>
                        </a:rPr>
                        <a:t>WheelMotor</a:t>
                      </a:r>
                      <a:endParaRPr lang="en-US" sz="7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700" b="1" strike="noStrike" spc="-1">
                          <a:solidFill>
                            <a:srgbClr val="FFFFFF"/>
                          </a:solidFill>
                          <a:latin typeface="Arial"/>
                        </a:rPr>
                        <a:t>DesignTypeWheel</a:t>
                      </a:r>
                      <a:br>
                        <a:rPr sz="700"/>
                      </a:br>
                      <a:r>
                        <a:rPr lang="de-AT" sz="700" b="1" strike="noStrike" spc="-1">
                          <a:solidFill>
                            <a:srgbClr val="FFFFFF"/>
                          </a:solidFill>
                          <a:latin typeface="Arial"/>
                        </a:rPr>
                        <a:t>MotorMeasured</a:t>
                      </a:r>
                      <a:endParaRPr lang="en-US" sz="7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800" b="1" strike="noStrike" spc="-1">
                          <a:solidFill>
                            <a:srgbClr val="FFFFFF"/>
                          </a:solidFill>
                          <a:latin typeface="Arial"/>
                        </a:rPr>
                        <a:t>Layout schematics</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800" b="1" strike="noStrike" spc="-1">
                          <a:solidFill>
                            <a:srgbClr val="FFFFFF"/>
                          </a:solidFill>
                          <a:latin typeface="Arial"/>
                        </a:rPr>
                        <a:t>Comments</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756000">
                <a:tc>
                  <a:txBody>
                    <a:bodyPr/>
                    <a:lstStyle/>
                    <a:p>
                      <a:pPr>
                        <a:lnSpc>
                          <a:spcPct val="100000"/>
                        </a:lnSpc>
                        <a:buNone/>
                      </a:pPr>
                      <a:r>
                        <a:rPr lang="de-AT" sz="1200" b="0" strike="noStrike" spc="-1">
                          <a:solidFill>
                            <a:srgbClr val="000000"/>
                          </a:solidFill>
                          <a:latin typeface="Arial"/>
                        </a:rPr>
                        <a:t>1</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n.a.</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endParaRPr lang="de-DE"/>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de-AT" sz="800" b="0" strike="noStrike" spc="-1">
                          <a:solidFill>
                            <a:srgbClr val="000000"/>
                          </a:solidFill>
                          <a:latin typeface="Arial"/>
                        </a:rPr>
                        <a:t>Regular axle component required in job file</a:t>
                      </a:r>
                      <a:endParaRPr lang="en-US" sz="800" b="0" strike="noStrike" spc="-1">
                        <a:latin typeface="Arial"/>
                      </a:endParaRPr>
                    </a:p>
                    <a:p>
                      <a:pPr>
                        <a:lnSpc>
                          <a:spcPct val="100000"/>
                        </a:lnSpc>
                        <a:buNone/>
                      </a:pPr>
                      <a:endParaRPr lang="en-US" sz="800" b="0" strike="noStrike" spc="-1">
                        <a:latin typeface="Arial"/>
                      </a:endParaRPr>
                    </a:p>
                    <a:p>
                      <a:pPr>
                        <a:lnSpc>
                          <a:spcPct val="100000"/>
                        </a:lnSpc>
                        <a:buNone/>
                      </a:pPr>
                      <a:r>
                        <a:rPr lang="de-AT" sz="800" b="1" strike="noStrike" spc="-1">
                          <a:solidFill>
                            <a:srgbClr val="000000"/>
                          </a:solidFill>
                          <a:latin typeface="Wingdings"/>
                        </a:rPr>
                        <a:t></a:t>
                      </a:r>
                      <a:r>
                        <a:rPr lang="de-AT" sz="800" b="1" strike="noStrike" spc="-1">
                          <a:solidFill>
                            <a:srgbClr val="000000"/>
                          </a:solidFill>
                          <a:latin typeface="Arial"/>
                        </a:rPr>
                        <a:t> useage of transmission type</a:t>
                      </a:r>
                      <a:br>
                        <a:rPr sz="800"/>
                      </a:br>
                      <a:r>
                        <a:rPr lang="de-AT" sz="800" b="1" strike="noStrike" spc="-1">
                          <a:solidFill>
                            <a:srgbClr val="000000"/>
                          </a:solidFill>
                          <a:latin typeface="Arial"/>
                        </a:rPr>
                        <a:t>„IEPC Transmission – dummy entry“</a:t>
                      </a:r>
                      <a:endParaRPr lang="en-US" sz="800" b="0" strike="noStrike" spc="-1">
                        <a:latin typeface="Arial"/>
                      </a:endParaRPr>
                    </a:p>
                    <a:p>
                      <a:pPr>
                        <a:lnSpc>
                          <a:spcPct val="100000"/>
                        </a:lnSpc>
                        <a:buNone/>
                      </a:pPr>
                      <a:r>
                        <a:rPr lang="de-AT" sz="800" b="0" strike="noStrike" spc="-1">
                          <a:solidFill>
                            <a:srgbClr val="000000"/>
                          </a:solidFill>
                          <a:latin typeface="Arial"/>
                        </a:rPr>
                        <a:t>(allows axle component alone without a min. number of gears)</a:t>
                      </a:r>
                      <a:endParaRPr lang="en-US" sz="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756000">
                <a:tc>
                  <a:txBody>
                    <a:bodyPr/>
                    <a:lstStyle/>
                    <a:p>
                      <a:pPr>
                        <a:lnSpc>
                          <a:spcPct val="100000"/>
                        </a:lnSpc>
                        <a:buNone/>
                      </a:pPr>
                      <a:r>
                        <a:rPr lang="de-AT" sz="1200" b="0" strike="noStrike" spc="-1">
                          <a:solidFill>
                            <a:srgbClr val="000000"/>
                          </a:solidFill>
                          <a:latin typeface="Arial"/>
                        </a:rPr>
                        <a:t>2</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Yes</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n.a.</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800" b="0" strike="noStrike" spc="-1">
                          <a:solidFill>
                            <a:srgbClr val="000000"/>
                          </a:solidFill>
                          <a:latin typeface="Arial"/>
                        </a:rPr>
                        <a:t>No axle component</a:t>
                      </a:r>
                      <a:endParaRPr lang="en-US" sz="800" b="0" strike="noStrike" spc="-1">
                        <a:latin typeface="Arial"/>
                      </a:endParaRPr>
                    </a:p>
                    <a:p>
                      <a:pPr>
                        <a:lnSpc>
                          <a:spcPct val="100000"/>
                        </a:lnSpc>
                        <a:buNone/>
                      </a:pPr>
                      <a:endParaRPr lang="en-US" sz="800" b="0" strike="noStrike" spc="-1">
                        <a:latin typeface="Arial"/>
                      </a:endParaRPr>
                    </a:p>
                    <a:p>
                      <a:pPr>
                        <a:lnSpc>
                          <a:spcPct val="100000"/>
                        </a:lnSpc>
                        <a:buNone/>
                      </a:pPr>
                      <a:r>
                        <a:rPr lang="de-AT" sz="800" b="0" strike="noStrike" spc="-1">
                          <a:solidFill>
                            <a:srgbClr val="000000"/>
                          </a:solidFill>
                          <a:latin typeface="Arial"/>
                        </a:rPr>
                        <a:t>All parameterization via IEPC specific window</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504000">
                <a:tc>
                  <a:txBody>
                    <a:bodyPr/>
                    <a:lstStyle/>
                    <a:p>
                      <a:pPr>
                        <a:lnSpc>
                          <a:spcPct val="100000"/>
                        </a:lnSpc>
                        <a:buNone/>
                      </a:pPr>
                      <a:r>
                        <a:rPr lang="de-AT" sz="1200" b="0" strike="noStrike" spc="-1">
                          <a:solidFill>
                            <a:srgbClr val="000000"/>
                          </a:solidFill>
                          <a:latin typeface="Arial"/>
                        </a:rPr>
                        <a:t>3</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Yes</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1</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rowSpan="2">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de-AT" sz="800" b="0" strike="noStrike" spc="-1">
                          <a:solidFill>
                            <a:srgbClr val="000000"/>
                          </a:solidFill>
                          <a:latin typeface="Arial"/>
                        </a:rPr>
                        <a:t>Component test performed in L-config acc. to Annex Xb (only one side)</a:t>
                      </a:r>
                      <a:endParaRPr lang="en-US" sz="800" b="0" strike="noStrike" spc="-1">
                        <a:latin typeface="Arial"/>
                      </a:endParaRPr>
                    </a:p>
                    <a:p>
                      <a:pPr>
                        <a:lnSpc>
                          <a:spcPct val="100000"/>
                        </a:lnSpc>
                        <a:buNone/>
                      </a:pPr>
                      <a:r>
                        <a:rPr lang="de-AT" sz="800" b="0" i="1" strike="noStrike" spc="-1">
                          <a:solidFill>
                            <a:srgbClr val="000000"/>
                          </a:solidFill>
                          <a:latin typeface="Wingdings"/>
                        </a:rPr>
                        <a:t></a:t>
                      </a:r>
                      <a:r>
                        <a:rPr lang="de-AT" sz="800" b="0" i="1" strike="noStrike" spc="-1">
                          <a:solidFill>
                            <a:srgbClr val="000000"/>
                          </a:solidFill>
                          <a:latin typeface="Arial"/>
                        </a:rPr>
                        <a:t> All torque and power values in input data are multiplied with a factor of 2</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504000">
                <a:tc>
                  <a:txBody>
                    <a:bodyPr/>
                    <a:lstStyle/>
                    <a:p>
                      <a:pPr>
                        <a:lnSpc>
                          <a:spcPct val="100000"/>
                        </a:lnSpc>
                        <a:buNone/>
                      </a:pPr>
                      <a:r>
                        <a:rPr lang="de-AT" sz="1200" b="0" strike="noStrike" spc="-1">
                          <a:solidFill>
                            <a:srgbClr val="000000"/>
                          </a:solidFill>
                          <a:latin typeface="Arial"/>
                        </a:rPr>
                        <a:t>4</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Yes</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2</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vMerge="1">
                  <a:txBody>
                    <a:bodyPr/>
                    <a:lstStyle/>
                    <a:p>
                      <a:endParaRPr lang="de-DE"/>
                    </a:p>
                  </a:txBody>
                  <a:tcPr marL="90000" marR="90000">
                    <a:lnL>
                      <a:noFill/>
                    </a:lnL>
                    <a:lnR>
                      <a:noFill/>
                    </a:lnR>
                    <a:lnT>
                      <a:noFill/>
                    </a:lnT>
                    <a:lnB>
                      <a:noFill/>
                    </a:lnB>
                    <a:solidFill>
                      <a:srgbClr val="729FCF"/>
                    </a:solidFill>
                  </a:tcPr>
                </a:tc>
                <a:tc>
                  <a:txBody>
                    <a:bodyPr/>
                    <a:lstStyle/>
                    <a:p>
                      <a:pPr>
                        <a:lnSpc>
                          <a:spcPct val="100000"/>
                        </a:lnSpc>
                        <a:buNone/>
                      </a:pPr>
                      <a:r>
                        <a:rPr lang="de-AT" sz="800" b="0" strike="noStrike" spc="-1">
                          <a:solidFill>
                            <a:srgbClr val="000000"/>
                          </a:solidFill>
                          <a:latin typeface="Arial"/>
                        </a:rPr>
                        <a:t>Component test performed in T-config acc. to Annex Xb (both sides)</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bl>
          </a:graphicData>
        </a:graphic>
      </p:graphicFrame>
      <p:pic>
        <p:nvPicPr>
          <p:cNvPr id="106" name="Grafik 5"/>
          <p:cNvPicPr/>
          <p:nvPr/>
        </p:nvPicPr>
        <p:blipFill>
          <a:blip r:embed="rId2"/>
          <a:stretch/>
        </p:blipFill>
        <p:spPr>
          <a:xfrm>
            <a:off x="2983680" y="3498840"/>
            <a:ext cx="1720800" cy="647280"/>
          </a:xfrm>
          <a:prstGeom prst="rect">
            <a:avLst/>
          </a:prstGeom>
          <a:ln w="0">
            <a:noFill/>
          </a:ln>
        </p:spPr>
      </p:pic>
      <p:pic>
        <p:nvPicPr>
          <p:cNvPr id="107" name="Grafik 6"/>
          <p:cNvPicPr/>
          <p:nvPr/>
        </p:nvPicPr>
        <p:blipFill>
          <a:blip r:embed="rId3"/>
          <a:stretch/>
        </p:blipFill>
        <p:spPr>
          <a:xfrm>
            <a:off x="2983680" y="4256640"/>
            <a:ext cx="1465920" cy="647280"/>
          </a:xfrm>
          <a:prstGeom prst="rect">
            <a:avLst/>
          </a:prstGeom>
          <a:ln w="0">
            <a:noFill/>
          </a:ln>
        </p:spPr>
      </p:pic>
      <p:pic>
        <p:nvPicPr>
          <p:cNvPr id="108" name="Grafik 7"/>
          <p:cNvPicPr/>
          <p:nvPr/>
        </p:nvPicPr>
        <p:blipFill>
          <a:blip r:embed="rId4"/>
          <a:stretch/>
        </p:blipFill>
        <p:spPr>
          <a:xfrm>
            <a:off x="2986200" y="4988880"/>
            <a:ext cx="939960" cy="935280"/>
          </a:xfrm>
          <a:prstGeom prst="rect">
            <a:avLst/>
          </a:prstGeom>
          <a:ln w="0">
            <a:noFill/>
          </a:ln>
        </p:spPr>
      </p:pic>
      <p:pic>
        <p:nvPicPr>
          <p:cNvPr id="109" name="Grafik 8"/>
          <p:cNvPicPr/>
          <p:nvPr/>
        </p:nvPicPr>
        <p:blipFill>
          <a:blip r:embed="rId5"/>
          <a:stretch/>
        </p:blipFill>
        <p:spPr>
          <a:xfrm>
            <a:off x="4516560" y="4256640"/>
            <a:ext cx="1077840" cy="644040"/>
          </a:xfrm>
          <a:prstGeom prst="rect">
            <a:avLst/>
          </a:prstGeom>
          <a:ln w="0">
            <a:noFill/>
          </a:ln>
        </p:spPr>
      </p:pic>
      <p:pic>
        <p:nvPicPr>
          <p:cNvPr id="110" name="Grafik 9"/>
          <p:cNvPicPr/>
          <p:nvPr/>
        </p:nvPicPr>
        <p:blipFill>
          <a:blip r:embed="rId4"/>
          <a:stretch/>
        </p:blipFill>
        <p:spPr>
          <a:xfrm>
            <a:off x="4141800" y="4988880"/>
            <a:ext cx="939960" cy="935280"/>
          </a:xfrm>
          <a:prstGeom prst="rect">
            <a:avLst/>
          </a:prstGeom>
          <a:ln w="0">
            <a:noFill/>
          </a:ln>
        </p:spPr>
      </p:pic>
      <p:sp>
        <p:nvSpPr>
          <p:cNvPr id="111" name="Rechteck 10"/>
          <p:cNvSpPr/>
          <p:nvPr/>
        </p:nvSpPr>
        <p:spPr>
          <a:xfrm>
            <a:off x="2986200" y="5467680"/>
            <a:ext cx="939960" cy="456480"/>
          </a:xfrm>
          <a:prstGeom prst="rect">
            <a:avLst/>
          </a:prstGeom>
          <a:solidFill>
            <a:schemeClr val="bg1">
              <a:alpha val="80000"/>
            </a:schemeClr>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IEPC component</a:t>
            </a:r>
            <a:endParaRPr lang="en-US" sz="2400" b="0" strike="noStrike" spc="-1">
              <a:latin typeface="Arial"/>
            </a:endParaRPr>
          </a:p>
        </p:txBody>
      </p:sp>
      <p:sp>
        <p:nvSpPr>
          <p:cNvPr id="113"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General parameters</a:t>
            </a:r>
            <a:endParaRPr lang="en-US" sz="2000" b="0" strike="noStrike" spc="-1">
              <a:latin typeface="Arial"/>
            </a:endParaRPr>
          </a:p>
        </p:txBody>
      </p:sp>
      <p:sp>
        <p:nvSpPr>
          <p:cNvPr id="114" name="PlaceHolder 3"/>
          <p:cNvSpPr>
            <a:spLocks noGrp="1"/>
          </p:cNvSpPr>
          <p:nvPr>
            <p:ph type="sldNum" idx="4"/>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15" name="Tabelle 4"/>
          <p:cNvGraphicFramePr/>
          <p:nvPr/>
        </p:nvGraphicFramePr>
        <p:xfrm>
          <a:off x="933480" y="2647800"/>
          <a:ext cx="7835040" cy="2490120"/>
        </p:xfrm>
        <a:graphic>
          <a:graphicData uri="http://schemas.openxmlformats.org/drawingml/2006/table">
            <a:tbl>
              <a:tblPr/>
              <a:tblGrid>
                <a:gridCol w="2730240">
                  <a:extLst>
                    <a:ext uri="{9D8B030D-6E8A-4147-A177-3AD203B41FA5}">
                      <a16:colId xmlns:a16="http://schemas.microsoft.com/office/drawing/2014/main" val="20000"/>
                    </a:ext>
                  </a:extLst>
                </a:gridCol>
                <a:gridCol w="510516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774360">
                <a:tc>
                  <a:txBody>
                    <a:bodyPr/>
                    <a:lstStyle/>
                    <a:p>
                      <a:pPr>
                        <a:lnSpc>
                          <a:spcPct val="100000"/>
                        </a:lnSpc>
                        <a:buNone/>
                      </a:pPr>
                      <a:r>
                        <a:rPr lang="de-AT" sz="1200" b="0" strike="noStrike" spc="-1">
                          <a:solidFill>
                            <a:srgbClr val="000000"/>
                          </a:solidFill>
                          <a:latin typeface="Arial"/>
                        </a:rPr>
                        <a:t>RotationalInertia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EM inertia, gearbox parts not to be considered (as for regular transmission components). Reference point for definition of inertia is EM output shaft. </a:t>
                      </a:r>
                      <a:endParaRPr lang="en-US" sz="1200" b="0" strike="noStrike" spc="-1">
                        <a:latin typeface="Arial"/>
                      </a:endParaRPr>
                    </a:p>
                    <a:p>
                      <a:pPr>
                        <a:lnSpc>
                          <a:spcPct val="100000"/>
                        </a:lnSpc>
                        <a:buNone/>
                      </a:pPr>
                      <a:r>
                        <a:rPr lang="en-US" sz="1200" b="0" strike="noStrike" spc="-1">
                          <a:solidFill>
                            <a:srgbClr val="000000"/>
                          </a:solidFill>
                          <a:latin typeface="Arial"/>
                        </a:rPr>
                        <a:t>Determined in accordance with point 8 of Appendix 8 of Annex Xb.</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370800">
                <a:tc>
                  <a:txBody>
                    <a:bodyPr/>
                    <a:lstStyle/>
                    <a:p>
                      <a:pPr>
                        <a:lnSpc>
                          <a:spcPct val="100000"/>
                        </a:lnSpc>
                        <a:buNone/>
                      </a:pPr>
                      <a:r>
                        <a:rPr lang="de-AT" sz="1200" b="0" strike="noStrike" spc="-1">
                          <a:solidFill>
                            <a:srgbClr val="000000"/>
                          </a:solidFill>
                          <a:latin typeface="Arial"/>
                        </a:rPr>
                        <a:t>DifferentialIncluded</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Set to ‘true’ in the case a differential is part of the IEPC</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70800">
                <a:tc>
                  <a:txBody>
                    <a:bodyPr/>
                    <a:lstStyle/>
                    <a:p>
                      <a:pPr>
                        <a:lnSpc>
                          <a:spcPct val="100000"/>
                        </a:lnSpc>
                        <a:buNone/>
                      </a:pPr>
                      <a:r>
                        <a:rPr lang="de-AT" sz="1200" b="0" strike="noStrike" spc="-1">
                          <a:solidFill>
                            <a:srgbClr val="000000"/>
                          </a:solidFill>
                          <a:latin typeface="Arial"/>
                        </a:rPr>
                        <a:t>DesignTypeWheelMotor</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Set to ‘true’ in the case of an IEPC design type wheel motor</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603720">
                <a:tc>
                  <a:txBody>
                    <a:bodyPr/>
                    <a:lstStyle/>
                    <a:p>
                      <a:pPr>
                        <a:lnSpc>
                          <a:spcPct val="100000"/>
                        </a:lnSpc>
                        <a:buNone/>
                      </a:pPr>
                      <a:r>
                        <a:rPr lang="de-AT" sz="1200" b="0" strike="noStrike" spc="-1">
                          <a:solidFill>
                            <a:srgbClr val="000000"/>
                          </a:solidFill>
                          <a:latin typeface="Arial"/>
                        </a:rPr>
                        <a:t>DesignTypeWheelMotorMeasured</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Input only relevant in the case of an IEPC design type wheel motor, in accordance with paragraph 4.1.1.2 of Annex Xb.</a:t>
                      </a:r>
                      <a:endParaRPr lang="en-US" sz="1200" b="0" strike="noStrike" spc="-1">
                        <a:latin typeface="Arial"/>
                      </a:endParaRPr>
                    </a:p>
                    <a:p>
                      <a:pPr>
                        <a:lnSpc>
                          <a:spcPct val="100000"/>
                        </a:lnSpc>
                        <a:buNone/>
                      </a:pPr>
                      <a:r>
                        <a:rPr lang="en-US" sz="1200" b="0" strike="noStrike" spc="-1">
                          <a:solidFill>
                            <a:srgbClr val="000000"/>
                          </a:solidFill>
                          <a:latin typeface="Arial"/>
                        </a:rPr>
                        <a:t>Allowed values: ‘1’, ‘2’</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IEPC component</a:t>
            </a:r>
            <a:endParaRPr lang="en-US" sz="2400" b="0" strike="noStrike" spc="-1">
              <a:latin typeface="Arial"/>
            </a:endParaRPr>
          </a:p>
        </p:txBody>
      </p:sp>
      <p:sp>
        <p:nvSpPr>
          <p:cNvPr id="117"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performance parameters</a:t>
            </a:r>
            <a:endParaRPr lang="en-US" sz="2000" b="0" strike="noStrike" spc="-1">
              <a:latin typeface="Arial"/>
            </a:endParaRPr>
          </a:p>
        </p:txBody>
      </p:sp>
      <p:sp>
        <p:nvSpPr>
          <p:cNvPr id="118" name="PlaceHolder 3"/>
          <p:cNvSpPr>
            <a:spLocks noGrp="1"/>
          </p:cNvSpPr>
          <p:nvPr>
            <p:ph type="sldNum" idx="5"/>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19" name="Tabelle 4"/>
          <p:cNvGraphicFramePr/>
          <p:nvPr/>
        </p:nvGraphicFramePr>
        <p:xfrm>
          <a:off x="933480" y="2647800"/>
          <a:ext cx="7835040" cy="2644200"/>
        </p:xfrm>
        <a:graphic>
          <a:graphicData uri="http://schemas.openxmlformats.org/drawingml/2006/table">
            <a:tbl>
              <a:tblPr/>
              <a:tblGrid>
                <a:gridCol w="2730240">
                  <a:extLst>
                    <a:ext uri="{9D8B030D-6E8A-4147-A177-3AD203B41FA5}">
                      <a16:colId xmlns:a16="http://schemas.microsoft.com/office/drawing/2014/main" val="20000"/>
                    </a:ext>
                  </a:extLst>
                </a:gridCol>
                <a:gridCol w="510516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433080">
                <a:tc>
                  <a:txBody>
                    <a:bodyPr/>
                    <a:lstStyle/>
                    <a:p>
                      <a:pPr>
                        <a:lnSpc>
                          <a:spcPct val="100000"/>
                        </a:lnSpc>
                        <a:buNone/>
                      </a:pPr>
                      <a:r>
                        <a:rPr lang="de-AT" sz="1200" b="0" strike="noStrike" spc="-1">
                          <a:solidFill>
                            <a:srgbClr val="000000"/>
                          </a:solidFill>
                          <a:latin typeface="Arial"/>
                        </a:rPr>
                        <a:t>Gear data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 number, ratio, MaxOutputShaftTorque (optional), MaxOutputShaftSpeed (optional)</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603720">
                <a:tc>
                  <a:txBody>
                    <a:bodyPr/>
                    <a:lstStyle/>
                    <a:p>
                      <a:pPr>
                        <a:lnSpc>
                          <a:spcPct val="100000"/>
                        </a:lnSpc>
                        <a:buNone/>
                      </a:pPr>
                      <a:r>
                        <a:rPr lang="de-AT" sz="1200" b="0" strike="noStrike" spc="-1">
                          <a:solidFill>
                            <a:srgbClr val="000000"/>
                          </a:solidFill>
                          <a:latin typeface="Arial"/>
                        </a:rPr>
                        <a:t>Overload data</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Overload and Continuous operation point and Overload Time</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p>
                      <a:pPr>
                        <a:lnSpc>
                          <a:spcPct val="100000"/>
                        </a:lnSpc>
                        <a:buNone/>
                      </a:pPr>
                      <a:r>
                        <a:rPr lang="en-US" sz="1200" b="0" strike="noStrike" spc="-1">
                          <a:solidFill>
                            <a:srgbClr val="000000"/>
                          </a:solidFill>
                          <a:latin typeface="Arial"/>
                        </a:rPr>
                        <a:t>Measured in gear closest to ratio 1 acc. to Annex Xb</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433080">
                <a:tc>
                  <a:txBody>
                    <a:bodyPr/>
                    <a:lstStyle/>
                    <a:p>
                      <a:pPr>
                        <a:lnSpc>
                          <a:spcPct val="100000"/>
                        </a:lnSpc>
                        <a:buNone/>
                      </a:pPr>
                      <a:r>
                        <a:rPr lang="de-AT" sz="1200" b="0" strike="noStrike" spc="-1">
                          <a:solidFill>
                            <a:srgbClr val="000000"/>
                          </a:solidFill>
                          <a:latin typeface="Arial"/>
                        </a:rPr>
                        <a:t>Max/min torque limits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tabLst>
                          <a:tab pos="0" algn="l"/>
                        </a:tabLst>
                      </a:pPr>
                      <a:r>
                        <a:rPr lang="en-US" sz="1200" b="0" strike="noStrike" spc="-1">
                          <a:solidFill>
                            <a:srgbClr val="000000"/>
                          </a:solidFill>
                          <a:latin typeface="Arial"/>
                        </a:rPr>
                        <a:t>Full load curve (only for one gear closest to ratio 1 acc. to Annex Xb)</a:t>
                      </a:r>
                      <a:endParaRPr lang="en-US" sz="1200" b="0" strike="noStrike" spc="-1">
                        <a:latin typeface="Arial"/>
                      </a:endParaRPr>
                    </a:p>
                    <a:p>
                      <a:pPr>
                        <a:lnSpc>
                          <a:spcPct val="100000"/>
                        </a:lnSpc>
                        <a:buNone/>
                        <a:tabLst>
                          <a:tab pos="0" algn="l"/>
                        </a:tabLst>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70800">
                <a:tc>
                  <a:txBody>
                    <a:bodyPr/>
                    <a:lstStyle/>
                    <a:p>
                      <a:pPr>
                        <a:lnSpc>
                          <a:spcPct val="100000"/>
                        </a:lnSpc>
                        <a:buNone/>
                      </a:pPr>
                      <a:r>
                        <a:rPr lang="de-AT" sz="1200" b="0" strike="noStrike" spc="-1">
                          <a:solidFill>
                            <a:srgbClr val="000000"/>
                          </a:solidFill>
                          <a:latin typeface="Arial"/>
                        </a:rPr>
                        <a:t>Drag torque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Only for one voltage level acc. to Annex Xb</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433080">
                <a:tc>
                  <a:txBody>
                    <a:bodyPr/>
                    <a:lstStyle/>
                    <a:p>
                      <a:pPr>
                        <a:lnSpc>
                          <a:spcPct val="100000"/>
                        </a:lnSpc>
                        <a:buNone/>
                      </a:pPr>
                      <a:r>
                        <a:rPr lang="de-AT" sz="1200" b="0" strike="noStrike" spc="-1">
                          <a:solidFill>
                            <a:srgbClr val="000000"/>
                          </a:solidFill>
                          <a:latin typeface="Arial"/>
                        </a:rPr>
                        <a:t>Electric power maps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IEPC Input Form</a:t>
            </a:r>
            <a:endParaRPr lang="en-US" sz="2400" b="0" strike="noStrike" spc="-1">
              <a:latin typeface="Arial"/>
            </a:endParaRPr>
          </a:p>
        </p:txBody>
      </p:sp>
      <p:sp>
        <p:nvSpPr>
          <p:cNvPr id="121" name="PlaceHolder 2"/>
          <p:cNvSpPr>
            <a:spLocks noGrp="1"/>
          </p:cNvSpPr>
          <p:nvPr>
            <p:ph type="sldNum" idx="6"/>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22" name="Grafik 4"/>
          <p:cNvPicPr/>
          <p:nvPr/>
        </p:nvPicPr>
        <p:blipFill>
          <a:blip r:embed="rId2"/>
          <a:stretch/>
        </p:blipFill>
        <p:spPr>
          <a:xfrm>
            <a:off x="4567680" y="1908720"/>
            <a:ext cx="4449600" cy="3288240"/>
          </a:xfrm>
          <a:prstGeom prst="rect">
            <a:avLst/>
          </a:prstGeom>
          <a:ln w="0">
            <a:noFill/>
          </a:ln>
        </p:spPr>
      </p:pic>
      <p:sp>
        <p:nvSpPr>
          <p:cNvPr id="123" name="Gerade Verbindung mit Pfeil 6"/>
          <p:cNvSpPr/>
          <p:nvPr/>
        </p:nvSpPr>
        <p:spPr>
          <a:xfrm flipH="1" flipV="1">
            <a:off x="4938120" y="4318920"/>
            <a:ext cx="495720" cy="87732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24" name="Gerade Verbindung mit Pfeil 8"/>
          <p:cNvSpPr/>
          <p:nvPr/>
        </p:nvSpPr>
        <p:spPr>
          <a:xfrm flipV="1">
            <a:off x="5435640" y="3552480"/>
            <a:ext cx="1991880" cy="164376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pic>
        <p:nvPicPr>
          <p:cNvPr id="125" name="Grafik 5"/>
          <p:cNvPicPr/>
          <p:nvPr/>
        </p:nvPicPr>
        <p:blipFill>
          <a:blip r:embed="rId3"/>
          <a:stretch/>
        </p:blipFill>
        <p:spPr>
          <a:xfrm>
            <a:off x="622440" y="1908720"/>
            <a:ext cx="3527280" cy="3027600"/>
          </a:xfrm>
          <a:prstGeom prst="rect">
            <a:avLst/>
          </a:prstGeom>
          <a:ln w="0">
            <a:noFill/>
          </a:ln>
        </p:spPr>
      </p:pic>
      <p:sp>
        <p:nvSpPr>
          <p:cNvPr id="126" name="Pfeil nach rechts 7"/>
          <p:cNvSpPr/>
          <p:nvPr/>
        </p:nvSpPr>
        <p:spPr>
          <a:xfrm>
            <a:off x="4150440" y="2647080"/>
            <a:ext cx="473400" cy="127044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27" name="Textfeld 9"/>
          <p:cNvSpPr/>
          <p:nvPr/>
        </p:nvSpPr>
        <p:spPr>
          <a:xfrm>
            <a:off x="4701960" y="5153400"/>
            <a:ext cx="2442960" cy="820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601"/>
              </a:spcBef>
              <a:buNone/>
            </a:pPr>
            <a:r>
              <a:rPr lang="en-US" sz="1200" b="1" strike="noStrike" spc="-1">
                <a:solidFill>
                  <a:srgbClr val="000000"/>
                </a:solidFill>
                <a:latin typeface="Arial"/>
                <a:ea typeface="DejaVu Sans"/>
              </a:rPr>
              <a:t>Lists with gear entries are synchronized, gears can be added/removed in the gear-list on the right</a:t>
            </a:r>
            <a:endParaRPr lang="en-US" sz="1200" b="0" strike="noStrike" spc="-1">
              <a:latin typeface="Arial"/>
            </a:endParaRPr>
          </a:p>
        </p:txBody>
      </p:sp>
      <p:sp>
        <p:nvSpPr>
          <p:cNvPr id="128" name="Textfeld 11"/>
          <p:cNvSpPr/>
          <p:nvPr/>
        </p:nvSpPr>
        <p:spPr>
          <a:xfrm>
            <a:off x="622440" y="5065560"/>
            <a:ext cx="3527280" cy="45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601"/>
              </a:spcBef>
              <a:buNone/>
            </a:pPr>
            <a:r>
              <a:rPr lang="en-US" sz="1200" b="1" strike="noStrike" spc="-1">
                <a:solidFill>
                  <a:srgbClr val="000000"/>
                </a:solidFill>
                <a:latin typeface="Arial"/>
                <a:ea typeface="DejaVu Sans"/>
              </a:rPr>
              <a:t>Definition of IEPC component via</a:t>
            </a:r>
            <a:br>
              <a:rPr sz="1200"/>
            </a:br>
            <a:r>
              <a:rPr lang="en-US" sz="1200" b="1" i="1" strike="noStrike" spc="-1">
                <a:solidFill>
                  <a:srgbClr val="000000"/>
                </a:solidFill>
                <a:latin typeface="Arial"/>
                <a:ea typeface="DejaVu Sans"/>
              </a:rPr>
              <a:t>“Vehicle \ IEPC-Tab”</a:t>
            </a:r>
            <a:endParaRPr lang="en-US" sz="1200" b="0" strike="noStrike" spc="-1">
              <a:latin typeface="Arial"/>
            </a:endParaRPr>
          </a:p>
        </p:txBody>
      </p:sp>
      <p:sp>
        <p:nvSpPr>
          <p:cNvPr id="129" name="Ellipse 12"/>
          <p:cNvSpPr/>
          <p:nvPr/>
        </p:nvSpPr>
        <p:spPr>
          <a:xfrm>
            <a:off x="529560" y="2379240"/>
            <a:ext cx="578880" cy="17640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30" name="Ellipse 13"/>
          <p:cNvSpPr/>
          <p:nvPr/>
        </p:nvSpPr>
        <p:spPr>
          <a:xfrm>
            <a:off x="1630080" y="3207600"/>
            <a:ext cx="578880" cy="143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31" name="Gerade Verbindung mit Pfeil 15"/>
          <p:cNvSpPr/>
          <p:nvPr/>
        </p:nvSpPr>
        <p:spPr>
          <a:xfrm flipH="1" flipV="1">
            <a:off x="1697760" y="3478320"/>
            <a:ext cx="186480" cy="330480"/>
          </a:xfrm>
          <a:custGeom>
            <a:avLst/>
            <a:gdLst/>
            <a:ahLst/>
            <a:cxnLst/>
            <a:rect l="l" t="t" r="r" b="b"/>
            <a:pathLst>
              <a:path w="21600" h="21600">
                <a:moveTo>
                  <a:pt x="0" y="0"/>
                </a:moveTo>
                <a:lnTo>
                  <a:pt x="21600" y="21600"/>
                </a:lnTo>
              </a:path>
            </a:pathLst>
          </a:custGeom>
          <a:noFill/>
          <a:ln>
            <a:solidFill>
              <a:srgbClr val="4F81BD"/>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32" name="Textfeld 17"/>
          <p:cNvSpPr/>
          <p:nvPr/>
        </p:nvSpPr>
        <p:spPr>
          <a:xfrm>
            <a:off x="1825920" y="3666960"/>
            <a:ext cx="1315440" cy="409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24"/>
              </a:spcBef>
              <a:buNone/>
            </a:pPr>
            <a:r>
              <a:rPr lang="en-US" sz="1050" b="1" strike="noStrike" spc="-1">
                <a:solidFill>
                  <a:srgbClr val="FF0000"/>
                </a:solidFill>
                <a:latin typeface="Arial"/>
                <a:ea typeface="DejaVu Sans"/>
              </a:rPr>
              <a:t>Click for specific IEPC GUI-window</a:t>
            </a:r>
            <a:endParaRPr lang="en-US" sz="1050" b="0" strike="noStrike" spc="-1">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Gearbox Form for IEPC Vehicles</a:t>
            </a:r>
            <a:endParaRPr lang="en-US" sz="2400" b="0" strike="noStrike" spc="-1">
              <a:latin typeface="Arial"/>
            </a:endParaRPr>
          </a:p>
        </p:txBody>
      </p:sp>
      <p:sp>
        <p:nvSpPr>
          <p:cNvPr id="134" name="PlaceHolder 2"/>
          <p:cNvSpPr>
            <a:spLocks noGrp="1"/>
          </p:cNvSpPr>
          <p:nvPr>
            <p:ph/>
          </p:nvPr>
        </p:nvSpPr>
        <p:spPr>
          <a:xfrm>
            <a:off x="622440" y="2137320"/>
            <a:ext cx="3633840" cy="348120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No gearbox file needs to be provided for IEPC with differential included (case 2)</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New IEPC gearbox type for all other variants where only the axlegear ratio needs to be provided</a:t>
            </a:r>
            <a:endParaRPr lang="en-US" sz="2000" b="0" strike="noStrike" spc="-1">
              <a:latin typeface="Arial"/>
            </a:endParaRPr>
          </a:p>
        </p:txBody>
      </p:sp>
      <p:sp>
        <p:nvSpPr>
          <p:cNvPr id="135" name="PlaceHolder 3"/>
          <p:cNvSpPr>
            <a:spLocks noGrp="1"/>
          </p:cNvSpPr>
          <p:nvPr>
            <p:ph type="sldNum" idx="7"/>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36" name="Grafik 4"/>
          <p:cNvPicPr/>
          <p:nvPr/>
        </p:nvPicPr>
        <p:blipFill>
          <a:blip r:embed="rId2"/>
          <a:stretch/>
        </p:blipFill>
        <p:spPr>
          <a:xfrm>
            <a:off x="4500000" y="2137320"/>
            <a:ext cx="3516120" cy="3321720"/>
          </a:xfrm>
          <a:prstGeom prst="rect">
            <a:avLst/>
          </a:prstGeom>
          <a:ln w="0">
            <a:noFill/>
          </a:ln>
        </p:spPr>
      </p:pic>
      <p:sp>
        <p:nvSpPr>
          <p:cNvPr id="137" name="Gerade Verbindung mit Pfeil 5"/>
          <p:cNvSpPr/>
          <p:nvPr/>
        </p:nvSpPr>
        <p:spPr>
          <a:xfrm flipH="1">
            <a:off x="6164280" y="2885400"/>
            <a:ext cx="811440" cy="291600"/>
          </a:xfrm>
          <a:custGeom>
            <a:avLst/>
            <a:gdLst/>
            <a:ahLst/>
            <a:cxnLst/>
            <a:rect l="l" t="t" r="r" b="b"/>
            <a:pathLst>
              <a:path w="21600" h="21600">
                <a:moveTo>
                  <a:pt x="0" y="0"/>
                </a:moveTo>
                <a:lnTo>
                  <a:pt x="21600" y="21600"/>
                </a:lnTo>
              </a:path>
            </a:pathLst>
          </a:custGeom>
          <a:noFill/>
          <a:ln>
            <a:solidFill>
              <a:srgbClr val="4F81BD"/>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38" name="Textfeld 6"/>
          <p:cNvSpPr/>
          <p:nvPr/>
        </p:nvSpPr>
        <p:spPr>
          <a:xfrm>
            <a:off x="6977160" y="2596680"/>
            <a:ext cx="2003760" cy="569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24"/>
              </a:spcBef>
              <a:buNone/>
            </a:pPr>
            <a:r>
              <a:rPr lang="en-US" sz="1050" b="1" strike="noStrike" spc="-1">
                <a:solidFill>
                  <a:srgbClr val="FF0000"/>
                </a:solidFill>
                <a:latin typeface="Arial"/>
                <a:ea typeface="DejaVu Sans"/>
              </a:rPr>
              <a:t>Specific Gearbox Type for IEPC. Only requires axlegear to be provided</a:t>
            </a:r>
            <a:endParaRPr lang="en-US" sz="1050" b="0" strike="noStrike" spc="-1">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Modeling of IHPC component</a:t>
            </a:r>
            <a:endParaRPr lang="en-US" sz="2400" b="0" strike="noStrike" spc="-1">
              <a:latin typeface="Arial"/>
            </a:endParaRPr>
          </a:p>
        </p:txBody>
      </p:sp>
      <p:sp>
        <p:nvSpPr>
          <p:cNvPr id="14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transmission is modeled as APT-N</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electric motor is modeled as regular electric motor at position P2</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Gear-dependent power maps</a:t>
            </a:r>
            <a:endParaRPr lang="en-US" sz="1800" b="0" strike="noStrike" spc="-1">
              <a:latin typeface="Arial"/>
            </a:endParaRPr>
          </a:p>
          <a:p>
            <a:pPr>
              <a:lnSpc>
                <a:spcPct val="100000"/>
              </a:lnSpc>
              <a:buNone/>
            </a:pP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Peculiarities of IHPC</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Drag-curve shall be set to </a:t>
            </a:r>
            <a:r>
              <a:rPr lang="en-US" sz="1800" b="1" strike="noStrike" spc="-1">
                <a:solidFill>
                  <a:srgbClr val="000000"/>
                </a:solidFill>
                <a:latin typeface="Arial"/>
              </a:rPr>
              <a:t>0 Nm</a:t>
            </a:r>
            <a:r>
              <a:rPr lang="en-US" sz="1800" b="0" strike="noStrike" spc="-1">
                <a:solidFill>
                  <a:srgbClr val="000000"/>
                </a:solidFill>
                <a:latin typeface="Arial"/>
              </a:rPr>
              <a:t> acc. to Annex Xb</a:t>
            </a:r>
            <a:endParaRPr lang="en-US" sz="1800" b="0" strike="noStrike" spc="-1">
              <a:latin typeface="Arial"/>
            </a:endParaRPr>
          </a:p>
          <a:p>
            <a:pPr>
              <a:lnSpc>
                <a:spcPct val="100000"/>
              </a:lnSpc>
              <a:buNone/>
            </a:pP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For detailed description of component characteristics as well as</a:t>
            </a:r>
            <a:br>
              <a:rPr sz="2000"/>
            </a:br>
            <a:r>
              <a:rPr lang="en-US" sz="2000" b="0" strike="noStrike" spc="-1">
                <a:solidFill>
                  <a:srgbClr val="000000"/>
                </a:solidFill>
                <a:latin typeface="Arial"/>
              </a:rPr>
              <a:t>testing and measurement post-processing methods please refer to Annex Xb</a:t>
            </a:r>
            <a:endParaRPr lang="en-US" sz="2000" b="0" strike="noStrike" spc="-1">
              <a:latin typeface="Arial"/>
            </a:endParaRPr>
          </a:p>
        </p:txBody>
      </p:sp>
      <p:sp>
        <p:nvSpPr>
          <p:cNvPr id="141" name="PlaceHolder 3"/>
          <p:cNvSpPr>
            <a:spLocks noGrp="1"/>
          </p:cNvSpPr>
          <p:nvPr>
            <p:ph type="sldNum" idx="8"/>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IHPC component</a:t>
            </a:r>
            <a:endParaRPr lang="en-US" sz="2400" b="0" strike="noStrike" spc="-1">
              <a:latin typeface="Arial"/>
            </a:endParaRPr>
          </a:p>
        </p:txBody>
      </p:sp>
      <p:sp>
        <p:nvSpPr>
          <p:cNvPr id="143"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general parameters EM </a:t>
            </a:r>
            <a:r>
              <a:rPr lang="en-US" sz="2000" b="0" i="1" strike="noStrike" spc="-1">
                <a:solidFill>
                  <a:srgbClr val="000000"/>
                </a:solidFill>
                <a:latin typeface="Arial"/>
              </a:rPr>
              <a:t>(same as for basic EM component)</a:t>
            </a:r>
            <a:endParaRPr lang="en-US" sz="2000" b="0" strike="noStrike" spc="-1">
              <a:latin typeface="Arial"/>
            </a:endParaRPr>
          </a:p>
        </p:txBody>
      </p:sp>
      <p:sp>
        <p:nvSpPr>
          <p:cNvPr id="144" name="PlaceHolder 3"/>
          <p:cNvSpPr>
            <a:spLocks noGrp="1"/>
          </p:cNvSpPr>
          <p:nvPr>
            <p:ph type="sldNum" idx="9"/>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45" name="Tabelle 4"/>
          <p:cNvGraphicFramePr/>
          <p:nvPr/>
        </p:nvGraphicFramePr>
        <p:xfrm>
          <a:off x="933480" y="2647800"/>
          <a:ext cx="7835040" cy="741240"/>
        </p:xfrm>
        <a:graphic>
          <a:graphicData uri="http://schemas.openxmlformats.org/drawingml/2006/table">
            <a:tbl>
              <a:tblPr/>
              <a:tblGrid>
                <a:gridCol w="2730240">
                  <a:extLst>
                    <a:ext uri="{9D8B030D-6E8A-4147-A177-3AD203B41FA5}">
                      <a16:colId xmlns:a16="http://schemas.microsoft.com/office/drawing/2014/main" val="20000"/>
                    </a:ext>
                  </a:extLst>
                </a:gridCol>
                <a:gridCol w="510516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370800">
                <a:tc>
                  <a:txBody>
                    <a:bodyPr/>
                    <a:lstStyle/>
                    <a:p>
                      <a:pPr>
                        <a:lnSpc>
                          <a:spcPct val="100000"/>
                        </a:lnSpc>
                        <a:buNone/>
                      </a:pPr>
                      <a:r>
                        <a:rPr lang="de-AT" sz="1200" b="0" strike="noStrike" spc="-1">
                          <a:solidFill>
                            <a:srgbClr val="000000"/>
                          </a:solidFill>
                          <a:latin typeface="Arial"/>
                        </a:rPr>
                        <a:t>RotationalInertia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EM inertia, gearbox parts not to be considered (as for regular transmission components). Reference point for definition of inertia is EM output shaft. </a:t>
                      </a:r>
                      <a:endParaRPr lang="en-US" sz="1200" b="0" strike="noStrike" spc="-1">
                        <a:latin typeface="Arial"/>
                      </a:endParaRPr>
                    </a:p>
                    <a:p>
                      <a:pPr>
                        <a:lnSpc>
                          <a:spcPct val="100000"/>
                        </a:lnSpc>
                        <a:buNone/>
                      </a:pPr>
                      <a:r>
                        <a:rPr lang="en-US" sz="1200" b="0" strike="noStrike" spc="-1">
                          <a:solidFill>
                            <a:srgbClr val="000000"/>
                          </a:solidFill>
                          <a:latin typeface="Arial"/>
                        </a:rPr>
                        <a:t>Determined in accordance with point 8 of Appendix 8 of Annex Xb.</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IHPC component</a:t>
            </a:r>
            <a:endParaRPr lang="en-US" sz="2400" b="0" strike="noStrike" spc="-1">
              <a:latin typeface="Arial"/>
            </a:endParaRPr>
          </a:p>
        </p:txBody>
      </p:sp>
      <p:sp>
        <p:nvSpPr>
          <p:cNvPr id="147"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performance parameters EM</a:t>
            </a:r>
            <a:br>
              <a:rPr sz="2000"/>
            </a:br>
            <a:r>
              <a:rPr lang="en-US" sz="2000" b="0" strike="noStrike" spc="-1">
                <a:solidFill>
                  <a:srgbClr val="000000"/>
                </a:solidFill>
                <a:latin typeface="Wingdings"/>
              </a:rPr>
              <a:t></a:t>
            </a:r>
            <a:r>
              <a:rPr lang="en-US" sz="2000" b="0" strike="noStrike" spc="-1">
                <a:solidFill>
                  <a:srgbClr val="000000"/>
                </a:solidFill>
                <a:latin typeface="Arial"/>
              </a:rPr>
              <a:t> </a:t>
            </a:r>
            <a:r>
              <a:rPr lang="en-US" sz="2000" b="0" i="1" strike="noStrike" spc="-1">
                <a:solidFill>
                  <a:srgbClr val="000000"/>
                </a:solidFill>
                <a:latin typeface="Arial"/>
              </a:rPr>
              <a:t>same as for basic EM component, except </a:t>
            </a:r>
            <a:r>
              <a:rPr lang="en-US" sz="2000" b="1" i="1" u="sng" strike="noStrike" spc="-1">
                <a:solidFill>
                  <a:srgbClr val="000000"/>
                </a:solidFill>
                <a:uFillTx/>
                <a:latin typeface="Arial"/>
              </a:rPr>
              <a:t>multiple El. power maps</a:t>
            </a:r>
            <a:endParaRPr lang="en-US" sz="2000" b="0" strike="noStrike" spc="-1">
              <a:latin typeface="Arial"/>
            </a:endParaRPr>
          </a:p>
        </p:txBody>
      </p:sp>
      <p:sp>
        <p:nvSpPr>
          <p:cNvPr id="148" name="PlaceHolder 3"/>
          <p:cNvSpPr>
            <a:spLocks noGrp="1"/>
          </p:cNvSpPr>
          <p:nvPr>
            <p:ph type="sldNum" idx="10"/>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49" name="Tabelle 4"/>
          <p:cNvGraphicFramePr/>
          <p:nvPr/>
        </p:nvGraphicFramePr>
        <p:xfrm>
          <a:off x="933480" y="3238560"/>
          <a:ext cx="7835040" cy="2581920"/>
        </p:xfrm>
        <a:graphic>
          <a:graphicData uri="http://schemas.openxmlformats.org/drawingml/2006/table">
            <a:tbl>
              <a:tblPr/>
              <a:tblGrid>
                <a:gridCol w="2419200">
                  <a:extLst>
                    <a:ext uri="{9D8B030D-6E8A-4147-A177-3AD203B41FA5}">
                      <a16:colId xmlns:a16="http://schemas.microsoft.com/office/drawing/2014/main" val="20000"/>
                    </a:ext>
                  </a:extLst>
                </a:gridCol>
                <a:gridCol w="541620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370800">
                <a:tc>
                  <a:txBody>
                    <a:bodyPr/>
                    <a:lstStyle/>
                    <a:p>
                      <a:pPr>
                        <a:lnSpc>
                          <a:spcPct val="100000"/>
                        </a:lnSpc>
                        <a:buNone/>
                      </a:pPr>
                      <a:r>
                        <a:rPr lang="de-AT" sz="1200" b="0" strike="noStrike" spc="-1">
                          <a:solidFill>
                            <a:srgbClr val="000000"/>
                          </a:solidFill>
                          <a:latin typeface="Arial"/>
                        </a:rPr>
                        <a:t>Gear data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 number (needs to match with specifications in gearbox file)</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603720">
                <a:tc>
                  <a:txBody>
                    <a:bodyPr/>
                    <a:lstStyle/>
                    <a:p>
                      <a:pPr>
                        <a:lnSpc>
                          <a:spcPct val="100000"/>
                        </a:lnSpc>
                        <a:buNone/>
                      </a:pPr>
                      <a:r>
                        <a:rPr lang="de-AT" sz="1200" b="0" strike="noStrike" spc="-1">
                          <a:solidFill>
                            <a:srgbClr val="000000"/>
                          </a:solidFill>
                          <a:latin typeface="Arial"/>
                        </a:rPr>
                        <a:t>Overload data</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Overload and Continuous operation point and Overload Time</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p>
                      <a:pPr>
                        <a:lnSpc>
                          <a:spcPct val="100000"/>
                        </a:lnSpc>
                        <a:buNone/>
                      </a:pPr>
                      <a:r>
                        <a:rPr lang="en-US" sz="1200" b="0" strike="noStrike" spc="-1">
                          <a:solidFill>
                            <a:srgbClr val="000000"/>
                          </a:solidFill>
                          <a:latin typeface="Arial"/>
                        </a:rPr>
                        <a:t>Measured in gear closest to ratio 1 acc. to Annex Xb</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433080">
                <a:tc>
                  <a:txBody>
                    <a:bodyPr/>
                    <a:lstStyle/>
                    <a:p>
                      <a:pPr>
                        <a:lnSpc>
                          <a:spcPct val="100000"/>
                        </a:lnSpc>
                        <a:buNone/>
                      </a:pPr>
                      <a:r>
                        <a:rPr lang="de-AT" sz="1200" b="0" strike="noStrike" spc="-1">
                          <a:solidFill>
                            <a:srgbClr val="000000"/>
                          </a:solidFill>
                          <a:latin typeface="Arial"/>
                        </a:rPr>
                        <a:t>Max/min torque limits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tabLst>
                          <a:tab pos="0" algn="l"/>
                        </a:tabLst>
                      </a:pPr>
                      <a:r>
                        <a:rPr lang="en-US" sz="1200" b="0" strike="noStrike" spc="-1">
                          <a:solidFill>
                            <a:srgbClr val="000000"/>
                          </a:solidFill>
                          <a:latin typeface="Arial"/>
                        </a:rPr>
                        <a:t>Full load curve (only for one gear closest to ratio 1 acc. to Annex Xb)</a:t>
                      </a:r>
                      <a:endParaRPr lang="en-US" sz="1200" b="0" strike="noStrike" spc="-1">
                        <a:latin typeface="Arial"/>
                      </a:endParaRPr>
                    </a:p>
                    <a:p>
                      <a:pPr>
                        <a:lnSpc>
                          <a:spcPct val="100000"/>
                        </a:lnSpc>
                        <a:buNone/>
                        <a:tabLst>
                          <a:tab pos="0" algn="l"/>
                        </a:tabLst>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70800">
                <a:tc>
                  <a:txBody>
                    <a:bodyPr/>
                    <a:lstStyle/>
                    <a:p>
                      <a:pPr>
                        <a:lnSpc>
                          <a:spcPct val="100000"/>
                        </a:lnSpc>
                        <a:buNone/>
                      </a:pPr>
                      <a:r>
                        <a:rPr lang="de-AT" sz="1200" b="0" strike="noStrike" spc="-1">
                          <a:solidFill>
                            <a:srgbClr val="000000"/>
                          </a:solidFill>
                          <a:latin typeface="Arial"/>
                        </a:rPr>
                        <a:t>Drag torque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1" u="sng" strike="noStrike" spc="-1">
                          <a:solidFill>
                            <a:srgbClr val="000000"/>
                          </a:solidFill>
                          <a:uFillTx/>
                          <a:latin typeface="Arial"/>
                        </a:rPr>
                        <a:t>NOT MEASURED</a:t>
                      </a:r>
                      <a:r>
                        <a:rPr lang="en-US" sz="1200" b="0" strike="noStrike" spc="-1">
                          <a:solidFill>
                            <a:srgbClr val="000000"/>
                          </a:solidFill>
                          <a:latin typeface="Arial"/>
                        </a:rPr>
                        <a:t> acc. to Annex Xb, but input of “0 Nm” drag torque reqired!</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433080">
                <a:tc>
                  <a:txBody>
                    <a:bodyPr/>
                    <a:lstStyle/>
                    <a:p>
                      <a:pPr>
                        <a:lnSpc>
                          <a:spcPct val="100000"/>
                        </a:lnSpc>
                        <a:buNone/>
                      </a:pPr>
                      <a:r>
                        <a:rPr lang="de-AT" sz="1200" b="0" strike="noStrike" spc="-1">
                          <a:solidFill>
                            <a:srgbClr val="000000"/>
                          </a:solidFill>
                          <a:latin typeface="Arial"/>
                        </a:rPr>
                        <a:t>Electric power maps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IHPC component</a:t>
            </a:r>
            <a:endParaRPr lang="en-US" sz="2400" b="0" strike="noStrike" spc="-1">
              <a:latin typeface="Arial"/>
            </a:endParaRPr>
          </a:p>
        </p:txBody>
      </p:sp>
      <p:sp>
        <p:nvSpPr>
          <p:cNvPr id="151"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parameters Gearbox</a:t>
            </a:r>
            <a:br>
              <a:rPr sz="2000"/>
            </a:br>
            <a:r>
              <a:rPr lang="en-US" sz="2000" b="0" strike="noStrike" spc="-1">
                <a:solidFill>
                  <a:srgbClr val="000000"/>
                </a:solidFill>
                <a:latin typeface="Wingdings"/>
              </a:rPr>
              <a:t></a:t>
            </a:r>
            <a:r>
              <a:rPr lang="en-US" sz="2000" b="0" strike="noStrike" spc="-1">
                <a:solidFill>
                  <a:srgbClr val="000000"/>
                </a:solidFill>
                <a:latin typeface="Arial"/>
              </a:rPr>
              <a:t> </a:t>
            </a:r>
            <a:r>
              <a:rPr lang="en-US" sz="2000" b="0" i="1" strike="noStrike" spc="-1">
                <a:solidFill>
                  <a:srgbClr val="000000"/>
                </a:solidFill>
                <a:latin typeface="Arial"/>
              </a:rPr>
              <a:t>same as for basic transmission component</a:t>
            </a:r>
            <a:br>
              <a:rPr sz="2000"/>
            </a:br>
            <a:r>
              <a:rPr lang="en-US" sz="2000" b="0" i="1" strike="noStrike" spc="-1">
                <a:solidFill>
                  <a:srgbClr val="000000"/>
                </a:solidFill>
                <a:latin typeface="Wingdings"/>
              </a:rPr>
              <a:t></a:t>
            </a:r>
            <a:r>
              <a:rPr lang="en-US" sz="2000" b="0" i="1" strike="noStrike" spc="-1">
                <a:solidFill>
                  <a:srgbClr val="000000"/>
                </a:solidFill>
                <a:latin typeface="Arial"/>
              </a:rPr>
              <a:t> transmission type needs to be set to </a:t>
            </a:r>
            <a:r>
              <a:rPr lang="en-US" sz="2000" b="1" i="1" u="sng" strike="noStrike" spc="-1">
                <a:solidFill>
                  <a:srgbClr val="000000"/>
                </a:solidFill>
                <a:uFillTx/>
                <a:latin typeface="Arial"/>
              </a:rPr>
              <a:t>”IHPC Transmission”</a:t>
            </a:r>
            <a:endParaRPr lang="en-US" sz="2000" b="0" strike="noStrike" spc="-1">
              <a:latin typeface="Arial"/>
            </a:endParaRPr>
          </a:p>
        </p:txBody>
      </p:sp>
      <p:sp>
        <p:nvSpPr>
          <p:cNvPr id="152" name="PlaceHolder 3"/>
          <p:cNvSpPr>
            <a:spLocks noGrp="1"/>
          </p:cNvSpPr>
          <p:nvPr>
            <p:ph type="sldNum" idx="11"/>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53" name="Tabelle 4"/>
          <p:cNvGraphicFramePr/>
          <p:nvPr/>
        </p:nvGraphicFramePr>
        <p:xfrm>
          <a:off x="933480" y="3238560"/>
          <a:ext cx="7835040" cy="1482840"/>
        </p:xfrm>
        <a:graphic>
          <a:graphicData uri="http://schemas.openxmlformats.org/drawingml/2006/table">
            <a:tbl>
              <a:tblPr/>
              <a:tblGrid>
                <a:gridCol w="2419200">
                  <a:extLst>
                    <a:ext uri="{9D8B030D-6E8A-4147-A177-3AD203B41FA5}">
                      <a16:colId xmlns:a16="http://schemas.microsoft.com/office/drawing/2014/main" val="20000"/>
                    </a:ext>
                  </a:extLst>
                </a:gridCol>
                <a:gridCol w="541620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370800">
                <a:tc>
                  <a:txBody>
                    <a:bodyPr/>
                    <a:lstStyle/>
                    <a:p>
                      <a:pPr>
                        <a:lnSpc>
                          <a:spcPct val="100000"/>
                        </a:lnSpc>
                        <a:buNone/>
                      </a:pPr>
                      <a:r>
                        <a:rPr lang="de-AT" sz="1200" b="0" strike="noStrike" spc="-1">
                          <a:solidFill>
                            <a:srgbClr val="000000"/>
                          </a:solidFill>
                          <a:latin typeface="Arial"/>
                        </a:rPr>
                        <a:t>Gear identifier</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 (number needs to match with specifications in IHPC file)</a:t>
                      </a:r>
                      <a:endParaRPr lang="en-US" sz="1200" b="0" strike="noStrike" spc="-1">
                        <a:latin typeface="Arial"/>
                      </a:endParaRPr>
                    </a:p>
                    <a:p>
                      <a:pPr>
                        <a:lnSpc>
                          <a:spcPct val="100000"/>
                        </a:lnSpc>
                        <a:buNone/>
                      </a:pPr>
                      <a:r>
                        <a:rPr lang="en-US" sz="1200" b="0" strike="noStrike" spc="-1">
                          <a:solidFill>
                            <a:srgbClr val="000000"/>
                          </a:solidFill>
                          <a:latin typeface="Wingdings"/>
                        </a:rPr>
                        <a:t></a:t>
                      </a:r>
                      <a:r>
                        <a:rPr lang="en-US" sz="1200" b="0" strike="noStrike" spc="-1">
                          <a:solidFill>
                            <a:srgbClr val="000000"/>
                          </a:solidFill>
                          <a:latin typeface="Arial"/>
                        </a:rPr>
                        <a:t> Regular axle component to be specified as well</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370800">
                <a:tc>
                  <a:txBody>
                    <a:bodyPr/>
                    <a:lstStyle/>
                    <a:p>
                      <a:pPr>
                        <a:lnSpc>
                          <a:spcPct val="100000"/>
                        </a:lnSpc>
                        <a:buNone/>
                      </a:pPr>
                      <a:r>
                        <a:rPr lang="de-AT" sz="1200" b="0" strike="noStrike" spc="-1">
                          <a:solidFill>
                            <a:srgbClr val="000000"/>
                          </a:solidFill>
                          <a:latin typeface="Arial"/>
                        </a:rPr>
                        <a:t>Ratio</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For each gear</a:t>
                      </a:r>
                      <a:endParaRPr lang="en-US" sz="1200" b="0" strike="noStrike" spc="-1">
                        <a:latin typeface="Arial"/>
                      </a:endParaRPr>
                    </a:p>
                    <a:p>
                      <a:pPr>
                        <a:lnSpc>
                          <a:spcPct val="100000"/>
                        </a:lnSpc>
                        <a:buNone/>
                      </a:pPr>
                      <a:endParaRPr lang="en-US" sz="1200" b="0" strike="noStrike" spc="-1">
                        <a:latin typeface="Arial"/>
                      </a:endParaRPr>
                    </a:p>
                    <a:p>
                      <a:pPr>
                        <a:lnSpc>
                          <a:spcPct val="100000"/>
                        </a:lnSpc>
                        <a:buNone/>
                      </a:pPr>
                      <a:r>
                        <a:rPr lang="en-US" sz="1200" b="0" strike="noStrike" spc="-1">
                          <a:solidFill>
                            <a:srgbClr val="000000"/>
                          </a:solidFill>
                          <a:latin typeface="Wingdings"/>
                        </a:rPr>
                        <a:t></a:t>
                      </a:r>
                      <a:r>
                        <a:rPr lang="en-US" sz="1200" b="0" strike="noStrike" spc="-1">
                          <a:solidFill>
                            <a:srgbClr val="000000"/>
                          </a:solidFill>
                          <a:latin typeface="Arial"/>
                        </a:rPr>
                        <a:t> Regular axle component to be specified as well</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70800">
                <a:tc>
                  <a:txBody>
                    <a:bodyPr/>
                    <a:lstStyle/>
                    <a:p>
                      <a:pPr>
                        <a:lnSpc>
                          <a:spcPct val="100000"/>
                        </a:lnSpc>
                        <a:buNone/>
                      </a:pPr>
                      <a:r>
                        <a:rPr lang="de-AT" sz="1200" b="0" strike="noStrike" spc="-1">
                          <a:solidFill>
                            <a:srgbClr val="000000"/>
                          </a:solidFill>
                          <a:latin typeface="Arial"/>
                        </a:rPr>
                        <a:t>Loss Map</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tabLst>
                          <a:tab pos="0" algn="l"/>
                        </a:tabLst>
                      </a:pPr>
                      <a:r>
                        <a:rPr lang="en-US" sz="1200" b="0" strike="noStrike" spc="-1">
                          <a:solidFill>
                            <a:srgbClr val="000000"/>
                          </a:solidFill>
                          <a:latin typeface="Arial"/>
                        </a:rPr>
                        <a:t>For each gear</a:t>
                      </a:r>
                      <a:endParaRPr lang="en-US" sz="1200" b="0" strike="noStrike" spc="-1">
                        <a:latin typeface="Arial"/>
                      </a:endParaRPr>
                    </a:p>
                    <a:p>
                      <a:pPr>
                        <a:lnSpc>
                          <a:spcPct val="100000"/>
                        </a:lnSpc>
                        <a:buNone/>
                        <a:tabLst>
                          <a:tab pos="0" algn="l"/>
                        </a:tabLst>
                      </a:pPr>
                      <a:r>
                        <a:rPr lang="en-US" sz="1200" b="0" strike="noStrike" spc="-1">
                          <a:solidFill>
                            <a:srgbClr val="000000"/>
                          </a:solidFill>
                          <a:latin typeface="Wingdings"/>
                        </a:rPr>
                        <a:t></a:t>
                      </a:r>
                      <a:r>
                        <a:rPr lang="en-US" sz="1200" b="0" strike="noStrike" spc="-1">
                          <a:solidFill>
                            <a:srgbClr val="000000"/>
                          </a:solidFill>
                          <a:latin typeface="Arial"/>
                        </a:rPr>
                        <a:t> Methodology how to derive data acc. to Annex Xb</a:t>
                      </a:r>
                      <a:br>
                        <a:rPr sz="1200"/>
                      </a:br>
                      <a:r>
                        <a:rPr lang="en-US" sz="1200" b="0" strike="noStrike" spc="-1">
                          <a:solidFill>
                            <a:srgbClr val="000000"/>
                          </a:solidFill>
                          <a:latin typeface="Arial"/>
                        </a:rPr>
                        <a:t>(esp. braking side needs to be measured separately as well – as opposed to copy-paste for regular transmission testing)</a:t>
                      </a:r>
                      <a:endParaRPr lang="en-US" sz="1200" b="0" strike="noStrike" spc="-1">
                        <a:latin typeface="Arial"/>
                      </a:endParaRPr>
                    </a:p>
                    <a:p>
                      <a:pPr>
                        <a:lnSpc>
                          <a:spcPct val="100000"/>
                        </a:lnSpc>
                        <a:buNone/>
                        <a:tabLst>
                          <a:tab pos="0" algn="l"/>
                        </a:tabLst>
                      </a:pPr>
                      <a:endParaRPr lang="en-US" sz="1200" b="0" strike="noStrike" spc="-1">
                        <a:latin typeface="Arial"/>
                      </a:endParaRPr>
                    </a:p>
                    <a:p>
                      <a:pPr>
                        <a:lnSpc>
                          <a:spcPct val="100000"/>
                        </a:lnSpc>
                        <a:buNone/>
                        <a:tabLst>
                          <a:tab pos="0" algn="l"/>
                        </a:tabLst>
                      </a:pPr>
                      <a:r>
                        <a:rPr lang="en-US" sz="1200" b="0" strike="noStrike" spc="-1">
                          <a:solidFill>
                            <a:srgbClr val="000000"/>
                          </a:solidFill>
                          <a:latin typeface="Wingdings"/>
                        </a:rPr>
                        <a:t></a:t>
                      </a:r>
                      <a:r>
                        <a:rPr lang="en-US" sz="1200" b="0" strike="noStrike" spc="-1">
                          <a:solidFill>
                            <a:srgbClr val="000000"/>
                          </a:solidFill>
                          <a:latin typeface="Arial"/>
                        </a:rPr>
                        <a:t> Regular axle component to be specified as well</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4" name="Grafik 36"/>
          <p:cNvPicPr/>
          <p:nvPr/>
        </p:nvPicPr>
        <p:blipFill>
          <a:blip r:embed="rId2"/>
          <a:stretch/>
        </p:blipFill>
        <p:spPr>
          <a:xfrm>
            <a:off x="6566040" y="1469880"/>
            <a:ext cx="2450520" cy="2748240"/>
          </a:xfrm>
          <a:prstGeom prst="rect">
            <a:avLst/>
          </a:prstGeom>
          <a:ln w="0">
            <a:noFill/>
          </a:ln>
        </p:spPr>
      </p:pic>
      <p:pic>
        <p:nvPicPr>
          <p:cNvPr id="155" name="Grafik 34"/>
          <p:cNvPicPr/>
          <p:nvPr/>
        </p:nvPicPr>
        <p:blipFill>
          <a:blip r:embed="rId3"/>
          <a:srcRect b="44675"/>
          <a:stretch/>
        </p:blipFill>
        <p:spPr>
          <a:xfrm>
            <a:off x="5650920" y="4423680"/>
            <a:ext cx="3365280" cy="1541880"/>
          </a:xfrm>
          <a:prstGeom prst="rect">
            <a:avLst/>
          </a:prstGeom>
          <a:ln w="0">
            <a:solidFill>
              <a:srgbClr val="000000"/>
            </a:solidFill>
          </a:ln>
        </p:spPr>
      </p:pic>
      <p:pic>
        <p:nvPicPr>
          <p:cNvPr id="156" name="Grafik 27"/>
          <p:cNvPicPr/>
          <p:nvPr/>
        </p:nvPicPr>
        <p:blipFill>
          <a:blip r:embed="rId4"/>
          <a:srcRect r="43153"/>
          <a:stretch/>
        </p:blipFill>
        <p:spPr>
          <a:xfrm>
            <a:off x="676440" y="1908720"/>
            <a:ext cx="2004840" cy="2471760"/>
          </a:xfrm>
          <a:prstGeom prst="rect">
            <a:avLst/>
          </a:prstGeom>
          <a:ln w="0">
            <a:solidFill>
              <a:srgbClr val="000000"/>
            </a:solidFill>
          </a:ln>
        </p:spPr>
      </p:pic>
      <p:sp>
        <p:nvSpPr>
          <p:cNvPr id="157"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IHPC Input Form</a:t>
            </a:r>
            <a:endParaRPr lang="en-US" sz="2400" b="0" strike="noStrike" spc="-1">
              <a:latin typeface="Arial"/>
            </a:endParaRPr>
          </a:p>
        </p:txBody>
      </p:sp>
      <p:sp>
        <p:nvSpPr>
          <p:cNvPr id="158" name="PlaceHolder 2"/>
          <p:cNvSpPr>
            <a:spLocks noGrp="1"/>
          </p:cNvSpPr>
          <p:nvPr>
            <p:ph type="sldNum" idx="12"/>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sp>
        <p:nvSpPr>
          <p:cNvPr id="159" name="Gerade Verbindung mit Pfeil 6"/>
          <p:cNvSpPr/>
          <p:nvPr/>
        </p:nvSpPr>
        <p:spPr>
          <a:xfrm flipH="1">
            <a:off x="5833080" y="4035240"/>
            <a:ext cx="224280" cy="145800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0" name="Gerade Verbindung mit Pfeil 8"/>
          <p:cNvSpPr/>
          <p:nvPr/>
        </p:nvSpPr>
        <p:spPr>
          <a:xfrm flipV="1">
            <a:off x="6058800" y="3477600"/>
            <a:ext cx="657360" cy="55620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1" name="Pfeil nach rechts 7"/>
          <p:cNvSpPr/>
          <p:nvPr/>
        </p:nvSpPr>
        <p:spPr>
          <a:xfrm>
            <a:off x="5894280" y="2058840"/>
            <a:ext cx="611280" cy="127044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62" name="Textfeld 9"/>
          <p:cNvSpPr/>
          <p:nvPr/>
        </p:nvSpPr>
        <p:spPr>
          <a:xfrm>
            <a:off x="4579200" y="3804480"/>
            <a:ext cx="1478880" cy="45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spcBef>
                <a:spcPts val="601"/>
              </a:spcBef>
              <a:buNone/>
            </a:pPr>
            <a:r>
              <a:rPr lang="en-US" sz="1200" b="1" strike="noStrike" spc="-1">
                <a:solidFill>
                  <a:srgbClr val="000000"/>
                </a:solidFill>
                <a:latin typeface="Arial"/>
                <a:ea typeface="DejaVu Sans"/>
              </a:rPr>
              <a:t>Number of gears</a:t>
            </a:r>
            <a:br>
              <a:rPr sz="1200"/>
            </a:br>
            <a:r>
              <a:rPr lang="en-US" sz="1200" b="1" strike="noStrike" spc="-1">
                <a:solidFill>
                  <a:srgbClr val="000000"/>
                </a:solidFill>
                <a:latin typeface="Arial"/>
                <a:ea typeface="DejaVu Sans"/>
              </a:rPr>
              <a:t>need to match</a:t>
            </a:r>
            <a:endParaRPr lang="en-US" sz="1200" b="0" strike="noStrike" spc="-1">
              <a:latin typeface="Arial"/>
            </a:endParaRPr>
          </a:p>
        </p:txBody>
      </p:sp>
      <p:sp>
        <p:nvSpPr>
          <p:cNvPr id="163" name="Textfeld 11"/>
          <p:cNvSpPr/>
          <p:nvPr/>
        </p:nvSpPr>
        <p:spPr>
          <a:xfrm>
            <a:off x="583560" y="4470120"/>
            <a:ext cx="2490120" cy="1078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601"/>
              </a:spcBef>
              <a:buNone/>
            </a:pPr>
            <a:r>
              <a:rPr lang="en-US" sz="1200" b="1" strike="noStrike" spc="-1">
                <a:solidFill>
                  <a:srgbClr val="000000"/>
                </a:solidFill>
                <a:latin typeface="Arial"/>
                <a:ea typeface="DejaVu Sans"/>
              </a:rPr>
              <a:t>Definition of IHPC component as two separate component parts via</a:t>
            </a:r>
            <a:br>
              <a:rPr sz="1200"/>
            </a:br>
            <a:r>
              <a:rPr lang="en-US" sz="1200" b="1" strike="noStrike" spc="-1">
                <a:solidFill>
                  <a:srgbClr val="000000"/>
                </a:solidFill>
                <a:latin typeface="Arial"/>
                <a:ea typeface="DejaVu Sans"/>
              </a:rPr>
              <a:t>#1: </a:t>
            </a:r>
            <a:r>
              <a:rPr lang="en-US" sz="1200" b="1" i="1" strike="noStrike" spc="-1">
                <a:solidFill>
                  <a:srgbClr val="000000"/>
                </a:solidFill>
                <a:latin typeface="Arial"/>
                <a:ea typeface="DejaVu Sans"/>
              </a:rPr>
              <a:t>“Vehicle \ IHPC-Tab”</a:t>
            </a:r>
            <a:endParaRPr lang="en-US" sz="1200" b="0" strike="noStrike" spc="-1">
              <a:latin typeface="Arial"/>
            </a:endParaRPr>
          </a:p>
          <a:p>
            <a:pPr algn="ctr">
              <a:lnSpc>
                <a:spcPct val="100000"/>
              </a:lnSpc>
              <a:spcBef>
                <a:spcPts val="601"/>
              </a:spcBef>
              <a:buNone/>
            </a:pPr>
            <a:r>
              <a:rPr lang="en-US" sz="1200" b="1" strike="noStrike" spc="-1">
                <a:solidFill>
                  <a:srgbClr val="000000"/>
                </a:solidFill>
                <a:latin typeface="Arial"/>
                <a:ea typeface="DejaVu Sans"/>
              </a:rPr>
              <a:t>#2: </a:t>
            </a:r>
            <a:r>
              <a:rPr lang="en-US" sz="1200" b="1" i="1" strike="noStrike" spc="-1">
                <a:solidFill>
                  <a:srgbClr val="000000"/>
                </a:solidFill>
                <a:latin typeface="Arial"/>
                <a:ea typeface="DejaVu Sans"/>
              </a:rPr>
              <a:t>“Gearbox”</a:t>
            </a:r>
            <a:endParaRPr lang="en-US" sz="1200" b="0" strike="noStrike" spc="-1">
              <a:latin typeface="Arial"/>
            </a:endParaRPr>
          </a:p>
        </p:txBody>
      </p:sp>
      <p:sp>
        <p:nvSpPr>
          <p:cNvPr id="164" name="Ellipse 12"/>
          <p:cNvSpPr/>
          <p:nvPr/>
        </p:nvSpPr>
        <p:spPr>
          <a:xfrm>
            <a:off x="583560" y="2413080"/>
            <a:ext cx="578880" cy="107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65" name="Grafik 16"/>
          <p:cNvPicPr/>
          <p:nvPr/>
        </p:nvPicPr>
        <p:blipFill>
          <a:blip r:embed="rId5"/>
          <a:srcRect b="34206"/>
          <a:stretch/>
        </p:blipFill>
        <p:spPr>
          <a:xfrm>
            <a:off x="3324600" y="1908720"/>
            <a:ext cx="2508480" cy="1623240"/>
          </a:xfrm>
          <a:prstGeom prst="rect">
            <a:avLst/>
          </a:prstGeom>
          <a:ln w="0">
            <a:solidFill>
              <a:srgbClr val="000000"/>
            </a:solidFill>
          </a:ln>
        </p:spPr>
      </p:pic>
      <p:sp>
        <p:nvSpPr>
          <p:cNvPr id="166" name="Ellipse 13"/>
          <p:cNvSpPr/>
          <p:nvPr/>
        </p:nvSpPr>
        <p:spPr>
          <a:xfrm>
            <a:off x="3357360" y="2801160"/>
            <a:ext cx="578880" cy="143280"/>
          </a:xfrm>
          <a:prstGeom prst="ellipse">
            <a:avLst/>
          </a:prstGeom>
          <a:solidFill>
            <a:srgbClr val="FF0000">
              <a:alpha val="15000"/>
            </a:srgbClr>
          </a:solidFill>
          <a:ln w="28575">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67" name="Gerade Verbindung mit Pfeil 15"/>
          <p:cNvSpPr/>
          <p:nvPr/>
        </p:nvSpPr>
        <p:spPr>
          <a:xfrm flipH="1" flipV="1">
            <a:off x="3702600" y="3024720"/>
            <a:ext cx="186480" cy="330480"/>
          </a:xfrm>
          <a:custGeom>
            <a:avLst/>
            <a:gdLst/>
            <a:ahLst/>
            <a:cxnLst/>
            <a:rect l="l" t="t" r="r" b="b"/>
            <a:pathLst>
              <a:path w="21600" h="21600">
                <a:moveTo>
                  <a:pt x="0" y="0"/>
                </a:moveTo>
                <a:lnTo>
                  <a:pt x="21600" y="21600"/>
                </a:lnTo>
              </a:path>
            </a:pathLst>
          </a:custGeom>
          <a:noFill/>
          <a:ln>
            <a:solidFill>
              <a:srgbClr val="4F81BD"/>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8" name="Textfeld 17"/>
          <p:cNvSpPr/>
          <p:nvPr/>
        </p:nvSpPr>
        <p:spPr>
          <a:xfrm>
            <a:off x="3830760" y="3159000"/>
            <a:ext cx="1315440" cy="409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24"/>
              </a:spcBef>
              <a:buNone/>
            </a:pPr>
            <a:r>
              <a:rPr lang="en-US" sz="1050" b="1" strike="noStrike" spc="-1">
                <a:solidFill>
                  <a:srgbClr val="FF0000"/>
                </a:solidFill>
                <a:latin typeface="Arial"/>
                <a:ea typeface="DejaVu Sans"/>
              </a:rPr>
              <a:t>Click for specific IHPC GUI-window</a:t>
            </a:r>
            <a:endParaRPr lang="en-US" sz="1050" b="0" strike="noStrike" spc="-1">
              <a:latin typeface="Arial"/>
            </a:endParaRPr>
          </a:p>
        </p:txBody>
      </p:sp>
      <p:sp>
        <p:nvSpPr>
          <p:cNvPr id="169" name="Textfeld 19"/>
          <p:cNvSpPr/>
          <p:nvPr/>
        </p:nvSpPr>
        <p:spPr>
          <a:xfrm>
            <a:off x="13680" y="2660040"/>
            <a:ext cx="67644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#1:</a:t>
            </a:r>
            <a:br>
              <a:rPr sz="900"/>
            </a:br>
            <a:r>
              <a:rPr lang="en-US" sz="900" b="1" strike="noStrike" spc="-1">
                <a:solidFill>
                  <a:srgbClr val="FF0000"/>
                </a:solidFill>
                <a:latin typeface="Arial"/>
                <a:ea typeface="DejaVu Sans"/>
              </a:rPr>
              <a:t>IHPC-EM</a:t>
            </a:r>
            <a:endParaRPr lang="en-US" sz="900" b="0" strike="noStrike" spc="-1">
              <a:latin typeface="Arial"/>
            </a:endParaRPr>
          </a:p>
        </p:txBody>
      </p:sp>
      <p:sp>
        <p:nvSpPr>
          <p:cNvPr id="170" name="Textfeld 20"/>
          <p:cNvSpPr/>
          <p:nvPr/>
        </p:nvSpPr>
        <p:spPr>
          <a:xfrm>
            <a:off x="784440" y="3373560"/>
            <a:ext cx="99036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#2:</a:t>
            </a:r>
            <a:br>
              <a:rPr sz="900"/>
            </a:br>
            <a:r>
              <a:rPr lang="en-US" sz="900" b="1" strike="noStrike" spc="-1">
                <a:solidFill>
                  <a:srgbClr val="FF0000"/>
                </a:solidFill>
                <a:latin typeface="Arial"/>
                <a:ea typeface="DejaVu Sans"/>
              </a:rPr>
              <a:t>IHPC-Gearbox</a:t>
            </a:r>
            <a:endParaRPr lang="en-US" sz="900" b="0" strike="noStrike" spc="-1">
              <a:latin typeface="Arial"/>
            </a:endParaRPr>
          </a:p>
        </p:txBody>
      </p:sp>
      <p:sp>
        <p:nvSpPr>
          <p:cNvPr id="171" name="Gerade Verbindung mit Pfeil 21"/>
          <p:cNvSpPr/>
          <p:nvPr/>
        </p:nvSpPr>
        <p:spPr>
          <a:xfrm flipV="1">
            <a:off x="352080" y="2504520"/>
            <a:ext cx="315720" cy="15408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2" name="Gerade Verbindung mit Pfeil 24"/>
          <p:cNvSpPr/>
          <p:nvPr/>
        </p:nvSpPr>
        <p:spPr>
          <a:xfrm flipH="1" flipV="1">
            <a:off x="872640" y="2747880"/>
            <a:ext cx="405720" cy="62460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3" name="Ellipse 25"/>
          <p:cNvSpPr/>
          <p:nvPr/>
        </p:nvSpPr>
        <p:spPr>
          <a:xfrm>
            <a:off x="583560" y="2640600"/>
            <a:ext cx="578880" cy="107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4" name="Pfeil nach rechts 28"/>
          <p:cNvSpPr/>
          <p:nvPr/>
        </p:nvSpPr>
        <p:spPr>
          <a:xfrm>
            <a:off x="1369800" y="2322360"/>
            <a:ext cx="1873080" cy="36468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a:lnSpc>
                <a:spcPct val="100000"/>
              </a:lnSpc>
              <a:spcBef>
                <a:spcPts val="550"/>
              </a:spcBef>
              <a:buNone/>
            </a:pPr>
            <a:r>
              <a:rPr lang="de-AT" sz="1100" b="1" strike="noStrike" spc="-1">
                <a:solidFill>
                  <a:srgbClr val="FFFFFF"/>
                </a:solidFill>
                <a:latin typeface="Arial"/>
                <a:ea typeface="DejaVu Sans"/>
              </a:rPr>
              <a:t>item #1</a:t>
            </a:r>
            <a:endParaRPr lang="en-US" sz="1100" b="0" strike="noStrike" spc="-1">
              <a:latin typeface="Arial"/>
            </a:endParaRPr>
          </a:p>
        </p:txBody>
      </p:sp>
      <p:sp>
        <p:nvSpPr>
          <p:cNvPr id="175" name="Pfeil nach rechts 31"/>
          <p:cNvSpPr/>
          <p:nvPr/>
        </p:nvSpPr>
        <p:spPr>
          <a:xfrm rot="1800000">
            <a:off x="831600" y="3837600"/>
            <a:ext cx="4724280" cy="36468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a:lnSpc>
                <a:spcPct val="100000"/>
              </a:lnSpc>
              <a:spcBef>
                <a:spcPts val="550"/>
              </a:spcBef>
              <a:buNone/>
            </a:pPr>
            <a:r>
              <a:rPr lang="de-AT" sz="1100" b="1" strike="noStrike" spc="-1">
                <a:solidFill>
                  <a:srgbClr val="FFFFFF"/>
                </a:solidFill>
                <a:latin typeface="Arial"/>
                <a:ea typeface="DejaVu Sans"/>
              </a:rPr>
              <a:t>item #2</a:t>
            </a:r>
            <a:endParaRPr lang="en-US" sz="1100" b="0" strike="noStrike" spc="-1">
              <a:latin typeface="Arial"/>
            </a:endParaRPr>
          </a:p>
        </p:txBody>
      </p:sp>
      <p:sp>
        <p:nvSpPr>
          <p:cNvPr id="176" name="Ellipse 35"/>
          <p:cNvSpPr/>
          <p:nvPr/>
        </p:nvSpPr>
        <p:spPr>
          <a:xfrm>
            <a:off x="6062760" y="4896360"/>
            <a:ext cx="935280" cy="143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7" name="Textfeld 41"/>
          <p:cNvSpPr/>
          <p:nvPr/>
        </p:nvSpPr>
        <p:spPr>
          <a:xfrm>
            <a:off x="6800400" y="4439880"/>
            <a:ext cx="99036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#2:</a:t>
            </a:r>
            <a:br>
              <a:rPr sz="900"/>
            </a:br>
            <a:r>
              <a:rPr lang="en-US" sz="900" b="1" strike="noStrike" spc="-1">
                <a:solidFill>
                  <a:srgbClr val="FF0000"/>
                </a:solidFill>
                <a:latin typeface="Arial"/>
                <a:ea typeface="DejaVu Sans"/>
              </a:rPr>
              <a:t>IHPC-Gearbox</a:t>
            </a:r>
            <a:endParaRPr lang="en-US" sz="900" b="0" strike="noStrike" spc="-1">
              <a:latin typeface="Arial"/>
            </a:endParaRPr>
          </a:p>
        </p:txBody>
      </p:sp>
      <p:sp>
        <p:nvSpPr>
          <p:cNvPr id="178" name="Textfeld 42"/>
          <p:cNvSpPr/>
          <p:nvPr/>
        </p:nvSpPr>
        <p:spPr>
          <a:xfrm>
            <a:off x="7506720" y="1510200"/>
            <a:ext cx="67644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#1:</a:t>
            </a:r>
            <a:br>
              <a:rPr sz="900"/>
            </a:br>
            <a:r>
              <a:rPr lang="en-US" sz="900" b="1" strike="noStrike" spc="-1">
                <a:solidFill>
                  <a:srgbClr val="FF0000"/>
                </a:solidFill>
                <a:latin typeface="Arial"/>
                <a:ea typeface="DejaVu Sans"/>
              </a:rPr>
              <a:t>IHPC-EM</a:t>
            </a:r>
            <a:endParaRPr lang="en-US" sz="900" b="0" strike="noStrike" spc="-1">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Adaptations Serial Hybrid Strategy  (1/3)</a:t>
            </a:r>
            <a:endParaRPr lang="en-US" sz="2400" b="0" strike="noStrike" spc="-1">
              <a:latin typeface="Arial"/>
            </a:endParaRPr>
          </a:p>
        </p:txBody>
      </p:sp>
      <p:sp>
        <p:nvSpPr>
          <p:cNvPr id="18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Observation: GenSet often switching between optimal and maximum power, while operating constantly at optimal power would be sufficient</a:t>
            </a:r>
            <a:endParaRPr lang="en-US" sz="2000" b="0" strike="noStrike" spc="-1">
              <a:latin typeface="Arial"/>
            </a:endParaRPr>
          </a:p>
        </p:txBody>
      </p:sp>
      <p:sp>
        <p:nvSpPr>
          <p:cNvPr id="181" name="PlaceHolder 3"/>
          <p:cNvSpPr>
            <a:spLocks noGrp="1"/>
          </p:cNvSpPr>
          <p:nvPr>
            <p:ph type="sldNum" idx="13"/>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82" name="Grafik 7"/>
          <p:cNvPicPr/>
          <p:nvPr/>
        </p:nvPicPr>
        <p:blipFill>
          <a:blip r:embed="rId2"/>
          <a:stretch/>
        </p:blipFill>
        <p:spPr>
          <a:xfrm>
            <a:off x="1650240" y="2942640"/>
            <a:ext cx="4498920" cy="2755800"/>
          </a:xfrm>
          <a:prstGeom prst="rect">
            <a:avLst/>
          </a:prstGeom>
          <a:ln w="0">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Adaptations Serial Hybrid Strategy  (2/3)</a:t>
            </a:r>
            <a:endParaRPr lang="en-US" sz="2400" b="0" strike="noStrike" spc="-1">
              <a:latin typeface="Arial"/>
            </a:endParaRPr>
          </a:p>
        </p:txBody>
      </p:sp>
      <p:sp>
        <p:nvSpPr>
          <p:cNvPr id="184" name="PlaceHolder 2"/>
          <p:cNvSpPr>
            <a:spLocks noGrp="1"/>
          </p:cNvSpPr>
          <p:nvPr>
            <p:ph/>
          </p:nvPr>
        </p:nvSpPr>
        <p:spPr>
          <a:xfrm>
            <a:off x="622440" y="2137320"/>
            <a:ext cx="5026320" cy="34812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pPr>
            <a:r>
              <a:rPr lang="en-US" sz="1800" b="0" strike="noStrike" spc="-1">
                <a:solidFill>
                  <a:srgbClr val="000000"/>
                </a:solidFill>
                <a:latin typeface="Arial"/>
              </a:rPr>
              <a:t>Minor changes in Serial Hybrid Strategy</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GenSet is switched on as soon as SoC falls below SoC_min</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GenSet is switched off as soon as SoC reaches SoC_target</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GenSet operation points P_opt and P_max:</a:t>
            </a:r>
            <a:endParaRPr lang="en-US" sz="16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In total 4 points defined, for GenSet in regular and in de-rating condition</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SoC_min ≤ </a:t>
            </a:r>
            <a:r>
              <a:rPr lang="en-US" sz="1400" b="1" strike="noStrike" spc="-1">
                <a:solidFill>
                  <a:srgbClr val="000000"/>
                </a:solidFill>
                <a:latin typeface="Arial"/>
              </a:rPr>
              <a:t>SoC</a:t>
            </a:r>
            <a:r>
              <a:rPr lang="en-US" sz="1400" b="0" strike="noStrike" spc="-1">
                <a:solidFill>
                  <a:srgbClr val="000000"/>
                </a:solidFill>
                <a:latin typeface="Arial"/>
              </a:rPr>
              <a:t> &lt; SOC_target: P_opt</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1" strike="noStrike" spc="-1">
                <a:solidFill>
                  <a:srgbClr val="000000"/>
                </a:solidFill>
                <a:latin typeface="Arial"/>
              </a:rPr>
              <a:t>SoC</a:t>
            </a:r>
            <a:r>
              <a:rPr lang="en-US" sz="1400" b="0" strike="noStrike" spc="-1">
                <a:solidFill>
                  <a:srgbClr val="000000"/>
                </a:solidFill>
                <a:latin typeface="Arial"/>
              </a:rPr>
              <a:t> &lt; SoC_min:</a:t>
            </a:r>
            <a:endParaRPr lang="en-US" sz="1400" b="0" strike="noStrike" spc="-1">
              <a:latin typeface="Arial"/>
            </a:endParaRPr>
          </a:p>
          <a:p>
            <a:pPr marL="1600200" lvl="3" indent="-228600">
              <a:lnSpc>
                <a:spcPct val="100000"/>
              </a:lnSpc>
              <a:spcBef>
                <a:spcPts val="241"/>
              </a:spcBef>
              <a:buClr>
                <a:srgbClr val="000000"/>
              </a:buClr>
              <a:buFont typeface="Symbol"/>
              <a:buChar char=""/>
            </a:pPr>
            <a:r>
              <a:rPr lang="en-US" sz="1200" b="0" strike="noStrike" spc="-1">
                <a:solidFill>
                  <a:srgbClr val="000000"/>
                </a:solidFill>
                <a:latin typeface="Arial"/>
              </a:rPr>
              <a:t>requested el. power &gt; P_opt: GENSET @ P_max</a:t>
            </a:r>
            <a:endParaRPr lang="en-US" sz="1200" b="0" strike="noStrike" spc="-1">
              <a:latin typeface="Arial"/>
            </a:endParaRPr>
          </a:p>
          <a:p>
            <a:pPr marL="1600200" lvl="3" indent="-228600">
              <a:lnSpc>
                <a:spcPct val="100000"/>
              </a:lnSpc>
              <a:spcBef>
                <a:spcPts val="241"/>
              </a:spcBef>
              <a:buClr>
                <a:srgbClr val="000000"/>
              </a:buClr>
              <a:buFont typeface="Symbol"/>
              <a:buChar char=""/>
            </a:pPr>
            <a:r>
              <a:rPr lang="en-US" sz="1200" b="0" strike="noStrike" spc="-1">
                <a:solidFill>
                  <a:srgbClr val="000000"/>
                </a:solidFill>
                <a:latin typeface="Arial"/>
              </a:rPr>
              <a:t>requested el. power ≤ P_opt: GENSET @ P_opt</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i="1" strike="noStrike" spc="-1">
                <a:solidFill>
                  <a:srgbClr val="000000"/>
                </a:solidFill>
                <a:latin typeface="Arial"/>
              </a:rPr>
              <a:t>Note: SoC_min shall be above battery’s min SoC</a:t>
            </a:r>
            <a:endParaRPr lang="en-US" sz="1600" b="0" strike="noStrike" spc="-1">
              <a:latin typeface="Arial"/>
            </a:endParaRPr>
          </a:p>
        </p:txBody>
      </p:sp>
      <p:sp>
        <p:nvSpPr>
          <p:cNvPr id="185" name="PlaceHolder 3"/>
          <p:cNvSpPr>
            <a:spLocks noGrp="1"/>
          </p:cNvSpPr>
          <p:nvPr>
            <p:ph type="sldNum" idx="14"/>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86" name="Grafik 4"/>
          <p:cNvPicPr/>
          <p:nvPr/>
        </p:nvPicPr>
        <p:blipFill>
          <a:blip r:embed="rId2"/>
          <a:stretch/>
        </p:blipFill>
        <p:spPr>
          <a:xfrm>
            <a:off x="5649120" y="4174560"/>
            <a:ext cx="3367080" cy="1362960"/>
          </a:xfrm>
          <a:prstGeom prst="rect">
            <a:avLst/>
          </a:prstGeom>
          <a:ln w="0">
            <a:noFill/>
          </a:ln>
        </p:spPr>
      </p:pic>
      <p:pic>
        <p:nvPicPr>
          <p:cNvPr id="187" name="Grafik 5"/>
          <p:cNvPicPr/>
          <p:nvPr/>
        </p:nvPicPr>
        <p:blipFill>
          <a:blip r:embed="rId3"/>
          <a:stretch/>
        </p:blipFill>
        <p:spPr>
          <a:xfrm>
            <a:off x="7012440" y="1480680"/>
            <a:ext cx="2003760" cy="2350440"/>
          </a:xfrm>
          <a:prstGeom prst="rect">
            <a:avLst/>
          </a:prstGeom>
          <a:ln w="0">
            <a:noFill/>
          </a:ln>
        </p:spPr>
      </p:pic>
      <p:sp>
        <p:nvSpPr>
          <p:cNvPr id="188" name="Gerade Verbindung mit Pfeil 6"/>
          <p:cNvSpPr/>
          <p:nvPr/>
        </p:nvSpPr>
        <p:spPr>
          <a:xfrm flipV="1">
            <a:off x="6318360" y="2520360"/>
            <a:ext cx="640800" cy="1571760"/>
          </a:xfrm>
          <a:custGeom>
            <a:avLst/>
            <a:gdLst/>
            <a:ahLst/>
            <a:cxnLst/>
            <a:rect l="l" t="t" r="r" b="b"/>
            <a:pathLst>
              <a:path w="21600" h="21600">
                <a:moveTo>
                  <a:pt x="0" y="0"/>
                </a:moveTo>
                <a:lnTo>
                  <a:pt x="21600" y="21600"/>
                </a:lnTo>
              </a:path>
            </a:pathLst>
          </a:custGeom>
          <a:noFill/>
          <a:ln>
            <a:solidFill>
              <a:srgbClr val="FF0000"/>
            </a:solidFill>
            <a:round/>
            <a:headEnd type="triangle" w="med" len="me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Adaptations Serial Hybrid Strategy  (3/3)</a:t>
            </a:r>
            <a:endParaRPr lang="en-US" sz="2400" b="0" strike="noStrike" spc="-1">
              <a:latin typeface="Arial"/>
            </a:endParaRPr>
          </a:p>
        </p:txBody>
      </p:sp>
      <p:sp>
        <p:nvSpPr>
          <p:cNvPr id="19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GenSet now always operates in optimal point</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Speed profile is unchanged, SoC trace slightly different</a:t>
            </a:r>
            <a:endParaRPr lang="en-US" sz="2000" b="0" strike="noStrike" spc="-1">
              <a:latin typeface="Arial"/>
            </a:endParaRPr>
          </a:p>
        </p:txBody>
      </p:sp>
      <p:sp>
        <p:nvSpPr>
          <p:cNvPr id="191" name="PlaceHolder 3"/>
          <p:cNvSpPr>
            <a:spLocks noGrp="1"/>
          </p:cNvSpPr>
          <p:nvPr>
            <p:ph type="sldNum" idx="15"/>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92" name="Grafik 7"/>
          <p:cNvPicPr/>
          <p:nvPr/>
        </p:nvPicPr>
        <p:blipFill>
          <a:blip r:embed="rId2"/>
          <a:stretch/>
        </p:blipFill>
        <p:spPr>
          <a:xfrm>
            <a:off x="1659240" y="2942640"/>
            <a:ext cx="4481280" cy="2755800"/>
          </a:xfrm>
          <a:prstGeom prst="rect">
            <a:avLst/>
          </a:prstGeom>
          <a:ln w="0">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SoC Correction for HEV-S</a:t>
            </a:r>
            <a:endParaRPr lang="en-US" sz="2400" b="0" strike="noStrike" spc="-1">
              <a:latin typeface="Arial"/>
            </a:endParaRPr>
          </a:p>
        </p:txBody>
      </p:sp>
      <p:sp>
        <p:nvSpPr>
          <p:cNvPr id="194"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REESS SoC for HEV is corrected using the engine line</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Engine line makes no sense for HEV-S as the ICE is decoupled from the drivetrain and operates only in certain points</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SoC Correction:</a:t>
            </a:r>
            <a:endParaRPr lang="en-US" sz="2000" b="0" strike="noStrike" spc="-1">
              <a:latin typeface="Arial"/>
            </a:endParaRPr>
          </a:p>
          <a:p>
            <a:pPr>
              <a:lnSpc>
                <a:spcPct val="100000"/>
              </a:lnSpc>
              <a:buNone/>
            </a:pPr>
            <a:endParaRPr lang="en-US" sz="1800" b="0" strike="noStrike" spc="-1">
              <a:latin typeface="Arial"/>
            </a:endParaRPr>
          </a:p>
        </p:txBody>
      </p:sp>
      <p:sp>
        <p:nvSpPr>
          <p:cNvPr id="195" name="PlaceHolder 3"/>
          <p:cNvSpPr>
            <a:spLocks noGrp="1"/>
          </p:cNvSpPr>
          <p:nvPr>
            <p:ph type="sldNum" idx="16"/>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96" name="Grafik 4"/>
          <p:cNvPicPr/>
          <p:nvPr/>
        </p:nvPicPr>
        <p:blipFill>
          <a:blip r:embed="rId2"/>
          <a:stretch/>
        </p:blipFill>
        <p:spPr>
          <a:xfrm>
            <a:off x="1735920" y="3544560"/>
            <a:ext cx="2488680" cy="435960"/>
          </a:xfrm>
          <a:prstGeom prst="rect">
            <a:avLst/>
          </a:prstGeom>
          <a:ln w="0">
            <a:noFill/>
          </a:ln>
        </p:spPr>
      </p:pic>
      <p:pic>
        <p:nvPicPr>
          <p:cNvPr id="197" name="Grafik 5"/>
          <p:cNvPicPr/>
          <p:nvPr/>
        </p:nvPicPr>
        <p:blipFill>
          <a:blip r:embed="rId3"/>
          <a:stretch/>
        </p:blipFill>
        <p:spPr>
          <a:xfrm>
            <a:off x="4686840" y="3607560"/>
            <a:ext cx="1725480" cy="309240"/>
          </a:xfrm>
          <a:prstGeom prst="rect">
            <a:avLst/>
          </a:prstGeom>
          <a:ln w="0">
            <a:noFill/>
          </a:ln>
        </p:spPr>
      </p:pic>
      <p:pic>
        <p:nvPicPr>
          <p:cNvPr id="198" name="Grafik 6"/>
          <p:cNvPicPr/>
          <p:nvPr/>
        </p:nvPicPr>
        <p:blipFill>
          <a:blip r:embed="rId4"/>
          <a:stretch/>
        </p:blipFill>
        <p:spPr>
          <a:xfrm>
            <a:off x="1453320" y="4127040"/>
            <a:ext cx="2859840" cy="529920"/>
          </a:xfrm>
          <a:prstGeom prst="rect">
            <a:avLst/>
          </a:prstGeom>
          <a:ln w="0">
            <a:noFill/>
          </a:ln>
        </p:spPr>
      </p:pic>
      <p:pic>
        <p:nvPicPr>
          <p:cNvPr id="199" name="Grafik 7"/>
          <p:cNvPicPr/>
          <p:nvPr/>
        </p:nvPicPr>
        <p:blipFill>
          <a:blip r:embed="rId5"/>
          <a:stretch/>
        </p:blipFill>
        <p:spPr>
          <a:xfrm>
            <a:off x="1453320" y="4777200"/>
            <a:ext cx="2709000" cy="493200"/>
          </a:xfrm>
          <a:prstGeom prst="rect">
            <a:avLst/>
          </a:prstGeom>
          <a:ln w="0">
            <a:noFill/>
          </a:ln>
        </p:spPr>
      </p:pic>
      <p:sp>
        <p:nvSpPr>
          <p:cNvPr id="200" name="Textfeld 8"/>
          <p:cNvSpPr/>
          <p:nvPr/>
        </p:nvSpPr>
        <p:spPr>
          <a:xfrm>
            <a:off x="4557240" y="4253760"/>
            <a:ext cx="3899160" cy="272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lnSpc>
                <a:spcPct val="100000"/>
              </a:lnSpc>
              <a:spcBef>
                <a:spcPts val="601"/>
              </a:spcBef>
              <a:buNone/>
            </a:pPr>
            <a:r>
              <a:rPr lang="en-US" sz="1200" b="1" i="1" strike="noStrike" spc="-1">
                <a:solidFill>
                  <a:srgbClr val="000000"/>
                </a:solidFill>
                <a:latin typeface="Arial"/>
                <a:ea typeface="DejaVu Sans"/>
              </a:rPr>
              <a:t>… in case the GenSet was on during the simulation</a:t>
            </a:r>
            <a:endParaRPr lang="en-US" sz="1200" b="0" strike="noStrike" spc="-1">
              <a:latin typeface="Arial"/>
            </a:endParaRPr>
          </a:p>
        </p:txBody>
      </p:sp>
      <p:sp>
        <p:nvSpPr>
          <p:cNvPr id="201" name="Textfeld 9"/>
          <p:cNvSpPr/>
          <p:nvPr/>
        </p:nvSpPr>
        <p:spPr>
          <a:xfrm>
            <a:off x="4584960" y="4885560"/>
            <a:ext cx="4178160" cy="272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lnSpc>
                <a:spcPct val="100000"/>
              </a:lnSpc>
              <a:spcBef>
                <a:spcPts val="601"/>
              </a:spcBef>
              <a:buNone/>
            </a:pPr>
            <a:r>
              <a:rPr lang="en-US" sz="1200" b="1" i="1" strike="noStrike" spc="-1">
                <a:solidFill>
                  <a:srgbClr val="000000"/>
                </a:solidFill>
                <a:latin typeface="Arial"/>
                <a:ea typeface="DejaVu Sans"/>
              </a:rPr>
              <a:t>… in case the GenSet was not on during the simulation</a:t>
            </a:r>
            <a:endParaRPr lang="en-US" sz="1200" b="0" strike="noStrike" spc="-1">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0.7.8.2679 Development Version</a:t>
            </a:r>
            <a:br>
              <a:rPr sz="2400"/>
            </a:br>
            <a:r>
              <a:rPr lang="en-US" sz="1600" b="1" strike="noStrike" spc="-1">
                <a:solidFill>
                  <a:srgbClr val="990000"/>
                </a:solidFill>
                <a:latin typeface="Arial"/>
              </a:rPr>
              <a:t>April 2022</a:t>
            </a:r>
            <a:endParaRPr lang="en-US" sz="1600" b="0" strike="noStrike" spc="-1">
              <a:latin typeface="Arial"/>
            </a:endParaRPr>
          </a:p>
        </p:txBody>
      </p:sp>
      <p:sp>
        <p:nvSpPr>
          <p:cNvPr id="203"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Changes/Bugfixes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Multi-Target Executables in .net 6.0 and .net Framework 4.8 (and .net Framework 4.5, but this will be removed with the next release)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Serial Hybrid Vehicles S2, S3, S4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APT-S/P with E2 and S2 vehicle architecture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Correct handling of retarder positions with HEV and PEV, adding axlegear input retarder option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hashing tool to handle new powertrain components (electric motor, battery, supercap)</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Changing EM overload buffer calculation: interpolate between both voltage levels (pre-processing)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Handling of torque limitations (engine torque limit, boosting torque limits, gearbox torque limits) for P2 architecture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Connect electric WHR system to REESS in case of hybrid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LH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GUI improvements: enable/disable some fields in Job Form, Vehicle Form, and Hybrid Strategy Parameters to simplify user interface and avoid erratic entries.</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281"/>
              </a:spcBef>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 Implementation</a:t>
            </a:r>
            <a:endParaRPr lang="en-US" sz="2400" b="0" strike="noStrike" spc="-1">
              <a:latin typeface="Arial"/>
            </a:endParaRPr>
          </a:p>
        </p:txBody>
      </p:sp>
      <p:sp>
        <p:nvSpPr>
          <p:cNvPr id="205"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General approach</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Simple operating strategy, not ECMS–based</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Three-point controller for GenSet (off/optimal point/maximum power)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Operate GenSet in optimal load-points whenever required and possible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Drivetrain similar to PEV</a:t>
            </a:r>
            <a:endParaRPr lang="en-US" sz="1800" b="0" strike="noStrike" spc="-1">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Hybrids: GenSet Pre-Processing</a:t>
            </a:r>
            <a:endParaRPr lang="en-US" sz="2400" b="0" strike="noStrike" spc="-1">
              <a:latin typeface="Arial"/>
            </a:endParaRPr>
          </a:p>
        </p:txBody>
      </p:sp>
      <p:sp>
        <p:nvSpPr>
          <p:cNvPr id="207"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Find optimal points for the GenSet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Iterate from 0 to maximum power of the ICE (20 steps)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Iterate from ICE idle speed to n</a:t>
            </a:r>
            <a:r>
              <a:rPr lang="en-US" sz="1800" b="0" strike="noStrike" spc="-1" baseline="-25000">
                <a:solidFill>
                  <a:srgbClr val="000000"/>
                </a:solidFill>
                <a:latin typeface="Arial"/>
              </a:rPr>
              <a:t>95h</a:t>
            </a:r>
            <a:r>
              <a:rPr lang="en-US" sz="1800" b="0" strike="noStrike" spc="-1">
                <a:solidFill>
                  <a:srgbClr val="000000"/>
                </a:solidFill>
                <a:latin typeface="Arial"/>
              </a:rPr>
              <a:t> speed (20 steps)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Calculate electric power and fuel consumption for all load-points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Select operating points:</a:t>
            </a:r>
            <a:endParaRPr lang="en-US" sz="18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Maximum electric power, EM de-rated/not de-rated</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Optimal operating point (minimum FC per electric power generated), EM de-rated/not de-rated</a:t>
            </a:r>
            <a:endParaRPr lang="en-US" sz="1400" b="0" strike="noStrike" spc="-1">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 Strategy (main principles)</a:t>
            </a:r>
            <a:endParaRPr lang="en-US" sz="2400" b="0" strike="noStrike" spc="-1">
              <a:latin typeface="Arial"/>
            </a:endParaRPr>
          </a:p>
        </p:txBody>
      </p:sp>
      <p:sp>
        <p:nvSpPr>
          <p:cNvPr id="209" name="PlaceHolder 2"/>
          <p:cNvSpPr>
            <a:spLocks noGrp="1"/>
          </p:cNvSpPr>
          <p:nvPr>
            <p:ph/>
          </p:nvPr>
        </p:nvSpPr>
        <p:spPr>
          <a:xfrm>
            <a:off x="468360" y="1582560"/>
            <a:ext cx="5629320" cy="4542840"/>
          </a:xfrm>
          <a:prstGeom prst="rect">
            <a:avLst/>
          </a:prstGeom>
          <a:noFill/>
          <a:ln w="0">
            <a:noFill/>
          </a:ln>
        </p:spPr>
        <p:txBody>
          <a:bodyPr lIns="90000" tIns="45000" rIns="90000" bIns="45000" numCol="1" spcCol="0" anchor="t">
            <a:noAutofit/>
          </a:bodyPr>
          <a:lstStyle/>
          <a:p>
            <a:pPr marL="457200" indent="-457200">
              <a:lnSpc>
                <a:spcPct val="100000"/>
              </a:lnSpc>
              <a:spcBef>
                <a:spcPts val="320"/>
              </a:spcBef>
              <a:buClr>
                <a:srgbClr val="000000"/>
              </a:buClr>
              <a:buFont typeface="Arial"/>
              <a:buAutoNum type="arabicPeriod"/>
            </a:pPr>
            <a:r>
              <a:rPr lang="en-US" sz="1600" b="0" strike="noStrike" spc="-1">
                <a:solidFill>
                  <a:srgbClr val="000000"/>
                </a:solidFill>
                <a:latin typeface="Arial"/>
              </a:rPr>
              <a:t>Calculate max. electric power GenSet can provide</a:t>
            </a:r>
            <a:endParaRPr lang="en-US" sz="1600" b="0" strike="noStrike" spc="-1">
              <a:latin typeface="Arial"/>
            </a:endParaRPr>
          </a:p>
          <a:p>
            <a:pPr marL="457200" indent="-457200">
              <a:lnSpc>
                <a:spcPct val="100000"/>
              </a:lnSpc>
              <a:spcBef>
                <a:spcPts val="320"/>
              </a:spcBef>
              <a:buClr>
                <a:srgbClr val="000000"/>
              </a:buClr>
              <a:buFont typeface="Arial"/>
              <a:buAutoNum type="arabicPeriod"/>
            </a:pPr>
            <a:r>
              <a:rPr lang="en-US" sz="1600" b="0" strike="noStrike" spc="-1">
                <a:solidFill>
                  <a:srgbClr val="000000"/>
                </a:solidFill>
                <a:latin typeface="Arial"/>
              </a:rPr>
              <a:t>Calculate power demand of electric motor, assuming max. electric power (REESS + GenSet)</a:t>
            </a:r>
            <a:endParaRPr lang="en-US" sz="1600" b="0" strike="noStrike" spc="-1">
              <a:latin typeface="Arial"/>
            </a:endParaRPr>
          </a:p>
          <a:p>
            <a:pPr marL="457200" indent="-457200">
              <a:lnSpc>
                <a:spcPct val="100000"/>
              </a:lnSpc>
              <a:spcBef>
                <a:spcPts val="320"/>
              </a:spcBef>
              <a:buClr>
                <a:srgbClr val="000000"/>
              </a:buClr>
              <a:buFont typeface="Arial"/>
              <a:buAutoNum type="arabicPeriod"/>
            </a:pPr>
            <a:r>
              <a:rPr lang="en-US" sz="1600" b="0" strike="noStrike" spc="-1">
                <a:solidFill>
                  <a:srgbClr val="000000"/>
                </a:solidFill>
                <a:latin typeface="Arial"/>
              </a:rPr>
              <a:t>Depending on drivetrain power demand and SoC turn on ICE and operate GenSet either in optimal point or at maximum power (considering de-rating of GenSet)</a:t>
            </a:r>
            <a:endParaRPr lang="en-US" sz="1600" b="0" strike="noStrike" spc="-1">
              <a:latin typeface="Arial"/>
            </a:endParaRPr>
          </a:p>
        </p:txBody>
      </p:sp>
      <p:pic>
        <p:nvPicPr>
          <p:cNvPr id="210" name="Grafik 4"/>
          <p:cNvPicPr/>
          <p:nvPr/>
        </p:nvPicPr>
        <p:blipFill>
          <a:blip r:embed="rId2"/>
          <a:stretch/>
        </p:blipFill>
        <p:spPr>
          <a:xfrm>
            <a:off x="5924880" y="2263320"/>
            <a:ext cx="2942280" cy="3073680"/>
          </a:xfrm>
          <a:prstGeom prst="rect">
            <a:avLst/>
          </a:prstGeom>
          <a:ln w="0">
            <a:noFill/>
          </a:ln>
        </p:spPr>
      </p:pic>
      <p:pic>
        <p:nvPicPr>
          <p:cNvPr id="211" name="Grafik 5"/>
          <p:cNvPicPr/>
          <p:nvPr/>
        </p:nvPicPr>
        <p:blipFill>
          <a:blip r:embed="rId3"/>
          <a:stretch/>
        </p:blipFill>
        <p:spPr>
          <a:xfrm>
            <a:off x="622440" y="3945240"/>
            <a:ext cx="3777480" cy="1712880"/>
          </a:xfrm>
          <a:prstGeom prst="rect">
            <a:avLst/>
          </a:prstGeom>
          <a:ln w="0">
            <a:noFill/>
          </a:ln>
        </p:spPr>
      </p:pic>
      <p:sp>
        <p:nvSpPr>
          <p:cNvPr id="212" name="Textfeld 6"/>
          <p:cNvSpPr/>
          <p:nvPr/>
        </p:nvSpPr>
        <p:spPr>
          <a:xfrm>
            <a:off x="90360" y="5779080"/>
            <a:ext cx="5958360" cy="2574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lnSpc>
                <a:spcPct val="100000"/>
              </a:lnSpc>
              <a:spcBef>
                <a:spcPts val="550"/>
              </a:spcBef>
              <a:buNone/>
            </a:pPr>
            <a:r>
              <a:rPr lang="en-US" sz="1100" b="1" i="1" strike="noStrike" spc="-1">
                <a:solidFill>
                  <a:srgbClr val="808080"/>
                </a:solidFill>
                <a:latin typeface="Arial"/>
                <a:ea typeface="DejaVu Sans"/>
              </a:rPr>
              <a:t>Note: SoC_min and SoC_target are parameters of the SerialHybridStrategy, not REESS</a:t>
            </a:r>
            <a:endParaRPr lang="en-US" sz="1100" b="0" strike="noStrike" spc="-1">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Hybrids: GenSet</a:t>
            </a:r>
            <a:endParaRPr lang="en-US" sz="2400" b="0" strike="noStrike" spc="-1">
              <a:latin typeface="Arial"/>
            </a:endParaRPr>
          </a:p>
        </p:txBody>
      </p:sp>
      <p:sp>
        <p:nvSpPr>
          <p:cNvPr id="214"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When switching on the ICE, it is often not possible to directly operate it in the desired operating point (high ICE speed, too high torque demand due to inertia)</a:t>
            </a:r>
            <a:br>
              <a:rPr sz="2000"/>
            </a:br>
            <a:br>
              <a:rPr sz="2000"/>
            </a:br>
            <a:r>
              <a:rPr lang="en-US" sz="2000" b="0" strike="noStrike" spc="-1">
                <a:solidFill>
                  <a:srgbClr val="000000"/>
                </a:solidFill>
                <a:latin typeface="Wingdings"/>
              </a:rPr>
              <a:t></a:t>
            </a:r>
            <a:r>
              <a:rPr lang="en-US" sz="2000" b="0" strike="noStrike" spc="-1">
                <a:solidFill>
                  <a:srgbClr val="000000"/>
                </a:solidFill>
                <a:latin typeface="Arial"/>
              </a:rPr>
              <a:t> Ramp-up ICE with electric machine switched off (usually 1 or 2 </a:t>
            </a:r>
            <a:br>
              <a:rPr sz="2000"/>
            </a:br>
            <a:r>
              <a:rPr lang="en-US" sz="2000" b="0" strike="noStrike" spc="-1">
                <a:solidFill>
                  <a:srgbClr val="000000"/>
                </a:solidFill>
                <a:latin typeface="Arial"/>
              </a:rPr>
              <a:t>     simulation steps) and then turn on the electric machine</a:t>
            </a:r>
            <a:endParaRPr lang="en-US" sz="2000" b="0" strike="noStrike" spc="-1">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 Strategy Parameters</a:t>
            </a:r>
            <a:endParaRPr lang="en-US" sz="2400" b="0" strike="noStrike" spc="-1">
              <a:latin typeface="Arial"/>
            </a:endParaRPr>
          </a:p>
        </p:txBody>
      </p:sp>
      <p:sp>
        <p:nvSpPr>
          <p:cNvPr id="216"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MinSoC</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TargetSoC</a:t>
            </a:r>
            <a:endParaRPr lang="en-US" sz="2000" b="0" strike="noStrike" spc="-1">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7" name="Inhaltsplatzhalter 4"/>
          <p:cNvPicPr/>
          <p:nvPr/>
        </p:nvPicPr>
        <p:blipFill>
          <a:blip r:embed="rId2"/>
          <a:stretch/>
        </p:blipFill>
        <p:spPr>
          <a:xfrm>
            <a:off x="467640" y="1124640"/>
            <a:ext cx="7625520" cy="4542840"/>
          </a:xfrm>
          <a:prstGeom prst="rect">
            <a:avLst/>
          </a:prstGeom>
          <a:ln w="0">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GB" sz="2400" b="1" strike="noStrike" spc="-1">
                <a:solidFill>
                  <a:srgbClr val="990000"/>
                </a:solidFill>
                <a:latin typeface="Arial"/>
              </a:rPr>
              <a:t>EM: overload buffer calculated from both voltage levels</a:t>
            </a:r>
            <a:endParaRPr lang="en-US" sz="2400" b="0" strike="noStrike" spc="-1">
              <a:latin typeface="Arial"/>
            </a:endParaRPr>
          </a:p>
        </p:txBody>
      </p:sp>
      <p:sp>
        <p:nvSpPr>
          <p:cNvPr id="219"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pPr>
            <a:r>
              <a:rPr lang="en-US" sz="1600" b="0" strike="noStrike" spc="-1">
                <a:solidFill>
                  <a:srgbClr val="000000"/>
                </a:solidFill>
                <a:latin typeface="Arial"/>
              </a:rPr>
              <a:t>Input parameters of EM measured for min and max voltage level</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Overload data</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Continuous Torque</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Overload Torque + Overload Duration</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Maximum and Minimum torque limitations</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Electric power map</a:t>
            </a:r>
            <a:endParaRPr lang="en-US" sz="1600" b="0" strike="noStrike" spc="-1">
              <a:latin typeface="Arial"/>
            </a:endParaRPr>
          </a:p>
          <a:p>
            <a:pPr marL="343080" indent="-343080">
              <a:lnSpc>
                <a:spcPct val="100000"/>
              </a:lnSpc>
              <a:spcBef>
                <a:spcPts val="320"/>
              </a:spcBef>
              <a:buClr>
                <a:srgbClr val="000000"/>
              </a:buClr>
              <a:buFont typeface="Symbol"/>
              <a:buChar char=""/>
            </a:pPr>
            <a:r>
              <a:rPr lang="en-US" sz="1600" b="0" strike="noStrike" spc="-1">
                <a:solidFill>
                  <a:srgbClr val="000000"/>
                </a:solidFill>
                <a:latin typeface="Arial"/>
              </a:rPr>
              <a:t>Implementation in software:</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From overload data above, thermal buffer is calculated for each voltage level separately (acc. to equations in VECTO user manual						    )</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Applied values for simulation run are calculated by linear interpolation between two voltage levels, where average of usable SOC range is used</a:t>
            </a:r>
            <a:endParaRPr lang="en-US" sz="16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Overload buffer</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Maximum and Minimum torque limitations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Continuous Torque</a:t>
            </a:r>
            <a:endParaRPr lang="en-US" sz="1400" b="0" strike="noStrike" spc="-1">
              <a:latin typeface="Arial"/>
            </a:endParaRPr>
          </a:p>
        </p:txBody>
      </p:sp>
      <p:pic>
        <p:nvPicPr>
          <p:cNvPr id="220" name="Grafik 5"/>
          <p:cNvPicPr/>
          <p:nvPr/>
        </p:nvPicPr>
        <p:blipFill>
          <a:blip r:embed="rId2"/>
          <a:stretch/>
        </p:blipFill>
        <p:spPr>
          <a:xfrm>
            <a:off x="6131160" y="4268520"/>
            <a:ext cx="2447280" cy="278280"/>
          </a:xfrm>
          <a:prstGeom prst="rect">
            <a:avLst/>
          </a:prstGeom>
          <a:ln w="0">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Inhaltsplatzhalter 2"/>
          <p:cNvSpPr/>
          <p:nvPr/>
        </p:nvSpPr>
        <p:spPr>
          <a:xfrm>
            <a:off x="622440" y="1990440"/>
            <a:ext cx="4746960" cy="344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266760" indent="-266760">
              <a:lnSpc>
                <a:spcPct val="100000"/>
              </a:lnSpc>
              <a:spcBef>
                <a:spcPts val="360"/>
              </a:spcBef>
              <a:buClr>
                <a:srgbClr val="F70146"/>
              </a:buClr>
              <a:buFont typeface="Wingdings" charset="2"/>
              <a:buChar char=""/>
            </a:pPr>
            <a:r>
              <a:rPr lang="en-US" sz="1800" b="1" strike="noStrike" spc="-1">
                <a:solidFill>
                  <a:srgbClr val="000000"/>
                </a:solidFill>
                <a:latin typeface="Arial"/>
                <a:ea typeface="DejaVu Sans"/>
              </a:rPr>
              <a:t>Ref. to ticket nr. 1478+1479</a:t>
            </a:r>
            <a:endParaRPr lang="en-US" sz="1800" b="0" strike="noStrike" spc="-1">
              <a:latin typeface="Arial"/>
            </a:endParaRPr>
          </a:p>
          <a:p>
            <a:pPr marL="266760" indent="-266760">
              <a:lnSpc>
                <a:spcPct val="100000"/>
              </a:lnSpc>
              <a:spcBef>
                <a:spcPts val="360"/>
              </a:spcBef>
              <a:buClr>
                <a:srgbClr val="F70146"/>
              </a:buClr>
              <a:buFont typeface="Wingdings" charset="2"/>
              <a:buChar char=""/>
            </a:pPr>
            <a:r>
              <a:rPr lang="en-US" sz="1800" b="1" strike="noStrike" spc="-1">
                <a:solidFill>
                  <a:srgbClr val="000000"/>
                </a:solidFill>
                <a:latin typeface="Arial"/>
                <a:ea typeface="DejaVu Sans"/>
              </a:rPr>
              <a:t>Only relevant for P1 + P2 HEV where EM is located upstream of transmission</a:t>
            </a:r>
            <a:endParaRPr lang="en-US" sz="1800" b="0" strike="noStrike" spc="-1">
              <a:latin typeface="Arial"/>
            </a:endParaRPr>
          </a:p>
          <a:p>
            <a:pPr marL="266760" indent="-266760">
              <a:lnSpc>
                <a:spcPct val="100000"/>
              </a:lnSpc>
              <a:spcBef>
                <a:spcPts val="360"/>
              </a:spcBef>
              <a:buClr>
                <a:srgbClr val="F70146"/>
              </a:buClr>
              <a:buFont typeface="Wingdings" charset="2"/>
              <a:buChar char=""/>
            </a:pPr>
            <a:r>
              <a:rPr lang="en-US" sz="1800" b="1" strike="noStrike" spc="-1">
                <a:solidFill>
                  <a:srgbClr val="000000"/>
                </a:solidFill>
                <a:latin typeface="Arial"/>
                <a:ea typeface="DejaVu Sans"/>
              </a:rPr>
              <a:t>Starting Point: ICE FLD</a:t>
            </a:r>
            <a:endParaRPr lang="en-US" sz="1800" b="0" strike="noStrike" spc="-1">
              <a:latin typeface="Arial"/>
            </a:endParaRPr>
          </a:p>
          <a:p>
            <a:pPr marL="906480" lvl="1" indent="-457200">
              <a:lnSpc>
                <a:spcPct val="100000"/>
              </a:lnSpc>
              <a:spcBef>
                <a:spcPts val="360"/>
              </a:spcBef>
              <a:buClr>
                <a:srgbClr val="000000"/>
              </a:buClr>
              <a:buFont typeface="Arial"/>
              <a:buAutoNum type="arabicPeriod"/>
            </a:pPr>
            <a:r>
              <a:rPr lang="en-US" sz="1800" b="1" strike="noStrike" spc="-1">
                <a:solidFill>
                  <a:srgbClr val="000000"/>
                </a:solidFill>
                <a:latin typeface="Arial"/>
                <a:ea typeface="DejaVu Sans"/>
              </a:rPr>
              <a:t>Crop with max ICE torque declared at vehicle level (per gear) </a:t>
            </a:r>
            <a:br>
              <a:rPr sz="1800"/>
            </a:br>
            <a:r>
              <a:rPr lang="en-US" sz="1200" b="1" i="1" strike="noStrike" spc="-1">
                <a:solidFill>
                  <a:srgbClr val="376092"/>
                </a:solidFill>
                <a:latin typeface="Arial"/>
                <a:ea typeface="DejaVu Sans"/>
              </a:rPr>
              <a:t>‘Vehicle/EngineTorqueLimits’ per gear – P196 + P197</a:t>
            </a:r>
            <a:endParaRPr lang="en-US" sz="1200" b="0" strike="noStrike" spc="-1">
              <a:latin typeface="Arial"/>
            </a:endParaRPr>
          </a:p>
          <a:p>
            <a:pPr marL="906480" lvl="1" indent="-457200">
              <a:lnSpc>
                <a:spcPct val="100000"/>
              </a:lnSpc>
              <a:spcBef>
                <a:spcPts val="360"/>
              </a:spcBef>
              <a:buClr>
                <a:srgbClr val="000000"/>
              </a:buClr>
              <a:buFont typeface="Arial"/>
              <a:buAutoNum type="arabicPeriod"/>
            </a:pPr>
            <a:r>
              <a:rPr lang="en-US" sz="1800" b="1" strike="noStrike" spc="-1">
                <a:solidFill>
                  <a:srgbClr val="000000"/>
                </a:solidFill>
                <a:latin typeface="Arial"/>
                <a:ea typeface="DejaVu Sans"/>
              </a:rPr>
              <a:t>Add boosting torque</a:t>
            </a:r>
            <a:br>
              <a:rPr sz="1800"/>
            </a:br>
            <a:r>
              <a:rPr lang="en-US" sz="1200" b="1" i="1" strike="noStrike" spc="-1">
                <a:solidFill>
                  <a:srgbClr val="376092"/>
                </a:solidFill>
                <a:latin typeface="Arial"/>
                <a:ea typeface="DejaVu Sans"/>
              </a:rPr>
              <a:t>Boosting limitations for parallel HEV – P415 + P416</a:t>
            </a:r>
            <a:endParaRPr lang="en-US" sz="1200" b="0" strike="noStrike" spc="-1">
              <a:latin typeface="Arial"/>
            </a:endParaRPr>
          </a:p>
          <a:p>
            <a:pPr marL="906480" lvl="1" indent="-457200">
              <a:lnSpc>
                <a:spcPct val="100000"/>
              </a:lnSpc>
              <a:spcBef>
                <a:spcPts val="360"/>
              </a:spcBef>
              <a:buClr>
                <a:srgbClr val="000000"/>
              </a:buClr>
              <a:buFont typeface="Arial"/>
              <a:buAutoNum type="arabicPeriod"/>
            </a:pPr>
            <a:r>
              <a:rPr lang="en-US" sz="1800" b="1" strike="noStrike" spc="-1">
                <a:solidFill>
                  <a:srgbClr val="000000"/>
                </a:solidFill>
                <a:latin typeface="Arial"/>
                <a:ea typeface="DejaVu Sans"/>
              </a:rPr>
              <a:t>In case of P1 or P2: crop with gearbox max input torque (per gear)  </a:t>
            </a:r>
            <a:r>
              <a:rPr lang="en-US" sz="1200" b="1" i="1" strike="noStrike" spc="-1">
                <a:solidFill>
                  <a:srgbClr val="376092"/>
                </a:solidFill>
                <a:latin typeface="Arial"/>
                <a:ea typeface="DejaVu Sans"/>
              </a:rPr>
              <a:t>MaxTorque – P157</a:t>
            </a:r>
            <a:endParaRPr lang="en-US" sz="1200" b="0" strike="noStrike" spc="-1">
              <a:latin typeface="Arial"/>
            </a:endParaRPr>
          </a:p>
          <a:p>
            <a:pPr marL="357120" indent="-357120">
              <a:lnSpc>
                <a:spcPct val="100000"/>
              </a:lnSpc>
              <a:spcBef>
                <a:spcPts val="360"/>
              </a:spcBef>
              <a:buNone/>
              <a:tabLst>
                <a:tab pos="0" algn="l"/>
              </a:tabLst>
            </a:pPr>
            <a:r>
              <a:rPr lang="en-US" sz="1800" b="1" strike="noStrike" spc="-1">
                <a:solidFill>
                  <a:srgbClr val="000000"/>
                </a:solidFill>
                <a:latin typeface="Wingdings"/>
                <a:ea typeface="DejaVu Sans"/>
              </a:rPr>
              <a:t></a:t>
            </a:r>
            <a:r>
              <a:rPr lang="en-US" sz="1800" b="1" strike="noStrike" spc="-1">
                <a:solidFill>
                  <a:srgbClr val="000000"/>
                </a:solidFill>
                <a:latin typeface="Arial"/>
                <a:ea typeface="DejaVu Sans"/>
              </a:rPr>
              <a:t> Torque limits per gear applied by HybridStrategy</a:t>
            </a:r>
            <a:endParaRPr lang="en-US" sz="1800" b="0" strike="noStrike" spc="-1">
              <a:latin typeface="Arial"/>
            </a:endParaRPr>
          </a:p>
        </p:txBody>
      </p:sp>
      <p:sp>
        <p:nvSpPr>
          <p:cNvPr id="222" name="Textfeld 6"/>
          <p:cNvSpPr/>
          <p:nvPr/>
        </p:nvSpPr>
        <p:spPr>
          <a:xfrm>
            <a:off x="5237640" y="1922040"/>
            <a:ext cx="3517920" cy="257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50"/>
              </a:spcBef>
              <a:buNone/>
            </a:pPr>
            <a:r>
              <a:rPr lang="en-US" sz="1100" b="1" strike="noStrike" spc="-1">
                <a:solidFill>
                  <a:srgbClr val="000000"/>
                </a:solidFill>
                <a:latin typeface="Arial"/>
                <a:ea typeface="DejaVu Sans"/>
              </a:rPr>
              <a:t>Example for P2</a:t>
            </a:r>
            <a:endParaRPr lang="en-US" sz="1100" b="0" strike="noStrike" spc="-1">
              <a:latin typeface="Arial"/>
            </a:endParaRPr>
          </a:p>
        </p:txBody>
      </p:sp>
      <p:pic>
        <p:nvPicPr>
          <p:cNvPr id="223" name="Grafik 7"/>
          <p:cNvPicPr/>
          <p:nvPr/>
        </p:nvPicPr>
        <p:blipFill>
          <a:blip r:embed="rId2"/>
          <a:stretch/>
        </p:blipFill>
        <p:spPr>
          <a:xfrm>
            <a:off x="5220360" y="2088000"/>
            <a:ext cx="3813840" cy="2790720"/>
          </a:xfrm>
          <a:prstGeom prst="rect">
            <a:avLst/>
          </a:prstGeom>
          <a:ln w="0">
            <a:noFill/>
          </a:ln>
        </p:spPr>
      </p:pic>
      <p:pic>
        <p:nvPicPr>
          <p:cNvPr id="224" name="Grafik 8"/>
          <p:cNvPicPr/>
          <p:nvPr/>
        </p:nvPicPr>
        <p:blipFill>
          <a:blip r:embed="rId3"/>
          <a:stretch/>
        </p:blipFill>
        <p:spPr>
          <a:xfrm>
            <a:off x="5781960" y="4757760"/>
            <a:ext cx="2815200" cy="1215720"/>
          </a:xfrm>
          <a:prstGeom prst="rect">
            <a:avLst/>
          </a:prstGeom>
          <a:ln w="0">
            <a:noFill/>
          </a:ln>
        </p:spPr>
      </p:pic>
      <p:sp>
        <p:nvSpPr>
          <p:cNvPr id="225"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GB" sz="2400" b="1" strike="noStrike" spc="-1">
                <a:solidFill>
                  <a:srgbClr val="990000"/>
                </a:solidFill>
                <a:latin typeface="Arial"/>
              </a:rPr>
              <a:t>Consider gearbox MaxTorque limits for HEV</a:t>
            </a:r>
            <a:endParaRPr lang="en-US" sz="2400" b="0" strike="noStrike" spc="-1">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0.7.8.xxx Development Version</a:t>
            </a:r>
            <a:br>
              <a:rPr sz="2400"/>
            </a:br>
            <a:r>
              <a:rPr lang="en-US" sz="1600" b="1" strike="noStrike" spc="-1">
                <a:solidFill>
                  <a:srgbClr val="990000"/>
                </a:solidFill>
                <a:latin typeface="Arial"/>
              </a:rPr>
              <a:t>April 2022</a:t>
            </a:r>
            <a:endParaRPr lang="en-US" sz="1600" b="0" strike="noStrike" spc="-1">
              <a:latin typeface="Arial"/>
            </a:endParaRPr>
          </a:p>
        </p:txBody>
      </p:sp>
      <p:sp>
        <p:nvSpPr>
          <p:cNvPr id="227"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[VECTO-1541] - Implement E2/S2 with APT-S/P</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[VECTO-1549] - Error in gearshift behavior for AT transmissions when braking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[VECTO-1466] - 076.2451 E2 significant increase of calculation time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[VECTO-1479] - Maximum gearbox torque not respected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[VECTO-1519] - 077.2457 E2 Gear oscillation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[VECTO-1520] - 077.2457 P2 Crashing at takeoff</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[VECTO-1531] - ElectricMotor Lookup Maximum Torque: Object reference not set to an instance of an object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[VECTO-1532] - 077.2547 P2 crashing with 600 RPM idling speed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[VECTO-1539] - Engine speed ramping up before vehicle halt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[VECTO-1551] - AT-P Transmission Bus Application: Error during braking phase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[VECTO-1559] - battery internal resistance curve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[VECTO-1411] - Switching to new .NET version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[VECTO-1456] - Cycle Cache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[VECTO-1478] - Torque limits only apply to ICE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[VECTO-1521] - Updating tyre dimensions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[VECTO-1522] - VECTO warning if there are more steered axles than steering pump technologies</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0.7.8.xxx Development Version</a:t>
            </a:r>
            <a:br>
              <a:rPr sz="2400"/>
            </a:br>
            <a:r>
              <a:rPr lang="en-US" sz="1600" b="1" strike="noStrike" spc="-1">
                <a:solidFill>
                  <a:srgbClr val="990000"/>
                </a:solidFill>
                <a:latin typeface="Arial"/>
              </a:rPr>
              <a:t>April 2022</a:t>
            </a:r>
            <a:endParaRPr lang="en-US" sz="1600" b="0" strike="noStrike" spc="-1">
              <a:latin typeface="Arial"/>
            </a:endParaRPr>
          </a:p>
        </p:txBody>
      </p:sp>
      <p:sp>
        <p:nvSpPr>
          <p:cNvPr id="229"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[VECTO-1525] - PCC Preprocessing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[VECTO-1533] - Multi-Target Compilation and .NET Upgrade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[VECTO-1538] - Transmission ratios limitation of input value to &lt;=25</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[VECTO-1540] - Retarder Types AxleGearInputRetarder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[VECTO-1543] - Calculation of EM Overload buffer, and continuous torque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[VECTO-1545] - WHR electric - connect to REESS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[VECTO-1548] - Update Coach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[VECTO-1560] - update toolchain for generating usermanual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[VECTO-1562] - Adapting WHTC Correction Factor weighting for LH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[VECTO-1563] - Electric Motor: Calculation of Overload Buffer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[VECTO-1564] - XML Schema adaptations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[VECTO-1565] - VECTO warning if there are more steered axles than steering pump technologies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[VECTO-1569] - Bugfix: Extrapolation warning in PEV shift strategy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[VECTO-1573] - Update LH Cycle and WHTC correction factor weighting</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31"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Changes/Bugfixes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APT-N Gearbox + shift strategy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EM model (drag curve independent of voltage level)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EM electric power map interpolation method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user 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Update/bugfixes PEV shift strategy (influence of drag curve, error in calculation of costs)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calculation E_EM_off_loss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generic shift lines for PEV E2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post-processing fuel consumption correction bus auxiliaries (in case of no alternator)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PCC for xEV</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320"/>
              </a:spcBef>
              <a:buNone/>
              <a:tabLst>
                <a:tab pos="1886040" algn="l"/>
              </a:tabLst>
            </a:pPr>
            <a:endParaRPr lang="en-US" sz="16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33"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General comments (1/x)</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All topics in this section will also be explained in the next xEV workshop #9 on 11.01.2022</a:t>
            </a:r>
            <a:br>
              <a:rPr sz="1400"/>
            </a:br>
            <a:r>
              <a:rPr lang="en-US" sz="1400" b="0" strike="noStrike" spc="-1">
                <a:solidFill>
                  <a:srgbClr val="000000"/>
                </a:solidFill>
                <a:latin typeface="Arial"/>
              </a:rPr>
              <a:t>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Also topics for testing and feedback will be discussed in this workshop.</a:t>
            </a:r>
            <a:br>
              <a:rPr sz="1400"/>
            </a:br>
            <a:r>
              <a:rPr lang="en-US" sz="1400" b="0" strike="noStrike" spc="-1">
                <a:solidFill>
                  <a:srgbClr val="000000"/>
                </a:solidFill>
                <a:latin typeface="Arial"/>
              </a:rPr>
              <a:t>Until then, no feedback on the distributed version is expected.</a:t>
            </a:r>
            <a:br>
              <a:rPr sz="1400"/>
            </a:br>
            <a:r>
              <a:rPr lang="en-US" sz="1400" b="0" strike="noStrike" spc="-1">
                <a:solidFill>
                  <a:srgbClr val="000000"/>
                </a:solidFill>
                <a:latin typeface="Arial"/>
              </a:rPr>
              <a:t>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Calculation of overload buffer for EM</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Overload buffer is currently calculated with data for lower voltage level only</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Update of calculation method based on two voltage levels will be implemented once all details reg. the method are clarified</a:t>
            </a:r>
            <a:br>
              <a:rPr sz="1000"/>
            </a:br>
            <a:r>
              <a:rPr lang="en-US" sz="1000" b="0" strike="noStrike" spc="-1">
                <a:solidFill>
                  <a:srgbClr val="000000"/>
                </a:solidFill>
                <a:latin typeface="Arial"/>
              </a:rPr>
              <a:t> </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Propulsion Torque Limits (Vehicle Boosting Limits)</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In the rotational speed range from 0 to engine idling speed the full load torque available from the ICE equals the ICE full load torque at engine idling speed due to the modelling of the clutch behaviour during vehicle starts.</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Any arbitrary number of values may be declared in between the range of zero and the maximum rotational speed of the ICE full load curve.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Declared values lower than zero are not allowed for the additional torque.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For detailed explanation refer to user manual (“Vehicle Editor – Torque Limits Tab”, “Torque and Speed Limitations”)</a:t>
            </a:r>
            <a:br>
              <a:rPr sz="1000"/>
            </a:br>
            <a:r>
              <a:rPr lang="en-US" sz="1000" b="0" strike="noStrike" spc="-1">
                <a:solidFill>
                  <a:srgbClr val="000000"/>
                </a:solidFill>
                <a:latin typeface="Arial"/>
              </a:rPr>
              <a:t> </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Pulse-duration dependency of internal resistance of battery</a:t>
            </a:r>
            <a:endParaRPr lang="en-US" sz="1400" b="0" strike="noStrike" spc="-1">
              <a:latin typeface="Arial"/>
            </a:endParaRPr>
          </a:p>
          <a:p>
            <a:pPr marL="1143000" lvl="2" indent="-228600">
              <a:lnSpc>
                <a:spcPct val="100000"/>
              </a:lnSpc>
              <a:spcBef>
                <a:spcPts val="281"/>
              </a:spcBef>
              <a:buClr>
                <a:srgbClr val="000000"/>
              </a:buClr>
              <a:buFont typeface="Symbol"/>
              <a:buChar char=""/>
              <a:tabLst>
                <a:tab pos="1886040" algn="l"/>
              </a:tabLst>
            </a:pPr>
            <a:r>
              <a:rPr lang="en-US" sz="1000" b="0" strike="noStrike" spc="-1">
                <a:solidFill>
                  <a:srgbClr val="000000"/>
                </a:solidFill>
                <a:latin typeface="Arial"/>
              </a:rPr>
              <a:t>For detailed explanation refer to user manual</a:t>
            </a:r>
            <a:br>
              <a:rPr sz="1400"/>
            </a:br>
            <a:r>
              <a:rPr lang="en-US" sz="1400" b="0" strike="noStrike" spc="-1">
                <a:solidFill>
                  <a:srgbClr val="000000"/>
                </a:solidFill>
                <a:latin typeface="Arial"/>
              </a:rPr>
              <a:t>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HEV operation strategy method for declaration mode</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Method explained in “User Manual/HEV_DECL_method_20211221.pptx” distributed together with VECTO archive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Generic values defined per (vehicle group, mission, payload and usable SOC range) in “User Manual/HEV_Strategy_Parameters.xlsx” distributed together with VECTO archive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For further details refer to distributed material/recording from xEV workshop #8</a:t>
            </a:r>
            <a:endParaRPr lang="en-US" sz="10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35"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General comments (2/x)</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Auxiliaries for PEV</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Electric power demand of auxiliaries for both, lorries and buses, need to be parameterized via the “BusAux” GUI window</a:t>
            </a:r>
            <a:br>
              <a:rPr sz="1000"/>
            </a:br>
            <a:br>
              <a:rPr sz="1000"/>
            </a:br>
            <a:br>
              <a:rPr sz="1000"/>
            </a:br>
            <a:br>
              <a:rPr sz="1000"/>
            </a:br>
            <a:r>
              <a:rPr lang="en-US" sz="1000" b="0" strike="noStrike" spc="-1">
                <a:solidFill>
                  <a:srgbClr val="000000"/>
                </a:solidFill>
                <a:latin typeface="Arial"/>
              </a:rPr>
              <a:t> </a:t>
            </a:r>
            <a:endParaRPr lang="en-US" sz="1000" b="0" strike="noStrike" spc="-1">
              <a:latin typeface="Arial"/>
            </a:endParaRPr>
          </a:p>
          <a:p>
            <a:pPr>
              <a:lnSpc>
                <a:spcPct val="100000"/>
              </a:lnSpc>
              <a:buNone/>
              <a:tabLst>
                <a:tab pos="1886040" algn="l"/>
              </a:tabLst>
            </a:pP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Gearshift model for PEV</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Details explained on next slides</a:t>
            </a:r>
            <a:endParaRPr lang="en-US" sz="1000" b="0" strike="noStrike" spc="-1">
              <a:latin typeface="Arial"/>
            </a:endParaRPr>
          </a:p>
        </p:txBody>
      </p:sp>
      <p:grpSp>
        <p:nvGrpSpPr>
          <p:cNvPr id="236" name="Gruppieren 12"/>
          <p:cNvGrpSpPr/>
          <p:nvPr/>
        </p:nvGrpSpPr>
        <p:grpSpPr>
          <a:xfrm>
            <a:off x="1047600" y="2188080"/>
            <a:ext cx="7963560" cy="2519280"/>
            <a:chOff x="1047600" y="2188080"/>
            <a:chExt cx="7963560" cy="2519280"/>
          </a:xfrm>
        </p:grpSpPr>
        <p:pic>
          <p:nvPicPr>
            <p:cNvPr id="237" name="Grafik 5"/>
            <p:cNvPicPr/>
            <p:nvPr/>
          </p:nvPicPr>
          <p:blipFill>
            <a:blip r:embed="rId2"/>
            <a:srcRect r="53544"/>
            <a:stretch/>
          </p:blipFill>
          <p:spPr>
            <a:xfrm>
              <a:off x="5004000" y="2188080"/>
              <a:ext cx="2510280" cy="2519280"/>
            </a:xfrm>
            <a:prstGeom prst="rect">
              <a:avLst/>
            </a:prstGeom>
            <a:ln w="0">
              <a:noFill/>
            </a:ln>
          </p:spPr>
        </p:pic>
        <p:grpSp>
          <p:nvGrpSpPr>
            <p:cNvPr id="238" name="Gruppieren 7"/>
            <p:cNvGrpSpPr/>
            <p:nvPr/>
          </p:nvGrpSpPr>
          <p:grpSpPr>
            <a:xfrm>
              <a:off x="1047600" y="2188080"/>
              <a:ext cx="3735000" cy="2519280"/>
              <a:chOff x="1047600" y="2188080"/>
              <a:chExt cx="3735000" cy="2519280"/>
            </a:xfrm>
          </p:grpSpPr>
          <p:pic>
            <p:nvPicPr>
              <p:cNvPr id="239" name="Grafik 4"/>
              <p:cNvPicPr/>
              <p:nvPr/>
            </p:nvPicPr>
            <p:blipFill>
              <a:blip r:embed="rId3"/>
              <a:stretch/>
            </p:blipFill>
            <p:spPr>
              <a:xfrm>
                <a:off x="1187640" y="2188080"/>
                <a:ext cx="3594960" cy="2519280"/>
              </a:xfrm>
              <a:prstGeom prst="rect">
                <a:avLst/>
              </a:prstGeom>
              <a:ln w="0">
                <a:noFill/>
              </a:ln>
            </p:spPr>
          </p:pic>
          <p:sp>
            <p:nvSpPr>
              <p:cNvPr id="240" name="Ellipse 6"/>
              <p:cNvSpPr/>
              <p:nvPr/>
            </p:nvSpPr>
            <p:spPr>
              <a:xfrm>
                <a:off x="1047600" y="3812760"/>
                <a:ext cx="899280" cy="287280"/>
              </a:xfrm>
              <a:prstGeom prst="ellipse">
                <a:avLst/>
              </a:prstGeom>
              <a:noFill/>
              <a:ln w="19050">
                <a:solidFill>
                  <a:srgbClr val="FF0000"/>
                </a:solidFill>
                <a:round/>
              </a:ln>
            </p:spPr>
            <p:style>
              <a:lnRef idx="0">
                <a:scrgbClr r="0" g="0" b="0"/>
              </a:lnRef>
              <a:fillRef idx="0">
                <a:scrgbClr r="0" g="0" b="0"/>
              </a:fillRef>
              <a:effectRef idx="0">
                <a:scrgbClr r="0" g="0" b="0"/>
              </a:effectRef>
              <a:fontRef idx="minor"/>
            </p:style>
          </p:sp>
        </p:grpSp>
        <p:sp>
          <p:nvSpPr>
            <p:cNvPr id="241" name="Legende mit Linie 1 10"/>
            <p:cNvSpPr/>
            <p:nvPr/>
          </p:nvSpPr>
          <p:spPr>
            <a:xfrm>
              <a:off x="7566480" y="2836080"/>
              <a:ext cx="1444680" cy="337680"/>
            </a:xfrm>
            <a:prstGeom prst="borderCallout1">
              <a:avLst>
                <a:gd name="adj1" fmla="val 18750"/>
                <a:gd name="adj2" fmla="val -8333"/>
                <a:gd name="adj3" fmla="val 70225"/>
                <a:gd name="adj4" fmla="val -65838"/>
              </a:avLst>
            </a:prstGeom>
            <a:noFill/>
            <a:ln w="19050">
              <a:solidFill>
                <a:srgbClr val="FF0000"/>
              </a:solidFill>
              <a:round/>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spcBef>
                  <a:spcPts val="329"/>
                </a:spcBef>
                <a:buNone/>
                <a:tabLst>
                  <a:tab pos="0" algn="l"/>
                </a:tabLst>
              </a:pPr>
              <a:r>
                <a:rPr lang="de-DE" sz="1100" b="0" strike="noStrike" spc="-1">
                  <a:solidFill>
                    <a:srgbClr val="000000"/>
                  </a:solidFill>
                  <a:latin typeface="Arial"/>
                  <a:ea typeface="DejaVu Sans"/>
                </a:rPr>
                <a:t>Demand during vehicle driving</a:t>
              </a:r>
              <a:endParaRPr lang="en-US" sz="1100" b="0" strike="noStrike" spc="-1">
                <a:latin typeface="Arial"/>
              </a:endParaRPr>
            </a:p>
          </p:txBody>
        </p:sp>
        <p:sp>
          <p:nvSpPr>
            <p:cNvPr id="242" name="Legende mit Linie 1 11"/>
            <p:cNvSpPr/>
            <p:nvPr/>
          </p:nvSpPr>
          <p:spPr>
            <a:xfrm>
              <a:off x="7566480" y="3340080"/>
              <a:ext cx="1444680" cy="337680"/>
            </a:xfrm>
            <a:prstGeom prst="borderCallout1">
              <a:avLst>
                <a:gd name="adj1" fmla="val 18750"/>
                <a:gd name="adj2" fmla="val -8333"/>
                <a:gd name="adj3" fmla="val -28416"/>
                <a:gd name="adj4" fmla="val -65839"/>
              </a:avLst>
            </a:prstGeom>
            <a:noFill/>
            <a:ln w="19050">
              <a:solidFill>
                <a:srgbClr val="FF0000"/>
              </a:solidFill>
              <a:round/>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spcBef>
                  <a:spcPts val="329"/>
                </a:spcBef>
                <a:buNone/>
                <a:tabLst>
                  <a:tab pos="0" algn="l"/>
                </a:tabLst>
              </a:pPr>
              <a:r>
                <a:rPr lang="de-DE" sz="1100" b="0" strike="noStrike" spc="-1">
                  <a:solidFill>
                    <a:srgbClr val="000000"/>
                  </a:solidFill>
                  <a:latin typeface="Arial"/>
                  <a:ea typeface="DejaVu Sans"/>
                </a:rPr>
                <a:t>Demand during vehicle standstill</a:t>
              </a:r>
              <a:endParaRPr lang="en-US" sz="1100" b="0" strike="noStrike" spc="-1">
                <a:latin typeface="Arial"/>
              </a:endParaRPr>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3" name="Grafik 14"/>
          <p:cNvPicPr/>
          <p:nvPr/>
        </p:nvPicPr>
        <p:blipFill>
          <a:blip r:embed="rId2"/>
          <a:stretch/>
        </p:blipFill>
        <p:spPr>
          <a:xfrm>
            <a:off x="323640" y="1743840"/>
            <a:ext cx="5759280" cy="4748040"/>
          </a:xfrm>
          <a:prstGeom prst="rect">
            <a:avLst/>
          </a:prstGeom>
          <a:ln w="0">
            <a:noFill/>
          </a:ln>
        </p:spPr>
      </p:pic>
      <p:sp>
        <p:nvSpPr>
          <p:cNvPr id="24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45"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Gearshift model for PEV (1/x)</a:t>
            </a:r>
            <a:endParaRPr lang="en-US" sz="1600" b="0" strike="noStrike" spc="-1">
              <a:latin typeface="Arial"/>
            </a:endParaRPr>
          </a:p>
        </p:txBody>
      </p:sp>
      <p:sp>
        <p:nvSpPr>
          <p:cNvPr id="246" name="Textfeld 12"/>
          <p:cNvSpPr/>
          <p:nvPr/>
        </p:nvSpPr>
        <p:spPr>
          <a:xfrm>
            <a:off x="6156000" y="1524960"/>
            <a:ext cx="2987280" cy="4677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Basics:</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Downshift for operation point left of green dot-dashed downshift lines</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Upshift for operation point right of green dot-dashed upshift line</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EffShift method applied for operation point between downshift and upshift lines (refer to user manual) </a:t>
            </a:r>
            <a:endParaRPr lang="en-US" sz="1000" b="0" strike="noStrike" spc="-1">
              <a:latin typeface="Arial"/>
            </a:endParaRPr>
          </a:p>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Driving:</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Maximum downshift speed always located at </a:t>
            </a:r>
            <a:r>
              <a:rPr lang="en-US" sz="1000" b="1" strike="noStrike" spc="-1">
                <a:solidFill>
                  <a:srgbClr val="000000"/>
                </a:solidFill>
                <a:latin typeface="Arial"/>
                <a:ea typeface="DejaVu Sans"/>
              </a:rPr>
              <a:t>n_P80low</a:t>
            </a:r>
            <a:r>
              <a:rPr lang="en-US" sz="1000" b="0" strike="noStrike" spc="-1">
                <a:solidFill>
                  <a:srgbClr val="000000"/>
                </a:solidFill>
                <a:latin typeface="Arial"/>
                <a:ea typeface="DejaVu Sans"/>
              </a:rPr>
              <a:t> (where 80% of max power is available)</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For EM in de-rating </a:t>
            </a:r>
            <a:r>
              <a:rPr lang="en-US" sz="1000" b="1" strike="noStrike" spc="-1">
                <a:solidFill>
                  <a:srgbClr val="000000"/>
                </a:solidFill>
                <a:latin typeface="Arial"/>
                <a:ea typeface="DejaVu Sans"/>
              </a:rPr>
              <a:t>n_P80low</a:t>
            </a:r>
            <a:r>
              <a:rPr lang="en-US" sz="1000" b="0" strike="noStrike" spc="-1">
                <a:solidFill>
                  <a:srgbClr val="000000"/>
                </a:solidFill>
                <a:latin typeface="Arial"/>
                <a:ea typeface="DejaVu Sans"/>
              </a:rPr>
              <a:t> is calculated from the de-rated power curve</a:t>
            </a:r>
            <a:endParaRPr lang="en-US" sz="1000" b="0" strike="noStrike" spc="-1">
              <a:latin typeface="Arial"/>
            </a:endParaRPr>
          </a:p>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Braking:</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EffShift is suppressed for operation point within red shaded area</a:t>
            </a:r>
            <a:br>
              <a:rPr sz="1000"/>
            </a:br>
            <a:r>
              <a:rPr lang="en-US" sz="1000" b="0" strike="noStrike" spc="-1">
                <a:solidFill>
                  <a:srgbClr val="000000"/>
                </a:solidFill>
                <a:latin typeface="Arial"/>
                <a:ea typeface="DejaVu Sans"/>
              </a:rPr>
              <a:t>(2% below max recuperation power)</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New gear after downshift is selected so that operation point is closest to and above </a:t>
            </a:r>
            <a:r>
              <a:rPr lang="en-US" sz="1000" b="1" strike="noStrike" spc="-1">
                <a:solidFill>
                  <a:srgbClr val="000000"/>
                </a:solidFill>
                <a:latin typeface="Arial"/>
                <a:ea typeface="DejaVu Sans"/>
              </a:rPr>
              <a:t>n_brake_target_norm</a:t>
            </a:r>
            <a:r>
              <a:rPr lang="en-US" sz="1000" b="0" strike="noStrike" spc="-1">
                <a:solidFill>
                  <a:srgbClr val="000000"/>
                </a:solidFill>
                <a:latin typeface="Arial"/>
                <a:ea typeface="DejaVu Sans"/>
              </a:rPr>
              <a:t> (or only closest to </a:t>
            </a:r>
            <a:r>
              <a:rPr lang="en-US" sz="1000" b="1" strike="noStrike" spc="-1">
                <a:solidFill>
                  <a:srgbClr val="000000"/>
                </a:solidFill>
                <a:latin typeface="Arial"/>
                <a:ea typeface="DejaVu Sans"/>
              </a:rPr>
              <a:t>n_brake_target_norm</a:t>
            </a:r>
            <a:r>
              <a:rPr lang="en-US" sz="1000" b="0" strike="noStrike" spc="-1">
                <a:solidFill>
                  <a:srgbClr val="000000"/>
                </a:solidFill>
                <a:latin typeface="Arial"/>
                <a:ea typeface="DejaVu Sans"/>
              </a:rPr>
              <a:t> in case no operation point with higher speed exists)</a:t>
            </a:r>
            <a:endParaRPr lang="en-US" sz="1000" b="0" strike="noStrike" spc="-1">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7" name="Grafik 6"/>
          <p:cNvPicPr/>
          <p:nvPr/>
        </p:nvPicPr>
        <p:blipFill>
          <a:blip r:embed="rId2"/>
          <a:stretch/>
        </p:blipFill>
        <p:spPr>
          <a:xfrm>
            <a:off x="323640" y="1743840"/>
            <a:ext cx="5759280" cy="4748040"/>
          </a:xfrm>
          <a:prstGeom prst="rect">
            <a:avLst/>
          </a:prstGeom>
          <a:ln w="0">
            <a:noFill/>
          </a:ln>
        </p:spPr>
      </p:pic>
      <p:sp>
        <p:nvSpPr>
          <p:cNvPr id="24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49"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Gearshift model for PEV (2/x)</a:t>
            </a:r>
            <a:endParaRPr lang="en-US" sz="1600" b="0" strike="noStrike" spc="-1">
              <a:latin typeface="Arial"/>
            </a:endParaRPr>
          </a:p>
        </p:txBody>
      </p:sp>
      <p:sp>
        <p:nvSpPr>
          <p:cNvPr id="250" name="Textfeld 12"/>
          <p:cNvSpPr/>
          <p:nvPr/>
        </p:nvSpPr>
        <p:spPr>
          <a:xfrm>
            <a:off x="6156000" y="1524960"/>
            <a:ext cx="2987280" cy="1097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All factors in bold red can be tuned via shift parameter file .vtcu</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Refer to sample file for User Manual/PEV_ShiftParameters.vtcu distributed together with VECTO archive</a:t>
            </a:r>
            <a:endParaRPr lang="en-US" sz="1000" b="0" strike="noStrike" spc="-1">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52"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[VECTO-1460] - APT-N Gearbox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[VECTO-1501] - Update EM Map interpolation method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[VECTO-1477] - Update user 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[VECTO-1383] - E2 PEV, 2-speed AMT: "Failed to find operating point"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[VECTO-1384] - E2 PEV, 2-speed AMT: Downshifts missing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[VECTO-1414] - E2 selects high gear at low speed after take-off, does not reach target acc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[VECTO-1443] - 0.7.5.2356 EC_el_final calculated from REESS terminal signals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[VECTO-1445] - 073.2356, E2 Missing Downshifts, simulation abort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[VECTO-1464] - Engine Off not working with activated PCC (Hybrid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[VECTO-1465] - PEV PCCState oscillates between Interrupt and UseCase1</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[VECTO-1467] - PCC HEV Small Spike at end of UseCase1 when Target speed is reached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[VECTO-1468] - EM map interpolation comments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[VECTO-1470] - 076.2463 EM drag torque questions/findings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[VECTO-1482] - Hybrid Vehicle EM speed gets very high, no gearshift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[VECTO-1483] - Job aborting: E4_Group 5 LH_ll_LongHaul_mod5_id_2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[VECTO-1484] - Job aborting: P2_Group5_s2c0_rep_Payload_LongHaul_mod5_id_27</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[VECTO-1486] - NG PI fuel type not working with Engine GUI (.veng)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[VECTO-1487] - Calculation of EM efficiency during recuperation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[VECTO-1490] - Exceeded max iterations: Operating Point could not be found</a:t>
            </a:r>
            <a:endParaRPr lang="en-US" sz="1400" b="0" strike="noStrike" spc="-1">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54"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[VECTO-1491] - Electric Energy Storage Editor does not show values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[VECTO-1499] - Energy balance when ICE is turned on in a P1 hybrid configuration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[VECTO-1514] - Modeldata uses wrong inertia in case multiple EMs are used on a position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[VECTO-1515] - Output in vsum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[VECTO-1516] - GUI: PEV vehicle, disable hybrid parameters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[VECTO-1489] - Engine-off eco-roll for P1 hybrids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[VECTO-1448] - 075.2356, E2 Selecting high gear in downhill, needs to use wheel brakes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[VECTO-1472] - Do not end PCC if acceleration is still high enough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[VECTO-1473] - Additional tyre dimensions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[VECTO-1476] - Update EM GUI, EM component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[VECTO-1493] - Use EngineStartStop in PCC-Events for Hybrid P1</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[VECTO-1498] - Crosswind correction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[VECTO-1508] - EM-Off Losses in .vsum</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[VECTO-1509] - SP Technology "Electric" already contains mechanical power demand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[VECTO-1510] - Remove selection of shift strategy in job dialog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[VECTO-1511] - Error Message for "HEVs and BEVs not supported in Declaration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[VECTO-1512] - Adapt shift lines for xEV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[VECTO-1513] - Bus Aux post-processing correction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[VECTO-1481] - New warning message regarding transmission: what does it mean?</a:t>
            </a:r>
            <a:endParaRPr lang="en-US" sz="1400" b="0" strike="noStrike" spc="-1">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5"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0.7.6.2451 Development Version</a:t>
            </a:r>
            <a:br>
              <a:rPr sz="2400"/>
            </a:br>
            <a:r>
              <a:rPr lang="en-US" sz="1600" b="1" strike="noStrike" spc="-1">
                <a:solidFill>
                  <a:srgbClr val="990000"/>
                </a:solidFill>
                <a:latin typeface="Arial"/>
              </a:rPr>
              <a:t>September 2021</a:t>
            </a:r>
            <a:endParaRPr lang="en-US" sz="1600" b="0" strike="noStrike" spc="-1">
              <a:latin typeface="Arial"/>
            </a:endParaRPr>
          </a:p>
        </p:txBody>
      </p:sp>
      <p:sp>
        <p:nvSpPr>
          <p:cNvPr id="256"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ADAS for HEV and PEV vehicles</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For HEV vehicles interaction of PCC and HEV strategy under further analysis</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electric motor model: support for different voltage levels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battery model: modular battery components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battery model: pulse-duration dependent internal resistance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0.7.5.2353 Development Version</a:t>
            </a:r>
            <a:br>
              <a:rPr sz="2400"/>
            </a:br>
            <a:r>
              <a:rPr lang="en-US" sz="1600" b="1" strike="noStrike" spc="-1">
                <a:solidFill>
                  <a:srgbClr val="990000"/>
                </a:solidFill>
                <a:latin typeface="Arial"/>
              </a:rPr>
              <a:t>June 2021</a:t>
            </a:r>
            <a:endParaRPr lang="en-US" sz="1600" b="0" strike="noStrike" spc="-1">
              <a:latin typeface="Arial"/>
            </a:endParaRPr>
          </a:p>
        </p:txBody>
      </p:sp>
      <p:sp>
        <p:nvSpPr>
          <p:cNvPr id="258"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in shift strategy for PEV (E2)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Additional Powertrain architectures</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P1 AMT and APT-S/P</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P2.5 (transmission ratio EM per gear)</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P3 &amp; P4 with APT transmissions</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Loss-map for electric machine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Bus auxiliaries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Combine Bus auxiliaries with HEV powertrains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Refactoring Engine Stop/Start approach</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ICE is always off during simulation, balance missing energy in case ICE is on / ICE is off for all auxiliaries in .vmod.</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Correct for missing aux energy in post-processing (not fully implemented in this version)</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Added vehicle propulsion limits (relative to ICE max torque)</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P2, P3, and P4</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Refactored EM model: continuous torque, overload torque as separate inputs</a:t>
            </a:r>
            <a:endParaRPr lang="en-US" sz="1400" b="0" strike="noStrike" spc="-1">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0.7.3.2164 Development Version</a:t>
            </a:r>
            <a:br>
              <a:rPr sz="2400"/>
            </a:br>
            <a:r>
              <a:rPr lang="en-US" sz="1600" b="1" strike="noStrike" spc="-1">
                <a:solidFill>
                  <a:srgbClr val="990000"/>
                </a:solidFill>
                <a:latin typeface="Arial"/>
              </a:rPr>
              <a:t>December 2020</a:t>
            </a:r>
            <a:endParaRPr lang="en-US" sz="1600" b="0" strike="noStrike" spc="-1">
              <a:latin typeface="Arial"/>
            </a:endParaRPr>
          </a:p>
        </p:txBody>
      </p:sp>
      <p:sp>
        <p:nvSpPr>
          <p:cNvPr id="260" name="PlaceHolder 2"/>
          <p:cNvSpPr>
            <a:spLocks noGrp="1"/>
          </p:cNvSpPr>
          <p:nvPr>
            <p:ph/>
          </p:nvPr>
        </p:nvSpPr>
        <p:spPr>
          <a:xfrm>
            <a:off x="323640" y="1268640"/>
            <a:ext cx="8496360" cy="1727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in shift strategy for PEV (E2)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Refined electric motor model: model transmission stage of electric machine as individual sub-component instead of transforming the maps. Adapted columns in .vmod and .vsum regarding electric machine. See user manual for details.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SuperCap model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Removed E_REESS from .vmod file, calculate delta_E_REESS from P_REESS in .vsum file</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1"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0.7.2.2118 Development Version</a:t>
            </a:r>
            <a:br>
              <a:rPr sz="2400"/>
            </a:br>
            <a:r>
              <a:rPr lang="en-US" sz="1600" b="1" strike="noStrike" spc="-1">
                <a:solidFill>
                  <a:srgbClr val="990000"/>
                </a:solidFill>
                <a:latin typeface="Arial"/>
              </a:rPr>
              <a:t>October 2020</a:t>
            </a:r>
            <a:endParaRPr lang="en-US" sz="1600" b="0" strike="noStrike" spc="-1">
              <a:latin typeface="Arial"/>
            </a:endParaRPr>
          </a:p>
        </p:txBody>
      </p:sp>
      <p:sp>
        <p:nvSpPr>
          <p:cNvPr id="262" name="PlaceHolder 2"/>
          <p:cNvSpPr>
            <a:spLocks noGrp="1"/>
          </p:cNvSpPr>
          <p:nvPr>
            <p:ph/>
          </p:nvPr>
        </p:nvSpPr>
        <p:spPr>
          <a:xfrm>
            <a:off x="323640" y="1268640"/>
            <a:ext cx="8496360" cy="1727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PEV architecture E2 with EffShift-like gearshift strategy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REESS Dialog (.vimax)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in output of EM overload output in .vmod file </a:t>
            </a:r>
            <a:endParaRPr lang="en-US" sz="1400" b="0" strike="noStrike" spc="-1">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0.7.1.2108 Development Version</a:t>
            </a:r>
            <a:br>
              <a:rPr sz="2400"/>
            </a:br>
            <a:r>
              <a:rPr lang="en-US" sz="1600" b="1" strike="noStrike" spc="-1">
                <a:solidFill>
                  <a:srgbClr val="990000"/>
                </a:solidFill>
                <a:latin typeface="Arial"/>
              </a:rPr>
              <a:t>October 2020</a:t>
            </a:r>
            <a:endParaRPr lang="en-US" sz="1600" b="0" strike="noStrike" spc="-1">
              <a:latin typeface="Arial"/>
            </a:endParaRPr>
          </a:p>
        </p:txBody>
      </p:sp>
      <p:sp>
        <p:nvSpPr>
          <p:cNvPr id="264" name="PlaceHolder 2"/>
          <p:cNvSpPr>
            <a:spLocks noGrp="1"/>
          </p:cNvSpPr>
          <p:nvPr>
            <p:ph/>
          </p:nvPr>
        </p:nvSpPr>
        <p:spPr>
          <a:xfrm>
            <a:off x="323640" y="1268640"/>
            <a:ext cx="8496360" cy="1727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More stable operating point search hybrid strategy</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Bugfixes hybrid strategy</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Adding Super Cap as REESS </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Adding electric machine thermal de-rating</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Modified battery model: max charge/discharge current over state of charge</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Improvements simulation time hybrid vehicles</a:t>
            </a:r>
            <a:endParaRPr lang="en-US" sz="1100" b="0" strike="noStrike" spc="-1">
              <a:latin typeface="Arial"/>
            </a:endParaRPr>
          </a:p>
        </p:txBody>
      </p:sp>
      <p:sp>
        <p:nvSpPr>
          <p:cNvPr id="265" name="Textfeld 3"/>
          <p:cNvSpPr/>
          <p:nvPr/>
        </p:nvSpPr>
        <p:spPr>
          <a:xfrm>
            <a:off x="719640" y="3161160"/>
            <a:ext cx="7704000" cy="729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400" b="1" strike="noStrike" spc="-1">
                <a:solidFill>
                  <a:srgbClr val="000000"/>
                </a:solidFill>
                <a:latin typeface="Arial"/>
                <a:ea typeface="DejaVu Sans"/>
              </a:rPr>
              <a:t>Note: </a:t>
            </a:r>
            <a:r>
              <a:rPr lang="en-US" sz="1400" b="0" strike="noStrike" spc="-1">
                <a:solidFill>
                  <a:srgbClr val="000000"/>
                </a:solidFill>
                <a:latin typeface="Arial"/>
                <a:ea typeface="DejaVu Sans"/>
              </a:rPr>
              <a:t>As the model data for electric machine and battery changed from the previous VECTO version for hybrid vehicles it is necessary to open the models and provide the newly added model parameters. </a:t>
            </a:r>
            <a:endParaRPr lang="en-US" sz="1400" b="0" strike="noStrike" spc="-1">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0.7.0.2076 Development Version</a:t>
            </a:r>
            <a:br>
              <a:rPr sz="2400"/>
            </a:br>
            <a:r>
              <a:rPr lang="en-US" sz="1600" b="1" strike="noStrike" spc="-1">
                <a:solidFill>
                  <a:srgbClr val="990000"/>
                </a:solidFill>
                <a:latin typeface="Arial"/>
              </a:rPr>
              <a:t>September 2020</a:t>
            </a:r>
            <a:endParaRPr lang="en-US" sz="1600" b="0" strike="noStrike" spc="-1">
              <a:latin typeface="Arial"/>
            </a:endParaRPr>
          </a:p>
        </p:txBody>
      </p:sp>
      <p:sp>
        <p:nvSpPr>
          <p:cNvPr id="267" name="PlaceHolder 2"/>
          <p:cNvSpPr>
            <a:spLocks noGrp="1"/>
          </p:cNvSpPr>
          <p:nvPr>
            <p:ph/>
          </p:nvPr>
        </p:nvSpPr>
        <p:spPr>
          <a:xfrm>
            <a:off x="323640" y="1268640"/>
            <a:ext cx="8496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241"/>
              </a:spcBef>
              <a:buClr>
                <a:srgbClr val="000000"/>
              </a:buClr>
              <a:buFont typeface="Symbol"/>
              <a:buChar char=""/>
              <a:tabLst>
                <a:tab pos="1886040" algn="l"/>
              </a:tabLst>
            </a:pPr>
            <a:r>
              <a:rPr lang="en-US" sz="1200" b="1" strike="noStrike" spc="-1">
                <a:solidFill>
                  <a:srgbClr val="000000"/>
                </a:solidFill>
                <a:latin typeface="Arial"/>
              </a:rPr>
              <a:t>Changes</a:t>
            </a:r>
            <a:endParaRPr lang="en-US" sz="12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i="1" strike="noStrike" spc="-1">
                <a:solidFill>
                  <a:srgbClr val="000000"/>
                </a:solidFill>
                <a:latin typeface="Arial"/>
              </a:rPr>
              <a:t>This release is the first beta version with capabilities to simulate hybrid and battery electric vehicles</a:t>
            </a:r>
            <a:r>
              <a:rPr lang="en-US" sz="1000" b="0" strike="noStrike" spc="-1">
                <a:solidFill>
                  <a:srgbClr val="000000"/>
                </a:solidFill>
                <a:latin typeface="Arial"/>
              </a:rPr>
              <a:t>.</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It covers powertrain architectures “P2”, “P3”, “P4” for hybrid electric vehicles (HEV) and  “E3”, “E4” for battery electric vehicles (PEV, pure electric vehicles).</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The definitions of the powertrain architectures and other input parameters on vehicle level can be found in the document </a:t>
            </a:r>
            <a:r>
              <a:rPr lang="en-US" sz="1000" b="0" i="1" strike="noStrike" spc="-1">
                <a:solidFill>
                  <a:srgbClr val="000000"/>
                </a:solidFill>
                <a:latin typeface="Arial"/>
              </a:rPr>
              <a:t>Input parameters vehicle level 20200907.docx</a:t>
            </a:r>
            <a:r>
              <a:rPr lang="en-US" sz="1000" b="0" strike="noStrike" spc="-1">
                <a:solidFill>
                  <a:srgbClr val="000000"/>
                </a:solidFill>
                <a:latin typeface="Arial"/>
              </a:rPr>
              <a:t>. This document is an excerpt of working document 3 of the HDV CO2 Editing board. Items marked in red are not yet featured by the tool and will follow in the next releases. </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Known limitations</a:t>
            </a:r>
            <a:endParaRPr lang="en-US" sz="10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Electric machine system overload feature not available – work in progress</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Supercaps not implemented – work in progress</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Engine Stop Start Utility Factor has to be set to 1 – further discussions in task force needed how UF-approach shall be aligned with hybrid control strategy</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P_aux_el are electric auxiliaries connected to the high-voltage system. For hybrid electric vehicles this model parameter shall currently be set to 0. – further discussions in task force needed</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APTs with HEV – to be implemented</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Eco-roll and PCC not implemented</a:t>
            </a:r>
            <a:endParaRPr lang="en-US" sz="900" b="0" strike="noStrike" spc="-1">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0.6.1.1975 Development Version</a:t>
            </a:r>
            <a:br>
              <a:rPr sz="2400"/>
            </a:br>
            <a:r>
              <a:rPr lang="en-US" sz="1600" b="1" strike="noStrike" spc="-1">
                <a:solidFill>
                  <a:srgbClr val="990000"/>
                </a:solidFill>
                <a:latin typeface="Arial"/>
              </a:rPr>
              <a:t>May 2020</a:t>
            </a:r>
            <a:endParaRPr lang="en-US" sz="1600" b="0" strike="noStrike" spc="-1">
              <a:latin typeface="Arial"/>
            </a:endParaRPr>
          </a:p>
        </p:txBody>
      </p:sp>
      <p:sp>
        <p:nvSpPr>
          <p:cNvPr id="269" name="PlaceHolder 2"/>
          <p:cNvSpPr>
            <a:spLocks noGrp="1"/>
          </p:cNvSpPr>
          <p:nvPr>
            <p:ph/>
          </p:nvPr>
        </p:nvSpPr>
        <p:spPr>
          <a:xfrm>
            <a:off x="323640" y="1268640"/>
            <a:ext cx="8640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Bugfixes </a:t>
            </a:r>
            <a:endParaRPr lang="en-US" sz="16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Change passenger density primary vehicle for IU cycle</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primary vehicle: ignore TPMLM (to limit payload, do not abort simulation)</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completed vehicle: limit total mass with TPMLM (abort simulation)</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consider l_drivetrain. this length is subtracted from internal length for HVAC calculation only (bus volume for ventilation, max cooling capacity); completed vehicle</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set alternator gear efficiency to 1 to align with lorries (currently 0.92)</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electric system / radio: all vehicles are equipped with radio. modify consumed amps to consider 'usage factor' - updated already in master excel.</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Update generic values for primary HF vehicles CdxA</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HVAC: check/correct internal height for coaches (shall be 1.8m)</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HVAC: subtract driver compartment from total volume for max cooling capacity passengers</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HVAC: add configuration #10, add sanity checks (i.e. if driver AC is provided for configurations #2,</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Steering pump power demand: tubing factor only applied for first steered axle (as the additionally steered axles are close to the engine and the distance is not known)</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Allow enabling/disabling LAC in declaration mode via GUI (not persistent). Additional input on “Options” tab to set min activation speed</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.vsum file: E_AUX_SUM matches sum of individual AUX entries; bugfix writing P_busAux_ES_mech</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Update user manual on VTP cycle file format</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APT gearbox (all gears) generic efficiency 0.925</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retarder: set factor for generic retarder losses from 0.5 to 1 (i.e., use standardvalues)</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VTP engineering mode - vsum actual CF different to declaration mode</a:t>
            </a:r>
            <a:endParaRPr lang="en-US" sz="1000" b="0" strike="noStrike" spc="-1">
              <a:latin typeface="Arial"/>
            </a:endParaRPr>
          </a:p>
          <a:p>
            <a:pPr marL="343080" indent="-34308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Improvements</a:t>
            </a:r>
            <a:endParaRPr lang="en-US" sz="12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Switch GUI to 64bit mode (see VECTO-1270)</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New normalization/denormalization method for generic engine FC-Map (see VECTO-1269) </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.vsum-file: new entries P_ice_fcmap, P_wheel_in, k_vehline (previous k_vehline is now k_engline</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Bus VTP: Fan Parameter C4</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don't write CIF for primary vehicle</a:t>
            </a:r>
            <a:endParaRPr lang="en-US" sz="1000" b="0" strike="noStrike" spc="-1">
              <a:latin typeface="Arial"/>
            </a:endParaRPr>
          </a:p>
          <a:p>
            <a:pPr>
              <a:lnSpc>
                <a:spcPct val="100000"/>
              </a:lnSpc>
              <a:buNone/>
              <a:tabLst>
                <a:tab pos="1886040" algn="l"/>
              </a:tabLst>
            </a:pPr>
            <a:endParaRPr lang="en-US" sz="1000" b="0" strike="noStrike" spc="-1">
              <a:latin typeface="Arial"/>
            </a:endParaRPr>
          </a:p>
          <a:p>
            <a:pPr>
              <a:lnSpc>
                <a:spcPct val="100000"/>
              </a:lnSpc>
              <a:buNone/>
              <a:tabLst>
                <a:tab pos="1886040" algn="l"/>
              </a:tabLst>
            </a:pPr>
            <a:endParaRPr lang="en-US" sz="1000" b="0" strike="noStrike" spc="-1">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0.6.1.1957 Development Version</a:t>
            </a:r>
            <a:br>
              <a:rPr sz="2400"/>
            </a:br>
            <a:r>
              <a:rPr lang="en-US" sz="1600" b="1" strike="noStrike" spc="-1">
                <a:solidFill>
                  <a:srgbClr val="990000"/>
                </a:solidFill>
                <a:latin typeface="Arial"/>
              </a:rPr>
              <a:t>May 2020</a:t>
            </a:r>
            <a:endParaRPr lang="en-US" sz="1600" b="0" strike="noStrike" spc="-1">
              <a:latin typeface="Arial"/>
            </a:endParaRPr>
          </a:p>
        </p:txBody>
      </p:sp>
      <p:sp>
        <p:nvSpPr>
          <p:cNvPr id="271" name="PlaceHolder 2"/>
          <p:cNvSpPr>
            <a:spLocks noGrp="1"/>
          </p:cNvSpPr>
          <p:nvPr>
            <p:ph/>
          </p:nvPr>
        </p:nvSpPr>
        <p:spPr>
          <a:xfrm>
            <a:off x="323640" y="1268640"/>
            <a:ext cx="8640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Improvements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Declaration mode for complete and completed buses via “factor method”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VTP mode for heavy buses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VTP mode for dual-fuel vehicles (new cycle file required!)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“Single bus” mode with generic data from segmentation table completed vehicle (previous version used generic data from primary vehicle)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Adding highway sections on coach cycle (required for PCC)</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graphical user interface (VECTO3.exe) (</a:t>
            </a:r>
            <a:r>
              <a:rPr lang="en-US" sz="1600" b="0" i="1" strike="noStrike" spc="-1">
                <a:solidFill>
                  <a:srgbClr val="953735"/>
                </a:solidFill>
                <a:latin typeface="Arial"/>
              </a:rPr>
              <a:t>alpha version!</a:t>
            </a:r>
            <a:r>
              <a:rPr lang="en-US" sz="1600" b="0" strike="noStrike" spc="-1">
                <a:solidFill>
                  <a:srgbClr val="000000"/>
                </a:solidFill>
                <a:latin typeface="Arial"/>
              </a:rPr>
              <a:t>)</a:t>
            </a:r>
            <a:endParaRPr lang="en-US" sz="16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Creating &amp; editing complete(d) bus XML</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Creating &amp; editing complete(d) bus job file (PIF + completed XML)</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Creating &amp; editing single bus job file (primary XML + completed XML)</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Simulation of all types of VECTO jobs</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Currently, other existing job files can not be edited in the new GUI – planned to be extended in future</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Functionality similar to currently official VECTO version, for further information see separate user manual on new GUI</a:t>
            </a:r>
            <a:endParaRPr lang="en-US" sz="12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XML reports (MRF, CIF, PIF) according to draft Annex IV</a:t>
            </a:r>
            <a:endParaRPr lang="en-US" sz="1600" b="0" strike="noStrike" spc="-1">
              <a:latin typeface="Arial"/>
            </a:endParaRPr>
          </a:p>
          <a:p>
            <a:pPr marL="743040" lvl="1" indent="-285840">
              <a:lnSpc>
                <a:spcPct val="100000"/>
              </a:lnSpc>
              <a:spcBef>
                <a:spcPts val="320"/>
              </a:spcBef>
              <a:buClr>
                <a:srgbClr val="953735"/>
              </a:buClr>
              <a:buFont typeface="Symbol"/>
              <a:buChar char=""/>
              <a:tabLst>
                <a:tab pos="1886040" algn="l"/>
              </a:tabLst>
            </a:pPr>
            <a:r>
              <a:rPr lang="en-US" sz="1600" b="0" i="1" strike="noStrike" spc="-1">
                <a:solidFill>
                  <a:srgbClr val="953735"/>
                </a:solidFill>
                <a:latin typeface="Arial"/>
              </a:rPr>
              <a:t>Expert feature:</a:t>
            </a:r>
            <a:r>
              <a:rPr lang="en-US" sz="1600" b="0" strike="noStrike" spc="-1">
                <a:solidFill>
                  <a:srgbClr val="000000"/>
                </a:solidFill>
                <a:latin typeface="Arial"/>
              </a:rPr>
              <a:t> allow adding torque converter data to PIF manually (not added by VECTO automatically)  to investigate on generic TC data for APT-P (see generic vehicles for reference)</a:t>
            </a:r>
            <a:endParaRPr lang="en-US" sz="1600" b="0" strike="noStrike" spc="-1">
              <a:latin typeface="Arial"/>
            </a:endParaRPr>
          </a:p>
          <a:p>
            <a:pPr marL="743040" lvl="1" indent="-285840">
              <a:lnSpc>
                <a:spcPct val="100000"/>
              </a:lnSpc>
              <a:spcBef>
                <a:spcPts val="320"/>
              </a:spcBef>
              <a:buClr>
                <a:srgbClr val="953735"/>
              </a:buClr>
              <a:buFont typeface="Symbol"/>
              <a:buChar char=""/>
              <a:tabLst>
                <a:tab pos="1886040" algn="l"/>
              </a:tabLst>
            </a:pPr>
            <a:r>
              <a:rPr lang="en-US" sz="1600" b="0" i="1" strike="noStrike" spc="-1">
                <a:solidFill>
                  <a:srgbClr val="953735"/>
                </a:solidFill>
                <a:latin typeface="Arial"/>
              </a:rPr>
              <a:t>Expert feature: </a:t>
            </a:r>
            <a:r>
              <a:rPr lang="en-US" sz="1600" b="0" strike="noStrike" spc="-1">
                <a:solidFill>
                  <a:srgbClr val="000000"/>
                </a:solidFill>
                <a:latin typeface="Arial"/>
              </a:rPr>
              <a:t>allow writing internal model data used for VECTO simulation as JSON file. Allows to compare model data between primary bus, completed bus generic body, completed bus specific body (factor method) as well as single bus</a:t>
            </a:r>
            <a:endParaRPr lang="en-US" sz="1600" b="0" strike="noStrike" spc="-1">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0.6.1.1957 Development Version</a:t>
            </a:r>
            <a:br>
              <a:rPr sz="2400"/>
            </a:br>
            <a:r>
              <a:rPr lang="en-US" sz="1600" b="1" strike="noStrike" spc="-1">
                <a:solidFill>
                  <a:srgbClr val="990000"/>
                </a:solidFill>
                <a:latin typeface="Arial"/>
              </a:rPr>
              <a:t>May 2020</a:t>
            </a:r>
            <a:endParaRPr lang="en-US" sz="1600" b="0" strike="noStrike" spc="-1">
              <a:latin typeface="Arial"/>
            </a:endParaRPr>
          </a:p>
        </p:txBody>
      </p:sp>
      <p:sp>
        <p:nvSpPr>
          <p:cNvPr id="27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heavy buses </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power demand for engine fan</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Consider electric auxiliaries (fan, steering pump) as electrical consumer</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power demand pneumatic system with mechanical clutch</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electrical consumers LED bonus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Correction for double compensation of smart electrics (battery &amp; generated vs. consumed)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passenger count depending on HVAC configuration</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Bugfixes medium lorries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technologies for electric steering pump</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tyre xml supported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Bugfixes graphical user interface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sample data VTP</a:t>
            </a:r>
            <a:endParaRPr lang="en-US" sz="1600" b="0" strike="noStrike" spc="-1">
              <a:latin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0.6.0.1908 Development Version</a:t>
            </a:r>
            <a:br>
              <a:rPr sz="2400"/>
            </a:br>
            <a:r>
              <a:rPr lang="en-US" sz="1600" b="1" strike="noStrike" spc="-1">
                <a:solidFill>
                  <a:srgbClr val="990000"/>
                </a:solidFill>
                <a:latin typeface="Arial"/>
              </a:rPr>
              <a:t>March. 2020</a:t>
            </a:r>
            <a:endParaRPr lang="en-US" sz="1600" b="0" strike="noStrike" spc="-1">
              <a:latin typeface="Arial"/>
            </a:endParaRPr>
          </a:p>
        </p:txBody>
      </p:sp>
      <p:sp>
        <p:nvSpPr>
          <p:cNvPr id="27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Consider vehicle’s max speed when validating input data, calculating velocity drop during traction interruption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Reading vehicle design speed (85km/h) from segment table (also related to vehicle’s max speed)</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Fix JobEditor GUI – toolbar with icons not visible</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Fix null-reference exception simulating vehicles in engineering mode</a:t>
            </a:r>
            <a:endParaRPr lang="en-US" sz="1800" b="0" strike="noStrike" spc="-1">
              <a:latin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0.6.0.1884 Development Version</a:t>
            </a:r>
            <a:br>
              <a:rPr sz="2400"/>
            </a:br>
            <a:r>
              <a:rPr lang="en-US" sz="1600" b="1" strike="noStrike" spc="-1">
                <a:solidFill>
                  <a:srgbClr val="990000"/>
                </a:solidFill>
                <a:latin typeface="Arial"/>
              </a:rPr>
              <a:t>Feb. 2020</a:t>
            </a:r>
            <a:endParaRPr lang="en-US" sz="1600" b="0" strike="noStrike" spc="-1">
              <a:latin typeface="Arial"/>
            </a:endParaRPr>
          </a:p>
        </p:txBody>
      </p:sp>
      <p:sp>
        <p:nvSpPr>
          <p:cNvPr id="27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Refactoring and bug fixes in bus auxiliaries model (former Ricardo AAUX model), parametrization of bus auxiliaries model (HVAC) from “primary bus” input data and generic values in segmentation matrix,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P0 hybrids in bus auxiliaries model</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“primary bus” (declaration mode)</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“single bus” – combine input parameters of primary bus and completed bus to a single simulation (no factor method) (declaration mode)</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medium lorries</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vehicles with front-wheel drive (axlegear included in gearbox)</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VTP Mode for medium lorries</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New XML schema for new vehicle categories, adapted XML schema for generated reports (MRF, CIF, PIF)</a:t>
            </a:r>
            <a:endParaRPr lang="en-US" sz="1800" b="0" strike="noStrike" spc="-1">
              <a:latin typeface="Arial"/>
            </a:endParaRPr>
          </a:p>
          <a:p>
            <a:pPr marL="457200">
              <a:lnSpc>
                <a:spcPct val="100000"/>
              </a:lnSpc>
              <a:spcBef>
                <a:spcPts val="320"/>
              </a:spcBef>
              <a:buNone/>
              <a:tabLst>
                <a:tab pos="0" algn="l"/>
              </a:tabLst>
            </a:pPr>
            <a:endParaRPr lang="en-US" sz="1600" b="0" strike="noStrike" spc="-1">
              <a:latin typeface="Arial"/>
            </a:endParaRPr>
          </a:p>
          <a:p>
            <a:pPr marL="457200">
              <a:lnSpc>
                <a:spcPct val="100000"/>
              </a:lnSpc>
              <a:spcBef>
                <a:spcPts val="320"/>
              </a:spcBef>
              <a:buNone/>
              <a:tabLst>
                <a:tab pos="0" algn="l"/>
              </a:tabLst>
            </a:pPr>
            <a:r>
              <a:rPr lang="en-US" sz="1600" b="0" strike="noStrike" spc="-1">
                <a:solidFill>
                  <a:srgbClr val="000000"/>
                </a:solidFill>
                <a:latin typeface="Arial"/>
              </a:rPr>
              <a:t>This development version includes all features already included in version 0.5.0</a:t>
            </a:r>
            <a:endParaRPr lang="en-US" sz="1600" b="0" strike="noStrike" spc="-1">
              <a:latin typeface="Arial"/>
            </a:endParaRPr>
          </a:p>
          <a:p>
            <a:pPr marL="457200">
              <a:lnSpc>
                <a:spcPct val="100000"/>
              </a:lnSpc>
              <a:buNone/>
              <a:tabLst>
                <a:tab pos="0" algn="l"/>
              </a:tabLst>
            </a:pPr>
            <a:endParaRPr lang="en-US" sz="1400" b="0" strike="noStrike" spc="-1">
              <a:latin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0.5.0 Development Version</a:t>
            </a:r>
            <a:br>
              <a:rPr sz="2400"/>
            </a:br>
            <a:r>
              <a:rPr lang="en-US" sz="1600" b="1" strike="noStrike" spc="-1">
                <a:solidFill>
                  <a:srgbClr val="990000"/>
                </a:solidFill>
                <a:latin typeface="Arial"/>
              </a:rPr>
              <a:t>Dec. 2019</a:t>
            </a:r>
            <a:endParaRPr lang="en-US" sz="1600" b="0" strike="noStrike" spc="-1">
              <a:latin typeface="Arial"/>
            </a:endParaRPr>
          </a:p>
        </p:txBody>
      </p:sp>
      <p:sp>
        <p:nvSpPr>
          <p:cNvPr id="27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Adding in-the-loop simulation of advanced driver assistant systems (ADAS)</a:t>
            </a:r>
            <a:endParaRPr lang="en-US" sz="18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Engine stop-start during vehicle stop</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Eco-roll with and without engine stop</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Predictive cruise control: dip coasting, crest coasting</a:t>
            </a:r>
            <a:endParaRPr lang="en-US" sz="12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Adding support for dual-fuel vehicles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Adding support for waste- / exhaust-heat recovery systems (electrical and mechanical)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gear shift strategy (EffShift) for AMT and AT transmissions</a:t>
            </a:r>
            <a:endParaRPr lang="en-US" sz="1600" b="0" strike="noStrike" spc="-1">
              <a:latin typeface="Arial"/>
            </a:endParaRPr>
          </a:p>
          <a:p>
            <a:pPr marL="457200">
              <a:lnSpc>
                <a:spcPct val="100000"/>
              </a:lnSpc>
              <a:spcBef>
                <a:spcPts val="320"/>
              </a:spcBef>
              <a:buNone/>
              <a:tabLst>
                <a:tab pos="0" algn="l"/>
              </a:tabLst>
            </a:pPr>
            <a:endParaRPr lang="en-US" sz="1600" b="0" strike="noStrike" spc="-1">
              <a:latin typeface="Arial"/>
            </a:endParaRPr>
          </a:p>
          <a:p>
            <a:pPr marL="457200">
              <a:lnSpc>
                <a:spcPct val="100000"/>
              </a:lnSpc>
              <a:spcBef>
                <a:spcPts val="320"/>
              </a:spcBef>
              <a:buNone/>
              <a:tabLst>
                <a:tab pos="0" algn="l"/>
              </a:tabLst>
            </a:pPr>
            <a:r>
              <a:rPr lang="en-US" sz="1600" b="0" strike="noStrike" spc="-1">
                <a:solidFill>
                  <a:srgbClr val="000000"/>
                </a:solidFill>
                <a:latin typeface="Arial"/>
              </a:rPr>
              <a:t>Details on the new models, model parameters, and new signals in the output are described in the user manual</a:t>
            </a:r>
            <a:endParaRPr lang="en-US" sz="1600" b="0" strike="noStrike" spc="-1">
              <a:latin typeface="Arial"/>
            </a:endParaRPr>
          </a:p>
          <a:p>
            <a:pPr marL="457200">
              <a:lnSpc>
                <a:spcPct val="100000"/>
              </a:lnSpc>
              <a:buNone/>
              <a:tabLst>
                <a:tab pos="0" algn="l"/>
              </a:tabLst>
            </a:pPr>
            <a:endParaRPr lang="en-US" sz="1400" b="0" strike="noStrike" spc="-1">
              <a:latin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3.3.10.2401 Official Release</a:t>
            </a:r>
            <a:br>
              <a:rPr sz="2400"/>
            </a:br>
            <a:r>
              <a:rPr lang="en-US" sz="1600" b="1" strike="noStrike" spc="-1">
                <a:solidFill>
                  <a:srgbClr val="990000"/>
                </a:solidFill>
                <a:latin typeface="Arial"/>
              </a:rPr>
              <a:t>2020-07-29</a:t>
            </a:r>
            <a:endParaRPr lang="en-US" sz="1600" b="0" strike="noStrike" spc="-1">
              <a:latin typeface="Arial"/>
            </a:endParaRPr>
          </a:p>
        </p:txBody>
      </p:sp>
      <p:sp>
        <p:nvSpPr>
          <p:cNvPr id="28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Handling of exempted vehicles (not changed since release candidate) – see next slides for details</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No additional bugfixes compared to VECTO 3.3.10.2401</a:t>
            </a:r>
            <a:endParaRPr lang="en-US" sz="1600" b="0" strike="noStrike" spc="-1">
              <a:latin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3.3.10.2373 Release Candidate</a:t>
            </a:r>
            <a:br>
              <a:rPr sz="2400"/>
            </a:br>
            <a:r>
              <a:rPr lang="en-US" sz="1600" b="1" strike="noStrike" spc="-1">
                <a:solidFill>
                  <a:srgbClr val="990000"/>
                </a:solidFill>
                <a:latin typeface="Arial"/>
              </a:rPr>
              <a:t>2020-07-01</a:t>
            </a:r>
            <a:endParaRPr lang="en-US" sz="1600" b="0" strike="noStrike" spc="-1">
              <a:latin typeface="Arial"/>
            </a:endParaRPr>
          </a:p>
        </p:txBody>
      </p:sp>
      <p:sp>
        <p:nvSpPr>
          <p:cNvPr id="28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[VECTO-1421] – Added vehicle sub-group (CO</a:t>
            </a:r>
            <a:r>
              <a:rPr lang="en-US" sz="1600" b="0" strike="noStrike" spc="-1" baseline="-25000">
                <a:solidFill>
                  <a:srgbClr val="000000"/>
                </a:solidFill>
                <a:latin typeface="Arial"/>
              </a:rPr>
              <a:t>2</a:t>
            </a:r>
            <a:r>
              <a:rPr lang="en-US" sz="1600" b="0" strike="noStrike" spc="-1">
                <a:solidFill>
                  <a:srgbClr val="000000"/>
                </a:solidFill>
                <a:latin typeface="Arial"/>
              </a:rPr>
              <a:t>-standards to MRF and CIF)</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 1449] – Handling of exempted vehicles: See next slide for details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[VECTO-1404] – Corrected URL for CSS in MRF and CIF</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[VECTO-1419] – Simulation abort in urban cycle: failed to find operating point on search braking power with TC gear</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[VECTO-1439] – Bugfix handling duplicate entries in engine full-load curve when intersecting with max-torque of gearbox</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[VECTO-1429] – error in XML schema 2.x for exempted vehicles – MaxNetPower1/2 are optional input parameters</a:t>
            </a:r>
            <a:endParaRPr lang="en-US" sz="1600" b="0" strike="noStrike" spc="-1">
              <a:latin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3.3.10.2373 Release Candidate</a:t>
            </a:r>
            <a:br>
              <a:rPr sz="2400"/>
            </a:br>
            <a:r>
              <a:rPr lang="en-US" sz="1600" b="1" strike="noStrike" spc="-1">
                <a:solidFill>
                  <a:srgbClr val="990000"/>
                </a:solidFill>
                <a:latin typeface="Arial"/>
              </a:rPr>
              <a:t>2020-07-01</a:t>
            </a:r>
            <a:endParaRPr lang="en-US" sz="1600" b="0" strike="noStrike" spc="-1">
              <a:latin typeface="Arial"/>
            </a:endParaRPr>
          </a:p>
        </p:txBody>
      </p:sp>
      <p:sp>
        <p:nvSpPr>
          <p:cNvPr id="28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479"/>
              </a:spcBef>
              <a:buNone/>
              <a:tabLst>
                <a:tab pos="0" algn="l"/>
              </a:tabLst>
            </a:pPr>
            <a:r>
              <a:rPr lang="en-US" sz="2400" b="1" strike="noStrike" spc="-1">
                <a:solidFill>
                  <a:srgbClr val="990000"/>
                </a:solidFill>
                <a:latin typeface="Arial"/>
              </a:rPr>
              <a:t>Handling of exempted vehicles</a:t>
            </a:r>
            <a:endParaRPr lang="en-US" sz="2400" b="0" strike="noStrike" spc="-1">
              <a:latin typeface="Arial"/>
            </a:endParaRPr>
          </a:p>
          <a:p>
            <a:pPr>
              <a:lnSpc>
                <a:spcPct val="100000"/>
              </a:lnSpc>
              <a:spcBef>
                <a:spcPts val="360"/>
              </a:spcBef>
              <a:buNone/>
              <a:tabLst>
                <a:tab pos="1886040" algn="l"/>
              </a:tabLst>
            </a:pPr>
            <a:endParaRPr lang="en-US" sz="18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Axle configuration and sleeper cab are optional input parameters for exempted vehicles (XML schema 1.0 and 2.2.1). </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OEMs are recommended to provide these parameters for exempted vehicles.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If the axle configuration is provided as input parameter, the MRF contains the vehicle group.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The sleeper cab input parameter is also part of the MRF if provided as input.</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Input parameters MaxNetPower1/2 are optional input parameters for all exempted vehicles. </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If provided in the input these parameters are part of the MRF for all exempted vehicle types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It is recommended that those parameters are used to specify the rated power also for PEV (pure electric vehicles)</a:t>
            </a:r>
            <a:endParaRPr lang="en-US" sz="1600" b="0" strike="noStrike" spc="-1">
              <a:latin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3.3.9.2175 Official Release</a:t>
            </a:r>
            <a:br>
              <a:rPr sz="2400"/>
            </a:br>
            <a:r>
              <a:rPr lang="en-US" sz="1600" b="1" strike="noStrike" spc="-1">
                <a:solidFill>
                  <a:srgbClr val="990000"/>
                </a:solidFill>
                <a:latin typeface="Arial"/>
              </a:rPr>
              <a:t>2020-12-15</a:t>
            </a:r>
            <a:endParaRPr lang="en-US" sz="1600" b="0" strike="noStrike" spc="-1">
              <a:latin typeface="Arial"/>
            </a:endParaRPr>
          </a:p>
        </p:txBody>
      </p:sp>
      <p:sp>
        <p:nvSpPr>
          <p:cNvPr id="28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version 3.3.9.2147)</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[VECTO-1374] - VECTO VTP error – regression update</a:t>
            </a:r>
            <a:endParaRPr lang="en-US" sz="1600" b="0" strike="noStrike" spc="-1">
              <a:latin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3.3.9.2147 Release Candidate</a:t>
            </a:r>
            <a:br>
              <a:rPr sz="2400"/>
            </a:br>
            <a:r>
              <a:rPr lang="en-US" sz="1600" b="1" strike="noStrike" spc="-1">
                <a:solidFill>
                  <a:srgbClr val="990000"/>
                </a:solidFill>
                <a:latin typeface="Arial"/>
              </a:rPr>
              <a:t>2020-11-17</a:t>
            </a:r>
            <a:endParaRPr lang="en-US" sz="1600" b="0" strike="noStrike" spc="-1">
              <a:latin typeface="Arial"/>
            </a:endParaRPr>
          </a:p>
        </p:txBody>
      </p:sp>
      <p:sp>
        <p:nvSpPr>
          <p:cNvPr id="28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[VECTO-1331] - VTP Mode does not function for vehicles of group 3</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[VECTO-1355] - VTP Simulation Abort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[VECTO-1356] - PTO Losses not considered in VTP simulation</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[VECTO-1361] - Torque Converter in use for the First and Second Gear VTP file does not allow for this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[VECTO-1372] - Deviation of CdxA Input vs. Output for HDV16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[VECTO-1374] - VECTO VTP error</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[VECTO-1360] - make unit tests execute in parallel</a:t>
            </a:r>
            <a:endParaRPr lang="en-US" sz="1600" b="0" strike="noStrike" spc="-1">
              <a:latin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3.3.8.2052 Official Release</a:t>
            </a:r>
            <a:br>
              <a:rPr sz="2400"/>
            </a:br>
            <a:r>
              <a:rPr lang="en-US" sz="1600" b="1" strike="noStrike" spc="-1">
                <a:solidFill>
                  <a:srgbClr val="990000"/>
                </a:solidFill>
                <a:latin typeface="Arial"/>
              </a:rPr>
              <a:t>2020-08-14</a:t>
            </a:r>
            <a:endParaRPr lang="en-US" sz="1600" b="0" strike="noStrike" spc="-1">
              <a:latin typeface="Arial"/>
            </a:endParaRPr>
          </a:p>
        </p:txBody>
      </p:sp>
      <p:sp>
        <p:nvSpPr>
          <p:cNvPr id="29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No additional bugfixes compared to VECTO 3.3.8.2024</a:t>
            </a:r>
            <a:endParaRPr lang="en-US" sz="1600" b="0" strike="noStrike" spc="-1">
              <a:latin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3.3.8.2024 Release Candidate</a:t>
            </a:r>
            <a:br>
              <a:rPr sz="2400"/>
            </a:br>
            <a:r>
              <a:rPr lang="en-US" sz="1600" b="1" strike="noStrike" spc="-1">
                <a:solidFill>
                  <a:srgbClr val="990000"/>
                </a:solidFill>
                <a:latin typeface="Arial"/>
              </a:rPr>
              <a:t>2020-07-17</a:t>
            </a:r>
            <a:endParaRPr lang="en-US" sz="1600" b="0" strike="noStrike" spc="-1">
              <a:latin typeface="Arial"/>
            </a:endParaRPr>
          </a:p>
        </p:txBody>
      </p:sp>
      <p:sp>
        <p:nvSpPr>
          <p:cNvPr id="29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[VECTO-1288] - Simulation Abort UD RL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[VECTO-1327] - Simulation abort Construction RefLoad: unexpected response ResponseOverload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[VECTO-1266] - Gear 4 Loss-Map was extrapolated</a:t>
            </a:r>
            <a:endParaRPr lang="en-US" sz="1600" b="0" strike="noStrike" spc="-1">
              <a:latin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3.3.7.1964 Official Release</a:t>
            </a:r>
            <a:br>
              <a:rPr sz="2400"/>
            </a:br>
            <a:r>
              <a:rPr lang="en-US" sz="1600" b="1" strike="noStrike" spc="-1">
                <a:solidFill>
                  <a:srgbClr val="990000"/>
                </a:solidFill>
                <a:latin typeface="Arial"/>
              </a:rPr>
              <a:t>2020-05-18</a:t>
            </a:r>
            <a:endParaRPr lang="en-US" sz="1600" b="0" strike="noStrike" spc="-1">
              <a:latin typeface="Arial"/>
            </a:endParaRPr>
          </a:p>
        </p:txBody>
      </p:sp>
      <p:sp>
        <p:nvSpPr>
          <p:cNvPr id="29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[VECTO-1254] - Hashing method does not ignore certain XML attributes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[VECTO-1259] - Mission profile weighting factors for vehicles of group 16 are not correct</a:t>
            </a:r>
            <a:endParaRPr lang="en-US" sz="1600" b="0" strike="noStrike" spc="-1">
              <a:latin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3.3.6.1916 Official Release</a:t>
            </a:r>
            <a:br>
              <a:rPr sz="2400"/>
            </a:br>
            <a:r>
              <a:rPr lang="en-US" sz="1600" b="1" strike="noStrike" spc="-1">
                <a:solidFill>
                  <a:srgbClr val="990000"/>
                </a:solidFill>
                <a:latin typeface="Arial"/>
              </a:rPr>
              <a:t>2020-03-31</a:t>
            </a:r>
            <a:endParaRPr lang="en-US" sz="1600" b="0" strike="noStrike" spc="-1">
              <a:latin typeface="Arial"/>
            </a:endParaRPr>
          </a:p>
        </p:txBody>
      </p:sp>
      <p:sp>
        <p:nvSpPr>
          <p:cNvPr id="29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[VECTO-1250] - Error creating new gearbox file from scratch</a:t>
            </a:r>
            <a:endParaRPr lang="en-US" sz="1600" b="0" strike="noStrike" spc="-1">
              <a:latin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3.3.6.1898 Release Candidate</a:t>
            </a:r>
            <a:br>
              <a:rPr sz="2400"/>
            </a:br>
            <a:r>
              <a:rPr lang="en-US" sz="1600" b="1" strike="noStrike" spc="-1">
                <a:solidFill>
                  <a:srgbClr val="990000"/>
                </a:solidFill>
                <a:latin typeface="Arial"/>
              </a:rPr>
              <a:t>2020-03-13</a:t>
            </a:r>
            <a:endParaRPr lang="en-US" sz="1600" b="0" strike="noStrike" spc="-1">
              <a:latin typeface="Arial"/>
            </a:endParaRPr>
          </a:p>
        </p:txBody>
      </p:sp>
      <p:sp>
        <p:nvSpPr>
          <p:cNvPr id="29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[VECTO-1239] - Adaptation of Mission Profile Weighting Factors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[VECTO-1241] - Engineering mode: Adding support for additional PTO activations</a:t>
            </a:r>
            <a:endParaRPr lang="en-US" sz="1600" b="0" strike="noStrike" spc="-1">
              <a:latin typeface="Arial"/>
            </a:endParaRPr>
          </a:p>
          <a:p>
            <a:pPr>
              <a:lnSpc>
                <a:spcPct val="100000"/>
              </a:lnSpc>
              <a:spcBef>
                <a:spcPts val="360"/>
              </a:spcBef>
              <a:buNone/>
              <a:tabLst>
                <a:tab pos="1886040" algn="l"/>
              </a:tabLst>
            </a:pPr>
            <a:endParaRPr lang="en-US" sz="18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[VECTO-1243] - Bug in VTP mode for heavy lorries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[VECTO-1234] - urban cycle at reference load not running for bug when find braking operating point</a:t>
            </a:r>
            <a:endParaRPr lang="en-US" sz="1600" b="0" strike="noStrike" spc="-1">
              <a:latin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3.3.5.1812 Official Release</a:t>
            </a:r>
            <a:br>
              <a:rPr sz="2400"/>
            </a:br>
            <a:r>
              <a:rPr lang="en-US" sz="1600" b="1" strike="noStrike" spc="-1">
                <a:solidFill>
                  <a:srgbClr val="990000"/>
                </a:solidFill>
                <a:latin typeface="Arial"/>
              </a:rPr>
              <a:t>2019-12-18</a:t>
            </a:r>
            <a:endParaRPr lang="en-US" sz="1600" b="0" strike="noStrike" spc="-1">
              <a:latin typeface="Arial"/>
            </a:endParaRPr>
          </a:p>
        </p:txBody>
      </p:sp>
      <p:sp>
        <p:nvSpPr>
          <p:cNvPr id="30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r>
              <a:rPr lang="en-US" sz="1800" b="0" strike="noStrike" spc="-1">
                <a:solidFill>
                  <a:srgbClr val="000000"/>
                </a:solidFill>
                <a:latin typeface="Arial"/>
              </a:rPr>
              <a:t>(compared to VECTO 3.3.5.1783-RC)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[VECTO-1220] - Simulation Abort Urban Delivery RefLoad</a:t>
            </a:r>
            <a:endParaRPr lang="en-US" sz="1600" b="0" strike="noStrike" spc="-1">
              <a:latin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3.3.5.1783 Release Candidate</a:t>
            </a:r>
            <a:br>
              <a:rPr sz="2400"/>
            </a:br>
            <a:r>
              <a:rPr lang="en-US" sz="1600" b="1" strike="noStrike" spc="-1">
                <a:solidFill>
                  <a:srgbClr val="990000"/>
                </a:solidFill>
                <a:latin typeface="Arial"/>
              </a:rPr>
              <a:t>2019-11-19</a:t>
            </a:r>
            <a:endParaRPr lang="en-US" sz="1600" b="0" strike="noStrike" spc="-1">
              <a:latin typeface="Arial"/>
            </a:endParaRPr>
          </a:p>
        </p:txBody>
      </p:sp>
      <p:sp>
        <p:nvSpPr>
          <p:cNvPr id="30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[VECTO-1194] - Handling input parameter 'vocational' for groups other than 4, 5, 9, 10</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[VECTO-1147] - Updating declaration mode cycles values in user manual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[VECTO-1207] - run VECTO in 64bit mode by default</a:t>
            </a:r>
            <a:endParaRPr lang="en-US" sz="1600" b="0" strike="noStrike" spc="-1">
              <a:latin typeface="Arial"/>
            </a:endParaRPr>
          </a:p>
          <a:p>
            <a:pPr>
              <a:lnSpc>
                <a:spcPct val="100000"/>
              </a:lnSpc>
              <a:spcBef>
                <a:spcPts val="360"/>
              </a:spcBef>
              <a:buNone/>
              <a:tabLst>
                <a:tab pos="1886040" algn="l"/>
              </a:tabLst>
            </a:pPr>
            <a:endParaRPr lang="en-US" sz="18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[VECTO-1074] - Vecto Calculation Aborts with Interpolation Error</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[VECTO-1159] - Simulation Abort in UrbanDelivery LowLoading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[VECTO-1189] - Error in delaunay triangulation invariant violated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[VECTO-1209] - Unexpected Response Response Overload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[VECTO-1211] - Simulation Abort Urban Delivery Ref 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[VECTO-1214] - Validation of input data fails when gearbox speed limits are applied</a:t>
            </a:r>
            <a:endParaRPr lang="en-US" sz="1600" b="0" strike="noStrike" spc="-1">
              <a:latin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3.3.4.1716 Official Release</a:t>
            </a:r>
            <a:br>
              <a:rPr sz="2400"/>
            </a:br>
            <a:r>
              <a:rPr lang="en-US" sz="1600" b="1" strike="noStrike" spc="-1">
                <a:solidFill>
                  <a:srgbClr val="990000"/>
                </a:solidFill>
                <a:latin typeface="Arial"/>
              </a:rPr>
              <a:t>2019-09-13</a:t>
            </a:r>
            <a:endParaRPr lang="en-US" sz="1600" b="0" strike="noStrike" spc="-1">
              <a:latin typeface="Arial"/>
            </a:endParaRPr>
          </a:p>
        </p:txBody>
      </p:sp>
      <p:sp>
        <p:nvSpPr>
          <p:cNvPr id="30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r>
              <a:rPr lang="en-US" sz="1800" b="0" strike="noStrike" spc="-1">
                <a:solidFill>
                  <a:srgbClr val="000000"/>
                </a:solidFill>
                <a:latin typeface="Arial"/>
              </a:rPr>
              <a:t>(compared to VECTO 3.3.4.1686-RC)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[VECTO-1074] - Vecto Calculation Aborts with Interpolation Error ([VECTO-1046])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[VECTO-1111] - Simulation Abort in Municipal Reference Load</a:t>
            </a:r>
            <a:endParaRPr lang="en-US" sz="1600" b="0" strike="noStrike" spc="-1">
              <a:latin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3.3.4.1686 Release Candidate</a:t>
            </a:r>
            <a:br>
              <a:rPr sz="2400"/>
            </a:br>
            <a:r>
              <a:rPr lang="en-US" sz="1600" b="1" strike="noStrike" spc="-1">
                <a:solidFill>
                  <a:srgbClr val="990000"/>
                </a:solidFill>
                <a:latin typeface="Arial"/>
              </a:rPr>
              <a:t>2019-08-14</a:t>
            </a:r>
            <a:endParaRPr lang="en-US" sz="1600" b="0" strike="noStrike" spc="-1">
              <a:latin typeface="Arial"/>
            </a:endParaRPr>
          </a:p>
        </p:txBody>
      </p:sp>
      <p:sp>
        <p:nvSpPr>
          <p:cNvPr id="30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[VECTO-1042] - Add option to write results into a certain directory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[VECTO-1064] - add weighting factors for vehicle groups 1, 2, 3, 11, 12, 16</a:t>
            </a:r>
            <a:endParaRPr lang="en-US" sz="1600" b="0" strike="noStrike" spc="-1">
              <a:latin typeface="Arial"/>
            </a:endParaRPr>
          </a:p>
          <a:p>
            <a:pPr>
              <a:lnSpc>
                <a:spcPct val="100000"/>
              </a:lnSpc>
              <a:buNone/>
              <a:tabLst>
                <a:tab pos="1886040" algn="l"/>
              </a:tabLst>
            </a:pP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[VECTO-1030] - Exceeded max iterations when searching for operating point! Failed to find operating point!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[VECTO-1032] - Gear 5 LossMap data was extrapolated in Declaration Mode: range for loss map is not sufficient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[VECTO-1067] - Vair and Beta correction for Aerodynamics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[VECTO-1000] - Error Loss-Map extrapolation in Declaration Mode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[VECTO-1040] - Gear 6 LossMap data was extrapolated in Declaration Mode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[VECTO-1047] - Failed to find operating point on construction cycle, ref load, AT gearbox</a:t>
            </a:r>
            <a:endParaRPr lang="en-US" sz="16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3.3.3.1639 Official Release</a:t>
            </a:r>
            <a:br>
              <a:rPr sz="2400"/>
            </a:br>
            <a:r>
              <a:rPr lang="en-US" sz="1600" b="1" strike="noStrike" spc="-1">
                <a:solidFill>
                  <a:srgbClr val="990000"/>
                </a:solidFill>
                <a:latin typeface="Arial"/>
              </a:rPr>
              <a:t>2019-06-27</a:t>
            </a:r>
            <a:endParaRPr lang="en-US" sz="1600" b="0" strike="noStrike" spc="-1">
              <a:latin typeface="Arial"/>
            </a:endParaRPr>
          </a:p>
        </p:txBody>
      </p:sp>
      <p:sp>
        <p:nvSpPr>
          <p:cNvPr id="30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r>
              <a:rPr lang="en-US" sz="1800" b="0" strike="noStrike" spc="-1">
                <a:solidFill>
                  <a:srgbClr val="000000"/>
                </a:solidFill>
                <a:latin typeface="Arial"/>
              </a:rPr>
              <a:t>(compared to VECTO 3.3.3.1609-RC)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[VECTO-1003] - Vecto Error: Loss-Map extrapolation in declaration mode required</a:t>
            </a:r>
            <a:br>
              <a:rPr sz="1600"/>
            </a:br>
            <a:r>
              <a:rPr lang="en-US" sz="1600" b="0" strike="noStrike" spc="-1">
                <a:solidFill>
                  <a:srgbClr val="000000"/>
                </a:solidFill>
                <a:latin typeface="Arial"/>
              </a:rPr>
              <a:t>(issue VECTO-991)</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[VECTO-1006] - Failed to find torque converter operating point on UD cycle </a:t>
            </a:r>
            <a:br>
              <a:rPr sz="1600"/>
            </a:br>
            <a:r>
              <a:rPr lang="en-US" sz="1600" b="0" strike="noStrike" spc="-1">
                <a:solidFill>
                  <a:srgbClr val="000000"/>
                </a:solidFill>
                <a:latin typeface="Arial"/>
              </a:rPr>
              <a:t>(issue VECTO-996)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[VECTO-1010] - Unexpected Response: ResponseOverload in UD cycle </a:t>
            </a:r>
            <a:br>
              <a:rPr sz="1600"/>
            </a:br>
            <a:r>
              <a:rPr lang="en-US" sz="1600" b="0" strike="noStrike" spc="-1">
                <a:solidFill>
                  <a:srgbClr val="000000"/>
                </a:solidFill>
                <a:latin typeface="Arial"/>
              </a:rPr>
              <a:t>(issue VECTO-996)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[VECTO-1015] - XML Schema not correctly identified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[VECTO-1019] - Error opening job in case a file is missing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[VECTO-1020] - HashingTool Crashes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[VECTO-1021] - Invalid hash of job data</a:t>
            </a:r>
            <a:endParaRPr lang="en-US" sz="1600" b="0" strike="noStrike" spc="-1">
              <a:latin typeface="Arial"/>
            </a:endParaRPr>
          </a:p>
          <a:p>
            <a:pPr>
              <a:lnSpc>
                <a:spcPct val="100000"/>
              </a:lnSpc>
              <a:buNone/>
              <a:tabLst>
                <a:tab pos="1886040" algn="l"/>
              </a:tabLst>
            </a:pPr>
            <a:endParaRPr lang="en-US" sz="16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3.3.3.1609 Release Candidate</a:t>
            </a:r>
            <a:br>
              <a:rPr sz="2400"/>
            </a:br>
            <a:r>
              <a:rPr lang="en-US" sz="1600" b="1" strike="noStrike" spc="-1">
                <a:solidFill>
                  <a:srgbClr val="990000"/>
                </a:solidFill>
                <a:latin typeface="Arial"/>
              </a:rPr>
              <a:t>2019-05-29</a:t>
            </a:r>
            <a:endParaRPr lang="en-US" sz="1600" b="0" strike="noStrike" spc="-1">
              <a:latin typeface="Arial"/>
            </a:endParaRPr>
          </a:p>
        </p:txBody>
      </p:sp>
      <p:sp>
        <p:nvSpPr>
          <p:cNvPr id="31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 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[VECTO-916] - Adding new tyre sizes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[VECTO-946] - Refactoring XML reading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[VECTO-965] - Add input fields for ADAS into VECTO GUI</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[VECTO-966] - Allow selecting Tank System for NG engines in GUI</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[VECTO-932] - Consistency in NA values in the vsum file</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[VECTO-954] - Failed to find operating point for braking power (Fix for Notification Art. 10(2) - [VECTO-952])</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[VECTO-979] - VECTO Simulation abort with 8-speed MT transmission (Fix for Notification Art. 10(2) - [VECTO-978])</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[VECTO-931] - AT error in VECTO version 3.3.2.1519</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[VECTO-950] - Error when loading Engine Full-load curve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[VECTO-967] - Engine-Only mode: Engine Torque reported in .vmod does not match the provided cycle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[VECTO-980] - Error during simulation run</a:t>
            </a:r>
            <a:endParaRPr lang="en-US" sz="1600" b="0" strike="noStrike" spc="-1">
              <a:latin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3.3.2.1548 Official Release</a:t>
            </a:r>
            <a:br>
              <a:rPr sz="2400"/>
            </a:br>
            <a:r>
              <a:rPr lang="en-US" sz="1600" b="1" strike="noStrike" spc="-1">
                <a:solidFill>
                  <a:srgbClr val="990000"/>
                </a:solidFill>
                <a:latin typeface="Arial"/>
              </a:rPr>
              <a:t>2019-03-29</a:t>
            </a:r>
            <a:endParaRPr lang="en-US" sz="1600" b="0" strike="noStrike" spc="-1">
              <a:latin typeface="Arial"/>
            </a:endParaRPr>
          </a:p>
        </p:txBody>
      </p:sp>
      <p:sp>
        <p:nvSpPr>
          <p:cNvPr id="31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3.3.2.1519-RC)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[VECTO-861] - 3.3.1: Torque converter not working correctly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[VECTO-904] - Range for gear loss map not sufficient.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[VECTO-909] - 3.3.2.1519: Problems running more than one input .xml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[VECTO-917] - TargetVelocity (0.0000) and VehicleVelocity (&gt;0) must be zero when vehicle is halting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[VECTO-918] - RegionalDeliveryEMS LowLoading - ResponseSpeedLimitExceeded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[VECTO-920] - Urban Delivery: Simulation Run Aborted, TargetVelocity and VehicleVelocity must be zero when vehicle is halting!</a:t>
            </a:r>
            <a:endParaRPr lang="en-US" sz="1600" b="0" strike="noStrike" spc="-1">
              <a:latin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3.3.2.1519 Release Candidate</a:t>
            </a:r>
            <a:br>
              <a:rPr sz="2400"/>
            </a:br>
            <a:r>
              <a:rPr lang="en-US" sz="1600" b="1" strike="noStrike" spc="-1">
                <a:solidFill>
                  <a:srgbClr val="990000"/>
                </a:solidFill>
                <a:latin typeface="Arial"/>
              </a:rPr>
              <a:t>2019-03-01</a:t>
            </a:r>
            <a:endParaRPr lang="en-US" sz="1600" b="0" strike="noStrike" spc="-1">
              <a:latin typeface="Arial"/>
            </a:endParaRPr>
          </a:p>
        </p:txBody>
      </p:sp>
      <p:sp>
        <p:nvSpPr>
          <p:cNvPr id="31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[VECTO-869] - change new vehicle input fields (ADAS, sleeper cab, etc.) to be mandatory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[VECTO-784] - Configuration file for VECTO log files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[VECTO-865] - Extend Sum-Data</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[VECTO-873] - Add digest value to SumData</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[VECTO-729] - Bugs APT submodel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[VECTO-787] - APT: DrivingAction Accelerate after Overload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[VECTO-789] - APT: ResponseUnderload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[VECTO-797] - VECTO abort with AT transmission and TC table value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[VECTO-798] - VECTO abort with certified AT transmission data and certified TC data</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[VECTO-807] - VECTO errors in vehicle class 1/2/3</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[VECTO-827] - Torque converter inertia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[VECTO-838] - APT: ResponseOverload</a:t>
            </a:r>
            <a:endParaRPr lang="en-US" sz="1600" b="0" strike="noStrike" spc="-1">
              <a:latin typeface="Arial"/>
            </a:endParaRPr>
          </a:p>
        </p:txBody>
      </p:sp>
      <p:sp>
        <p:nvSpPr>
          <p:cNvPr id="316"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3.3.2.1519 Release Candidate</a:t>
            </a:r>
            <a:br>
              <a:rPr sz="2400"/>
            </a:br>
            <a:r>
              <a:rPr lang="en-US" sz="1600" b="1" strike="noStrike" spc="-1">
                <a:solidFill>
                  <a:srgbClr val="990000"/>
                </a:solidFill>
                <a:latin typeface="Arial"/>
              </a:rPr>
              <a:t>2019-03-01</a:t>
            </a:r>
            <a:endParaRPr lang="en-US" sz="1600" b="0" strike="noStrike" spc="-1">
              <a:latin typeface="Arial"/>
            </a:endParaRPr>
          </a:p>
        </p:txBody>
      </p:sp>
      <p:sp>
        <p:nvSpPr>
          <p:cNvPr id="318" name="PlaceHolder 2"/>
          <p:cNvSpPr>
            <a:spLocks noGrp="1"/>
          </p:cNvSpPr>
          <p:nvPr>
            <p:ph/>
          </p:nvPr>
        </p:nvSpPr>
        <p:spPr>
          <a:xfrm>
            <a:off x="323640" y="1340640"/>
            <a:ext cx="881964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[VECTO-843] - AT Transmissions problem on VECTO 3.3.1.1463</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[VECTO-844] - Error with AT gearbox model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[VECTO-847] - Simulation abort due to error in NLog?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[VECTO-848] - AT Gearbox Simulation abort (was: Problem related to Tyres?)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[VECTO-858] - Urban Delivery Abort - with APT-S Transmission and TC</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[VECTO-861] - 3.3.1: Torque converter not working correctly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[VECTO-872] - MRF/CIF: Torque Converter certification method and certification nbr not correctly set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[VECTO-879] - SIMULATION RUN ABORTED DistanceRun got an unexpected resp.</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[VECTO-883] - Traction interruption may be too long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[VECTO-815] - Unexpected Response: SpeedLimitExceeded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[VECTO-816] - object reference not set to an instance of an object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[VECTO-817] - TargetVelocity and VehicleVelocity must not be 0</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[VECTO-820] - DistanceRun got an unexpected response: ResponseSpeedLimitExceeded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[VECTO-864] - Prevent VECTO loss-map extension to result in negative torque loss</a:t>
            </a:r>
            <a:endParaRPr lang="en-US" sz="1600" b="0" strike="noStrike" spc="-1">
              <a:latin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9"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3.3.2.1519 Release Candidate</a:t>
            </a:r>
            <a:br>
              <a:rPr sz="2400"/>
            </a:br>
            <a:r>
              <a:rPr lang="en-US" sz="1600" b="1" strike="noStrike" spc="-1">
                <a:solidFill>
                  <a:srgbClr val="990000"/>
                </a:solidFill>
                <a:latin typeface="Arial"/>
              </a:rPr>
              <a:t>2019-03-01</a:t>
            </a:r>
            <a:endParaRPr lang="en-US" sz="1600" b="0" strike="noStrike" spc="-1">
              <a:latin typeface="Arial"/>
            </a:endParaRPr>
          </a:p>
        </p:txBody>
      </p:sp>
      <p:sp>
        <p:nvSpPr>
          <p:cNvPr id="320" name="PlaceHolder 2"/>
          <p:cNvSpPr>
            <a:spLocks noGrp="1"/>
          </p:cNvSpPr>
          <p:nvPr>
            <p:ph/>
          </p:nvPr>
        </p:nvSpPr>
        <p:spPr>
          <a:xfrm>
            <a:off x="323640" y="1340640"/>
            <a:ext cx="8496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Installation Option </a:t>
            </a:r>
            <a:r>
              <a:rPr lang="en-US" sz="1800" b="0" strike="noStrike" spc="-1">
                <a:solidFill>
                  <a:srgbClr val="000000"/>
                </a:solidFill>
                <a:latin typeface="Arial"/>
              </a:rPr>
              <a:t>(VECTO-784)</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 3.3.2 adds a new feature to run as ‘installed application’ instead of the ‘portable’ mode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 as ‘installed application’</a:t>
            </a:r>
            <a:endParaRPr lang="en-US" sz="16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Needs no write permissions to the VECTO application folder</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All configuration files and settings are written to %AppData%\VECTO\&lt;Version&gt;</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All log files are written to %LocalAppData%\VECTO\&lt;Version&gt;</a:t>
            </a:r>
            <a:endParaRPr lang="en-US" sz="12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Switch to ‘installed application’</a:t>
            </a:r>
            <a:endParaRPr lang="en-US" sz="1600" b="0" strike="noStrike" spc="-1">
              <a:latin typeface="Arial"/>
            </a:endParaRPr>
          </a:p>
          <a:p>
            <a:pPr marL="1143000" lvl="2" indent="-228600">
              <a:lnSpc>
                <a:spcPct val="100000"/>
              </a:lnSpc>
              <a:spcBef>
                <a:spcPts val="241"/>
              </a:spcBef>
              <a:buClr>
                <a:srgbClr val="000000"/>
              </a:buClr>
              <a:buFont typeface="Arial"/>
              <a:buAutoNum type="arabicPeriod"/>
              <a:tabLst>
                <a:tab pos="1886040" algn="l"/>
              </a:tabLst>
            </a:pPr>
            <a:r>
              <a:rPr lang="en-US" sz="1200" b="0" strike="noStrike" spc="-1">
                <a:solidFill>
                  <a:srgbClr val="000000"/>
                </a:solidFill>
                <a:latin typeface="Arial"/>
              </a:rPr>
              <a:t>Copy the VECTO directory and all its files and subdirectories to the appropriate location where the user has execute permissions</a:t>
            </a:r>
            <a:endParaRPr lang="en-US" sz="1200" b="0" strike="noStrike" spc="-1">
              <a:latin typeface="Arial"/>
            </a:endParaRPr>
          </a:p>
          <a:p>
            <a:pPr marL="1143000" lvl="2" indent="-228600">
              <a:lnSpc>
                <a:spcPct val="100000"/>
              </a:lnSpc>
              <a:spcBef>
                <a:spcPts val="241"/>
              </a:spcBef>
              <a:buClr>
                <a:srgbClr val="000000"/>
              </a:buClr>
              <a:buFont typeface="Arial"/>
              <a:buAutoNum type="arabicPeriod"/>
              <a:tabLst>
                <a:tab pos="1886040" algn="l"/>
              </a:tabLst>
            </a:pPr>
            <a:r>
              <a:rPr lang="en-US" sz="1200" b="0" strike="noStrike" spc="-1">
                <a:solidFill>
                  <a:srgbClr val="000000"/>
                </a:solidFill>
                <a:latin typeface="Arial"/>
              </a:rPr>
              <a:t>Edit the file ‘</a:t>
            </a:r>
            <a:r>
              <a:rPr lang="en-US" sz="1200" b="0" i="1" strike="noStrike" spc="-1">
                <a:solidFill>
                  <a:srgbClr val="000000"/>
                </a:solidFill>
                <a:latin typeface="Arial"/>
              </a:rPr>
              <a:t>install.ini</a:t>
            </a:r>
            <a:r>
              <a:rPr lang="en-US" sz="1200" b="0" strike="noStrike" spc="-1">
                <a:solidFill>
                  <a:srgbClr val="000000"/>
                </a:solidFill>
                <a:latin typeface="Arial"/>
              </a:rPr>
              <a:t>’ and remove the comment character (#) in the line containing </a:t>
            </a:r>
            <a:br>
              <a:rPr sz="1200"/>
            </a:br>
            <a:r>
              <a:rPr lang="en-US" sz="1200" b="0" strike="noStrike" spc="-1">
                <a:solidFill>
                  <a:srgbClr val="000000"/>
                </a:solidFill>
                <a:latin typeface="Arial"/>
              </a:rPr>
              <a:t>	</a:t>
            </a:r>
            <a:r>
              <a:rPr lang="en-US" sz="1200" b="1" strike="noStrike" spc="-1">
                <a:solidFill>
                  <a:srgbClr val="000000"/>
                </a:solidFill>
                <a:latin typeface="Courier New"/>
              </a:rPr>
              <a:t>ExecutionMode = install</a:t>
            </a:r>
            <a:endParaRPr lang="en-US" sz="1200" b="0" strike="noStrike" spc="-1">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3.3.1.1492 Official Release</a:t>
            </a:r>
            <a:br>
              <a:rPr sz="2400"/>
            </a:br>
            <a:r>
              <a:rPr lang="en-US" sz="1600" b="1" strike="noStrike" spc="-1">
                <a:solidFill>
                  <a:srgbClr val="990000"/>
                </a:solidFill>
                <a:latin typeface="Arial"/>
              </a:rPr>
              <a:t>2019-02-01</a:t>
            </a:r>
            <a:endParaRPr lang="en-US" sz="1600" b="0" strike="noStrike" spc="-1">
              <a:latin typeface="Arial"/>
            </a:endParaRPr>
          </a:p>
        </p:txBody>
      </p:sp>
      <p:sp>
        <p:nvSpPr>
          <p:cNvPr id="322"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3.3.1.1463-RC)</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[VECTO-845] - Fixing bug for VECTO-840</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[VECTO-826] - DistanceRun got an unexpected response: ResponseSpeedLimitExceeded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[VECTO-837] - VECTO GUI displays incorrect cycles prior to simulation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[VECTO-831] - Addition of indication to be added in Help and Release notes for simulations with LNG</a:t>
            </a:r>
            <a:endParaRPr lang="en-US" sz="1400" b="0" strike="noStrike" spc="-1">
              <a:latin typeface="Arial"/>
            </a:endParaRPr>
          </a:p>
        </p:txBody>
      </p:sp>
      <p:sp>
        <p:nvSpPr>
          <p:cNvPr id="323" name="Textfeld 4"/>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2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Changes according to 2017/2400 amendments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[VECTO-761] - Adaptation of input XML Schema</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[VECTO-762] - Extension of Input Interfaces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[VECTO-763] - Extension of Segmentation Table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[VECTO-764] - ADAS benefits (according to Annex III Point 8. of amendment to 2017/2400)</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[VECTO-766] - Update power demand auxiliaries (for extended segmentation table)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[VECTO-767] - Report for exempted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[VECTO-768] - VTP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[VECTO-770] - Fuel Types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[VECTO-771] - Handling of exempted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[VECTO-824] - Throw exception for certain combinations of exempted vehicle parameters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[VECTO-773] - Correction Factor for Reference Fuel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[VECTO-790] - Adapt generic data for construction/municipal utility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[VECTO-493] - Implementation of generic body weights and air drag values for construction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[VECTO-565] - Consideration of LNG as possible fuel is missing</a:t>
            </a:r>
            <a:endParaRPr lang="en-US" sz="1400" b="0" strike="noStrike" spc="-1">
              <a:latin typeface="Arial"/>
            </a:endParaRPr>
          </a:p>
        </p:txBody>
      </p:sp>
      <p:sp>
        <p:nvSpPr>
          <p:cNvPr id="326"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28" name="PlaceHolder 2"/>
          <p:cNvSpPr>
            <a:spLocks noGrp="1"/>
          </p:cNvSpPr>
          <p:nvPr>
            <p:ph/>
          </p:nvPr>
        </p:nvSpPr>
        <p:spPr>
          <a:xfrm>
            <a:off x="323640" y="1196640"/>
            <a:ext cx="8640360" cy="158328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New input parameters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The new input fields (see table below) are optional in this version. When this release candidate will be an official version manufacturers MAY certify their new vehicles using the new input parameters. As from 1</a:t>
            </a:r>
            <a:r>
              <a:rPr lang="en-US" sz="1400" b="0" strike="noStrike" spc="-1" baseline="30000">
                <a:solidFill>
                  <a:srgbClr val="000000"/>
                </a:solidFill>
                <a:latin typeface="Arial"/>
              </a:rPr>
              <a:t>st</a:t>
            </a:r>
            <a:r>
              <a:rPr lang="en-US" sz="1400" b="0" strike="noStrike" spc="-1">
                <a:solidFill>
                  <a:srgbClr val="000000"/>
                </a:solidFill>
                <a:latin typeface="Arial"/>
              </a:rPr>
              <a:t> July 2019 the new input fields will become mandatory. Further details are provided in the timetable on the next page.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Default values when the new input parameters are not provided:</a:t>
            </a:r>
            <a:endParaRPr lang="en-US" sz="1400" b="0" strike="noStrike" spc="-1">
              <a:latin typeface="Arial"/>
            </a:endParaRPr>
          </a:p>
        </p:txBody>
      </p:sp>
      <p:sp>
        <p:nvSpPr>
          <p:cNvPr id="329"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graphicFrame>
        <p:nvGraphicFramePr>
          <p:cNvPr id="330" name="Tabelle 4"/>
          <p:cNvGraphicFramePr/>
          <p:nvPr/>
        </p:nvGraphicFramePr>
        <p:xfrm>
          <a:off x="1475640" y="2768760"/>
          <a:ext cx="6021720" cy="2891160"/>
        </p:xfrm>
        <a:graphic>
          <a:graphicData uri="http://schemas.openxmlformats.org/drawingml/2006/table">
            <a:tbl>
              <a:tblPr/>
              <a:tblGrid>
                <a:gridCol w="2092320">
                  <a:extLst>
                    <a:ext uri="{9D8B030D-6E8A-4147-A177-3AD203B41FA5}">
                      <a16:colId xmlns:a16="http://schemas.microsoft.com/office/drawing/2014/main" val="20000"/>
                    </a:ext>
                  </a:extLst>
                </a:gridCol>
                <a:gridCol w="3929760">
                  <a:extLst>
                    <a:ext uri="{9D8B030D-6E8A-4147-A177-3AD203B41FA5}">
                      <a16:colId xmlns:a16="http://schemas.microsoft.com/office/drawing/2014/main" val="20001"/>
                    </a:ext>
                  </a:extLst>
                </a:gridCol>
              </a:tblGrid>
              <a:tr h="183960">
                <a:tc gridSpan="2">
                  <a:txBody>
                    <a:bodyPr/>
                    <a:lstStyle/>
                    <a:p>
                      <a:pPr>
                        <a:lnSpc>
                          <a:spcPct val="115000"/>
                        </a:lnSpc>
                        <a:buNone/>
                      </a:pPr>
                      <a:r>
                        <a:rPr lang="en-GB" sz="1050" b="1" strike="noStrike" spc="-1">
                          <a:solidFill>
                            <a:srgbClr val="FFFFFF"/>
                          </a:solidFill>
                          <a:latin typeface="Arial"/>
                        </a:rPr>
                        <a:t>Input parameters vehicle – Table 1 Annex III</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hMerge="1">
                  <a:txBody>
                    <a:bodyPr/>
                    <a:lstStyle/>
                    <a:p>
                      <a:endParaRPr lang="de-DE"/>
                    </a:p>
                  </a:txBody>
                  <a:tcPr marL="90000" marR="90000">
                    <a:lnL>
                      <a:noFill/>
                    </a:lnL>
                    <a:lnR>
                      <a:noFill/>
                    </a:lnR>
                    <a:lnT>
                      <a:noFill/>
                    </a:lnT>
                    <a:lnB>
                      <a:noFill/>
                    </a:lnB>
                    <a:solidFill>
                      <a:srgbClr val="729FCF"/>
                    </a:solidFill>
                  </a:tcPr>
                </a:tc>
                <a:extLst>
                  <a:ext uri="{0D108BD9-81ED-4DB2-BD59-A6C34878D82A}">
                    <a16:rowId xmlns:a16="http://schemas.microsoft.com/office/drawing/2014/main" val="10000"/>
                  </a:ext>
                </a:extLst>
              </a:tr>
              <a:tr h="183960">
                <a:tc>
                  <a:txBody>
                    <a:bodyPr/>
                    <a:lstStyle/>
                    <a:p>
                      <a:pPr>
                        <a:lnSpc>
                          <a:spcPct val="115000"/>
                        </a:lnSpc>
                        <a:buNone/>
                      </a:pPr>
                      <a:r>
                        <a:rPr lang="en-GB" sz="1050" b="1" strike="noStrike" spc="-1">
                          <a:solidFill>
                            <a:srgbClr val="FFFFFF"/>
                          </a:solidFill>
                          <a:latin typeface="Arial"/>
                        </a:rPr>
                        <a:t>Field</a:t>
                      </a:r>
                      <a:endParaRPr lang="en-US" sz="1050" b="0" strike="noStrike" spc="-1">
                        <a:latin typeface="Arial"/>
                      </a:endParaRPr>
                    </a:p>
                  </a:txBody>
                  <a:tcPr marL="33480" marR="33480">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Default value</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1"/>
                  </a:ext>
                </a:extLst>
              </a:tr>
              <a:tr h="367560">
                <a:tc>
                  <a:txBody>
                    <a:bodyPr/>
                    <a:lstStyle/>
                    <a:p>
                      <a:pPr>
                        <a:lnSpc>
                          <a:spcPct val="115000"/>
                        </a:lnSpc>
                        <a:buNone/>
                      </a:pPr>
                      <a:r>
                        <a:rPr lang="en-GB" sz="1050" b="1" strike="noStrike" spc="-1">
                          <a:solidFill>
                            <a:srgbClr val="FFFFFF"/>
                          </a:solidFill>
                          <a:latin typeface="Arial"/>
                        </a:rPr>
                        <a:t>VehicleCategory</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 default value but input 'rigid truck' will be converted automatically into 'rigid lorry'</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52800">
                <a:tc>
                  <a:txBody>
                    <a:bodyPr/>
                    <a:lstStyle/>
                    <a:p>
                      <a:pPr>
                        <a:lnSpc>
                          <a:spcPct val="115000"/>
                        </a:lnSpc>
                        <a:buNone/>
                      </a:pPr>
                      <a:r>
                        <a:rPr lang="en-GB" sz="1050" b="1" strike="noStrike" spc="-1">
                          <a:solidFill>
                            <a:srgbClr val="FFFFFF"/>
                          </a:solidFill>
                          <a:latin typeface="Arial"/>
                        </a:rPr>
                        <a:t>ZeroEmissionVehicle</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52800">
                <a:tc>
                  <a:txBody>
                    <a:bodyPr/>
                    <a:lstStyle/>
                    <a:p>
                      <a:pPr>
                        <a:lnSpc>
                          <a:spcPct val="115000"/>
                        </a:lnSpc>
                        <a:buNone/>
                      </a:pPr>
                      <a:r>
                        <a:rPr lang="en-GB" sz="1050" b="1" strike="noStrike" spc="-1">
                          <a:solidFill>
                            <a:srgbClr val="FFFFFF"/>
                          </a:solidFill>
                          <a:latin typeface="Arial"/>
                        </a:rPr>
                        <a:t>NgTankSystem</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'Compressed' (only applicable to gas vehicles)</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183960">
                <a:tc>
                  <a:txBody>
                    <a:bodyPr/>
                    <a:lstStyle/>
                    <a:p>
                      <a:pPr>
                        <a:lnSpc>
                          <a:spcPct val="115000"/>
                        </a:lnSpc>
                        <a:buNone/>
                      </a:pPr>
                      <a:r>
                        <a:rPr lang="en-GB" sz="1050" b="1" strike="noStrike" spc="-1">
                          <a:solidFill>
                            <a:srgbClr val="FFFFFF"/>
                          </a:solidFill>
                          <a:latin typeface="Arial"/>
                        </a:rPr>
                        <a:t>SleeperCab</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'Yes'</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r h="183960">
                <a:tc gridSpan="2">
                  <a:txBody>
                    <a:bodyPr/>
                    <a:lstStyle/>
                    <a:p>
                      <a:pPr>
                        <a:lnSpc>
                          <a:spcPct val="115000"/>
                        </a:lnSpc>
                        <a:buNone/>
                      </a:pPr>
                      <a:r>
                        <a:rPr lang="en-GB" sz="1050" b="1" strike="noStrike" spc="-1">
                          <a:solidFill>
                            <a:srgbClr val="FFFFFF"/>
                          </a:solidFill>
                          <a:latin typeface="Arial"/>
                        </a:rPr>
                        <a:t>Input parameters ADAS – Pt. 8 Annex III</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hMerge="1">
                  <a:txBody>
                    <a:bodyPr/>
                    <a:lstStyle/>
                    <a:p>
                      <a:endParaRPr lang="de-DE"/>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183960">
                <a:tc>
                  <a:txBody>
                    <a:bodyPr/>
                    <a:lstStyle/>
                    <a:p>
                      <a:pPr>
                        <a:lnSpc>
                          <a:spcPct val="115000"/>
                        </a:lnSpc>
                        <a:buNone/>
                      </a:pPr>
                      <a:r>
                        <a:rPr lang="en-GB" sz="1050" b="1" strike="noStrike" spc="-1">
                          <a:solidFill>
                            <a:srgbClr val="FFFFFF"/>
                          </a:solidFill>
                          <a:latin typeface="Arial"/>
                        </a:rPr>
                        <a:t>Field</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Default value</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7"/>
                  </a:ext>
                </a:extLst>
              </a:tr>
              <a:tr h="250560">
                <a:tc>
                  <a:txBody>
                    <a:bodyPr/>
                    <a:lstStyle/>
                    <a:p>
                      <a:pPr>
                        <a:lnSpc>
                          <a:spcPct val="115000"/>
                        </a:lnSpc>
                        <a:buNone/>
                      </a:pPr>
                      <a:r>
                        <a:rPr lang="en-GB" sz="1050" b="1" strike="noStrike" spc="-1">
                          <a:solidFill>
                            <a:srgbClr val="FFFFFF"/>
                          </a:solidFill>
                          <a:latin typeface="Arial"/>
                        </a:rPr>
                        <a:t>EngineStartStop</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8"/>
                  </a:ext>
                </a:extLst>
              </a:tr>
              <a:tr h="216000">
                <a:tc>
                  <a:txBody>
                    <a:bodyPr/>
                    <a:lstStyle/>
                    <a:p>
                      <a:pPr>
                        <a:lnSpc>
                          <a:spcPct val="115000"/>
                        </a:lnSpc>
                        <a:buNone/>
                      </a:pPr>
                      <a:r>
                        <a:rPr lang="en-GB" sz="1050" b="1" strike="noStrike" spc="-1">
                          <a:solidFill>
                            <a:srgbClr val="FFFFFF"/>
                          </a:solidFill>
                          <a:latin typeface="Arial"/>
                        </a:rPr>
                        <a:t>EcoRollWithoutEngineStop</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9"/>
                  </a:ext>
                </a:extLst>
              </a:tr>
              <a:tr h="216000">
                <a:tc>
                  <a:txBody>
                    <a:bodyPr/>
                    <a:lstStyle/>
                    <a:p>
                      <a:pPr>
                        <a:lnSpc>
                          <a:spcPct val="115000"/>
                        </a:lnSpc>
                        <a:buNone/>
                      </a:pPr>
                      <a:r>
                        <a:rPr lang="en-GB" sz="1050" b="1" strike="noStrike" spc="-1">
                          <a:solidFill>
                            <a:srgbClr val="FFFFFF"/>
                          </a:solidFill>
                          <a:latin typeface="Arial"/>
                        </a:rPr>
                        <a:t>EcoRollWithEngineStop</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10"/>
                  </a:ext>
                </a:extLst>
              </a:tr>
              <a:tr h="216000">
                <a:tc>
                  <a:txBody>
                    <a:bodyPr/>
                    <a:lstStyle/>
                    <a:p>
                      <a:pPr>
                        <a:lnSpc>
                          <a:spcPct val="115000"/>
                        </a:lnSpc>
                        <a:buNone/>
                      </a:pPr>
                      <a:r>
                        <a:rPr lang="en-GB" sz="1050" b="1" strike="noStrike" spc="-1">
                          <a:solidFill>
                            <a:srgbClr val="FFFFFF"/>
                          </a:solidFill>
                          <a:latin typeface="Arial"/>
                        </a:rPr>
                        <a:t>PredictiveCruiseControl</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11"/>
                  </a:ext>
                </a:extLst>
              </a:tr>
            </a:tbl>
          </a:graphicData>
        </a:graphic>
      </p:graphicFrame>
      <p:sp>
        <p:nvSpPr>
          <p:cNvPr id="331" name="Inhaltsplatzhalter 2"/>
          <p:cNvSpPr/>
          <p:nvPr/>
        </p:nvSpPr>
        <p:spPr>
          <a:xfrm>
            <a:off x="166320" y="5661360"/>
            <a:ext cx="8640360" cy="935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t">
            <a:noAutofit/>
          </a:bodyPr>
          <a:lstStyle/>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ea typeface="DejaVu Sans"/>
              </a:rPr>
              <a:t>Currently </a:t>
            </a:r>
            <a:r>
              <a:rPr lang="en-US" sz="1400" b="1" strike="noStrike" spc="-1">
                <a:solidFill>
                  <a:srgbClr val="000000"/>
                </a:solidFill>
                <a:latin typeface="Arial"/>
                <a:ea typeface="DejaVu Sans"/>
              </a:rPr>
              <a:t>only</a:t>
            </a:r>
            <a:r>
              <a:rPr lang="en-US" sz="1400" b="0" strike="noStrike" spc="-1">
                <a:solidFill>
                  <a:srgbClr val="000000"/>
                </a:solidFill>
                <a:latin typeface="Arial"/>
                <a:ea typeface="DejaVu Sans"/>
              </a:rPr>
              <a:t> the fuel type ‘</a:t>
            </a:r>
            <a:r>
              <a:rPr lang="en-US" sz="1400" b="1" strike="noStrike" spc="-1">
                <a:solidFill>
                  <a:srgbClr val="000000"/>
                </a:solidFill>
                <a:latin typeface="Arial"/>
                <a:ea typeface="DejaVu Sans"/>
              </a:rPr>
              <a:t>NG PI</a:t>
            </a:r>
            <a:r>
              <a:rPr lang="en-US" sz="1400" b="0" strike="noStrike" spc="-1">
                <a:solidFill>
                  <a:srgbClr val="000000"/>
                </a:solidFill>
                <a:latin typeface="Arial"/>
                <a:ea typeface="DejaVu Sans"/>
              </a:rPr>
              <a:t>’ for the </a:t>
            </a:r>
            <a:r>
              <a:rPr lang="en-US" sz="1400" b="1" strike="noStrike" spc="-1">
                <a:solidFill>
                  <a:srgbClr val="000000"/>
                </a:solidFill>
                <a:latin typeface="Arial"/>
                <a:ea typeface="DejaVu Sans"/>
              </a:rPr>
              <a:t>engine certification </a:t>
            </a:r>
            <a:r>
              <a:rPr lang="en-US" sz="1400" b="0" strike="noStrike" spc="-1">
                <a:solidFill>
                  <a:srgbClr val="000000"/>
                </a:solidFill>
                <a:latin typeface="Arial"/>
                <a:ea typeface="DejaVu Sans"/>
              </a:rPr>
              <a:t>is allowed by 2017/2400. For LNG vehicles, therefore, the engine fuel type has to be set to ‘</a:t>
            </a:r>
            <a:r>
              <a:rPr lang="en-US" sz="1400" b="1" strike="noStrike" spc="-1">
                <a:solidFill>
                  <a:srgbClr val="000000"/>
                </a:solidFill>
                <a:latin typeface="Arial"/>
                <a:ea typeface="DejaVu Sans"/>
              </a:rPr>
              <a:t>NG PI</a:t>
            </a:r>
            <a:r>
              <a:rPr lang="en-US" sz="1400" b="0" strike="noStrike" spc="-1">
                <a:solidFill>
                  <a:srgbClr val="000000"/>
                </a:solidFill>
                <a:latin typeface="Arial"/>
                <a:ea typeface="DejaVu Sans"/>
              </a:rPr>
              <a:t>’ and at the vehicle level NgTankSystem has to be set to </a:t>
            </a:r>
            <a:r>
              <a:rPr lang="en-US" sz="1400" b="1" strike="noStrike" spc="-1">
                <a:solidFill>
                  <a:srgbClr val="000000"/>
                </a:solidFill>
                <a:latin typeface="Arial"/>
                <a:ea typeface="DejaVu Sans"/>
              </a:rPr>
              <a:t>liquefied</a:t>
            </a:r>
            <a:r>
              <a:rPr lang="en-US" sz="1400" b="0" strike="noStrike" spc="-1">
                <a:solidFill>
                  <a:srgbClr val="000000"/>
                </a:solidFill>
                <a:latin typeface="Arial"/>
                <a:ea typeface="DejaVu Sans"/>
              </a:rPr>
              <a:t>. For CNG the same engine fuel type is used but NgTankSystem has to be set to </a:t>
            </a:r>
            <a:r>
              <a:rPr lang="en-US" sz="1400" b="1" strike="noStrike" spc="-1">
                <a:solidFill>
                  <a:srgbClr val="000000"/>
                </a:solidFill>
                <a:latin typeface="Arial"/>
                <a:ea typeface="DejaVu Sans"/>
              </a:rPr>
              <a:t>compressed</a:t>
            </a:r>
            <a:r>
              <a:rPr lang="en-US" sz="1400" b="0" strike="noStrike" spc="-1">
                <a:solidFill>
                  <a:srgbClr val="000000"/>
                </a:solidFill>
                <a:latin typeface="Arial"/>
                <a:ea typeface="DejaVu Sans"/>
              </a:rPr>
              <a:t>.</a:t>
            </a:r>
            <a:endParaRPr lang="en-US" sz="1400" b="0" strike="noStrike" spc="-1">
              <a:latin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33" name="PlaceHolder 2"/>
          <p:cNvSpPr>
            <a:spLocks noGrp="1"/>
          </p:cNvSpPr>
          <p:nvPr>
            <p:ph/>
          </p:nvPr>
        </p:nvSpPr>
        <p:spPr>
          <a:xfrm>
            <a:off x="323640" y="1628640"/>
            <a:ext cx="8640360" cy="158328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Timetable</a:t>
            </a:r>
            <a:endParaRPr lang="en-US" sz="1800" b="0" strike="noStrike" spc="-1">
              <a:latin typeface="Arial"/>
            </a:endParaRPr>
          </a:p>
        </p:txBody>
      </p:sp>
      <p:sp>
        <p:nvSpPr>
          <p:cNvPr id="334"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graphicFrame>
        <p:nvGraphicFramePr>
          <p:cNvPr id="335" name="Tabelle 5"/>
          <p:cNvGraphicFramePr/>
          <p:nvPr/>
        </p:nvGraphicFramePr>
        <p:xfrm>
          <a:off x="899640" y="2100600"/>
          <a:ext cx="7786440" cy="2763720"/>
        </p:xfrm>
        <a:graphic>
          <a:graphicData uri="http://schemas.openxmlformats.org/drawingml/2006/table">
            <a:tbl>
              <a:tblPr/>
              <a:tblGrid>
                <a:gridCol w="1800000">
                  <a:extLst>
                    <a:ext uri="{9D8B030D-6E8A-4147-A177-3AD203B41FA5}">
                      <a16:colId xmlns:a16="http://schemas.microsoft.com/office/drawing/2014/main" val="20000"/>
                    </a:ext>
                  </a:extLst>
                </a:gridCol>
                <a:gridCol w="1512000">
                  <a:extLst>
                    <a:ext uri="{9D8B030D-6E8A-4147-A177-3AD203B41FA5}">
                      <a16:colId xmlns:a16="http://schemas.microsoft.com/office/drawing/2014/main" val="20001"/>
                    </a:ext>
                  </a:extLst>
                </a:gridCol>
                <a:gridCol w="4474800">
                  <a:extLst>
                    <a:ext uri="{9D8B030D-6E8A-4147-A177-3AD203B41FA5}">
                      <a16:colId xmlns:a16="http://schemas.microsoft.com/office/drawing/2014/main" val="20002"/>
                    </a:ext>
                  </a:extLst>
                </a:gridCol>
              </a:tblGrid>
              <a:tr h="370800">
                <a:tc>
                  <a:txBody>
                    <a:bodyPr/>
                    <a:lstStyle/>
                    <a:p>
                      <a:pPr>
                        <a:lnSpc>
                          <a:spcPct val="100000"/>
                        </a:lnSpc>
                        <a:buNone/>
                      </a:pPr>
                      <a:r>
                        <a:rPr lang="en-US" sz="1800" b="1" strike="noStrike" spc="-1">
                          <a:solidFill>
                            <a:srgbClr val="FFFFFF"/>
                          </a:solidFill>
                          <a:latin typeface="Arial"/>
                        </a:rPr>
                        <a:t>Planned Date</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en-US" sz="1800" b="1" strike="noStrike" spc="-1">
                          <a:solidFill>
                            <a:srgbClr val="FFFFFF"/>
                          </a:solidFill>
                          <a:latin typeface="Arial"/>
                        </a:rPr>
                        <a:t>Version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en-US" sz="1800" b="1" strike="noStrike" spc="-1">
                          <a:solidFill>
                            <a:srgbClr val="FFFFFF"/>
                          </a:solidFill>
                          <a:latin typeface="Arial"/>
                        </a:rPr>
                        <a:t>Description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640440">
                <a:tc>
                  <a:txBody>
                    <a:bodyPr/>
                    <a:lstStyle/>
                    <a:p>
                      <a:pPr>
                        <a:lnSpc>
                          <a:spcPct val="100000"/>
                        </a:lnSpc>
                        <a:buNone/>
                      </a:pPr>
                      <a:r>
                        <a:rPr lang="en-US" sz="1800" b="0" strike="noStrike" spc="-1">
                          <a:solidFill>
                            <a:srgbClr val="000000"/>
                          </a:solidFill>
                          <a:latin typeface="Arial"/>
                        </a:rPr>
                        <a:t>1. Feb. 2019</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3.3.1.x</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Release of official version of release candidate 3.3.1.1463</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640440">
                <a:tc>
                  <a:txBody>
                    <a:bodyPr/>
                    <a:lstStyle/>
                    <a:p>
                      <a:pPr>
                        <a:lnSpc>
                          <a:spcPct val="100000"/>
                        </a:lnSpc>
                        <a:buNone/>
                      </a:pPr>
                      <a:r>
                        <a:rPr lang="en-US" sz="1800" b="0" strike="noStrike" spc="-1">
                          <a:solidFill>
                            <a:srgbClr val="000000"/>
                          </a:solidFill>
                          <a:latin typeface="Arial"/>
                        </a:rPr>
                        <a:t>1. March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800" b="0" strike="noStrike" spc="-1">
                          <a:solidFill>
                            <a:srgbClr val="000000"/>
                          </a:solidFill>
                          <a:latin typeface="Arial"/>
                        </a:rPr>
                        <a:t>3.3.2.x-RC</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800" b="0" strike="noStrike" spc="-1">
                          <a:solidFill>
                            <a:srgbClr val="000000"/>
                          </a:solidFill>
                          <a:latin typeface="Arial"/>
                        </a:rPr>
                        <a:t>Release candidate, new input parameters are mandatory (+ further bugfixes)</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70800">
                <a:tc>
                  <a:txBody>
                    <a:bodyPr/>
                    <a:lstStyle/>
                    <a:p>
                      <a:pPr>
                        <a:lnSpc>
                          <a:spcPct val="100000"/>
                        </a:lnSpc>
                        <a:buNone/>
                      </a:pPr>
                      <a:r>
                        <a:rPr lang="en-US" sz="1800" b="0" strike="noStrike" spc="-1">
                          <a:solidFill>
                            <a:srgbClr val="000000"/>
                          </a:solidFill>
                          <a:latin typeface="Arial"/>
                        </a:rPr>
                        <a:t>1. April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3.3.2.x</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Official version of VECTO 3.3.2</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70800">
                <a:tc>
                  <a:txBody>
                    <a:bodyPr/>
                    <a:lstStyle/>
                    <a:p>
                      <a:pPr>
                        <a:lnSpc>
                          <a:spcPct val="100000"/>
                        </a:lnSpc>
                        <a:buNone/>
                      </a:pPr>
                      <a:r>
                        <a:rPr lang="en-US" sz="1800" b="0" strike="noStrike" spc="-1">
                          <a:solidFill>
                            <a:srgbClr val="000000"/>
                          </a:solidFill>
                          <a:latin typeface="Arial"/>
                        </a:rPr>
                        <a:t>1. May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800" b="0" strike="noStrike" spc="-1">
                          <a:solidFill>
                            <a:srgbClr val="000000"/>
                          </a:solidFill>
                          <a:latin typeface="Arial"/>
                        </a:rPr>
                        <a:t>Mandatory use of 3.3.1.x for certification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370800">
                <a:tc>
                  <a:txBody>
                    <a:bodyPr/>
                    <a:lstStyle/>
                    <a:p>
                      <a:pPr>
                        <a:lnSpc>
                          <a:spcPct val="100000"/>
                        </a:lnSpc>
                        <a:buNone/>
                      </a:pPr>
                      <a:r>
                        <a:rPr lang="en-US" sz="1800" b="0" strike="noStrike" spc="-1">
                          <a:solidFill>
                            <a:srgbClr val="000000"/>
                          </a:solidFill>
                          <a:latin typeface="Arial"/>
                        </a:rPr>
                        <a:t>1. July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Mandatory use of 3.3.2.x for certification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3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Changes/Improvements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[VECTO-799] - Remove TUG Logos from Simulation Tool,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[VECTO-808] - Add Monitoring Report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[VECTO-754] - Extending Loss-Maps in case of AT gearbox for each gear, axlegear, gearbox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[VECTO-757] - Correct contact mail address in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[VECTO-779] - Update Construction Cycle - shorter stop times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[VECTO-783] - Rename columns in segmentation table and GUI</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[VECTO-709] - VTP editor from user manual not matching new VECTO one: updated documentation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[VECTO-785] - Handling of Vehicles that cannot reach the cycle's target speed: Limit max speed in driver model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[VECTO-716] - Validate data in Settings Tab: update documentation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[VECTO-793] - Inconsistency between GUI, Help and Regulation: update wording in GUI and user 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[VECTO-796] - Adaptation of FuelProperties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[VECTO-806] - extend loss-maps (gbx, axl, angl) for MT and AMT transmissions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[VECTO-750] - Simulation error DrivingAction: adapt downshift rules for AT to drive over hill with 6% inclination</a:t>
            </a:r>
            <a:endParaRPr lang="en-US" sz="1400" b="0" strike="noStrike" spc="-1">
              <a:latin typeface="Arial"/>
            </a:endParaRPr>
          </a:p>
          <a:p>
            <a:pPr>
              <a:lnSpc>
                <a:spcPct val="100000"/>
              </a:lnSpc>
              <a:spcBef>
                <a:spcPts val="320"/>
              </a:spcBef>
              <a:buNone/>
              <a:tabLst>
                <a:tab pos="1886040" algn="l"/>
              </a:tabLst>
            </a:pPr>
            <a:endParaRPr lang="en-US" sz="1600" b="0" strike="noStrike" spc="-1">
              <a:latin typeface="Arial"/>
            </a:endParaRPr>
          </a:p>
        </p:txBody>
      </p:sp>
      <p:sp>
        <p:nvSpPr>
          <p:cNvPr id="338"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9"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40" name="PlaceHolder 2"/>
          <p:cNvSpPr>
            <a:spLocks noGrp="1"/>
          </p:cNvSpPr>
          <p:nvPr>
            <p:ph/>
          </p:nvPr>
        </p:nvSpPr>
        <p:spPr>
          <a:xfrm>
            <a:off x="323640" y="1628640"/>
            <a:ext cx="8640360" cy="50328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Update of Fuel Properties [VECTO-796]</a:t>
            </a:r>
            <a:endParaRPr lang="en-US" sz="1800" b="0" strike="noStrike" spc="-1">
              <a:latin typeface="Arial"/>
            </a:endParaRPr>
          </a:p>
        </p:txBody>
      </p:sp>
      <p:sp>
        <p:nvSpPr>
          <p:cNvPr id="341"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graphicFrame>
        <p:nvGraphicFramePr>
          <p:cNvPr id="342" name="Tabelle 4"/>
          <p:cNvGraphicFramePr/>
          <p:nvPr/>
        </p:nvGraphicFramePr>
        <p:xfrm>
          <a:off x="468360" y="2606400"/>
          <a:ext cx="8217720" cy="2148840"/>
        </p:xfrm>
        <a:graphic>
          <a:graphicData uri="http://schemas.openxmlformats.org/drawingml/2006/table">
            <a:tbl>
              <a:tblPr/>
              <a:tblGrid>
                <a:gridCol w="947160">
                  <a:extLst>
                    <a:ext uri="{9D8B030D-6E8A-4147-A177-3AD203B41FA5}">
                      <a16:colId xmlns:a16="http://schemas.microsoft.com/office/drawing/2014/main" val="20000"/>
                    </a:ext>
                  </a:extLst>
                </a:gridCol>
                <a:gridCol w="1369440">
                  <a:extLst>
                    <a:ext uri="{9D8B030D-6E8A-4147-A177-3AD203B41FA5}">
                      <a16:colId xmlns:a16="http://schemas.microsoft.com/office/drawing/2014/main" val="20001"/>
                    </a:ext>
                  </a:extLst>
                </a:gridCol>
                <a:gridCol w="947160">
                  <a:extLst>
                    <a:ext uri="{9D8B030D-6E8A-4147-A177-3AD203B41FA5}">
                      <a16:colId xmlns:a16="http://schemas.microsoft.com/office/drawing/2014/main" val="20002"/>
                    </a:ext>
                  </a:extLst>
                </a:gridCol>
                <a:gridCol w="947160">
                  <a:extLst>
                    <a:ext uri="{9D8B030D-6E8A-4147-A177-3AD203B41FA5}">
                      <a16:colId xmlns:a16="http://schemas.microsoft.com/office/drawing/2014/main" val="20003"/>
                    </a:ext>
                  </a:extLst>
                </a:gridCol>
                <a:gridCol w="947160">
                  <a:extLst>
                    <a:ext uri="{9D8B030D-6E8A-4147-A177-3AD203B41FA5}">
                      <a16:colId xmlns:a16="http://schemas.microsoft.com/office/drawing/2014/main" val="20004"/>
                    </a:ext>
                  </a:extLst>
                </a:gridCol>
                <a:gridCol w="3060000">
                  <a:extLst>
                    <a:ext uri="{9D8B030D-6E8A-4147-A177-3AD203B41FA5}">
                      <a16:colId xmlns:a16="http://schemas.microsoft.com/office/drawing/2014/main" val="20005"/>
                    </a:ext>
                  </a:extLst>
                </a:gridCol>
              </a:tblGrid>
              <a:tr h="342360">
                <a:tc>
                  <a:txBody>
                    <a:bodyPr/>
                    <a:lstStyle/>
                    <a:p>
                      <a:pPr algn="ctr">
                        <a:lnSpc>
                          <a:spcPct val="100000"/>
                        </a:lnSpc>
                        <a:buNone/>
                      </a:pPr>
                      <a:r>
                        <a:rPr lang="de-AT" sz="1000" b="0" strike="noStrike" spc="-1">
                          <a:solidFill>
                            <a:srgbClr val="000000"/>
                          </a:solidFill>
                          <a:latin typeface="Arial"/>
                        </a:rPr>
                        <a:t>Fuel type</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Reference for fuel properties</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Density</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CO2 emission factor</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Lower Heating Value</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Data Source</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0"/>
                  </a:ext>
                </a:extLst>
              </a:tr>
              <a:tr h="171000">
                <a:tc>
                  <a:txBody>
                    <a:bodyPr/>
                    <a:lstStyle/>
                    <a:p>
                      <a:pPr algn="ctr">
                        <a:lnSpc>
                          <a:spcPct val="100000"/>
                        </a:lnSpc>
                        <a:buNone/>
                      </a:pPr>
                      <a:r>
                        <a:rPr lang="de-AT" sz="1000" b="0" strike="noStrike" spc="-1">
                          <a:solidFill>
                            <a:srgbClr val="000000"/>
                          </a:solidFill>
                          <a:latin typeface="Arial"/>
                        </a:rPr>
                        <a:t>[-]</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[kg/m³]</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[g_CO2/g_Fuel]</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[MJ/kg]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1"/>
                  </a:ext>
                </a:extLst>
              </a:tr>
              <a:tr h="171000">
                <a:tc>
                  <a:txBody>
                    <a:bodyPr/>
                    <a:lstStyle/>
                    <a:p>
                      <a:pPr>
                        <a:lnSpc>
                          <a:spcPct val="100000"/>
                        </a:lnSpc>
                        <a:buNone/>
                      </a:pPr>
                      <a:r>
                        <a:rPr lang="de-AT" sz="1000" b="0" strike="noStrike" spc="-1">
                          <a:solidFill>
                            <a:srgbClr val="000000"/>
                          </a:solidFill>
                          <a:latin typeface="Arial"/>
                        </a:rPr>
                        <a:t>Diesel</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B7</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836</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3.13</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42.7</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 </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171000">
                <a:tc>
                  <a:txBody>
                    <a:bodyPr/>
                    <a:lstStyle/>
                    <a:p>
                      <a:pPr>
                        <a:lnSpc>
                          <a:spcPct val="100000"/>
                        </a:lnSpc>
                        <a:buNone/>
                      </a:pPr>
                      <a:r>
                        <a:rPr lang="de-AT" sz="1000" b="0" strike="noStrike" spc="-1">
                          <a:solidFill>
                            <a:srgbClr val="000000"/>
                          </a:solidFill>
                          <a:latin typeface="Arial"/>
                        </a:rPr>
                        <a:t>ED95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ED95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820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1.81</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25.4</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3"/>
                  </a:ext>
                </a:extLst>
              </a:tr>
              <a:tr h="171000">
                <a:tc>
                  <a:txBody>
                    <a:bodyPr/>
                    <a:lstStyle/>
                    <a:p>
                      <a:pPr>
                        <a:lnSpc>
                          <a:spcPct val="100000"/>
                        </a:lnSpc>
                        <a:buNone/>
                      </a:pPr>
                      <a:r>
                        <a:rPr lang="de-AT" sz="1000" b="0" strike="noStrike" spc="-1">
                          <a:solidFill>
                            <a:srgbClr val="000000"/>
                          </a:solidFill>
                          <a:latin typeface="Arial"/>
                        </a:rPr>
                        <a:t>Petrol</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E10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748</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3.04</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41.5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304920">
                <a:tc>
                  <a:txBody>
                    <a:bodyPr/>
                    <a:lstStyle/>
                    <a:p>
                      <a:pPr>
                        <a:lnSpc>
                          <a:spcPct val="100000"/>
                        </a:lnSpc>
                        <a:buNone/>
                      </a:pPr>
                      <a:r>
                        <a:rPr lang="de-AT" sz="1000" b="0" strike="noStrike" spc="-1">
                          <a:solidFill>
                            <a:srgbClr val="000000"/>
                          </a:solidFill>
                          <a:latin typeface="Arial"/>
                        </a:rPr>
                        <a:t>E85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E85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786</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2.10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29.3</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000" b="0" strike="noStrike" spc="-1">
                          <a:solidFill>
                            <a:srgbClr val="000000"/>
                          </a:solidFill>
                          <a:latin typeface="Arial"/>
                        </a:rPr>
                        <a:t>Calculated from E0 and E100  from 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5"/>
                  </a:ext>
                </a:extLst>
              </a:tr>
              <a:tr h="171000">
                <a:tc>
                  <a:txBody>
                    <a:bodyPr/>
                    <a:lstStyle/>
                    <a:p>
                      <a:pPr>
                        <a:lnSpc>
                          <a:spcPct val="100000"/>
                        </a:lnSpc>
                        <a:buNone/>
                      </a:pPr>
                      <a:r>
                        <a:rPr lang="de-AT" sz="1000" b="0" strike="noStrike" spc="-1">
                          <a:solidFill>
                            <a:srgbClr val="000000"/>
                          </a:solidFill>
                          <a:latin typeface="Arial"/>
                        </a:rPr>
                        <a:t>LPG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LPG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not required*</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3.02</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46.0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6"/>
                  </a:ext>
                </a:extLst>
              </a:tr>
              <a:tr h="171000">
                <a:tc>
                  <a:txBody>
                    <a:bodyPr/>
                    <a:lstStyle/>
                    <a:p>
                      <a:pPr>
                        <a:lnSpc>
                          <a:spcPct val="100000"/>
                        </a:lnSpc>
                        <a:buNone/>
                      </a:pPr>
                      <a:r>
                        <a:rPr lang="de-AT" sz="1000" b="0" strike="noStrike" spc="-1">
                          <a:solidFill>
                            <a:srgbClr val="000000"/>
                          </a:solidFill>
                          <a:latin typeface="Arial"/>
                        </a:rPr>
                        <a:t>CNG</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CNG (H-Gas)</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not required*</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2.69</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48.0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7"/>
                  </a:ext>
                </a:extLst>
              </a:tr>
              <a:tr h="304920">
                <a:tc>
                  <a:txBody>
                    <a:bodyPr/>
                    <a:lstStyle/>
                    <a:p>
                      <a:pPr>
                        <a:lnSpc>
                          <a:spcPct val="100000"/>
                        </a:lnSpc>
                        <a:buNone/>
                      </a:pPr>
                      <a:r>
                        <a:rPr lang="de-AT" sz="1000" b="0" strike="noStrike" spc="-1">
                          <a:solidFill>
                            <a:srgbClr val="000000"/>
                          </a:solidFill>
                          <a:latin typeface="Arial"/>
                        </a:rPr>
                        <a:t>LNG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LNG (EU mix. 2016/2030)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not required*</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2.77</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49.1</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8"/>
                  </a:ext>
                </a:extLst>
              </a:tr>
              <a:tr h="171000">
                <a:tc gridSpan="4">
                  <a:txBody>
                    <a:bodyPr/>
                    <a:lstStyle/>
                    <a:p>
                      <a:pPr>
                        <a:lnSpc>
                          <a:spcPct val="100000"/>
                        </a:lnSpc>
                        <a:buNone/>
                      </a:pPr>
                      <a:r>
                        <a:rPr lang="en-US" sz="1000" b="0" strike="noStrike" spc="-1">
                          <a:solidFill>
                            <a:srgbClr val="000000"/>
                          </a:solidFill>
                          <a:latin typeface="Arial"/>
                        </a:rPr>
                        <a:t>* VECTO does not provide volume based figures for gaseous fuels</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hMerge="1">
                  <a:txBody>
                    <a:bodyPr/>
                    <a:lstStyle/>
                    <a:p>
                      <a:endParaRPr lang="de-DE"/>
                    </a:p>
                  </a:txBody>
                  <a:tcPr marL="90000" marR="90000">
                    <a:lnL>
                      <a:noFill/>
                    </a:lnL>
                    <a:lnR>
                      <a:noFill/>
                    </a:lnR>
                    <a:lnT>
                      <a:noFill/>
                    </a:lnT>
                    <a:lnB>
                      <a:noFill/>
                    </a:lnB>
                    <a:solidFill>
                      <a:srgbClr val="729FCF"/>
                    </a:solidFill>
                  </a:tcPr>
                </a:tc>
                <a:tc hMerge="1">
                  <a:txBody>
                    <a:bodyPr/>
                    <a:lstStyle/>
                    <a:p>
                      <a:endParaRPr lang="de-DE"/>
                    </a:p>
                  </a:txBody>
                  <a:tcPr marL="90000" marR="90000">
                    <a:lnL>
                      <a:noFill/>
                    </a:lnL>
                    <a:lnR>
                      <a:noFill/>
                    </a:lnR>
                    <a:lnT>
                      <a:noFill/>
                    </a:lnT>
                    <a:lnB>
                      <a:noFill/>
                    </a:lnB>
                    <a:solidFill>
                      <a:srgbClr val="729FCF"/>
                    </a:solidFill>
                  </a:tcPr>
                </a:tc>
                <a:tc hMerge="1">
                  <a:txBody>
                    <a:bodyPr/>
                    <a:lstStyle/>
                    <a:p>
                      <a:endParaRPr lang="de-DE"/>
                    </a:p>
                  </a:txBody>
                  <a:tcPr marL="90000" marR="90000">
                    <a:lnL>
                      <a:noFill/>
                    </a:lnL>
                    <a:lnR>
                      <a:noFill/>
                    </a:lnR>
                    <a:lnT>
                      <a:noFill/>
                    </a:lnT>
                    <a:lnB>
                      <a:noFill/>
                    </a:lnB>
                    <a:solidFill>
                      <a:srgbClr val="729FCF"/>
                    </a:solidFill>
                  </a:tcPr>
                </a:tc>
                <a:tc>
                  <a:txBody>
                    <a:bodyPr/>
                    <a:lstStyle/>
                    <a:p>
                      <a:pPr>
                        <a:lnSpc>
                          <a:spcPct val="100000"/>
                        </a:lnSpc>
                        <a:buNone/>
                      </a:pPr>
                      <a:r>
                        <a:rPr lang="de-AT" sz="1000" b="0" strike="noStrike" spc="-1">
                          <a:solidFill>
                            <a:srgbClr val="000000"/>
                          </a:solidFill>
                          <a:latin typeface="Arial"/>
                        </a:rPr>
                        <a:t> </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 </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9"/>
                  </a:ext>
                </a:extLst>
              </a:tr>
            </a:tbl>
          </a:graphicData>
        </a:graphic>
      </p:graphicFrame>
      <p:sp>
        <p:nvSpPr>
          <p:cNvPr id="343" name="Rectangle 3"/>
          <p:cNvSpPr/>
          <p:nvPr/>
        </p:nvSpPr>
        <p:spPr>
          <a:xfrm>
            <a:off x="396000" y="5153040"/>
            <a:ext cx="8142120" cy="570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ctr">
            <a:spAutoFit/>
          </a:bodyPr>
          <a:lstStyle/>
          <a:p>
            <a:pPr marL="357120" indent="-357120">
              <a:lnSpc>
                <a:spcPct val="100000"/>
              </a:lnSpc>
              <a:buNone/>
              <a:tabLst>
                <a:tab pos="0" algn="l"/>
              </a:tabLst>
            </a:pPr>
            <a:r>
              <a:rPr lang="de-AT" sz="1050" b="0" strike="noStrike" spc="-1">
                <a:solidFill>
                  <a:srgbClr val="000000"/>
                </a:solidFill>
                <a:latin typeface="Arial"/>
                <a:ea typeface="DejaVu Sans"/>
              </a:rPr>
              <a:t>CONCAWE/JEC (2018): </a:t>
            </a:r>
            <a:r>
              <a:rPr lang="en-GB" sz="1050" b="0" strike="noStrike" spc="-1">
                <a:solidFill>
                  <a:srgbClr val="000000"/>
                </a:solidFill>
                <a:latin typeface="Arial"/>
                <a:ea typeface="DejaVu Sans"/>
              </a:rPr>
              <a:t>Specifications are based on a recent analysis (2018) performed by CONCAWE/EUCAR and shall reflect typical fuel on the European market. The data is scheduled to be published in March 2019 in the context of the study: </a:t>
            </a:r>
            <a:br>
              <a:rPr sz="1050"/>
            </a:br>
            <a:r>
              <a:rPr lang="en-GB" sz="1050" b="0" strike="noStrike" spc="-1">
                <a:solidFill>
                  <a:srgbClr val="000000"/>
                </a:solidFill>
                <a:latin typeface="Arial"/>
                <a:ea typeface="DejaVu Sans"/>
              </a:rPr>
              <a:t>Well-To-Wheels Analysis Of Future Automotive Fuels And Powertrains in the European Context – Heavy Duty vehicles</a:t>
            </a:r>
            <a:endParaRPr lang="en-US" sz="1050" b="0" strike="noStrike" spc="-1">
              <a:latin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4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[VECTO-819] - object reference not set to an instance of an object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[VECTO-818] - SearchOperatingPoint: Unknown response type.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[VECTO-813] - Error "Infinity [] is not allowed for SI-Value"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[VECTO-769] - DrivingAction Brake: request failed after braking power was found.ResponseEngineSpeedTooHigh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[VECTO-804] - Error on simulation with VECTO 3.3.0.1433</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[VECTO-805] - Total vehicle mass exceeds TPMLM</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[VECTO-811] - AMT: ResponseGearShift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[VECTO-812] - AMT: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[VECTO-822] - SIMULATION RUN ABORTED by Infinity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[VECTO-792] - Vecto Hashing Tool - error object reference not set to an instance of an object (overwriting Date element)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[VECTO-696] - Problem with Primary Retarder: regression update, set torque loss to 0 for 0 speed and engaged gear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[VECTO-776] - Decision Factor (DF)  field is emptied after each simulation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[VECTO-814] - Error: DistanceRun got an unexpected response: ResponseGearshift</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3.3.0.1433 Official Release</a:t>
            </a:r>
            <a:br>
              <a:rPr sz="2400"/>
            </a:br>
            <a:r>
              <a:rPr lang="en-US" sz="1600" b="1" strike="noStrike" spc="-1">
                <a:solidFill>
                  <a:srgbClr val="990000"/>
                </a:solidFill>
                <a:latin typeface="Arial"/>
              </a:rPr>
              <a:t>2018-12-04</a:t>
            </a:r>
            <a:endParaRPr lang="en-US" sz="1600" b="0" strike="noStrike" spc="-1">
              <a:latin typeface="Arial"/>
            </a:endParaRPr>
          </a:p>
        </p:txBody>
      </p:sp>
      <p:sp>
        <p:nvSpPr>
          <p:cNvPr id="34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3.3.0.1398)</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[VECTO-795] – VECTO Hashing Tool crashes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[VECTO-802] – Error in XML schema for manufacturer's record file</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3.3.0.1250)</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[VECTO-723] - Simulation aborts with engine speed too high in RD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[VECTO-724] - Simulation aborts with error 'EngineSpeedTooHigh' - duplicate of VECTO-744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[VECTO-728] - Simulation aborts when vehicle's max speed (n95h) is below the target speed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[VECTO-730] - Simulation Aborts with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[VECTO-744] - ResponseEngineSpeedTooHigh (due to torque limits in gearbox)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[VECTO-731] - Case Mismatch - Torque Converter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[VECTO-711] - Elements without types in CIF and MRF</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[VECTO-757] - Correct contact mail address in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[VECTO-703] - PTO output in MRF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[VECTO-713] - Manufacturer Information File in the legislation is not compatible with the Simulation results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 (compared to 3.3.0.1250)</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[VECTO-704] - Allow VTP-simulations for AT gearboxes</a:t>
            </a:r>
            <a:endParaRPr lang="en-US" sz="1400" b="0" strike="noStrike" spc="-1">
              <a:latin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3.3.0.1398 Release Candiate</a:t>
            </a:r>
            <a:br>
              <a:rPr sz="2400"/>
            </a:br>
            <a:r>
              <a:rPr lang="en-US" sz="1600" b="1" strike="noStrike" spc="-1">
                <a:solidFill>
                  <a:srgbClr val="990000"/>
                </a:solidFill>
                <a:latin typeface="Arial"/>
              </a:rPr>
              <a:t>2018-10-30</a:t>
            </a:r>
            <a:endParaRPr lang="en-US" sz="1600" b="0" strike="noStrike" spc="-1">
              <a:latin typeface="Arial"/>
            </a:endParaRPr>
          </a:p>
        </p:txBody>
      </p:sp>
      <p:sp>
        <p:nvSpPr>
          <p:cNvPr id="34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[VECTO-723] - Simulation aborts with engine speed too high in RD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[VECTO-724] - Simulation aborts with error 'EngineSpeedTooHigh' - duplicate of VECTO-744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[VECTO-728] - Simulation aborts when vehicle's max speed (n95h) is below the target speed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[VECTO-730] - Simulation Aborts with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[VECTO-744] - ResponseEngineSpeedTooHigh (due to torque limits in gearbox)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[VECTO-731] - Case Mismatch - Torque Converter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[VECTO-711] - Elements without types in CIF and MRF</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[VECTO-757] - Correct contact mail address in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[VECTO-703] - PTO output in MRF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[VECTO-713] - Manufacturer Information File in the legislation is not compatible with the Simulation results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[VECTO-704] - Allow VTP-simulations for AT gearboxes</a:t>
            </a:r>
            <a:endParaRPr lang="en-US" sz="1400" b="0" strike="noStrike" spc="-1">
              <a:latin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3.3.0.1250</a:t>
            </a:r>
            <a:br>
              <a:rPr sz="2400"/>
            </a:br>
            <a:r>
              <a:rPr lang="en-US" sz="1600" b="1" strike="noStrike" spc="-1">
                <a:solidFill>
                  <a:srgbClr val="990000"/>
                </a:solidFill>
                <a:latin typeface="Arial"/>
              </a:rPr>
              <a:t>2018-06-04</a:t>
            </a:r>
            <a:endParaRPr lang="en-US" sz="1600" b="0" strike="noStrike" spc="-1">
              <a:latin typeface="Arial"/>
            </a:endParaRPr>
          </a:p>
        </p:txBody>
      </p:sp>
      <p:sp>
        <p:nvSpPr>
          <p:cNvPr id="35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[VECTO-665] - Adding style information to XML Reports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[VECTO-669] - Group 1 vehicle comprises vehicles with gross vehicle weight &gt; 7.5t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[VECTO-672] - Keep manual choice for "Validate data"</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[VECTO-682] - VTP Simulation in declaration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[VECTO-652] - VTP: Check Cycle matches simulation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[VECTO-683] - VTP: Quality and plausibility checks for recorded data from VTP</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[VECTO-685] - VTP Programming of standard VECTO VTP report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[VECTO-689] - Additional Tyre sizes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[VECTO-702] - Hashing tool: adapt warnings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[VECTO-667] - Removing NCV Correction Factor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[VECTO-679] - Engine n95h computation gives wrong (too high) engine speed (above measured FLD, n70h)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[VECTO-693] - extend vehicle performance in manufacturer record</a:t>
            </a:r>
            <a:endParaRPr lang="en-US" sz="1400" b="0" strike="noStrike" spc="-1">
              <a:latin typeface="Arial"/>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3.3.0.1250</a:t>
            </a:r>
            <a:br>
              <a:rPr sz="2400"/>
            </a:br>
            <a:r>
              <a:rPr lang="en-US" sz="1600" b="1" strike="noStrike" spc="-1">
                <a:solidFill>
                  <a:srgbClr val="990000"/>
                </a:solidFill>
                <a:latin typeface="Arial"/>
              </a:rPr>
              <a:t>2018-06-04</a:t>
            </a:r>
            <a:endParaRPr lang="en-US" sz="1600" b="0" strike="noStrike" spc="-1">
              <a:latin typeface="Arial"/>
            </a:endParaRPr>
          </a:p>
        </p:txBody>
      </p:sp>
      <p:sp>
        <p:nvSpPr>
          <p:cNvPr id="35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[VECTO-656] - Distance computation in vsum</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[VECTO-666] - CF_RegPer no effect in vehicle simulation -- added to the engine correction factors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[VECTO-687] - Saving a Engine-Only Job is not possible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[VECTO-695] - Bug in vectocmd.exe - process does not terminate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[VECTO-699] - Output in manufacturer report and customer report (VECTO) uses different units than described in legislation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[VECTO-700] - errorr in simulation with 0 stop time at the beginning of the cycle </a:t>
            </a:r>
            <a:endParaRPr lang="en-US" sz="1400" b="0" strike="noStrike" spc="-1">
              <a:latin typeface="Arial"/>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3.2.1.1133</a:t>
            </a:r>
            <a:br>
              <a:rPr sz="2400"/>
            </a:br>
            <a:r>
              <a:rPr lang="en-US" sz="1600" b="1" strike="noStrike" spc="-1">
                <a:solidFill>
                  <a:srgbClr val="990000"/>
                </a:solidFill>
                <a:latin typeface="Arial"/>
              </a:rPr>
              <a:t>2018-02-07</a:t>
            </a:r>
            <a:endParaRPr lang="en-US" sz="1600" b="0" strike="noStrike" spc="-1">
              <a:latin typeface="Arial"/>
            </a:endParaRPr>
          </a:p>
        </p:txBody>
      </p:sp>
      <p:sp>
        <p:nvSpPr>
          <p:cNvPr id="35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[VECTO-634] - VTP Mode: specific fuel consumption</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[VECTO-642] - VECTO BUG – secondary retarder losses: </a:t>
            </a:r>
            <a:br>
              <a:rPr sz="1400"/>
            </a:br>
            <a:r>
              <a:rPr lang="en-US" sz="1400" b="1" strike="noStrike" spc="-1">
                <a:solidFill>
                  <a:srgbClr val="000000"/>
                </a:solidFill>
                <a:latin typeface="Arial"/>
              </a:rPr>
              <a:t>IMPORTANT:</a:t>
            </a:r>
            <a:r>
              <a:rPr lang="en-US" sz="1400" b="0" strike="noStrike" spc="-1">
                <a:solidFill>
                  <a:srgbClr val="000000"/>
                </a:solidFill>
                <a:latin typeface="Arial"/>
              </a:rPr>
              <a:t> Fuel-consumption relevant bug! wrong calculation of retarder losses for retarder ratio not equal to 1</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[VECTO-624] - Crash w/o comment: Infinite recursion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[VECTO-627] - Cannot open Engine-Only Job</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[VECTO-629] - Vecto crashes without errror message (same issue as VECTO-624)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[VECTO-639] - Failed to find operating point for braking power: cycle with low target speed (3km/h). allow driving with slipping clutch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[VECTO-640] - Exceeded max. iterations: driving fully-loaded vehicle steep uphill. fixed by allowing full-stop and drive off again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[VECTO-633] - unable to start VTP Mode simulation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[VECTO-645] - Encountered error while validating Vecto output (generated by API) through Hashing tool for vehicle without retarder</a:t>
            </a:r>
            <a:endParaRPr lang="en-US" sz="1400" b="0" strike="noStrike" spc="-1">
              <a:latin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3.2.1.1079</a:t>
            </a:r>
            <a:br>
              <a:rPr sz="2400"/>
            </a:br>
            <a:r>
              <a:rPr lang="en-US" sz="1600" b="1" strike="noStrike" spc="-1">
                <a:solidFill>
                  <a:srgbClr val="990000"/>
                </a:solidFill>
                <a:latin typeface="Arial"/>
              </a:rPr>
              <a:t>2017-12-15</a:t>
            </a:r>
            <a:endParaRPr lang="en-US" sz="1600" b="0" strike="noStrike" spc="-1">
              <a:latin typeface="Arial"/>
            </a:endParaRPr>
          </a:p>
        </p:txBody>
      </p:sp>
      <p:sp>
        <p:nvSpPr>
          <p:cNvPr id="35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Improvement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[VECTO-618] - Add Hash value of tyres to manufacturer's record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[VECTO-590] - Handling of hash values: customer's record contains hash of manufacturer's record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[VECTO-612] - Continuously changing hashes: Info in GUI of HashingTool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[VECTO-560] - Change Mail-Address of general VECTO contact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[VECTO-616] - SI-Unit - display derived unit instead of base units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[VECTO-608] - Power balance in EPT-mode not closed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 [VECTO-611] - Invalid input. Cannot cast Newtonsoft.Json.Linq.JObject to Newtonsoft.Json.Linq.Jtoken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[VECTO-610] - TyreCertificationNumber missing in Manufacturer Report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[VECTO-613] - Incomplete description of allowed values of LegislativeClass (p251) in VECTO parameter documentation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[VECTO-625] - Update XML Schema: Tyre dimensions according to Technicall Annex, trailing spaces in enums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Support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 </a:t>
            </a:r>
            <a:r>
              <a:rPr lang="en-US" sz="1400" b="0" strike="noStrike" spc="-1">
                <a:solidFill>
                  <a:srgbClr val="000000"/>
                </a:solidFill>
                <a:latin typeface="Arial"/>
              </a:rPr>
              <a:t>[VECTO-615] - Error torque interpolation in declaration jobs exported to XMLImprovements</a:t>
            </a:r>
            <a:endParaRPr lang="en-US" sz="1400" b="0" strike="noStrike" spc="-1">
              <a:latin typeface="Arial"/>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3.2.1.1054</a:t>
            </a:r>
            <a:br>
              <a:rPr sz="2400"/>
            </a:br>
            <a:r>
              <a:rPr lang="en-US" sz="1600" b="1" strike="noStrike" spc="-1">
                <a:solidFill>
                  <a:srgbClr val="990000"/>
                </a:solidFill>
                <a:latin typeface="Arial"/>
              </a:rPr>
              <a:t>2017-11-20</a:t>
            </a:r>
            <a:endParaRPr lang="en-US" sz="1600" b="0" strike="noStrike" spc="-1">
              <a:latin typeface="Arial"/>
            </a:endParaRPr>
          </a:p>
        </p:txBody>
      </p:sp>
      <p:sp>
        <p:nvSpPr>
          <p:cNvPr id="35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Improvements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[VECTO-592] - VTP Simulation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[VECTO-605] - Improve simulation speed</a:t>
            </a:r>
            <a:endParaRPr lang="en-US" sz="1400" b="0" strike="noStrike" spc="-1">
              <a:latin typeface="Arial"/>
            </a:endParaRPr>
          </a:p>
          <a:p>
            <a:pPr>
              <a:lnSpc>
                <a:spcPct val="100000"/>
              </a:lnSpc>
              <a:spcBef>
                <a:spcPts val="281"/>
              </a:spcBef>
              <a:buNone/>
              <a:tabLst>
                <a:tab pos="0" algn="l"/>
              </a:tabLst>
            </a:pPr>
            <a:endParaRPr lang="en-US" sz="1400" b="0" strike="noStrike" spc="-1">
              <a:latin typeface="Arial"/>
            </a:endParaRPr>
          </a:p>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[VECTO-602] - Error in simulation without airdrag component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[VECTO-589] - Scheme .xml error</a:t>
            </a:r>
            <a:endParaRPr lang="en-US" sz="1400" b="0" strike="noStrike" spc="-1">
              <a:latin typeface="Arial"/>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0" name="PlaceHolder 1"/>
          <p:cNvSpPr>
            <a:spLocks noGrp="1"/>
          </p:cNvSpPr>
          <p:nvPr>
            <p:ph type="title"/>
          </p:nvPr>
        </p:nvSpPr>
        <p:spPr>
          <a:xfrm>
            <a:off x="468360" y="476640"/>
            <a:ext cx="8217720" cy="5752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VTP Simulation Mode</a:t>
            </a:r>
            <a:endParaRPr lang="en-US" sz="2400" b="0" strike="noStrike" spc="-1">
              <a:latin typeface="Arial"/>
            </a:endParaRPr>
          </a:p>
        </p:txBody>
      </p:sp>
      <p:sp>
        <p:nvSpPr>
          <p:cNvPr id="361" name="PlaceHolder 2"/>
          <p:cNvSpPr>
            <a:spLocks noGrp="1"/>
          </p:cNvSpPr>
          <p:nvPr>
            <p:ph/>
          </p:nvPr>
        </p:nvSpPr>
        <p:spPr>
          <a:xfrm>
            <a:off x="468360" y="1196640"/>
            <a:ext cx="821772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pPr>
            <a:r>
              <a:rPr lang="en-US" sz="1800" b="0" strike="noStrike" spc="-1">
                <a:solidFill>
                  <a:srgbClr val="000000"/>
                </a:solidFill>
                <a:latin typeface="Arial"/>
              </a:rPr>
              <a:t>Verification Test Procedure (VTP) Simulation Mode</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Similar to Pwheel mode, different cycle format (see user manual)</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Requires:</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Vehicle in declaration mode (XML)</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Measured driving cycle</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Parameters for engine-fan model</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 calculates the gear based on the wheel speed and engine speed (and vehicle parameters) and ignores the gear provided in the driving cycle</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Fuel consumption interpolation is done using the engine speed from the cycle and calculated power demand (to avoid wrong engine speeds due to wrong gear selection)</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Simulation uses all auxiliaries except engine fan</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Engine fan is modeled separately, power demand depends on fan speed (see user manual)</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Auxiliary power selected according to segment table, BUT power demand depends on vehicle speed</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v &lt; 50 km/h: Urban</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50 &lt;= v &lt; 70 km/h: Rural</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v &gt;70 km/h: Long haul</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Gear and fuel consumption in the driving cycle are optional for now, may be used in future versions</a:t>
            </a:r>
            <a:endParaRPr lang="en-US" sz="1600" b="0" strike="noStrike" spc="-1">
              <a:latin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3.2.0.1022</a:t>
            </a:r>
            <a:br>
              <a:rPr sz="2400"/>
            </a:br>
            <a:r>
              <a:rPr lang="en-US" sz="1600" b="1" strike="noStrike" spc="-1">
                <a:solidFill>
                  <a:srgbClr val="990000"/>
                </a:solidFill>
                <a:latin typeface="Arial"/>
              </a:rPr>
              <a:t>2017-10-19</a:t>
            </a:r>
            <a:endParaRPr lang="en-US" sz="1600" b="0" strike="noStrike" spc="-1">
              <a:latin typeface="Arial"/>
            </a:endParaRPr>
          </a:p>
        </p:txBody>
      </p:sp>
      <p:sp>
        <p:nvSpPr>
          <p:cNvPr id="36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[VECTO-585, VECTO-587] – VECTO Simulation aborts when run as WCF Service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[VECTO-586] – Gearshiftcout in reports too high</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[VECTO-573] – Use of old library references .net framework 2.0</a:t>
            </a:r>
            <a:endParaRPr lang="en-US" sz="1400" b="0" strike="noStrike" spc="-1">
              <a:latin typeface="Arial"/>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3.2.0.1005</a:t>
            </a:r>
            <a:br>
              <a:rPr sz="2400"/>
            </a:br>
            <a:r>
              <a:rPr lang="en-US" sz="1600" b="1" strike="noStrike" spc="-1">
                <a:solidFill>
                  <a:srgbClr val="990000"/>
                </a:solidFill>
                <a:latin typeface="Arial"/>
              </a:rPr>
              <a:t>2017-10-02</a:t>
            </a:r>
            <a:endParaRPr lang="en-US" sz="1600" b="0" strike="noStrike" spc="-1">
              <a:latin typeface="Arial"/>
            </a:endParaRPr>
          </a:p>
        </p:txBody>
      </p:sp>
      <p:sp>
        <p:nvSpPr>
          <p:cNvPr id="36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Improvements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1" strike="noStrike" spc="-1">
                <a:solidFill>
                  <a:srgbClr val="000000"/>
                </a:solidFill>
                <a:latin typeface="Arial"/>
              </a:rPr>
              <a:t>Release of Vecto Hashing Tool</a:t>
            </a:r>
            <a:endParaRPr lang="en-US" sz="16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[VECTO-557] Engine speed simulated too high during long stops</a:t>
            </a:r>
            <a:endParaRPr lang="en-US" sz="1400" b="0" strike="noStrike" spc="-1">
              <a:latin typeface="Arial"/>
            </a:endParaRPr>
          </a:p>
          <a:p>
            <a:pPr>
              <a:lnSpc>
                <a:spcPct val="100000"/>
              </a:lnSpc>
              <a:spcBef>
                <a:spcPts val="320"/>
              </a:spcBef>
              <a:buNone/>
              <a:tabLst>
                <a:tab pos="0" algn="l"/>
              </a:tabLst>
            </a:pPr>
            <a:endParaRPr lang="en-US" sz="1600" b="0" strike="noStrike" spc="-1">
              <a:latin typeface="Arial"/>
            </a:endParaRPr>
          </a:p>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[VECTO-569] - ‘Engine Retarder’ not correctly recognized as input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[VECTO-571] - Customer Report – wrong output format of average RRC</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[VECTO-573] - Correction of displayed units in graph window</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[VECTO-575] - Correction of simulation aborts (due to gearbox inertia, engineering mode)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[VECTO-577] - Correction of XML export functionality</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[VECTO-579] - Bug fix GUI crashes on invalid input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[VECTO-558] - Correction of output in .vsum file – BFColdHot always 0</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[VECTO-564] - Bug fix: correct output of vehicle group in XML report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[VECTO-566] - Vehicle height not correctly read (engineering mode)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[VECTO-545] - Update documentation on Settings dialog</a:t>
            </a:r>
            <a:endParaRPr lang="en-US" sz="1400" b="0" strike="noStrike" spc="-1">
              <a:latin typeface="Arial"/>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3.2.0.940</a:t>
            </a:r>
            <a:br>
              <a:rPr sz="2400"/>
            </a:br>
            <a:r>
              <a:rPr lang="en-US" sz="1600" b="1" strike="noStrike" spc="-1">
                <a:solidFill>
                  <a:srgbClr val="990000"/>
                </a:solidFill>
                <a:latin typeface="Arial"/>
              </a:rPr>
              <a:t>2017-07-28</a:t>
            </a:r>
            <a:endParaRPr lang="en-US" sz="1600" b="0" strike="noStrike" spc="-1">
              <a:latin typeface="Arial"/>
            </a:endParaRPr>
          </a:p>
        </p:txBody>
      </p:sp>
      <p:sp>
        <p:nvSpPr>
          <p:cNvPr id="36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[VECTO-546] - GearboxCertificationOptionType Option 2 not accepted by VECTO</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[VECTO-547] - Engine Manufacturer and Engine Model are empty in .vsum </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[VECTO-548] - online user manual</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[VECTO-549] - Inconsistent (and wrong) decimal separator in XML output (manufacturer report)</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[VECTO-551] - Average Tyre RRC not in Customer Information File output</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[VECTO-536] - GUI: improvements vehicle dialog (add missing pictures for vehicle categories)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[VECTO-550] - Allow custom settings for AirDensity in Engineering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[VECTO-552] - set engine rated power, rated speed to computed values from FLD if not provided as input</a:t>
            </a:r>
            <a:endParaRPr lang="en-US" sz="1400" b="0" strike="noStrike" spc="-1">
              <a:latin typeface="Arial"/>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6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[VECTO-366] added EMS vehicle configuration, EMS is only simulated when engine rated power &gt; 300kW</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[VECTO-463] add pneumatic system technology 'vacuum pump‘</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[VECTO-465] change RRC value of trailers (declaration mode) from 0.00555 to 0.0055 (due to limits in user interface)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[VECTO-477] AT Gearbox, powershift losses: remove inertia factor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[VECTO-471] update cross-wind correction model: height-dependent wind speed (see Excel spreadsheet in User Manual folder for details)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[VECTO-367] Add Vehicle Design Speed to segmentation table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[VECTO-470] Add XML reading and export functionality</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[VECTO-486] Adding hashing library</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[VECTO-469] Limit engine max torque (either due to vehicle or gearbox limits), limit gearbox input speed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[VECTO-466] Update vehicle payloads: 10% loaded and reference load are simulated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[VECTO-467] Add generic PTO activation in municipal cycle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[VECTO-468] Add PTO losses (idle) in declaration mode</a:t>
            </a:r>
            <a:endParaRPr lang="en-US" sz="14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400" b="0" strike="noStrike" spc="-1">
                <a:solidFill>
                  <a:srgbClr val="000000"/>
                </a:solidFill>
                <a:latin typeface="Arial"/>
              </a:rPr>
              <a:t>[VECTO-479</a:t>
            </a:r>
            <a:r>
              <a:rPr lang="en-US" sz="1600" b="0" strike="noStrike" spc="-1">
                <a:solidFill>
                  <a:srgbClr val="000000"/>
                </a:solidFill>
                <a:latin typeface="Arial"/>
              </a:rPr>
              <a:t>] Added PTO option 'only one engaged gearwheel above oil level' with 0 losses</a:t>
            </a:r>
            <a:endParaRPr lang="en-US" sz="1600" b="0" strike="noStrike" spc="-1">
              <a:latin typeface="Arial"/>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7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[VECTO-483] Adapt CdxA supplement for additional trailers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[VECTO-494] Implementation of different fuel types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[VECTO-502] Implementing standard values for air-drag area (if not measured)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[VECTO-501] Implement engine idle speed set in vehicle (must be higher than engine's idle speed value)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[VECTO-504] Adding HVAC technology 'none‘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[VECTO-489] Extrapolate gearbox lossmaps (required when torque limitation by gearbox is ignored)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[VECTO-505] Implement AT transmissions in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[VECTO-507] Allow to ignore validation of model data when starting a simulation (significant improvement on simulation startup time - about 10s)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[VECTO-506] modified method how torque-converter characteristics in drag is extended. allow drag-values in the input, only add one point at a high speed ratio</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[VECTO-509] Add axle-type (vehicle driven, vehicle non-driven, trailer) to GUI</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[VECTO-511] Add engine idle speed to Vehicle input form (GUI)</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[VECTO-510] Write XML reports (manufacturer, customer information) in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[VECTO-474] new driving cycles for Municipal and Regional Delivery</a:t>
            </a:r>
            <a:endParaRPr lang="en-US" sz="1400" b="0" strike="noStrike" spc="-1">
              <a:latin typeface="Arial"/>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7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[VECTO-522] step-up ratio for using torque converter in second gear set to 1.85 for busses (still 1.8 for trucks)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[VECTO-525] remove info-box with max loading in GUI</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[VECTO-531] Payload calculation: limit truck payload to the truck's max payload. (earlier versions only limited the total payload of truc + trailer to the total max. payload, i.e. allowed to shifted loading from truck to the trailer)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[VECTO-533] allow second driven axle, rdyn is calculated as average of both driven axles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[VECTO-537] new Suburban driving cycles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[VECTO-541] increase declaration mode PT1 curve to higher speeds (2500 is too low for some engines)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[VECTO-542] reduce overspeed in declaration mode to 2.5km/h</a:t>
            </a:r>
            <a:endParaRPr lang="en-US" sz="1400" b="0" strike="noStrike" spc="-1">
              <a:latin typeface="Arial"/>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7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[VECTO-462] fix: decision if PTO cycle is simulated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[VECTO-473] fix: adapt range for validation of torque converter characteristics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[VECTO-464] fix: extrapolation of engine full-load curve gives neg. max. torque. Limit engine speed to n95h</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[VECTO-480] fix: a_pos in .vsum was less than zero</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[VECTO-487] fix: Duration of PTO cycle was computed incorrectly if PTO cycle does not start at t=0</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[VECTO-514] fix: sort entries in .vsum numerically, not lexically</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[VECTO-516] fix: consider axlegear losses for estimation of acceleration after gearshifts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[VECTO-517] fix: valid shift polygon was considered invalid when extended to very high torque ranges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[VECTO-424] fix: VectoCore.dll could not be found when the current working directory is different to the directory of the vectocmd.exe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[VECTO-425] fix: vectocmd.exe - check if the output is redirected, and skip updating of the progress bar when this is the case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[VECTO-426] fix: vectocmd.exe - log errors to STDERR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[VECTO-519] fix: computation of n95h fails for a valid full-load curve due to numerical inaccuracy. add tolerance when searching for solutions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[VECTO-520] fix: gearashift count in vsum is 0</a:t>
            </a:r>
            <a:endParaRPr lang="en-US" sz="1400" b="0" strike="noStrike" spc="-1">
              <a:latin typeface="Arial"/>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3.1.2.810</a:t>
            </a:r>
            <a:br>
              <a:rPr sz="2400"/>
            </a:br>
            <a:r>
              <a:rPr lang="en-US" sz="1600" b="1" strike="noStrike" spc="-1">
                <a:solidFill>
                  <a:srgbClr val="990000"/>
                </a:solidFill>
                <a:latin typeface="Arial"/>
              </a:rPr>
              <a:t>2017-01-18</a:t>
            </a:r>
            <a:endParaRPr lang="en-US" sz="1600" b="0" strike="noStrike" spc="-1">
              <a:latin typeface="Arial"/>
            </a:endParaRPr>
          </a:p>
        </p:txBody>
      </p:sp>
      <p:sp>
        <p:nvSpPr>
          <p:cNvPr id="37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[VECTO-445] Additional columns in vsum file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Allow splitting shift losses among multiple simulation intervals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Allow coasting overspeed only if vehicle speed &gt; 0</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Torque converter: better handling of ‘creeping’ situations</a:t>
            </a:r>
            <a:endParaRPr lang="en-US" sz="1400" b="0" strike="noStrike" spc="-1">
              <a:latin typeface="Arial"/>
            </a:endParaRPr>
          </a:p>
          <a:p>
            <a:pPr>
              <a:lnSpc>
                <a:spcPct val="100000"/>
              </a:lnSpc>
              <a:spcBef>
                <a:spcPts val="281"/>
              </a:spcBef>
              <a:buNone/>
              <a:tabLst>
                <a:tab pos="0" algn="l"/>
              </a:tabLst>
            </a:pPr>
            <a:endParaRPr lang="en-US" sz="1400" b="0" strike="noStrike" spc="-1">
              <a:latin typeface="Arial"/>
            </a:endParaRPr>
          </a:p>
          <a:p>
            <a:pPr>
              <a:lnSpc>
                <a:spcPct val="100000"/>
              </a:lnSpc>
              <a:spcBef>
                <a:spcPts val="281"/>
              </a:spcBef>
              <a:buNone/>
              <a:tabLst>
                <a:tab pos="0" algn="l"/>
              </a:tabLst>
            </a:pPr>
            <a:r>
              <a:rPr lang="en-US" sz="1400" b="1" strike="noStrike" spc="-1">
                <a:solidFill>
                  <a:srgbClr val="000000"/>
                </a:solidFill>
                <a:latin typeface="Arial"/>
              </a:rPr>
              <a:t>Bugfixes: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[VECTO-443] Bugfix in AMT shift strategy: skip gears not working correctly</a:t>
            </a:r>
            <a:endParaRPr lang="en-US" sz="1400" b="0" strike="noStrike" spc="-1">
              <a:latin typeface="Arial"/>
            </a:endParaRPr>
          </a:p>
          <a:p>
            <a:pPr>
              <a:lnSpc>
                <a:spcPct val="100000"/>
              </a:lnSpc>
              <a:spcBef>
                <a:spcPts val="281"/>
              </a:spcBef>
              <a:buNone/>
              <a:tabLst>
                <a:tab pos="0" algn="l"/>
              </a:tabLst>
            </a:pPr>
            <a:endParaRPr lang="en-US" sz="1400" b="0" strike="noStrike" spc="-1">
              <a:latin typeface="Arial"/>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3.1.2.796</a:t>
            </a:r>
            <a:br>
              <a:rPr sz="2400"/>
            </a:br>
            <a:r>
              <a:rPr lang="en-US" sz="1600" b="1" strike="noStrike" spc="-1">
                <a:solidFill>
                  <a:srgbClr val="990000"/>
                </a:solidFill>
                <a:latin typeface="Arial"/>
              </a:rPr>
              <a:t>2017-03-07</a:t>
            </a:r>
            <a:endParaRPr lang="en-US" sz="1600" b="0" strike="noStrike" spc="-1">
              <a:latin typeface="Arial"/>
            </a:endParaRPr>
          </a:p>
        </p:txBody>
      </p:sp>
      <p:sp>
        <p:nvSpPr>
          <p:cNvPr id="379" name="PlaceHolder 2"/>
          <p:cNvSpPr>
            <a:spLocks noGrp="1"/>
          </p:cNvSpPr>
          <p:nvPr>
            <p:ph/>
          </p:nvPr>
        </p:nvSpPr>
        <p:spPr>
          <a:xfrm>
            <a:off x="323640" y="1196640"/>
            <a:ext cx="8640360" cy="5184000"/>
          </a:xfrm>
          <a:prstGeom prst="rect">
            <a:avLst/>
          </a:prstGeom>
          <a:noFill/>
          <a:ln w="0">
            <a:noFill/>
          </a:ln>
        </p:spPr>
        <p:txBody>
          <a:bodyPr lIns="90000" tIns="45000" rIns="90000" bIns="45000" numCol="1" spcCol="0" anchor="t">
            <a:noAutofit/>
          </a:bodyPr>
          <a:lstStyle/>
          <a:p>
            <a:pPr>
              <a:lnSpc>
                <a:spcPct val="100000"/>
              </a:lnSpc>
              <a:spcBef>
                <a:spcPts val="241"/>
              </a:spcBef>
              <a:buNone/>
              <a:tabLst>
                <a:tab pos="0" algn="l"/>
              </a:tabLst>
            </a:pPr>
            <a:r>
              <a:rPr lang="en-US" sz="1200" b="1" strike="noStrike" spc="-1">
                <a:solidFill>
                  <a:srgbClr val="000000"/>
                </a:solidFill>
                <a:latin typeface="Arial"/>
              </a:rPr>
              <a:t>Improvements: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[VECTO-405] Adding clutch-losses for AMT/MT gearboxes during drive-off, reduce drive-off distance after stop from 1m to 0.25m, set clutch closing speed (normalized) to 6.5%, changes in clutch model</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[VECTO-379] Make GUI more tolerant against missing files. Instead of aborting reading the input data the GUI shows a suffix for missing input files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[VECTO-411] Allow a traction interruption of 0s for AMT/MT gearboxes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[VECTO-408] Gearbox Inertia for AT gearboxes set to 0</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[VECTO-419] Adapted error messages, added list of errors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[VECTO-421,VECTO-439] Added volume-related results to vsum file (volume is computed based on default bodies)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 Energy balance (vsum) and balance of engine power output and power consumers (vmod) level</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[VECTO-430] AT shift strategy: upshifts may happen too early</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[VECTO-431] AMT shift strategy always started in first gear due to changes in clutch model</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[VECTO-433] adapt generic vehicles: use typical WHTC correction factors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[VECTO-437] set vehicle speed at clutch-closed to 1.3 m/s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[VECTO-436] fix simulation aborts with AT gearbox (neg. braking power, unexpected response, underload)</a:t>
            </a:r>
            <a:endParaRPr lang="en-US" sz="1200" b="0" strike="noStrike" spc="-1">
              <a:latin typeface="Arial"/>
            </a:endParaRPr>
          </a:p>
          <a:p>
            <a:pPr>
              <a:lnSpc>
                <a:spcPct val="100000"/>
              </a:lnSpc>
              <a:spcBef>
                <a:spcPts val="241"/>
              </a:spcBef>
              <a:buNone/>
              <a:tabLst>
                <a:tab pos="0" algn="l"/>
              </a:tabLst>
            </a:pPr>
            <a:r>
              <a:rPr lang="en-US" sz="1200" b="1" strike="noStrike" spc="-1">
                <a:solidFill>
                  <a:srgbClr val="000000"/>
                </a:solidFill>
                <a:latin typeface="Arial"/>
              </a:rPr>
              <a:t>Bugfixes: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[VECTO-415] Powershift Losses were not considered for AT gearboxes with PowerSplit</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[VECTO-416] Measured Speed with gear failed when cycle contained parts with eco-roll (computation of next gear failed)</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[VECTO-428] Sum of timeshares adds up to 100%</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[VECTO-429] Min Velocity for lookahead coasting was not written to JSON file</a:t>
            </a:r>
            <a:endParaRPr lang="en-US" sz="1200" b="0" strike="noStrike" spc="-1">
              <a:latin typeface="Arial"/>
            </a:endParaRPr>
          </a:p>
          <a:p>
            <a:pPr>
              <a:lnSpc>
                <a:spcPct val="100000"/>
              </a:lnSpc>
              <a:spcBef>
                <a:spcPts val="241"/>
              </a:spcBef>
              <a:buNone/>
              <a:tabLst>
                <a:tab pos="0" algn="l"/>
              </a:tabLst>
            </a:pPr>
            <a:endParaRPr lang="en-US" sz="1200" b="0" strike="noStrike" spc="-1">
              <a:latin typeface="Arial"/>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3.1.1.748</a:t>
            </a:r>
            <a:br>
              <a:rPr sz="2400"/>
            </a:br>
            <a:r>
              <a:rPr lang="en-US" sz="1600" b="1" strike="noStrike" spc="-1">
                <a:solidFill>
                  <a:srgbClr val="990000"/>
                </a:solidFill>
                <a:latin typeface="Arial"/>
              </a:rPr>
              <a:t>2017-01-18</a:t>
            </a:r>
            <a:endParaRPr lang="en-US" sz="1600" b="0" strike="noStrike" spc="-1">
              <a:latin typeface="Arial"/>
            </a:endParaRPr>
          </a:p>
        </p:txBody>
      </p:sp>
      <p:sp>
        <p:nvSpPr>
          <p:cNvPr id="38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Bugfixes: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[VECTO-404] Driving Cycle with PTO stopped simulation after first PTO activation</a:t>
            </a:r>
            <a:endParaRPr lang="en-US" sz="1400" b="0" strike="noStrike" spc="-1">
              <a:latin typeface="Arial"/>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3.1.1.742</a:t>
            </a:r>
            <a:br>
              <a:rPr sz="2400"/>
            </a:br>
            <a:r>
              <a:rPr lang="en-US" sz="1600" b="1" strike="noStrike" spc="-1">
                <a:solidFill>
                  <a:srgbClr val="990000"/>
                </a:solidFill>
                <a:latin typeface="Arial"/>
              </a:rPr>
              <a:t>2017-01-12</a:t>
            </a:r>
            <a:endParaRPr lang="en-US" sz="1600" b="0" strike="noStrike" spc="-1">
              <a:latin typeface="Arial"/>
            </a:endParaRPr>
          </a:p>
        </p:txBody>
      </p:sp>
      <p:sp>
        <p:nvSpPr>
          <p:cNvPr id="383" name="PlaceHolder 2"/>
          <p:cNvSpPr>
            <a:spLocks noGrp="1"/>
          </p:cNvSpPr>
          <p:nvPr>
            <p:ph/>
          </p:nvPr>
        </p:nvSpPr>
        <p:spPr>
          <a:xfrm>
            <a:off x="323640" y="1196640"/>
            <a:ext cx="8640360" cy="518400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[VECTO-390, VECTO-400] Adapt engine speed to estimated engine speed after gear shift during traction interruption (double clutching)</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[VECTO-396, VECTO-388] Add shift losses for AT power shifts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[VECTO-389] new gear shift rules for AT gearboxes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[VECTO-387] added max input speed for torque converter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[VECTO-385] Automatically add generic torque converter data for drag</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[VECTO-399] Add missions and loadings for vehicle categories 11, 12, and 16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[VECTO-384] cleanup memory after simulation run</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[VECTO-394] new option for vectocmd to disable all output</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[VECTO-392] make the GUI scale depending on the Windows font size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[VECTO-391] Gearbox output speed and output torque added to .vmod files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[VECTO-386] Gearbox window: disable input fields not applicable for the selected gearbox type</a:t>
            </a:r>
            <a:endParaRPr lang="en-US" sz="1400" b="0" strike="noStrike" spc="-1">
              <a:latin typeface="Arial"/>
            </a:endParaRPr>
          </a:p>
          <a:p>
            <a:pPr>
              <a:lnSpc>
                <a:spcPct val="100000"/>
              </a:lnSpc>
              <a:spcBef>
                <a:spcPts val="281"/>
              </a:spcBef>
              <a:buNone/>
              <a:tabLst>
                <a:tab pos="0" algn="l"/>
              </a:tabLst>
            </a:pPr>
            <a:r>
              <a:rPr lang="en-US" sz="1400" b="1" strike="noStrike" spc="-1">
                <a:solidFill>
                  <a:srgbClr val="000000"/>
                </a:solidFill>
                <a:latin typeface="Arial"/>
              </a:rPr>
              <a:t>Bugfixes: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[VECTO-401] Computation of n_95h etc. fails if engine’s max torque is constant 0 </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Lookup of Airdrag parameters in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[VECTO-378] Improved file-handling in AAUX module</a:t>
            </a:r>
            <a:endParaRPr lang="en-US" sz="1400" b="0" strike="noStrike" spc="-1">
              <a:latin typeface="Arial"/>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3.1.0.683</a:t>
            </a:r>
            <a:br>
              <a:rPr sz="2400"/>
            </a:br>
            <a:r>
              <a:rPr lang="en-US" sz="1600" b="1" strike="noStrike" spc="-1">
                <a:solidFill>
                  <a:srgbClr val="990000"/>
                </a:solidFill>
                <a:latin typeface="Arial"/>
              </a:rPr>
              <a:t>2016-11-14</a:t>
            </a:r>
            <a:endParaRPr lang="en-US" sz="1600" b="0" strike="noStrike" spc="-1">
              <a:latin typeface="Arial"/>
            </a:endParaRPr>
          </a:p>
        </p:txBody>
      </p:sp>
      <p:sp>
        <p:nvSpPr>
          <p:cNvPr id="385" name="PlaceHolder 2"/>
          <p:cNvSpPr>
            <a:spLocks noGrp="1"/>
          </p:cNvSpPr>
          <p:nvPr>
            <p:ph/>
          </p:nvPr>
        </p:nvSpPr>
        <p:spPr>
          <a:xfrm>
            <a:off x="323640" y="1196640"/>
            <a:ext cx="8640360" cy="518400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[VECTO-375] Fixed bug when braking during slope change from negative to positive values.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[VECTO-372] Added check for unusual acceleration/deceleration data which could lead to error when halting.</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[VECTO-371] Added additional behavior to overcome such situations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[VECTO-370] Added additional behavior to overcome such situations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[VECTO-369] CrosswindCorrection is now saved and read again from JSON files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[VECTO-373] WHTC-Engineering correction factor now correctly read/write in JSON files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[VECTO-368] Fixed validation for specific cases when values are intentionally invalid.</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[VECTO-357] Updated GUI to not show ECO-Roll option to avoid confusion</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Fixed numerous bugs in AT-ShiftStrategy regarding the Torque Converter</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Fixed numerous bugs in MeasuredSpeed Mode (and MeasuredSpeed with Gear) in connection with AT-Gearbox and TorqueConverter</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Fixed a bug when PTO-Cycle was missing</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Corrected axle loss maps for Generic Vehicles in Declaration Mode to match technical annex</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Corrected SumFile Cruise Time Share. Added that timeshares must add up to 100%</a:t>
            </a:r>
            <a:endParaRPr lang="en-US" sz="1600" b="0" strike="noStrike" spc="-1">
              <a:latin typeface="Arial"/>
            </a:endParaRPr>
          </a:p>
          <a:p>
            <a:pPr>
              <a:lnSpc>
                <a:spcPct val="100000"/>
              </a:lnSpc>
              <a:spcBef>
                <a:spcPts val="320"/>
              </a:spcBef>
              <a:buNone/>
              <a:tabLst>
                <a:tab pos="0" algn="l"/>
              </a:tabLst>
            </a:pPr>
            <a:endParaRPr lang="en-US" sz="1600" b="0" strike="noStrike" spc="-1">
              <a:latin typeface="Arial"/>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 name="PlaceHolder 1"/>
          <p:cNvSpPr>
            <a:spLocks noGrp="1"/>
          </p:cNvSpPr>
          <p:nvPr>
            <p:ph/>
          </p:nvPr>
        </p:nvSpPr>
        <p:spPr>
          <a:xfrm>
            <a:off x="468360" y="1412640"/>
            <a:ext cx="8495280" cy="496800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Improvements: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[VECTO-355] Updated documentation, added powertrain schematics in chapter "Simulation Models"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[VECTO-374] Check range for Torque Converter speed ratio input data to be at least between 0 and 2.2</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Updated many error messages to be more explicit about the reason of error</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"Mission Profiles" Directory with driving cycles publicly available in the application root directory.</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"Declaration" directory with the declaration data files in the application root directory.</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warning when engine inertia is 0</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check that engine speed must not fall below idle speed (even in measured speed mode)</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Shift curve validation for AT gearboxes: shift curves may now overlap due to different shift logic in AutomaticTransmissions.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Updated Crosswind Coefficients for </a:t>
            </a:r>
            <a:r>
              <a:rPr lang="de-AT" sz="1600" b="0" strike="noStrike" spc="-1">
                <a:solidFill>
                  <a:srgbClr val="000000"/>
                </a:solidFill>
                <a:latin typeface="Arial"/>
              </a:rPr>
              <a:t>Tractor+Semitrailer</a:t>
            </a:r>
            <a:endParaRPr lang="en-US" sz="1600" b="0" strike="noStrike" spc="-1">
              <a:latin typeface="Arial"/>
            </a:endParaRPr>
          </a:p>
          <a:p>
            <a:pPr>
              <a:lnSpc>
                <a:spcPct val="100000"/>
              </a:lnSpc>
              <a:spcBef>
                <a:spcPts val="320"/>
              </a:spcBef>
              <a:buNone/>
              <a:tabLst>
                <a:tab pos="0" algn="l"/>
              </a:tabLst>
            </a:pPr>
            <a:endParaRPr lang="en-US" sz="1600" b="0" strike="noStrike" spc="-1">
              <a:latin typeface="Arial"/>
            </a:endParaRPr>
          </a:p>
        </p:txBody>
      </p:sp>
      <p:sp>
        <p:nvSpPr>
          <p:cNvPr id="387" name="Titel 1"/>
          <p:cNvSpPr/>
          <p:nvPr/>
        </p:nvSpPr>
        <p:spPr>
          <a:xfrm>
            <a:off x="468360" y="476640"/>
            <a:ext cx="8217720" cy="68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ea typeface="DejaVu Sans"/>
              </a:rPr>
              <a:t>Vecto 3.1.0.683</a:t>
            </a:r>
            <a:br>
              <a:rPr sz="2400"/>
            </a:br>
            <a:r>
              <a:rPr lang="en-US" sz="1600" b="1" strike="noStrike" spc="-1">
                <a:solidFill>
                  <a:srgbClr val="990000"/>
                </a:solidFill>
                <a:latin typeface="Arial"/>
                <a:ea typeface="DejaVu Sans"/>
              </a:rPr>
              <a:t>2016-11-14</a:t>
            </a:r>
            <a:endParaRPr lang="en-US" sz="1600" b="0" strike="noStrike" spc="-1">
              <a:latin typeface="Arial"/>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3.1.0.662</a:t>
            </a:r>
            <a:br>
              <a:rPr sz="2400"/>
            </a:br>
            <a:r>
              <a:rPr lang="en-US" sz="1600" b="1" strike="noStrike" spc="-1">
                <a:solidFill>
                  <a:srgbClr val="990000"/>
                </a:solidFill>
                <a:latin typeface="Arial"/>
              </a:rPr>
              <a:t>2016-10-24</a:t>
            </a:r>
            <a:endParaRPr lang="en-US" sz="1600" b="0" strike="noStrike" spc="-1">
              <a:latin typeface="Arial"/>
            </a:endParaRPr>
          </a:p>
        </p:txBody>
      </p:sp>
      <p:sp>
        <p:nvSpPr>
          <p:cNvPr id="389" name="PlaceHolder 2"/>
          <p:cNvSpPr>
            <a:spLocks noGrp="1"/>
          </p:cNvSpPr>
          <p:nvPr>
            <p:ph/>
          </p:nvPr>
        </p:nvSpPr>
        <p:spPr>
          <a:xfrm>
            <a:off x="468360" y="1412640"/>
            <a:ext cx="8495280" cy="4968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pPr>
            <a:r>
              <a:rPr lang="en-US" sz="1800" b="1" strike="noStrike" spc="-1">
                <a:solidFill>
                  <a:srgbClr val="000000"/>
                </a:solidFill>
                <a:latin typeface="Arial"/>
              </a:rPr>
              <a:t>Bugfixes</a:t>
            </a:r>
            <a:r>
              <a:rPr lang="en-US" sz="1800" b="0" strike="noStrike" spc="-1">
                <a:solidFill>
                  <a:srgbClr val="000000"/>
                </a:solidFill>
                <a:latin typeface="Arial"/>
              </a:rPr>
              <a:t>:</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[VECTO-360] Fixed error during startup of VECTO (loading of DLLs).</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[VECTO-358] Fixed errors during simulation where vehicle unintentionally was driving backwards. Fixed 1Hz-Filter for ModFiles (distance was wrong under certain circumstances, vehicle seemingly jumping back before halt)</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[VECTO-361] Fixed classification of vehicles with GVM of exactly 7500kg</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[VECTO-364] Fixed an error in measured speed mode (run aborts).</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[VECTO-363] Compute shift polygons in declaration mode now uses correct boundary for full load margin.</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[VECTO-365] Fixed editing gears in declaration mode</a:t>
            </a:r>
            <a:endParaRPr lang="en-US" sz="1600" b="0" strike="noStrike" spc="-1">
              <a:latin typeface="Arial"/>
            </a:endParaRPr>
          </a:p>
          <a:p>
            <a:pPr marL="343080" indent="-343080">
              <a:lnSpc>
                <a:spcPct val="100000"/>
              </a:lnSpc>
              <a:spcBef>
                <a:spcPts val="360"/>
              </a:spcBef>
              <a:buClr>
                <a:srgbClr val="000000"/>
              </a:buClr>
              <a:buFont typeface="Symbol"/>
              <a:buChar char=""/>
            </a:pPr>
            <a:r>
              <a:rPr lang="en-US" sz="1800" b="1" strike="noStrike" spc="-1">
                <a:solidFill>
                  <a:srgbClr val="000000"/>
                </a:solidFill>
                <a:latin typeface="Arial"/>
              </a:rPr>
              <a:t>Improvements</a:t>
            </a:r>
            <a:r>
              <a:rPr lang="en-US" sz="1800" b="0" strike="noStrike" spc="-1">
                <a:solidFill>
                  <a:srgbClr val="000000"/>
                </a:solidFill>
                <a:latin typeface="Arial"/>
              </a:rPr>
              <a:t>:</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[VECTO-355] User Manual updated (Screenshots, Descriptions, File Formats, Vecto V2 Comments removed).</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[VECTO-317] Declaration data for Wheel sizes updated</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[VECTO-359] Simplified code regarding PT1 behavior.</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[VECTO-323] PTO-Cycle may now be left empty when not used in driving cycle.</a:t>
            </a:r>
            <a:endParaRPr lang="en-US" sz="1600" b="0" strike="noStrike" spc="-1">
              <a:latin typeface="Arial"/>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3.1.0.652</a:t>
            </a:r>
            <a:br>
              <a:rPr sz="2400"/>
            </a:br>
            <a:r>
              <a:rPr lang="en-US" sz="1600" b="1" strike="noStrike" spc="-1">
                <a:solidFill>
                  <a:srgbClr val="990000"/>
                </a:solidFill>
                <a:latin typeface="Arial"/>
              </a:rPr>
              <a:t>2016-10-14</a:t>
            </a:r>
            <a:endParaRPr lang="en-US" sz="1600" b="0" strike="noStrike" spc="-1">
              <a:latin typeface="Arial"/>
            </a:endParaRPr>
          </a:p>
        </p:txBody>
      </p:sp>
      <p:sp>
        <p:nvSpPr>
          <p:cNvPr id="391" name="PlaceHolder 2"/>
          <p:cNvSpPr>
            <a:spLocks noGrp="1"/>
          </p:cNvSpPr>
          <p:nvPr>
            <p:ph/>
          </p:nvPr>
        </p:nvSpPr>
        <p:spPr>
          <a:xfrm>
            <a:off x="468360" y="1412640"/>
            <a:ext cx="8495280" cy="4712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Removed VECTO Core 2.2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Refactoring of the User-Interface Backend: loading, saving files and validating user input uses Vecto 3 models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AT-Gearbox Model: differentiate between AT gearbox with serial torque converter and AT gearbox using powersplit</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Numbering of gears with AT gearbox corresponds to mechanical gears, new column TC_locked in .vmod file to indicate if torque converter is active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Torque converter gear no longer allowed in input (added by Vecto depending on the AT model)</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implementation of torque converter model (analytic solutions)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Added PTO option for municipal utility vehicles: PTO idle losses, separate PTO cycle during standstill</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Added Angledrive Component</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Option for constant Auxiliary Power Demand in Job-File</a:t>
            </a:r>
            <a:endParaRPr lang="en-US" sz="1800" b="0" strike="noStrike" spc="-1">
              <a:latin typeface="Arial"/>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3.1.0.652</a:t>
            </a:r>
            <a:br>
              <a:rPr sz="2400"/>
            </a:br>
            <a:r>
              <a:rPr lang="en-US" sz="1600" b="1" strike="noStrike" spc="-1">
                <a:solidFill>
                  <a:srgbClr val="990000"/>
                </a:solidFill>
                <a:latin typeface="Arial"/>
              </a:rPr>
              <a:t>2016-10-14</a:t>
            </a:r>
            <a:endParaRPr lang="en-US" sz="1600" b="0" strike="noStrike" spc="-1">
              <a:latin typeface="Arial"/>
            </a:endParaRPr>
          </a:p>
        </p:txBody>
      </p:sp>
      <p:sp>
        <p:nvSpPr>
          <p:cNvPr id="393" name="PlaceHolder 2"/>
          <p:cNvSpPr>
            <a:spLocks noGrp="1"/>
          </p:cNvSpPr>
          <p:nvPr>
            <p:ph/>
          </p:nvPr>
        </p:nvSpPr>
        <p:spPr>
          <a:xfrm>
            <a:off x="468360" y="1268640"/>
            <a:ext cx="8495280" cy="4856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 (cont.)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Normalize x/y values before triangulating Delaunay map (transmission loss-maps, fuel consumption loss map)</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Additional fuel consumption correction factor in declaration mode: cold/hot balancing factor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Added fuel consumption correction factor (WHTC, Cold/Hot balancing, …) in engineering mode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Update auxiliaries power demand according to latest whitebook</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Allow multiple steered axles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Adapted engine idle controller (during declutch) – engine speed decreases faster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SUM-File: split E_axl_gbx into two columns, E_axl and E_gbx</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columns in mod-file: PTO, torque converter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Removed full-load curve per gear, only single value MaxTorque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Removed rims (dynamic wheel radius depends on wheel type)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Fixes in AAUX module: open correct file-browser, save selected files</a:t>
            </a:r>
            <a:endParaRPr lang="en-US" sz="1800" b="0" strike="noStrike" spc="-1">
              <a:latin typeface="Arial"/>
            </a:endParaRPr>
          </a:p>
          <a:p>
            <a:pPr>
              <a:lnSpc>
                <a:spcPct val="100000"/>
              </a:lnSpc>
              <a:buNone/>
            </a:pPr>
            <a:endParaRPr lang="en-US" sz="1800" b="0" strike="noStrike" spc="-1">
              <a:latin typeface="Aria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 name="PlaceHolder 1"/>
          <p:cNvSpPr>
            <a:spLocks noGrp="1"/>
          </p:cNvSpPr>
          <p:nvPr>
            <p:ph type="title"/>
          </p:nvPr>
        </p:nvSpPr>
        <p:spPr>
          <a:xfrm>
            <a:off x="296640" y="476640"/>
            <a:ext cx="8451360" cy="575280"/>
          </a:xfrm>
          <a:prstGeom prst="rect">
            <a:avLst/>
          </a:prstGeom>
          <a:noFill/>
          <a:ln w="0">
            <a:noFill/>
          </a:ln>
        </p:spPr>
        <p:txBody>
          <a:bodyPr lIns="90000" tIns="45000" rIns="90000" bIns="45000" numCol="1" spcCol="0" anchor="ctr">
            <a:noAutofit/>
          </a:bodyPr>
          <a:lstStyle/>
          <a:p>
            <a:pPr>
              <a:lnSpc>
                <a:spcPct val="100000"/>
              </a:lnSpc>
              <a:buNone/>
            </a:pPr>
            <a:r>
              <a:rPr lang="en-US" sz="2400" b="1" strike="noStrike" spc="-1">
                <a:solidFill>
                  <a:srgbClr val="990000"/>
                </a:solidFill>
                <a:latin typeface="Arial"/>
              </a:rPr>
              <a:t>Status quo VECTO software and open issues (Oct. 2016)</a:t>
            </a:r>
            <a:endParaRPr lang="en-US" sz="2400" b="0" strike="noStrike" spc="-1">
              <a:latin typeface="Arial"/>
            </a:endParaRPr>
          </a:p>
        </p:txBody>
      </p:sp>
      <p:sp>
        <p:nvSpPr>
          <p:cNvPr id="395" name="Textfeld 2"/>
          <p:cNvSpPr/>
          <p:nvPr/>
        </p:nvSpPr>
        <p:spPr>
          <a:xfrm>
            <a:off x="323640" y="908640"/>
            <a:ext cx="8496360" cy="39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spcBef>
                <a:spcPts val="1001"/>
              </a:spcBef>
              <a:buNone/>
            </a:pPr>
            <a:r>
              <a:rPr lang="de-AT" sz="2000" b="1" strike="noStrike" spc="-1">
                <a:solidFill>
                  <a:srgbClr val="000000"/>
                </a:solidFill>
                <a:latin typeface="Arial"/>
                <a:ea typeface="DejaVu Sans"/>
              </a:rPr>
              <a:t>Next issues on the to do list</a:t>
            </a:r>
            <a:endParaRPr lang="en-US" sz="2000" b="0" strike="noStrike" spc="-1">
              <a:latin typeface="Arial"/>
            </a:endParaRPr>
          </a:p>
        </p:txBody>
      </p:sp>
      <p:sp>
        <p:nvSpPr>
          <p:cNvPr id="396" name="Textfeld 6"/>
          <p:cNvSpPr/>
          <p:nvPr/>
        </p:nvSpPr>
        <p:spPr>
          <a:xfrm>
            <a:off x="539640" y="1484640"/>
            <a:ext cx="8352360" cy="4879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Further development of the AT model</a:t>
            </a:r>
            <a:br>
              <a:rPr sz="1400"/>
            </a:br>
            <a:r>
              <a:rPr lang="en-GB" sz="1400" b="0" strike="noStrike" spc="-1">
                <a:solidFill>
                  <a:srgbClr val="000000"/>
                </a:solidFill>
                <a:latin typeface="Arial"/>
                <a:ea typeface="DejaVu Sans"/>
              </a:rPr>
              <a:t>Consideration of losses during power shifts, update of gear shift logics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Reimplementation of engine stop/start</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Declaration mode: implementation of EMS vehicle configurations</a:t>
            </a:r>
            <a:endParaRPr lang="en-US" sz="1400" b="0" strike="noStrike" spc="-1">
              <a:latin typeface="Arial"/>
            </a:endParaRPr>
          </a:p>
          <a:p>
            <a:pPr>
              <a:lnSpc>
                <a:spcPct val="100000"/>
              </a:lnSpc>
              <a:spcBef>
                <a:spcPts val="700"/>
              </a:spcBef>
              <a:buNone/>
            </a:pPr>
            <a:endParaRPr lang="en-US" sz="1400" b="0" strike="noStrike" spc="-1">
              <a:latin typeface="Arial"/>
            </a:endParaRPr>
          </a:p>
          <a:p>
            <a:pPr>
              <a:lnSpc>
                <a:spcPct val="100000"/>
              </a:lnSpc>
              <a:spcBef>
                <a:spcPts val="700"/>
              </a:spcBef>
              <a:buNone/>
            </a:pPr>
            <a:r>
              <a:rPr lang="en-GB" sz="1400" b="1" u="sng" strike="noStrike" spc="-1">
                <a:solidFill>
                  <a:srgbClr val="000000"/>
                </a:solidFill>
                <a:uFillTx/>
                <a:latin typeface="Arial"/>
                <a:ea typeface="DejaVu Sans"/>
              </a:rPr>
              <a:t>Items waiting for decision on methods and resources: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Update engine data (according to update of Annex II)</a:t>
            </a:r>
            <a:br>
              <a:rPr sz="1400"/>
            </a:br>
            <a:r>
              <a:rPr lang="en-GB" sz="1400" b="0" strike="noStrike" spc="-1">
                <a:solidFill>
                  <a:srgbClr val="000000"/>
                </a:solidFill>
                <a:latin typeface="Arial"/>
                <a:ea typeface="DejaVu Sans"/>
              </a:rPr>
              <a:t>Other fuels than diesel, “top torque” feature, correction factor for periodic regerating DPFs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Declaration mode: </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Revision of calculated vehicle loads</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implementation of refuse cycle (instead “municipal”)</a:t>
            </a:r>
            <a:br>
              <a:rPr sz="1400"/>
            </a:br>
            <a:r>
              <a:rPr lang="en-GB" sz="1400" b="0" strike="noStrike" spc="-1">
                <a:solidFill>
                  <a:srgbClr val="000000"/>
                </a:solidFill>
                <a:latin typeface="Arial"/>
                <a:ea typeface="DejaVu Sans"/>
              </a:rPr>
              <a:t>Update of driving cycle, consideration of generic PTO loads during collection part,</a:t>
            </a:r>
            <a:br>
              <a:rPr sz="1400"/>
            </a:br>
            <a:r>
              <a:rPr lang="en-GB" sz="1400" b="0" strike="noStrike" spc="-1">
                <a:solidFill>
                  <a:srgbClr val="000000"/>
                </a:solidFill>
                <a:latin typeface="Arial"/>
                <a:ea typeface="DejaVu Sans"/>
              </a:rPr>
              <a:t>generic body weight and payload</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VECTO output (approval authorities, customer info, monitoring)</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Buses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Predictive ADAS</a:t>
            </a:r>
            <a:endParaRPr lang="en-US" sz="1400" b="0" strike="noStrike" spc="-1">
              <a:latin typeface="Arial"/>
            </a:endParaRPr>
          </a:p>
          <a:p>
            <a:pPr>
              <a:lnSpc>
                <a:spcPct val="100000"/>
              </a:lnSpc>
              <a:spcBef>
                <a:spcPts val="700"/>
              </a:spcBef>
              <a:buNone/>
            </a:pPr>
            <a:endParaRPr lang="en-US" sz="1400" b="0" strike="noStrike" spc="-1">
              <a:latin typeface="Arial"/>
            </a:endParaRPr>
          </a:p>
          <a:p>
            <a:pPr>
              <a:lnSpc>
                <a:spcPct val="100000"/>
              </a:lnSpc>
              <a:spcBef>
                <a:spcPts val="700"/>
              </a:spcBef>
              <a:buNone/>
            </a:pPr>
            <a:endParaRPr lang="en-US" sz="1400" b="0" strike="noStrike" spc="-1">
              <a:latin typeface="Arial"/>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7"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3.0.4.565</a:t>
            </a:r>
            <a:br>
              <a:rPr sz="2400"/>
            </a:br>
            <a:r>
              <a:rPr lang="en-US" sz="1600" b="1" strike="noStrike" spc="-1">
                <a:solidFill>
                  <a:srgbClr val="990000"/>
                </a:solidFill>
                <a:latin typeface="Arial"/>
              </a:rPr>
              <a:t>2016-07-19</a:t>
            </a:r>
            <a:endParaRPr lang="en-US" sz="1600" b="0" strike="noStrike" spc="-1">
              <a:latin typeface="Arial"/>
            </a:endParaRPr>
          </a:p>
        </p:txBody>
      </p:sp>
      <p:sp>
        <p:nvSpPr>
          <p:cNvPr id="398"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AAUX HVAC Dialog does not store path to ActuationsMap and SSMSource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GUI: check for axle loads in declaration mode renders editing dialog useless </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Vecto 2.2: Simulation aborts (Vecto terminates) when simulating EngineOnly cycles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Vecto 3: Building SimulationRun EngineOnly simulation failed</a:t>
            </a:r>
            <a:endParaRPr lang="en-US" sz="1800" b="0" strike="noStrike" spc="-1">
              <a:latin typeface="Arial"/>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 name="PlaceHolder 1"/>
          <p:cNvSpPr>
            <a:spLocks noGrp="1"/>
          </p:cNvSpPr>
          <p:nvPr>
            <p:ph type="title"/>
          </p:nvPr>
        </p:nvSpPr>
        <p:spPr>
          <a:xfrm>
            <a:off x="468360" y="786240"/>
            <a:ext cx="8217720" cy="4816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3.0.4.544</a:t>
            </a:r>
            <a:br>
              <a:rPr sz="2400"/>
            </a:br>
            <a:r>
              <a:rPr lang="en-US" sz="1600" b="1" strike="noStrike" spc="-1">
                <a:solidFill>
                  <a:srgbClr val="990000"/>
                </a:solidFill>
                <a:latin typeface="Arial"/>
              </a:rPr>
              <a:t>2016-06-28</a:t>
            </a:r>
            <a:endParaRPr lang="en-US" sz="1600" b="0" strike="noStrike" spc="-1">
              <a:latin typeface="Arial"/>
            </a:endParaRPr>
          </a:p>
        </p:txBody>
      </p:sp>
      <p:sp>
        <p:nvSpPr>
          <p:cNvPr id="400" name="PlaceHolder 2"/>
          <p:cNvSpPr>
            <a:spLocks noGrp="1"/>
          </p:cNvSpPr>
          <p:nvPr>
            <p:ph/>
          </p:nvPr>
        </p:nvSpPr>
        <p:spPr>
          <a:xfrm>
            <a:off x="539640" y="1628640"/>
            <a:ext cx="8064000" cy="4352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gear shift strategy according to White Book 2016</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coasting strategy according to White Book 2016</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input parameters (enineering mode) for coasting and gear shift behavior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Use SI units in Advanced Auxiliaries Module and compile with strict compiler settings (no implicit casts, etc.)</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Allow efficiency for transmission losses (in engineering mode)</a:t>
            </a:r>
            <a:endParaRPr lang="en-US" sz="1800" b="0" strike="noStrike" spc="-1">
              <a:latin typeface="Arial"/>
            </a:endParaRPr>
          </a:p>
          <a:p>
            <a:pPr>
              <a:lnSpc>
                <a:spcPct val="100000"/>
              </a:lnSpc>
              <a:spcBef>
                <a:spcPts val="400"/>
              </a:spcBef>
              <a:buNone/>
            </a:pP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Auxiliary TechList not read from JSON input data</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Improvements in driver strategy</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Bugfixes in MeasuredSpeed mode</a:t>
            </a:r>
            <a:endParaRPr lang="en-US" sz="1800" b="0" strike="noStrike" spc="-1">
              <a:latin typeface="Arial"/>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Notes for using Vecto 3.x with AAUX (1)</a:t>
            </a:r>
            <a:endParaRPr lang="en-US" sz="2400" b="0" strike="noStrike" spc="-1">
              <a:latin typeface="Arial"/>
            </a:endParaRPr>
          </a:p>
        </p:txBody>
      </p:sp>
      <p:sp>
        <p:nvSpPr>
          <p:cNvPr id="402"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The AdvancedAuxiliaries module requires the number of activations for pneumatic consumers (brakes, doors, kneeling) and the (estimated) total cycle time. This can be configured in the .APAC-file (actuations file). For standard bus/coach cycles (i.e., the cycle file contains “bus” </a:t>
            </a:r>
            <a:r>
              <a:rPr lang="en-US" sz="2000" b="1" strike="noStrike" spc="-1">
                <a:solidFill>
                  <a:srgbClr val="000000"/>
                </a:solidFill>
                <a:latin typeface="Arial"/>
              </a:rPr>
              <a:t>and</a:t>
            </a:r>
            <a:r>
              <a:rPr lang="en-US" sz="2000" b="0" strike="noStrike" spc="-1">
                <a:solidFill>
                  <a:srgbClr val="000000"/>
                </a:solidFill>
                <a:latin typeface="Arial"/>
              </a:rPr>
              <a:t> “heavy_urban” or “suburban” or “interurban” or “urban”; </a:t>
            </a:r>
            <a:r>
              <a:rPr lang="en-US" sz="2000" b="1" strike="noStrike" spc="-1">
                <a:solidFill>
                  <a:srgbClr val="000000"/>
                </a:solidFill>
                <a:latin typeface="Arial"/>
              </a:rPr>
              <a:t>or</a:t>
            </a:r>
            <a:r>
              <a:rPr lang="en-US" sz="2000" b="0" strike="noStrike" spc="-1">
                <a:solidFill>
                  <a:srgbClr val="000000"/>
                </a:solidFill>
                <a:latin typeface="Arial"/>
              </a:rPr>
              <a:t> the cycle contains “coach” (</a:t>
            </a:r>
            <a:r>
              <a:rPr lang="en-US" sz="2000" b="0" i="1" strike="noStrike" spc="-1">
                <a:solidFill>
                  <a:srgbClr val="000000"/>
                </a:solidFill>
                <a:latin typeface="Arial"/>
              </a:rPr>
              <a:t>case insensitive</a:t>
            </a:r>
            <a:r>
              <a:rPr lang="en-US" sz="2000" b="0" strike="noStrike" spc="-1">
                <a:solidFill>
                  <a:srgbClr val="000000"/>
                </a:solidFill>
                <a:latin typeface="Arial"/>
              </a:rPr>
              <a:t>)) the actuations file already contains the number of activations and the cycle time. For other cycles the filename without extension is used to lookup the activations in the .APAC file (</a:t>
            </a:r>
            <a:r>
              <a:rPr lang="en-US" sz="2000" b="0" i="1" strike="noStrike" spc="-1">
                <a:solidFill>
                  <a:srgbClr val="000000"/>
                </a:solidFill>
                <a:latin typeface="Arial"/>
              </a:rPr>
              <a:t>case sensitive</a:t>
            </a:r>
            <a:r>
              <a:rPr lang="en-US" sz="2000" b="0" strike="noStrike" spc="-1">
                <a:solidFill>
                  <a:srgbClr val="000000"/>
                </a:solidFill>
                <a:latin typeface="Arial"/>
              </a:rPr>
              <a:t>)</a:t>
            </a:r>
            <a:endParaRPr lang="en-US" sz="2000" b="0" strike="noStrike" spc="-1">
              <a:latin typeface="Arial"/>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 name="PlaceHolder 1"/>
          <p:cNvSpPr>
            <a:spLocks noGrp="1"/>
          </p:cNvSpPr>
          <p:nvPr>
            <p:ph type="title"/>
          </p:nvPr>
        </p:nvSpPr>
        <p:spPr>
          <a:xfrm>
            <a:off x="467640" y="548640"/>
            <a:ext cx="8217720" cy="5032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Notes for using Vecto 3.x with AAUX (2)</a:t>
            </a:r>
            <a:endParaRPr lang="en-US" sz="2400" b="0" strike="noStrike" spc="-1">
              <a:latin typeface="Arial"/>
            </a:endParaRPr>
          </a:p>
        </p:txBody>
      </p:sp>
      <p:sp>
        <p:nvSpPr>
          <p:cNvPr id="404" name="PlaceHolder 2"/>
          <p:cNvSpPr>
            <a:spLocks noGrp="1"/>
          </p:cNvSpPr>
          <p:nvPr>
            <p:ph/>
          </p:nvPr>
        </p:nvSpPr>
        <p:spPr>
          <a:xfrm>
            <a:off x="179640" y="1124640"/>
            <a:ext cx="8856360" cy="532800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Vecto 3 uses an average auxiliaries load (determined by the AAUX module depending on the settings) for the simulation. The AAUX module computes the fuel consumption in parallel to VectoCore and accounts for smart consumers (e.g., alternator, pneumatics, …).</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Output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The .vmod file contains both, the fuel consumption calculated by VectoCore (per simulation interval) and AAUX (accumulated and per simulation interval).</a:t>
            </a:r>
            <a:br>
              <a:rPr sz="1800"/>
            </a:br>
            <a:r>
              <a:rPr lang="en-US" sz="1800" b="0" strike="noStrike" spc="-1">
                <a:solidFill>
                  <a:srgbClr val="000000"/>
                </a:solidFill>
                <a:latin typeface="Arial"/>
              </a:rPr>
              <a:t>Columns in .vmod file:</a:t>
            </a:r>
            <a:endParaRPr lang="en-US" sz="18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AA_TotalCycleFC_Grams [g]: accumulated fuel consumption as computed by the AAUX model, considering smart consumers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FC-Map [g/h]: fuel consumption as computed by VectoCore interpolating in the FC-Map, using an average base load of auxiliaries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FC-AUXc [g/h]: fuel consumption corrected due to engine stop/start (currently not applicable)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FC-WHTCc [g/h]: WHTC-corrected fuel consumption (not applicable in engineering mode)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FC-AAUX [g/h]: fuel consumption per simulation interval, derived from AA_TotalCycleFC_Grams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FC-Final [g/h]: final fuel consumption value with all (applicable) corrections applied (stop/start, WHTC, smart auxiliaries)</a:t>
            </a:r>
            <a:endParaRPr lang="en-US" sz="1400" b="0" strike="noStrike" spc="-1">
              <a:latin typeface="Arial"/>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5" name="PlaceHolder 1"/>
          <p:cNvSpPr>
            <a:spLocks noGrp="1"/>
          </p:cNvSpPr>
          <p:nvPr>
            <p:ph type="title"/>
          </p:nvPr>
        </p:nvSpPr>
        <p:spPr>
          <a:xfrm>
            <a:off x="467640" y="548640"/>
            <a:ext cx="8217720" cy="5032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Notes for using Vecto 3.x with AAUX (3)</a:t>
            </a:r>
            <a:endParaRPr lang="en-US" sz="2400" b="0" strike="noStrike" spc="-1">
              <a:latin typeface="Arial"/>
            </a:endParaRPr>
          </a:p>
        </p:txBody>
      </p:sp>
      <p:sp>
        <p:nvSpPr>
          <p:cNvPr id="406" name="PlaceHolder 2"/>
          <p:cNvSpPr>
            <a:spLocks noGrp="1"/>
          </p:cNvSpPr>
          <p:nvPr>
            <p:ph/>
          </p:nvPr>
        </p:nvSpPr>
        <p:spPr>
          <a:xfrm>
            <a:off x="251640" y="1628640"/>
            <a:ext cx="8640360" cy="46076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Output .vsum</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Columns in .vsum file:</a:t>
            </a:r>
            <a:endParaRPr lang="en-US" sz="18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FC-Map: total fuel consumption as computed by VectoCore interpolating in the FC-Map, using an average base load of auxiliaries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FC-AUXc: total fuel consumption corrected due to engine stop/start (currently not applicable)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FC-WHTCc: WHTC-corrected fuel consumption (not applicable in engineering mode)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FC-AAUX: fuel consumption per simulation interval, derived from AA_TotalCycleFC_Grams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FC-Final: final fuel consumption value with all (applicable) corrections applied (stop/start, WHTC, smart auxiliaries)</a:t>
            </a:r>
            <a:endParaRPr lang="en-US" sz="1400" b="0" strike="noStrike" spc="-1">
              <a:latin typeface="Arial"/>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 name="PlaceHolder 1"/>
          <p:cNvSpPr>
            <a:spLocks noGrp="1"/>
          </p:cNvSpPr>
          <p:nvPr>
            <p:ph type="title"/>
          </p:nvPr>
        </p:nvSpPr>
        <p:spPr>
          <a:xfrm>
            <a:off x="468360" y="570240"/>
            <a:ext cx="8217720" cy="4816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3.0.3.537</a:t>
            </a:r>
            <a:br>
              <a:rPr sz="2400"/>
            </a:br>
            <a:r>
              <a:rPr lang="en-US" sz="1600" b="1" strike="noStrike" spc="-1">
                <a:solidFill>
                  <a:srgbClr val="990000"/>
                </a:solidFill>
                <a:latin typeface="Arial"/>
              </a:rPr>
              <a:t>2016-06-21</a:t>
            </a:r>
            <a:endParaRPr lang="en-US" sz="1600" b="0" strike="noStrike" spc="-1">
              <a:latin typeface="Arial"/>
            </a:endParaRPr>
          </a:p>
        </p:txBody>
      </p:sp>
      <p:sp>
        <p:nvSpPr>
          <p:cNvPr id="408" name="PlaceHolder 2"/>
          <p:cNvSpPr>
            <a:spLocks noGrp="1"/>
          </p:cNvSpPr>
          <p:nvPr>
            <p:ph/>
          </p:nvPr>
        </p:nvSpPr>
        <p:spPr>
          <a:xfrm>
            <a:off x="179640" y="1124640"/>
            <a:ext cx="8784360" cy="4856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Plot shift lines as computed according to WB 2016 declaration mode in GUI</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GUI: Buttons to add/remove auxiliaries are visible again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Error in calculation of WHTC correction factor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 consider gearbox inertia (engineering mode) for searching operating point</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Wrong output of road gradient in measured speed mode (correct gradient for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Fuel consumption in .vsum file now accounts for AdvancedAuxiliaries model</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GraphDrawer (Vecto): handle new .vmod format of Vecto 3</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AdvancedAuxiliaries: language-settings independent input parsing</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Paux was ignored when running Vecto 2.2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Error in massive multithreaded execution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 unhandled response during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 output columns in .vmod</a:t>
            </a:r>
            <a:endParaRPr lang="en-US" sz="1800" b="0" strike="noStrike" spc="-1">
              <a:latin typeface="Arial"/>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3.0.3.495</a:t>
            </a:r>
            <a:br>
              <a:rPr sz="2400"/>
            </a:br>
            <a:r>
              <a:rPr lang="en-US" sz="1600" b="1" strike="noStrike" spc="-1">
                <a:solidFill>
                  <a:srgbClr val="990000"/>
                </a:solidFill>
                <a:latin typeface="Arial"/>
              </a:rPr>
              <a:t>2016-05-10</a:t>
            </a:r>
            <a:endParaRPr lang="en-US" sz="1600" b="0" strike="noStrike" spc="-1">
              <a:latin typeface="Arial"/>
            </a:endParaRPr>
          </a:p>
        </p:txBody>
      </p:sp>
      <p:sp>
        <p:nvSpPr>
          <p:cNvPr id="41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Support for Advanced Auxiliaries (Ricardo) in Vecto 3.0.3 and Vecto 2.2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Performance improvements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Gearshift polygons according to WB 2016</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Revision of SUM-data file, changed order of columns, changed column headers</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Delaunay Maps: additional check for duplicate input points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Creation of PDF Report when running multiple jobs at once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Sanity checks for gear shift lines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Improvements DriverStrategy: handling special cases</a:t>
            </a:r>
            <a:endParaRPr lang="en-US" sz="1800" b="0" strike="noStrike" spc="-1">
              <a:latin typeface="Arial"/>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1" name="Grafik 6"/>
          <p:cNvPicPr/>
          <p:nvPr/>
        </p:nvPicPr>
        <p:blipFill>
          <a:blip r:embed="rId2"/>
          <a:stretch/>
        </p:blipFill>
        <p:spPr>
          <a:xfrm>
            <a:off x="971640" y="1049400"/>
            <a:ext cx="7488000" cy="4750200"/>
          </a:xfrm>
          <a:prstGeom prst="rect">
            <a:avLst/>
          </a:prstGeom>
          <a:ln w="0">
            <a:noFill/>
          </a:ln>
        </p:spPr>
      </p:pic>
      <p:sp>
        <p:nvSpPr>
          <p:cNvPr id="41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Performance Comparison</a:t>
            </a:r>
            <a:endParaRPr lang="en-US" sz="2400" b="0" strike="noStrike" spc="-1">
              <a:latin typeface="Arial"/>
            </a:endParaRPr>
          </a:p>
        </p:txBody>
      </p:sp>
      <p:sp>
        <p:nvSpPr>
          <p:cNvPr id="413" name="Textfeld 4"/>
          <p:cNvSpPr/>
          <p:nvPr/>
        </p:nvSpPr>
        <p:spPr>
          <a:xfrm rot="16200000">
            <a:off x="1162800" y="2851200"/>
            <a:ext cx="675720" cy="2570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US" sz="1100" b="0" strike="noStrike" spc="-1">
                <a:solidFill>
                  <a:srgbClr val="000000"/>
                </a:solidFill>
                <a:latin typeface="Arial"/>
                <a:ea typeface="DejaVu Sans"/>
              </a:rPr>
              <a:t>Time [s]</a:t>
            </a:r>
            <a:endParaRPr lang="en-US" sz="1100" b="0" strike="noStrike" spc="-1">
              <a:latin typeface="Arial"/>
            </a:endParaRPr>
          </a:p>
        </p:txBody>
      </p:sp>
      <p:sp>
        <p:nvSpPr>
          <p:cNvPr id="414" name="Textfeld 5"/>
          <p:cNvSpPr/>
          <p:nvPr/>
        </p:nvSpPr>
        <p:spPr>
          <a:xfrm>
            <a:off x="102240" y="5764680"/>
            <a:ext cx="8301960" cy="3643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US" sz="1800" b="0" strike="noStrike" spc="-1">
                <a:solidFill>
                  <a:srgbClr val="000000"/>
                </a:solidFill>
                <a:latin typeface="Arial"/>
                <a:ea typeface="DejaVu Sans"/>
              </a:rPr>
              <a:t>Total execution time (15 runs in parallel):  Vecto 3.0.2: 6min 6s; </a:t>
            </a:r>
            <a:r>
              <a:rPr lang="en-US" sz="1800" b="1" strike="noStrike" spc="-1">
                <a:solidFill>
                  <a:srgbClr val="000000"/>
                </a:solidFill>
                <a:latin typeface="Arial"/>
                <a:ea typeface="DejaVu Sans"/>
              </a:rPr>
              <a:t>Vecto 3.0.3: 35s</a:t>
            </a:r>
            <a:endParaRPr lang="en-US" sz="1800" b="0" strike="noStrike" spc="-1">
              <a:latin typeface="Arial"/>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5" name="Rectangle 3"/>
          <p:cNvSpPr/>
          <p:nvPr/>
        </p:nvSpPr>
        <p:spPr>
          <a:xfrm>
            <a:off x="0" y="778680"/>
            <a:ext cx="9143280" cy="345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buNone/>
            </a:pPr>
            <a:r>
              <a:rPr lang="en-GB" sz="2800" b="1" strike="noStrike" spc="-1">
                <a:solidFill>
                  <a:srgbClr val="990000"/>
                </a:solidFill>
                <a:latin typeface="Arial"/>
                <a:ea typeface="DejaVu Sans"/>
              </a:rPr>
              <a:t>VECTO 3.0.2</a:t>
            </a:r>
            <a:br>
              <a:rPr sz="2800"/>
            </a:br>
            <a:r>
              <a:rPr lang="en-GB" sz="1600" b="1" strike="noStrike" spc="-1">
                <a:solidFill>
                  <a:srgbClr val="990000"/>
                </a:solidFill>
                <a:latin typeface="Arial"/>
                <a:ea typeface="DejaVu Sans"/>
              </a:rPr>
              <a:t>2016-03-11</a:t>
            </a:r>
            <a:endParaRPr lang="en-US" sz="1600" b="0" strike="noStrike" spc="-1">
              <a:latin typeface="Arial"/>
            </a:endParaRPr>
          </a:p>
        </p:txBody>
      </p:sp>
      <p:sp>
        <p:nvSpPr>
          <p:cNvPr id="416" name="Textfeld 5"/>
          <p:cNvSpPr/>
          <p:nvPr/>
        </p:nvSpPr>
        <p:spPr>
          <a:xfrm>
            <a:off x="251640" y="1124640"/>
            <a:ext cx="8496360" cy="5148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50000"/>
              </a:lnSpc>
              <a:spcBef>
                <a:spcPts val="601"/>
              </a:spcBef>
              <a:buNone/>
            </a:pPr>
            <a:r>
              <a:rPr lang="en-GB" sz="2000" b="1" strike="noStrike" spc="-1">
                <a:solidFill>
                  <a:srgbClr val="000000"/>
                </a:solidFill>
                <a:latin typeface="Arial"/>
                <a:ea typeface="DejaVu Sans"/>
              </a:rPr>
              <a:t>Main updates</a:t>
            </a:r>
            <a:endParaRPr lang="en-US" sz="2000" b="0" strike="noStrike" spc="-1">
              <a:latin typeface="Arial"/>
            </a:endParaRPr>
          </a:p>
          <a:p>
            <a:pPr marL="343080" indent="-343080">
              <a:lnSpc>
                <a:spcPct val="130000"/>
              </a:lnSpc>
              <a:spcBef>
                <a:spcPts val="601"/>
              </a:spcBef>
              <a:buClr>
                <a:srgbClr val="000000"/>
              </a:buClr>
              <a:buFont typeface="Arial"/>
              <a:buChar char="•"/>
            </a:pPr>
            <a:r>
              <a:rPr lang="en-GB" sz="1400" b="0" strike="noStrike" spc="-1">
                <a:solidFill>
                  <a:srgbClr val="000000"/>
                </a:solidFill>
                <a:latin typeface="Arial"/>
                <a:ea typeface="DejaVu Sans"/>
              </a:rPr>
              <a:t>New simulation modes: </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GB" sz="1400" b="0" strike="noStrike" spc="-1">
                <a:solidFill>
                  <a:srgbClr val="000000"/>
                </a:solidFill>
                <a:latin typeface="Arial"/>
                <a:ea typeface="DejaVu Sans"/>
              </a:rPr>
              <a:t>Pwheel (SiCo), </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GB" sz="1400" b="0" strike="noStrike" spc="-1">
                <a:solidFill>
                  <a:srgbClr val="000000"/>
                </a:solidFill>
                <a:latin typeface="Arial"/>
                <a:ea typeface="DejaVu Sans"/>
              </a:rPr>
              <a:t>Measured Speed (with/without gear)</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GB" sz="1400" b="0" strike="noStrike" spc="-1">
                <a:solidFill>
                  <a:srgbClr val="000000"/>
                </a:solidFill>
                <a:latin typeface="Arial"/>
                <a:ea typeface="DejaVu Sans"/>
              </a:rPr>
              <a:t>v_air/beta cross-wind correction (vcdb)</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Adaptations of powertrain components architecture</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Move wheels inertia from vehicle to wheels</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Auxiliaries no longer connected via clutch to the engine but via a separate port</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Engine checks overload of gearbox and engine overload</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Fixed some driving behavior related issues in VectoCore:</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When the vehicle comes to a halt during gear shift, instead of aborting the cycle, it tries to drive away again with an appropriate gear.</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ModData Format changed for better information and clarity</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Added validation of input values (according to latest VectoInputParameters.xls)</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Various bugfixes</a:t>
            </a:r>
            <a:endParaRPr lang="en-US" sz="1400" b="0" strike="noStrike" spc="-1">
              <a:latin typeface="Aria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Pwheel (SiCo) Mode</a:t>
            </a:r>
            <a:endParaRPr lang="en-US" sz="2400" b="0" strike="noStrike" spc="-1">
              <a:latin typeface="Arial"/>
            </a:endParaRPr>
          </a:p>
        </p:txBody>
      </p:sp>
      <p:sp>
        <p:nvSpPr>
          <p:cNvPr id="418"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Function as already available in Vecto 2.2 also added in Vecto 3.0.2</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Driving cycle specifies power at wheel, engine speed, gear, and auxiliary power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No driver model in the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The Vecto gear-shift model is overruled.</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Function used for creating reference results for SiCo tests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For details see user manual: Simulation Models / Pwheel Input (SiCo)</a:t>
            </a:r>
            <a:endParaRPr lang="en-US" sz="1800" b="0" strike="noStrike" spc="-1">
              <a:latin typeface="Arial"/>
            </a:endParaRPr>
          </a:p>
          <a:p>
            <a:pPr>
              <a:lnSpc>
                <a:spcPct val="100000"/>
              </a:lnSpc>
              <a:buNone/>
            </a:pPr>
            <a:endParaRPr lang="en-US" sz="1800" b="0" strike="noStrike" spc="-1">
              <a:latin typeface="Arial"/>
            </a:endParaRPr>
          </a:p>
          <a:p>
            <a:pPr>
              <a:lnSpc>
                <a:spcPct val="100000"/>
              </a:lnSpc>
              <a:spcBef>
                <a:spcPts val="400"/>
              </a:spcBef>
              <a:buNone/>
            </a:pPr>
            <a:endParaRPr lang="en-US" sz="2000" b="0" strike="noStrike" spc="-1">
              <a:latin typeface="Arial"/>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Measured Speed Mode</a:t>
            </a:r>
            <a:endParaRPr lang="en-US" sz="2400" b="0" strike="noStrike" spc="-1">
              <a:latin typeface="Arial"/>
            </a:endParaRPr>
          </a:p>
        </p:txBody>
      </p:sp>
      <p:sp>
        <p:nvSpPr>
          <p:cNvPr id="42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Functionality already available in Vecto 2.2 added in Vecto 3.0.2</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Driving cycle not defined by target speed but by actual speed. No driver model in the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Gear and engine speed can be specified in the driving cycle. In this case the Vecto gear-shift model is overruled.</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Function used for “proof of concept” purposes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For details see user manual: Calculation Modes / Engineering Mode / Measured Speed</a:t>
            </a:r>
            <a:endParaRPr lang="en-US" sz="1800" b="0" strike="noStrike" spc="-1">
              <a:latin typeface="Aria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.vmod File Update</a:t>
            </a:r>
            <a:endParaRPr lang="en-US" sz="2400" b="0" strike="noStrike" spc="-1">
              <a:latin typeface="Arial"/>
            </a:endParaRPr>
          </a:p>
        </p:txBody>
      </p:sp>
      <p:sp>
        <p:nvSpPr>
          <p:cNvPr id="422"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In Vecto 3.0.2 the structure of the modal data output has been revised and re-structured. Basicaly for every powertrain component the .vmod file contains the power at the input shaft and the individual power losses for every component. For the engine the power, torque and engine speed at the output shaft is given along with the internal power and torque used for computing the fuel consumption.</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For details see the user manual: Input and Output / Modal Results (.vmod)</a:t>
            </a:r>
            <a:endParaRPr lang="en-US" sz="2000" b="0" strike="noStrike" spc="-1">
              <a:latin typeface="Aria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Changelog 3.0.2</a:t>
            </a:r>
            <a:endParaRPr lang="en-US" sz="2400" b="0" strike="noStrike" spc="-1">
              <a:latin typeface="Arial"/>
            </a:endParaRPr>
          </a:p>
        </p:txBody>
      </p:sp>
      <p:sp>
        <p:nvSpPr>
          <p:cNvPr id="424"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New simulation modes: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Measured Speed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Measured Speed with Gear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Pwheel (SiCo)</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Adaptations of powertrain components architecture</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Move wheels inertia from vehicle to wheels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Auxiliaries no longer connected via clutch to the engine but via a separate port</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Engine checks overload of gearbox and engine overload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Fixed some driving behavior related issues in VectoCore:</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When the vehicle comes to a halt during gear shift, instead of aborting the cycle, it tries to drive away again with an appropriate gear.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[ModData Format](#modal-results-.vmod) changed for better information and clarity</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Entries in the sum-file are sorted in the same way as in Vecto 2.2</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In engineering mode the execution mode (distance-based, time-based measured speed, time-based measured speed with gear, engine only) are detected based on the cycle</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Added validation of input values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Gravity constant set to 9.80665 (NIST standard acceleration for gravity)</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Improved input data handling: sort input values of full-load curves (engine, gbx, retarder)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Better Integration of VectoCore into GUI (Notifications and Messages)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v_air/beta cross-wind correction (vcdb) impemented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For all calculations the averaged values of the current simulation step are used for interpolations in loss-maps.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Allow extrapolation of loss maps in engineering mode (warnings)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Refactoring of input data handling: separate InputDataProvider interfaces for model data</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Refactoring of result handling: separate result container and output writer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New Long-Haul driving cycle included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User Manual updated for VECTO V3.x</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Fix: sparse representation of declaration cycles had some missing entries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error in computation of engine's preferred speed </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wrong vehicle class lookup</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duplicate entries in intersected full-load curves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retarder takes the retarder ratio into account for lossmap lookup</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use unique identifier for jobs in job list</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error in triagulation of fuel consumption map</a:t>
            </a:r>
            <a:endParaRPr lang="en-US" sz="800" b="0" strike="noStrike" spc="-1">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13246</Words>
  <Application>Microsoft Office PowerPoint</Application>
  <PresentationFormat>Bildschirmpräsentation (4:3)</PresentationFormat>
  <Paragraphs>1321</Paragraphs>
  <Slides>115</Slides>
  <Notes>0</Notes>
  <HiddenSlides>0</HiddenSlides>
  <MMClips>0</MMClips>
  <ScaleCrop>false</ScaleCrop>
  <HeadingPairs>
    <vt:vector size="6" baseType="variant">
      <vt:variant>
        <vt:lpstr>Verwendete Schriftarten</vt:lpstr>
      </vt:variant>
      <vt:variant>
        <vt:i4>8</vt:i4>
      </vt:variant>
      <vt:variant>
        <vt:lpstr>Design</vt:lpstr>
      </vt:variant>
      <vt:variant>
        <vt:i4>2</vt:i4>
      </vt:variant>
      <vt:variant>
        <vt:lpstr>Folientitel</vt:lpstr>
      </vt:variant>
      <vt:variant>
        <vt:i4>115</vt:i4>
      </vt:variant>
    </vt:vector>
  </HeadingPairs>
  <TitlesOfParts>
    <vt:vector size="125" baseType="lpstr">
      <vt:lpstr>Microsoft YaHei</vt:lpstr>
      <vt:lpstr>Arial</vt:lpstr>
      <vt:lpstr>Courier New</vt:lpstr>
      <vt:lpstr>DejaVu Sans</vt:lpstr>
      <vt:lpstr>Symbol</vt:lpstr>
      <vt:lpstr>Times New Roman</vt:lpstr>
      <vt:lpstr>Verdana</vt:lpstr>
      <vt:lpstr>Wingdings</vt:lpstr>
      <vt:lpstr>Office Theme</vt:lpstr>
      <vt:lpstr>Office Theme</vt:lpstr>
      <vt:lpstr>PowerPoint-Präsentation</vt:lpstr>
      <vt:lpstr>Vecto 0.7.9.xxx  Development Version  March 2023</vt:lpstr>
      <vt:lpstr>Vecto 0.7.9.2864 JRC Development Version  November 2022</vt:lpstr>
      <vt:lpstr>Vecto 0.7.9.2741 Development Version June 2022</vt:lpstr>
      <vt:lpstr>Modeling of IEPC component</vt:lpstr>
      <vt:lpstr>Peculiarities of IEPC</vt:lpstr>
      <vt:lpstr>Input data for IEPC component</vt:lpstr>
      <vt:lpstr>Input data for IEPC component</vt:lpstr>
      <vt:lpstr>Input data for IEPC component</vt:lpstr>
      <vt:lpstr>IEPC Input Form</vt:lpstr>
      <vt:lpstr>Gearbox Form for IEPC Vehicles</vt:lpstr>
      <vt:lpstr>Modeling of IHPC component</vt:lpstr>
      <vt:lpstr>Input data for IHPC component</vt:lpstr>
      <vt:lpstr>Input data for IHPC component</vt:lpstr>
      <vt:lpstr>Input data for IHPC component</vt:lpstr>
      <vt:lpstr>IHPC Input Form</vt:lpstr>
      <vt:lpstr>Adaptations Serial Hybrid Strategy  (1/3)</vt:lpstr>
      <vt:lpstr>Adaptations Serial Hybrid Strategy  (2/3)</vt:lpstr>
      <vt:lpstr>Adaptations Serial Hybrid Strategy  (3/3)</vt:lpstr>
      <vt:lpstr>SoC Correction for HEV-S</vt:lpstr>
      <vt:lpstr>Vecto 0.7.8.2679 Development Version April 2022</vt:lpstr>
      <vt:lpstr>Serial Hybrid Implementation</vt:lpstr>
      <vt:lpstr>Serial Hybrids: GenSet Pre-Processing</vt:lpstr>
      <vt:lpstr>Serial Hybrid Strategy (main principles)</vt:lpstr>
      <vt:lpstr>Serial Hybrids: GenSet</vt:lpstr>
      <vt:lpstr>Serial Hybrid Strategy Parameters</vt:lpstr>
      <vt:lpstr>PowerPoint-Präsentation</vt:lpstr>
      <vt:lpstr>EM: overload buffer calculated from both voltage levels</vt:lpstr>
      <vt:lpstr>Consider gearbox MaxTorque limits for HEV</vt:lpstr>
      <vt:lpstr>Vecto 0.7.8.xxx Development Version April 2022</vt:lpstr>
      <vt:lpstr>Vecto 0.7.8.xxx Development Version April 2022</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0.7.6.2451 Development Version September 2021</vt:lpstr>
      <vt:lpstr>Vecto 0.7.5.2353 Development Version June 2021</vt:lpstr>
      <vt:lpstr>Vecto 0.7.3.2164 Development Version December 2020</vt:lpstr>
      <vt:lpstr>Vecto 0.7.2.2118 Development Version October 2020</vt:lpstr>
      <vt:lpstr>Vecto 0.7.1.2108 Development Version October 2020</vt:lpstr>
      <vt:lpstr>Vecto 0.7.0.2076 Development Version September 2020</vt:lpstr>
      <vt:lpstr>Vecto 0.6.1.1975 Development Version May 2020</vt:lpstr>
      <vt:lpstr>Vecto 0.6.1.1957 Development Version May 2020</vt:lpstr>
      <vt:lpstr>Vecto 0.6.1.1957 Development Version May 2020</vt:lpstr>
      <vt:lpstr>Vecto 0.6.0.1908 Development Version March. 2020</vt:lpstr>
      <vt:lpstr>Vecto 0.6.0.1884 Development Version Feb. 2020</vt:lpstr>
      <vt:lpstr>Vecto 0.5.0 Development Version Dec. 2019</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subject/>
  <dc:creator>martinrexeis</dc:creator>
  <dc:description/>
  <cp:lastModifiedBy>Martini Harald</cp:lastModifiedBy>
  <cp:revision>1293</cp:revision>
  <cp:lastPrinted>2013-01-22T12:03:30Z</cp:lastPrinted>
  <dcterms:created xsi:type="dcterms:W3CDTF">2010-01-07T15:28:02Z</dcterms:created>
  <dcterms:modified xsi:type="dcterms:W3CDTF">2023-03-13T09:42:53Z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Bildschirmpräsentation (4:3)</vt:lpwstr>
  </property>
  <property fmtid="{D5CDD505-2E9C-101B-9397-08002B2CF9AE}" pid="3" name="Slides">
    <vt:i4>113</vt:i4>
  </property>
</Properties>
</file>