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1101" r:id="rId5"/>
    <p:sldId id="1105" r:id="rId6"/>
    <p:sldId id="1134" r:id="rId7"/>
    <p:sldId id="1135" r:id="rId8"/>
    <p:sldId id="1136" r:id="rId9"/>
    <p:sldId id="1137" r:id="rId10"/>
    <p:sldId id="1138" r:id="rId11"/>
    <p:sldId id="1139" r:id="rId12"/>
    <p:sldId id="1140" r:id="rId13"/>
    <p:sldId id="1141" r:id="rId14"/>
    <p:sldId id="1142" r:id="rId15"/>
    <p:sldId id="1143" r:id="rId16"/>
    <p:sldId id="1126" r:id="rId17"/>
    <p:sldId id="1132" r:id="rId18"/>
    <p:sldId id="1133" r:id="rId19"/>
    <p:sldId id="1144" r:id="rId20"/>
    <p:sldId id="1145" r:id="rId21"/>
    <p:sldId id="1146" r:id="rId22"/>
    <p:sldId id="1147" r:id="rId23"/>
    <p:sldId id="1148" r:id="rId24"/>
    <p:sldId id="1149" r:id="rId25"/>
    <p:sldId id="1150" r:id="rId26"/>
    <p:sldId id="1151" r:id="rId27"/>
    <p:sldId id="1152" r:id="rId28"/>
    <p:sldId id="1153" r:id="rId29"/>
    <p:sldId id="1154" r:id="rId30"/>
    <p:sldId id="1155" r:id="rId31"/>
    <p:sldId id="1156" r:id="rId32"/>
    <p:sldId id="1157" r:id="rId33"/>
    <p:sldId id="1115" r:id="rId34"/>
    <p:sldId id="257" r:id="rId35"/>
    <p:sldId id="258" r:id="rId36"/>
    <p:sldId id="259" r:id="rId37"/>
    <p:sldId id="260" r:id="rId38"/>
    <p:sldId id="261" r:id="rId39"/>
    <p:sldId id="262" r:id="rId40"/>
    <p:sldId id="263" r:id="rId41"/>
    <p:sldId id="264" r:id="rId42"/>
    <p:sldId id="265" r:id="rId43"/>
    <p:sldId id="266" r:id="rId44"/>
    <p:sldId id="267" r:id="rId45"/>
    <p:sldId id="268" r:id="rId46"/>
    <p:sldId id="269" r:id="rId47"/>
    <p:sldId id="270" r:id="rId48"/>
    <p:sldId id="271" r:id="rId49"/>
    <p:sldId id="272" r:id="rId50"/>
    <p:sldId id="273" r:id="rId51"/>
    <p:sldId id="274" r:id="rId52"/>
    <p:sldId id="275" r:id="rId53"/>
    <p:sldId id="276" r:id="rId54"/>
    <p:sldId id="277" r:id="rId55"/>
    <p:sldId id="278" r:id="rId56"/>
    <p:sldId id="279" r:id="rId57"/>
    <p:sldId id="280" r:id="rId58"/>
    <p:sldId id="281" r:id="rId59"/>
    <p:sldId id="282" r:id="rId60"/>
    <p:sldId id="283" r:id="rId61"/>
    <p:sldId id="284" r:id="rId62"/>
    <p:sldId id="285" r:id="rId63"/>
    <p:sldId id="286" r:id="rId64"/>
    <p:sldId id="287" r:id="rId65"/>
    <p:sldId id="288" r:id="rId66"/>
    <p:sldId id="289" r:id="rId67"/>
    <p:sldId id="290" r:id="rId68"/>
    <p:sldId id="291" r:id="rId69"/>
    <p:sldId id="292" r:id="rId70"/>
    <p:sldId id="293" r:id="rId71"/>
    <p:sldId id="294" r:id="rId72"/>
    <p:sldId id="295" r:id="rId73"/>
    <p:sldId id="296" r:id="rId74"/>
    <p:sldId id="297" r:id="rId75"/>
    <p:sldId id="298" r:id="rId76"/>
    <p:sldId id="299" r:id="rId77"/>
    <p:sldId id="300" r:id="rId78"/>
    <p:sldId id="301" r:id="rId79"/>
    <p:sldId id="302" r:id="rId80"/>
    <p:sldId id="303" r:id="rId81"/>
    <p:sldId id="304" r:id="rId82"/>
    <p:sldId id="305" r:id="rId83"/>
    <p:sldId id="306" r:id="rId84"/>
    <p:sldId id="307" r:id="rId85"/>
    <p:sldId id="308" r:id="rId86"/>
    <p:sldId id="309" r:id="rId87"/>
    <p:sldId id="310" r:id="rId88"/>
    <p:sldId id="311" r:id="rId89"/>
    <p:sldId id="312" r:id="rId90"/>
    <p:sldId id="313" r:id="rId91"/>
    <p:sldId id="314" r:id="rId92"/>
    <p:sldId id="315" r:id="rId93"/>
    <p:sldId id="316" r:id="rId94"/>
    <p:sldId id="317" r:id="rId95"/>
    <p:sldId id="318" r:id="rId96"/>
    <p:sldId id="319" r:id="rId97"/>
    <p:sldId id="320" r:id="rId98"/>
    <p:sldId id="321" r:id="rId99"/>
    <p:sldId id="322" r:id="rId100"/>
    <p:sldId id="323" r:id="rId101"/>
    <p:sldId id="324" r:id="rId102"/>
    <p:sldId id="325" r:id="rId103"/>
    <p:sldId id="326" r:id="rId104"/>
    <p:sldId id="327" r:id="rId105"/>
    <p:sldId id="328" r:id="rId106"/>
    <p:sldId id="329" r:id="rId107"/>
    <p:sldId id="330" r:id="rId108"/>
    <p:sldId id="331" r:id="rId109"/>
    <p:sldId id="332" r:id="rId110"/>
    <p:sldId id="333" r:id="rId111"/>
    <p:sldId id="334" r:id="rId112"/>
    <p:sldId id="335" r:id="rId113"/>
    <p:sldId id="336" r:id="rId114"/>
    <p:sldId id="337" r:id="rId115"/>
    <p:sldId id="338" r:id="rId116"/>
    <p:sldId id="339" r:id="rId117"/>
    <p:sldId id="340" r:id="rId118"/>
    <p:sldId id="341" r:id="rId119"/>
    <p:sldId id="342" r:id="rId120"/>
    <p:sldId id="343" r:id="rId121"/>
    <p:sldId id="344" r:id="rId122"/>
    <p:sldId id="345" r:id="rId123"/>
    <p:sldId id="346" r:id="rId124"/>
    <p:sldId id="347" r:id="rId125"/>
    <p:sldId id="348" r:id="rId126"/>
    <p:sldId id="349" r:id="rId127"/>
    <p:sldId id="350" r:id="rId128"/>
    <p:sldId id="351" r:id="rId129"/>
    <p:sldId id="352" r:id="rId130"/>
    <p:sldId id="353" r:id="rId131"/>
    <p:sldId id="354" r:id="rId132"/>
    <p:sldId id="355" r:id="rId133"/>
    <p:sldId id="356" r:id="rId134"/>
    <p:sldId id="357" r:id="rId135"/>
    <p:sldId id="358" r:id="rId136"/>
    <p:sldId id="359" r:id="rId137"/>
    <p:sldId id="360" r:id="rId138"/>
    <p:sldId id="361" r:id="rId139"/>
    <p:sldId id="362" r:id="rId140"/>
    <p:sldId id="363" r:id="rId141"/>
    <p:sldId id="364" r:id="rId142"/>
    <p:sldId id="365" r:id="rId143"/>
    <p:sldId id="366" r:id="rId144"/>
    <p:sldId id="367" r:id="rId145"/>
    <p:sldId id="368" r:id="rId146"/>
    <p:sldId id="369" r:id="rId14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7" d="100"/>
          <a:sy n="127" d="100"/>
        </p:scale>
        <p:origin x="61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viewProps" Target="viewProp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theme" Target="theme/theme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tableStyles" Target="tableStyle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a:defRPr lang="en-US" sz="2400" b="1" strike="noStrike" kern="1200" spc="-1">
                <a:solidFill>
                  <a:srgbClr val="990000"/>
                </a:solidFill>
                <a:latin typeface="Arial"/>
                <a:ea typeface="+mj-ea"/>
                <a:cs typeface="+mj-cs"/>
              </a:defRPr>
            </a:lvl1pPr>
          </a:lstStyle>
          <a:p>
            <a:pPr algn="ctr">
              <a:buNone/>
            </a:pPr>
            <a:endParaRPr lang="en-US" sz="4400" b="0" strike="noStrike" spc="-1" dirty="0">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el und Inhalt (wid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wrap="none"/>
          <a:lstStyle>
            <a:lvl1pPr>
              <a:defRPr b="1"/>
            </a:lvl1pPr>
          </a:lstStyle>
          <a:p>
            <a:r>
              <a:rPr lang="en-US" noProof="0" dirty="0"/>
              <a:t>Click to add Slide Title</a:t>
            </a:r>
          </a:p>
        </p:txBody>
      </p:sp>
      <p:sp>
        <p:nvSpPr>
          <p:cNvPr id="3" name="Inhaltsplatzhalter 2"/>
          <p:cNvSpPr>
            <a:spLocks noGrp="1"/>
          </p:cNvSpPr>
          <p:nvPr>
            <p:ph idx="1" hasCustomPrompt="1"/>
          </p:nvPr>
        </p:nvSpPr>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p:txBody>
          <a:bodyPr/>
          <a:lstStyle/>
          <a:p>
            <a:fld id="{4B64EC4D-37E3-EF42-B9AB-6337577588CB}" type="slidenum">
              <a:rPr lang="de-DE" smtClean="0"/>
              <a:t>‹Nr.›</a:t>
            </a:fld>
            <a:endParaRPr lang="de-DE"/>
          </a:p>
        </p:txBody>
      </p:sp>
    </p:spTree>
    <p:extLst>
      <p:ext uri="{BB962C8B-B14F-4D97-AF65-F5344CB8AC3E}">
        <p14:creationId xmlns:p14="http://schemas.microsoft.com/office/powerpoint/2010/main" val="26600102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5"/>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6"/>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13.xml"/><Relationship Id="rId4" Type="http://schemas.openxmlformats.org/officeDocument/2006/relationships/image" Target="../media/image14.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21.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a:solidFill>
                  <a:srgbClr val="990000"/>
                </a:solidFill>
                <a:latin typeface="Arial"/>
              </a:rPr>
              <a:t>Vecto 0.7.10.2995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Support for </a:t>
            </a:r>
            <a:r>
              <a:rPr lang="en-US" sz="1400" spc="-1" dirty="0" err="1">
                <a:solidFill>
                  <a:srgbClr val="000000"/>
                </a:solidFill>
                <a:latin typeface="Arial"/>
              </a:rPr>
              <a:t>xEV</a:t>
            </a:r>
            <a:r>
              <a:rPr lang="en-US" sz="1400" spc="-1" dirty="0">
                <a:solidFill>
                  <a:srgbClr val="000000"/>
                </a:solidFill>
                <a:latin typeface="Arial"/>
              </a:rPr>
              <a:t>-JSON-Jobs in Declaration Mode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a:t>
            </a:r>
            <a:r>
              <a:rPr lang="en-US" sz="1400" spc="-1" dirty="0" err="1">
                <a:solidFill>
                  <a:srgbClr val="000000"/>
                </a:solidFill>
                <a:latin typeface="Arial"/>
              </a:rPr>
              <a:t>Gearshifting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(1/2)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en-US" sz="1800" dirty="0"/>
              <a:t>VECTO Development </a:t>
            </a:r>
            <a:r>
              <a:rPr lang="en-US" sz="1800"/>
              <a:t>Version </a:t>
            </a:r>
            <a:r>
              <a:rPr lang="en-US" sz="1800">
                <a:solidFill>
                  <a:srgbClr val="FF0000"/>
                </a:solidFill>
              </a:rPr>
              <a:t>0.7.10.2995</a:t>
            </a:r>
            <a:r>
              <a:rPr lang="en-US" sz="1800"/>
              <a:t> </a:t>
            </a:r>
            <a:r>
              <a:rPr lang="en-US" sz="1800" dirty="0"/>
              <a:t>as released on </a:t>
            </a:r>
            <a:r>
              <a:rPr lang="en-US" sz="1800" dirty="0">
                <a:solidFill>
                  <a:srgbClr val="FF0000"/>
                </a:solidFill>
              </a:rPr>
              <a:t>March 15</a:t>
            </a:r>
            <a:r>
              <a:rPr lang="en-US" sz="1800" dirty="0"/>
              <a:t>, features the Declaration Mode for Lorries according to the 2</a:t>
            </a:r>
            <a:r>
              <a:rPr lang="en-US" sz="1800" baseline="30000" dirty="0"/>
              <a:t>nd</a:t>
            </a:r>
            <a:r>
              <a:rPr lang="en-US" sz="1800" dirty="0"/>
              <a:t> Amendment.</a:t>
            </a:r>
          </a:p>
          <a:p>
            <a:pPr>
              <a:spcBef>
                <a:spcPts val="600"/>
              </a:spcBef>
            </a:pPr>
            <a:r>
              <a:rPr lang="en-US" sz="1800" dirty="0"/>
              <a:t>This enables the official output XMLs (MRF, CIF) to be generated using the official input XMLs.</a:t>
            </a:r>
          </a:p>
          <a:p>
            <a:pPr>
              <a:spcBef>
                <a:spcPts val="600"/>
              </a:spcBef>
            </a:pPr>
            <a:r>
              <a:rPr lang="en-US" sz="1800" dirty="0"/>
              <a:t>The result values correspond to the official results, subject to minor adjustments and additions from the testing period (see later slides).</a:t>
            </a:r>
          </a:p>
          <a:p>
            <a:pPr>
              <a:spcBef>
                <a:spcPts val="600"/>
              </a:spcBef>
            </a:pPr>
            <a:r>
              <a:rPr lang="en-US" sz="1800" dirty="0"/>
              <a:t>With this version, the Declaration Mode can also be calculated via the GUI (</a:t>
            </a:r>
            <a:r>
              <a:rPr lang="en-US" sz="1800" dirty="0" err="1"/>
              <a:t>json</a:t>
            </a:r>
            <a:r>
              <a:rPr lang="en-US" sz="1800" dirty="0"/>
              <a:t> + csv). This mode also contains some special features for the upcoming test phase (see later slides).</a:t>
            </a:r>
            <a:endParaRPr lang="en-GB" sz="1600" dirty="0"/>
          </a:p>
          <a:p>
            <a:pPr lvl="1">
              <a:spcBef>
                <a:spcPts val="600"/>
              </a:spcBef>
            </a:pPr>
            <a:endParaRPr lang="en-GB" sz="1600" dirty="0"/>
          </a:p>
          <a:p>
            <a:pPr lvl="2">
              <a:spcBef>
                <a:spcPts val="600"/>
              </a:spcBef>
            </a:pPr>
            <a:endParaRPr lang="en-GB" sz="1400" dirty="0"/>
          </a:p>
          <a:p>
            <a:pPr lvl="2">
              <a:spcBef>
                <a:spcPts val="600"/>
              </a:spcBef>
            </a:pPr>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a:t>
            </a:fld>
            <a:endParaRPr lang="de-DE"/>
          </a:p>
        </p:txBody>
      </p:sp>
    </p:spTree>
    <p:extLst>
      <p:ext uri="{BB962C8B-B14F-4D97-AF65-F5344CB8AC3E}">
        <p14:creationId xmlns:p14="http://schemas.microsoft.com/office/powerpoint/2010/main" val="1654852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(2/2)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de-AT" sz="1800"/>
              <a:t>Overview new elements</a:t>
            </a:r>
          </a:p>
          <a:p>
            <a:pPr lvl="1">
              <a:spcBef>
                <a:spcPts val="300"/>
              </a:spcBef>
            </a:pPr>
            <a:r>
              <a:rPr lang="en-GB" sz="1600"/>
              <a:t>Generic parameterisation of auxiliaries </a:t>
            </a:r>
            <a:endParaRPr lang="en-US" sz="1600"/>
          </a:p>
          <a:p>
            <a:pPr lvl="1">
              <a:spcBef>
                <a:spcPts val="300"/>
              </a:spcBef>
            </a:pPr>
            <a:r>
              <a:rPr lang="en-US" sz="1600"/>
              <a:t>Generic parametrisation of P-HEV strategy including update of gear shift strategy</a:t>
            </a:r>
          </a:p>
          <a:p>
            <a:pPr lvl="1">
              <a:spcBef>
                <a:spcPts val="300"/>
              </a:spcBef>
            </a:pPr>
            <a:r>
              <a:rPr lang="en-US" sz="1600"/>
              <a:t>Generic parametrisation of S-HEV strategy</a:t>
            </a:r>
          </a:p>
          <a:p>
            <a:pPr lvl="1">
              <a:spcBef>
                <a:spcPts val="300"/>
              </a:spcBef>
            </a:pPr>
            <a:r>
              <a:rPr lang="en-US" sz="1600"/>
              <a:t>Generic parametrisation of usable SOC range</a:t>
            </a:r>
          </a:p>
          <a:p>
            <a:pPr lvl="1">
              <a:spcBef>
                <a:spcPts val="300"/>
              </a:spcBef>
            </a:pPr>
            <a:r>
              <a:rPr lang="fr-FR" sz="1600"/>
              <a:t>Separate approach for „Charge depleting mode“ simulation</a:t>
            </a:r>
          </a:p>
          <a:p>
            <a:pPr lvl="1">
              <a:spcBef>
                <a:spcPts val="300"/>
              </a:spcBef>
            </a:pPr>
            <a:r>
              <a:rPr lang="en-US" sz="1600"/>
              <a:t>Calculation of energy consumption at “battery terminals” considering battery charging losses during external charging</a:t>
            </a:r>
          </a:p>
          <a:p>
            <a:pPr lvl="1">
              <a:spcBef>
                <a:spcPts val="300"/>
              </a:spcBef>
            </a:pPr>
            <a:r>
              <a:rPr lang="en-US" sz="1600"/>
              <a:t>Range calculations</a:t>
            </a:r>
          </a:p>
          <a:p>
            <a:pPr lvl="1">
              <a:spcBef>
                <a:spcPts val="300"/>
              </a:spcBef>
            </a:pPr>
            <a:r>
              <a:rPr lang="en-US" sz="1600"/>
              <a:t>Automation of the various simulation runs necessary for PHEVs plus post processing elements</a:t>
            </a:r>
          </a:p>
          <a:p>
            <a:pPr lvl="1">
              <a:spcBef>
                <a:spcPts val="300"/>
              </a:spcBef>
            </a:pPr>
            <a:r>
              <a:rPr lang="en-US" sz="1600"/>
              <a:t>Generic e-PTO cycle for PEV and S-HEV in the MUN cycle</a:t>
            </a:r>
          </a:p>
          <a:p>
            <a:pPr lvl="1">
              <a:spcBef>
                <a:spcPts val="300"/>
              </a:spcBef>
            </a:pPr>
            <a:r>
              <a:rPr lang="en-US" sz="1600"/>
              <a:t>Generation of MRF and CIF</a:t>
            </a:r>
          </a:p>
          <a:p>
            <a:pPr lvl="1">
              <a:spcBef>
                <a:spcPts val="600"/>
              </a:spcBef>
            </a:pPr>
            <a:endParaRPr lang="fr-FR" sz="1600"/>
          </a:p>
          <a:p>
            <a:pPr lvl="1">
              <a:spcBef>
                <a:spcPts val="600"/>
              </a:spcBef>
            </a:pPr>
            <a:endParaRPr lang="en-GB" sz="1600"/>
          </a:p>
          <a:p>
            <a:pPr lvl="1">
              <a:spcBef>
                <a:spcPts val="600"/>
              </a:spcBef>
            </a:pPr>
            <a:endParaRPr lang="en-GB" sz="1600"/>
          </a:p>
          <a:p>
            <a:pPr lvl="2">
              <a:spcBef>
                <a:spcPts val="600"/>
              </a:spcBef>
            </a:pPr>
            <a:endParaRPr lang="en-GB" sz="1400"/>
          </a:p>
          <a:p>
            <a:pPr lvl="2">
              <a:spcBef>
                <a:spcPts val="600"/>
              </a:spcBef>
            </a:pPr>
            <a:endParaRPr lang="en-GB" sz="1400"/>
          </a:p>
        </p:txBody>
      </p:sp>
      <p:sp>
        <p:nvSpPr>
          <p:cNvPr id="4" name="Foliennummernplatzhalter 3"/>
          <p:cNvSpPr>
            <a:spLocks noGrp="1"/>
          </p:cNvSpPr>
          <p:nvPr>
            <p:ph type="sldNum" sz="quarter" idx="12"/>
          </p:nvPr>
        </p:nvSpPr>
        <p:spPr/>
        <p:txBody>
          <a:bodyPr/>
          <a:lstStyle/>
          <a:p>
            <a:fld id="{4B64EC4D-37E3-EF42-B9AB-6337577588CB}" type="slidenum">
              <a:rPr lang="de-DE" smtClean="0"/>
              <a:t>4</a:t>
            </a:fld>
            <a:endParaRPr lang="de-DE"/>
          </a:p>
        </p:txBody>
      </p:sp>
    </p:spTree>
    <p:extLst>
      <p:ext uri="{BB962C8B-B14F-4D97-AF65-F5344CB8AC3E}">
        <p14:creationId xmlns:p14="http://schemas.microsoft.com/office/powerpoint/2010/main" val="3430927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594900" y="1471871"/>
            <a:ext cx="8394645" cy="2841602"/>
          </a:xfrm>
        </p:spPr>
        <p:txBody>
          <a:bodyPr/>
          <a:lstStyle/>
          <a:p>
            <a:r>
              <a:rPr lang="en-US" sz="1800" dirty="0"/>
              <a:t>Basic principles of generic data used in DECL</a:t>
            </a:r>
          </a:p>
          <a:p>
            <a:pPr lvl="1"/>
            <a:r>
              <a:rPr lang="en-US" sz="1400" dirty="0"/>
              <a:t>Relevant auxiliary systems:</a:t>
            </a:r>
          </a:p>
          <a:p>
            <a:pPr lvl="2"/>
            <a:r>
              <a:rPr lang="en-US" sz="1200" dirty="0"/>
              <a:t>Pneumatic system</a:t>
            </a:r>
          </a:p>
          <a:p>
            <a:pPr lvl="2"/>
            <a:r>
              <a:rPr lang="en-US" sz="1200" dirty="0"/>
              <a:t>ICE cooling fan + conditioning power for electric propulsion components</a:t>
            </a:r>
          </a:p>
          <a:p>
            <a:pPr lvl="2"/>
            <a:r>
              <a:rPr lang="en-US" sz="1200" dirty="0"/>
              <a:t>Steering system</a:t>
            </a:r>
          </a:p>
          <a:p>
            <a:pPr lvl="2"/>
            <a:r>
              <a:rPr lang="en-US" sz="1200" dirty="0"/>
              <a:t>HVAC: for lorries only “yes/no”</a:t>
            </a:r>
          </a:p>
          <a:p>
            <a:pPr lvl="2"/>
            <a:r>
              <a:rPr lang="en-US" sz="1200" dirty="0"/>
              <a:t>Electric board net (is called “electric system”): for lorries only headlights technology (LED or standard)</a:t>
            </a:r>
            <a:br>
              <a:rPr lang="en-US" sz="1200" dirty="0"/>
            </a:br>
            <a:endParaRPr lang="en-US" sz="600" dirty="0"/>
          </a:p>
          <a:p>
            <a:pPr lvl="1"/>
            <a:r>
              <a:rPr lang="en-US" sz="1400" dirty="0"/>
              <a:t>Respective tables with generic power demand for each auxiliary system can be found in specific subfolder “Declaration\VAUX” under VECTO main path as csv-files</a:t>
            </a:r>
            <a:br>
              <a:rPr lang="en-US" sz="1400" dirty="0"/>
            </a:br>
            <a:endParaRPr lang="en-US" sz="800" dirty="0"/>
          </a:p>
          <a:p>
            <a:pPr lvl="1"/>
            <a:r>
              <a:rPr lang="en-GB" sz="1400" dirty="0"/>
              <a:t>General table structure looks as follows:</a:t>
            </a:r>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6694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45647" y="4583511"/>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426385" y="4621853"/>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2386279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3"/>
            <a:ext cx="8394645" cy="2841602"/>
          </a:xfrm>
        </p:spPr>
        <p:txBody>
          <a:bodyPr/>
          <a:lstStyle/>
          <a:p>
            <a:r>
              <a:rPr lang="en-US" sz="1800" dirty="0"/>
              <a:t>Basic principles of generic data used in DECL</a:t>
            </a:r>
          </a:p>
          <a:p>
            <a:pPr lvl="1"/>
            <a:r>
              <a:rPr lang="de-AT" sz="1400" dirty="0"/>
              <a:t>Details </a:t>
            </a:r>
            <a:r>
              <a:rPr lang="de-AT" sz="1400" dirty="0" err="1"/>
              <a:t>of</a:t>
            </a:r>
            <a:r>
              <a:rPr lang="de-AT" sz="1400" dirty="0"/>
              <a:t> </a:t>
            </a:r>
            <a:r>
              <a:rPr lang="de-AT" sz="1400" dirty="0" err="1"/>
              <a:t>application</a:t>
            </a:r>
            <a:r>
              <a:rPr lang="de-AT" sz="1400" dirty="0"/>
              <a:t> in DECL:</a:t>
            </a:r>
          </a:p>
          <a:p>
            <a:pPr lvl="2"/>
            <a:r>
              <a:rPr lang="en-US" sz="1200" b="1" u="sng" dirty="0"/>
              <a:t>For all HEV:</a:t>
            </a:r>
            <a:r>
              <a:rPr lang="en-US" sz="1200" dirty="0"/>
              <a:t> "fully electric" technology is connected to REESS</a:t>
            </a:r>
            <a:br>
              <a:rPr lang="en-US" sz="1200" dirty="0"/>
            </a:br>
            <a:r>
              <a:rPr lang="en-US" sz="1200" dirty="0">
                <a:sym typeface="Wingdings" panose="05000000000000000000" pitchFamily="2" charset="2"/>
              </a:rPr>
              <a:t> mechanical power (i.e. respective alternator drive power) is </a:t>
            </a:r>
            <a:r>
              <a:rPr lang="en-US" sz="1200" dirty="0"/>
              <a:t>converted to electric power with generic alternator efficiency of 0.7 used consistently throughout whole VECTO auxiliary approach</a:t>
            </a:r>
            <a:br>
              <a:rPr lang="en-US" sz="1200" dirty="0"/>
            </a:br>
            <a:r>
              <a:rPr lang="en-US" sz="1200" dirty="0"/>
              <a:t>(i.e. mechanical power from table is multiplied by 0.7 and therefore reduced)</a:t>
            </a:r>
            <a:br>
              <a:rPr lang="en-US" sz="1200" dirty="0"/>
            </a:br>
            <a:endParaRPr lang="en-US" sz="1200" dirty="0"/>
          </a:p>
          <a:p>
            <a:pPr lvl="2"/>
            <a:r>
              <a:rPr lang="en-GB" sz="1200" b="1" u="sng" dirty="0"/>
              <a:t>For all PEV:</a:t>
            </a:r>
            <a:r>
              <a:rPr lang="en-GB" sz="1200" dirty="0"/>
              <a:t> only </a:t>
            </a:r>
            <a:r>
              <a:rPr lang="en-US" sz="1200" dirty="0"/>
              <a:t>"fully electric" technology can be declared (acc. to Annex specifications as well)</a:t>
            </a:r>
            <a:br>
              <a:rPr lang="en-US" sz="1200" dirty="0"/>
            </a:br>
            <a:r>
              <a:rPr lang="en-US" sz="1200" dirty="0">
                <a:sym typeface="Wingdings" panose="05000000000000000000" pitchFamily="2" charset="2"/>
              </a:rPr>
              <a:t> same principle of conversion from mechanical to electrical power (as explained above applies)</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7488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94043" y="4608667"/>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83483" y="4583781"/>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36731841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feld 14"/>
          <p:cNvSpPr txBox="1"/>
          <p:nvPr/>
        </p:nvSpPr>
        <p:spPr>
          <a:xfrm>
            <a:off x="-49763" y="4671931"/>
            <a:ext cx="771448"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mechanical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1724183"/>
          </a:xfrm>
        </p:spPr>
        <p:txBody>
          <a:bodyPr/>
          <a:lstStyle/>
          <a:p>
            <a:r>
              <a:rPr lang="en-US" sz="1800" dirty="0"/>
              <a:t>Basic principles of pneumatic system in DECL</a:t>
            </a:r>
          </a:p>
          <a:p>
            <a:pPr lvl="1"/>
            <a:r>
              <a:rPr lang="de-AT" sz="1400" dirty="0" err="1"/>
              <a:t>Structure</a:t>
            </a:r>
            <a:r>
              <a:rPr lang="de-AT" sz="1400" dirty="0"/>
              <a:t> </a:t>
            </a:r>
            <a:r>
              <a:rPr lang="de-AT" sz="1400" dirty="0" err="1"/>
              <a:t>of</a:t>
            </a:r>
            <a:r>
              <a:rPr lang="de-AT" sz="1400" dirty="0"/>
              <a:t> </a:t>
            </a:r>
            <a:r>
              <a:rPr lang="de-AT" sz="1400" dirty="0" err="1"/>
              <a:t>table</a:t>
            </a:r>
            <a:r>
              <a:rPr lang="de-AT" sz="1400" dirty="0"/>
              <a:t> </a:t>
            </a:r>
            <a:r>
              <a:rPr lang="de-AT" sz="1400" dirty="0" err="1"/>
              <a:t>is</a:t>
            </a:r>
            <a:r>
              <a:rPr lang="de-AT" sz="1400" dirty="0"/>
              <a:t> </a:t>
            </a:r>
            <a:r>
              <a:rPr lang="de-AT" sz="1400" dirty="0" err="1"/>
              <a:t>slightly</a:t>
            </a:r>
            <a:r>
              <a:rPr lang="de-AT" sz="1400" dirty="0"/>
              <a:t> different, </a:t>
            </a:r>
            <a:r>
              <a:rPr lang="de-AT" sz="1400" dirty="0" err="1"/>
              <a:t>stating</a:t>
            </a:r>
            <a:r>
              <a:rPr lang="de-AT" sz="1400" dirty="0"/>
              <a:t> </a:t>
            </a:r>
            <a:r>
              <a:rPr lang="de-AT" sz="1400" dirty="0" err="1"/>
              <a:t>mechanical</a:t>
            </a:r>
            <a:r>
              <a:rPr lang="de-AT" sz="1400" dirty="0"/>
              <a:t> </a:t>
            </a:r>
            <a:r>
              <a:rPr lang="de-AT" sz="1400" dirty="0" err="1"/>
              <a:t>and</a:t>
            </a:r>
            <a:r>
              <a:rPr lang="de-AT" sz="1400" dirty="0"/>
              <a:t> </a:t>
            </a:r>
            <a:r>
              <a:rPr lang="de-AT" sz="1400" dirty="0" err="1"/>
              <a:t>electrical</a:t>
            </a:r>
            <a:r>
              <a:rPr lang="de-AT" sz="1400" dirty="0"/>
              <a:t> power </a:t>
            </a:r>
            <a:r>
              <a:rPr lang="de-AT" sz="1400" dirty="0" err="1"/>
              <a:t>demand</a:t>
            </a:r>
            <a:br>
              <a:rPr lang="de-AT" sz="1400" dirty="0"/>
            </a:br>
            <a:r>
              <a:rPr lang="de-AT" sz="1400" dirty="0"/>
              <a:t>at </a:t>
            </a:r>
            <a:r>
              <a:rPr lang="de-AT" sz="1400" dirty="0" err="1"/>
              <a:t>the</a:t>
            </a:r>
            <a:r>
              <a:rPr lang="de-AT" sz="1400" dirty="0"/>
              <a:t> same time</a:t>
            </a:r>
          </a:p>
          <a:p>
            <a:pPr lvl="1"/>
            <a:r>
              <a:rPr lang="de-AT" sz="1400" dirty="0" err="1"/>
              <a:t>Reason</a:t>
            </a:r>
            <a:r>
              <a:rPr lang="de-AT" sz="1400" dirty="0"/>
              <a:t> </a:t>
            </a:r>
            <a:r>
              <a:rPr lang="de-AT" sz="1400" dirty="0" err="1"/>
              <a:t>is</a:t>
            </a:r>
            <a:r>
              <a:rPr lang="de-AT" sz="1400" dirty="0"/>
              <a:t> </a:t>
            </a:r>
            <a:r>
              <a:rPr lang="de-AT" sz="1400" dirty="0" err="1"/>
              <a:t>that</a:t>
            </a:r>
            <a:r>
              <a:rPr lang="de-AT" sz="1400" dirty="0"/>
              <a:t> </a:t>
            </a:r>
            <a:r>
              <a:rPr lang="de-AT" sz="1400" dirty="0" err="1"/>
              <a:t>generic</a:t>
            </a:r>
            <a:r>
              <a:rPr lang="de-AT" sz="1400" dirty="0"/>
              <a:t> </a:t>
            </a:r>
            <a:r>
              <a:rPr lang="de-AT" sz="1400" dirty="0" err="1"/>
              <a:t>saving</a:t>
            </a:r>
            <a:r>
              <a:rPr lang="de-AT" sz="1400" dirty="0"/>
              <a:t> </a:t>
            </a:r>
            <a:r>
              <a:rPr lang="de-AT" sz="1400" dirty="0" err="1"/>
              <a:t>of</a:t>
            </a:r>
            <a:r>
              <a:rPr lang="de-AT" sz="1400" dirty="0"/>
              <a:t> AMS </a:t>
            </a:r>
            <a:r>
              <a:rPr lang="de-AT" sz="1400" dirty="0" err="1"/>
              <a:t>techonolgies</a:t>
            </a:r>
            <a:r>
              <a:rPr lang="de-AT" sz="1400" dirty="0"/>
              <a:t> </a:t>
            </a:r>
            <a:r>
              <a:rPr lang="de-AT" sz="1400" dirty="0" err="1"/>
              <a:t>is</a:t>
            </a:r>
            <a:r>
              <a:rPr lang="de-AT" sz="1400" dirty="0"/>
              <a:t> </a:t>
            </a:r>
            <a:r>
              <a:rPr lang="de-AT" sz="1400" dirty="0" err="1"/>
              <a:t>reduced</a:t>
            </a:r>
            <a:r>
              <a:rPr lang="de-AT" sz="1400" dirty="0"/>
              <a:t> </a:t>
            </a:r>
            <a:r>
              <a:rPr lang="de-AT" sz="1400" dirty="0" err="1"/>
              <a:t>for</a:t>
            </a:r>
            <a:r>
              <a:rPr lang="de-AT" sz="1400" dirty="0"/>
              <a:t> </a:t>
            </a:r>
            <a:r>
              <a:rPr lang="de-AT" sz="1400" dirty="0" err="1"/>
              <a:t>xEV</a:t>
            </a:r>
            <a:r>
              <a:rPr lang="de-AT" sz="1400" dirty="0"/>
              <a:t> </a:t>
            </a:r>
            <a:r>
              <a:rPr lang="de-AT" sz="1400" dirty="0" err="1"/>
              <a:t>vehicles</a:t>
            </a:r>
            <a:r>
              <a:rPr lang="de-AT" sz="1400" dirty="0"/>
              <a:t> (</a:t>
            </a:r>
            <a:r>
              <a:rPr lang="de-AT" sz="1400" dirty="0" err="1"/>
              <a:t>only</a:t>
            </a:r>
            <a:r>
              <a:rPr lang="de-AT" sz="1400" dirty="0"/>
              <a:t> minus 10%) due </a:t>
            </a:r>
            <a:r>
              <a:rPr lang="de-AT" sz="1400" dirty="0" err="1"/>
              <a:t>to</a:t>
            </a:r>
            <a:r>
              <a:rPr lang="de-AT" sz="1400" dirty="0"/>
              <a:t> </a:t>
            </a:r>
            <a:r>
              <a:rPr lang="de-AT" sz="1400" dirty="0" err="1"/>
              <a:t>reduced</a:t>
            </a:r>
            <a:r>
              <a:rPr lang="de-AT" sz="1400" dirty="0"/>
              <a:t> </a:t>
            </a:r>
            <a:r>
              <a:rPr lang="de-AT" sz="1400" dirty="0" err="1"/>
              <a:t>recuperative</a:t>
            </a:r>
            <a:r>
              <a:rPr lang="de-AT" sz="1400" dirty="0"/>
              <a:t> potential </a:t>
            </a:r>
            <a:r>
              <a:rPr lang="de-AT" sz="1400" dirty="0" err="1"/>
              <a:t>compared</a:t>
            </a:r>
            <a:r>
              <a:rPr lang="de-AT" sz="1400" dirty="0"/>
              <a:t> </a:t>
            </a:r>
            <a:r>
              <a:rPr lang="de-AT" sz="1400" dirty="0" err="1"/>
              <a:t>to</a:t>
            </a:r>
            <a:r>
              <a:rPr lang="de-AT" sz="1400" dirty="0"/>
              <a:t> </a:t>
            </a:r>
            <a:r>
              <a:rPr lang="de-AT" sz="1400" dirty="0" err="1"/>
              <a:t>conventional</a:t>
            </a:r>
            <a:r>
              <a:rPr lang="de-AT" sz="1400" dirty="0"/>
              <a:t> </a:t>
            </a:r>
            <a:r>
              <a:rPr lang="de-AT" sz="1400" dirty="0" err="1"/>
              <a:t>ones</a:t>
            </a:r>
            <a:r>
              <a:rPr lang="de-AT" sz="1400" dirty="0"/>
              <a:t> </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7</a:t>
            </a:fld>
            <a:endParaRPr lang="de-DE"/>
          </a:p>
        </p:txBody>
      </p:sp>
      <p:graphicFrame>
        <p:nvGraphicFramePr>
          <p:cNvPr id="6" name="Tabelle 5"/>
          <p:cNvGraphicFramePr>
            <a:graphicFrameLocks noGrp="1"/>
          </p:cNvGraphicFramePr>
          <p:nvPr/>
        </p:nvGraphicFramePr>
        <p:xfrm>
          <a:off x="858719" y="4326904"/>
          <a:ext cx="8158280" cy="165600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1800000">
                  <a:extLst>
                    <a:ext uri="{9D8B030D-6E8A-4147-A177-3AD203B41FA5}">
                      <a16:colId xmlns:a16="http://schemas.microsoft.com/office/drawing/2014/main" val="3710519613"/>
                    </a:ext>
                  </a:extLst>
                </a:gridCol>
                <a:gridCol w="1800000">
                  <a:extLst>
                    <a:ext uri="{9D8B030D-6E8A-4147-A177-3AD203B41FA5}">
                      <a16:colId xmlns:a16="http://schemas.microsoft.com/office/drawing/2014/main" val="3392582189"/>
                    </a:ext>
                  </a:extLst>
                </a:gridCol>
              </a:tblGrid>
              <a:tr h="216000">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mechanical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electrical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471874194"/>
                  </a:ext>
                </a:extLst>
              </a:tr>
              <a:tr h="180000">
                <a:tc>
                  <a:txBody>
                    <a:bodyPr/>
                    <a:lstStyle/>
                    <a:p>
                      <a:pPr algn="l" fontAlgn="b"/>
                      <a:r>
                        <a:rPr lang="en-US" sz="800" u="none" strike="noStrike" dirty="0">
                          <a:effectLst/>
                        </a:rPr>
                        <a:t>Tech mechanical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r h="180000">
                <a:tc>
                  <a:txBody>
                    <a:bodyPr/>
                    <a:lstStyle/>
                    <a:p>
                      <a:pPr algn="l" fontAlgn="b"/>
                      <a:r>
                        <a:rPr lang="en-US" sz="800" u="none" strike="noStrike" dirty="0">
                          <a:effectLst/>
                        </a:rPr>
                        <a:t>Tech electrical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14268548"/>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3002789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787719517"/>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34790804"/>
                  </a:ext>
                </a:extLst>
              </a:tr>
            </a:tbl>
          </a:graphicData>
        </a:graphic>
      </p:graphicFrame>
      <p:sp>
        <p:nvSpPr>
          <p:cNvPr id="8" name="Geschweifte Klammer rechts 7"/>
          <p:cNvSpPr/>
          <p:nvPr/>
        </p:nvSpPr>
        <p:spPr>
          <a:xfrm rot="16200000">
            <a:off x="3506231" y="3180813"/>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8" y="3401859"/>
            <a:ext cx="1259012" cy="646331"/>
          </a:xfrm>
          <a:prstGeom prst="rect">
            <a:avLst/>
          </a:prstGeom>
          <a:noFill/>
        </p:spPr>
        <p:txBody>
          <a:bodyPr wrap="square" rtlCol="0">
            <a:spAutoFit/>
          </a:bodyPr>
          <a:lstStyle/>
          <a:p>
            <a:pPr algn="ctr" fontAlgn="b"/>
            <a:r>
              <a:rPr lang="de-AT" sz="900" dirty="0" err="1">
                <a:solidFill>
                  <a:srgbClr val="CC0000"/>
                </a:solidFill>
              </a:rPr>
              <a:t>can</a:t>
            </a:r>
            <a:r>
              <a:rPr lang="de-AT" sz="900" dirty="0">
                <a:solidFill>
                  <a:srgbClr val="CC0000"/>
                </a:solidFill>
              </a:rPr>
              <a:t> </a:t>
            </a:r>
            <a:r>
              <a:rPr lang="de-AT" sz="900" dirty="0" err="1">
                <a:solidFill>
                  <a:srgbClr val="CC0000"/>
                </a:solidFill>
              </a:rPr>
              <a:t>be</a:t>
            </a:r>
            <a:r>
              <a:rPr lang="de-AT" sz="900" dirty="0">
                <a:solidFill>
                  <a:srgbClr val="CC0000"/>
                </a:solidFill>
              </a:rPr>
              <a:t> </a:t>
            </a:r>
            <a:r>
              <a:rPr lang="de-AT" sz="900" dirty="0" err="1">
                <a:solidFill>
                  <a:srgbClr val="CC0000"/>
                </a:solidFill>
              </a:rPr>
              <a:t>directly</a:t>
            </a:r>
            <a:r>
              <a:rPr lang="de-AT" sz="900" dirty="0">
                <a:solidFill>
                  <a:srgbClr val="CC0000"/>
                </a:solidFill>
              </a:rPr>
              <a:t> </a:t>
            </a:r>
            <a:r>
              <a:rPr lang="de-AT" sz="900" dirty="0" err="1">
                <a:solidFill>
                  <a:srgbClr val="CC0000"/>
                </a:solidFill>
              </a:rPr>
              <a:t>supplied</a:t>
            </a:r>
            <a:r>
              <a:rPr lang="de-AT" sz="900" dirty="0">
                <a:solidFill>
                  <a:srgbClr val="CC0000"/>
                </a:solidFill>
              </a:rPr>
              <a:t> </a:t>
            </a:r>
            <a:r>
              <a:rPr lang="de-AT" sz="900" dirty="0" err="1">
                <a:solidFill>
                  <a:srgbClr val="CC0000"/>
                </a:solidFill>
              </a:rPr>
              <a:t>by</a:t>
            </a:r>
            <a:r>
              <a:rPr lang="de-AT" sz="900" dirty="0">
                <a:solidFill>
                  <a:srgbClr val="CC0000"/>
                </a:solidFill>
              </a:rPr>
              <a:t> REESS </a:t>
            </a:r>
            <a:r>
              <a:rPr lang="de-AT" sz="900" dirty="0" err="1">
                <a:solidFill>
                  <a:srgbClr val="CC0000"/>
                </a:solidFill>
              </a:rPr>
              <a:t>if</a:t>
            </a:r>
            <a:r>
              <a:rPr lang="de-AT" sz="900" dirty="0">
                <a:solidFill>
                  <a:srgbClr val="CC0000"/>
                </a:solidFill>
              </a:rPr>
              <a:t> </a:t>
            </a:r>
            <a:r>
              <a:rPr lang="de-AT" sz="900" dirty="0" err="1">
                <a:solidFill>
                  <a:srgbClr val="CC0000"/>
                </a:solidFill>
              </a:rPr>
              <a:t>present</a:t>
            </a:r>
            <a:br>
              <a:rPr lang="de-AT" sz="900" dirty="0">
                <a:solidFill>
                  <a:srgbClr val="CC0000"/>
                </a:solidFill>
              </a:rPr>
            </a:br>
            <a:r>
              <a:rPr lang="de-AT" sz="900" dirty="0">
                <a:solidFill>
                  <a:srgbClr val="CC0000"/>
                </a:solidFill>
              </a:rPr>
              <a:t>(</a:t>
            </a:r>
            <a:r>
              <a:rPr lang="de-AT" sz="900" dirty="0" err="1">
                <a:solidFill>
                  <a:srgbClr val="CC0000"/>
                </a:solidFill>
              </a:rPr>
              <a:t>indicated</a:t>
            </a:r>
            <a:r>
              <a:rPr lang="de-AT" sz="900" dirty="0">
                <a:solidFill>
                  <a:srgbClr val="CC0000"/>
                </a:solidFill>
              </a:rPr>
              <a:t> </a:t>
            </a:r>
            <a:r>
              <a:rPr lang="de-AT" sz="900" dirty="0" err="1">
                <a:solidFill>
                  <a:srgbClr val="CC0000"/>
                </a:solidFill>
              </a:rPr>
              <a:t>with</a:t>
            </a:r>
            <a:r>
              <a:rPr lang="de-AT" sz="900" dirty="0">
                <a:solidFill>
                  <a:srgbClr val="CC0000"/>
                </a:solidFill>
              </a:rPr>
              <a:t> 0/1)</a:t>
            </a:r>
          </a:p>
        </p:txBody>
      </p:sp>
      <p:sp>
        <p:nvSpPr>
          <p:cNvPr id="12" name="Geschweifte Klammer rechts 11"/>
          <p:cNvSpPr/>
          <p:nvPr/>
        </p:nvSpPr>
        <p:spPr>
          <a:xfrm rot="16200000">
            <a:off x="4975656" y="3867645"/>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77262" y="3664632"/>
            <a:ext cx="2003172" cy="400110"/>
          </a:xfrm>
          <a:prstGeom prst="rect">
            <a:avLst/>
          </a:prstGeom>
          <a:noFill/>
        </p:spPr>
        <p:txBody>
          <a:bodyPr wrap="square" rtlCol="0">
            <a:spAutoFit/>
          </a:bodyPr>
          <a:lstStyle/>
          <a:p>
            <a:pPr algn="ctr" fontAlgn="b"/>
            <a:r>
              <a:rPr lang="de-AT" sz="1000" dirty="0" err="1">
                <a:solidFill>
                  <a:srgbClr val="CC0000"/>
                </a:solidFill>
              </a:rPr>
              <a:t>applicability</a:t>
            </a:r>
            <a:r>
              <a:rPr lang="de-AT" sz="1000" dirty="0">
                <a:solidFill>
                  <a:srgbClr val="CC0000"/>
                </a:solidFill>
              </a:rPr>
              <a:t> </a:t>
            </a:r>
            <a:r>
              <a:rPr lang="de-AT" sz="1000" dirty="0" err="1">
                <a:solidFill>
                  <a:srgbClr val="CC0000"/>
                </a:solidFill>
              </a:rPr>
              <a:t>for</a:t>
            </a:r>
            <a:r>
              <a:rPr lang="de-AT" sz="1000" dirty="0">
                <a:solidFill>
                  <a:srgbClr val="CC0000"/>
                </a:solidFill>
              </a:rPr>
              <a:t> </a:t>
            </a:r>
            <a:r>
              <a:rPr lang="de-AT" sz="1000" dirty="0" err="1">
                <a:solidFill>
                  <a:srgbClr val="CC0000"/>
                </a:solidFill>
              </a:rPr>
              <a:t>architecture</a:t>
            </a:r>
            <a:br>
              <a:rPr lang="de-AT" sz="1000" dirty="0">
                <a:solidFill>
                  <a:srgbClr val="CC0000"/>
                </a:solidFill>
              </a:rPr>
            </a:br>
            <a:r>
              <a:rPr lang="de-AT" sz="1000" dirty="0">
                <a:solidFill>
                  <a:srgbClr val="CC0000"/>
                </a:solidFill>
              </a:rPr>
              <a:t>(</a:t>
            </a:r>
            <a:r>
              <a:rPr lang="de-AT" sz="1000" dirty="0" err="1">
                <a:solidFill>
                  <a:srgbClr val="CC0000"/>
                </a:solidFill>
              </a:rPr>
              <a:t>indicated</a:t>
            </a:r>
            <a:r>
              <a:rPr lang="de-AT" sz="1000" dirty="0">
                <a:solidFill>
                  <a:srgbClr val="CC0000"/>
                </a:solidFill>
              </a:rPr>
              <a:t> </a:t>
            </a:r>
            <a:r>
              <a:rPr lang="de-AT" sz="1000" dirty="0" err="1">
                <a:solidFill>
                  <a:srgbClr val="CC0000"/>
                </a:solidFill>
              </a:rPr>
              <a:t>with</a:t>
            </a:r>
            <a:r>
              <a:rPr lang="de-AT" sz="1000" dirty="0">
                <a:solidFill>
                  <a:srgbClr val="CC0000"/>
                </a:solidFill>
              </a:rPr>
              <a:t> 0/1)</a:t>
            </a:r>
          </a:p>
        </p:txBody>
      </p:sp>
      <p:sp>
        <p:nvSpPr>
          <p:cNvPr id="14" name="Geschweifte Klammer rechts 13"/>
          <p:cNvSpPr/>
          <p:nvPr/>
        </p:nvSpPr>
        <p:spPr>
          <a:xfrm rot="10800000">
            <a:off x="740228" y="4558102"/>
            <a:ext cx="99949" cy="689576"/>
          </a:xfrm>
          <a:prstGeom prst="rightBrace">
            <a:avLst>
              <a:gd name="adj1" fmla="val 8333"/>
              <a:gd name="adj2" fmla="val 49085"/>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6297" y="5411622"/>
            <a:ext cx="856247"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electrical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18" name="Geschweifte Klammer rechts 17"/>
          <p:cNvSpPr/>
          <p:nvPr/>
        </p:nvSpPr>
        <p:spPr>
          <a:xfrm rot="10800000">
            <a:off x="721684" y="5293326"/>
            <a:ext cx="118493" cy="68957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a:off x="6345022" y="3622716"/>
            <a:ext cx="1970235" cy="400110"/>
          </a:xfrm>
          <a:prstGeom prst="rect">
            <a:avLst/>
          </a:prstGeom>
          <a:noFill/>
        </p:spPr>
        <p:txBody>
          <a:bodyPr wrap="square" rtlCol="0">
            <a:spAutoFit/>
          </a:bodyPr>
          <a:lstStyle/>
          <a:p>
            <a:pPr algn="ctr" fontAlgn="b"/>
            <a:r>
              <a:rPr lang="en-US" sz="1000" b="1" dirty="0">
                <a:solidFill>
                  <a:srgbClr val="CC0000"/>
                </a:solidFill>
              </a:rPr>
              <a:t>cycle specific indication of power demand [W]</a:t>
            </a:r>
            <a:endParaRPr lang="de-AT" sz="1000" b="1" dirty="0">
              <a:solidFill>
                <a:srgbClr val="CC0000"/>
              </a:solidFill>
            </a:endParaRPr>
          </a:p>
        </p:txBody>
      </p:sp>
      <p:sp>
        <p:nvSpPr>
          <p:cNvPr id="20" name="Geschweifte Klammer rechts 19"/>
          <p:cNvSpPr/>
          <p:nvPr/>
        </p:nvSpPr>
        <p:spPr>
          <a:xfrm rot="16200000">
            <a:off x="7147357" y="2478537"/>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7" name="Textfeld 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PS-Table.csv</a:t>
            </a:r>
          </a:p>
        </p:txBody>
      </p:sp>
    </p:spTree>
    <p:extLst>
      <p:ext uri="{BB962C8B-B14F-4D97-AF65-F5344CB8AC3E}">
        <p14:creationId xmlns:p14="http://schemas.microsoft.com/office/powerpoint/2010/main" val="2932388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65529"/>
          </a:xfrm>
        </p:spPr>
        <p:txBody>
          <a:bodyPr/>
          <a:lstStyle/>
          <a:p>
            <a:r>
              <a:rPr lang="en-US" sz="1800" dirty="0"/>
              <a:t>Basic principles of ICE fan and electric components conditioning power in DECL</a:t>
            </a:r>
          </a:p>
          <a:p>
            <a:pPr lvl="1"/>
            <a:r>
              <a:rPr lang="en-US" sz="1400" dirty="0"/>
              <a:t>ICE fan power is always fully applied when ICE = on in simulation</a:t>
            </a:r>
            <a:br>
              <a:rPr lang="en-US" sz="1400" dirty="0"/>
            </a:br>
            <a:endParaRPr lang="en-US" sz="600" dirty="0"/>
          </a:p>
          <a:p>
            <a:pPr lvl="1"/>
            <a:r>
              <a:rPr lang="en-US" sz="1400" b="1" u="sng" dirty="0"/>
              <a:t>For PEV and S-HEV:</a:t>
            </a:r>
            <a:r>
              <a:rPr lang="en-US" sz="1400" dirty="0"/>
              <a:t> values from table below are fully applied when at least one EM = on in simulation (i.e. electric powertrain is propelling/braking) or when E_PTO = on</a:t>
            </a:r>
            <a:br>
              <a:rPr lang="en-US" sz="1400" dirty="0"/>
            </a:br>
            <a:endParaRPr lang="en-US" sz="600" dirty="0"/>
          </a:p>
          <a:p>
            <a:pPr lvl="1"/>
            <a:r>
              <a:rPr lang="en-US" sz="1400" b="1" u="sng" dirty="0"/>
              <a:t>For P-HEV:</a:t>
            </a:r>
            <a:r>
              <a:rPr lang="en-US" sz="1400" dirty="0"/>
              <a:t> values from table below are applied according to equations further below</a:t>
            </a:r>
            <a:br>
              <a:rPr lang="en-US" sz="1400" dirty="0"/>
            </a:br>
            <a:r>
              <a:rPr lang="en-US" sz="1400" dirty="0"/>
              <a:t>with scaling factor “x” reflecting actual split of propulsion power for each </a:t>
            </a:r>
            <a:r>
              <a:rPr lang="en-US" sz="1400" dirty="0" err="1"/>
              <a:t>timestep</a:t>
            </a:r>
            <a:endParaRPr lang="en-US" sz="1400" dirty="0"/>
          </a:p>
          <a:p>
            <a:pPr lvl="2"/>
            <a:r>
              <a:rPr lang="en-GB" sz="1200" dirty="0"/>
              <a:t>x = ABS(P</a:t>
            </a:r>
            <a:r>
              <a:rPr lang="en-GB" sz="1200" baseline="-25000" dirty="0"/>
              <a:t>EM</a:t>
            </a:r>
            <a:r>
              <a:rPr lang="en-GB" sz="1200" dirty="0"/>
              <a:t>) / [ABS(P</a:t>
            </a:r>
            <a:r>
              <a:rPr lang="en-GB" sz="1200" baseline="-25000" dirty="0"/>
              <a:t>EM</a:t>
            </a:r>
            <a:r>
              <a:rPr lang="en-GB" sz="1200" dirty="0"/>
              <a:t>) + ABS(P</a:t>
            </a:r>
            <a:r>
              <a:rPr lang="en-GB" sz="1200" baseline="-25000" dirty="0"/>
              <a:t>ICE</a:t>
            </a:r>
            <a:r>
              <a:rPr lang="en-GB" sz="1200" dirty="0"/>
              <a:t>)] </a:t>
            </a:r>
            <a:br>
              <a:rPr lang="en-GB" sz="1200" dirty="0"/>
            </a:br>
            <a:br>
              <a:rPr lang="en-GB" sz="800" dirty="0"/>
            </a:br>
            <a:r>
              <a:rPr lang="en-GB" sz="1200" dirty="0"/>
              <a:t>with and P</a:t>
            </a:r>
            <a:r>
              <a:rPr lang="en-GB" sz="1200" baseline="-25000" dirty="0"/>
              <a:t>EM</a:t>
            </a:r>
            <a:r>
              <a:rPr lang="en-GB" sz="1200" dirty="0"/>
              <a:t> and P</a:t>
            </a:r>
            <a:r>
              <a:rPr lang="en-GB" sz="1200" baseline="-25000" dirty="0"/>
              <a:t>ICE</a:t>
            </a:r>
            <a:r>
              <a:rPr lang="en-GB" sz="1200" dirty="0"/>
              <a:t> being the mechanical power of EM and ICE</a:t>
            </a:r>
            <a:br>
              <a:rPr lang="en-GB" sz="1200" dirty="0"/>
            </a:br>
            <a:endParaRPr lang="en-GB" sz="700" dirty="0"/>
          </a:p>
          <a:p>
            <a:pPr lvl="2"/>
            <a:r>
              <a:rPr lang="en-GB" sz="1200" dirty="0"/>
              <a:t>Applied electric components conditioning power equals: “table value” multiplied by x</a:t>
            </a:r>
            <a:br>
              <a:rPr lang="en-GB" sz="1200" dirty="0"/>
            </a:br>
            <a:endParaRPr lang="en-GB" sz="600" dirty="0"/>
          </a:p>
          <a:p>
            <a:pPr lvl="2"/>
            <a:r>
              <a:rPr lang="en-GB" sz="1200" dirty="0"/>
              <a:t>For further details please refer to </a:t>
            </a:r>
            <a:r>
              <a:rPr lang="en-GB" sz="1200" b="1" i="1" dirty="0"/>
              <a:t>VECTO-DEV WS#12 18.05.2022 (slide 15ff)</a:t>
            </a:r>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graphicFrame>
        <p:nvGraphicFramePr>
          <p:cNvPr id="7" name="Tabelle 6"/>
          <p:cNvGraphicFramePr>
            <a:graphicFrameLocks noGrp="1"/>
          </p:cNvGraphicFramePr>
          <p:nvPr/>
        </p:nvGraphicFramePr>
        <p:xfrm>
          <a:off x="1292311" y="5077897"/>
          <a:ext cx="7277100" cy="838200"/>
        </p:xfrm>
        <a:graphic>
          <a:graphicData uri="http://schemas.openxmlformats.org/drawingml/2006/table">
            <a:tbl>
              <a:tblPr>
                <a:tableStyleId>{5C22544A-7EE6-4342-B048-85BDC9FD1C3A}</a:tableStyleId>
              </a:tblPr>
              <a:tblGrid>
                <a:gridCol w="1745360">
                  <a:extLst>
                    <a:ext uri="{9D8B030D-6E8A-4147-A177-3AD203B41FA5}">
                      <a16:colId xmlns:a16="http://schemas.microsoft.com/office/drawing/2014/main" val="3885140559"/>
                    </a:ext>
                  </a:extLst>
                </a:gridCol>
                <a:gridCol w="1382935">
                  <a:extLst>
                    <a:ext uri="{9D8B030D-6E8A-4147-A177-3AD203B41FA5}">
                      <a16:colId xmlns:a16="http://schemas.microsoft.com/office/drawing/2014/main" val="1606952657"/>
                    </a:ext>
                  </a:extLst>
                </a:gridCol>
                <a:gridCol w="1382935">
                  <a:extLst>
                    <a:ext uri="{9D8B030D-6E8A-4147-A177-3AD203B41FA5}">
                      <a16:colId xmlns:a16="http://schemas.microsoft.com/office/drawing/2014/main" val="2100958580"/>
                    </a:ext>
                  </a:extLst>
                </a:gridCol>
                <a:gridCol w="1382935">
                  <a:extLst>
                    <a:ext uri="{9D8B030D-6E8A-4147-A177-3AD203B41FA5}">
                      <a16:colId xmlns:a16="http://schemas.microsoft.com/office/drawing/2014/main" val="1215150834"/>
                    </a:ext>
                  </a:extLst>
                </a:gridCol>
                <a:gridCol w="1382935">
                  <a:extLst>
                    <a:ext uri="{9D8B030D-6E8A-4147-A177-3AD203B41FA5}">
                      <a16:colId xmlns:a16="http://schemas.microsoft.com/office/drawing/2014/main" val="4130064881"/>
                    </a:ext>
                  </a:extLst>
                </a:gridCol>
              </a:tblGrid>
              <a:tr h="447675">
                <a:tc gridSpan="5">
                  <a:txBody>
                    <a:bodyPr/>
                    <a:lstStyle/>
                    <a:p>
                      <a:pPr algn="ctr" fontAlgn="b"/>
                      <a:r>
                        <a:rPr lang="en-US" sz="1000" b="1" u="none" strike="noStrike" dirty="0">
                          <a:effectLst/>
                        </a:rPr>
                        <a:t>Electric conditioning power demand</a:t>
                      </a:r>
                      <a:br>
                        <a:rPr lang="en-US" sz="1000" b="1" u="none" strike="noStrike" dirty="0">
                          <a:effectLst/>
                        </a:rPr>
                      </a:br>
                      <a:r>
                        <a:rPr lang="en-US" sz="1000" b="1" u="none" strike="noStrike" dirty="0">
                          <a:effectLst/>
                        </a:rPr>
                        <a:t>applied to electric system [W]</a:t>
                      </a:r>
                      <a:endParaRPr lang="en-US" sz="1000" b="1" i="0" u="none" strike="noStrike" dirty="0">
                        <a:solidFill>
                          <a:srgbClr val="FF0000"/>
                        </a:solidFill>
                        <a:effectLst/>
                        <a:latin typeface="Calibri" panose="020F0502020204030204" pitchFamily="34" charset="0"/>
                      </a:endParaRPr>
                    </a:p>
                  </a:txBody>
                  <a:tcPr marL="0" marR="0" marT="0" marB="0" anchor="ctr"/>
                </a:tc>
                <a:tc hMerge="1">
                  <a:txBody>
                    <a:bodyPr/>
                    <a:lstStyle/>
                    <a:p>
                      <a:endParaRPr lang="de-AT"/>
                    </a:p>
                  </a:txBody>
                  <a:tcPr/>
                </a:tc>
                <a:tc hMerge="1">
                  <a:txBody>
                    <a:bodyPr/>
                    <a:lstStyle/>
                    <a:p>
                      <a:endParaRPr lang="de-AT"/>
                    </a:p>
                  </a:txBody>
                  <a:tcPr/>
                </a:tc>
                <a:tc hMerge="1">
                  <a:txBody>
                    <a:bodyPr/>
                    <a:lstStyle/>
                    <a:p>
                      <a:endParaRPr lang="de-AT"/>
                    </a:p>
                  </a:txBody>
                  <a:tcPr/>
                </a:tc>
                <a:tc hMerge="1">
                  <a:txBody>
                    <a:bodyPr/>
                    <a:lstStyle/>
                    <a:p>
                      <a:endParaRPr lang="de-AT"/>
                    </a:p>
                  </a:txBody>
                  <a:tcPr/>
                </a:tc>
                <a:extLst>
                  <a:ext uri="{0D108BD9-81ED-4DB2-BD59-A6C34878D82A}">
                    <a16:rowId xmlns:a16="http://schemas.microsoft.com/office/drawing/2014/main" val="1532090981"/>
                  </a:ext>
                </a:extLst>
              </a:tr>
              <a:tr h="190500">
                <a:tc>
                  <a:txBody>
                    <a:bodyPr/>
                    <a:lstStyle/>
                    <a:p>
                      <a:pPr algn="ctr" fontAlgn="b"/>
                      <a:r>
                        <a:rPr lang="de-AT" sz="1000" b="1" u="none" strike="noStrike">
                          <a:effectLst/>
                        </a:rPr>
                        <a:t> Long Haul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Regional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Urban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Municipal utility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 </a:t>
                      </a:r>
                      <a:r>
                        <a:rPr lang="de-AT" sz="1000" b="1" u="none" strike="noStrike" dirty="0" err="1">
                          <a:effectLst/>
                        </a:rPr>
                        <a:t>Construction</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50272128"/>
                  </a:ext>
                </a:extLst>
              </a:tr>
              <a:tr h="200025">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600</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792547276"/>
                  </a:ext>
                </a:extLst>
              </a:tr>
            </a:tbl>
          </a:graphicData>
        </a:graphic>
      </p:graphicFrame>
      <p:sp>
        <p:nvSpPr>
          <p:cNvPr id="21" name="Textfeld 20"/>
          <p:cNvSpPr txBox="1"/>
          <p:nvPr/>
        </p:nvSpPr>
        <p:spPr>
          <a:xfrm rot="16200000">
            <a:off x="-577622" y="3443714"/>
            <a:ext cx="1759311" cy="523220"/>
          </a:xfrm>
          <a:prstGeom prst="rect">
            <a:avLst/>
          </a:prstGeom>
          <a:solidFill>
            <a:srgbClr val="F70146"/>
          </a:solidFill>
        </p:spPr>
        <p:txBody>
          <a:bodyPr wrap="square" rtlCol="0">
            <a:spAutoFit/>
          </a:bodyPr>
          <a:lstStyle/>
          <a:p>
            <a:pPr algn="ctr"/>
            <a:r>
              <a:rPr lang="de-AT" sz="1400" b="1" dirty="0">
                <a:solidFill>
                  <a:schemeClr val="bg1"/>
                </a:solidFill>
              </a:rPr>
              <a:t>Fan-Tech.csv + Cond-Table.csv</a:t>
            </a:r>
          </a:p>
        </p:txBody>
      </p:sp>
    </p:spTree>
    <p:extLst>
      <p:ext uri="{BB962C8B-B14F-4D97-AF65-F5344CB8AC3E}">
        <p14:creationId xmlns:p14="http://schemas.microsoft.com/office/powerpoint/2010/main" val="1915643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normAutofit fontScale="92500" lnSpcReduction="20000"/>
          </a:bodyPr>
          <a:lstStyle/>
          <a:p>
            <a:r>
              <a:rPr lang="en-US" sz="1800" dirty="0"/>
              <a:t>Basic principles of steering system in DECL</a:t>
            </a:r>
          </a:p>
          <a:p>
            <a:pPr lvl="1"/>
            <a:r>
              <a:rPr lang="de-AT" sz="1400" dirty="0" err="1"/>
              <a:t>Foundation</a:t>
            </a:r>
            <a:r>
              <a:rPr lang="de-AT" sz="1400" dirty="0"/>
              <a:t> </a:t>
            </a:r>
            <a:r>
              <a:rPr lang="de-AT" sz="1400" dirty="0" err="1"/>
              <a:t>of</a:t>
            </a:r>
            <a:r>
              <a:rPr lang="de-AT" sz="1400" dirty="0"/>
              <a:t> </a:t>
            </a:r>
            <a:r>
              <a:rPr lang="de-AT" sz="1400" dirty="0" err="1"/>
              <a:t>approach</a:t>
            </a:r>
            <a:r>
              <a:rPr lang="de-AT" sz="1400" dirty="0"/>
              <a:t> </a:t>
            </a:r>
            <a:r>
              <a:rPr lang="de-AT" sz="1400" dirty="0" err="1"/>
              <a:t>is</a:t>
            </a:r>
            <a:r>
              <a:rPr lang="de-AT" sz="1400" dirty="0"/>
              <a:t> </a:t>
            </a:r>
            <a:r>
              <a:rPr lang="de-AT" sz="1400" dirty="0" err="1"/>
              <a:t>that</a:t>
            </a:r>
            <a:r>
              <a:rPr lang="de-AT" sz="1400" dirty="0"/>
              <a:t> </a:t>
            </a:r>
            <a:r>
              <a:rPr lang="de-AT" sz="1400" dirty="0" err="1"/>
              <a:t>basic</a:t>
            </a:r>
            <a:r>
              <a:rPr lang="de-AT" sz="1400" dirty="0"/>
              <a:t> power </a:t>
            </a:r>
            <a:r>
              <a:rPr lang="de-AT" sz="1400" dirty="0" err="1"/>
              <a:t>demand</a:t>
            </a:r>
            <a:r>
              <a:rPr lang="de-AT" sz="1400" dirty="0"/>
              <a:t> </a:t>
            </a:r>
            <a:r>
              <a:rPr lang="de-AT" sz="1400" dirty="0" err="1"/>
              <a:t>defined</a:t>
            </a:r>
            <a:r>
              <a:rPr lang="de-AT" sz="1400" dirty="0"/>
              <a:t> per </a:t>
            </a:r>
            <a:r>
              <a:rPr lang="de-AT" sz="1400" dirty="0" err="1"/>
              <a:t>cycle</a:t>
            </a:r>
            <a:r>
              <a:rPr lang="de-AT" sz="1400" dirty="0"/>
              <a:t> </a:t>
            </a:r>
            <a:r>
              <a:rPr lang="de-AT" sz="1400" dirty="0" err="1"/>
              <a:t>is</a:t>
            </a:r>
            <a:br>
              <a:rPr lang="de-AT" sz="1400" dirty="0"/>
            </a:br>
            <a:r>
              <a:rPr lang="de-AT" sz="1400" dirty="0" err="1"/>
              <a:t>multiplied</a:t>
            </a:r>
            <a:r>
              <a:rPr lang="de-AT" sz="1400" dirty="0"/>
              <a:t> </a:t>
            </a:r>
            <a:r>
              <a:rPr lang="de-AT" sz="1400" dirty="0" err="1"/>
              <a:t>by</a:t>
            </a:r>
            <a:r>
              <a:rPr lang="de-AT" sz="1400" dirty="0"/>
              <a:t> </a:t>
            </a:r>
            <a:r>
              <a:rPr lang="de-AT" sz="1400" dirty="0" err="1"/>
              <a:t>technology</a:t>
            </a:r>
            <a:r>
              <a:rPr lang="de-AT" sz="1400" dirty="0"/>
              <a:t> </a:t>
            </a:r>
            <a:r>
              <a:rPr lang="de-AT" sz="1400" dirty="0" err="1"/>
              <a:t>dependent</a:t>
            </a:r>
            <a:r>
              <a:rPr lang="de-AT" sz="1400" dirty="0"/>
              <a:t> </a:t>
            </a:r>
            <a:r>
              <a:rPr lang="de-AT" sz="1400" dirty="0" err="1"/>
              <a:t>scaling</a:t>
            </a:r>
            <a:r>
              <a:rPr lang="de-AT" sz="1400" dirty="0"/>
              <a:t> </a:t>
            </a:r>
            <a:r>
              <a:rPr lang="de-AT" sz="1400" dirty="0" err="1"/>
              <a:t>factors</a:t>
            </a:r>
            <a:r>
              <a:rPr lang="de-AT" sz="1400" dirty="0"/>
              <a:t> (CFs)</a:t>
            </a:r>
            <a:br>
              <a:rPr lang="de-AT" sz="1400" dirty="0"/>
            </a:br>
            <a:endParaRPr lang="de-AT" sz="600" dirty="0"/>
          </a:p>
          <a:p>
            <a:pPr lvl="1"/>
            <a:r>
              <a:rPr lang="de-AT" sz="1400" dirty="0"/>
              <a:t>3 sub-groups </a:t>
            </a:r>
            <a:r>
              <a:rPr lang="de-AT" sz="1400" dirty="0" err="1"/>
              <a:t>of</a:t>
            </a:r>
            <a:r>
              <a:rPr lang="de-AT" sz="1400" dirty="0"/>
              <a:t> power </a:t>
            </a:r>
            <a:r>
              <a:rPr lang="de-AT" sz="1400" dirty="0" err="1"/>
              <a:t>demands</a:t>
            </a:r>
            <a:r>
              <a:rPr lang="de-AT" sz="1400" dirty="0"/>
              <a:t> </a:t>
            </a:r>
            <a:r>
              <a:rPr lang="de-AT" sz="1400" dirty="0" err="1"/>
              <a:t>defined</a:t>
            </a:r>
            <a:r>
              <a:rPr lang="de-AT" sz="1400" dirty="0"/>
              <a:t>:</a:t>
            </a:r>
          </a:p>
          <a:p>
            <a:pPr lvl="2"/>
            <a:r>
              <a:rPr lang="de-AT" sz="1200" dirty="0"/>
              <a:t>U&amp;F: </a:t>
            </a:r>
            <a:r>
              <a:rPr lang="de-AT" sz="1200" dirty="0" err="1"/>
              <a:t>unloaded</a:t>
            </a:r>
            <a:r>
              <a:rPr lang="de-AT" sz="1200" dirty="0"/>
              <a:t> </a:t>
            </a:r>
            <a:r>
              <a:rPr lang="de-AT" sz="1200" dirty="0" err="1"/>
              <a:t>and</a:t>
            </a:r>
            <a:r>
              <a:rPr lang="de-AT" sz="1200" dirty="0"/>
              <a:t> </a:t>
            </a:r>
            <a:r>
              <a:rPr lang="de-AT" sz="1200" dirty="0" err="1"/>
              <a:t>friction</a:t>
            </a:r>
            <a:endParaRPr lang="de-AT" sz="1200" dirty="0"/>
          </a:p>
          <a:p>
            <a:pPr lvl="2"/>
            <a:r>
              <a:rPr lang="de-AT" sz="1200" dirty="0"/>
              <a:t>B: </a:t>
            </a:r>
            <a:r>
              <a:rPr lang="de-AT" sz="1200" dirty="0" err="1"/>
              <a:t>banking</a:t>
            </a:r>
            <a:endParaRPr lang="de-AT" sz="1200" dirty="0"/>
          </a:p>
          <a:p>
            <a:pPr lvl="2"/>
            <a:r>
              <a:rPr lang="de-AT" sz="1200" dirty="0"/>
              <a:t>S: </a:t>
            </a:r>
            <a:r>
              <a:rPr lang="de-AT" sz="1200" dirty="0" err="1"/>
              <a:t>steering</a:t>
            </a:r>
            <a:br>
              <a:rPr lang="de-AT" sz="1200" dirty="0"/>
            </a:br>
            <a:endParaRPr lang="de-AT" sz="600" dirty="0"/>
          </a:p>
          <a:p>
            <a:pPr lvl="1"/>
            <a:r>
              <a:rPr lang="de-AT" sz="1400" dirty="0"/>
              <a:t>Total </a:t>
            </a:r>
            <a:r>
              <a:rPr lang="de-AT" sz="1400" dirty="0" err="1"/>
              <a:t>steering</a:t>
            </a:r>
            <a:r>
              <a:rPr lang="de-AT" sz="1400" dirty="0"/>
              <a:t> power </a:t>
            </a:r>
            <a:r>
              <a:rPr lang="de-AT" sz="1400" dirty="0" err="1"/>
              <a:t>acc</a:t>
            </a:r>
            <a:r>
              <a:rPr lang="de-AT" sz="1400" dirty="0"/>
              <a:t>. </a:t>
            </a:r>
            <a:r>
              <a:rPr lang="de-AT" sz="1400" dirty="0" err="1"/>
              <a:t>to</a:t>
            </a:r>
            <a:r>
              <a:rPr lang="de-AT" sz="1400" dirty="0"/>
              <a:t> </a:t>
            </a:r>
            <a:r>
              <a:rPr lang="de-AT" sz="1400" dirty="0" err="1"/>
              <a:t>equation</a:t>
            </a:r>
            <a:r>
              <a:rPr lang="de-AT" sz="1400" dirty="0"/>
              <a:t> </a:t>
            </a:r>
            <a:r>
              <a:rPr lang="de-AT" sz="1400" dirty="0" err="1"/>
              <a:t>below</a:t>
            </a:r>
            <a:r>
              <a:rPr lang="de-AT" sz="1400" dirty="0"/>
              <a:t> </a:t>
            </a:r>
            <a:r>
              <a:rPr lang="de-AT" sz="1400" dirty="0" err="1"/>
              <a:t>is</a:t>
            </a:r>
            <a:r>
              <a:rPr lang="de-AT" sz="1400" dirty="0"/>
              <a:t> </a:t>
            </a:r>
            <a:r>
              <a:rPr lang="de-AT" sz="1400" dirty="0" err="1"/>
              <a:t>calculated</a:t>
            </a:r>
            <a:r>
              <a:rPr lang="de-AT" sz="1400" dirty="0"/>
              <a:t> </a:t>
            </a:r>
            <a:r>
              <a:rPr lang="de-AT" sz="1400" dirty="0" err="1"/>
              <a:t>separately</a:t>
            </a:r>
            <a:r>
              <a:rPr lang="de-AT" sz="1400" dirty="0"/>
              <a:t> </a:t>
            </a:r>
            <a:r>
              <a:rPr lang="de-AT" sz="1400" dirty="0" err="1"/>
              <a:t>for</a:t>
            </a:r>
            <a:br>
              <a:rPr lang="de-AT" sz="1400" dirty="0"/>
            </a:br>
            <a:r>
              <a:rPr lang="de-AT" sz="1400" dirty="0" err="1"/>
              <a:t>mechanical</a:t>
            </a:r>
            <a:r>
              <a:rPr lang="de-AT" sz="1400" dirty="0"/>
              <a:t> </a:t>
            </a:r>
            <a:r>
              <a:rPr lang="de-AT" sz="1400" dirty="0" err="1"/>
              <a:t>and</a:t>
            </a:r>
            <a:r>
              <a:rPr lang="de-AT" sz="1400" dirty="0"/>
              <a:t> </a:t>
            </a:r>
            <a:r>
              <a:rPr lang="de-AT" sz="1400" dirty="0" err="1"/>
              <a:t>electrical</a:t>
            </a:r>
            <a:r>
              <a:rPr lang="de-AT" sz="1400" dirty="0"/>
              <a:t> </a:t>
            </a:r>
            <a:r>
              <a:rPr lang="de-AT" sz="1400" dirty="0" err="1"/>
              <a:t>stering</a:t>
            </a:r>
            <a:r>
              <a:rPr lang="de-AT" sz="1400" dirty="0"/>
              <a:t> power </a:t>
            </a:r>
            <a:r>
              <a:rPr lang="de-AT" sz="1400" dirty="0" err="1"/>
              <a:t>demand</a:t>
            </a:r>
            <a:r>
              <a:rPr lang="de-AT" sz="1400" dirty="0"/>
              <a:t>:</a:t>
            </a:r>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electric</a:t>
            </a:r>
            <a:r>
              <a:rPr lang="de-AT" sz="1050" dirty="0"/>
              <a:t> </a:t>
            </a:r>
            <a:r>
              <a:rPr lang="de-AT" sz="1050" dirty="0" err="1"/>
              <a:t>technology</a:t>
            </a:r>
            <a:endParaRPr lang="de-AT" sz="1050" dirty="0"/>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mechanical</a:t>
            </a:r>
            <a:r>
              <a:rPr lang="de-AT" sz="1050" dirty="0"/>
              <a:t> </a:t>
            </a:r>
            <a:r>
              <a:rPr lang="de-AT" sz="1050" dirty="0" err="1"/>
              <a:t>technology</a:t>
            </a:r>
            <a:br>
              <a:rPr lang="en-GB" sz="1050"/>
            </a:br>
            <a:br>
              <a:rPr lang="en-GB" sz="1050"/>
            </a:br>
            <a:br>
              <a:rPr lang="en-GB" sz="1050"/>
            </a:br>
            <a:endParaRPr lang="en-GB" sz="1050"/>
          </a:p>
          <a:p>
            <a:pPr lvl="1"/>
            <a:r>
              <a:rPr lang="en-US" sz="1400"/>
              <a:t>If all axles are electric technologies, total steering power is applied as electrical power to REESS</a:t>
            </a:r>
          </a:p>
          <a:p>
            <a:pPr lvl="1"/>
            <a:r>
              <a:rPr lang="en-US" sz="1400" dirty="0"/>
              <a:t>With at least one mechanical </a:t>
            </a:r>
            <a:r>
              <a:rPr lang="en-US" sz="1400" dirty="0" err="1"/>
              <a:t>techn</a:t>
            </a:r>
            <a:r>
              <a:rPr lang="en-US" sz="1400" dirty="0"/>
              <a:t>. present, total steering power is applied as mechanical load</a:t>
            </a:r>
            <a:endParaRPr lang="de-AT" sz="140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pic>
        <p:nvPicPr>
          <p:cNvPr id="5" name="Grafik 4"/>
          <p:cNvPicPr>
            <a:picLocks noChangeAspect="1"/>
          </p:cNvPicPr>
          <p:nvPr/>
        </p:nvPicPr>
        <p:blipFill>
          <a:blip r:embed="rId2"/>
          <a:stretch>
            <a:fillRect/>
          </a:stretch>
        </p:blipFill>
        <p:spPr>
          <a:xfrm>
            <a:off x="1754659" y="4905198"/>
            <a:ext cx="4020977" cy="224548"/>
          </a:xfrm>
          <a:prstGeom prst="rect">
            <a:avLst/>
          </a:prstGeom>
        </p:spPr>
      </p:pic>
      <p:sp>
        <p:nvSpPr>
          <p:cNvPr id="17" name="Textfeld 16"/>
          <p:cNvSpPr txBox="1"/>
          <p:nvPr/>
        </p:nvSpPr>
        <p:spPr>
          <a:xfrm rot="16200000">
            <a:off x="-478772" y="3335992"/>
            <a:ext cx="1759311" cy="738664"/>
          </a:xfrm>
          <a:prstGeom prst="rect">
            <a:avLst/>
          </a:prstGeom>
          <a:solidFill>
            <a:srgbClr val="F70146"/>
          </a:solidFill>
        </p:spPr>
        <p:txBody>
          <a:bodyPr wrap="square" rtlCol="0">
            <a:spAutoFit/>
          </a:bodyPr>
          <a:lstStyle/>
          <a:p>
            <a:pPr algn="ctr"/>
            <a:r>
              <a:rPr lang="de-AT" sz="1400" b="1" dirty="0">
                <a:solidFill>
                  <a:schemeClr val="bg1"/>
                </a:solidFill>
              </a:rPr>
              <a:t>SP-Tech.csv +</a:t>
            </a:r>
            <a:br>
              <a:rPr lang="de-AT" sz="1400" b="1" dirty="0">
                <a:solidFill>
                  <a:schemeClr val="bg1"/>
                </a:solidFill>
              </a:rPr>
            </a:br>
            <a:r>
              <a:rPr lang="de-AT" sz="1400" b="1" dirty="0">
                <a:solidFill>
                  <a:schemeClr val="bg1"/>
                </a:solidFill>
              </a:rPr>
              <a:t>SP-Table.csv +</a:t>
            </a:r>
            <a:br>
              <a:rPr lang="de-AT" sz="1400" b="1" dirty="0">
                <a:solidFill>
                  <a:schemeClr val="bg1"/>
                </a:solidFill>
              </a:rPr>
            </a:br>
            <a:r>
              <a:rPr lang="de-AT" sz="1400" b="1" dirty="0">
                <a:solidFill>
                  <a:schemeClr val="bg1"/>
                </a:solidFill>
              </a:rPr>
              <a:t>SP-Axles.csv</a:t>
            </a:r>
          </a:p>
        </p:txBody>
      </p:sp>
    </p:spTree>
    <p:extLst>
      <p:ext uri="{BB962C8B-B14F-4D97-AF65-F5344CB8AC3E}">
        <p14:creationId xmlns:p14="http://schemas.microsoft.com/office/powerpoint/2010/main" val="183906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lstStyle/>
          <a:p>
            <a:r>
              <a:rPr lang="en-US" sz="1800" dirty="0"/>
              <a:t>Basic principles </a:t>
            </a:r>
            <a:r>
              <a:rPr lang="en-US" sz="1800"/>
              <a:t>of HVAC </a:t>
            </a:r>
            <a:r>
              <a:rPr lang="en-US" sz="1800" dirty="0"/>
              <a:t>system in DECL</a:t>
            </a:r>
          </a:p>
          <a:p>
            <a:pPr lvl="1"/>
            <a:r>
              <a:rPr lang="de-AT" sz="1400" b="1" u="sng"/>
              <a:t>Conventional </a:t>
            </a:r>
            <a:r>
              <a:rPr lang="de-AT" sz="1400" b="1" u="sng" err="1"/>
              <a:t>and</a:t>
            </a:r>
            <a:r>
              <a:rPr lang="de-AT" sz="1400" b="1" u="sng"/>
              <a:t> P-HEV: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mechanical</a:t>
            </a:r>
            <a:r>
              <a:rPr lang="de-AT" sz="1400" dirty="0"/>
              <a:t> </a:t>
            </a:r>
            <a:r>
              <a:rPr lang="de-AT" sz="1400" dirty="0" err="1"/>
              <a:t>auxiliary</a:t>
            </a:r>
            <a:br>
              <a:rPr lang="de-AT" sz="1400" dirty="0"/>
            </a:br>
            <a:endParaRPr lang="de-AT" sz="1400" dirty="0"/>
          </a:p>
          <a:p>
            <a:pPr lvl="1"/>
            <a:r>
              <a:rPr lang="de-AT" sz="1400" b="1" u="sng" dirty="0"/>
              <a:t>S-HEV </a:t>
            </a:r>
            <a:r>
              <a:rPr lang="de-AT" sz="1400" b="1" u="sng" dirty="0" err="1"/>
              <a:t>and</a:t>
            </a:r>
            <a:r>
              <a:rPr lang="de-AT" sz="1400" b="1" u="sng" dirty="0"/>
              <a:t> PEV: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electrical</a:t>
            </a:r>
            <a:r>
              <a:rPr lang="de-AT" sz="1400" dirty="0"/>
              <a:t> </a:t>
            </a:r>
            <a:r>
              <a:rPr lang="de-AT" sz="1400" dirty="0" err="1"/>
              <a:t>auxiliary</a:t>
            </a:r>
            <a:endParaRPr lang="de-AT" sz="1400" dirty="0"/>
          </a:p>
          <a:p>
            <a:pPr lvl="2"/>
            <a:r>
              <a:rPr lang="de-AT" sz="1400" dirty="0" err="1"/>
              <a:t>Conversion</a:t>
            </a:r>
            <a:r>
              <a:rPr lang="de-AT" sz="1400" dirty="0"/>
              <a:t> </a:t>
            </a:r>
            <a:r>
              <a:rPr lang="de-AT" sz="1400" dirty="0" err="1"/>
              <a:t>from</a:t>
            </a:r>
            <a:r>
              <a:rPr lang="de-AT" sz="1400" dirty="0"/>
              <a:t> </a:t>
            </a:r>
            <a:r>
              <a:rPr lang="de-AT" sz="1400" dirty="0" err="1"/>
              <a:t>mechanical</a:t>
            </a:r>
            <a:r>
              <a:rPr lang="de-AT" sz="1400" dirty="0"/>
              <a:t> </a:t>
            </a:r>
            <a:r>
              <a:rPr lang="de-AT" sz="1400" dirty="0" err="1"/>
              <a:t>to</a:t>
            </a:r>
            <a:r>
              <a:rPr lang="de-AT" sz="1400" dirty="0"/>
              <a:t> </a:t>
            </a:r>
            <a:r>
              <a:rPr lang="de-AT" sz="1400" dirty="0" err="1"/>
              <a:t>electrical</a:t>
            </a:r>
            <a:r>
              <a:rPr lang="de-AT" sz="1400" dirty="0"/>
              <a:t> </a:t>
            </a:r>
            <a:r>
              <a:rPr lang="de-AT" sz="1400" dirty="0" err="1"/>
              <a:t>is</a:t>
            </a:r>
            <a:r>
              <a:rPr lang="de-AT" sz="1400" dirty="0"/>
              <a:t> </a:t>
            </a:r>
            <a:r>
              <a:rPr lang="de-AT" sz="1400" dirty="0" err="1"/>
              <a:t>done</a:t>
            </a:r>
            <a:r>
              <a:rPr lang="de-AT" sz="1400" dirty="0"/>
              <a:t> </a:t>
            </a:r>
            <a:r>
              <a:rPr lang="de-AT" sz="1400" dirty="0" err="1"/>
              <a:t>by</a:t>
            </a:r>
            <a:r>
              <a:rPr lang="de-AT" sz="1400" dirty="0"/>
              <a:t> </a:t>
            </a:r>
            <a:r>
              <a:rPr lang="de-AT" sz="1400" dirty="0" err="1"/>
              <a:t>dividing</a:t>
            </a:r>
            <a:r>
              <a:rPr lang="de-AT" sz="1400" dirty="0"/>
              <a:t> </a:t>
            </a:r>
            <a:r>
              <a:rPr lang="de-AT" sz="1400" dirty="0" err="1"/>
              <a:t>mechanical</a:t>
            </a:r>
            <a:r>
              <a:rPr lang="de-AT" sz="1400" dirty="0"/>
              <a:t> </a:t>
            </a:r>
            <a:r>
              <a:rPr lang="de-AT" sz="1400" dirty="0" err="1"/>
              <a:t>base</a:t>
            </a:r>
            <a:r>
              <a:rPr lang="de-AT" sz="1400" dirty="0"/>
              <a:t> power </a:t>
            </a:r>
            <a:r>
              <a:rPr lang="de-AT" sz="1400" dirty="0" err="1"/>
              <a:t>by</a:t>
            </a:r>
            <a:r>
              <a:rPr lang="de-AT" sz="1400" dirty="0"/>
              <a:t> </a:t>
            </a:r>
            <a:r>
              <a:rPr lang="de-AT" sz="1400" dirty="0" err="1"/>
              <a:t>generic</a:t>
            </a:r>
            <a:r>
              <a:rPr lang="de-AT" sz="1400" dirty="0"/>
              <a:t> </a:t>
            </a:r>
            <a:r>
              <a:rPr lang="de-AT" sz="1400" dirty="0" err="1"/>
              <a:t>efficiency</a:t>
            </a:r>
            <a:r>
              <a:rPr lang="de-AT" sz="1400" dirty="0"/>
              <a:t> </a:t>
            </a:r>
            <a:r>
              <a:rPr lang="de-AT" sz="1400" dirty="0" err="1"/>
              <a:t>of</a:t>
            </a:r>
            <a:r>
              <a:rPr lang="de-AT" sz="1400" dirty="0"/>
              <a:t> 0.8</a:t>
            </a:r>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17" name="Textfeld 1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HVAC-Table.csv</a:t>
            </a:r>
          </a:p>
        </p:txBody>
      </p:sp>
    </p:spTree>
    <p:extLst>
      <p:ext uri="{BB962C8B-B14F-4D97-AF65-F5344CB8AC3E}">
        <p14:creationId xmlns:p14="http://schemas.microsoft.com/office/powerpoint/2010/main" val="1018428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p:txBody>
          <a:bodyPr/>
          <a:lstStyle/>
          <a:p>
            <a:r>
              <a:rPr lang="en-US" sz="1800" dirty="0"/>
              <a:t>General remark about post-processing of “missing” auxiliary power demand for mechanically driven auxiliaries in </a:t>
            </a:r>
            <a:r>
              <a:rPr lang="en-US" sz="1800" dirty="0" err="1"/>
              <a:t>timesteps</a:t>
            </a:r>
            <a:r>
              <a:rPr lang="en-US" sz="1800" dirty="0"/>
              <a:t> where the ICE is off:</a:t>
            </a:r>
          </a:p>
          <a:p>
            <a:pPr lvl="1"/>
            <a:r>
              <a:rPr lang="en-US" sz="1600" dirty="0"/>
              <a:t>These topic is related to “Utility Factor (UF) for Engine-Stop-Start (ESS)”</a:t>
            </a:r>
            <a:br>
              <a:rPr lang="en-US" sz="1600" dirty="0"/>
            </a:br>
            <a:endParaRPr lang="en-US" sz="800" dirty="0"/>
          </a:p>
          <a:p>
            <a:pPr lvl="1"/>
            <a:r>
              <a:rPr lang="en-US" sz="1600" dirty="0"/>
              <a:t>For lorries only the very simple case is relevant (application case 1)</a:t>
            </a:r>
            <a:br>
              <a:rPr lang="en-US" sz="1600" dirty="0"/>
            </a:br>
            <a:endParaRPr lang="en-US" sz="800" dirty="0"/>
          </a:p>
          <a:p>
            <a:pPr lvl="1"/>
            <a:r>
              <a:rPr lang="en-US" sz="1600" dirty="0"/>
              <a:t>Basic rule: for auxiliaries operated</a:t>
            </a:r>
            <a:br>
              <a:rPr lang="en-US" sz="1600" dirty="0"/>
            </a:br>
            <a:r>
              <a:rPr lang="en-US" sz="1600" dirty="0"/>
              <a:t>independently of ICE status energy demand</a:t>
            </a:r>
            <a:br>
              <a:rPr lang="en-US" sz="1600" dirty="0"/>
            </a:br>
            <a:r>
              <a:rPr lang="en-US" sz="1600" dirty="0"/>
              <a:t>over cycle is the same with missing portion </a:t>
            </a:r>
            <a:br>
              <a:rPr lang="en-US" sz="1600" dirty="0"/>
            </a:br>
            <a:r>
              <a:rPr lang="en-US" sz="1600" dirty="0"/>
              <a:t>being accounted for in post-processing</a:t>
            </a:r>
            <a:br>
              <a:rPr lang="en-US" sz="1600" dirty="0"/>
            </a:br>
            <a:endParaRPr lang="en-US" sz="800" dirty="0"/>
          </a:p>
          <a:p>
            <a:pPr lvl="1"/>
            <a:r>
              <a:rPr lang="en-GB" sz="1600" dirty="0"/>
              <a:t>For further details please refer to:</a:t>
            </a:r>
            <a:br>
              <a:rPr lang="en-GB" sz="1600" dirty="0"/>
            </a:br>
            <a:r>
              <a:rPr lang="en-GB" sz="1600" b="1" i="1" dirty="0"/>
              <a:t>VECTO-DEV WS#6 12.07.2021 (slide 7ff)</a:t>
            </a:r>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pic>
        <p:nvPicPr>
          <p:cNvPr id="7" name="Grafik 6"/>
          <p:cNvPicPr>
            <a:picLocks noChangeAspect="1"/>
          </p:cNvPicPr>
          <p:nvPr/>
        </p:nvPicPr>
        <p:blipFill>
          <a:blip r:embed="rId2"/>
          <a:stretch>
            <a:fillRect/>
          </a:stretch>
        </p:blipFill>
        <p:spPr>
          <a:xfrm>
            <a:off x="5438698" y="3884656"/>
            <a:ext cx="3683331" cy="2085491"/>
          </a:xfrm>
          <a:prstGeom prst="rect">
            <a:avLst/>
          </a:prstGeom>
        </p:spPr>
      </p:pic>
    </p:spTree>
    <p:extLst>
      <p:ext uri="{BB962C8B-B14F-4D97-AF65-F5344CB8AC3E}">
        <p14:creationId xmlns:p14="http://schemas.microsoft.com/office/powerpoint/2010/main" val="2328586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400" dirty="0"/>
              <a:t>Fixed number of 3 simulations to determine optimal strategy parameters done automatically</a:t>
            </a:r>
            <a:br>
              <a:rPr lang="en-US" sz="1400" dirty="0"/>
            </a:br>
            <a:endParaRPr lang="en-US" sz="600" dirty="0"/>
          </a:p>
          <a:p>
            <a:pPr lvl="1"/>
            <a:r>
              <a:rPr lang="en-US" sz="1400" b="1" u="sng" dirty="0"/>
              <a:t>1</a:t>
            </a:r>
            <a:r>
              <a:rPr lang="en-US" sz="1400" b="1" u="sng" baseline="30000" dirty="0"/>
              <a:t>st</a:t>
            </a:r>
            <a:r>
              <a:rPr lang="en-US" sz="1400" b="1" u="sng" dirty="0"/>
              <a:t> run:</a:t>
            </a:r>
            <a:r>
              <a:rPr lang="en-US" sz="1400" dirty="0"/>
              <a:t> generic start value for equivalence factor (EF) depending on vehicle group, mission, payload and usable SOC range applied</a:t>
            </a:r>
          </a:p>
          <a:p>
            <a:pPr lvl="2"/>
            <a:r>
              <a:rPr lang="en-US" sz="1200" dirty="0"/>
              <a:t>refer to \Declaration\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p>
          <a:p>
            <a:pPr lvl="2"/>
            <a:r>
              <a:rPr lang="en-US" sz="1200" b="1" dirty="0">
                <a:solidFill>
                  <a:srgbClr val="FF0000"/>
                </a:solidFill>
              </a:rPr>
              <a:t>XX</a:t>
            </a:r>
            <a:r>
              <a:rPr lang="en-US" sz="1200" dirty="0"/>
              <a:t> = 10, 20 or 40 depending on usable SOC range in percent (interpolation, no extrapolation)</a:t>
            </a:r>
            <a:br>
              <a:rPr lang="en-US" sz="1200" dirty="0"/>
            </a:br>
            <a:endParaRPr lang="en-US" sz="600" dirty="0"/>
          </a:p>
          <a:p>
            <a:pPr lvl="1"/>
            <a:r>
              <a:rPr lang="en-US" sz="1400" b="1" u="sng" dirty="0"/>
              <a:t>2</a:t>
            </a:r>
            <a:r>
              <a:rPr lang="en-US" sz="1400" b="1" u="sng" baseline="30000" dirty="0"/>
              <a:t>nd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1</a:t>
            </a:r>
            <a:r>
              <a:rPr lang="en-US" sz="1400" dirty="0">
                <a:cs typeface="Calibri" panose="020F0502020204030204" pitchFamily="34" charset="0"/>
              </a:rPr>
              <a:t> of 1</a:t>
            </a:r>
            <a:r>
              <a:rPr lang="en-US" sz="1400" baseline="30000" dirty="0">
                <a:cs typeface="Calibri" panose="020F0502020204030204" pitchFamily="34" charset="0"/>
              </a:rPr>
              <a:t>st</a:t>
            </a:r>
            <a:r>
              <a:rPr lang="en-US" sz="1400" dirty="0">
                <a:cs typeface="Calibri" panose="020F0502020204030204" pitchFamily="34" charset="0"/>
              </a:rPr>
              <a:t> run (∆SOC = </a:t>
            </a:r>
            <a:r>
              <a:rPr lang="en-US" sz="1400" dirty="0" err="1">
                <a:cs typeface="Calibri" panose="020F0502020204030204" pitchFamily="34" charset="0"/>
              </a:rPr>
              <a:t>SOC</a:t>
            </a:r>
            <a:r>
              <a:rPr lang="en-US" sz="1400" baseline="-25000" dirty="0" err="1">
                <a:cs typeface="Calibri" panose="020F0502020204030204" pitchFamily="34" charset="0"/>
              </a:rPr>
              <a:t>End</a:t>
            </a:r>
            <a:r>
              <a:rPr lang="en-US" sz="1400" dirty="0">
                <a:cs typeface="Calibri" panose="020F0502020204030204" pitchFamily="34" charset="0"/>
              </a:rPr>
              <a:t> – </a:t>
            </a:r>
            <a:r>
              <a:rPr lang="en-US" sz="1400" dirty="0" err="1">
                <a:cs typeface="Calibri" panose="020F0502020204030204" pitchFamily="34" charset="0"/>
              </a:rPr>
              <a:t>SOC</a:t>
            </a:r>
            <a:r>
              <a:rPr lang="en-US" sz="1400" baseline="-25000" dirty="0" err="1">
                <a:cs typeface="Calibri" panose="020F0502020204030204" pitchFamily="34" charset="0"/>
              </a:rPr>
              <a:t>Start</a:t>
            </a:r>
            <a:r>
              <a:rPr lang="en-US" sz="1400" dirty="0">
                <a:cs typeface="Calibri" panose="020F0502020204030204" pitchFamily="34" charset="0"/>
              </a:rPr>
              <a:t>) new </a:t>
            </a:r>
            <a:r>
              <a:rPr lang="en-US" sz="1400" dirty="0"/>
              <a:t>EF is calculated according to following equations:</a:t>
            </a:r>
          </a:p>
          <a:p>
            <a:pPr marL="898525" lvl="2" indent="0">
              <a:buNone/>
            </a:pPr>
            <a:br>
              <a:rPr lang="en-US" sz="1200" dirty="0">
                <a:cs typeface="Calibri" panose="020F0502020204030204" pitchFamily="34" charset="0"/>
              </a:rPr>
            </a:br>
            <a:br>
              <a:rPr lang="en-US" sz="1200" dirty="0">
                <a:cs typeface="Calibri" panose="020F0502020204030204" pitchFamily="34" charset="0"/>
              </a:rPr>
            </a:br>
            <a:br>
              <a:rPr lang="en-US" sz="1200" dirty="0">
                <a:cs typeface="Calibri" panose="020F0502020204030204" pitchFamily="34" charset="0"/>
              </a:rPr>
            </a:br>
            <a:endParaRPr lang="en-US" sz="1000" dirty="0">
              <a:cs typeface="Calibri" panose="020F0502020204030204" pitchFamily="34" charset="0"/>
            </a:endParaRPr>
          </a:p>
          <a:p>
            <a:pPr lvl="1"/>
            <a:r>
              <a:rPr lang="en-US" sz="1400" b="1" u="sng" dirty="0"/>
              <a:t>3</a:t>
            </a:r>
            <a:r>
              <a:rPr lang="en-US" sz="1400" b="1" u="sng" baseline="30000" dirty="0"/>
              <a:t>rd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2</a:t>
            </a:r>
            <a:r>
              <a:rPr lang="en-US" sz="1400" dirty="0">
                <a:cs typeface="Calibri" panose="020F0502020204030204" pitchFamily="34" charset="0"/>
              </a:rPr>
              <a:t> of 2</a:t>
            </a:r>
            <a:r>
              <a:rPr lang="en-US" sz="1400" baseline="30000" dirty="0">
                <a:cs typeface="Calibri" panose="020F0502020204030204" pitchFamily="34" charset="0"/>
              </a:rPr>
              <a:t>nd</a:t>
            </a:r>
            <a:r>
              <a:rPr lang="en-US" sz="1400" dirty="0">
                <a:cs typeface="Calibri" panose="020F0502020204030204" pitchFamily="34" charset="0"/>
              </a:rPr>
              <a:t> run new </a:t>
            </a:r>
            <a:r>
              <a:rPr lang="en-US" sz="1400" dirty="0"/>
              <a:t>equivalence factor is calculated according to following equation:</a:t>
            </a:r>
            <a:br>
              <a:rPr lang="en-US" sz="1400" dirty="0"/>
            </a:br>
            <a:endParaRPr lang="en-US" sz="1400" dirty="0"/>
          </a:p>
          <a:p>
            <a:pPr lvl="1"/>
            <a:endParaRPr lang="en-GB" sz="1400" dirty="0"/>
          </a:p>
          <a:p>
            <a:pPr lvl="1"/>
            <a:r>
              <a:rPr lang="en-GB" sz="1400" dirty="0"/>
              <a:t>For further details please refer to: </a:t>
            </a:r>
            <a:r>
              <a:rPr lang="en-GB" sz="1400" b="1" i="1" dirty="0"/>
              <a:t>VECTO-DEV WS#8 16.11.2021 (slide 7ff)</a:t>
            </a:r>
            <a:endParaRPr lang="en-US" sz="14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FA0F42E0-6069-490B-8657-ED39F2A42A3A}"/>
                  </a:ext>
                </a:extLst>
              </p:cNvPr>
              <p:cNvSpPr txBox="1"/>
              <p:nvPr/>
            </p:nvSpPr>
            <p:spPr>
              <a:xfrm>
                <a:off x="1345337" y="3756031"/>
                <a:ext cx="1664686" cy="3179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_2</m:t>
                          </m:r>
                        </m:sub>
                      </m:sSub>
                      <m:r>
                        <a:rPr lang="de-AT" sz="1100" i="1">
                          <a:latin typeface="Cambria Math" panose="02040503050406030204" pitchFamily="18" charset="0"/>
                          <a:ea typeface="Cambria Math" panose="02040503050406030204" pitchFamily="18" charset="0"/>
                        </a:rPr>
                        <m:t>=</m:t>
                      </m:r>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_1</m:t>
                          </m:r>
                        </m:sub>
                      </m:sSub>
                      <m:r>
                        <a:rPr lang="de-AT" sz="1100" i="1">
                          <a:latin typeface="Cambria Math" panose="02040503050406030204" pitchFamily="18" charset="0"/>
                          <a:ea typeface="Cambria Math" panose="02040503050406030204" pitchFamily="18" charset="0"/>
                        </a:rPr>
                        <m:t>−</m:t>
                      </m:r>
                      <m:f>
                        <m:fPr>
                          <m:ctrlPr>
                            <a:rPr lang="de-AT" sz="1100" i="1">
                              <a:latin typeface="Cambria Math" panose="02040503050406030204" pitchFamily="18" charset="0"/>
                              <a:ea typeface="Cambria Math" panose="02040503050406030204" pitchFamily="18" charset="0"/>
                            </a:rPr>
                          </m:ctrlPr>
                        </m:fPr>
                        <m:num>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m:t>
                              </m:r>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1</m:t>
                              </m:r>
                            </m:sub>
                          </m:sSub>
                        </m:num>
                        <m:den>
                          <m:r>
                            <a:rPr lang="de-AT" sz="1100" i="1">
                              <a:latin typeface="Cambria Math" panose="02040503050406030204" pitchFamily="18" charset="0"/>
                              <a:ea typeface="Cambria Math" panose="02040503050406030204" pitchFamily="18" charset="0"/>
                            </a:rPr>
                            <m:t>𝑘</m:t>
                          </m:r>
                        </m:den>
                      </m:f>
                    </m:oMath>
                  </m:oMathPara>
                </a14:m>
                <a:endParaRPr lang="de-AT" sz="1100" dirty="0"/>
              </a:p>
            </p:txBody>
          </p:sp>
        </mc:Choice>
        <mc:Fallback xmlns="">
          <p:sp>
            <p:nvSpPr>
              <p:cNvPr id="6" name="Textfeld 5">
                <a:extLst>
                  <a:ext uri="{FF2B5EF4-FFF2-40B4-BE49-F238E27FC236}">
                    <a16:creationId xmlns:a16="http://schemas.microsoft.com/office/drawing/2014/main" id="{FA0F42E0-6069-490B-8657-ED39F2A42A3A}"/>
                  </a:ext>
                </a:extLst>
              </p:cNvPr>
              <p:cNvSpPr txBox="1">
                <a:spLocks noRot="1" noChangeAspect="1" noMove="1" noResize="1" noEditPoints="1" noAdjustHandles="1" noChangeArrowheads="1" noChangeShapeType="1" noTextEdit="1"/>
              </p:cNvSpPr>
              <p:nvPr/>
            </p:nvSpPr>
            <p:spPr>
              <a:xfrm>
                <a:off x="1345337" y="3756031"/>
                <a:ext cx="1664686" cy="317972"/>
              </a:xfrm>
              <a:prstGeom prst="rect">
                <a:avLst/>
              </a:prstGeom>
              <a:blipFill>
                <a:blip r:embed="rId2"/>
                <a:stretch>
                  <a:fillRect l="-2564" r="-733" b="-1538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4A996E3-A1CE-4376-8F84-5151C3480BB7}"/>
                  </a:ext>
                </a:extLst>
              </p:cNvPr>
              <p:cNvSpPr txBox="1"/>
              <p:nvPr/>
            </p:nvSpPr>
            <p:spPr>
              <a:xfrm>
                <a:off x="4963683" y="3830380"/>
                <a:ext cx="20788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rPr>
                          </m:ctrlPr>
                        </m:sSubPr>
                        <m:e>
                          <m:r>
                            <a:rPr lang="de-AT" sz="1100" i="1">
                              <a:latin typeface="Cambria Math" panose="02040503050406030204" pitchFamily="18" charset="0"/>
                            </a:rPr>
                            <m:t>𝑘</m:t>
                          </m:r>
                          <m:r>
                            <a:rPr lang="de-AT" sz="1100" i="1">
                              <a:latin typeface="Cambria Math" panose="02040503050406030204" pitchFamily="18" charset="0"/>
                            </a:rPr>
                            <m:t>=</m:t>
                          </m:r>
                          <m:r>
                            <a:rPr lang="de-AT" sz="1100" i="1">
                              <a:latin typeface="Cambria Math" panose="02040503050406030204" pitchFamily="18" charset="0"/>
                            </a:rPr>
                            <m:t>𝑘</m:t>
                          </m:r>
                        </m:e>
                        <m:sub>
                          <m:r>
                            <a:rPr lang="de-AT" sz="1100" i="1">
                              <a:latin typeface="Cambria Math" panose="02040503050406030204" pitchFamily="18" charset="0"/>
                            </a:rPr>
                            <m:t>0.4</m:t>
                          </m:r>
                        </m:sub>
                      </m:sSub>
                      <m:r>
                        <a:rPr lang="de-AT" sz="1100" i="1">
                          <a:latin typeface="Cambria Math" panose="02040503050406030204" pitchFamily="18" charset="0"/>
                        </a:rPr>
                        <m:t>+0.2∗(</m:t>
                      </m:r>
                      <m:sSub>
                        <m:sSubPr>
                          <m:ctrlPr>
                            <a:rPr lang="de-AT" sz="1100" i="1">
                              <a:latin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𝑢𝑠𝑎𝑏𝑙𝑒</m:t>
                          </m:r>
                        </m:sub>
                      </m:sSub>
                      <m:r>
                        <a:rPr lang="de-AT" sz="1100" i="1">
                          <a:latin typeface="Cambria Math" panose="02040503050406030204" pitchFamily="18" charset="0"/>
                        </a:rPr>
                        <m:t>−0.4)</m:t>
                      </m:r>
                    </m:oMath>
                  </m:oMathPara>
                </a14:m>
                <a:endParaRPr lang="de-AT" sz="1100" dirty="0"/>
              </a:p>
            </p:txBody>
          </p:sp>
        </mc:Choice>
        <mc:Fallback xmlns="">
          <p:sp>
            <p:nvSpPr>
              <p:cNvPr id="7" name="Textfeld 6">
                <a:extLst>
                  <a:ext uri="{FF2B5EF4-FFF2-40B4-BE49-F238E27FC236}">
                    <a16:creationId xmlns:a16="http://schemas.microsoft.com/office/drawing/2014/main" id="{04A996E3-A1CE-4376-8F84-5151C3480BB7}"/>
                  </a:ext>
                </a:extLst>
              </p:cNvPr>
              <p:cNvSpPr txBox="1">
                <a:spLocks noRot="1" noChangeAspect="1" noMove="1" noResize="1" noEditPoints="1" noAdjustHandles="1" noChangeArrowheads="1" noChangeShapeType="1" noTextEdit="1"/>
              </p:cNvSpPr>
              <p:nvPr/>
            </p:nvSpPr>
            <p:spPr>
              <a:xfrm>
                <a:off x="4963683" y="3830380"/>
                <a:ext cx="2078838" cy="169277"/>
              </a:xfrm>
              <a:prstGeom prst="rect">
                <a:avLst/>
              </a:prstGeom>
              <a:blipFill>
                <a:blip r:embed="rId3"/>
                <a:stretch>
                  <a:fillRect l="-880" r="-2053" b="-35714"/>
                </a:stretch>
              </a:blipFill>
            </p:spPr>
            <p:txBody>
              <a:bodyPr/>
              <a:lstStyle/>
              <a:p>
                <a:r>
                  <a:rPr lang="de-AT">
                    <a:noFill/>
                  </a:rPr>
                  <a:t> </a:t>
                </a:r>
              </a:p>
            </p:txBody>
          </p:sp>
        </mc:Fallback>
      </mc:AlternateContent>
      <p:sp>
        <p:nvSpPr>
          <p:cNvPr id="8" name="Textfeld 7"/>
          <p:cNvSpPr txBox="1"/>
          <p:nvPr/>
        </p:nvSpPr>
        <p:spPr>
          <a:xfrm>
            <a:off x="4327309" y="3776518"/>
            <a:ext cx="636374" cy="276999"/>
          </a:xfrm>
          <a:prstGeom prst="rect">
            <a:avLst/>
          </a:prstGeom>
          <a:noFill/>
        </p:spPr>
        <p:txBody>
          <a:bodyPr wrap="square" rtlCol="0">
            <a:spAutoFit/>
          </a:bodyPr>
          <a:lstStyle/>
          <a:p>
            <a:r>
              <a:rPr lang="de-AT" sz="1200" dirty="0" err="1"/>
              <a:t>with</a:t>
            </a:r>
            <a:endParaRPr lang="de-AT" sz="1200" dirty="0"/>
          </a:p>
        </p:txBody>
      </p:sp>
      <p:cxnSp>
        <p:nvCxnSpPr>
          <p:cNvPr id="9" name="Gerade Verbindung mit Pfeil 8">
            <a:extLst>
              <a:ext uri="{FF2B5EF4-FFF2-40B4-BE49-F238E27FC236}">
                <a16:creationId xmlns:a16="http://schemas.microsoft.com/office/drawing/2014/main" id="{791F2253-79F9-4B5E-BA61-AA9D010790C7}"/>
              </a:ext>
            </a:extLst>
          </p:cNvPr>
          <p:cNvCxnSpPr>
            <a:cxnSpLocks/>
          </p:cNvCxnSpPr>
          <p:nvPr/>
        </p:nvCxnSpPr>
        <p:spPr>
          <a:xfrm>
            <a:off x="2182186" y="4030604"/>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Textfeld 9">
            <a:extLst>
              <a:ext uri="{FF2B5EF4-FFF2-40B4-BE49-F238E27FC236}">
                <a16:creationId xmlns:a16="http://schemas.microsoft.com/office/drawing/2014/main" id="{4D01715D-A80C-4D20-81AE-772E3F5503C7}"/>
              </a:ext>
            </a:extLst>
          </p:cNvPr>
          <p:cNvSpPr txBox="1"/>
          <p:nvPr/>
        </p:nvSpPr>
        <p:spPr>
          <a:xfrm>
            <a:off x="1077636" y="4102604"/>
            <a:ext cx="2735044" cy="246221"/>
          </a:xfrm>
          <a:prstGeom prst="rect">
            <a:avLst/>
          </a:prstGeom>
          <a:noFill/>
        </p:spPr>
        <p:txBody>
          <a:bodyPr wrap="none" rtlCol="0">
            <a:spAutoFit/>
          </a:bodyPr>
          <a:lstStyle/>
          <a:p>
            <a:r>
              <a:rPr lang="en-US" sz="1000" dirty="0">
                <a:solidFill>
                  <a:srgbClr val="C00000"/>
                </a:solidFill>
              </a:rPr>
              <a:t>equivalence factor used in 1</a:t>
            </a:r>
            <a:r>
              <a:rPr lang="en-US" sz="1000" baseline="30000" dirty="0">
                <a:solidFill>
                  <a:srgbClr val="C00000"/>
                </a:solidFill>
              </a:rPr>
              <a:t>st</a:t>
            </a:r>
            <a:r>
              <a:rPr lang="en-US" sz="1000" dirty="0">
                <a:solidFill>
                  <a:srgbClr val="C00000"/>
                </a:solidFill>
              </a:rPr>
              <a:t> simulation run</a:t>
            </a:r>
          </a:p>
        </p:txBody>
      </p:sp>
      <p:cxnSp>
        <p:nvCxnSpPr>
          <p:cNvPr id="11" name="Gerade Verbindung mit Pfeil 10">
            <a:extLst>
              <a:ext uri="{FF2B5EF4-FFF2-40B4-BE49-F238E27FC236}">
                <a16:creationId xmlns:a16="http://schemas.microsoft.com/office/drawing/2014/main" id="{791F2253-79F9-4B5E-BA61-AA9D010790C7}"/>
              </a:ext>
            </a:extLst>
          </p:cNvPr>
          <p:cNvCxnSpPr>
            <a:cxnSpLocks/>
          </p:cNvCxnSpPr>
          <p:nvPr/>
        </p:nvCxnSpPr>
        <p:spPr>
          <a:xfrm>
            <a:off x="5376040" y="4025115"/>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4D01715D-A80C-4D20-81AE-772E3F5503C7}"/>
              </a:ext>
            </a:extLst>
          </p:cNvPr>
          <p:cNvSpPr txBox="1"/>
          <p:nvPr/>
        </p:nvSpPr>
        <p:spPr>
          <a:xfrm>
            <a:off x="4327309" y="4098251"/>
            <a:ext cx="3554178" cy="246221"/>
          </a:xfrm>
          <a:prstGeom prst="rect">
            <a:avLst/>
          </a:prstGeom>
          <a:noFill/>
        </p:spPr>
        <p:txBody>
          <a:bodyPr wrap="none" rtlCol="0">
            <a:spAutoFit/>
          </a:bodyPr>
          <a:lstStyle/>
          <a:p>
            <a:r>
              <a:rPr lang="en-US" sz="1000" dirty="0">
                <a:solidFill>
                  <a:srgbClr val="C00000"/>
                </a:solidFill>
              </a:rPr>
              <a:t>refer to \Declaration\</a:t>
            </a:r>
            <a:r>
              <a:rPr lang="en-US" sz="1000" dirty="0" err="1">
                <a:solidFill>
                  <a:srgbClr val="C00000"/>
                </a:solidFill>
              </a:rPr>
              <a:t>HEVParameters</a:t>
            </a:r>
            <a:r>
              <a:rPr lang="en-US" sz="1000" dirty="0">
                <a:solidFill>
                  <a:srgbClr val="C00000"/>
                </a:solidFill>
              </a:rPr>
              <a:t>\Lorry\Gradient_40.csv</a:t>
            </a:r>
          </a:p>
        </p:txBody>
      </p:sp>
      <p:pic>
        <p:nvPicPr>
          <p:cNvPr id="13" name="Grafik 12"/>
          <p:cNvPicPr>
            <a:picLocks noChangeAspect="1"/>
          </p:cNvPicPr>
          <p:nvPr/>
        </p:nvPicPr>
        <p:blipFill>
          <a:blip r:embed="rId4"/>
          <a:stretch>
            <a:fillRect/>
          </a:stretch>
        </p:blipFill>
        <p:spPr>
          <a:xfrm>
            <a:off x="2843629" y="4798959"/>
            <a:ext cx="3260769" cy="324000"/>
          </a:xfrm>
          <a:prstGeom prst="rect">
            <a:avLst/>
          </a:prstGeom>
        </p:spPr>
      </p:pic>
    </p:spTree>
    <p:extLst>
      <p:ext uri="{BB962C8B-B14F-4D97-AF65-F5344CB8AC3E}">
        <p14:creationId xmlns:p14="http://schemas.microsoft.com/office/powerpoint/2010/main" val="38950521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43196" y="40603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Copy files from </a:t>
            </a:r>
            <a:r>
              <a:rPr lang="en-US" sz="1200" dirty="0"/>
              <a:t>“\Declaration\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r>
              <a:rPr lang="en-US" sz="1400" dirty="0"/>
              <a:t> </a:t>
            </a:r>
            <a:br>
              <a:rPr lang="en-US" sz="1400" dirty="0"/>
            </a:br>
            <a:r>
              <a:rPr lang="en-US" sz="1400" dirty="0"/>
              <a:t>to </a:t>
            </a:r>
            <a:r>
              <a:rPr lang="en-US" sz="1200" dirty="0"/>
              <a:t>“\Declaration\Override\”</a:t>
            </a:r>
            <a:r>
              <a:rPr lang="en-US" sz="1400" dirty="0"/>
              <a:t> without adding any sub-directories</a:t>
            </a:r>
          </a:p>
          <a:p>
            <a:pPr lvl="2"/>
            <a:r>
              <a:rPr lang="en-US" sz="1400" dirty="0"/>
              <a:t>The overridden files are shown </a:t>
            </a:r>
            <a:r>
              <a:rPr lang="en-US" sz="1400"/>
              <a:t>in </a:t>
            </a:r>
            <a:r>
              <a:rPr lang="en-US" sz="1200"/>
              <a:t>“override.txt”</a:t>
            </a:r>
            <a:br>
              <a:rPr lang="en-US" sz="1400" dirty="0"/>
            </a:br>
            <a:endParaRPr lang="en-US" sz="600" dirty="0"/>
          </a:p>
          <a:p>
            <a:pPr lvl="2"/>
            <a:r>
              <a:rPr lang="en-US" sz="1400" dirty="0"/>
              <a:t>Adapt respective values for individual EF in files (per vehicle group, mission profile and payload)</a:t>
            </a:r>
            <a:br>
              <a:rPr lang="en-US" sz="1400" dirty="0"/>
            </a:br>
            <a:br>
              <a:rPr lang="en-US" sz="1400" dirty="0"/>
            </a:br>
            <a:br>
              <a:rPr lang="en-US" sz="1400" dirty="0"/>
            </a:br>
            <a:br>
              <a:rPr lang="en-US" sz="1400" dirty="0"/>
            </a:br>
            <a:br>
              <a:rPr lang="en-US" sz="1400" dirty="0"/>
            </a:br>
            <a:br>
              <a:rPr lang="en-US" sz="1400" dirty="0"/>
            </a:br>
            <a:br>
              <a:rPr lang="en-US" sz="1100" dirty="0"/>
            </a:br>
            <a:br>
              <a:rPr lang="en-US" sz="1100" dirty="0"/>
            </a:br>
            <a:r>
              <a:rPr lang="en-US" sz="1100" dirty="0"/>
              <a:t>		   </a:t>
            </a:r>
            <a:r>
              <a:rPr lang="en-US" sz="1200" i="1" dirty="0">
                <a:sym typeface="Wingdings" panose="05000000000000000000" pitchFamily="2" charset="2"/>
              </a:rPr>
              <a:t> 1</a:t>
            </a:r>
            <a:r>
              <a:rPr lang="en-US" sz="1200" i="1" baseline="30000" dirty="0">
                <a:sym typeface="Wingdings" panose="05000000000000000000" pitchFamily="2" charset="2"/>
              </a:rPr>
              <a:t>st</a:t>
            </a:r>
            <a:r>
              <a:rPr lang="en-US" sz="1200" i="1" dirty="0">
                <a:sym typeface="Wingdings" panose="05000000000000000000" pitchFamily="2" charset="2"/>
              </a:rPr>
              <a:t> value for low loading, 2</a:t>
            </a:r>
            <a:r>
              <a:rPr lang="en-US" sz="1200" i="1" baseline="30000" dirty="0">
                <a:sym typeface="Wingdings" panose="05000000000000000000" pitchFamily="2" charset="2"/>
              </a:rPr>
              <a:t>nd</a:t>
            </a:r>
            <a:r>
              <a:rPr lang="en-US" sz="1200" i="1" dirty="0">
                <a:sym typeface="Wingdings" panose="05000000000000000000" pitchFamily="2" charset="2"/>
              </a:rPr>
              <a:t> for reference loading</a:t>
            </a:r>
            <a:br>
              <a:rPr lang="en-US" sz="1200" i="1" dirty="0"/>
            </a:br>
            <a:endParaRPr lang="en-US" sz="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graphicFrame>
        <p:nvGraphicFramePr>
          <p:cNvPr id="5" name="Tabelle 4"/>
          <p:cNvGraphicFramePr>
            <a:graphicFrameLocks noGrp="1"/>
          </p:cNvGraphicFramePr>
          <p:nvPr/>
        </p:nvGraphicFramePr>
        <p:xfrm>
          <a:off x="2594919" y="4223729"/>
          <a:ext cx="5968058" cy="1510665"/>
        </p:xfrm>
        <a:graphic>
          <a:graphicData uri="http://schemas.openxmlformats.org/drawingml/2006/table">
            <a:tbl>
              <a:tblPr>
                <a:tableStyleId>{69CF1AB2-1976-4502-BF36-3FF5EA218861}</a:tableStyleId>
              </a:tblPr>
              <a:tblGrid>
                <a:gridCol w="951988">
                  <a:extLst>
                    <a:ext uri="{9D8B030D-6E8A-4147-A177-3AD203B41FA5}">
                      <a16:colId xmlns:a16="http://schemas.microsoft.com/office/drawing/2014/main" val="852312706"/>
                    </a:ext>
                  </a:extLst>
                </a:gridCol>
                <a:gridCol w="972387">
                  <a:extLst>
                    <a:ext uri="{9D8B030D-6E8A-4147-A177-3AD203B41FA5}">
                      <a16:colId xmlns:a16="http://schemas.microsoft.com/office/drawing/2014/main" val="1837859280"/>
                    </a:ext>
                  </a:extLst>
                </a:gridCol>
                <a:gridCol w="1060787">
                  <a:extLst>
                    <a:ext uri="{9D8B030D-6E8A-4147-A177-3AD203B41FA5}">
                      <a16:colId xmlns:a16="http://schemas.microsoft.com/office/drawing/2014/main" val="1001090232"/>
                    </a:ext>
                  </a:extLst>
                </a:gridCol>
                <a:gridCol w="1024521">
                  <a:extLst>
                    <a:ext uri="{9D8B030D-6E8A-4147-A177-3AD203B41FA5}">
                      <a16:colId xmlns:a16="http://schemas.microsoft.com/office/drawing/2014/main" val="1395416183"/>
                    </a:ext>
                  </a:extLst>
                </a:gridCol>
                <a:gridCol w="988254">
                  <a:extLst>
                    <a:ext uri="{9D8B030D-6E8A-4147-A177-3AD203B41FA5}">
                      <a16:colId xmlns:a16="http://schemas.microsoft.com/office/drawing/2014/main" val="3676319759"/>
                    </a:ext>
                  </a:extLst>
                </a:gridCol>
                <a:gridCol w="970121">
                  <a:extLst>
                    <a:ext uri="{9D8B030D-6E8A-4147-A177-3AD203B41FA5}">
                      <a16:colId xmlns:a16="http://schemas.microsoft.com/office/drawing/2014/main" val="465384926"/>
                    </a:ext>
                  </a:extLst>
                </a:gridCol>
              </a:tblGrid>
              <a:tr h="190500">
                <a:tc>
                  <a:txBody>
                    <a:bodyPr/>
                    <a:lstStyle/>
                    <a:p>
                      <a:pPr algn="ctr" fontAlgn="b"/>
                      <a:r>
                        <a:rPr lang="de-AT" sz="900" b="1" u="none" strike="noStrike">
                          <a:effectLst/>
                        </a:rPr>
                        <a:t>vehiclegroup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longhaul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regionaldelivery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urbandelivery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municipalutility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construction</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401099527"/>
                  </a:ext>
                </a:extLst>
              </a:tr>
              <a:tr h="144000">
                <a:tc>
                  <a:txBody>
                    <a:bodyPr/>
                    <a:lstStyle/>
                    <a:p>
                      <a:pPr algn="ctr" fontAlgn="b"/>
                      <a:r>
                        <a:rPr lang="de-AT" sz="900" b="0" i="0" u="none" strike="noStrike" dirty="0">
                          <a:solidFill>
                            <a:schemeClr val="dk1"/>
                          </a:solidFill>
                          <a:effectLst/>
                          <a:latin typeface="+mn-lt"/>
                        </a:rPr>
                        <a:t>53</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2.6/2.3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2.7/2.3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13796165"/>
                  </a:ext>
                </a:extLst>
              </a:tr>
              <a:tr h="144000">
                <a:tc>
                  <a:txBody>
                    <a:bodyPr/>
                    <a:lstStyle/>
                    <a:p>
                      <a:pPr algn="ctr" fontAlgn="b"/>
                      <a:r>
                        <a:rPr lang="de-AT" sz="900" b="0" i="0" u="none" strike="noStrike" dirty="0">
                          <a:solidFill>
                            <a:srgbClr val="000000"/>
                          </a:solidFill>
                          <a:effectLst/>
                          <a:latin typeface="Calibri" panose="020F0502020204030204" pitchFamily="34" charset="0"/>
                        </a:rPr>
                        <a:t>54</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700250231"/>
                  </a:ext>
                </a:extLst>
              </a:tr>
              <a:tr h="144000">
                <a:tc>
                  <a:txBody>
                    <a:bodyPr/>
                    <a:lstStyle/>
                    <a:p>
                      <a:pPr algn="ctr" fontAlgn="b"/>
                      <a:r>
                        <a:rPr lang="de-AT" sz="900" b="0" i="0" u="none" strike="noStrike">
                          <a:solidFill>
                            <a:srgbClr val="000000"/>
                          </a:solidFill>
                          <a:effectLst/>
                          <a:latin typeface="Calibri" panose="020F0502020204030204" pitchFamily="34" charset="0"/>
                        </a:rPr>
                        <a:t>1s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524488572"/>
                  </a:ext>
                </a:extLst>
              </a:tr>
              <a:tr h="144000">
                <a:tc>
                  <a:txBody>
                    <a:bodyPr/>
                    <a:lstStyle/>
                    <a:p>
                      <a:pPr algn="ctr" fontAlgn="b"/>
                      <a:r>
                        <a:rPr lang="de-AT" sz="9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1661254603"/>
                  </a:ext>
                </a:extLst>
              </a:tr>
              <a:tr h="144000">
                <a:tc>
                  <a:txBody>
                    <a:bodyPr/>
                    <a:lstStyle/>
                    <a:p>
                      <a:pPr algn="ctr" fontAlgn="b"/>
                      <a:r>
                        <a:rPr lang="de-AT" sz="9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0.1/0.1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641180873"/>
                  </a:ext>
                </a:extLst>
              </a:tr>
              <a:tr h="144000">
                <a:tc>
                  <a:txBody>
                    <a:bodyPr/>
                    <a:lstStyle/>
                    <a:p>
                      <a:pPr algn="ctr" fontAlgn="b"/>
                      <a:r>
                        <a:rPr lang="de-AT" sz="9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591096129"/>
                  </a:ext>
                </a:extLst>
              </a:tr>
              <a:tr h="144000">
                <a:tc>
                  <a:txBody>
                    <a:bodyPr/>
                    <a:lstStyle/>
                    <a:p>
                      <a:pPr algn="ctr" fontAlgn="b"/>
                      <a:r>
                        <a:rPr lang="de-AT" sz="9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302663884"/>
                  </a:ext>
                </a:extLst>
              </a:tr>
              <a:tr h="144000">
                <a:tc>
                  <a:txBody>
                    <a:bodyPr/>
                    <a:lstStyle/>
                    <a:p>
                      <a:pPr algn="ctr" fontAlgn="b"/>
                      <a:r>
                        <a:rPr lang="de-AT" sz="9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607436354"/>
                  </a:ext>
                </a:extLst>
              </a:tr>
              <a:tr h="144000">
                <a:tc>
                  <a:txBody>
                    <a:bodyPr/>
                    <a:lstStyle/>
                    <a:p>
                      <a:pPr algn="ctr" fontAlgn="b"/>
                      <a:r>
                        <a:rPr lang="de-AT" sz="900" b="0" i="0" u="none" strike="noStrike" dirty="0">
                          <a:solidFill>
                            <a:srgbClr val="000000"/>
                          </a:solidFill>
                          <a:effectLst/>
                          <a:latin typeface="Calibri" panose="020F0502020204030204" pitchFamily="34" charset="0"/>
                        </a:rPr>
                        <a:t>…</a:t>
                      </a: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59716045"/>
                  </a:ext>
                </a:extLst>
              </a:tr>
            </a:tbl>
          </a:graphicData>
        </a:graphic>
      </p:graphicFrame>
    </p:spTree>
    <p:extLst>
      <p:ext uri="{BB962C8B-B14F-4D97-AF65-F5344CB8AC3E}">
        <p14:creationId xmlns:p14="http://schemas.microsoft.com/office/powerpoint/2010/main" val="4014364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Step 3:</a:t>
            </a:r>
            <a:br>
              <a:rPr lang="en-US" sz="1400" dirty="0"/>
            </a:br>
            <a:r>
              <a:rPr lang="en-US" sz="1400" dirty="0"/>
              <a:t>Activate GUI feature under “Options” tab</a:t>
            </a:r>
            <a:br>
              <a:rPr lang="en-US" sz="1400" dirty="0"/>
            </a:br>
            <a:r>
              <a:rPr lang="en-US" sz="1400" dirty="0"/>
              <a:t>to apply single run with individually set EF</a:t>
            </a:r>
            <a:br>
              <a:rPr lang="en-US" sz="1400" dirty="0"/>
            </a:br>
            <a:r>
              <a:rPr lang="en-US" sz="1400" dirty="0"/>
              <a:t>loaded from “\Declaration\Override\” folder</a:t>
            </a:r>
            <a:br>
              <a:rPr lang="en-US" sz="1400" dirty="0"/>
            </a:br>
            <a:endParaRPr lang="en-US" sz="1400" dirty="0"/>
          </a:p>
          <a:p>
            <a:pPr lvl="2"/>
            <a:r>
              <a:rPr lang="en-US" sz="1400" b="1" u="sng" dirty="0"/>
              <a:t>ATTENTION:</a:t>
            </a:r>
            <a:r>
              <a:rPr lang="en-US" sz="1400" dirty="0"/>
              <a:t> Only loaded when VECTO is</a:t>
            </a:r>
            <a:br>
              <a:rPr lang="en-US" sz="1400" dirty="0"/>
            </a:br>
            <a:r>
              <a:rPr lang="en-US" sz="1400" dirty="0"/>
              <a:t>launched initially (updates during active</a:t>
            </a:r>
            <a:br>
              <a:rPr lang="en-US" sz="1400" dirty="0"/>
            </a:br>
            <a:r>
              <a:rPr lang="en-US" sz="1400" dirty="0"/>
              <a:t>VECTO session have no effect)!</a:t>
            </a:r>
            <a:br>
              <a:rPr lang="en-US" sz="1400" dirty="0"/>
            </a:br>
            <a:endParaRPr lang="en-US" sz="1400" dirty="0"/>
          </a:p>
          <a:p>
            <a:r>
              <a:rPr lang="en-US" sz="1800" dirty="0"/>
              <a:t>To be checked: Handling of vehicles with very small batteries in LH</a:t>
            </a:r>
            <a:br>
              <a:rPr lang="en-US" sz="1800" dirty="0"/>
            </a:br>
            <a:r>
              <a:rPr lang="en-US" sz="1400" i="1" dirty="0"/>
              <a:t>(due to high amount of energy being captured at the very end of the cycle)</a:t>
            </a:r>
            <a:endParaRPr lang="en-GB" sz="1400" i="1"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grpSp>
        <p:nvGrpSpPr>
          <p:cNvPr id="9" name="Gruppieren 8"/>
          <p:cNvGrpSpPr/>
          <p:nvPr/>
        </p:nvGrpSpPr>
        <p:grpSpPr>
          <a:xfrm>
            <a:off x="5844641" y="2428289"/>
            <a:ext cx="2841799" cy="2201002"/>
            <a:chOff x="4293973" y="2436734"/>
            <a:chExt cx="2706902" cy="2096522"/>
          </a:xfrm>
        </p:grpSpPr>
        <p:pic>
          <p:nvPicPr>
            <p:cNvPr id="6" name="Grafik 5"/>
            <p:cNvPicPr>
              <a:picLocks noChangeAspect="1"/>
            </p:cNvPicPr>
            <p:nvPr/>
          </p:nvPicPr>
          <p:blipFill>
            <a:blip r:embed="rId2"/>
            <a:stretch>
              <a:fillRect/>
            </a:stretch>
          </p:blipFill>
          <p:spPr>
            <a:xfrm>
              <a:off x="4293973" y="2436734"/>
              <a:ext cx="2706902" cy="2096522"/>
            </a:xfrm>
            <a:prstGeom prst="rect">
              <a:avLst/>
            </a:prstGeom>
          </p:spPr>
        </p:pic>
        <p:sp>
          <p:nvSpPr>
            <p:cNvPr id="7" name="Ellipse 6"/>
            <p:cNvSpPr/>
            <p:nvPr/>
          </p:nvSpPr>
          <p:spPr>
            <a:xfrm>
              <a:off x="4683212" y="2679345"/>
              <a:ext cx="525162" cy="169748"/>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8" name="Ellipse 7"/>
            <p:cNvSpPr/>
            <p:nvPr/>
          </p:nvSpPr>
          <p:spPr>
            <a:xfrm>
              <a:off x="5172578" y="3781959"/>
              <a:ext cx="1800000" cy="18000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14446641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Gear shift model for P-HEV used slightly wrong ICE operation point for evaluation of fuel costs</a:t>
            </a:r>
            <a:br>
              <a:rPr lang="en-US" sz="1800" dirty="0"/>
            </a:br>
            <a:r>
              <a:rPr lang="en-US" sz="1800" dirty="0">
                <a:sym typeface="Wingdings" panose="05000000000000000000" pitchFamily="2" charset="2"/>
              </a:rPr>
              <a:t> mainly relevant for overdrive drivetrain configurations</a:t>
            </a:r>
            <a:br>
              <a:rPr lang="en-US" sz="1800" dirty="0">
                <a:sym typeface="Wingdings" panose="05000000000000000000" pitchFamily="2" charset="2"/>
              </a:rPr>
            </a:br>
            <a:r>
              <a:rPr lang="en-US" sz="1800" dirty="0">
                <a:sym typeface="Wingdings" panose="05000000000000000000" pitchFamily="2" charset="2"/>
              </a:rPr>
              <a:t> effect </a:t>
            </a:r>
            <a:r>
              <a:rPr lang="en-US" sz="1800">
                <a:sym typeface="Wingdings" panose="05000000000000000000" pitchFamily="2" charset="2"/>
              </a:rPr>
              <a:t>for non-overdrive </a:t>
            </a:r>
            <a:r>
              <a:rPr lang="en-US" sz="1800" dirty="0">
                <a:sym typeface="Wingdings" panose="05000000000000000000" pitchFamily="2" charset="2"/>
              </a:rPr>
              <a:t>drivetrains:</a:t>
            </a:r>
          </a:p>
          <a:p>
            <a:pPr lvl="1"/>
            <a:r>
              <a:rPr lang="en-US" sz="1400" dirty="0">
                <a:sym typeface="Wingdings" panose="05000000000000000000" pitchFamily="2" charset="2"/>
              </a:rPr>
              <a:t>Typical LH application: from slight decrease &lt;1% up to slight increase &lt;1% of HEV FC</a:t>
            </a:r>
          </a:p>
          <a:p>
            <a:pPr lvl="1"/>
            <a:r>
              <a:rPr lang="en-US" sz="1400" dirty="0">
                <a:sym typeface="Wingdings" panose="05000000000000000000" pitchFamily="2" charset="2"/>
              </a:rPr>
              <a:t>Typical dynamic (urban) application:</a:t>
            </a:r>
          </a:p>
          <a:p>
            <a:pPr lvl="2"/>
            <a:r>
              <a:rPr lang="en-US" sz="1200" dirty="0">
                <a:sym typeface="Wingdings" panose="05000000000000000000" pitchFamily="2" charset="2"/>
              </a:rPr>
              <a:t>More realistic (higher) acceleration behavior and better following of speed trace like ICE-only counterpart</a:t>
            </a:r>
          </a:p>
          <a:p>
            <a:pPr lvl="2"/>
            <a:r>
              <a:rPr lang="en-US" sz="1200" dirty="0">
                <a:sym typeface="Wingdings" panose="05000000000000000000" pitchFamily="2" charset="2"/>
              </a:rPr>
              <a:t>Still some percent decrease of FC of HEV compared to previous version</a:t>
            </a:r>
            <a:br>
              <a:rPr lang="en-US" sz="1200" dirty="0">
                <a:sym typeface="Wingdings" panose="05000000000000000000" pitchFamily="2" charset="2"/>
              </a:rPr>
            </a:br>
            <a:endParaRPr lang="en-US" sz="1200" dirty="0"/>
          </a:p>
          <a:p>
            <a:r>
              <a:rPr lang="en-US" sz="1800"/>
              <a:t>In </a:t>
            </a:r>
            <a:r>
              <a:rPr lang="en-US" sz="1800" dirty="0"/>
              <a:t>actual simulation nothing was changed, the change only affects methods used for cost evaluation</a:t>
            </a:r>
          </a:p>
          <a:p>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Tree>
    <p:extLst>
      <p:ext uri="{BB962C8B-B14F-4D97-AF65-F5344CB8AC3E}">
        <p14:creationId xmlns:p14="http://schemas.microsoft.com/office/powerpoint/2010/main" val="2906471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normAutofit fontScale="92500" lnSpcReduction="10000"/>
          </a:bodyPr>
          <a:lstStyle/>
          <a:p>
            <a:pPr fontAlgn="base"/>
            <a:r>
              <a:rPr lang="en-IE" dirty="0"/>
              <a:t>Class 4 vehicle on RD reference load;</a:t>
            </a:r>
            <a:r>
              <a:rPr lang="en-US" dirty="0"/>
              <a:t>​</a:t>
            </a:r>
          </a:p>
          <a:p>
            <a:pPr fontAlgn="base"/>
            <a:r>
              <a:rPr lang="en-IE" dirty="0"/>
              <a:t>Gearbox with direct gear (3% higher </a:t>
            </a:r>
            <a:r>
              <a:rPr lang="el-GR" dirty="0"/>
              <a:t>η</a:t>
            </a:r>
            <a:r>
              <a:rPr lang="en-IE" dirty="0"/>
              <a:t>) and overdrive;</a:t>
            </a:r>
            <a:br>
              <a:rPr lang="en-IE" dirty="0"/>
            </a:br>
            <a:br>
              <a:rPr lang="en-IE" dirty="0"/>
            </a:br>
            <a:br>
              <a:rPr lang="en-IE" dirty="0"/>
            </a:br>
            <a:br>
              <a:rPr lang="en-IE" dirty="0"/>
            </a:br>
            <a:br>
              <a:rPr lang="en-IE" dirty="0"/>
            </a:br>
            <a:br>
              <a:rPr lang="en-IE" dirty="0"/>
            </a:br>
            <a:br>
              <a:rPr lang="en-IE" dirty="0"/>
            </a:br>
            <a:endParaRPr lang="en-IE" dirty="0"/>
          </a:p>
          <a:p>
            <a:pPr fontAlgn="base"/>
            <a:r>
              <a:rPr lang="en-IE" dirty="0"/>
              <a:t>Much better results after the update compared to the previous implementation;</a:t>
            </a:r>
            <a:r>
              <a:rPr lang="en-US" dirty="0"/>
              <a:t>​</a:t>
            </a:r>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graphicFrame>
        <p:nvGraphicFramePr>
          <p:cNvPr id="5" name="Table 4"/>
          <p:cNvGraphicFramePr>
            <a:graphicFrameLocks noGrp="1"/>
          </p:cNvGraphicFramePr>
          <p:nvPr>
            <p:extLst>
              <p:ext uri="{D42A27DB-BD31-4B8C-83A1-F6EECF244321}">
                <p14:modId xmlns:p14="http://schemas.microsoft.com/office/powerpoint/2010/main" val="1481703761"/>
              </p:ext>
            </p:extLst>
          </p:nvPr>
        </p:nvGraphicFramePr>
        <p:xfrm>
          <a:off x="684558" y="2528760"/>
          <a:ext cx="6463538" cy="1920240"/>
        </p:xfrm>
        <a:graphic>
          <a:graphicData uri="http://schemas.openxmlformats.org/drawingml/2006/table">
            <a:tbl>
              <a:tblPr/>
              <a:tblGrid>
                <a:gridCol w="1015078">
                  <a:extLst>
                    <a:ext uri="{9D8B030D-6E8A-4147-A177-3AD203B41FA5}">
                      <a16:colId xmlns:a16="http://schemas.microsoft.com/office/drawing/2014/main" val="3257838502"/>
                    </a:ext>
                  </a:extLst>
                </a:gridCol>
                <a:gridCol w="1651870">
                  <a:extLst>
                    <a:ext uri="{9D8B030D-6E8A-4147-A177-3AD203B41FA5}">
                      <a16:colId xmlns:a16="http://schemas.microsoft.com/office/drawing/2014/main" val="3012404689"/>
                    </a:ext>
                  </a:extLst>
                </a:gridCol>
                <a:gridCol w="1755648">
                  <a:extLst>
                    <a:ext uri="{9D8B030D-6E8A-4147-A177-3AD203B41FA5}">
                      <a16:colId xmlns:a16="http://schemas.microsoft.com/office/drawing/2014/main" val="1743639116"/>
                    </a:ext>
                  </a:extLst>
                </a:gridCol>
                <a:gridCol w="2040942">
                  <a:extLst>
                    <a:ext uri="{9D8B030D-6E8A-4147-A177-3AD203B41FA5}">
                      <a16:colId xmlns:a16="http://schemas.microsoft.com/office/drawing/2014/main" val="2865279632"/>
                    </a:ext>
                  </a:extLst>
                </a:gridCol>
              </a:tblGrid>
              <a:tr h="241300">
                <a:tc>
                  <a:txBody>
                    <a:bodyPr/>
                    <a:lstStyle/>
                    <a:p>
                      <a:pPr algn="l" fontAlgn="base"/>
                      <a:r>
                        <a:rPr lang="en-IE" sz="1200" b="1" i="0" dirty="0">
                          <a:solidFill>
                            <a:srgbClr val="FFFFFF"/>
                          </a:solidFill>
                          <a:effectLst/>
                          <a:latin typeface="Arial" panose="020B0604020202020204" pitchFamily="34" charset="0"/>
                        </a:rPr>
                        <a:t>Test​</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dirty="0">
                          <a:solidFill>
                            <a:srgbClr val="FFFFFF"/>
                          </a:solidFill>
                          <a:effectLst/>
                          <a:latin typeface="Arial" panose="020B0604020202020204" pitchFamily="34" charset="0"/>
                        </a:rPr>
                        <a:t>Consumption [-]​</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Direct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Overdrive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extLst>
                  <a:ext uri="{0D108BD9-81ED-4DB2-BD59-A6C34878D82A}">
                    <a16:rowId xmlns:a16="http://schemas.microsoft.com/office/drawing/2014/main" val="4090357267"/>
                  </a:ext>
                </a:extLst>
              </a:tr>
              <a:tr h="241300">
                <a:tc>
                  <a:txBody>
                    <a:bodyPr/>
                    <a:lstStyle/>
                    <a:p>
                      <a:pPr algn="l" fontAlgn="base"/>
                      <a:r>
                        <a:rPr lang="en-IE" sz="1200" b="0" i="0" dirty="0">
                          <a:solidFill>
                            <a:srgbClr val="4D4D4D"/>
                          </a:solidFill>
                          <a:effectLst/>
                          <a:latin typeface="Arial" panose="020B0604020202020204" pitchFamily="34" charset="0"/>
                        </a:rPr>
                        <a:t>ICE ​</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l-GR" sz="1200" b="0" i="0" dirty="0">
                          <a:solidFill>
                            <a:srgbClr val="4D4D4D"/>
                          </a:solidFill>
                          <a:effectLst/>
                          <a:latin typeface="Arial" panose="020B0604020202020204" pitchFamily="34" charset="0"/>
                        </a:rPr>
                        <a:t>1​</a:t>
                      </a:r>
                      <a:endParaRPr lang="el-GR"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42%​</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26%​</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5070144"/>
                  </a:ext>
                </a:extLst>
              </a:tr>
              <a:tr h="241300">
                <a:tc>
                  <a:txBody>
                    <a:bodyPr/>
                    <a:lstStyle/>
                    <a:p>
                      <a:pPr algn="l" fontAlgn="base"/>
                      <a:r>
                        <a:rPr lang="en-IE" sz="1200" b="0" i="0" dirty="0">
                          <a:solidFill>
                            <a:srgbClr val="4D4D4D"/>
                          </a:solidFill>
                          <a:effectLst/>
                          <a:latin typeface="Arial" panose="020B0604020202020204" pitchFamily="34" charset="0"/>
                        </a:rPr>
                        <a:t>Direct + overdrive​</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0.965​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7%​</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68%​</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2145507768"/>
                  </a:ext>
                </a:extLst>
              </a:tr>
              <a:tr h="241300">
                <a:tc>
                  <a:txBody>
                    <a:bodyPr/>
                    <a:lstStyle/>
                    <a:p>
                      <a:pPr algn="l" fontAlgn="base"/>
                      <a:r>
                        <a:rPr lang="en-IE" sz="1200" b="0" i="0" dirty="0">
                          <a:solidFill>
                            <a:srgbClr val="4D4D4D"/>
                          </a:solidFill>
                          <a:effectLst/>
                          <a:latin typeface="Arial" panose="020B0604020202020204" pitchFamily="34" charset="0"/>
                        </a:rPr>
                        <a:t>Direct only​</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0.895​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78%​</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3046950323"/>
                  </a:ext>
                </a:extLst>
              </a:tr>
              <a:tr h="241300">
                <a:tc>
                  <a:txBody>
                    <a:bodyPr/>
                    <a:lstStyle/>
                    <a:p>
                      <a:pPr algn="l" fontAlgn="base"/>
                      <a:r>
                        <a:rPr lang="en-IE" sz="1200" b="0" i="0">
                          <a:solidFill>
                            <a:srgbClr val="4D4D4D"/>
                          </a:solidFill>
                          <a:effectLst/>
                          <a:latin typeface="Arial" panose="020B0604020202020204" pitchFamily="34" charset="0"/>
                        </a:rPr>
                        <a:t>Direct + overdrive​</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0.870​</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57%​</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12%​</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extLst>
                  <a:ext uri="{0D108BD9-81ED-4DB2-BD59-A6C34878D82A}">
                    <a16:rowId xmlns:a16="http://schemas.microsoft.com/office/drawing/2014/main" val="3539567919"/>
                  </a:ext>
                </a:extLst>
              </a:tr>
            </a:tbl>
          </a:graphicData>
        </a:graphic>
      </p:graphicFrame>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290441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IE" sz="2400" spc="-1" dirty="0">
                <a:solidFill>
                  <a:srgbClr val="990000"/>
                </a:solidFill>
                <a:latin typeface="Arial"/>
              </a:rPr>
              <a:t>Updated time-based with gear mode for AT (ENG only)​</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pPr fontAlgn="base"/>
            <a:r>
              <a:rPr lang="en-IE" dirty="0"/>
              <a:t>Several manufacturers reported that the TC can be briefly active in higher gears – mainly during gearshifts;​</a:t>
            </a:r>
          </a:p>
          <a:p>
            <a:pPr fontAlgn="base"/>
            <a:r>
              <a:rPr lang="en-IE" dirty="0"/>
              <a:t>Allow input of "TC active" signal in </a:t>
            </a:r>
            <a:r>
              <a:rPr lang="en-IE" dirty="0" err="1"/>
              <a:t>vdri</a:t>
            </a:r>
            <a:r>
              <a:rPr lang="en-IE" dirty="0"/>
              <a:t> in this mode;​</a:t>
            </a:r>
          </a:p>
          <a:p>
            <a:pPr fontAlgn="base"/>
            <a:r>
              <a:rPr lang="en-IE" dirty="0"/>
              <a:t>Changes apply only in engineering mode. </a:t>
            </a:r>
            <a:r>
              <a:rPr lang="en-IE"/>
              <a:t>Included in the upcoming DEV release;​</a:t>
            </a:r>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42695162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usable SOC range</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Actual SOC range used for simulation is determined according to 3 elements:</a:t>
            </a:r>
          </a:p>
          <a:p>
            <a:pPr lvl="1"/>
            <a:r>
              <a:rPr lang="en-US" sz="1600" dirty="0"/>
              <a:t>Generic SOC range for new vehicle</a:t>
            </a:r>
          </a:p>
          <a:p>
            <a:pPr lvl="2"/>
            <a:r>
              <a:rPr lang="en-US" sz="1400" dirty="0"/>
              <a:t>Defined separately for PEV, OVC-HEV, Non-OVC-HEV (NOVC-HEV)</a:t>
            </a:r>
          </a:p>
          <a:p>
            <a:pPr lvl="1"/>
            <a:r>
              <a:rPr lang="en-US" sz="1600" dirty="0"/>
              <a:t>Declared SOC range for new vehicle acc. to Annex III (</a:t>
            </a:r>
            <a:r>
              <a:rPr lang="en-US" sz="1600" i="1" dirty="0"/>
              <a:t>P413 + P414</a:t>
            </a:r>
            <a:r>
              <a:rPr lang="en-US" sz="1600" dirty="0"/>
              <a:t>)</a:t>
            </a:r>
          </a:p>
          <a:p>
            <a:pPr lvl="1"/>
            <a:r>
              <a:rPr lang="en-US" sz="1600" dirty="0"/>
              <a:t>Deterioration factor applied for half of lifetime</a:t>
            </a:r>
          </a:p>
          <a:p>
            <a:pPr lvl="2"/>
            <a:r>
              <a:rPr lang="en-US" sz="1400" dirty="0"/>
              <a:t>Preliminary assumption: 5% decrease of usable SOC range</a:t>
            </a:r>
            <a:br>
              <a:rPr lang="en-US" sz="1400" dirty="0"/>
            </a:br>
            <a:r>
              <a:rPr lang="en-US" sz="1400" dirty="0"/>
              <a:t>(i.e. 0.95 x SOC-range of new vehicle)</a:t>
            </a:r>
          </a:p>
          <a:p>
            <a:pPr lvl="1"/>
            <a:r>
              <a:rPr lang="en-US" sz="1600" dirty="0"/>
              <a:t>Preliminary figures in table below:</a:t>
            </a:r>
            <a:br>
              <a:rPr lang="en-US" sz="1600" dirty="0"/>
            </a:br>
            <a:br>
              <a:rPr lang="en-US" sz="1600" dirty="0"/>
            </a:br>
            <a:br>
              <a:rPr lang="en-US" sz="1800" dirty="0"/>
            </a:br>
            <a:br>
              <a:rPr lang="en-US" sz="1800" dirty="0"/>
            </a:br>
            <a:endParaRPr lang="en-US" sz="1800" dirty="0"/>
          </a:p>
          <a:p>
            <a:r>
              <a:rPr lang="en-US" sz="1800" dirty="0"/>
              <a:t>Further discussions regarding final values ongoing</a:t>
            </a:r>
            <a:br>
              <a:rPr lang="en-US" sz="1800" dirty="0"/>
            </a:br>
            <a:r>
              <a:rPr lang="en-US" sz="1800" dirty="0">
                <a:sym typeface="Wingdings" panose="05000000000000000000" pitchFamily="2" charset="2"/>
              </a:rPr>
              <a:t> see separate agenda point</a:t>
            </a:r>
            <a:endParaRPr lang="en-GB" sz="14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pic>
        <p:nvPicPr>
          <p:cNvPr id="6" name="Grafik 5"/>
          <p:cNvPicPr>
            <a:picLocks noChangeAspect="1"/>
          </p:cNvPicPr>
          <p:nvPr/>
        </p:nvPicPr>
        <p:blipFill>
          <a:blip r:embed="rId2"/>
          <a:stretch>
            <a:fillRect/>
          </a:stretch>
        </p:blipFill>
        <p:spPr>
          <a:xfrm>
            <a:off x="71820" y="3786899"/>
            <a:ext cx="9000000" cy="830557"/>
          </a:xfrm>
          <a:prstGeom prst="rect">
            <a:avLst/>
          </a:prstGeom>
        </p:spPr>
      </p:pic>
    </p:spTree>
    <p:extLst>
      <p:ext uri="{BB962C8B-B14F-4D97-AF65-F5344CB8AC3E}">
        <p14:creationId xmlns:p14="http://schemas.microsoft.com/office/powerpoint/2010/main" val="2067660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fr-FR" sz="2400" spc="-1" dirty="0" err="1">
                <a:solidFill>
                  <a:srgbClr val="990000"/>
                </a:solidFill>
                <a:latin typeface="Arial"/>
              </a:rPr>
              <a:t>Separate</a:t>
            </a:r>
            <a:r>
              <a:rPr lang="fr-FR" sz="2400" spc="-1" dirty="0">
                <a:solidFill>
                  <a:srgbClr val="990000"/>
                </a:solidFill>
                <a:latin typeface="Arial"/>
              </a:rPr>
              <a:t> </a:t>
            </a:r>
            <a:r>
              <a:rPr lang="fr-FR" sz="2400" spc="-1" dirty="0" err="1">
                <a:solidFill>
                  <a:srgbClr val="990000"/>
                </a:solidFill>
                <a:latin typeface="Arial"/>
              </a:rPr>
              <a:t>approach</a:t>
            </a:r>
            <a:r>
              <a:rPr lang="fr-FR" sz="2400" spc="-1" dirty="0">
                <a:solidFill>
                  <a:srgbClr val="990000"/>
                </a:solidFill>
                <a:latin typeface="Arial"/>
              </a:rPr>
              <a:t> „CD mode“ simulation</a:t>
            </a:r>
          </a:p>
        </p:txBody>
      </p:sp>
      <p:sp>
        <p:nvSpPr>
          <p:cNvPr id="3" name="Inhaltsplatzhalter 2"/>
          <p:cNvSpPr>
            <a:spLocks noGrp="1"/>
          </p:cNvSpPr>
          <p:nvPr>
            <p:ph idx="1"/>
          </p:nvPr>
        </p:nvSpPr>
        <p:spPr/>
        <p:txBody>
          <a:bodyPr/>
          <a:lstStyle/>
          <a:p>
            <a:r>
              <a:rPr lang="en-US" sz="1800" dirty="0"/>
              <a:t>„Frozen“ SOC (infinity battery) at „</a:t>
            </a:r>
            <a:r>
              <a:rPr lang="en-US" sz="1800" dirty="0" err="1"/>
              <a:t>SOC</a:t>
            </a:r>
            <a:r>
              <a:rPr lang="en-US" sz="1800" baseline="-25000" dirty="0" err="1"/>
              <a:t>center</a:t>
            </a:r>
            <a:r>
              <a:rPr lang="en-US" sz="1800" dirty="0"/>
              <a:t>“ applied</a:t>
            </a:r>
            <a:br>
              <a:rPr lang="en-US" sz="1800" dirty="0"/>
            </a:br>
            <a:r>
              <a:rPr lang="en-US" sz="1800" dirty="0"/>
              <a:t>(i.e. average of actual </a:t>
            </a:r>
            <a:r>
              <a:rPr lang="en-US" sz="1800" dirty="0" err="1"/>
              <a:t>SOC</a:t>
            </a:r>
            <a:r>
              <a:rPr lang="en-US" sz="1800" baseline="-25000" dirty="0" err="1"/>
              <a:t>max</a:t>
            </a:r>
            <a:r>
              <a:rPr lang="en-US" sz="1800" dirty="0"/>
              <a:t> and </a:t>
            </a:r>
            <a:r>
              <a:rPr lang="en-US" sz="1800" dirty="0" err="1"/>
              <a:t>SOC</a:t>
            </a:r>
            <a:r>
              <a:rPr lang="en-US" sz="1800" baseline="-25000" dirty="0" err="1"/>
              <a:t>min</a:t>
            </a:r>
            <a:r>
              <a:rPr lang="en-US" sz="1800" dirty="0"/>
              <a:t>)</a:t>
            </a:r>
            <a:br>
              <a:rPr lang="en-US" sz="1800" dirty="0"/>
            </a:br>
            <a:r>
              <a:rPr lang="en-US" sz="1800" i="1" dirty="0">
                <a:sym typeface="Wingdings" panose="05000000000000000000" pitchFamily="2" charset="2"/>
              </a:rPr>
              <a:t> see previous slide</a:t>
            </a:r>
            <a:br>
              <a:rPr lang="en-US" sz="1800" dirty="0"/>
            </a:br>
            <a:endParaRPr lang="en-US" sz="800" dirty="0"/>
          </a:p>
          <a:p>
            <a:r>
              <a:rPr lang="en-US" sz="1800" dirty="0"/>
              <a:t>GUI feature to set frozen SOC to other</a:t>
            </a:r>
            <a:br>
              <a:rPr lang="en-US" sz="1800" dirty="0"/>
            </a:br>
            <a:r>
              <a:rPr lang="en-US" sz="1800" dirty="0"/>
              <a:t>values than „center SOC“ (</a:t>
            </a:r>
            <a:r>
              <a:rPr lang="en-US" sz="1800" i="1" dirty="0"/>
              <a:t>see figure</a:t>
            </a:r>
            <a:r>
              <a:rPr lang="en-US" sz="1800" dirty="0"/>
              <a:t>)</a:t>
            </a:r>
          </a:p>
          <a:p>
            <a:pPr lvl="1"/>
            <a:r>
              <a:rPr lang="en-US" sz="1400" dirty="0"/>
              <a:t>Value needs to be between actual </a:t>
            </a:r>
            <a:r>
              <a:rPr lang="en-US" sz="1400" dirty="0" err="1"/>
              <a:t>SOC</a:t>
            </a:r>
            <a:r>
              <a:rPr lang="en-US" sz="1400" baseline="-25000" dirty="0" err="1"/>
              <a:t>max</a:t>
            </a:r>
            <a:r>
              <a:rPr lang="en-US" sz="1400" dirty="0"/>
              <a:t> and </a:t>
            </a:r>
            <a:r>
              <a:rPr lang="en-US" sz="1400" dirty="0" err="1"/>
              <a:t>SOC</a:t>
            </a:r>
            <a:r>
              <a:rPr lang="en-US" sz="1400" baseline="-25000" dirty="0" err="1"/>
              <a:t>min</a:t>
            </a:r>
            <a:br>
              <a:rPr lang="en-US" sz="1400" baseline="-25000" dirty="0"/>
            </a:br>
            <a:r>
              <a:rPr lang="en-US" sz="1400" dirty="0"/>
              <a:t>for each individual battery installed</a:t>
            </a:r>
            <a:br>
              <a:rPr lang="en-US" sz="1400" dirty="0"/>
            </a:br>
            <a:endParaRPr lang="en-US" sz="800" dirty="0"/>
          </a:p>
          <a:p>
            <a:r>
              <a:rPr lang="en-US" sz="1800" dirty="0"/>
              <a:t>Influence factors on result:</a:t>
            </a:r>
          </a:p>
          <a:p>
            <a:pPr lvl="1"/>
            <a:r>
              <a:rPr lang="en-US" sz="1400" dirty="0"/>
              <a:t>Limitation of maximum battery power = f(SOC)</a:t>
            </a:r>
          </a:p>
          <a:p>
            <a:pPr lvl="1"/>
            <a:r>
              <a:rPr lang="en-US" sz="1400" dirty="0"/>
              <a:t>Internal resistance = f(SOC) (i.e. battery losses)</a:t>
            </a:r>
            <a:br>
              <a:rPr lang="en-US" sz="1400" dirty="0"/>
            </a:br>
            <a:endParaRPr lang="en-US" sz="1400" dirty="0"/>
          </a:p>
          <a:p>
            <a:r>
              <a:rPr lang="en-US" sz="1800" dirty="0"/>
              <a:t>Discussions ongoing which SOC level(s) shall be considered for final method</a:t>
            </a:r>
            <a:br>
              <a:rPr lang="en-US" sz="1800" dirty="0"/>
            </a:br>
            <a:r>
              <a:rPr lang="en-US" sz="1800" dirty="0">
                <a:sym typeface="Wingdings" panose="05000000000000000000" pitchFamily="2" charset="2"/>
              </a:rPr>
              <a:t> see separate agenda point</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grpSp>
        <p:nvGrpSpPr>
          <p:cNvPr id="11" name="Gruppieren 10"/>
          <p:cNvGrpSpPr/>
          <p:nvPr/>
        </p:nvGrpSpPr>
        <p:grpSpPr>
          <a:xfrm>
            <a:off x="6030098" y="2424132"/>
            <a:ext cx="2841799" cy="2201002"/>
            <a:chOff x="5591432" y="2230402"/>
            <a:chExt cx="2841799" cy="2201002"/>
          </a:xfrm>
        </p:grpSpPr>
        <p:pic>
          <p:nvPicPr>
            <p:cNvPr id="7" name="Grafik 6"/>
            <p:cNvPicPr>
              <a:picLocks noChangeAspect="1"/>
            </p:cNvPicPr>
            <p:nvPr/>
          </p:nvPicPr>
          <p:blipFill>
            <a:blip r:embed="rId2"/>
            <a:stretch>
              <a:fillRect/>
            </a:stretch>
          </p:blipFill>
          <p:spPr>
            <a:xfrm>
              <a:off x="5591432" y="2230402"/>
              <a:ext cx="2841799" cy="2201002"/>
            </a:xfrm>
            <a:prstGeom prst="rect">
              <a:avLst/>
            </a:prstGeom>
          </p:spPr>
        </p:pic>
        <p:sp>
          <p:nvSpPr>
            <p:cNvPr id="8" name="Ellipse 7"/>
            <p:cNvSpPr/>
            <p:nvPr/>
          </p:nvSpPr>
          <p:spPr>
            <a:xfrm>
              <a:off x="6000069" y="2485103"/>
              <a:ext cx="551333" cy="178207"/>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9" name="Ellipse 8"/>
            <p:cNvSpPr/>
            <p:nvPr/>
          </p:nvSpPr>
          <p:spPr>
            <a:xfrm>
              <a:off x="6513822" y="3797122"/>
              <a:ext cx="1889702" cy="18897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Ellipse 9"/>
            <p:cNvSpPr/>
            <p:nvPr/>
          </p:nvSpPr>
          <p:spPr>
            <a:xfrm>
              <a:off x="7798907" y="4043837"/>
              <a:ext cx="551333" cy="23778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2752078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PEV:</a:t>
            </a:r>
          </a:p>
          <a:p>
            <a:pPr lvl="1"/>
            <a:r>
              <a:rPr lang="de-AT" sz="1600" dirty="0" err="1"/>
              <a:t>Only</a:t>
            </a:r>
            <a:r>
              <a:rPr lang="de-AT" sz="1600" dirty="0"/>
              <a:t> </a:t>
            </a:r>
            <a:r>
              <a:rPr lang="de-AT" sz="1600" dirty="0" err="1"/>
              <a:t>re-charging</a:t>
            </a:r>
            <a:r>
              <a:rPr lang="de-AT" sz="1600" dirty="0"/>
              <a:t> in </a:t>
            </a:r>
            <a:r>
              <a:rPr lang="de-AT" sz="1600" dirty="0" err="1"/>
              <a:t>depot</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r>
              <a:rPr lang="de-AT" sz="1600" dirty="0"/>
              <a:t>(</a:t>
            </a:r>
            <a:r>
              <a:rPr lang="de-AT" sz="1600" dirty="0" err="1"/>
              <a:t>since</a:t>
            </a:r>
            <a:r>
              <a:rPr lang="de-AT" sz="1600" dirty="0"/>
              <a:t> </a:t>
            </a:r>
            <a:r>
              <a:rPr lang="de-AT" sz="1600" dirty="0" err="1"/>
              <a:t>no</a:t>
            </a:r>
            <a:r>
              <a:rPr lang="de-AT" sz="1600" dirty="0"/>
              <a:t> </a:t>
            </a:r>
            <a:r>
              <a:rPr lang="de-AT" sz="1600" dirty="0" err="1"/>
              <a:t>detailled</a:t>
            </a:r>
            <a:r>
              <a:rPr lang="de-AT" sz="1600" dirty="0"/>
              <a:t> </a:t>
            </a:r>
            <a:r>
              <a:rPr lang="de-AT" sz="1600" dirty="0" err="1"/>
              <a:t>information</a:t>
            </a:r>
            <a:r>
              <a:rPr lang="de-AT" sz="1600" dirty="0"/>
              <a:t> in </a:t>
            </a:r>
            <a:r>
              <a:rPr lang="de-AT" sz="1600" dirty="0" err="1"/>
              <a:t>charging</a:t>
            </a:r>
            <a:r>
              <a:rPr lang="de-AT" sz="1600" dirty="0"/>
              <a:t> </a:t>
            </a:r>
            <a:r>
              <a:rPr lang="de-AT" sz="1600" dirty="0" err="1"/>
              <a:t>behaviour</a:t>
            </a:r>
            <a:r>
              <a:rPr lang="de-AT" sz="1600" dirty="0"/>
              <a:t> </a:t>
            </a:r>
            <a:r>
              <a:rPr lang="de-AT" sz="1600" dirty="0" err="1"/>
              <a:t>is</a:t>
            </a:r>
            <a:r>
              <a:rPr lang="de-AT" sz="1600" dirty="0"/>
              <a:t> </a:t>
            </a:r>
            <a:r>
              <a:rPr lang="de-AT" sz="1600" dirty="0" err="1"/>
              <a:t>available</a:t>
            </a:r>
            <a:r>
              <a:rPr lang="de-AT" sz="1600" dirty="0"/>
              <a:t>)</a:t>
            </a:r>
            <a:br>
              <a:rPr lang="de-AT" sz="1600" dirty="0"/>
            </a:br>
            <a:endParaRPr lang="de-AT" sz="1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by</a:t>
            </a:r>
            <a:r>
              <a:rPr lang="de-AT" sz="1600" dirty="0"/>
              <a:t> </a:t>
            </a:r>
            <a:r>
              <a:rPr lang="de-AT" sz="1600" dirty="0" err="1"/>
              <a:t>following</a:t>
            </a:r>
            <a:r>
              <a:rPr lang="de-AT" sz="1600" dirty="0"/>
              <a:t> </a:t>
            </a:r>
            <a:r>
              <a:rPr lang="de-AT" sz="1600" dirty="0" err="1"/>
              <a:t>equation</a:t>
            </a:r>
            <a:r>
              <a:rPr lang="de-AT" sz="1600" dirty="0"/>
              <a:t>: </a:t>
            </a:r>
            <a:br>
              <a:rPr lang="de-AT" sz="1600" dirty="0"/>
            </a:br>
            <a:r>
              <a:rPr lang="de-AT" sz="1600" dirty="0"/>
              <a:t>nominal </a:t>
            </a:r>
            <a:r>
              <a:rPr lang="de-AT" sz="1600" dirty="0" err="1"/>
              <a:t>charging</a:t>
            </a:r>
            <a:r>
              <a:rPr lang="de-AT" sz="1600" dirty="0"/>
              <a:t> power in kW = </a:t>
            </a:r>
            <a:r>
              <a:rPr lang="de-AT" sz="1600" b="1" i="1" dirty="0"/>
              <a:t>m</a:t>
            </a:r>
            <a:r>
              <a:rPr lang="en-US" sz="1600" b="1" i="1" dirty="0"/>
              <a:t>ax(10, (usable SOC in kWh) / 6h)</a:t>
            </a:r>
          </a:p>
          <a:p>
            <a:pPr lvl="2"/>
            <a:r>
              <a:rPr lang="en-US" sz="1400" dirty="0"/>
              <a:t>Usable SOC is determined by integration of OCV-data from actual </a:t>
            </a:r>
            <a:r>
              <a:rPr lang="en-US" sz="1400" dirty="0" err="1"/>
              <a:t>SOC</a:t>
            </a:r>
            <a:r>
              <a:rPr lang="en-US" sz="1400" baseline="-25000" dirty="0" err="1"/>
              <a:t>min</a:t>
            </a:r>
            <a:r>
              <a:rPr lang="en-US" sz="1400" dirty="0"/>
              <a:t> to </a:t>
            </a:r>
            <a:r>
              <a:rPr lang="en-US" sz="1400" dirty="0" err="1"/>
              <a:t>SOC</a:t>
            </a:r>
            <a:r>
              <a:rPr lang="en-US" sz="1400" baseline="-25000" dirty="0" err="1"/>
              <a:t>max</a:t>
            </a:r>
            <a:br>
              <a:rPr lang="en-US" sz="1400" baseline="-25000"/>
            </a:br>
            <a:endParaRPr lang="en-US" sz="1400" baseline="-25000" dirty="0"/>
          </a:p>
          <a:p>
            <a:pPr lvl="1"/>
            <a:r>
              <a:rPr lang="en-US" sz="1600" dirty="0"/>
              <a:t>Charging efficiency is determined as follows:</a:t>
            </a:r>
          </a:p>
          <a:p>
            <a:pPr lvl="2"/>
            <a:r>
              <a:rPr lang="en-US" sz="1400" dirty="0"/>
              <a:t>Nominal charging current:</a:t>
            </a:r>
            <a:br>
              <a:rPr lang="en-US" sz="1400" dirty="0"/>
            </a:br>
            <a:r>
              <a:rPr lang="en-US" sz="1400" dirty="0"/>
              <a:t>Charging power above is divided by OCV at </a:t>
            </a:r>
            <a:r>
              <a:rPr lang="en-US" sz="1400" dirty="0" err="1"/>
              <a:t>SOC</a:t>
            </a:r>
            <a:r>
              <a:rPr lang="en-US" sz="1400" baseline="-25000" dirty="0" err="1"/>
              <a:t>center</a:t>
            </a:r>
            <a:r>
              <a:rPr lang="en-US" sz="1400" dirty="0"/>
              <a:t> </a:t>
            </a:r>
            <a:r>
              <a:rPr lang="en-US" sz="1100" dirty="0"/>
              <a:t>(i.e. average of actual </a:t>
            </a:r>
            <a:r>
              <a:rPr lang="en-US" sz="1100" dirty="0" err="1"/>
              <a:t>SOC</a:t>
            </a:r>
            <a:r>
              <a:rPr lang="en-US" sz="1100" baseline="-25000" dirty="0" err="1"/>
              <a:t>max</a:t>
            </a:r>
            <a:r>
              <a:rPr lang="en-US" sz="1100" dirty="0"/>
              <a:t> and </a:t>
            </a:r>
            <a:r>
              <a:rPr lang="en-US" sz="1100" dirty="0" err="1"/>
              <a:t>SOC</a:t>
            </a:r>
            <a:r>
              <a:rPr lang="en-US" sz="1100" baseline="-25000" dirty="0" err="1"/>
              <a:t>min</a:t>
            </a:r>
            <a:r>
              <a:rPr lang="en-US" sz="1100" dirty="0"/>
              <a:t>)</a:t>
            </a:r>
            <a:endParaRPr lang="en-US" sz="1400" baseline="-25000" dirty="0"/>
          </a:p>
          <a:p>
            <a:pPr lvl="2"/>
            <a:r>
              <a:rPr lang="en-US" sz="1400" dirty="0"/>
              <a:t>Charging losses: nominal charging current and internal resistance at </a:t>
            </a:r>
            <a:r>
              <a:rPr lang="en-US" sz="1400" dirty="0" err="1"/>
              <a:t>SOC</a:t>
            </a:r>
            <a:r>
              <a:rPr lang="en-US" sz="1400" baseline="-25000" dirty="0" err="1"/>
              <a:t>center</a:t>
            </a:r>
            <a:r>
              <a:rPr lang="en-US" sz="1400" dirty="0"/>
              <a:t> </a:t>
            </a:r>
          </a:p>
          <a:p>
            <a:pPr lvl="2"/>
            <a:r>
              <a:rPr lang="de-AT" sz="1400"/>
              <a:t>Charging efficiency: 1 – (charging losses / charging power)</a:t>
            </a:r>
            <a:endParaRPr lang="de-AT"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Tree>
    <p:extLst>
      <p:ext uri="{BB962C8B-B14F-4D97-AF65-F5344CB8AC3E}">
        <p14:creationId xmlns:p14="http://schemas.microsoft.com/office/powerpoint/2010/main" val="2514933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p>
          <a:p>
            <a:pPr lvl="1"/>
            <a:r>
              <a:rPr lang="de-AT" sz="1600" dirty="0" err="1"/>
              <a:t>Charging</a:t>
            </a:r>
            <a:r>
              <a:rPr lang="de-AT" sz="1600" dirty="0"/>
              <a:t> in </a:t>
            </a:r>
            <a:r>
              <a:rPr lang="de-AT" sz="1600" b="1" u="sng" dirty="0" err="1"/>
              <a:t>depot</a:t>
            </a:r>
            <a:r>
              <a:rPr lang="de-AT" sz="1600" dirty="0"/>
              <a:t> </a:t>
            </a:r>
            <a:r>
              <a:rPr lang="de-AT" sz="1600" dirty="0" err="1"/>
              <a:t>as</a:t>
            </a:r>
            <a:r>
              <a:rPr lang="de-AT" sz="1600" dirty="0"/>
              <a:t> </a:t>
            </a:r>
            <a:r>
              <a:rPr lang="de-AT" sz="1600" dirty="0" err="1"/>
              <a:t>well</a:t>
            </a:r>
            <a:r>
              <a:rPr lang="de-AT" sz="1600" dirty="0"/>
              <a:t> </a:t>
            </a:r>
            <a:r>
              <a:rPr lang="de-AT" sz="1600" dirty="0" err="1"/>
              <a:t>as</a:t>
            </a:r>
            <a:r>
              <a:rPr lang="de-AT" sz="1600" dirty="0"/>
              <a:t> </a:t>
            </a:r>
            <a:r>
              <a:rPr lang="de-AT" sz="1600" b="1" u="sng" dirty="0" err="1"/>
              <a:t>stationary</a:t>
            </a:r>
            <a:r>
              <a:rPr lang="de-AT" sz="1600" b="1" u="sng" dirty="0"/>
              <a:t> </a:t>
            </a:r>
            <a:r>
              <a:rPr lang="de-AT" sz="1600" b="1" u="sng" dirty="0" err="1"/>
              <a:t>during</a:t>
            </a:r>
            <a:r>
              <a:rPr lang="de-AT" sz="1600" b="1" u="sng" dirty="0"/>
              <a:t> </a:t>
            </a:r>
            <a:r>
              <a:rPr lang="de-AT" sz="1600" b="1" u="sng" dirty="0" err="1"/>
              <a:t>mission</a:t>
            </a:r>
            <a:r>
              <a:rPr lang="de-AT" sz="1600" dirty="0"/>
              <a:t> (</a:t>
            </a:r>
            <a:r>
              <a:rPr lang="de-AT" sz="1600" dirty="0" err="1"/>
              <a:t>acc</a:t>
            </a:r>
            <a:r>
              <a:rPr lang="de-AT" sz="1600" dirty="0"/>
              <a:t>. </a:t>
            </a:r>
            <a:r>
              <a:rPr lang="de-AT" sz="1600" dirty="0" err="1"/>
              <a:t>to</a:t>
            </a:r>
            <a:r>
              <a:rPr lang="de-AT" sz="1600" dirty="0"/>
              <a:t> </a:t>
            </a:r>
            <a:r>
              <a:rPr lang="de-AT" sz="1600" dirty="0" err="1"/>
              <a:t>generic</a:t>
            </a:r>
            <a:r>
              <a:rPr lang="de-AT" sz="1600" dirty="0"/>
              <a:t> </a:t>
            </a:r>
            <a:r>
              <a:rPr lang="de-AT" sz="1600" dirty="0" err="1"/>
              <a:t>usage</a:t>
            </a:r>
            <a:r>
              <a:rPr lang="de-AT" sz="1600" dirty="0"/>
              <a:t> </a:t>
            </a:r>
            <a:r>
              <a:rPr lang="de-AT" sz="1600" dirty="0" err="1"/>
              <a:t>data</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endParaRPr lang="de-AT" sz="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as</a:t>
            </a:r>
            <a:r>
              <a:rPr lang="de-AT" sz="1600" dirty="0"/>
              <a:t> </a:t>
            </a:r>
            <a:r>
              <a:rPr lang="de-AT" sz="1600" dirty="0" err="1"/>
              <a:t>follows</a:t>
            </a:r>
            <a:r>
              <a:rPr lang="de-AT" sz="1600" dirty="0"/>
              <a:t>: </a:t>
            </a:r>
          </a:p>
          <a:p>
            <a:pPr lvl="2"/>
            <a:r>
              <a:rPr lang="de-AT" sz="1400" b="1" u="sng" dirty="0"/>
              <a:t>Depot:</a:t>
            </a:r>
            <a:r>
              <a:rPr lang="de-AT" sz="1400" dirty="0"/>
              <a:t> </a:t>
            </a:r>
          </a:p>
          <a:p>
            <a:pPr lvl="3"/>
            <a:r>
              <a:rPr lang="de-AT" sz="1200" dirty="0"/>
              <a:t>same </a:t>
            </a:r>
            <a:r>
              <a:rPr lang="de-AT" sz="1200" dirty="0" err="1"/>
              <a:t>as</a:t>
            </a:r>
            <a:r>
              <a:rPr lang="de-AT" sz="1200" dirty="0"/>
              <a:t> </a:t>
            </a:r>
            <a:r>
              <a:rPr lang="de-AT" sz="1200" dirty="0" err="1"/>
              <a:t>for</a:t>
            </a:r>
            <a:r>
              <a:rPr lang="de-AT" sz="1200" dirty="0"/>
              <a:t> PEV (</a:t>
            </a:r>
            <a:r>
              <a:rPr lang="de-AT" sz="1200" dirty="0" err="1"/>
              <a:t>see</a:t>
            </a:r>
            <a:r>
              <a:rPr lang="de-AT" sz="1200" dirty="0"/>
              <a:t> </a:t>
            </a:r>
            <a:r>
              <a:rPr lang="de-AT" sz="1200" dirty="0" err="1"/>
              <a:t>previous</a:t>
            </a:r>
            <a:r>
              <a:rPr lang="de-AT" sz="1200" dirty="0"/>
              <a:t> </a:t>
            </a:r>
            <a:r>
              <a:rPr lang="de-AT" sz="1200" dirty="0" err="1"/>
              <a:t>slide</a:t>
            </a:r>
            <a:r>
              <a:rPr lang="de-AT" sz="1200" dirty="0"/>
              <a:t>)</a:t>
            </a:r>
          </a:p>
          <a:p>
            <a:pPr lvl="3"/>
            <a:r>
              <a:rPr lang="de-AT" sz="1200" dirty="0"/>
              <a:t>but 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r>
              <a:rPr lang="de-AT" sz="1200" dirty="0"/>
              <a:t> </a:t>
            </a:r>
            <a:br>
              <a:rPr lang="de-AT" sz="1200" dirty="0"/>
            </a:br>
            <a:endParaRPr lang="de-AT" sz="600" dirty="0"/>
          </a:p>
          <a:p>
            <a:pPr lvl="2"/>
            <a:r>
              <a:rPr lang="de-AT" sz="1400" b="1" u="sng" dirty="0" err="1"/>
              <a:t>Stationary</a:t>
            </a:r>
            <a:r>
              <a:rPr lang="de-AT" sz="1400" b="1" u="sng" dirty="0"/>
              <a:t> </a:t>
            </a:r>
            <a:r>
              <a:rPr lang="de-AT" sz="1400" b="1" u="sng" dirty="0" err="1"/>
              <a:t>during</a:t>
            </a:r>
            <a:r>
              <a:rPr lang="de-AT" sz="1400" b="1" u="sng" dirty="0"/>
              <a:t> </a:t>
            </a:r>
            <a:r>
              <a:rPr lang="de-AT" sz="1400" b="1" u="sng" dirty="0" err="1"/>
              <a:t>mission</a:t>
            </a:r>
            <a:r>
              <a:rPr lang="de-AT" sz="1400" b="1" u="sng" dirty="0"/>
              <a:t>:</a:t>
            </a:r>
            <a:r>
              <a:rPr lang="de-AT" sz="1400" dirty="0"/>
              <a:t> </a:t>
            </a:r>
          </a:p>
          <a:p>
            <a:pPr lvl="3"/>
            <a:r>
              <a:rPr lang="de-AT" sz="1200" dirty="0" err="1"/>
              <a:t>determined</a:t>
            </a:r>
            <a:r>
              <a:rPr lang="de-AT" sz="1200" dirty="0"/>
              <a:t> </a:t>
            </a:r>
            <a:r>
              <a:rPr lang="de-AT" sz="1200" dirty="0" err="1"/>
              <a:t>from</a:t>
            </a:r>
            <a:r>
              <a:rPr lang="de-AT" sz="1200" dirty="0"/>
              <a:t> </a:t>
            </a:r>
            <a:r>
              <a:rPr lang="en-US" sz="1200" dirty="0"/>
              <a:t>matrix of generic usage data as already defined for OVC-UF calculation (function of vehicle group and mission profile)</a:t>
            </a:r>
          </a:p>
          <a:p>
            <a:pPr lvl="3"/>
            <a:r>
              <a:rPr lang="de-AT" sz="1200" dirty="0"/>
              <a:t>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br>
              <a:rPr lang="en-US" sz="1200" i="1" dirty="0"/>
            </a:br>
            <a:r>
              <a:rPr lang="en-US" sz="400" b="1" u="sng" dirty="0"/>
              <a:t> </a:t>
            </a:r>
            <a:endParaRPr lang="de-AT" sz="600" b="1" u="sng" dirty="0"/>
          </a:p>
          <a:p>
            <a:pPr lvl="1"/>
            <a:r>
              <a:rPr lang="en-US" sz="1600" dirty="0"/>
              <a:t>2 separate values of charging efficiency determined as described on previous slide</a:t>
            </a:r>
          </a:p>
          <a:p>
            <a:pPr lvl="2"/>
            <a:r>
              <a:rPr lang="de-AT" sz="1400" dirty="0">
                <a:sym typeface="Wingdings" panose="05000000000000000000" pitchFamily="2" charset="2"/>
              </a:rPr>
              <a:t> </a:t>
            </a:r>
            <a:r>
              <a:rPr lang="de-AT" sz="1400" dirty="0" err="1">
                <a:sym typeface="Wingdings" panose="05000000000000000000" pitchFamily="2" charset="2"/>
              </a:rPr>
              <a:t>weighted</a:t>
            </a:r>
            <a:r>
              <a:rPr lang="de-AT" sz="1400" dirty="0">
                <a:sym typeface="Wingdings" panose="05000000000000000000" pitchFamily="2" charset="2"/>
              </a:rPr>
              <a:t> </a:t>
            </a:r>
            <a:r>
              <a:rPr lang="de-AT" sz="1400" dirty="0" err="1">
                <a:sym typeface="Wingdings" panose="05000000000000000000" pitchFamily="2" charset="2"/>
              </a:rPr>
              <a:t>averaging</a:t>
            </a:r>
            <a:r>
              <a:rPr lang="de-AT" sz="1400" dirty="0">
                <a:sym typeface="Wingdings" panose="05000000000000000000" pitchFamily="2" charset="2"/>
              </a:rPr>
              <a:t> </a:t>
            </a:r>
            <a:r>
              <a:rPr lang="de-AT" sz="1400" dirty="0" err="1">
                <a:sym typeface="Wingdings" panose="05000000000000000000" pitchFamily="2" charset="2"/>
              </a:rPr>
              <a:t>by</a:t>
            </a:r>
            <a:r>
              <a:rPr lang="de-AT" sz="1400" dirty="0">
                <a:sym typeface="Wingdings" panose="05000000000000000000" pitchFamily="2" charset="2"/>
              </a:rPr>
              <a:t> </a:t>
            </a:r>
            <a:r>
              <a:rPr lang="de-AT" sz="1400" dirty="0" err="1">
                <a:sym typeface="Wingdings" panose="05000000000000000000" pitchFamily="2" charset="2"/>
              </a:rPr>
              <a:t>amount</a:t>
            </a:r>
            <a:r>
              <a:rPr lang="de-AT" sz="1400" dirty="0">
                <a:sym typeface="Wingdings" panose="05000000000000000000" pitchFamily="2" charset="2"/>
              </a:rPr>
              <a:t> </a:t>
            </a:r>
            <a:r>
              <a:rPr lang="de-AT" sz="1400" dirty="0" err="1">
                <a:sym typeface="Wingdings" panose="05000000000000000000" pitchFamily="2" charset="2"/>
              </a:rPr>
              <a:t>of</a:t>
            </a:r>
            <a:r>
              <a:rPr lang="de-AT" sz="1400" dirty="0">
                <a:sym typeface="Wingdings" panose="05000000000000000000" pitchFamily="2" charset="2"/>
              </a:rPr>
              <a:t> </a:t>
            </a:r>
            <a:r>
              <a:rPr lang="de-AT" sz="1400" dirty="0" err="1">
                <a:sym typeface="Wingdings" panose="05000000000000000000" pitchFamily="2" charset="2"/>
              </a:rPr>
              <a:t>charged</a:t>
            </a:r>
            <a:r>
              <a:rPr lang="de-AT" sz="1400" dirty="0">
                <a:sym typeface="Wingdings" panose="05000000000000000000" pitchFamily="2" charset="2"/>
              </a:rPr>
              <a:t> </a:t>
            </a:r>
            <a:r>
              <a:rPr lang="de-AT" sz="1400" dirty="0" err="1">
                <a:sym typeface="Wingdings" panose="05000000000000000000" pitchFamily="2" charset="2"/>
              </a:rPr>
              <a:t>energy</a:t>
            </a:r>
            <a:r>
              <a:rPr lang="de-AT" sz="1400" dirty="0">
                <a:sym typeface="Wingdings" panose="05000000000000000000" pitchFamily="2" charset="2"/>
              </a:rPr>
              <a:t> </a:t>
            </a:r>
            <a:r>
              <a:rPr lang="de-AT" sz="1400" dirty="0" err="1">
                <a:sym typeface="Wingdings" panose="05000000000000000000" pitchFamily="2" charset="2"/>
              </a:rPr>
              <a:t>for</a:t>
            </a:r>
            <a:r>
              <a:rPr lang="de-AT" sz="1400" dirty="0">
                <a:sym typeface="Wingdings" panose="05000000000000000000" pitchFamily="2" charset="2"/>
              </a:rPr>
              <a:t> </a:t>
            </a:r>
            <a:r>
              <a:rPr lang="de-AT" sz="1400" dirty="0" err="1">
                <a:sym typeface="Wingdings" panose="05000000000000000000" pitchFamily="2" charset="2"/>
              </a:rPr>
              <a:t>depot</a:t>
            </a:r>
            <a:r>
              <a:rPr lang="de-AT" sz="1400" dirty="0">
                <a:sym typeface="Wingdings" panose="05000000000000000000" pitchFamily="2" charset="2"/>
              </a:rPr>
              <a:t> </a:t>
            </a:r>
            <a:r>
              <a:rPr lang="de-AT" sz="1400" dirty="0" err="1">
                <a:sym typeface="Wingdings" panose="05000000000000000000" pitchFamily="2" charset="2"/>
              </a:rPr>
              <a:t>and</a:t>
            </a:r>
            <a:r>
              <a:rPr lang="de-AT" sz="1400" dirty="0">
                <a:sym typeface="Wingdings" panose="05000000000000000000" pitchFamily="2" charset="2"/>
              </a:rPr>
              <a:t> </a:t>
            </a:r>
            <a:r>
              <a:rPr lang="de-AT" sz="1400" dirty="0" err="1">
                <a:sym typeface="Wingdings" panose="05000000000000000000" pitchFamily="2" charset="2"/>
              </a:rPr>
              <a:t>stationary</a:t>
            </a:r>
            <a:r>
              <a:rPr lang="de-AT" sz="1400" dirty="0">
                <a:sym typeface="Wingdings" panose="05000000000000000000" pitchFamily="2" charset="2"/>
              </a:rPr>
              <a:t> </a:t>
            </a:r>
            <a:r>
              <a:rPr lang="de-AT" sz="1400" dirty="0" err="1">
                <a:sym typeface="Wingdings" panose="05000000000000000000" pitchFamily="2" charset="2"/>
              </a:rPr>
              <a:t>during</a:t>
            </a:r>
            <a:r>
              <a:rPr lang="de-AT" sz="1400" dirty="0">
                <a:sym typeface="Wingdings" panose="05000000000000000000" pitchFamily="2" charset="2"/>
              </a:rPr>
              <a:t> </a:t>
            </a:r>
            <a:r>
              <a:rPr lang="de-AT" sz="1400" dirty="0" err="1">
                <a:sym typeface="Wingdings" panose="05000000000000000000" pitchFamily="2" charset="2"/>
              </a:rPr>
              <a:t>mission</a:t>
            </a:r>
            <a:r>
              <a:rPr lang="de-AT" sz="1400" dirty="0">
                <a:sym typeface="Wingdings" panose="05000000000000000000" pitchFamily="2" charset="2"/>
              </a:rPr>
              <a:t> </a:t>
            </a:r>
            <a:r>
              <a:rPr lang="de-AT" sz="1400" dirty="0" err="1">
                <a:sym typeface="Wingdings" panose="05000000000000000000" pitchFamily="2" charset="2"/>
              </a:rPr>
              <a:t>to</a:t>
            </a:r>
            <a:r>
              <a:rPr lang="de-AT" sz="1400" dirty="0">
                <a:sym typeface="Wingdings" panose="05000000000000000000" pitchFamily="2" charset="2"/>
              </a:rPr>
              <a:t> </a:t>
            </a:r>
            <a:r>
              <a:rPr lang="de-AT" sz="1400" dirty="0" err="1">
                <a:sym typeface="Wingdings" panose="05000000000000000000" pitchFamily="2" charset="2"/>
              </a:rPr>
              <a:t>determine</a:t>
            </a:r>
            <a:r>
              <a:rPr lang="de-AT" sz="1400" dirty="0">
                <a:sym typeface="Wingdings" panose="05000000000000000000" pitchFamily="2" charset="2"/>
              </a:rPr>
              <a:t> final </a:t>
            </a:r>
            <a:r>
              <a:rPr lang="de-AT" sz="1400" dirty="0" err="1">
                <a:sym typeface="Wingdings" panose="05000000000000000000" pitchFamily="2" charset="2"/>
              </a:rPr>
              <a:t>charging</a:t>
            </a:r>
            <a:r>
              <a:rPr lang="de-AT" sz="1400" dirty="0">
                <a:sym typeface="Wingdings" panose="05000000000000000000" pitchFamily="2" charset="2"/>
              </a:rPr>
              <a:t> </a:t>
            </a:r>
            <a:r>
              <a:rPr lang="de-AT" sz="1400" dirty="0" err="1">
                <a:sym typeface="Wingdings" panose="05000000000000000000" pitchFamily="2" charset="2"/>
              </a:rPr>
              <a:t>efficiency</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Tree>
    <p:extLst>
      <p:ext uri="{BB962C8B-B14F-4D97-AF65-F5344CB8AC3E}">
        <p14:creationId xmlns:p14="http://schemas.microsoft.com/office/powerpoint/2010/main" val="78533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r>
              <a:rPr lang="de-AT" sz="1800" dirty="0" err="1"/>
              <a:t>calculation</a:t>
            </a:r>
            <a:r>
              <a:rPr lang="de-AT" sz="1800" dirty="0"/>
              <a:t> </a:t>
            </a:r>
            <a:r>
              <a:rPr lang="de-AT" sz="1800" dirty="0" err="1"/>
              <a:t>example</a:t>
            </a:r>
            <a:r>
              <a:rPr lang="de-AT" sz="1800" dirty="0"/>
              <a:t>:</a:t>
            </a:r>
          </a:p>
          <a:p>
            <a:pPr lvl="1"/>
            <a:r>
              <a:rPr lang="de-AT" sz="1400" dirty="0" err="1"/>
              <a:t>Charging</a:t>
            </a:r>
            <a:r>
              <a:rPr lang="de-AT" sz="1400" dirty="0"/>
              <a:t> power </a:t>
            </a:r>
            <a:r>
              <a:rPr lang="de-AT" sz="1400" dirty="0" err="1"/>
              <a:t>levels</a:t>
            </a:r>
            <a:r>
              <a:rPr lang="de-AT" sz="1400" dirty="0"/>
              <a:t>:  </a:t>
            </a:r>
            <a:r>
              <a:rPr lang="de-AT" sz="1200" dirty="0"/>
              <a:t>Depot 10 kW  /  </a:t>
            </a:r>
            <a:r>
              <a:rPr lang="de-AT" sz="1200" dirty="0" err="1"/>
              <a:t>Stationary</a:t>
            </a:r>
            <a:r>
              <a:rPr lang="de-AT" sz="1200" dirty="0"/>
              <a:t> </a:t>
            </a:r>
            <a:r>
              <a:rPr lang="de-AT" sz="1200" dirty="0" err="1"/>
              <a:t>during</a:t>
            </a:r>
            <a:r>
              <a:rPr lang="de-AT" sz="1200" dirty="0"/>
              <a:t> </a:t>
            </a:r>
            <a:r>
              <a:rPr lang="de-AT" sz="1200" dirty="0" err="1"/>
              <a:t>mission</a:t>
            </a:r>
            <a:r>
              <a:rPr lang="de-AT" sz="1200" dirty="0"/>
              <a:t> 250 kW</a:t>
            </a:r>
            <a:br>
              <a:rPr lang="de-AT" sz="1200" dirty="0"/>
            </a:br>
            <a:endParaRPr lang="de-AT" sz="600" dirty="0"/>
          </a:p>
          <a:p>
            <a:pPr lvl="1"/>
            <a:r>
              <a:rPr lang="de-AT" sz="1400" dirty="0" err="1"/>
              <a:t>Battery</a:t>
            </a:r>
            <a:r>
              <a:rPr lang="de-AT" sz="1400" dirty="0"/>
              <a:t> </a:t>
            </a:r>
            <a:r>
              <a:rPr lang="de-AT" sz="1400" dirty="0" err="1"/>
              <a:t>related</a:t>
            </a:r>
            <a:r>
              <a:rPr lang="de-AT" sz="1400" dirty="0"/>
              <a:t> </a:t>
            </a:r>
            <a:r>
              <a:rPr lang="de-AT" sz="1400" dirty="0" err="1"/>
              <a:t>data</a:t>
            </a:r>
            <a:r>
              <a:rPr lang="de-AT" sz="1400" dirty="0"/>
              <a:t> and </a:t>
            </a:r>
            <a:r>
              <a:rPr lang="de-AT" sz="1400" dirty="0" err="1"/>
              <a:t>charging</a:t>
            </a:r>
            <a:r>
              <a:rPr lang="de-AT" sz="1400" dirty="0"/>
              <a:t> </a:t>
            </a:r>
            <a:r>
              <a:rPr lang="de-AT" sz="1400" dirty="0" err="1"/>
              <a:t>currents</a:t>
            </a:r>
            <a:r>
              <a:rPr lang="de-AT" sz="1400" dirty="0"/>
              <a:t>:</a:t>
            </a:r>
            <a:br>
              <a:rPr lang="de-AT" sz="1400" dirty="0"/>
            </a:br>
            <a:br>
              <a:rPr lang="de-AT" sz="1400" dirty="0"/>
            </a:br>
            <a:br>
              <a:rPr lang="de-AT" sz="1400" dirty="0"/>
            </a:br>
            <a:br>
              <a:rPr lang="de-AT" sz="1400" dirty="0"/>
            </a:br>
            <a:endParaRPr lang="de-AT" sz="600" dirty="0"/>
          </a:p>
          <a:p>
            <a:pPr lvl="1"/>
            <a:r>
              <a:rPr lang="de-AT" sz="1400" dirty="0" err="1"/>
              <a:t>Charging</a:t>
            </a:r>
            <a:r>
              <a:rPr lang="de-AT" sz="1400" dirty="0"/>
              <a:t> </a:t>
            </a:r>
            <a:r>
              <a:rPr lang="de-AT" sz="1400" dirty="0" err="1"/>
              <a:t>losses</a:t>
            </a:r>
            <a:r>
              <a:rPr lang="de-AT" sz="1400" dirty="0"/>
              <a:t> and </a:t>
            </a:r>
            <a:r>
              <a:rPr lang="de-AT" sz="1400" dirty="0" err="1"/>
              <a:t>efficiencies</a:t>
            </a:r>
            <a:r>
              <a:rPr lang="de-AT" sz="1400" dirty="0"/>
              <a:t>:</a:t>
            </a:r>
            <a:br>
              <a:rPr lang="de-AT" sz="1400" dirty="0"/>
            </a:br>
            <a:br>
              <a:rPr lang="de-AT" sz="1400" dirty="0"/>
            </a:br>
            <a:br>
              <a:rPr lang="de-AT" sz="1400" dirty="0"/>
            </a:br>
            <a:br>
              <a:rPr lang="de-AT" sz="1400" dirty="0"/>
            </a:br>
            <a:br>
              <a:rPr lang="de-AT" sz="1400" dirty="0"/>
            </a:br>
            <a:br>
              <a:rPr lang="de-AT" sz="1400" dirty="0"/>
            </a:br>
            <a:endParaRPr lang="de-AT" sz="700" dirty="0"/>
          </a:p>
          <a:p>
            <a:pPr lvl="1"/>
            <a:r>
              <a:rPr lang="de-AT" sz="1400" dirty="0" err="1"/>
              <a:t>Weighted</a:t>
            </a:r>
            <a:r>
              <a:rPr lang="de-AT" sz="1400" dirty="0"/>
              <a:t> final </a:t>
            </a:r>
            <a:r>
              <a:rPr lang="de-AT" sz="1400" dirty="0" err="1"/>
              <a:t>charging</a:t>
            </a:r>
            <a:r>
              <a:rPr lang="de-AT" sz="1400" dirty="0"/>
              <a:t> </a:t>
            </a:r>
            <a:r>
              <a:rPr lang="de-AT" sz="1400" dirty="0" err="1"/>
              <a:t>efficiency</a:t>
            </a:r>
            <a:r>
              <a:rPr lang="de-AT" sz="1400" dirty="0"/>
              <a:t>:</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pic>
        <p:nvPicPr>
          <p:cNvPr id="7" name="Grafik 6"/>
          <p:cNvPicPr>
            <a:picLocks noChangeAspect="1"/>
          </p:cNvPicPr>
          <p:nvPr/>
        </p:nvPicPr>
        <p:blipFill>
          <a:blip r:embed="rId2"/>
          <a:stretch>
            <a:fillRect/>
          </a:stretch>
        </p:blipFill>
        <p:spPr>
          <a:xfrm>
            <a:off x="1279952" y="3413700"/>
            <a:ext cx="4209022" cy="923408"/>
          </a:xfrm>
          <a:prstGeom prst="rect">
            <a:avLst/>
          </a:prstGeom>
        </p:spPr>
      </p:pic>
      <p:pic>
        <p:nvPicPr>
          <p:cNvPr id="10" name="Grafik 9"/>
          <p:cNvPicPr>
            <a:picLocks noChangeAspect="1"/>
          </p:cNvPicPr>
          <p:nvPr/>
        </p:nvPicPr>
        <p:blipFill>
          <a:blip r:embed="rId3"/>
          <a:stretch>
            <a:fillRect/>
          </a:stretch>
        </p:blipFill>
        <p:spPr>
          <a:xfrm>
            <a:off x="2076297" y="2492552"/>
            <a:ext cx="2495523" cy="583785"/>
          </a:xfrm>
          <a:prstGeom prst="rect">
            <a:avLst/>
          </a:prstGeom>
        </p:spPr>
      </p:pic>
      <p:pic>
        <p:nvPicPr>
          <p:cNvPr id="11" name="Grafik 10"/>
          <p:cNvPicPr>
            <a:picLocks noChangeAspect="1"/>
          </p:cNvPicPr>
          <p:nvPr/>
        </p:nvPicPr>
        <p:blipFill>
          <a:blip r:embed="rId4"/>
          <a:stretch>
            <a:fillRect/>
          </a:stretch>
        </p:blipFill>
        <p:spPr>
          <a:xfrm>
            <a:off x="1345341" y="5071637"/>
            <a:ext cx="4078245" cy="829712"/>
          </a:xfrm>
          <a:prstGeom prst="rect">
            <a:avLst/>
          </a:prstGeom>
        </p:spPr>
      </p:pic>
      <p:sp>
        <p:nvSpPr>
          <p:cNvPr id="12" name="Textfeld 11"/>
          <p:cNvSpPr txBox="1"/>
          <p:nvPr/>
        </p:nvSpPr>
        <p:spPr>
          <a:xfrm>
            <a:off x="6759148" y="4694979"/>
            <a:ext cx="2347784" cy="1277273"/>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a:t>
            </a:r>
            <a:r>
              <a:rPr lang="de-AT" sz="1100" b="1" i="1" dirty="0" err="1"/>
              <a:t>during</a:t>
            </a:r>
            <a:r>
              <a:rPr lang="de-AT" sz="1100" b="1" i="1" dirty="0"/>
              <a:t> </a:t>
            </a:r>
            <a:r>
              <a:rPr lang="de-AT" sz="1100" b="1" i="1" dirty="0" err="1"/>
              <a:t>mission</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a:t>Max. </a:t>
            </a:r>
            <a:r>
              <a:rPr lang="de-AT" sz="1100" i="1" dirty="0" err="1"/>
              <a:t>charging</a:t>
            </a:r>
            <a:r>
              <a:rPr lang="de-AT" sz="1100" i="1" dirty="0"/>
              <a:t> power</a:t>
            </a:r>
          </a:p>
          <a:p>
            <a:pPr marL="285750" indent="-285750">
              <a:buFont typeface="Wingdings" panose="05000000000000000000" pitchFamily="2" charset="2"/>
              <a:buChar char="§"/>
            </a:pPr>
            <a:r>
              <a:rPr lang="de-AT" sz="1100" i="1" dirty="0"/>
              <a:t>Duration </a:t>
            </a:r>
            <a:r>
              <a:rPr lang="de-AT" sz="1100" i="1" dirty="0" err="1"/>
              <a:t>of</a:t>
            </a:r>
            <a:r>
              <a:rPr lang="de-AT" sz="1100" i="1" dirty="0"/>
              <a:t> </a:t>
            </a:r>
            <a:r>
              <a:rPr lang="de-AT" sz="1100" i="1" dirty="0" err="1"/>
              <a:t>event</a:t>
            </a:r>
            <a:endParaRPr lang="de-AT" sz="1100" i="1" dirty="0"/>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err="1"/>
              <a:t>Number</a:t>
            </a:r>
            <a:r>
              <a:rPr lang="de-AT" sz="1100" i="1" dirty="0"/>
              <a:t> </a:t>
            </a:r>
            <a:r>
              <a:rPr lang="de-AT" sz="1100" i="1" dirty="0" err="1"/>
              <a:t>of</a:t>
            </a:r>
            <a:r>
              <a:rPr lang="de-AT" sz="1100" i="1" dirty="0"/>
              <a:t> </a:t>
            </a:r>
            <a:r>
              <a:rPr lang="de-AT" sz="1100" i="1" dirty="0" err="1"/>
              <a:t>charging</a:t>
            </a:r>
            <a:r>
              <a:rPr lang="de-AT" sz="1100" i="1" dirty="0"/>
              <a:t> </a:t>
            </a:r>
            <a:r>
              <a:rPr lang="de-AT" sz="1100" i="1" dirty="0" err="1"/>
              <a:t>events</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(0.5)</a:t>
            </a:r>
          </a:p>
        </p:txBody>
      </p:sp>
      <p:sp>
        <p:nvSpPr>
          <p:cNvPr id="15" name="Geschweifte Klammer links 14"/>
          <p:cNvSpPr/>
          <p:nvPr/>
        </p:nvSpPr>
        <p:spPr>
          <a:xfrm>
            <a:off x="6575167" y="4793592"/>
            <a:ext cx="188096" cy="1108472"/>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763263" y="3772293"/>
            <a:ext cx="2347784" cy="769441"/>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in </a:t>
            </a:r>
            <a:r>
              <a:rPr lang="de-AT" sz="1100" b="1" i="1" dirty="0" err="1"/>
              <a:t>depot</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(0.75)</a:t>
            </a:r>
          </a:p>
        </p:txBody>
      </p:sp>
      <p:sp>
        <p:nvSpPr>
          <p:cNvPr id="17" name="Geschweifte Klammer links 16"/>
          <p:cNvSpPr/>
          <p:nvPr/>
        </p:nvSpPr>
        <p:spPr>
          <a:xfrm>
            <a:off x="6575167" y="3830662"/>
            <a:ext cx="188096" cy="610099"/>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cxnSp>
        <p:nvCxnSpPr>
          <p:cNvPr id="19" name="Gewinkelter Verbinder 18"/>
          <p:cNvCxnSpPr/>
          <p:nvPr/>
        </p:nvCxnSpPr>
        <p:spPr>
          <a:xfrm flipV="1">
            <a:off x="5461689" y="4098305"/>
            <a:ext cx="1082589" cy="10282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p:nvPr/>
        </p:nvCxnSpPr>
        <p:spPr>
          <a:xfrm>
            <a:off x="5461689" y="5280970"/>
            <a:ext cx="108258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099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en-GB" sz="1800" dirty="0"/>
              <a:t>For further details please refer to: </a:t>
            </a:r>
            <a:r>
              <a:rPr lang="en-GB" sz="1800" b="1" i="1" dirty="0"/>
              <a:t>VECTO-DEV WS#9 11.01.2022 (slide 23ff)</a:t>
            </a:r>
          </a:p>
          <a:p>
            <a:endParaRPr lang="en-GB" sz="1800" b="1" i="1" dirty="0"/>
          </a:p>
          <a:p>
            <a:r>
              <a:rPr lang="en-GB" sz="1800" b="1" i="1" dirty="0"/>
              <a:t>Excel will be distributed together with meeting material</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Tree>
    <p:extLst>
      <p:ext uri="{BB962C8B-B14F-4D97-AF65-F5344CB8AC3E}">
        <p14:creationId xmlns:p14="http://schemas.microsoft.com/office/powerpoint/2010/main" val="18190761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
        <p:nvSpPr>
          <p:cNvPr id="6" name="Inhaltsplatzhalter 5"/>
          <p:cNvSpPr>
            <a:spLocks noGrp="1"/>
          </p:cNvSpPr>
          <p:nvPr>
            <p:ph idx="1"/>
          </p:nvPr>
        </p:nvSpPr>
        <p:spPr/>
        <p:txBody>
          <a:bodyPr/>
          <a:lstStyle/>
          <a:p>
            <a:pPr>
              <a:spcBef>
                <a:spcPts val="600"/>
              </a:spcBef>
            </a:pPr>
            <a:r>
              <a:rPr lang="en-US" sz="1600" dirty="0"/>
              <a:t>OVC-HEV are HEV with external charging feature (“Plug-in HEV”)</a:t>
            </a:r>
          </a:p>
          <a:p>
            <a:pPr lvl="1">
              <a:spcBef>
                <a:spcPts val="600"/>
              </a:spcBef>
            </a:pPr>
            <a:r>
              <a:rPr lang="en-US" sz="1600" dirty="0"/>
              <a:t>Declared acc. to Annex III (</a:t>
            </a:r>
            <a:r>
              <a:rPr lang="en-US" sz="1600" i="1" dirty="0"/>
              <a:t>P401)</a:t>
            </a:r>
            <a:br>
              <a:rPr lang="en-US" sz="1600" i="1" dirty="0"/>
            </a:br>
            <a:endParaRPr lang="en-US" sz="1600" dirty="0"/>
          </a:p>
          <a:p>
            <a:pPr>
              <a:spcBef>
                <a:spcPts val="600"/>
              </a:spcBef>
            </a:pPr>
            <a:r>
              <a:rPr lang="en-US" sz="1600" dirty="0"/>
              <a:t>2 operation modes for OVC-HEV defined in VECTO:</a:t>
            </a:r>
          </a:p>
          <a:p>
            <a:pPr lvl="1">
              <a:spcBef>
                <a:spcPts val="600"/>
              </a:spcBef>
            </a:pPr>
            <a:r>
              <a:rPr lang="en-US" sz="1400" dirty="0"/>
              <a:t>Charge depleting mode (CD) where the propulsion energy is provided by the electric storage only</a:t>
            </a:r>
            <a:br>
              <a:rPr lang="en-US" sz="1400" dirty="0"/>
            </a:br>
            <a:r>
              <a:rPr lang="en-US" sz="1400" i="1" dirty="0">
                <a:sym typeface="Wingdings" panose="05000000000000000000" pitchFamily="2" charset="2"/>
              </a:rPr>
              <a:t> results: </a:t>
            </a:r>
            <a:r>
              <a:rPr lang="en-US" sz="1400" i="1" dirty="0" err="1"/>
              <a:t>kWh_el</a:t>
            </a:r>
            <a:r>
              <a:rPr lang="en-US" sz="1400" i="1" dirty="0"/>
              <a:t>/km, electric range</a:t>
            </a:r>
            <a:br>
              <a:rPr lang="en-US" sz="1400" i="1" dirty="0"/>
            </a:br>
            <a:endParaRPr lang="en-US" sz="1400" i="1" dirty="0"/>
          </a:p>
          <a:p>
            <a:pPr lvl="1">
              <a:spcBef>
                <a:spcPts val="600"/>
              </a:spcBef>
            </a:pPr>
            <a:r>
              <a:rPr lang="en-US" sz="1400" dirty="0"/>
              <a:t>Charge sustaining mode (CS) where the propulsion energy is provided by the fuel storage</a:t>
            </a:r>
            <a:br>
              <a:rPr lang="en-US" sz="1400" dirty="0"/>
            </a:br>
            <a:r>
              <a:rPr lang="en-US" sz="1400" i="1" dirty="0">
                <a:sym typeface="Wingdings" panose="05000000000000000000" pitchFamily="2" charset="2"/>
              </a:rPr>
              <a:t> SOC is balanced over complete cycle, thus no electric energy consumption</a:t>
            </a:r>
            <a:br>
              <a:rPr lang="en-US" sz="1400" i="1" dirty="0">
                <a:sym typeface="Wingdings" panose="05000000000000000000" pitchFamily="2" charset="2"/>
              </a:rPr>
            </a:br>
            <a:r>
              <a:rPr lang="en-US" sz="1400" i="1" dirty="0">
                <a:sym typeface="Wingdings" panose="05000000000000000000" pitchFamily="2" charset="2"/>
              </a:rPr>
              <a:t>    (</a:t>
            </a:r>
            <a:r>
              <a:rPr lang="en-US" sz="1400" i="1" dirty="0" err="1"/>
              <a:t>kWh_el</a:t>
            </a:r>
            <a:r>
              <a:rPr lang="en-US" sz="1400" i="1" dirty="0"/>
              <a:t>/km = 0 per definition!)</a:t>
            </a:r>
          </a:p>
          <a:p>
            <a:endParaRPr lang="de-AT" dirty="0"/>
          </a:p>
        </p:txBody>
      </p:sp>
    </p:spTree>
    <p:extLst>
      <p:ext uri="{BB962C8B-B14F-4D97-AF65-F5344CB8AC3E}">
        <p14:creationId xmlns:p14="http://schemas.microsoft.com/office/powerpoint/2010/main" val="25861895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6" name="Inhaltsplatzhalter 5"/>
          <p:cNvSpPr>
            <a:spLocks noGrp="1"/>
          </p:cNvSpPr>
          <p:nvPr>
            <p:ph idx="1"/>
          </p:nvPr>
        </p:nvSpPr>
        <p:spPr/>
        <p:txBody>
          <a:bodyPr/>
          <a:lstStyle/>
          <a:p>
            <a:pPr>
              <a:spcBef>
                <a:spcPts val="600"/>
              </a:spcBef>
            </a:pPr>
            <a:r>
              <a:rPr lang="en-US" sz="1600" dirty="0"/>
              <a:t>Separate simulation runs are performed in VECTO for each mode automatically</a:t>
            </a:r>
            <a:br>
              <a:rPr lang="en-US" sz="1600" dirty="0"/>
            </a:br>
            <a:endParaRPr lang="en-US" sz="1600" dirty="0"/>
          </a:p>
          <a:p>
            <a:pPr>
              <a:spcBef>
                <a:spcPts val="600"/>
              </a:spcBef>
            </a:pPr>
            <a:r>
              <a:rPr lang="en-US" sz="1600" dirty="0"/>
              <a:t>Separate results for CD and CS are weighted for final result based on utility factor (UF)</a:t>
            </a:r>
          </a:p>
          <a:p>
            <a:pPr lvl="1">
              <a:spcBef>
                <a:spcPts val="600"/>
              </a:spcBef>
            </a:pPr>
            <a:r>
              <a:rPr lang="en-US" sz="1400" dirty="0"/>
              <a:t>UF is defined as share of electric range in CD mode on total daily mileage of each mission profile</a:t>
            </a:r>
          </a:p>
          <a:p>
            <a:pPr lvl="2">
              <a:spcBef>
                <a:spcPts val="600"/>
              </a:spcBef>
            </a:pPr>
            <a:r>
              <a:rPr lang="en-US" sz="1200" dirty="0"/>
              <a:t>electric range is defined by:</a:t>
            </a:r>
          </a:p>
          <a:p>
            <a:pPr lvl="3">
              <a:spcBef>
                <a:spcPts val="600"/>
              </a:spcBef>
            </a:pPr>
            <a:r>
              <a:rPr lang="en-US" sz="1100" dirty="0"/>
              <a:t>Electric energy consumption in the specific mission in [kWh/km] as result from the simulation</a:t>
            </a:r>
          </a:p>
          <a:p>
            <a:pPr lvl="3">
              <a:spcBef>
                <a:spcPts val="600"/>
              </a:spcBef>
            </a:pPr>
            <a:r>
              <a:rPr lang="en-US" sz="1100" dirty="0"/>
              <a:t>Usable electric energy, which in turn is defined by:</a:t>
            </a:r>
          </a:p>
          <a:p>
            <a:pPr lvl="4">
              <a:spcBef>
                <a:spcPts val="600"/>
              </a:spcBef>
            </a:pPr>
            <a:r>
              <a:rPr lang="en-US" sz="1100" dirty="0"/>
              <a:t>battery capacity due to initial SOC</a:t>
            </a:r>
          </a:p>
          <a:p>
            <a:pPr lvl="4">
              <a:spcBef>
                <a:spcPts val="600"/>
              </a:spcBef>
            </a:pPr>
            <a:r>
              <a:rPr lang="en-US" sz="1100" dirty="0"/>
              <a:t>generic assumptions for re-charging during each mission</a:t>
            </a:r>
            <a:br>
              <a:rPr lang="en-US" sz="1100" dirty="0"/>
            </a:br>
            <a:r>
              <a:rPr lang="en-US" sz="1100" dirty="0"/>
              <a:t>(number and duration of charging events, available charging power from infrastructure)</a:t>
            </a:r>
            <a:br>
              <a:rPr lang="en-US" sz="1100" dirty="0"/>
            </a:br>
            <a:endParaRPr lang="en-US" sz="1000" dirty="0"/>
          </a:p>
          <a:p>
            <a:pPr lvl="1">
              <a:spcBef>
                <a:spcPts val="600"/>
              </a:spcBef>
            </a:pPr>
            <a:r>
              <a:rPr lang="en-US" sz="1400" dirty="0"/>
              <a:t>Weighted results (fuel or energy consumption) are calculated according to the following equation:</a:t>
            </a:r>
          </a:p>
          <a:p>
            <a:pPr lvl="1">
              <a:spcBef>
                <a:spcPts val="600"/>
              </a:spcBef>
            </a:pPr>
            <a:endParaRPr lang="en-US" sz="1400" dirty="0"/>
          </a:p>
        </p:txBody>
      </p:sp>
      <p:pic>
        <p:nvPicPr>
          <p:cNvPr id="5" name="Grafik 4"/>
          <p:cNvPicPr>
            <a:picLocks noChangeAspect="1"/>
          </p:cNvPicPr>
          <p:nvPr/>
        </p:nvPicPr>
        <p:blipFill>
          <a:blip r:embed="rId2"/>
          <a:stretch>
            <a:fillRect/>
          </a:stretch>
        </p:blipFill>
        <p:spPr>
          <a:xfrm>
            <a:off x="1314755" y="5132654"/>
            <a:ext cx="2731488" cy="783295"/>
          </a:xfrm>
          <a:prstGeom prst="rect">
            <a:avLst/>
          </a:prstGeom>
        </p:spPr>
      </p:pic>
    </p:spTree>
    <p:extLst>
      <p:ext uri="{BB962C8B-B14F-4D97-AF65-F5344CB8AC3E}">
        <p14:creationId xmlns:p14="http://schemas.microsoft.com/office/powerpoint/2010/main" val="33252939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Range calculations</a:t>
            </a:r>
          </a:p>
        </p:txBody>
      </p:sp>
      <p:sp>
        <p:nvSpPr>
          <p:cNvPr id="3" name="Inhaltsplatzhalter 2"/>
          <p:cNvSpPr>
            <a:spLocks noGrp="1"/>
          </p:cNvSpPr>
          <p:nvPr>
            <p:ph idx="1"/>
          </p:nvPr>
        </p:nvSpPr>
        <p:spPr/>
        <p:txBody>
          <a:bodyPr/>
          <a:lstStyle/>
          <a:p>
            <a:r>
              <a:rPr lang="en-US" sz="1800" dirty="0"/>
              <a:t>Overview of different ranges in result matrix in VECTO</a:t>
            </a:r>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graphicFrame>
        <p:nvGraphicFramePr>
          <p:cNvPr id="7" name="Tabelle 6"/>
          <p:cNvGraphicFramePr>
            <a:graphicFrameLocks noGrp="1"/>
          </p:cNvGraphicFramePr>
          <p:nvPr>
            <p:extLst/>
          </p:nvPr>
        </p:nvGraphicFramePr>
        <p:xfrm>
          <a:off x="917938" y="2549079"/>
          <a:ext cx="6221501" cy="2481635"/>
        </p:xfrm>
        <a:graphic>
          <a:graphicData uri="http://schemas.openxmlformats.org/drawingml/2006/table">
            <a:tbl>
              <a:tblPr firstRow="1" bandRow="1">
                <a:tableStyleId>{5C22544A-7EE6-4342-B048-85BDC9FD1C3A}</a:tableStyleId>
              </a:tblPr>
              <a:tblGrid>
                <a:gridCol w="1840495">
                  <a:extLst>
                    <a:ext uri="{9D8B030D-6E8A-4147-A177-3AD203B41FA5}">
                      <a16:colId xmlns:a16="http://schemas.microsoft.com/office/drawing/2014/main" val="984975428"/>
                    </a:ext>
                  </a:extLst>
                </a:gridCol>
                <a:gridCol w="4381006">
                  <a:extLst>
                    <a:ext uri="{9D8B030D-6E8A-4147-A177-3AD203B41FA5}">
                      <a16:colId xmlns:a16="http://schemas.microsoft.com/office/drawing/2014/main" val="3109349199"/>
                    </a:ext>
                  </a:extLst>
                </a:gridCol>
              </a:tblGrid>
              <a:tr h="302315">
                <a:tc>
                  <a:txBody>
                    <a:bodyPr/>
                    <a:lstStyle/>
                    <a:p>
                      <a:r>
                        <a:rPr lang="en-GB" sz="1200" dirty="0"/>
                        <a:t>Electric range</a:t>
                      </a:r>
                    </a:p>
                  </a:txBody>
                  <a:tcPr/>
                </a:tc>
                <a:tc>
                  <a:txBody>
                    <a:bodyPr/>
                    <a:lstStyle/>
                    <a:p>
                      <a:r>
                        <a:rPr lang="en-GB" sz="1200" dirty="0"/>
                        <a:t>Definition</a:t>
                      </a:r>
                    </a:p>
                  </a:txBody>
                  <a:tcPr/>
                </a:tc>
                <a:extLst>
                  <a:ext uri="{0D108BD9-81ED-4DB2-BD59-A6C34878D82A}">
                    <a16:rowId xmlns:a16="http://schemas.microsoft.com/office/drawing/2014/main" val="652954536"/>
                  </a:ext>
                </a:extLst>
              </a:tr>
              <a:tr h="370840">
                <a:tc>
                  <a:txBody>
                    <a:bodyPr/>
                    <a:lstStyle/>
                    <a:p>
                      <a:pPr>
                        <a:spcBef>
                          <a:spcPts val="600"/>
                        </a:spcBef>
                      </a:pPr>
                      <a:r>
                        <a:rPr lang="en-GB" sz="1000" b="1"/>
                        <a:t>Actual charge depleting range</a:t>
                      </a:r>
                    </a:p>
                    <a:p>
                      <a:pPr>
                        <a:spcBef>
                          <a:spcPts val="600"/>
                        </a:spcBef>
                      </a:pPr>
                      <a:r>
                        <a:rPr lang="en-GB" sz="1000" b="1"/>
                        <a:t>(R</a:t>
                      </a:r>
                      <a:r>
                        <a:rPr lang="en-GB" sz="1000" b="1" baseline="-25000"/>
                        <a:t>CDA</a:t>
                      </a:r>
                      <a:r>
                        <a:rPr lang="en-GB" sz="1000" b="1" baseline="0"/>
                        <a:t>)</a:t>
                      </a:r>
                    </a:p>
                  </a:txBody>
                  <a:tcPr/>
                </a:tc>
                <a:tc>
                  <a:txBody>
                    <a:bodyPr/>
                    <a:lstStyle/>
                    <a:p>
                      <a:r>
                        <a:rPr lang="en-US" sz="1000" dirty="0">
                          <a:latin typeface="Times New Roman" panose="02020603050405020304" pitchFamily="18" charset="0"/>
                          <a:cs typeface="Times New Roman" panose="02020603050405020304" pitchFamily="18" charset="0"/>
                        </a:rPr>
                        <a:t>The range that can be driven in charge depleting mode based on the usable amount of REESS energy, without any interim charging. (Annex IV)</a:t>
                      </a:r>
                      <a:endParaRPr lang="en-GB"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8025345"/>
                  </a:ext>
                </a:extLst>
              </a:tr>
              <a:tr h="370840">
                <a:tc>
                  <a:txBody>
                    <a:bodyPr/>
                    <a:lstStyle/>
                    <a:p>
                      <a:pPr>
                        <a:spcBef>
                          <a:spcPts val="600"/>
                        </a:spcBef>
                      </a:pPr>
                      <a:r>
                        <a:rPr lang="en-GB" sz="1000" b="1" dirty="0"/>
                        <a:t>Equivalent all electric range</a:t>
                      </a:r>
                    </a:p>
                    <a:p>
                      <a:pPr>
                        <a:spcBef>
                          <a:spcPts val="600"/>
                        </a:spcBef>
                      </a:pPr>
                      <a:r>
                        <a:rPr lang="en-GB" sz="1000" b="1" dirty="0"/>
                        <a:t>(EAER)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part of the actual charge depleting range that can be attributed to the use of electric energy from the REESS, i.e. without any energy provided by the non-electric propulsion energy storage system. (Annex IV)</a:t>
                      </a:r>
                    </a:p>
                    <a:p>
                      <a:pPr>
                        <a:spcBef>
                          <a:spcPts val="600"/>
                        </a:spcBef>
                      </a:pPr>
                      <a:r>
                        <a:rPr lang="en-US" sz="1000" dirty="0">
                          <a:latin typeface="+mn-lt"/>
                          <a:cs typeface="Times New Roman" panose="02020603050405020304" pitchFamily="18" charset="0"/>
                        </a:rPr>
                        <a:t>i.e.</a:t>
                      </a:r>
                      <a:r>
                        <a:rPr lang="en-US" sz="1000" baseline="0" dirty="0">
                          <a:latin typeface="+mn-lt"/>
                          <a:cs typeface="Times New Roman" panose="02020603050405020304" pitchFamily="18" charset="0"/>
                        </a:rPr>
                        <a:t> R</a:t>
                      </a:r>
                      <a:r>
                        <a:rPr lang="en-US" sz="1000" baseline="-25000" dirty="0">
                          <a:latin typeface="+mn-lt"/>
                          <a:cs typeface="Times New Roman" panose="02020603050405020304" pitchFamily="18" charset="0"/>
                        </a:rPr>
                        <a:t>CDA</a:t>
                      </a:r>
                      <a:r>
                        <a:rPr lang="en-US" sz="1000" baseline="0" dirty="0">
                          <a:latin typeface="+mn-lt"/>
                          <a:cs typeface="Times New Roman" panose="02020603050405020304" pitchFamily="18" charset="0"/>
                        </a:rPr>
                        <a:t> mathematically reduced by energy content of fuel used (based on fuel consumption in charge sustaining mode)</a:t>
                      </a:r>
                      <a:endParaRPr lang="en-GB" sz="1000" dirty="0">
                        <a:latin typeface="+mn-lt"/>
                        <a:cs typeface="Times New Roman" panose="02020603050405020304" pitchFamily="18" charset="0"/>
                      </a:endParaRPr>
                    </a:p>
                  </a:txBody>
                  <a:tcPr/>
                </a:tc>
                <a:extLst>
                  <a:ext uri="{0D108BD9-81ED-4DB2-BD59-A6C34878D82A}">
                    <a16:rowId xmlns:a16="http://schemas.microsoft.com/office/drawing/2014/main" val="2413726602"/>
                  </a:ext>
                </a:extLst>
              </a:tr>
              <a:tr h="370840">
                <a:tc>
                  <a:txBody>
                    <a:bodyPr/>
                    <a:lstStyle/>
                    <a:p>
                      <a:pPr>
                        <a:spcBef>
                          <a:spcPts val="600"/>
                        </a:spcBef>
                      </a:pPr>
                      <a:r>
                        <a:rPr lang="en-GB" sz="1000" b="1" dirty="0"/>
                        <a:t>Zero CO</a:t>
                      </a:r>
                      <a:r>
                        <a:rPr lang="en-GB" sz="1000" b="1" baseline="-25000" dirty="0"/>
                        <a:t>2 </a:t>
                      </a:r>
                      <a:r>
                        <a:rPr lang="en-GB" sz="1000" b="1" dirty="0"/>
                        <a:t>emissions range</a:t>
                      </a:r>
                    </a:p>
                    <a:p>
                      <a:pPr>
                        <a:spcBef>
                          <a:spcPts val="600"/>
                        </a:spcBef>
                      </a:pPr>
                      <a:r>
                        <a:rPr lang="en-GB" sz="1000" b="1" dirty="0"/>
                        <a:t>(ZCER)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range that can be attributed to energy provided by propulsion energy storage systems considered with zero CO</a:t>
                      </a:r>
                      <a:r>
                        <a:rPr lang="en-US" sz="1000" baseline="-25000" dirty="0">
                          <a:latin typeface="Times New Roman" panose="02020603050405020304" pitchFamily="18" charset="0"/>
                          <a:cs typeface="Times New Roman" panose="02020603050405020304" pitchFamily="18" charset="0"/>
                        </a:rPr>
                        <a:t>2</a:t>
                      </a:r>
                      <a:r>
                        <a:rPr lang="en-US" sz="1000" dirty="0">
                          <a:latin typeface="Times New Roman" panose="02020603050405020304" pitchFamily="18" charset="0"/>
                          <a:cs typeface="Times New Roman" panose="02020603050405020304" pitchFamily="18" charset="0"/>
                        </a:rPr>
                        <a:t> impact. (Annex IV)</a:t>
                      </a:r>
                    </a:p>
                    <a:p>
                      <a:pPr>
                        <a:spcBef>
                          <a:spcPts val="600"/>
                        </a:spcBef>
                      </a:pPr>
                      <a:endParaRPr lang="en-US"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852091"/>
                  </a:ext>
                </a:extLst>
              </a:tr>
            </a:tbl>
          </a:graphicData>
        </a:graphic>
      </p:graphicFrame>
      <p:sp>
        <p:nvSpPr>
          <p:cNvPr id="6" name="Geschweifte Klammer rechts 5"/>
          <p:cNvSpPr/>
          <p:nvPr/>
        </p:nvSpPr>
        <p:spPr>
          <a:xfrm>
            <a:off x="7201609" y="3494863"/>
            <a:ext cx="96552" cy="1526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8" name="Gleich 7"/>
          <p:cNvSpPr/>
          <p:nvPr/>
        </p:nvSpPr>
        <p:spPr>
          <a:xfrm>
            <a:off x="7360332" y="4130997"/>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9" name="Textfeld 8"/>
          <p:cNvSpPr txBox="1"/>
          <p:nvPr/>
        </p:nvSpPr>
        <p:spPr>
          <a:xfrm>
            <a:off x="7348317" y="3578333"/>
            <a:ext cx="551349" cy="600164"/>
          </a:xfrm>
          <a:prstGeom prst="rect">
            <a:avLst/>
          </a:prstGeom>
          <a:noFill/>
        </p:spPr>
        <p:txBody>
          <a:bodyPr wrap="square" rtlCol="0">
            <a:spAutoFit/>
          </a:bodyPr>
          <a:lstStyle/>
          <a:p>
            <a:pPr algn="ctr"/>
            <a:r>
              <a:rPr lang="de-AT" sz="1100" dirty="0" err="1"/>
              <a:t>for</a:t>
            </a:r>
            <a:r>
              <a:rPr lang="de-AT" sz="1100" dirty="0"/>
              <a:t> OVC-HEV</a:t>
            </a:r>
          </a:p>
        </p:txBody>
      </p:sp>
      <p:sp>
        <p:nvSpPr>
          <p:cNvPr id="10" name="Geschweifte Klammer rechts 9"/>
          <p:cNvSpPr/>
          <p:nvPr/>
        </p:nvSpPr>
        <p:spPr>
          <a:xfrm>
            <a:off x="8138253" y="2825677"/>
            <a:ext cx="96552" cy="2196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1" name="Gleich 10"/>
          <p:cNvSpPr/>
          <p:nvPr/>
        </p:nvSpPr>
        <p:spPr>
          <a:xfrm>
            <a:off x="8250444" y="3789280"/>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12" name="Textfeld 11"/>
          <p:cNvSpPr txBox="1"/>
          <p:nvPr/>
        </p:nvSpPr>
        <p:spPr>
          <a:xfrm>
            <a:off x="8238429" y="3401329"/>
            <a:ext cx="551349" cy="430887"/>
          </a:xfrm>
          <a:prstGeom prst="rect">
            <a:avLst/>
          </a:prstGeom>
          <a:noFill/>
        </p:spPr>
        <p:txBody>
          <a:bodyPr wrap="square" rtlCol="0">
            <a:spAutoFit/>
          </a:bodyPr>
          <a:lstStyle/>
          <a:p>
            <a:pPr algn="ctr"/>
            <a:r>
              <a:rPr lang="de-AT" sz="1100" dirty="0" err="1"/>
              <a:t>for</a:t>
            </a:r>
            <a:r>
              <a:rPr lang="de-AT" sz="1100" dirty="0"/>
              <a:t> PEV</a:t>
            </a:r>
          </a:p>
        </p:txBody>
      </p:sp>
    </p:spTree>
    <p:extLst>
      <p:ext uri="{BB962C8B-B14F-4D97-AF65-F5344CB8AC3E}">
        <p14:creationId xmlns:p14="http://schemas.microsoft.com/office/powerpoint/2010/main" val="59655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6" name="Inhaltsplatzhalter 5"/>
          <p:cNvSpPr>
            <a:spLocks noGrp="1"/>
          </p:cNvSpPr>
          <p:nvPr>
            <p:ph idx="1"/>
          </p:nvPr>
        </p:nvSpPr>
        <p:spPr>
          <a:xfrm>
            <a:off x="457200" y="1604519"/>
            <a:ext cx="8229240" cy="4783839"/>
          </a:xfrm>
        </p:spPr>
        <p:txBody>
          <a:bodyPr>
            <a:normAutofit/>
          </a:bodyPr>
          <a:lstStyle/>
          <a:p>
            <a:pPr>
              <a:spcBef>
                <a:spcPts val="600"/>
              </a:spcBef>
            </a:pPr>
            <a:r>
              <a:rPr lang="en-US" sz="1600" dirty="0"/>
              <a:t>Schematic overview of result matrix in VECTO for CD + CS mode</a:t>
            </a: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endParaRPr lang="en-US" sz="1600" dirty="0"/>
          </a:p>
          <a:p>
            <a:pPr>
              <a:spcBef>
                <a:spcPts val="600"/>
              </a:spcBef>
            </a:pPr>
            <a:r>
              <a:rPr lang="en-GB" sz="1600" dirty="0"/>
              <a:t>For further details please refer to: </a:t>
            </a:r>
            <a:r>
              <a:rPr lang="en-GB" sz="1600" b="1" i="1" dirty="0"/>
              <a:t>VECTO-DEV WS#13 04.07.2022 (slide 12ff)</a:t>
            </a:r>
            <a:endParaRPr lang="en-US" sz="1600" dirty="0"/>
          </a:p>
        </p:txBody>
      </p:sp>
      <p:pic>
        <p:nvPicPr>
          <p:cNvPr id="3" name="Grafik 2"/>
          <p:cNvPicPr>
            <a:picLocks noChangeAspect="1"/>
          </p:cNvPicPr>
          <p:nvPr/>
        </p:nvPicPr>
        <p:blipFill>
          <a:blip r:embed="rId2"/>
          <a:stretch>
            <a:fillRect/>
          </a:stretch>
        </p:blipFill>
        <p:spPr>
          <a:xfrm>
            <a:off x="149635" y="2237649"/>
            <a:ext cx="6814756" cy="2797416"/>
          </a:xfrm>
          <a:prstGeom prst="rect">
            <a:avLst/>
          </a:prstGeom>
        </p:spPr>
      </p:pic>
      <p:sp>
        <p:nvSpPr>
          <p:cNvPr id="8" name="Textfeld 7"/>
          <p:cNvSpPr txBox="1"/>
          <p:nvPr/>
        </p:nvSpPr>
        <p:spPr>
          <a:xfrm>
            <a:off x="6964391" y="2423768"/>
            <a:ext cx="2179609" cy="2816156"/>
          </a:xfrm>
          <a:prstGeom prst="rect">
            <a:avLst/>
          </a:prstGeom>
          <a:noFill/>
        </p:spPr>
        <p:txBody>
          <a:bodyPr wrap="square" rtlCol="0">
            <a:spAutoFit/>
          </a:bodyPr>
          <a:lstStyle/>
          <a:p>
            <a:r>
              <a:rPr lang="de-AT" sz="1050" dirty="0"/>
              <a:t>Comments:</a:t>
            </a:r>
          </a:p>
          <a:p>
            <a:pPr marL="285750" indent="-285750">
              <a:spcBef>
                <a:spcPts val="300"/>
              </a:spcBef>
              <a:buFont typeface="Wingdings" panose="05000000000000000000" pitchFamily="2" charset="2"/>
              <a:buChar char="§"/>
            </a:pPr>
            <a:r>
              <a:rPr lang="de-AT" sz="1000" dirty="0"/>
              <a:t>General </a:t>
            </a:r>
            <a:r>
              <a:rPr lang="de-AT" sz="1000" dirty="0" err="1"/>
              <a:t>structure</a:t>
            </a:r>
            <a:r>
              <a:rPr lang="de-AT" sz="1000" dirty="0"/>
              <a:t> </a:t>
            </a:r>
            <a:r>
              <a:rPr lang="de-AT" sz="1000" dirty="0" err="1"/>
              <a:t>given</a:t>
            </a:r>
            <a:r>
              <a:rPr lang="de-AT" sz="1000" dirty="0"/>
              <a:t> </a:t>
            </a:r>
            <a:r>
              <a:rPr lang="de-AT" sz="1000" dirty="0" err="1"/>
              <a:t>by</a:t>
            </a:r>
            <a:r>
              <a:rPr lang="de-AT" sz="1000" dirty="0"/>
              <a:t> XML </a:t>
            </a:r>
            <a:r>
              <a:rPr lang="de-AT" sz="1000" dirty="0" err="1"/>
              <a:t>schema</a:t>
            </a:r>
            <a:r>
              <a:rPr lang="de-AT" sz="1000" dirty="0"/>
              <a:t> </a:t>
            </a:r>
            <a:r>
              <a:rPr lang="de-AT" sz="1000" dirty="0" err="1"/>
              <a:t>structure</a:t>
            </a:r>
            <a:br>
              <a:rPr lang="de-AT" sz="1000" dirty="0"/>
            </a:br>
            <a:endParaRPr lang="de-AT" sz="600" dirty="0"/>
          </a:p>
          <a:p>
            <a:pPr marL="285750" indent="-285750">
              <a:spcBef>
                <a:spcPts val="300"/>
              </a:spcBef>
              <a:buFont typeface="Wingdings" panose="05000000000000000000" pitchFamily="2" charset="2"/>
              <a:buChar char="§"/>
            </a:pPr>
            <a:r>
              <a:rPr lang="en-US" sz="1000" dirty="0"/>
              <a:t>The "final results" for each mission profile and payload case are always output in the XML element "Total"</a:t>
            </a:r>
            <a:br>
              <a:rPr lang="en-US" sz="1000" dirty="0"/>
            </a:br>
            <a:endParaRPr lang="en-US" sz="600" dirty="0"/>
          </a:p>
          <a:p>
            <a:pPr marL="285750" indent="-285750">
              <a:spcBef>
                <a:spcPts val="300"/>
              </a:spcBef>
              <a:buFont typeface="Wingdings" panose="05000000000000000000" pitchFamily="2" charset="2"/>
              <a:buChar char="§"/>
            </a:pPr>
            <a:r>
              <a:rPr lang="de-AT" sz="1000" dirty="0"/>
              <a:t>FC, CO2, EC in </a:t>
            </a:r>
            <a:r>
              <a:rPr lang="en-US" sz="1000" dirty="0"/>
              <a:t>XML element "Total“ are weighted with UF</a:t>
            </a:r>
            <a:br>
              <a:rPr lang="en-US" sz="1000" dirty="0"/>
            </a:br>
            <a:endParaRPr lang="en-US" sz="600" dirty="0"/>
          </a:p>
          <a:p>
            <a:pPr marL="285750" indent="-285750">
              <a:spcBef>
                <a:spcPts val="300"/>
              </a:spcBef>
              <a:buFont typeface="Wingdings" panose="05000000000000000000" pitchFamily="2" charset="2"/>
              <a:buChar char="§"/>
            </a:pPr>
            <a:r>
              <a:rPr lang="en-US" sz="1000" dirty="0"/>
              <a:t>Ranges</a:t>
            </a:r>
            <a:r>
              <a:rPr lang="de-AT" sz="1000" dirty="0"/>
              <a:t> in </a:t>
            </a:r>
            <a:r>
              <a:rPr lang="en-US" sz="1000" dirty="0"/>
              <a:t>XML element "Total“ are identical to results from CD mode for OVC-HEV</a:t>
            </a:r>
            <a:br>
              <a:rPr lang="en-US" sz="1000" dirty="0"/>
            </a:br>
            <a:endParaRPr lang="en-US" sz="600" dirty="0"/>
          </a:p>
          <a:p>
            <a:pPr marL="285750" indent="-285750">
              <a:spcBef>
                <a:spcPts val="300"/>
              </a:spcBef>
              <a:buFont typeface="Wingdings" panose="05000000000000000000" pitchFamily="2" charset="2"/>
              <a:buChar char="§"/>
            </a:pPr>
            <a:r>
              <a:rPr lang="en-US" sz="1000" dirty="0"/>
              <a:t>Zero CO2 emissions range equals EAER for OVC-HEV</a:t>
            </a:r>
            <a:endParaRPr lang="de-AT" sz="1000" dirty="0"/>
          </a:p>
        </p:txBody>
      </p:sp>
    </p:spTree>
    <p:extLst>
      <p:ext uri="{BB962C8B-B14F-4D97-AF65-F5344CB8AC3E}">
        <p14:creationId xmlns:p14="http://schemas.microsoft.com/office/powerpoint/2010/main" val="68263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10" name="Textfeld 9"/>
          <p:cNvSpPr txBox="1"/>
          <p:nvPr/>
        </p:nvSpPr>
        <p:spPr>
          <a:xfrm>
            <a:off x="7145387" y="2718155"/>
            <a:ext cx="2101378" cy="261610"/>
          </a:xfrm>
          <a:prstGeom prst="rect">
            <a:avLst/>
          </a:prstGeom>
          <a:noFill/>
          <a:ln>
            <a:noFill/>
          </a:ln>
        </p:spPr>
        <p:txBody>
          <a:bodyPr wrap="square" rtlCol="0">
            <a:spAutoFit/>
          </a:bodyPr>
          <a:lstStyle/>
          <a:p>
            <a:r>
              <a:rPr lang="de-AT" sz="1100" b="1" i="1" dirty="0">
                <a:solidFill>
                  <a:schemeClr val="accent1"/>
                </a:solidFill>
              </a:rPr>
              <a:t>„</a:t>
            </a:r>
            <a:r>
              <a:rPr lang="de-AT" sz="1100" b="1" i="1" dirty="0" err="1">
                <a:solidFill>
                  <a:schemeClr val="accent1"/>
                </a:solidFill>
              </a:rPr>
              <a:t>Raw</a:t>
            </a:r>
            <a:r>
              <a:rPr lang="de-AT" sz="1100" b="1" i="1" dirty="0">
                <a:solidFill>
                  <a:schemeClr val="accent1"/>
                </a:solidFill>
              </a:rPr>
              <a:t>“ </a:t>
            </a:r>
            <a:r>
              <a:rPr lang="de-AT" sz="1100" b="1" i="1" dirty="0" err="1">
                <a:solidFill>
                  <a:schemeClr val="accent1"/>
                </a:solidFill>
              </a:rPr>
              <a:t>results</a:t>
            </a:r>
            <a:r>
              <a:rPr lang="de-AT" sz="1100" b="1" i="1" dirty="0">
                <a:solidFill>
                  <a:schemeClr val="accent1"/>
                </a:solidFill>
              </a:rPr>
              <a:t> </a:t>
            </a:r>
            <a:r>
              <a:rPr lang="de-AT" sz="1100" b="1" i="1" dirty="0" err="1">
                <a:solidFill>
                  <a:schemeClr val="accent1"/>
                </a:solidFill>
              </a:rPr>
              <a:t>by</a:t>
            </a:r>
            <a:r>
              <a:rPr lang="de-AT" sz="1100" b="1" i="1" dirty="0">
                <a:solidFill>
                  <a:schemeClr val="accent1"/>
                </a:solidFill>
              </a:rPr>
              <a:t> VECTO</a:t>
            </a:r>
          </a:p>
        </p:txBody>
      </p:sp>
      <p:sp>
        <p:nvSpPr>
          <p:cNvPr id="11" name="Geschweifte Klammer links 10"/>
          <p:cNvSpPr/>
          <p:nvPr/>
        </p:nvSpPr>
        <p:spPr>
          <a:xfrm rot="10800000">
            <a:off x="6866010" y="2070798"/>
            <a:ext cx="182841" cy="5698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links 11"/>
          <p:cNvSpPr/>
          <p:nvPr/>
        </p:nvSpPr>
        <p:spPr>
          <a:xfrm rot="10800000">
            <a:off x="6866009" y="2674692"/>
            <a:ext cx="182841" cy="35055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7145387" y="2224901"/>
            <a:ext cx="2101378" cy="261610"/>
          </a:xfrm>
          <a:prstGeom prst="rect">
            <a:avLst/>
          </a:prstGeom>
          <a:noFill/>
          <a:ln>
            <a:noFill/>
          </a:ln>
        </p:spPr>
        <p:txBody>
          <a:bodyPr wrap="square" rtlCol="0">
            <a:spAutoFit/>
          </a:bodyPr>
          <a:lstStyle/>
          <a:p>
            <a:r>
              <a:rPr lang="de-AT" sz="1100" b="1" i="1" dirty="0" err="1">
                <a:solidFill>
                  <a:schemeClr val="accent1"/>
                </a:solidFill>
              </a:rPr>
              <a:t>Declared</a:t>
            </a:r>
            <a:r>
              <a:rPr lang="de-AT" sz="1100" b="1" i="1" dirty="0">
                <a:solidFill>
                  <a:schemeClr val="accent1"/>
                </a:solidFill>
              </a:rPr>
              <a:t> / </a:t>
            </a:r>
            <a:r>
              <a:rPr lang="de-AT" sz="1100" b="1" i="1" dirty="0" err="1">
                <a:solidFill>
                  <a:schemeClr val="accent1"/>
                </a:solidFill>
              </a:rPr>
              <a:t>Component</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14" name="Pfeil nach unten 13"/>
          <p:cNvSpPr/>
          <p:nvPr/>
        </p:nvSpPr>
        <p:spPr>
          <a:xfrm>
            <a:off x="3190436" y="3451992"/>
            <a:ext cx="959836" cy="613386"/>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5" name="Textfeld 14"/>
          <p:cNvSpPr txBox="1"/>
          <p:nvPr/>
        </p:nvSpPr>
        <p:spPr>
          <a:xfrm>
            <a:off x="4406919" y="3605237"/>
            <a:ext cx="4129374" cy="261610"/>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different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16" name="Nach oben gebogener Pfeil 15"/>
          <p:cNvSpPr/>
          <p:nvPr/>
        </p:nvSpPr>
        <p:spPr>
          <a:xfrm rot="5400000">
            <a:off x="927786" y="4839052"/>
            <a:ext cx="935903" cy="1263690"/>
          </a:xfrm>
          <a:prstGeom prst="bentUpArrow">
            <a:avLst>
              <a:gd name="adj1" fmla="val 11797"/>
              <a:gd name="adj2" fmla="val 25689"/>
              <a:gd name="adj3" fmla="val 2574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7" name="Textfeld 16"/>
          <p:cNvSpPr txBox="1"/>
          <p:nvPr/>
        </p:nvSpPr>
        <p:spPr>
          <a:xfrm>
            <a:off x="2027583" y="5563274"/>
            <a:ext cx="5419567" cy="261610"/>
          </a:xfrm>
          <a:prstGeom prst="rect">
            <a:avLst/>
          </a:prstGeom>
          <a:noFill/>
          <a:ln>
            <a:noFill/>
          </a:ln>
        </p:spPr>
        <p:txBody>
          <a:bodyPr wrap="square" rtlCol="0">
            <a:spAutoFit/>
          </a:bodyPr>
          <a:lstStyle/>
          <a:p>
            <a:r>
              <a:rPr lang="de-AT" sz="1100" b="1" i="1" dirty="0">
                <a:solidFill>
                  <a:schemeClr val="accent1"/>
                </a:solidFill>
              </a:rPr>
              <a:t>Relevant </a:t>
            </a:r>
            <a:r>
              <a:rPr lang="de-AT" sz="1100" b="1" i="1" dirty="0" err="1">
                <a:solidFill>
                  <a:schemeClr val="accent1"/>
                </a:solidFill>
              </a:rPr>
              <a:t>for</a:t>
            </a:r>
            <a:r>
              <a:rPr lang="de-AT" sz="1100" b="1" i="1" dirty="0">
                <a:solidFill>
                  <a:schemeClr val="accent1"/>
                </a:solidFill>
              </a:rPr>
              <a:t> CO2 Standards Regulation, not </a:t>
            </a:r>
            <a:r>
              <a:rPr lang="de-AT" sz="1100" b="1" i="1" dirty="0" err="1">
                <a:solidFill>
                  <a:schemeClr val="accent1"/>
                </a:solidFill>
              </a:rPr>
              <a:t>for</a:t>
            </a:r>
            <a:r>
              <a:rPr lang="de-AT" sz="1100" b="1" i="1" dirty="0">
                <a:solidFill>
                  <a:schemeClr val="accent1"/>
                </a:solidFill>
              </a:rPr>
              <a:t> </a:t>
            </a:r>
            <a:r>
              <a:rPr lang="de-AT" sz="1100" b="1" i="1" dirty="0" err="1">
                <a:solidFill>
                  <a:schemeClr val="accent1"/>
                </a:solidFill>
              </a:rPr>
              <a:t>weighting</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CD+CS </a:t>
            </a:r>
            <a:r>
              <a:rPr lang="de-AT" sz="1100" b="1" i="1" dirty="0" err="1">
                <a:solidFill>
                  <a:schemeClr val="accent1"/>
                </a:solidFill>
              </a:rPr>
              <a:t>results</a:t>
            </a:r>
            <a:endParaRPr lang="de-AT" sz="1100" b="1" i="1" dirty="0">
              <a:solidFill>
                <a:schemeClr val="accent1"/>
              </a:solidFill>
            </a:endParaRPr>
          </a:p>
        </p:txBody>
      </p:sp>
      <p:pic>
        <p:nvPicPr>
          <p:cNvPr id="21" name="Grafik 20"/>
          <p:cNvPicPr>
            <a:picLocks noChangeAspect="1"/>
          </p:cNvPicPr>
          <p:nvPr/>
        </p:nvPicPr>
        <p:blipFill>
          <a:blip r:embed="rId2"/>
          <a:stretch>
            <a:fillRect/>
          </a:stretch>
        </p:blipFill>
        <p:spPr>
          <a:xfrm>
            <a:off x="627174" y="2065267"/>
            <a:ext cx="6096000" cy="981075"/>
          </a:xfrm>
          <a:prstGeom prst="rect">
            <a:avLst/>
          </a:prstGeom>
        </p:spPr>
      </p:pic>
      <p:pic>
        <p:nvPicPr>
          <p:cNvPr id="22" name="Grafik 21"/>
          <p:cNvPicPr>
            <a:picLocks noChangeAspect="1"/>
          </p:cNvPicPr>
          <p:nvPr/>
        </p:nvPicPr>
        <p:blipFill>
          <a:blip r:embed="rId3"/>
          <a:stretch>
            <a:fillRect/>
          </a:stretch>
        </p:blipFill>
        <p:spPr>
          <a:xfrm>
            <a:off x="627174" y="4305187"/>
            <a:ext cx="6096000" cy="638175"/>
          </a:xfrm>
          <a:prstGeom prst="rect">
            <a:avLst/>
          </a:prstGeom>
        </p:spPr>
      </p:pic>
      <p:sp>
        <p:nvSpPr>
          <p:cNvPr id="27" name="Rechteck 26"/>
          <p:cNvSpPr/>
          <p:nvPr/>
        </p:nvSpPr>
        <p:spPr>
          <a:xfrm>
            <a:off x="6723174" y="4552807"/>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8" name="Rechteck 27"/>
          <p:cNvSpPr/>
          <p:nvPr/>
        </p:nvSpPr>
        <p:spPr>
          <a:xfrm>
            <a:off x="6723174" y="4742768"/>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0" name="Gewinkelter Verbinder 29"/>
          <p:cNvCxnSpPr>
            <a:stCxn id="27" idx="1"/>
            <a:endCxn id="28" idx="1"/>
          </p:cNvCxnSpPr>
          <p:nvPr/>
        </p:nvCxnSpPr>
        <p:spPr>
          <a:xfrm rot="10800000" flipV="1">
            <a:off x="6723174" y="4642807"/>
            <a:ext cx="12700" cy="189961"/>
          </a:xfrm>
          <a:prstGeom prst="bentConnector3">
            <a:avLst>
              <a:gd name="adj1" fmla="val -209189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Gleich 31"/>
          <p:cNvSpPr/>
          <p:nvPr/>
        </p:nvSpPr>
        <p:spPr>
          <a:xfrm>
            <a:off x="7048849" y="4606503"/>
            <a:ext cx="364524" cy="272531"/>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Tree>
    <p:extLst>
      <p:ext uri="{BB962C8B-B14F-4D97-AF65-F5344CB8AC3E}">
        <p14:creationId xmlns:p14="http://schemas.microsoft.com/office/powerpoint/2010/main" val="39670489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p:cNvPicPr>
            <a:picLocks noChangeAspect="1"/>
          </p:cNvPicPr>
          <p:nvPr/>
        </p:nvPicPr>
        <p:blipFill>
          <a:blip r:embed="rId2"/>
          <a:stretch>
            <a:fillRect/>
          </a:stretch>
        </p:blipFill>
        <p:spPr>
          <a:xfrm>
            <a:off x="622354" y="4765989"/>
            <a:ext cx="6096000" cy="1190625"/>
          </a:xfrm>
          <a:prstGeom prst="rect">
            <a:avLst/>
          </a:prstGeom>
        </p:spPr>
      </p:pic>
      <p:pic>
        <p:nvPicPr>
          <p:cNvPr id="3" name="Grafik 2"/>
          <p:cNvPicPr>
            <a:picLocks noChangeAspect="1"/>
          </p:cNvPicPr>
          <p:nvPr/>
        </p:nvPicPr>
        <p:blipFill>
          <a:blip r:embed="rId3"/>
          <a:stretch>
            <a:fillRect/>
          </a:stretch>
        </p:blipFill>
        <p:spPr>
          <a:xfrm>
            <a:off x="622354" y="1949509"/>
            <a:ext cx="6096000" cy="1352550"/>
          </a:xfrm>
          <a:prstGeom prst="rect">
            <a:avLst/>
          </a:prstGeom>
        </p:spPr>
      </p:pic>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pic>
        <p:nvPicPr>
          <p:cNvPr id="35" name="Grafik 34"/>
          <p:cNvPicPr>
            <a:picLocks noChangeAspect="1"/>
          </p:cNvPicPr>
          <p:nvPr/>
        </p:nvPicPr>
        <p:blipFill rotWithShape="1">
          <a:blip r:embed="rId4"/>
          <a:srcRect b="73902"/>
          <a:stretch/>
        </p:blipFill>
        <p:spPr>
          <a:xfrm>
            <a:off x="622354" y="3748215"/>
            <a:ext cx="6096000" cy="618972"/>
          </a:xfrm>
          <a:prstGeom prst="rect">
            <a:avLst/>
          </a:prstGeom>
        </p:spPr>
      </p:pic>
      <p:sp>
        <p:nvSpPr>
          <p:cNvPr id="36" name="Geschweifte Klammer links 35"/>
          <p:cNvSpPr/>
          <p:nvPr/>
        </p:nvSpPr>
        <p:spPr>
          <a:xfrm rot="10800000">
            <a:off x="6840449" y="1948457"/>
            <a:ext cx="182841" cy="136207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37" name="Textfeld 36"/>
          <p:cNvSpPr txBox="1"/>
          <p:nvPr/>
        </p:nvSpPr>
        <p:spPr>
          <a:xfrm>
            <a:off x="7036942" y="2503064"/>
            <a:ext cx="1851480" cy="261610"/>
          </a:xfrm>
          <a:prstGeom prst="rect">
            <a:avLst/>
          </a:prstGeom>
          <a:noFill/>
          <a:ln>
            <a:noFill/>
          </a:ln>
        </p:spPr>
        <p:txBody>
          <a:bodyPr wrap="square" rtlCol="0">
            <a:spAutoFit/>
          </a:bodyPr>
          <a:lstStyle/>
          <a:p>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38" name="Textfeld 37"/>
          <p:cNvSpPr txBox="1"/>
          <p:nvPr/>
        </p:nvSpPr>
        <p:spPr>
          <a:xfrm>
            <a:off x="6943772" y="3962142"/>
            <a:ext cx="1727206" cy="400110"/>
          </a:xfrm>
          <a:prstGeom prst="rect">
            <a:avLst/>
          </a:prstGeom>
          <a:noFill/>
          <a:ln>
            <a:noFill/>
          </a:ln>
        </p:spPr>
        <p:txBody>
          <a:bodyPr wrap="square" rtlCol="0">
            <a:spAutoFit/>
          </a:bodyPr>
          <a:lstStyle/>
          <a:p>
            <a:r>
              <a:rPr lang="de-AT" sz="1000" b="1" i="1" dirty="0">
                <a:solidFill>
                  <a:schemeClr val="accent1"/>
                </a:solidFill>
              </a:rPr>
              <a:t>Due </a:t>
            </a:r>
            <a:r>
              <a:rPr lang="de-AT" sz="1000" b="1" i="1" dirty="0" err="1">
                <a:solidFill>
                  <a:schemeClr val="accent1"/>
                </a:solidFill>
              </a:rPr>
              <a:t>to</a:t>
            </a:r>
            <a:r>
              <a:rPr lang="de-AT" sz="1000" b="1" i="1" dirty="0">
                <a:solidFill>
                  <a:schemeClr val="accent1"/>
                </a:solidFill>
              </a:rPr>
              <a:t> </a:t>
            </a:r>
            <a:r>
              <a:rPr lang="de-AT" sz="1000" b="1" i="1" dirty="0" err="1">
                <a:solidFill>
                  <a:schemeClr val="accent1"/>
                </a:solidFill>
              </a:rPr>
              <a:t>re-charging</a:t>
            </a:r>
            <a:r>
              <a:rPr lang="de-AT" sz="1000" b="1" i="1" dirty="0">
                <a:solidFill>
                  <a:schemeClr val="accent1"/>
                </a:solidFill>
              </a:rPr>
              <a:t> </a:t>
            </a:r>
            <a:r>
              <a:rPr lang="de-AT" sz="1000" b="1" i="1" dirty="0" err="1">
                <a:solidFill>
                  <a:schemeClr val="accent1"/>
                </a:solidFill>
              </a:rPr>
              <a:t>during</a:t>
            </a:r>
            <a:r>
              <a:rPr lang="de-AT" sz="1000" b="1" i="1" dirty="0">
                <a:solidFill>
                  <a:schemeClr val="accent1"/>
                </a:solidFill>
              </a:rPr>
              <a:t> </a:t>
            </a:r>
            <a:r>
              <a:rPr lang="de-AT" sz="1000" b="1" i="1" dirty="0" err="1">
                <a:solidFill>
                  <a:schemeClr val="accent1"/>
                </a:solidFill>
              </a:rPr>
              <a:t>mission</a:t>
            </a:r>
            <a:endParaRPr lang="de-AT" sz="1000" b="1" i="1" dirty="0">
              <a:solidFill>
                <a:schemeClr val="accent1"/>
              </a:solidFill>
            </a:endParaRPr>
          </a:p>
        </p:txBody>
      </p:sp>
      <p:sp>
        <p:nvSpPr>
          <p:cNvPr id="39" name="Geschweifte Klammer links 38"/>
          <p:cNvSpPr/>
          <p:nvPr/>
        </p:nvSpPr>
        <p:spPr>
          <a:xfrm rot="10800000">
            <a:off x="6760931" y="3969186"/>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40" name="Pfeil nach unten 39"/>
          <p:cNvSpPr/>
          <p:nvPr/>
        </p:nvSpPr>
        <p:spPr>
          <a:xfrm>
            <a:off x="927216" y="3367290"/>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2009147" y="3311769"/>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consumption</a:t>
            </a:r>
            <a:r>
              <a:rPr lang="de-AT" sz="1100" b="1" i="1" dirty="0">
                <a:solidFill>
                  <a:schemeClr val="accent1"/>
                </a:solidFill>
              </a:rPr>
              <a:t> </a:t>
            </a:r>
            <a:r>
              <a:rPr lang="de-AT" sz="1100" b="1" i="1" dirty="0" err="1">
                <a:solidFill>
                  <a:schemeClr val="accent1"/>
                </a:solidFill>
              </a:rPr>
              <a:t>figures</a:t>
            </a:r>
            <a:r>
              <a:rPr lang="de-AT" sz="1100" b="1" i="1" dirty="0">
                <a:solidFill>
                  <a:schemeClr val="accent1"/>
                </a:solidFill>
              </a:rPr>
              <a:t> (</a:t>
            </a:r>
            <a:r>
              <a:rPr lang="de-AT" sz="1100" b="1" i="1" dirty="0" err="1">
                <a:solidFill>
                  <a:schemeClr val="accent1"/>
                </a:solidFill>
              </a:rPr>
              <a:t>previous</a:t>
            </a:r>
            <a:r>
              <a:rPr lang="de-AT" sz="1100" b="1" i="1" dirty="0">
                <a:solidFill>
                  <a:schemeClr val="accent1"/>
                </a:solidFill>
              </a:rPr>
              <a:t> </a:t>
            </a:r>
            <a:r>
              <a:rPr lang="de-AT" sz="1100" b="1" i="1" dirty="0" err="1">
                <a:solidFill>
                  <a:schemeClr val="accent1"/>
                </a:solidFill>
              </a:rPr>
              <a:t>slide</a:t>
            </a:r>
            <a:r>
              <a:rPr lang="de-AT" sz="1100" b="1" i="1" dirty="0">
                <a:solidFill>
                  <a:schemeClr val="accent1"/>
                </a:solidFill>
              </a:rPr>
              <a:t>) </a:t>
            </a:r>
            <a:r>
              <a:rPr lang="de-AT" sz="1100" b="1" i="1" dirty="0" err="1">
                <a:solidFill>
                  <a:schemeClr val="accent1"/>
                </a:solidFill>
              </a:rPr>
              <a:t>and</a:t>
            </a:r>
            <a:r>
              <a:rPr lang="de-AT" sz="1100" b="1" i="1" dirty="0">
                <a:solidFill>
                  <a:schemeClr val="accent1"/>
                </a:solidFill>
              </a:rPr>
              <a:t> </a:t>
            </a:r>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42" name="Textfeld 41"/>
          <p:cNvSpPr txBox="1"/>
          <p:nvPr/>
        </p:nvSpPr>
        <p:spPr>
          <a:xfrm>
            <a:off x="6650196" y="3713257"/>
            <a:ext cx="2366804" cy="246221"/>
          </a:xfrm>
          <a:prstGeom prst="rect">
            <a:avLst/>
          </a:prstGeom>
          <a:noFill/>
          <a:ln>
            <a:noFill/>
          </a:ln>
        </p:spPr>
        <p:txBody>
          <a:bodyPr wrap="square" rtlCol="0">
            <a:spAutoFit/>
          </a:bodyPr>
          <a:lstStyle/>
          <a:p>
            <a:r>
              <a:rPr lang="de-AT" sz="1000" b="1" i="1" dirty="0">
                <a:solidFill>
                  <a:schemeClr val="accent1"/>
                </a:solidFill>
              </a:rPr>
              <a:t>R</a:t>
            </a:r>
            <a:r>
              <a:rPr lang="de-AT" sz="1000" b="1" i="1" baseline="-25000" dirty="0">
                <a:solidFill>
                  <a:schemeClr val="accent1"/>
                </a:solidFill>
              </a:rPr>
              <a:t>CDA</a:t>
            </a:r>
            <a:r>
              <a:rPr lang="de-AT" sz="1000" b="1" i="1" dirty="0">
                <a:solidFill>
                  <a:schemeClr val="accent1"/>
                </a:solidFill>
              </a:rPr>
              <a:t> </a:t>
            </a:r>
            <a:r>
              <a:rPr lang="de-AT" sz="1000" b="1" i="1" dirty="0" err="1">
                <a:solidFill>
                  <a:schemeClr val="accent1"/>
                </a:solidFill>
              </a:rPr>
              <a:t>corrected</a:t>
            </a:r>
            <a:r>
              <a:rPr lang="de-AT" sz="1000" b="1" i="1" dirty="0">
                <a:solidFill>
                  <a:schemeClr val="accent1"/>
                </a:solidFill>
              </a:rPr>
              <a:t> </a:t>
            </a:r>
            <a:r>
              <a:rPr lang="de-AT" sz="1000" b="1" i="1" dirty="0" err="1">
                <a:solidFill>
                  <a:schemeClr val="accent1"/>
                </a:solidFill>
              </a:rPr>
              <a:t>by</a:t>
            </a:r>
            <a:r>
              <a:rPr lang="de-AT" sz="1000" b="1" i="1" dirty="0">
                <a:solidFill>
                  <a:schemeClr val="accent1"/>
                </a:solidFill>
              </a:rPr>
              <a:t> real </a:t>
            </a:r>
            <a:r>
              <a:rPr lang="de-AT" sz="1000" b="1" i="1" dirty="0" err="1">
                <a:solidFill>
                  <a:schemeClr val="accent1"/>
                </a:solidFill>
              </a:rPr>
              <a:t>world</a:t>
            </a:r>
            <a:r>
              <a:rPr lang="de-AT" sz="1000" b="1" i="1" dirty="0">
                <a:solidFill>
                  <a:schemeClr val="accent1"/>
                </a:solidFill>
              </a:rPr>
              <a:t> </a:t>
            </a:r>
            <a:r>
              <a:rPr lang="de-AT" sz="1000" b="1" i="1" dirty="0" err="1">
                <a:solidFill>
                  <a:schemeClr val="accent1"/>
                </a:solidFill>
              </a:rPr>
              <a:t>factor</a:t>
            </a:r>
            <a:endParaRPr lang="de-AT" sz="1000" b="1" i="1" dirty="0">
              <a:solidFill>
                <a:schemeClr val="accent1"/>
              </a:solidFill>
            </a:endParaRPr>
          </a:p>
        </p:txBody>
      </p:sp>
      <p:sp>
        <p:nvSpPr>
          <p:cNvPr id="43" name="Pfeil nach unten 42"/>
          <p:cNvSpPr/>
          <p:nvPr/>
        </p:nvSpPr>
        <p:spPr>
          <a:xfrm>
            <a:off x="927216" y="4386831"/>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4" name="Textfeld 43"/>
          <p:cNvSpPr txBox="1"/>
          <p:nvPr/>
        </p:nvSpPr>
        <p:spPr>
          <a:xfrm>
            <a:off x="2009147" y="4345213"/>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as</a:t>
            </a:r>
            <a:r>
              <a:rPr lang="de-AT" sz="1100" b="1" i="1" dirty="0">
                <a:solidFill>
                  <a:schemeClr val="accent1"/>
                </a:solidFill>
              </a:rPr>
              <a:t> </a:t>
            </a:r>
            <a:r>
              <a:rPr lang="en-US" sz="1100" b="1" i="1" dirty="0">
                <a:solidFill>
                  <a:schemeClr val="accent1"/>
                </a:solidFill>
              </a:rPr>
              <a:t>share of electric range in CD mode on total daily mileage (163.9 + 32.0 = 195.8 / 480)</a:t>
            </a:r>
            <a:endParaRPr lang="de-AT" sz="1100" b="1" i="1" dirty="0">
              <a:solidFill>
                <a:schemeClr val="accent1"/>
              </a:solidFill>
            </a:endParaRPr>
          </a:p>
        </p:txBody>
      </p:sp>
      <p:pic>
        <p:nvPicPr>
          <p:cNvPr id="45" name="Grafik 44"/>
          <p:cNvPicPr>
            <a:picLocks noChangeAspect="1"/>
          </p:cNvPicPr>
          <p:nvPr/>
        </p:nvPicPr>
        <p:blipFill rotWithShape="1">
          <a:blip r:embed="rId5"/>
          <a:srcRect r="5943" b="70299"/>
          <a:stretch/>
        </p:blipFill>
        <p:spPr>
          <a:xfrm>
            <a:off x="7010845" y="5661603"/>
            <a:ext cx="2124000" cy="192332"/>
          </a:xfrm>
          <a:prstGeom prst="rect">
            <a:avLst/>
          </a:prstGeom>
        </p:spPr>
      </p:pic>
      <p:sp>
        <p:nvSpPr>
          <p:cNvPr id="46" name="Geschweifte Klammer links 45"/>
          <p:cNvSpPr/>
          <p:nvPr/>
        </p:nvSpPr>
        <p:spPr>
          <a:xfrm rot="10800000">
            <a:off x="6760932" y="5572929"/>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24587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e-PTO in MUN cycle</a:t>
            </a:r>
          </a:p>
        </p:txBody>
      </p:sp>
      <p:sp>
        <p:nvSpPr>
          <p:cNvPr id="3" name="Inhaltsplatzhalter 2"/>
          <p:cNvSpPr>
            <a:spLocks noGrp="1"/>
          </p:cNvSpPr>
          <p:nvPr>
            <p:ph idx="1"/>
          </p:nvPr>
        </p:nvSpPr>
        <p:spPr/>
        <p:txBody>
          <a:bodyPr/>
          <a:lstStyle/>
          <a:p>
            <a:pPr>
              <a:spcBef>
                <a:spcPts val="600"/>
              </a:spcBef>
            </a:pPr>
            <a:r>
              <a:rPr lang="en-US" sz="1800" dirty="0"/>
              <a:t>e-PTO applied for PEV and S-HEV in the MUN cycle (generic refuse body)</a:t>
            </a:r>
            <a:br>
              <a:rPr lang="en-US" sz="1800" dirty="0"/>
            </a:br>
            <a:endParaRPr lang="en-US" sz="1800" dirty="0"/>
          </a:p>
          <a:p>
            <a:pPr>
              <a:spcBef>
                <a:spcPts val="600"/>
              </a:spcBef>
            </a:pPr>
            <a:r>
              <a:rPr lang="en-US" sz="1800" dirty="0"/>
              <a:t>e-PTO cycle </a:t>
            </a:r>
            <a:r>
              <a:rPr lang="en-US" sz="1800" dirty="0" err="1"/>
              <a:t>P</a:t>
            </a:r>
            <a:r>
              <a:rPr lang="en-US" sz="1800" baseline="-25000" dirty="0" err="1"/>
              <a:t>el,PTO</a:t>
            </a:r>
            <a:r>
              <a:rPr lang="en-US" sz="1800" dirty="0"/>
              <a:t> = f(t) derived from:</a:t>
            </a:r>
          </a:p>
          <a:p>
            <a:pPr lvl="1">
              <a:spcBef>
                <a:spcPts val="600"/>
              </a:spcBef>
            </a:pPr>
            <a:r>
              <a:rPr lang="en-US" sz="1600" dirty="0"/>
              <a:t>generic hydraulic pump cycle for ICE and the allocated  ICE high idle speed</a:t>
            </a:r>
          </a:p>
          <a:p>
            <a:pPr lvl="1">
              <a:spcBef>
                <a:spcPts val="600"/>
              </a:spcBef>
            </a:pPr>
            <a:r>
              <a:rPr lang="en-US" sz="1600" dirty="0"/>
              <a:t>assuming an average e-PTO efficiency of 80%</a:t>
            </a:r>
            <a:br>
              <a:rPr lang="en-US" sz="1600" dirty="0"/>
            </a:br>
            <a:endParaRPr lang="en-US" sz="1600" dirty="0"/>
          </a:p>
          <a:p>
            <a:pPr>
              <a:spcBef>
                <a:spcPts val="600"/>
              </a:spcBef>
            </a:pPr>
            <a:r>
              <a:rPr lang="en-US" sz="1800" dirty="0"/>
              <a:t>Calculation is included time-resolved in the </a:t>
            </a:r>
            <a:r>
              <a:rPr lang="en-US" sz="1800" dirty="0" err="1"/>
              <a:t>vmod</a:t>
            </a:r>
            <a:r>
              <a:rPr lang="en-US" sz="1800" dirty="0"/>
              <a:t> file  </a:t>
            </a:r>
            <a:br>
              <a:rPr lang="en-US" sz="1800" dirty="0"/>
            </a:br>
            <a:endParaRPr lang="en-US" sz="1800" dirty="0"/>
          </a:p>
          <a:p>
            <a:pPr>
              <a:spcBef>
                <a:spcPts val="600"/>
              </a:spcBef>
            </a:pPr>
            <a:r>
              <a:rPr lang="en-US" sz="1800" dirty="0"/>
              <a:t>Electric energy consumption is considered in electric range for MUN </a:t>
            </a:r>
            <a:r>
              <a:rPr lang="en-US" sz="1800" dirty="0" err="1"/>
              <a:t>cyle</a:t>
            </a:r>
            <a:endParaRPr lang="en-US" sz="18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Tree>
    <p:extLst>
      <p:ext uri="{BB962C8B-B14F-4D97-AF65-F5344CB8AC3E}">
        <p14:creationId xmlns:p14="http://schemas.microsoft.com/office/powerpoint/2010/main" val="3572426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Known issues with current version</a:t>
            </a:r>
          </a:p>
        </p:txBody>
      </p:sp>
      <p:sp>
        <p:nvSpPr>
          <p:cNvPr id="3" name="Inhaltsplatzhalter 2"/>
          <p:cNvSpPr>
            <a:spLocks noGrp="1"/>
          </p:cNvSpPr>
          <p:nvPr>
            <p:ph idx="1"/>
          </p:nvPr>
        </p:nvSpPr>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sym typeface="Wingdings" panose="05000000000000000000" pitchFamily="2" charset="2"/>
              </a:rPr>
              <a:t>Generic P-HEV strategy:</a:t>
            </a:r>
            <a:br>
              <a:rPr lang="en-US" sz="1600" dirty="0">
                <a:sym typeface="Wingdings" panose="05000000000000000000" pitchFamily="2" charset="2"/>
              </a:rPr>
            </a:br>
            <a:r>
              <a:rPr lang="en-US" sz="1600" dirty="0">
                <a:sym typeface="Wingdings" panose="05000000000000000000" pitchFamily="2" charset="2"/>
              </a:rPr>
              <a:t> </a:t>
            </a:r>
            <a:r>
              <a:rPr lang="en-US" sz="1400" dirty="0">
                <a:sym typeface="Wingdings" panose="05000000000000000000" pitchFamily="2" charset="2"/>
              </a:rPr>
              <a:t>To be tested whether an alternative post-processing method for vehicles with very small batteries is needed as back-up</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Generic SOC min/max ranges and deterioration (only preliminary values)</a:t>
            </a:r>
          </a:p>
          <a:p>
            <a:pPr lvl="1"/>
            <a:r>
              <a:rPr lang="en-US" sz="1400" dirty="0"/>
              <a:t>Multiple SOC level(s) for VECTO PEV simulation and respective weighting of results</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Tree>
    <p:extLst>
      <p:ext uri="{BB962C8B-B14F-4D97-AF65-F5344CB8AC3E}">
        <p14:creationId xmlns:p14="http://schemas.microsoft.com/office/powerpoint/2010/main" val="1432482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380" y="410547"/>
            <a:ext cx="8229240" cy="939281"/>
          </a:xfrm>
        </p:spPr>
        <p:txBody>
          <a:bodyPr/>
          <a:lstStyle/>
          <a:p>
            <a:r>
              <a:rPr lang="en-GB" sz="2400" spc="-1" dirty="0">
                <a:solidFill>
                  <a:srgbClr val="990000"/>
                </a:solidFill>
                <a:latin typeface="Arial"/>
              </a:rPr>
              <a:t>DECL Lorries – </a:t>
            </a:r>
            <a:r>
              <a:rPr lang="en-US" sz="2400" spc="-1" dirty="0">
                <a:solidFill>
                  <a:srgbClr val="990000"/>
                </a:solidFill>
                <a:latin typeface="Arial"/>
              </a:rPr>
              <a:t>Testing requests and organ. of feedback</a:t>
            </a:r>
            <a:endParaRPr lang="en-US" dirty="0"/>
          </a:p>
        </p:txBody>
      </p:sp>
      <p:sp>
        <p:nvSpPr>
          <p:cNvPr id="3" name="Inhaltsplatzhalter 2"/>
          <p:cNvSpPr>
            <a:spLocks noGrp="1"/>
          </p:cNvSpPr>
          <p:nvPr>
            <p:ph idx="1"/>
          </p:nvPr>
        </p:nvSpPr>
        <p:spPr/>
        <p:txBody>
          <a:bodyPr/>
          <a:lstStyle/>
          <a:p>
            <a:pPr>
              <a:spcBef>
                <a:spcPts val="900"/>
              </a:spcBef>
            </a:pPr>
            <a:r>
              <a:rPr lang="en-US" sz="1600" dirty="0"/>
              <a:t>Testing requests:</a:t>
            </a:r>
          </a:p>
          <a:p>
            <a:pPr lvl="1"/>
            <a:r>
              <a:rPr lang="en-US" sz="1400" dirty="0"/>
              <a:t>Test configurations relevant in your portfolio</a:t>
            </a:r>
          </a:p>
          <a:p>
            <a:pPr lvl="1"/>
            <a:r>
              <a:rPr lang="en-US" sz="1400" dirty="0"/>
              <a:t>Specific analysis regarding open issues as mentioned on slide “Known issues with current version”</a:t>
            </a:r>
          </a:p>
          <a:p>
            <a:pPr>
              <a:spcBef>
                <a:spcPts val="900"/>
              </a:spcBef>
            </a:pPr>
            <a:r>
              <a:rPr lang="en-US" sz="1600" dirty="0"/>
              <a:t>Feedback</a:t>
            </a:r>
          </a:p>
          <a:p>
            <a:pPr lvl="1"/>
            <a:r>
              <a:rPr lang="en-US" sz="1400" dirty="0"/>
              <a:t>Bug reports, questions etc.: please </a:t>
            </a:r>
            <a:r>
              <a:rPr lang="en-US" sz="1400" b="1" u="sng" dirty="0"/>
              <a:t>ONLY use JIRA</a:t>
            </a:r>
            <a:r>
              <a:rPr lang="en-US" sz="1400" dirty="0"/>
              <a:t> (no specific emails regarding those topics in the upcoming period)</a:t>
            </a:r>
          </a:p>
          <a:p>
            <a:pPr lvl="1"/>
            <a:r>
              <a:rPr lang="en-US" sz="1400" dirty="0"/>
              <a:t>If there is an urgent need for a meeting before the next DEV workshop (e.g. because of a special problem), this will be announced separately.</a:t>
            </a:r>
          </a:p>
          <a:p>
            <a:pPr marL="266700" lvl="1">
              <a:spcBef>
                <a:spcPts val="900"/>
              </a:spcBef>
              <a:buClr>
                <a:srgbClr val="F70146"/>
              </a:buClr>
            </a:pPr>
            <a:r>
              <a:rPr lang="en-US" sz="1600" dirty="0"/>
              <a:t>Bug fixing and support</a:t>
            </a:r>
          </a:p>
          <a:p>
            <a:pPr lvl="1"/>
            <a:r>
              <a:rPr lang="en-US" sz="1400" dirty="0"/>
              <a:t>TUG will focus on </a:t>
            </a:r>
            <a:r>
              <a:rPr lang="en-US" sz="1400" dirty="0" err="1"/>
              <a:t>finalising</a:t>
            </a:r>
            <a:r>
              <a:rPr lang="en-US" sz="1400" dirty="0"/>
              <a:t> the DECL for buses in the coming weeks.</a:t>
            </a:r>
          </a:p>
          <a:p>
            <a:pPr lvl="1"/>
            <a:r>
              <a:rPr lang="en-US" sz="1400" dirty="0"/>
              <a:t>Topics for the DECL for lorries will be collected and sorted by priority.</a:t>
            </a:r>
          </a:p>
          <a:p>
            <a:pPr lvl="1"/>
            <a:r>
              <a:rPr lang="en-US" sz="1400" dirty="0"/>
              <a:t>Unless urgent </a:t>
            </a:r>
            <a:r>
              <a:rPr lang="en-US" sz="1400" dirty="0" err="1"/>
              <a:t>bugfix</a:t>
            </a:r>
            <a:r>
              <a:rPr lang="en-US" sz="1400" dirty="0"/>
              <a:t> releases for blocking issues, there will be no new release before May.</a:t>
            </a:r>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Tree>
    <p:extLst>
      <p:ext uri="{BB962C8B-B14F-4D97-AF65-F5344CB8AC3E}">
        <p14:creationId xmlns:p14="http://schemas.microsoft.com/office/powerpoint/2010/main" val="26020678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0.7.9.2864 JRC Development Version</a:t>
            </a:r>
            <a:r>
              <a:rPr lang="en-US" sz="2400" b="0" strike="noStrike" spc="-1" dirty="0">
                <a:latin typeface="Arial"/>
              </a:rPr>
              <a:t> </a:t>
            </a:r>
            <a:br>
              <a:rPr sz="2400" dirty="0"/>
            </a:br>
            <a:r>
              <a:rPr lang="en-US" sz="1600" b="1" strike="noStrike" spc="-1" dirty="0">
                <a:solidFill>
                  <a:srgbClr val="990000"/>
                </a:solidFill>
                <a:latin typeface="Arial"/>
              </a:rPr>
              <a:t>November 2022</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dirty="0">
                <a:solidFill>
                  <a:srgbClr val="990000"/>
                </a:solidFill>
                <a:latin typeface="Arial"/>
              </a:rPr>
              <a:t>Peculiarities of IEPC</a:t>
            </a:r>
            <a:endParaRPr lang="en-US" sz="2400" b="0" strike="noStrike" spc="-1" dirty="0">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16981</Words>
  <Application>Microsoft Office PowerPoint</Application>
  <PresentationFormat>Bildschirmpräsentation (4:3)</PresentationFormat>
  <Paragraphs>1765</Paragraphs>
  <Slides>145</Slides>
  <Notes>0</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145</vt:i4>
      </vt:variant>
    </vt:vector>
  </HeadingPairs>
  <TitlesOfParts>
    <vt:vector size="157" baseType="lpstr">
      <vt:lpstr>Microsoft YaHei</vt:lpstr>
      <vt:lpstr>Arial</vt:lpstr>
      <vt:lpstr>Calibri</vt:lpstr>
      <vt:lpstr>Cambria Math</vt:lpstr>
      <vt:lpstr>Courier New</vt:lpstr>
      <vt:lpstr>DejaVu Sans</vt:lpstr>
      <vt:lpstr>Symbol</vt:lpstr>
      <vt:lpstr>Times New Roman</vt:lpstr>
      <vt:lpstr>Verdana</vt:lpstr>
      <vt:lpstr>Wingdings</vt:lpstr>
      <vt:lpstr>Office Theme</vt:lpstr>
      <vt:lpstr>Office Theme</vt:lpstr>
      <vt:lpstr>PowerPoint-Präsentation</vt:lpstr>
      <vt:lpstr>Vecto 0.7.10.2995  Development Version  March 2023</vt:lpstr>
      <vt:lpstr>Declaration Mode Lorries – Overview (1/2)</vt:lpstr>
      <vt:lpstr>Declaration Mode Lorries – Overview (2/2)</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parametrisation P-HEV strategy </vt:lpstr>
      <vt:lpstr>DECL Lorries – Generic parametrisation P-HEV strategy </vt:lpstr>
      <vt:lpstr>DECL Lorries – Generic parametrisation P-HEV strategy </vt:lpstr>
      <vt:lpstr>Updated P-HEV gear shift model (DECL + ENG) </vt:lpstr>
      <vt:lpstr>Updated P-HEV gear shift model (DECL + ENG) </vt:lpstr>
      <vt:lpstr>Updated time-based with gear mode for AT (ENG only)​</vt:lpstr>
      <vt:lpstr>DECL Lorries – Generic parametrisation usable SOC range</vt:lpstr>
      <vt:lpstr>DECL Lorries – Separate approach „CD mode“ simulation</vt:lpstr>
      <vt:lpstr>DECL Lorries – Calculation EC at “battery terminals”</vt:lpstr>
      <vt:lpstr>DECL Lorries – Calculation EC at “battery terminals”</vt:lpstr>
      <vt:lpstr>DECL Lorries – Calculation EC at “battery terminals”</vt:lpstr>
      <vt:lpstr>DECL Lorries – Calculation EC at “battery terminals”</vt:lpstr>
      <vt:lpstr>DECL Lorries – Automation of OVC-HEV simulation</vt:lpstr>
      <vt:lpstr>DECL Lorries – Automation of OVC-HEV simulation</vt:lpstr>
      <vt:lpstr>DECL Lorries – Range calculations</vt:lpstr>
      <vt:lpstr>DECL Lorries – Automation of OVC-HEV simulation</vt:lpstr>
      <vt:lpstr>DECL Lorries – Automation of OVC-HEV simulation - EX</vt:lpstr>
      <vt:lpstr>DECL Lorries – Automation of OVC-HEV simulation - EX</vt:lpstr>
      <vt:lpstr>DECL Lorries – Generic e-PTO in MUN cycle</vt:lpstr>
      <vt:lpstr>DECL Lorries – Known issues with current version</vt:lpstr>
      <vt:lpstr>DECL Lorries – Testing requests and organ. of feedback</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Quaritsch Markus</cp:lastModifiedBy>
  <cp:revision>1298</cp:revision>
  <cp:lastPrinted>2013-01-22T12:03:30Z</cp:lastPrinted>
  <dcterms:created xsi:type="dcterms:W3CDTF">2010-01-07T15:28:02Z</dcterms:created>
  <dcterms:modified xsi:type="dcterms:W3CDTF">2023-03-15T12:43:56Z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