
<file path=[Content_Types].xml><?xml version="1.0" encoding="utf-8"?>
<Types xmlns="http://schemas.openxmlformats.org/package/2006/content-types">
  <Default Extension="png" ContentType="image/png"/>
  <Default Extension="jpeg" ContentType="image/jpeg"/>
  <Default Extension="emf" ContentType="image/x-emf"/>
  <Default Extension="wmf" ContentType="image/x-w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sldIdLst>
    <p:sldId id="256" r:id="rId3"/>
    <p:sldId id="371" r:id="rId4"/>
    <p:sldId id="1101" r:id="rId5"/>
    <p:sldId id="1105" r:id="rId6"/>
    <p:sldId id="1134" r:id="rId7"/>
    <p:sldId id="1135" r:id="rId8"/>
    <p:sldId id="1136" r:id="rId9"/>
    <p:sldId id="1137" r:id="rId10"/>
    <p:sldId id="1138" r:id="rId11"/>
    <p:sldId id="1139" r:id="rId12"/>
    <p:sldId id="1140" r:id="rId13"/>
    <p:sldId id="1141" r:id="rId14"/>
    <p:sldId id="1142" r:id="rId15"/>
    <p:sldId id="1143" r:id="rId16"/>
    <p:sldId id="1126" r:id="rId17"/>
    <p:sldId id="1132" r:id="rId18"/>
    <p:sldId id="1133" r:id="rId19"/>
    <p:sldId id="1144" r:id="rId20"/>
    <p:sldId id="1145" r:id="rId21"/>
    <p:sldId id="1146" r:id="rId22"/>
    <p:sldId id="1147" r:id="rId23"/>
    <p:sldId id="1148" r:id="rId24"/>
    <p:sldId id="1149" r:id="rId25"/>
    <p:sldId id="1150" r:id="rId26"/>
    <p:sldId id="1151" r:id="rId27"/>
    <p:sldId id="1152" r:id="rId28"/>
    <p:sldId id="1153" r:id="rId29"/>
    <p:sldId id="1154" r:id="rId30"/>
    <p:sldId id="1155" r:id="rId31"/>
    <p:sldId id="1156" r:id="rId32"/>
    <p:sldId id="1157" r:id="rId33"/>
    <p:sldId id="1115" r:id="rId34"/>
    <p:sldId id="257" r:id="rId35"/>
    <p:sldId id="258" r:id="rId36"/>
    <p:sldId id="259" r:id="rId37"/>
    <p:sldId id="260" r:id="rId38"/>
    <p:sldId id="261" r:id="rId39"/>
    <p:sldId id="262" r:id="rId40"/>
    <p:sldId id="263" r:id="rId41"/>
    <p:sldId id="264" r:id="rId42"/>
    <p:sldId id="265" r:id="rId43"/>
    <p:sldId id="266" r:id="rId44"/>
    <p:sldId id="267" r:id="rId45"/>
    <p:sldId id="268" r:id="rId46"/>
    <p:sldId id="269" r:id="rId47"/>
    <p:sldId id="270" r:id="rId48"/>
    <p:sldId id="271" r:id="rId49"/>
    <p:sldId id="272" r:id="rId50"/>
    <p:sldId id="273" r:id="rId51"/>
    <p:sldId id="274" r:id="rId52"/>
    <p:sldId id="275" r:id="rId53"/>
    <p:sldId id="276" r:id="rId54"/>
    <p:sldId id="277" r:id="rId55"/>
    <p:sldId id="278" r:id="rId56"/>
    <p:sldId id="279" r:id="rId57"/>
    <p:sldId id="280" r:id="rId58"/>
    <p:sldId id="281" r:id="rId59"/>
    <p:sldId id="282" r:id="rId60"/>
    <p:sldId id="283" r:id="rId61"/>
    <p:sldId id="284" r:id="rId62"/>
    <p:sldId id="285" r:id="rId63"/>
    <p:sldId id="286" r:id="rId64"/>
    <p:sldId id="287" r:id="rId65"/>
    <p:sldId id="288" r:id="rId66"/>
    <p:sldId id="289" r:id="rId67"/>
    <p:sldId id="290" r:id="rId68"/>
    <p:sldId id="291" r:id="rId69"/>
    <p:sldId id="292" r:id="rId70"/>
    <p:sldId id="293" r:id="rId71"/>
    <p:sldId id="294" r:id="rId72"/>
    <p:sldId id="295" r:id="rId73"/>
    <p:sldId id="296" r:id="rId74"/>
    <p:sldId id="297" r:id="rId75"/>
    <p:sldId id="298" r:id="rId76"/>
    <p:sldId id="299" r:id="rId77"/>
    <p:sldId id="300" r:id="rId78"/>
    <p:sldId id="301" r:id="rId79"/>
    <p:sldId id="302" r:id="rId80"/>
    <p:sldId id="303" r:id="rId81"/>
    <p:sldId id="304" r:id="rId82"/>
    <p:sldId id="305" r:id="rId83"/>
    <p:sldId id="306" r:id="rId84"/>
    <p:sldId id="307" r:id="rId85"/>
    <p:sldId id="308" r:id="rId86"/>
    <p:sldId id="309" r:id="rId87"/>
    <p:sldId id="310" r:id="rId88"/>
    <p:sldId id="311" r:id="rId89"/>
    <p:sldId id="312" r:id="rId90"/>
    <p:sldId id="313" r:id="rId91"/>
    <p:sldId id="314" r:id="rId92"/>
    <p:sldId id="315" r:id="rId93"/>
    <p:sldId id="316" r:id="rId94"/>
    <p:sldId id="317" r:id="rId95"/>
    <p:sldId id="318" r:id="rId96"/>
    <p:sldId id="319" r:id="rId97"/>
    <p:sldId id="320" r:id="rId98"/>
    <p:sldId id="321" r:id="rId99"/>
    <p:sldId id="322" r:id="rId100"/>
    <p:sldId id="323" r:id="rId101"/>
    <p:sldId id="324" r:id="rId102"/>
    <p:sldId id="325" r:id="rId103"/>
    <p:sldId id="326" r:id="rId104"/>
    <p:sldId id="327" r:id="rId105"/>
    <p:sldId id="328" r:id="rId106"/>
    <p:sldId id="329" r:id="rId107"/>
    <p:sldId id="330" r:id="rId108"/>
    <p:sldId id="331" r:id="rId109"/>
    <p:sldId id="332" r:id="rId110"/>
    <p:sldId id="333" r:id="rId111"/>
    <p:sldId id="334" r:id="rId112"/>
    <p:sldId id="335" r:id="rId113"/>
    <p:sldId id="336" r:id="rId114"/>
    <p:sldId id="337" r:id="rId115"/>
    <p:sldId id="338" r:id="rId116"/>
    <p:sldId id="339" r:id="rId117"/>
    <p:sldId id="340" r:id="rId118"/>
    <p:sldId id="341" r:id="rId119"/>
    <p:sldId id="342" r:id="rId120"/>
    <p:sldId id="343" r:id="rId121"/>
    <p:sldId id="344" r:id="rId122"/>
    <p:sldId id="345" r:id="rId123"/>
    <p:sldId id="346" r:id="rId124"/>
    <p:sldId id="347" r:id="rId125"/>
    <p:sldId id="348" r:id="rId126"/>
    <p:sldId id="349" r:id="rId127"/>
    <p:sldId id="350" r:id="rId128"/>
    <p:sldId id="351" r:id="rId129"/>
    <p:sldId id="352" r:id="rId130"/>
    <p:sldId id="353" r:id="rId131"/>
    <p:sldId id="354" r:id="rId132"/>
    <p:sldId id="355" r:id="rId133"/>
    <p:sldId id="356" r:id="rId134"/>
    <p:sldId id="357" r:id="rId135"/>
    <p:sldId id="358" r:id="rId136"/>
    <p:sldId id="359" r:id="rId137"/>
    <p:sldId id="360" r:id="rId138"/>
    <p:sldId id="361" r:id="rId139"/>
    <p:sldId id="362" r:id="rId140"/>
    <p:sldId id="363" r:id="rId141"/>
    <p:sldId id="364" r:id="rId142"/>
    <p:sldId id="365" r:id="rId143"/>
    <p:sldId id="366" r:id="rId144"/>
    <p:sldId id="367" r:id="rId145"/>
    <p:sldId id="368" r:id="rId146"/>
    <p:sldId id="369" r:id="rId147"/>
  </p:sldIdLst>
  <p:sldSz cx="9144000" cy="6858000" type="screen4x3"/>
  <p:notesSz cx="7772400" cy="100584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4" d="100"/>
          <a:sy n="154" d="100"/>
        </p:scale>
        <p:origin x="2004" y="1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viewProps" Target="viewProps.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theme" Target="theme/theme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tableStyles" Target="tableStyle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lvl1pPr>
              <a:defRPr lang="en-US" sz="2400" b="1" strike="noStrike" kern="1200" spc="-1">
                <a:solidFill>
                  <a:srgbClr val="990000"/>
                </a:solidFill>
                <a:latin typeface="Arial"/>
                <a:ea typeface="+mj-ea"/>
                <a:cs typeface="+mj-cs"/>
              </a:defRPr>
            </a:lvl1pPr>
          </a:lstStyle>
          <a:p>
            <a:pPr algn="ctr">
              <a:buNone/>
            </a:pPr>
            <a:endParaRPr lang="en-US" sz="4400" b="0" strike="noStrike" spc="-1" dirty="0">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el und Inhalt (wide)">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585333" y="2146171"/>
            <a:ext cx="8229240" cy="3977280"/>
          </a:xfrm>
        </p:spPr>
        <p:txBody>
          <a:bodyPr/>
          <a:lstStyle>
            <a:lvl1pPr>
              <a:defRPr/>
            </a:lvl1pPr>
            <a:lvl2pPr marL="715963" indent="-266700">
              <a:buFont typeface="Wingdings" panose="05000000000000000000" pitchFamily="2" charset="2"/>
              <a:buChar char="§"/>
              <a:defRPr/>
            </a:lvl2pPr>
            <a:lvl3pPr>
              <a:defRPr/>
            </a:lvl3pPr>
            <a:lvl4pPr>
              <a:defRPr/>
            </a:lvl4pPr>
            <a:lvl5pPr>
              <a:defRPr/>
            </a:lvl5pPr>
          </a:lstStyle>
          <a:p>
            <a:pPr lvl="0"/>
            <a:r>
              <a:rPr lang="en-US" noProof="0" dirty="0"/>
              <a:t>Main items</a:t>
            </a:r>
          </a:p>
          <a:p>
            <a:pPr lvl="1"/>
            <a:r>
              <a:rPr lang="en-US" noProof="0" dirty="0"/>
              <a:t>Sub-items</a:t>
            </a:r>
          </a:p>
          <a:p>
            <a:pPr lvl="2"/>
            <a:r>
              <a:rPr lang="en-US" noProof="0" dirty="0"/>
              <a:t>Third layer</a:t>
            </a:r>
          </a:p>
          <a:p>
            <a:pPr lvl="3"/>
            <a:r>
              <a:rPr lang="en-US" noProof="0" dirty="0"/>
              <a:t>Fourth layer</a:t>
            </a:r>
          </a:p>
          <a:p>
            <a:pPr lvl="4"/>
            <a:r>
              <a:rPr lang="en-US" noProof="0" dirty="0"/>
              <a:t>Fifth layer</a:t>
            </a:r>
          </a:p>
        </p:txBody>
      </p:sp>
      <p:sp>
        <p:nvSpPr>
          <p:cNvPr id="6" name="Foliennummernplatzhalter 5"/>
          <p:cNvSpPr>
            <a:spLocks noGrp="1"/>
          </p:cNvSpPr>
          <p:nvPr>
            <p:ph type="sldNum" sz="quarter" idx="12"/>
          </p:nvPr>
        </p:nvSpPr>
        <p:spPr>
          <a:xfrm>
            <a:off x="128133" y="541651"/>
            <a:ext cx="0" cy="0"/>
          </a:xfrm>
        </p:spPr>
        <p:txBody>
          <a:bodyPr/>
          <a:lstStyle>
            <a:lvl1pPr>
              <a:defRPr sz="100">
                <a:solidFill>
                  <a:schemeClr val="bg1"/>
                </a:solidFill>
              </a:defRPr>
            </a:lvl1pPr>
          </a:lstStyle>
          <a:p>
            <a:endParaRPr lang="de-DE" dirty="0"/>
          </a:p>
        </p:txBody>
      </p:sp>
      <p:sp>
        <p:nvSpPr>
          <p:cNvPr id="5" name="Titel 4">
            <a:extLst>
              <a:ext uri="{FF2B5EF4-FFF2-40B4-BE49-F238E27FC236}">
                <a16:creationId xmlns:a16="http://schemas.microsoft.com/office/drawing/2014/main" id="{81462625-91C7-4999-896F-ACE029871690}"/>
              </a:ext>
            </a:extLst>
          </p:cNvPr>
          <p:cNvSpPr>
            <a:spLocks noGrp="1"/>
          </p:cNvSpPr>
          <p:nvPr>
            <p:ph type="title"/>
          </p:nvPr>
        </p:nvSpPr>
        <p:spPr>
          <a:xfrm>
            <a:off x="585333" y="850196"/>
            <a:ext cx="8229240" cy="1144800"/>
          </a:xfrm>
        </p:spPr>
        <p:txBody>
          <a:bodyPr/>
          <a:lstStyle/>
          <a:p>
            <a:r>
              <a:rPr lang="de-DE" dirty="0"/>
              <a:t>Mastertitelformat bearbeiten</a:t>
            </a:r>
            <a:endParaRPr lang="de-AT" dirty="0"/>
          </a:p>
        </p:txBody>
      </p:sp>
    </p:spTree>
    <p:extLst>
      <p:ext uri="{BB962C8B-B14F-4D97-AF65-F5344CB8AC3E}">
        <p14:creationId xmlns:p14="http://schemas.microsoft.com/office/powerpoint/2010/main" val="26600102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image" Target="../media/image2.png"/><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9"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0A73C48F-7230-42C2-BF20-5E467D5F244F}" type="slidenum">
              <a:rPr lang="de-AT" sz="1000" b="1" strike="noStrike" spc="-1">
                <a:solidFill>
                  <a:srgbClr val="7D7D7D"/>
                </a:solidFill>
                <a:latin typeface="Verdana"/>
                <a:ea typeface="DejaVu Sans"/>
              </a:rPr>
              <a:t>‹Nr.›</a:t>
            </a:fld>
            <a:endParaRPr lang="en-US" sz="1000" b="0" strike="noStrike" spc="-1" dirty="0">
              <a:latin typeface="Arial"/>
            </a:endParaRPr>
          </a:p>
        </p:txBody>
      </p:sp>
      <p:sp>
        <p:nvSpPr>
          <p:cNvPr id="2"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3" name="Picture 2"/>
          <p:cNvPicPr/>
          <p:nvPr/>
        </p:nvPicPr>
        <p:blipFill>
          <a:blip r:embed="rId15"/>
          <a:stretch/>
        </p:blipFill>
        <p:spPr>
          <a:xfrm>
            <a:off x="7389360" y="37800"/>
            <a:ext cx="1420560" cy="352080"/>
          </a:xfrm>
          <a:prstGeom prst="rect">
            <a:avLst/>
          </a:prstGeom>
          <a:ln w="0">
            <a:noFill/>
          </a:ln>
        </p:spPr>
      </p:pic>
      <p:pic>
        <p:nvPicPr>
          <p:cNvPr id="4" name="Picture 3" descr="I:\raphaelluz\VECTO\source\VECTO\User Manual\pics\VECTO-small.PNG"/>
          <p:cNvPicPr/>
          <p:nvPr/>
        </p:nvPicPr>
        <p:blipFill>
          <a:blip r:embed="rId16"/>
          <a:stretch/>
        </p:blipFill>
        <p:spPr>
          <a:xfrm>
            <a:off x="107640" y="58680"/>
            <a:ext cx="977760" cy="33156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74"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45"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4CE03935-9F1B-40FD-BDE8-AA191BDA0FEB}"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46"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47" name="Picture 2"/>
          <p:cNvPicPr/>
          <p:nvPr/>
        </p:nvPicPr>
        <p:blipFill>
          <a:blip r:embed="rId14"/>
          <a:stretch/>
        </p:blipFill>
        <p:spPr>
          <a:xfrm>
            <a:off x="7389360" y="37800"/>
            <a:ext cx="1420560" cy="352080"/>
          </a:xfrm>
          <a:prstGeom prst="rect">
            <a:avLst/>
          </a:prstGeom>
          <a:ln w="0">
            <a:noFill/>
          </a:ln>
        </p:spPr>
      </p:pic>
      <p:pic>
        <p:nvPicPr>
          <p:cNvPr id="48" name="Picture 3" descr="I:\raphaelluz\VECTO\source\VECTO\User Manual\pics\VECTO-small.PNG"/>
          <p:cNvPicPr/>
          <p:nvPr/>
        </p:nvPicPr>
        <p:blipFill>
          <a:blip r:embed="rId15"/>
          <a:stretch/>
        </p:blipFill>
        <p:spPr>
          <a:xfrm>
            <a:off x="107640" y="58680"/>
            <a:ext cx="977760" cy="33156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13.xml"/><Relationship Id="rId4" Type="http://schemas.openxmlformats.org/officeDocument/2006/relationships/image" Target="../media/image14.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17.emf"/><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13.xml"/><Relationship Id="rId5" Type="http://schemas.openxmlformats.org/officeDocument/2006/relationships/image" Target="../media/image15.png"/><Relationship Id="rId4" Type="http://schemas.openxmlformats.org/officeDocument/2006/relationships/image" Target="../media/image21.e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50.wmf"/><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50.wmf"/><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 Box 94"/>
          <p:cNvSpPr/>
          <p:nvPr/>
        </p:nvSpPr>
        <p:spPr>
          <a:xfrm>
            <a:off x="539640" y="1052640"/>
            <a:ext cx="8135640" cy="3945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1599"/>
              </a:spcBef>
              <a:buNone/>
            </a:pPr>
            <a:r>
              <a:rPr lang="en-US" sz="3200" b="1" strike="noStrike" spc="-1">
                <a:solidFill>
                  <a:srgbClr val="990000"/>
                </a:solidFill>
                <a:latin typeface="Arial"/>
                <a:ea typeface="DejaVu Sans"/>
              </a:rPr>
              <a:t>VECTO 3.x</a:t>
            </a:r>
            <a:endParaRPr lang="en-US" sz="3200" b="0" strike="noStrike" spc="-1">
              <a:latin typeface="Arial"/>
            </a:endParaRPr>
          </a:p>
          <a:p>
            <a:pPr algn="ctr">
              <a:lnSpc>
                <a:spcPct val="100000"/>
              </a:lnSpc>
              <a:spcBef>
                <a:spcPts val="1001"/>
              </a:spcBef>
              <a:buNone/>
            </a:pPr>
            <a:r>
              <a:rPr lang="en-US" sz="2000" b="1" strike="noStrike" spc="-1">
                <a:solidFill>
                  <a:srgbClr val="990000"/>
                </a:solidFill>
                <a:latin typeface="Arial"/>
                <a:ea typeface="DejaVu Sans"/>
              </a:rPr>
              <a:t>3.5.2022</a:t>
            </a: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r>
              <a:rPr lang="en-US" sz="2400" b="1" strike="noStrike" spc="-1">
                <a:solidFill>
                  <a:srgbClr val="990000"/>
                </a:solidFill>
                <a:latin typeface="Arial"/>
                <a:ea typeface="DejaVu Sans"/>
              </a:rPr>
              <a:t>Release Notes</a:t>
            </a:r>
            <a:endParaRPr lang="en-US" sz="2400" b="0" strike="noStrike" spc="-1">
              <a:latin typeface="Arial"/>
            </a:endParaRPr>
          </a:p>
        </p:txBody>
      </p:sp>
      <p:pic>
        <p:nvPicPr>
          <p:cNvPr id="89" name="Picture 2"/>
          <p:cNvPicPr/>
          <p:nvPr/>
        </p:nvPicPr>
        <p:blipFill>
          <a:blip r:embed="rId2"/>
          <a:stretch/>
        </p:blipFill>
        <p:spPr>
          <a:xfrm>
            <a:off x="2483640" y="2421000"/>
            <a:ext cx="4175640" cy="162684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a:solidFill>
                  <a:srgbClr val="990000"/>
                </a:solidFill>
                <a:latin typeface="Arial"/>
              </a:rPr>
              <a:t>Vecto 0.7.10.2995  Development Version</a:t>
            </a:r>
            <a:r>
              <a:rPr lang="en-US" sz="2400" b="0" strike="noStrike" spc="-1" dirty="0">
                <a:latin typeface="Arial"/>
              </a:rPr>
              <a:t> </a:t>
            </a:r>
            <a:br>
              <a:rPr sz="2400" dirty="0"/>
            </a:br>
            <a:r>
              <a:rPr lang="en-US" sz="1600" b="1" strike="noStrike" spc="-1" dirty="0">
                <a:solidFill>
                  <a:srgbClr val="990000"/>
                </a:solidFill>
                <a:latin typeface="Arial"/>
              </a:rPr>
              <a:t>March 2023</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Important Note</a:t>
            </a:r>
            <a:br>
              <a:rPr sz="1600" dirty="0"/>
            </a:br>
            <a:r>
              <a:rPr lang="en-US" sz="1600" b="0" strike="noStrike" spc="-1" dirty="0">
                <a:solidFill>
                  <a:srgbClr val="000000"/>
                </a:solidFill>
                <a:latin typeface="Arial"/>
              </a:rPr>
              <a:t>This is a development release for </a:t>
            </a:r>
            <a:r>
              <a:rPr lang="en-US" sz="1600" b="0" strike="noStrike" spc="-1" dirty="0" err="1">
                <a:solidFill>
                  <a:srgbClr val="000000"/>
                </a:solidFill>
                <a:latin typeface="Arial"/>
              </a:rPr>
              <a:t>xEV</a:t>
            </a:r>
            <a:r>
              <a:rPr lang="en-US" sz="1600" b="0" strike="noStrike" spc="-1" dirty="0">
                <a:solidFill>
                  <a:srgbClr val="000000"/>
                </a:solidFill>
                <a:latin typeface="Arial"/>
              </a:rPr>
              <a:t>-Lorries. Bus related functionalities may be broken. </a:t>
            </a:r>
            <a:br>
              <a:rPr sz="1600" dirty="0"/>
            </a:br>
            <a:r>
              <a:rPr lang="en-US" sz="1600" b="0" strike="noStrike" spc="-1" dirty="0">
                <a:solidFill>
                  <a:srgbClr val="000000"/>
                </a:solidFill>
                <a:latin typeface="Arial"/>
              </a:rPr>
              <a:t> </a:t>
            </a:r>
            <a:endParaRPr lang="en-US" sz="1600" b="0" strike="noStrike" spc="-1" dirty="0">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Changes</a:t>
            </a:r>
            <a:endParaRPr lang="en-US" sz="1600" b="0" strike="noStrike" spc="-1" dirty="0">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Implementation of Declaration-Mode for </a:t>
            </a:r>
            <a:r>
              <a:rPr lang="en-US" sz="1400" b="0" strike="noStrike" spc="-1" dirty="0" err="1">
                <a:solidFill>
                  <a:srgbClr val="000000"/>
                </a:solidFill>
                <a:latin typeface="Arial"/>
              </a:rPr>
              <a:t>xEV</a:t>
            </a:r>
            <a:r>
              <a:rPr lang="en-US" sz="1400" b="0" strike="noStrike" spc="-1" dirty="0">
                <a:solidFill>
                  <a:srgbClr val="000000"/>
                </a:solidFill>
                <a:latin typeface="Arial"/>
              </a:rPr>
              <a:t>-Lorries</a:t>
            </a:r>
          </a:p>
          <a:p>
            <a:pPr marL="1200240" lvl="2" indent="-285840">
              <a:spcBef>
                <a:spcPts val="281"/>
              </a:spcBef>
              <a:buClr>
                <a:srgbClr val="000000"/>
              </a:buClr>
              <a:buFont typeface="Symbol"/>
              <a:buChar char=""/>
              <a:tabLst>
                <a:tab pos="1886040" algn="l"/>
              </a:tabLst>
            </a:pPr>
            <a:r>
              <a:rPr lang="en-US" sz="1400" spc="-1" dirty="0">
                <a:solidFill>
                  <a:srgbClr val="000000"/>
                </a:solidFill>
              </a:rPr>
              <a:t>Support for </a:t>
            </a:r>
            <a:r>
              <a:rPr lang="en-US" sz="1400" spc="-1" dirty="0" err="1">
                <a:solidFill>
                  <a:srgbClr val="000000"/>
                </a:solidFill>
              </a:rPr>
              <a:t>xEV</a:t>
            </a:r>
            <a:r>
              <a:rPr lang="en-US" sz="1400" spc="-1" dirty="0">
                <a:solidFill>
                  <a:srgbClr val="000000"/>
                </a:solidFill>
              </a:rPr>
              <a:t>-JSON-Jobs in Declaration Mode</a:t>
            </a:r>
            <a:endParaRPr lang="en-US" sz="1400" b="0" strike="noStrike" spc="-1" dirty="0">
              <a:solidFill>
                <a:srgbClr val="000000"/>
              </a:solidFill>
              <a:latin typeface="Arial"/>
            </a:endParaRPr>
          </a:p>
          <a:p>
            <a:pPr marL="1200240" lvl="2"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New </a:t>
            </a:r>
            <a:r>
              <a:rPr lang="en-US" sz="1400" spc="-1">
                <a:solidFill>
                  <a:srgbClr val="000000"/>
                </a:solidFill>
                <a:latin typeface="Arial"/>
              </a:rPr>
              <a:t>g</a:t>
            </a:r>
            <a:r>
              <a:rPr lang="en-US" sz="1400" b="0" strike="noStrike" spc="-1">
                <a:solidFill>
                  <a:srgbClr val="000000"/>
                </a:solidFill>
                <a:latin typeface="Arial"/>
              </a:rPr>
              <a:t>eneric </a:t>
            </a:r>
            <a:r>
              <a:rPr lang="en-US" sz="1400" spc="-1">
                <a:solidFill>
                  <a:srgbClr val="000000"/>
                </a:solidFill>
                <a:latin typeface="Arial"/>
              </a:rPr>
              <a:t>vehicles </a:t>
            </a:r>
            <a:r>
              <a:rPr lang="en-US" sz="1400" spc="-1" dirty="0">
                <a:solidFill>
                  <a:srgbClr val="000000"/>
                </a:solidFill>
                <a:latin typeface="Arial"/>
              </a:rPr>
              <a:t>(XML &amp; JSON)</a:t>
            </a:r>
            <a:endParaRPr lang="en-US" sz="1400" b="0" strike="noStrike" spc="-1" dirty="0">
              <a:solidFill>
                <a:srgbClr val="000000"/>
              </a:solidFill>
              <a:latin typeface="Arial"/>
            </a:endParaRP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Test settings:</a:t>
            </a:r>
          </a:p>
          <a:p>
            <a:pPr marL="1200240" lvl="2" indent="-285840">
              <a:spcBef>
                <a:spcPts val="281"/>
              </a:spcBef>
              <a:buClr>
                <a:srgbClr val="000000"/>
              </a:buClr>
              <a:buFont typeface="Symbol"/>
              <a:buChar char=""/>
              <a:tabLst>
                <a:tab pos="1886040" algn="l"/>
              </a:tabLst>
            </a:pPr>
            <a:r>
              <a:rPr lang="en-US" sz="1400" spc="-1" dirty="0">
                <a:solidFill>
                  <a:srgbClr val="000000"/>
                </a:solidFill>
                <a:latin typeface="Arial"/>
              </a:rPr>
              <a:t>Charge-Sustaining-Mode: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Iterative </a:t>
            </a:r>
            <a:r>
              <a:rPr lang="en-US" sz="1400" spc="-1" dirty="0">
                <a:solidFill>
                  <a:srgbClr val="000000"/>
                </a:solidFill>
                <a:latin typeface="Arial"/>
              </a:rPr>
              <a:t>simulation for OVC-P-HEVs </a:t>
            </a:r>
          </a:p>
          <a:p>
            <a:pPr lvl="3">
              <a:spcBef>
                <a:spcPts val="281"/>
              </a:spcBef>
              <a:buClr>
                <a:srgbClr val="000000"/>
              </a:buClr>
              <a:tabLst>
                <a:tab pos="1886040" algn="l"/>
              </a:tabLst>
            </a:pPr>
            <a:r>
              <a:rPr lang="en-US" sz="1400" spc="-1" dirty="0">
                <a:solidFill>
                  <a:srgbClr val="000000"/>
                </a:solidFill>
                <a:latin typeface="Arial"/>
              </a:rPr>
              <a:t>	can be disabled</a:t>
            </a:r>
          </a:p>
          <a:p>
            <a:pPr marL="1200240" lvl="2"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Charge</a:t>
            </a:r>
            <a:r>
              <a:rPr lang="en-US" sz="1400" spc="-1" dirty="0">
                <a:solidFill>
                  <a:srgbClr val="000000"/>
                </a:solidFill>
                <a:latin typeface="Arial"/>
              </a:rPr>
              <a:t>-</a:t>
            </a:r>
            <a:r>
              <a:rPr lang="en-US" sz="1400" b="0" strike="noStrike" spc="-1" dirty="0">
                <a:solidFill>
                  <a:srgbClr val="000000"/>
                </a:solidFill>
                <a:latin typeface="Arial"/>
              </a:rPr>
              <a:t>Depleting-</a:t>
            </a:r>
            <a:r>
              <a:rPr lang="en-US" sz="1400" spc="-1" dirty="0">
                <a:solidFill>
                  <a:srgbClr val="000000"/>
                </a:solidFill>
                <a:latin typeface="Arial"/>
              </a:rPr>
              <a:t>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Central SOC can be overridden for </a:t>
            </a:r>
          </a:p>
          <a:p>
            <a:pPr lvl="3">
              <a:spcBef>
                <a:spcPts val="281"/>
              </a:spcBef>
              <a:buClr>
                <a:srgbClr val="000000"/>
              </a:buClr>
              <a:tabLst>
                <a:tab pos="1886040" algn="l"/>
              </a:tabLst>
            </a:pPr>
            <a:r>
              <a:rPr lang="en-US" sz="1400" spc="-1" dirty="0">
                <a:solidFill>
                  <a:srgbClr val="000000"/>
                </a:solidFill>
                <a:latin typeface="Arial"/>
              </a:rPr>
              <a:t>	</a:t>
            </a:r>
            <a:r>
              <a:rPr lang="en-US" sz="1400" b="0" strike="noStrike" spc="-1" dirty="0">
                <a:solidFill>
                  <a:srgbClr val="000000"/>
                </a:solidFill>
                <a:latin typeface="Arial"/>
              </a:rPr>
              <a:t>Charge</a:t>
            </a:r>
            <a:r>
              <a:rPr lang="en-US" sz="1400" spc="-1" dirty="0">
                <a:solidFill>
                  <a:srgbClr val="000000"/>
                </a:solidFill>
                <a:latin typeface="Arial"/>
              </a:rPr>
              <a:t>-Depleting-Mode </a:t>
            </a:r>
            <a:endParaRPr lang="en-US" sz="1400" b="0" strike="noStrike" spc="-1" dirty="0">
              <a:solidFill>
                <a:srgbClr val="000000"/>
              </a:solidFill>
              <a:latin typeface="Arial"/>
            </a:endParaRP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Declaration values can be overridden by copying the particular file to &lt;</a:t>
            </a:r>
            <a:r>
              <a:rPr lang="en-US" sz="1400" spc="-1" dirty="0" err="1">
                <a:solidFill>
                  <a:srgbClr val="000000"/>
                </a:solidFill>
                <a:latin typeface="Arial"/>
              </a:rPr>
              <a:t>VectoDir</a:t>
            </a:r>
            <a:r>
              <a:rPr lang="en-US" sz="1400" spc="-1" dirty="0">
                <a:solidFill>
                  <a:srgbClr val="000000"/>
                </a:solidFill>
                <a:latin typeface="Arial"/>
              </a:rPr>
              <a:t>&gt;\Declaration\Override and changing the desired value.</a:t>
            </a: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New XSD-Schema for XML Reports</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Updated Hybrid </a:t>
            </a:r>
            <a:r>
              <a:rPr lang="en-US" sz="1400" spc="-1" dirty="0">
                <a:solidFill>
                  <a:srgbClr val="000000"/>
                </a:solidFill>
                <a:latin typeface="Arial"/>
              </a:rPr>
              <a:t>Strategy and </a:t>
            </a:r>
            <a:r>
              <a:rPr lang="en-US" sz="1400" spc="-1" dirty="0" err="1">
                <a:solidFill>
                  <a:srgbClr val="000000"/>
                </a:solidFill>
                <a:latin typeface="Arial"/>
              </a:rPr>
              <a:t>Gearshifting</a:t>
            </a:r>
            <a:endParaRPr lang="en-US" sz="1400" b="0" strike="noStrike" spc="-1" dirty="0">
              <a:latin typeface="Arial"/>
            </a:endParaRPr>
          </a:p>
          <a:p>
            <a:pPr>
              <a:lnSpc>
                <a:spcPct val="100000"/>
              </a:lnSpc>
              <a:spcBef>
                <a:spcPts val="281"/>
              </a:spcBef>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p:txBody>
      </p:sp>
      <p:pic>
        <p:nvPicPr>
          <p:cNvPr id="2" name="Grafik 1">
            <a:extLst>
              <a:ext uri="{FF2B5EF4-FFF2-40B4-BE49-F238E27FC236}">
                <a16:creationId xmlns:a16="http://schemas.microsoft.com/office/drawing/2014/main" id="{476EFD3B-3989-4B04-9588-FADCA3A9950D}"/>
              </a:ext>
            </a:extLst>
          </p:cNvPr>
          <p:cNvPicPr>
            <a:picLocks noChangeAspect="1"/>
          </p:cNvPicPr>
          <p:nvPr/>
        </p:nvPicPr>
        <p:blipFill>
          <a:blip r:embed="rId2"/>
          <a:stretch>
            <a:fillRect/>
          </a:stretch>
        </p:blipFill>
        <p:spPr>
          <a:xfrm>
            <a:off x="5323286" y="3429000"/>
            <a:ext cx="3362794" cy="1505160"/>
          </a:xfrm>
          <a:prstGeom prst="rect">
            <a:avLst/>
          </a:prstGeom>
        </p:spPr>
      </p:pic>
    </p:spTree>
    <p:extLst>
      <p:ext uri="{BB962C8B-B14F-4D97-AF65-F5344CB8AC3E}">
        <p14:creationId xmlns:p14="http://schemas.microsoft.com/office/powerpoint/2010/main" val="22382985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Declaration Mode Lorries – Overview (1/2)</a:t>
            </a:r>
          </a:p>
        </p:txBody>
      </p:sp>
      <p:sp>
        <p:nvSpPr>
          <p:cNvPr id="3" name="Inhaltsplatzhalter 2"/>
          <p:cNvSpPr>
            <a:spLocks noGrp="1"/>
          </p:cNvSpPr>
          <p:nvPr>
            <p:ph idx="1"/>
          </p:nvPr>
        </p:nvSpPr>
        <p:spPr>
          <a:xfrm>
            <a:off x="622355" y="2137413"/>
            <a:ext cx="8281366" cy="3482007"/>
          </a:xfrm>
        </p:spPr>
        <p:txBody>
          <a:bodyPr/>
          <a:lstStyle/>
          <a:p>
            <a:pPr>
              <a:spcBef>
                <a:spcPts val="600"/>
              </a:spcBef>
            </a:pPr>
            <a:r>
              <a:rPr lang="en-US" sz="1800" dirty="0"/>
              <a:t>VECTO Development </a:t>
            </a:r>
            <a:r>
              <a:rPr lang="en-US" sz="1800"/>
              <a:t>Version </a:t>
            </a:r>
            <a:r>
              <a:rPr lang="en-US" sz="1800">
                <a:solidFill>
                  <a:srgbClr val="FF0000"/>
                </a:solidFill>
              </a:rPr>
              <a:t>0.7.10.2995</a:t>
            </a:r>
            <a:r>
              <a:rPr lang="en-US" sz="1800"/>
              <a:t> </a:t>
            </a:r>
            <a:r>
              <a:rPr lang="en-US" sz="1800" dirty="0"/>
              <a:t>as released on </a:t>
            </a:r>
            <a:r>
              <a:rPr lang="en-US" sz="1800" dirty="0">
                <a:solidFill>
                  <a:srgbClr val="FF0000"/>
                </a:solidFill>
              </a:rPr>
              <a:t>March 15</a:t>
            </a:r>
            <a:r>
              <a:rPr lang="en-US" sz="1800" dirty="0"/>
              <a:t>, features the Declaration Mode for Lorries according to the 2</a:t>
            </a:r>
            <a:r>
              <a:rPr lang="en-US" sz="1800" baseline="30000" dirty="0"/>
              <a:t>nd</a:t>
            </a:r>
            <a:r>
              <a:rPr lang="en-US" sz="1800" dirty="0"/>
              <a:t> Amendment.</a:t>
            </a:r>
          </a:p>
          <a:p>
            <a:pPr>
              <a:spcBef>
                <a:spcPts val="600"/>
              </a:spcBef>
            </a:pPr>
            <a:r>
              <a:rPr lang="en-US" sz="1800" dirty="0"/>
              <a:t>This enables the official output XMLs (MRF, CIF) to be generated using the official input XMLs.</a:t>
            </a:r>
          </a:p>
          <a:p>
            <a:pPr>
              <a:spcBef>
                <a:spcPts val="600"/>
              </a:spcBef>
            </a:pPr>
            <a:r>
              <a:rPr lang="en-US" sz="1800" dirty="0"/>
              <a:t>The result values correspond to the official results, subject to minor adjustments and additions from the testing period (see later slides).</a:t>
            </a:r>
          </a:p>
          <a:p>
            <a:pPr>
              <a:spcBef>
                <a:spcPts val="600"/>
              </a:spcBef>
            </a:pPr>
            <a:r>
              <a:rPr lang="en-US" sz="1800" dirty="0"/>
              <a:t>With this version, the Declaration Mode can also be calculated via the GUI (</a:t>
            </a:r>
            <a:r>
              <a:rPr lang="en-US" sz="1800" dirty="0" err="1"/>
              <a:t>json</a:t>
            </a:r>
            <a:r>
              <a:rPr lang="en-US" sz="1800" dirty="0"/>
              <a:t> + csv). This mode also contains some special features for the upcoming test phase (see later slides).</a:t>
            </a:r>
            <a:endParaRPr lang="en-GB" sz="1600" dirty="0"/>
          </a:p>
          <a:p>
            <a:pPr lvl="1">
              <a:spcBef>
                <a:spcPts val="600"/>
              </a:spcBef>
            </a:pPr>
            <a:endParaRPr lang="en-GB" sz="1600" dirty="0"/>
          </a:p>
          <a:p>
            <a:pPr lvl="2">
              <a:spcBef>
                <a:spcPts val="600"/>
              </a:spcBef>
            </a:pPr>
            <a:endParaRPr lang="en-GB" sz="1400" dirty="0"/>
          </a:p>
          <a:p>
            <a:pPr lvl="2">
              <a:spcBef>
                <a:spcPts val="600"/>
              </a:spcBef>
            </a:pPr>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3</a:t>
            </a:fld>
            <a:endParaRPr lang="de-DE" dirty="0"/>
          </a:p>
        </p:txBody>
      </p:sp>
    </p:spTree>
    <p:extLst>
      <p:ext uri="{BB962C8B-B14F-4D97-AF65-F5344CB8AC3E}">
        <p14:creationId xmlns:p14="http://schemas.microsoft.com/office/powerpoint/2010/main" val="16548523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Declaration Mode Lorries – Overview (2/2)</a:t>
            </a:r>
          </a:p>
        </p:txBody>
      </p:sp>
      <p:sp>
        <p:nvSpPr>
          <p:cNvPr id="3" name="Inhaltsplatzhalter 2"/>
          <p:cNvSpPr>
            <a:spLocks noGrp="1"/>
          </p:cNvSpPr>
          <p:nvPr>
            <p:ph idx="1"/>
          </p:nvPr>
        </p:nvSpPr>
        <p:spPr>
          <a:xfrm>
            <a:off x="622355" y="2137413"/>
            <a:ext cx="8281366" cy="3482007"/>
          </a:xfrm>
        </p:spPr>
        <p:txBody>
          <a:bodyPr/>
          <a:lstStyle/>
          <a:p>
            <a:pPr>
              <a:spcBef>
                <a:spcPts val="600"/>
              </a:spcBef>
            </a:pPr>
            <a:r>
              <a:rPr lang="de-AT" sz="1800"/>
              <a:t>Overview new elements</a:t>
            </a:r>
          </a:p>
          <a:p>
            <a:pPr lvl="1">
              <a:spcBef>
                <a:spcPts val="300"/>
              </a:spcBef>
            </a:pPr>
            <a:r>
              <a:rPr lang="en-GB" sz="1600"/>
              <a:t>Generic parameterisation of auxiliaries </a:t>
            </a:r>
            <a:endParaRPr lang="en-US" sz="1600"/>
          </a:p>
          <a:p>
            <a:pPr lvl="1">
              <a:spcBef>
                <a:spcPts val="300"/>
              </a:spcBef>
            </a:pPr>
            <a:r>
              <a:rPr lang="en-US" sz="1600"/>
              <a:t>Generic parametrisation of P-HEV strategy including update of gear shift strategy</a:t>
            </a:r>
          </a:p>
          <a:p>
            <a:pPr lvl="1">
              <a:spcBef>
                <a:spcPts val="300"/>
              </a:spcBef>
            </a:pPr>
            <a:r>
              <a:rPr lang="en-US" sz="1600"/>
              <a:t>Generic parametrisation of S-HEV strategy</a:t>
            </a:r>
          </a:p>
          <a:p>
            <a:pPr lvl="1">
              <a:spcBef>
                <a:spcPts val="300"/>
              </a:spcBef>
            </a:pPr>
            <a:r>
              <a:rPr lang="en-US" sz="1600"/>
              <a:t>Generic parametrisation of usable SOC range</a:t>
            </a:r>
          </a:p>
          <a:p>
            <a:pPr lvl="1">
              <a:spcBef>
                <a:spcPts val="300"/>
              </a:spcBef>
            </a:pPr>
            <a:r>
              <a:rPr lang="fr-FR" sz="1600"/>
              <a:t>Separate approach for „Charge depleting mode“ simulation</a:t>
            </a:r>
          </a:p>
          <a:p>
            <a:pPr lvl="1">
              <a:spcBef>
                <a:spcPts val="300"/>
              </a:spcBef>
            </a:pPr>
            <a:r>
              <a:rPr lang="en-US" sz="1600"/>
              <a:t>Calculation of energy consumption at “battery terminals” considering battery charging losses during external charging</a:t>
            </a:r>
          </a:p>
          <a:p>
            <a:pPr lvl="1">
              <a:spcBef>
                <a:spcPts val="300"/>
              </a:spcBef>
            </a:pPr>
            <a:r>
              <a:rPr lang="en-US" sz="1600"/>
              <a:t>Range calculations</a:t>
            </a:r>
          </a:p>
          <a:p>
            <a:pPr lvl="1">
              <a:spcBef>
                <a:spcPts val="300"/>
              </a:spcBef>
            </a:pPr>
            <a:r>
              <a:rPr lang="en-US" sz="1600"/>
              <a:t>Automation of the various simulation runs necessary for PHEVs plus post processing elements</a:t>
            </a:r>
          </a:p>
          <a:p>
            <a:pPr lvl="1">
              <a:spcBef>
                <a:spcPts val="300"/>
              </a:spcBef>
            </a:pPr>
            <a:r>
              <a:rPr lang="en-US" sz="1600"/>
              <a:t>Generic e-PTO cycle for PEV and S-HEV in the MUN cycle</a:t>
            </a:r>
          </a:p>
          <a:p>
            <a:pPr lvl="1">
              <a:spcBef>
                <a:spcPts val="300"/>
              </a:spcBef>
            </a:pPr>
            <a:r>
              <a:rPr lang="en-US" sz="1600"/>
              <a:t>Generation of MRF and CIF</a:t>
            </a:r>
          </a:p>
          <a:p>
            <a:pPr lvl="1">
              <a:spcBef>
                <a:spcPts val="600"/>
              </a:spcBef>
            </a:pPr>
            <a:endParaRPr lang="fr-FR" sz="1600"/>
          </a:p>
          <a:p>
            <a:pPr lvl="1">
              <a:spcBef>
                <a:spcPts val="600"/>
              </a:spcBef>
            </a:pPr>
            <a:endParaRPr lang="en-GB" sz="1600"/>
          </a:p>
          <a:p>
            <a:pPr lvl="1">
              <a:spcBef>
                <a:spcPts val="600"/>
              </a:spcBef>
            </a:pPr>
            <a:endParaRPr lang="en-GB" sz="1600"/>
          </a:p>
          <a:p>
            <a:pPr lvl="2">
              <a:spcBef>
                <a:spcPts val="600"/>
              </a:spcBef>
            </a:pPr>
            <a:endParaRPr lang="en-GB" sz="1400"/>
          </a:p>
          <a:p>
            <a:pPr lvl="2">
              <a:spcBef>
                <a:spcPts val="600"/>
              </a:spcBef>
            </a:pPr>
            <a:endParaRPr lang="en-GB" sz="1400"/>
          </a:p>
        </p:txBody>
      </p:sp>
      <p:sp>
        <p:nvSpPr>
          <p:cNvPr id="4" name="Foliennummernplatzhalter 3"/>
          <p:cNvSpPr>
            <a:spLocks noGrp="1"/>
          </p:cNvSpPr>
          <p:nvPr>
            <p:ph type="sldNum" sz="quarter" idx="12"/>
          </p:nvPr>
        </p:nvSpPr>
        <p:spPr/>
        <p:txBody>
          <a:bodyPr/>
          <a:lstStyle/>
          <a:p>
            <a:fld id="{4B64EC4D-37E3-EF42-B9AB-6337577588CB}" type="slidenum">
              <a:rPr lang="de-DE" smtClean="0"/>
              <a:t>4</a:t>
            </a:fld>
            <a:endParaRPr lang="de-DE"/>
          </a:p>
        </p:txBody>
      </p:sp>
    </p:spTree>
    <p:extLst>
      <p:ext uri="{BB962C8B-B14F-4D97-AF65-F5344CB8AC3E}">
        <p14:creationId xmlns:p14="http://schemas.microsoft.com/office/powerpoint/2010/main" val="34309279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594900" y="1471871"/>
            <a:ext cx="8394645" cy="2841602"/>
          </a:xfrm>
        </p:spPr>
        <p:txBody>
          <a:bodyPr/>
          <a:lstStyle/>
          <a:p>
            <a:r>
              <a:rPr lang="en-US" sz="1800" dirty="0"/>
              <a:t>Basic principles of generic data used in DECL</a:t>
            </a:r>
          </a:p>
          <a:p>
            <a:pPr lvl="1"/>
            <a:r>
              <a:rPr lang="en-US" sz="1400" dirty="0"/>
              <a:t>Relevant auxiliary systems:</a:t>
            </a:r>
          </a:p>
          <a:p>
            <a:pPr lvl="2"/>
            <a:r>
              <a:rPr lang="en-US" sz="1200" dirty="0"/>
              <a:t>Pneumatic system</a:t>
            </a:r>
          </a:p>
          <a:p>
            <a:pPr lvl="2"/>
            <a:r>
              <a:rPr lang="en-US" sz="1200" dirty="0"/>
              <a:t>ICE cooling fan + conditioning power for electric propulsion components</a:t>
            </a:r>
          </a:p>
          <a:p>
            <a:pPr lvl="2"/>
            <a:r>
              <a:rPr lang="en-US" sz="1200" dirty="0"/>
              <a:t>Steering system</a:t>
            </a:r>
          </a:p>
          <a:p>
            <a:pPr lvl="2"/>
            <a:r>
              <a:rPr lang="en-US" sz="1200" dirty="0"/>
              <a:t>HVAC: for lorries only “yes/no”</a:t>
            </a:r>
          </a:p>
          <a:p>
            <a:pPr lvl="2"/>
            <a:r>
              <a:rPr lang="en-US" sz="1200" dirty="0"/>
              <a:t>Electric board net (is called “electric system”): for lorries only headlights technology (LED or standard)</a:t>
            </a:r>
            <a:br>
              <a:rPr lang="en-US" sz="1200" dirty="0"/>
            </a:br>
            <a:endParaRPr lang="en-US" sz="600" dirty="0"/>
          </a:p>
          <a:p>
            <a:pPr lvl="1"/>
            <a:r>
              <a:rPr lang="en-US" sz="1400" dirty="0"/>
              <a:t>Respective tables with generic power demand for each auxiliary system can be found in specific subfolder “Declaration\VAUX” under VECTO main path as csv-files</a:t>
            </a:r>
            <a:br>
              <a:rPr lang="en-US" sz="1400" dirty="0"/>
            </a:br>
            <a:endParaRPr lang="en-US" sz="800" dirty="0"/>
          </a:p>
          <a:p>
            <a:pPr lvl="1"/>
            <a:r>
              <a:rPr lang="en-GB" sz="1400" dirty="0"/>
              <a:t>General table structure looks as follows:</a:t>
            </a:r>
          </a:p>
        </p:txBody>
      </p:sp>
      <p:sp>
        <p:nvSpPr>
          <p:cNvPr id="4" name="Foliennummernplatzhalter 3"/>
          <p:cNvSpPr>
            <a:spLocks noGrp="1"/>
          </p:cNvSpPr>
          <p:nvPr>
            <p:ph type="sldNum" sz="quarter" idx="12"/>
          </p:nvPr>
        </p:nvSpPr>
        <p:spPr/>
        <p:txBody>
          <a:bodyPr/>
          <a:lstStyle/>
          <a:p>
            <a:fld id="{4B64EC4D-37E3-EF42-B9AB-6337577588CB}" type="slidenum">
              <a:rPr lang="de-DE" smtClean="0"/>
              <a:t>5</a:t>
            </a:fld>
            <a:endParaRPr lang="de-DE"/>
          </a:p>
        </p:txBody>
      </p:sp>
      <p:graphicFrame>
        <p:nvGraphicFramePr>
          <p:cNvPr id="6" name="Tabelle 5"/>
          <p:cNvGraphicFramePr>
            <a:graphicFrameLocks noGrp="1"/>
          </p:cNvGraphicFramePr>
          <p:nvPr/>
        </p:nvGraphicFramePr>
        <p:xfrm>
          <a:off x="858719" y="5253659"/>
          <a:ext cx="8158280" cy="73152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720000">
                  <a:extLst>
                    <a:ext uri="{9D8B030D-6E8A-4147-A177-3AD203B41FA5}">
                      <a16:colId xmlns:a16="http://schemas.microsoft.com/office/drawing/2014/main" val="3710519613"/>
                    </a:ext>
                  </a:extLst>
                </a:gridCol>
                <a:gridCol w="720000">
                  <a:extLst>
                    <a:ext uri="{9D8B030D-6E8A-4147-A177-3AD203B41FA5}">
                      <a16:colId xmlns:a16="http://schemas.microsoft.com/office/drawing/2014/main" val="3392582189"/>
                    </a:ext>
                  </a:extLst>
                </a:gridCol>
                <a:gridCol w="720000">
                  <a:extLst>
                    <a:ext uri="{9D8B030D-6E8A-4147-A177-3AD203B41FA5}">
                      <a16:colId xmlns:a16="http://schemas.microsoft.com/office/drawing/2014/main" val="1550305414"/>
                    </a:ext>
                  </a:extLst>
                </a:gridCol>
                <a:gridCol w="720000">
                  <a:extLst>
                    <a:ext uri="{9D8B030D-6E8A-4147-A177-3AD203B41FA5}">
                      <a16:colId xmlns:a16="http://schemas.microsoft.com/office/drawing/2014/main" val="2137604710"/>
                    </a:ext>
                  </a:extLst>
                </a:gridCol>
                <a:gridCol w="720000">
                  <a:extLst>
                    <a:ext uri="{9D8B030D-6E8A-4147-A177-3AD203B41FA5}">
                      <a16:colId xmlns:a16="http://schemas.microsoft.com/office/drawing/2014/main" val="2879809701"/>
                    </a:ext>
                  </a:extLst>
                </a:gridCol>
              </a:tblGrid>
              <a:tr h="106712">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Long haul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Regional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Urban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Municipal utility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a:effectLst/>
                        </a:rPr>
                        <a:t> </a:t>
                      </a:r>
                      <a:r>
                        <a:rPr lang="de-AT" sz="800" b="1" u="none" strike="noStrike" dirty="0" err="1">
                          <a:effectLst/>
                        </a:rPr>
                        <a:t>Construction</a:t>
                      </a:r>
                      <a:r>
                        <a:rPr lang="de-AT" sz="800" b="1" u="none" strike="noStrike" dirty="0">
                          <a:effectLst/>
                        </a:rPr>
                        <a:t> </a:t>
                      </a:r>
                      <a:endParaRPr lang="de-AT" sz="8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471874194"/>
                  </a:ext>
                </a:extLst>
              </a:tr>
              <a:tr h="106712">
                <a:tc>
                  <a:txBody>
                    <a:bodyPr/>
                    <a:lstStyle/>
                    <a:p>
                      <a:pPr algn="l" fontAlgn="b"/>
                      <a:r>
                        <a:rPr lang="en-US" sz="800" u="none" strike="noStrike" dirty="0">
                          <a:effectLst/>
                        </a:rPr>
                        <a:t>Tech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06712">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bl>
          </a:graphicData>
        </a:graphic>
      </p:graphicFrame>
      <p:sp>
        <p:nvSpPr>
          <p:cNvPr id="8" name="Geschweifte Klammer rechts 7"/>
          <p:cNvSpPr/>
          <p:nvPr/>
        </p:nvSpPr>
        <p:spPr>
          <a:xfrm rot="16200000">
            <a:off x="3506231" y="4126102"/>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7" y="4366944"/>
            <a:ext cx="1259012" cy="646331"/>
          </a:xfrm>
          <a:prstGeom prst="rect">
            <a:avLst/>
          </a:prstGeom>
          <a:noFill/>
        </p:spPr>
        <p:txBody>
          <a:bodyPr wrap="square" rtlCol="0">
            <a:spAutoFit/>
          </a:bodyPr>
          <a:lstStyle/>
          <a:p>
            <a:pPr algn="ctr" fontAlgn="b"/>
            <a:r>
              <a:rPr lang="de-AT" sz="900" b="1" dirty="0" err="1">
                <a:solidFill>
                  <a:srgbClr val="CC0000"/>
                </a:solidFill>
              </a:rPr>
              <a:t>can</a:t>
            </a:r>
            <a:r>
              <a:rPr lang="de-AT" sz="900" b="1" dirty="0">
                <a:solidFill>
                  <a:srgbClr val="CC0000"/>
                </a:solidFill>
              </a:rPr>
              <a:t> </a:t>
            </a:r>
            <a:r>
              <a:rPr lang="de-AT" sz="900" b="1" dirty="0" err="1">
                <a:solidFill>
                  <a:srgbClr val="CC0000"/>
                </a:solidFill>
              </a:rPr>
              <a:t>be</a:t>
            </a:r>
            <a:r>
              <a:rPr lang="de-AT" sz="900" b="1" dirty="0">
                <a:solidFill>
                  <a:srgbClr val="CC0000"/>
                </a:solidFill>
              </a:rPr>
              <a:t> </a:t>
            </a:r>
            <a:r>
              <a:rPr lang="de-AT" sz="900" b="1" dirty="0" err="1">
                <a:solidFill>
                  <a:srgbClr val="CC0000"/>
                </a:solidFill>
              </a:rPr>
              <a:t>directly</a:t>
            </a:r>
            <a:r>
              <a:rPr lang="de-AT" sz="900" b="1" dirty="0">
                <a:solidFill>
                  <a:srgbClr val="CC0000"/>
                </a:solidFill>
              </a:rPr>
              <a:t> </a:t>
            </a:r>
            <a:r>
              <a:rPr lang="de-AT" sz="900" b="1" dirty="0" err="1">
                <a:solidFill>
                  <a:srgbClr val="CC0000"/>
                </a:solidFill>
              </a:rPr>
              <a:t>supplied</a:t>
            </a:r>
            <a:r>
              <a:rPr lang="de-AT" sz="900" b="1" dirty="0">
                <a:solidFill>
                  <a:srgbClr val="CC0000"/>
                </a:solidFill>
              </a:rPr>
              <a:t> </a:t>
            </a:r>
            <a:r>
              <a:rPr lang="de-AT" sz="900" b="1" dirty="0" err="1">
                <a:solidFill>
                  <a:srgbClr val="CC0000"/>
                </a:solidFill>
              </a:rPr>
              <a:t>by</a:t>
            </a:r>
            <a:r>
              <a:rPr lang="de-AT" sz="900" b="1" dirty="0">
                <a:solidFill>
                  <a:srgbClr val="CC0000"/>
                </a:solidFill>
              </a:rPr>
              <a:t> REESS </a:t>
            </a:r>
            <a:r>
              <a:rPr lang="de-AT" sz="900" b="1" dirty="0" err="1">
                <a:solidFill>
                  <a:srgbClr val="CC0000"/>
                </a:solidFill>
              </a:rPr>
              <a:t>if</a:t>
            </a:r>
            <a:r>
              <a:rPr lang="de-AT" sz="900" b="1" dirty="0">
                <a:solidFill>
                  <a:srgbClr val="CC0000"/>
                </a:solidFill>
              </a:rPr>
              <a:t> </a:t>
            </a:r>
            <a:r>
              <a:rPr lang="de-AT" sz="900" b="1" dirty="0" err="1">
                <a:solidFill>
                  <a:srgbClr val="CC0000"/>
                </a:solidFill>
              </a:rPr>
              <a:t>present</a:t>
            </a:r>
            <a:br>
              <a:rPr lang="de-AT" sz="900" b="1" dirty="0">
                <a:solidFill>
                  <a:srgbClr val="CC0000"/>
                </a:solidFill>
              </a:rPr>
            </a:br>
            <a:r>
              <a:rPr lang="de-AT" sz="900" b="1" dirty="0">
                <a:solidFill>
                  <a:srgbClr val="CC0000"/>
                </a:solidFill>
              </a:rPr>
              <a:t>(</a:t>
            </a:r>
            <a:r>
              <a:rPr lang="de-AT" sz="900" b="1" dirty="0" err="1">
                <a:solidFill>
                  <a:srgbClr val="CC0000"/>
                </a:solidFill>
              </a:rPr>
              <a:t>indicated</a:t>
            </a:r>
            <a:r>
              <a:rPr lang="de-AT" sz="900" b="1" dirty="0">
                <a:solidFill>
                  <a:srgbClr val="CC0000"/>
                </a:solidFill>
              </a:rPr>
              <a:t> </a:t>
            </a:r>
            <a:r>
              <a:rPr lang="de-AT" sz="900" b="1" dirty="0" err="1">
                <a:solidFill>
                  <a:srgbClr val="CC0000"/>
                </a:solidFill>
              </a:rPr>
              <a:t>with</a:t>
            </a:r>
            <a:r>
              <a:rPr lang="de-AT" sz="900" b="1" dirty="0">
                <a:solidFill>
                  <a:srgbClr val="CC0000"/>
                </a:solidFill>
              </a:rPr>
              <a:t> 0/1)</a:t>
            </a:r>
          </a:p>
        </p:txBody>
      </p:sp>
      <p:sp>
        <p:nvSpPr>
          <p:cNvPr id="10" name="Textfeld 9"/>
          <p:cNvSpPr txBox="1"/>
          <p:nvPr/>
        </p:nvSpPr>
        <p:spPr>
          <a:xfrm>
            <a:off x="6245647" y="4583511"/>
            <a:ext cx="1970235" cy="400110"/>
          </a:xfrm>
          <a:prstGeom prst="rect">
            <a:avLst/>
          </a:prstGeom>
          <a:noFill/>
        </p:spPr>
        <p:txBody>
          <a:bodyPr wrap="square" rtlCol="0">
            <a:spAutoFit/>
          </a:bodyPr>
          <a:lstStyle/>
          <a:p>
            <a:pPr algn="ctr" fontAlgn="b"/>
            <a:r>
              <a:rPr lang="en-US" sz="1000" b="1" dirty="0">
                <a:solidFill>
                  <a:srgbClr val="CC0000"/>
                </a:solidFill>
              </a:rPr>
              <a:t>cycle specific </a:t>
            </a:r>
            <a:r>
              <a:rPr lang="en-US" sz="1000" b="1" u="sng" dirty="0">
                <a:solidFill>
                  <a:srgbClr val="CC0000"/>
                </a:solidFill>
              </a:rPr>
              <a:t>mechanical</a:t>
            </a:r>
            <a:r>
              <a:rPr lang="en-US" sz="1000" b="1" dirty="0">
                <a:solidFill>
                  <a:srgbClr val="CC0000"/>
                </a:solidFill>
              </a:rPr>
              <a:t> power demand [W]</a:t>
            </a:r>
            <a:endParaRPr lang="de-AT" sz="1000" b="1" dirty="0">
              <a:solidFill>
                <a:srgbClr val="CC0000"/>
              </a:solidFill>
            </a:endParaRPr>
          </a:p>
        </p:txBody>
      </p:sp>
      <p:sp>
        <p:nvSpPr>
          <p:cNvPr id="11" name="Geschweifte Klammer rechts 10"/>
          <p:cNvSpPr/>
          <p:nvPr/>
        </p:nvSpPr>
        <p:spPr>
          <a:xfrm rot="16200000">
            <a:off x="7147357" y="3423825"/>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rechts 11"/>
          <p:cNvSpPr/>
          <p:nvPr/>
        </p:nvSpPr>
        <p:spPr>
          <a:xfrm rot="16200000">
            <a:off x="4975656" y="4812934"/>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426385" y="4621853"/>
            <a:ext cx="2003172" cy="400110"/>
          </a:xfrm>
          <a:prstGeom prst="rect">
            <a:avLst/>
          </a:prstGeom>
          <a:noFill/>
        </p:spPr>
        <p:txBody>
          <a:bodyPr wrap="square" rtlCol="0">
            <a:spAutoFit/>
          </a:bodyPr>
          <a:lstStyle/>
          <a:p>
            <a:pPr algn="ctr" fontAlgn="b"/>
            <a:r>
              <a:rPr lang="de-AT" sz="1000" b="1" dirty="0" err="1">
                <a:solidFill>
                  <a:srgbClr val="CC0000"/>
                </a:solidFill>
              </a:rPr>
              <a:t>applicability</a:t>
            </a:r>
            <a:r>
              <a:rPr lang="de-AT" sz="1000" b="1" dirty="0">
                <a:solidFill>
                  <a:srgbClr val="CC0000"/>
                </a:solidFill>
              </a:rPr>
              <a:t> </a:t>
            </a:r>
            <a:r>
              <a:rPr lang="de-AT" sz="1000" b="1" dirty="0" err="1">
                <a:solidFill>
                  <a:srgbClr val="CC0000"/>
                </a:solidFill>
              </a:rPr>
              <a:t>for</a:t>
            </a:r>
            <a:r>
              <a:rPr lang="de-AT" sz="1000" b="1" dirty="0">
                <a:solidFill>
                  <a:srgbClr val="CC0000"/>
                </a:solidFill>
              </a:rPr>
              <a:t> </a:t>
            </a:r>
            <a:r>
              <a:rPr lang="de-AT" sz="1000" b="1" dirty="0" err="1">
                <a:solidFill>
                  <a:srgbClr val="CC0000"/>
                </a:solidFill>
              </a:rPr>
              <a:t>architecture</a:t>
            </a:r>
            <a:br>
              <a:rPr lang="de-AT" sz="1000" b="1" dirty="0">
                <a:solidFill>
                  <a:srgbClr val="CC0000"/>
                </a:solidFill>
              </a:rPr>
            </a:br>
            <a:r>
              <a:rPr lang="de-AT" sz="1000" b="1" dirty="0">
                <a:solidFill>
                  <a:srgbClr val="CC0000"/>
                </a:solidFill>
              </a:rPr>
              <a:t>(</a:t>
            </a:r>
            <a:r>
              <a:rPr lang="de-AT" sz="1000" b="1" dirty="0" err="1">
                <a:solidFill>
                  <a:srgbClr val="CC0000"/>
                </a:solidFill>
              </a:rPr>
              <a:t>indicated</a:t>
            </a:r>
            <a:r>
              <a:rPr lang="de-AT" sz="1000" b="1" dirty="0">
                <a:solidFill>
                  <a:srgbClr val="CC0000"/>
                </a:solidFill>
              </a:rPr>
              <a:t> </a:t>
            </a:r>
            <a:r>
              <a:rPr lang="de-AT" sz="1000" b="1" dirty="0" err="1">
                <a:solidFill>
                  <a:srgbClr val="CC0000"/>
                </a:solidFill>
              </a:rPr>
              <a:t>with</a:t>
            </a:r>
            <a:r>
              <a:rPr lang="de-AT" sz="1000" b="1" dirty="0">
                <a:solidFill>
                  <a:srgbClr val="CC0000"/>
                </a:solidFill>
              </a:rPr>
              <a:t> 0/1)</a:t>
            </a:r>
          </a:p>
        </p:txBody>
      </p:sp>
    </p:spTree>
    <p:extLst>
      <p:ext uri="{BB962C8B-B14F-4D97-AF65-F5344CB8AC3E}">
        <p14:creationId xmlns:p14="http://schemas.microsoft.com/office/powerpoint/2010/main" val="23862798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3"/>
            <a:ext cx="8394645" cy="2841602"/>
          </a:xfrm>
        </p:spPr>
        <p:txBody>
          <a:bodyPr/>
          <a:lstStyle/>
          <a:p>
            <a:r>
              <a:rPr lang="en-US" sz="1800" dirty="0"/>
              <a:t>Basic principles of generic data used in DECL</a:t>
            </a:r>
          </a:p>
          <a:p>
            <a:pPr lvl="1"/>
            <a:r>
              <a:rPr lang="de-AT" sz="1400" dirty="0"/>
              <a:t>Details </a:t>
            </a:r>
            <a:r>
              <a:rPr lang="de-AT" sz="1400" dirty="0" err="1"/>
              <a:t>of</a:t>
            </a:r>
            <a:r>
              <a:rPr lang="de-AT" sz="1400" dirty="0"/>
              <a:t> </a:t>
            </a:r>
            <a:r>
              <a:rPr lang="de-AT" sz="1400" dirty="0" err="1"/>
              <a:t>application</a:t>
            </a:r>
            <a:r>
              <a:rPr lang="de-AT" sz="1400" dirty="0"/>
              <a:t> in DECL:</a:t>
            </a:r>
          </a:p>
          <a:p>
            <a:pPr lvl="2"/>
            <a:r>
              <a:rPr lang="en-US" sz="1200" b="1" u="sng" dirty="0"/>
              <a:t>For all HEV:</a:t>
            </a:r>
            <a:r>
              <a:rPr lang="en-US" sz="1200" dirty="0"/>
              <a:t> "fully electric" technology is connected to REESS</a:t>
            </a:r>
            <a:br>
              <a:rPr lang="en-US" sz="1200" dirty="0"/>
            </a:br>
            <a:r>
              <a:rPr lang="en-US" sz="1200" dirty="0">
                <a:sym typeface="Wingdings" panose="05000000000000000000" pitchFamily="2" charset="2"/>
              </a:rPr>
              <a:t> mechanical power (i.e. respective alternator drive power) is </a:t>
            </a:r>
            <a:r>
              <a:rPr lang="en-US" sz="1200" dirty="0"/>
              <a:t>converted to electric power with generic alternator efficiency of 0.7 used consistently throughout whole VECTO auxiliary approach</a:t>
            </a:r>
            <a:br>
              <a:rPr lang="en-US" sz="1200" dirty="0"/>
            </a:br>
            <a:r>
              <a:rPr lang="en-US" sz="1200" dirty="0"/>
              <a:t>(i.e. mechanical power from table is multiplied by 0.7 and therefore reduced)</a:t>
            </a:r>
            <a:br>
              <a:rPr lang="en-US" sz="1200" dirty="0"/>
            </a:br>
            <a:endParaRPr lang="en-US" sz="1200" dirty="0"/>
          </a:p>
          <a:p>
            <a:pPr lvl="2"/>
            <a:r>
              <a:rPr lang="en-GB" sz="1200" b="1" u="sng" dirty="0"/>
              <a:t>For all PEV:</a:t>
            </a:r>
            <a:r>
              <a:rPr lang="en-GB" sz="1200" dirty="0"/>
              <a:t> only </a:t>
            </a:r>
            <a:r>
              <a:rPr lang="en-US" sz="1200" dirty="0"/>
              <a:t>"fully electric" technology can be declared (acc. to Annex specifications as well)</a:t>
            </a:r>
            <a:br>
              <a:rPr lang="en-US" sz="1200" dirty="0"/>
            </a:br>
            <a:r>
              <a:rPr lang="en-US" sz="1200" dirty="0">
                <a:sym typeface="Wingdings" panose="05000000000000000000" pitchFamily="2" charset="2"/>
              </a:rPr>
              <a:t> same principle of conversion from mechanical to electrical power (as explained above applies)</a:t>
            </a:r>
            <a:endParaRPr lang="en-GB" sz="1200" dirty="0"/>
          </a:p>
        </p:txBody>
      </p:sp>
      <p:sp>
        <p:nvSpPr>
          <p:cNvPr id="4" name="Foliennummernplatzhalter 3"/>
          <p:cNvSpPr>
            <a:spLocks noGrp="1"/>
          </p:cNvSpPr>
          <p:nvPr>
            <p:ph type="sldNum" sz="quarter" idx="12"/>
          </p:nvPr>
        </p:nvSpPr>
        <p:spPr/>
        <p:txBody>
          <a:bodyPr/>
          <a:lstStyle/>
          <a:p>
            <a:fld id="{4B64EC4D-37E3-EF42-B9AB-6337577588CB}" type="slidenum">
              <a:rPr lang="de-DE" smtClean="0"/>
              <a:t>6</a:t>
            </a:fld>
            <a:endParaRPr lang="de-DE"/>
          </a:p>
        </p:txBody>
      </p:sp>
      <p:graphicFrame>
        <p:nvGraphicFramePr>
          <p:cNvPr id="6" name="Tabelle 5"/>
          <p:cNvGraphicFramePr>
            <a:graphicFrameLocks noGrp="1"/>
          </p:cNvGraphicFramePr>
          <p:nvPr/>
        </p:nvGraphicFramePr>
        <p:xfrm>
          <a:off x="858719" y="5253659"/>
          <a:ext cx="8158280" cy="73152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720000">
                  <a:extLst>
                    <a:ext uri="{9D8B030D-6E8A-4147-A177-3AD203B41FA5}">
                      <a16:colId xmlns:a16="http://schemas.microsoft.com/office/drawing/2014/main" val="3710519613"/>
                    </a:ext>
                  </a:extLst>
                </a:gridCol>
                <a:gridCol w="720000">
                  <a:extLst>
                    <a:ext uri="{9D8B030D-6E8A-4147-A177-3AD203B41FA5}">
                      <a16:colId xmlns:a16="http://schemas.microsoft.com/office/drawing/2014/main" val="3392582189"/>
                    </a:ext>
                  </a:extLst>
                </a:gridCol>
                <a:gridCol w="720000">
                  <a:extLst>
                    <a:ext uri="{9D8B030D-6E8A-4147-A177-3AD203B41FA5}">
                      <a16:colId xmlns:a16="http://schemas.microsoft.com/office/drawing/2014/main" val="1550305414"/>
                    </a:ext>
                  </a:extLst>
                </a:gridCol>
                <a:gridCol w="720000">
                  <a:extLst>
                    <a:ext uri="{9D8B030D-6E8A-4147-A177-3AD203B41FA5}">
                      <a16:colId xmlns:a16="http://schemas.microsoft.com/office/drawing/2014/main" val="2137604710"/>
                    </a:ext>
                  </a:extLst>
                </a:gridCol>
                <a:gridCol w="720000">
                  <a:extLst>
                    <a:ext uri="{9D8B030D-6E8A-4147-A177-3AD203B41FA5}">
                      <a16:colId xmlns:a16="http://schemas.microsoft.com/office/drawing/2014/main" val="2879809701"/>
                    </a:ext>
                  </a:extLst>
                </a:gridCol>
              </a:tblGrid>
              <a:tr h="106712">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Long haul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Regional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Urban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Municipal utility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a:effectLst/>
                        </a:rPr>
                        <a:t> </a:t>
                      </a:r>
                      <a:r>
                        <a:rPr lang="de-AT" sz="800" b="1" u="none" strike="noStrike" dirty="0" err="1">
                          <a:effectLst/>
                        </a:rPr>
                        <a:t>Construction</a:t>
                      </a:r>
                      <a:r>
                        <a:rPr lang="de-AT" sz="800" b="1" u="none" strike="noStrike" dirty="0">
                          <a:effectLst/>
                        </a:rPr>
                        <a:t> </a:t>
                      </a:r>
                      <a:endParaRPr lang="de-AT" sz="8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471874194"/>
                  </a:ext>
                </a:extLst>
              </a:tr>
              <a:tr h="106712">
                <a:tc>
                  <a:txBody>
                    <a:bodyPr/>
                    <a:lstStyle/>
                    <a:p>
                      <a:pPr algn="l" fontAlgn="b"/>
                      <a:r>
                        <a:rPr lang="en-US" sz="800" u="none" strike="noStrike" dirty="0">
                          <a:effectLst/>
                        </a:rPr>
                        <a:t>Tech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06712">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bl>
          </a:graphicData>
        </a:graphic>
      </p:graphicFrame>
      <p:sp>
        <p:nvSpPr>
          <p:cNvPr id="8" name="Geschweifte Klammer rechts 7"/>
          <p:cNvSpPr/>
          <p:nvPr/>
        </p:nvSpPr>
        <p:spPr>
          <a:xfrm rot="16200000">
            <a:off x="3506231" y="4126102"/>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7" y="4374884"/>
            <a:ext cx="1259012" cy="646331"/>
          </a:xfrm>
          <a:prstGeom prst="rect">
            <a:avLst/>
          </a:prstGeom>
          <a:noFill/>
        </p:spPr>
        <p:txBody>
          <a:bodyPr wrap="square" rtlCol="0">
            <a:spAutoFit/>
          </a:bodyPr>
          <a:lstStyle/>
          <a:p>
            <a:pPr algn="ctr" fontAlgn="b"/>
            <a:r>
              <a:rPr lang="de-AT" sz="900" b="1" dirty="0" err="1">
                <a:solidFill>
                  <a:srgbClr val="CC0000"/>
                </a:solidFill>
              </a:rPr>
              <a:t>can</a:t>
            </a:r>
            <a:r>
              <a:rPr lang="de-AT" sz="900" b="1" dirty="0">
                <a:solidFill>
                  <a:srgbClr val="CC0000"/>
                </a:solidFill>
              </a:rPr>
              <a:t> </a:t>
            </a:r>
            <a:r>
              <a:rPr lang="de-AT" sz="900" b="1" dirty="0" err="1">
                <a:solidFill>
                  <a:srgbClr val="CC0000"/>
                </a:solidFill>
              </a:rPr>
              <a:t>be</a:t>
            </a:r>
            <a:r>
              <a:rPr lang="de-AT" sz="900" b="1" dirty="0">
                <a:solidFill>
                  <a:srgbClr val="CC0000"/>
                </a:solidFill>
              </a:rPr>
              <a:t> </a:t>
            </a:r>
            <a:r>
              <a:rPr lang="de-AT" sz="900" b="1" dirty="0" err="1">
                <a:solidFill>
                  <a:srgbClr val="CC0000"/>
                </a:solidFill>
              </a:rPr>
              <a:t>directly</a:t>
            </a:r>
            <a:r>
              <a:rPr lang="de-AT" sz="900" b="1" dirty="0">
                <a:solidFill>
                  <a:srgbClr val="CC0000"/>
                </a:solidFill>
              </a:rPr>
              <a:t> </a:t>
            </a:r>
            <a:r>
              <a:rPr lang="de-AT" sz="900" b="1" dirty="0" err="1">
                <a:solidFill>
                  <a:srgbClr val="CC0000"/>
                </a:solidFill>
              </a:rPr>
              <a:t>supplied</a:t>
            </a:r>
            <a:r>
              <a:rPr lang="de-AT" sz="900" b="1" dirty="0">
                <a:solidFill>
                  <a:srgbClr val="CC0000"/>
                </a:solidFill>
              </a:rPr>
              <a:t> </a:t>
            </a:r>
            <a:r>
              <a:rPr lang="de-AT" sz="900" b="1" dirty="0" err="1">
                <a:solidFill>
                  <a:srgbClr val="CC0000"/>
                </a:solidFill>
              </a:rPr>
              <a:t>by</a:t>
            </a:r>
            <a:r>
              <a:rPr lang="de-AT" sz="900" b="1" dirty="0">
                <a:solidFill>
                  <a:srgbClr val="CC0000"/>
                </a:solidFill>
              </a:rPr>
              <a:t> REESS </a:t>
            </a:r>
            <a:r>
              <a:rPr lang="de-AT" sz="900" b="1" dirty="0" err="1">
                <a:solidFill>
                  <a:srgbClr val="CC0000"/>
                </a:solidFill>
              </a:rPr>
              <a:t>if</a:t>
            </a:r>
            <a:r>
              <a:rPr lang="de-AT" sz="900" b="1" dirty="0">
                <a:solidFill>
                  <a:srgbClr val="CC0000"/>
                </a:solidFill>
              </a:rPr>
              <a:t> </a:t>
            </a:r>
            <a:r>
              <a:rPr lang="de-AT" sz="900" b="1" dirty="0" err="1">
                <a:solidFill>
                  <a:srgbClr val="CC0000"/>
                </a:solidFill>
              </a:rPr>
              <a:t>present</a:t>
            </a:r>
            <a:br>
              <a:rPr lang="de-AT" sz="900" b="1" dirty="0">
                <a:solidFill>
                  <a:srgbClr val="CC0000"/>
                </a:solidFill>
              </a:rPr>
            </a:br>
            <a:r>
              <a:rPr lang="de-AT" sz="900" b="1" dirty="0">
                <a:solidFill>
                  <a:srgbClr val="CC0000"/>
                </a:solidFill>
              </a:rPr>
              <a:t>(</a:t>
            </a:r>
            <a:r>
              <a:rPr lang="de-AT" sz="900" b="1" dirty="0" err="1">
                <a:solidFill>
                  <a:srgbClr val="CC0000"/>
                </a:solidFill>
              </a:rPr>
              <a:t>indicated</a:t>
            </a:r>
            <a:r>
              <a:rPr lang="de-AT" sz="900" b="1" dirty="0">
                <a:solidFill>
                  <a:srgbClr val="CC0000"/>
                </a:solidFill>
              </a:rPr>
              <a:t> </a:t>
            </a:r>
            <a:r>
              <a:rPr lang="de-AT" sz="900" b="1" dirty="0" err="1">
                <a:solidFill>
                  <a:srgbClr val="CC0000"/>
                </a:solidFill>
              </a:rPr>
              <a:t>with</a:t>
            </a:r>
            <a:r>
              <a:rPr lang="de-AT" sz="900" b="1" dirty="0">
                <a:solidFill>
                  <a:srgbClr val="CC0000"/>
                </a:solidFill>
              </a:rPr>
              <a:t> 0/1)</a:t>
            </a:r>
          </a:p>
        </p:txBody>
      </p:sp>
      <p:sp>
        <p:nvSpPr>
          <p:cNvPr id="10" name="Textfeld 9"/>
          <p:cNvSpPr txBox="1"/>
          <p:nvPr/>
        </p:nvSpPr>
        <p:spPr>
          <a:xfrm>
            <a:off x="6294043" y="4608667"/>
            <a:ext cx="1970235" cy="400110"/>
          </a:xfrm>
          <a:prstGeom prst="rect">
            <a:avLst/>
          </a:prstGeom>
          <a:noFill/>
        </p:spPr>
        <p:txBody>
          <a:bodyPr wrap="square" rtlCol="0">
            <a:spAutoFit/>
          </a:bodyPr>
          <a:lstStyle/>
          <a:p>
            <a:pPr algn="ctr" fontAlgn="b"/>
            <a:r>
              <a:rPr lang="en-US" sz="1000" b="1" dirty="0">
                <a:solidFill>
                  <a:srgbClr val="CC0000"/>
                </a:solidFill>
              </a:rPr>
              <a:t>cycle specific </a:t>
            </a:r>
            <a:r>
              <a:rPr lang="en-US" sz="1000" b="1" u="sng" dirty="0">
                <a:solidFill>
                  <a:srgbClr val="CC0000"/>
                </a:solidFill>
              </a:rPr>
              <a:t>mechanical</a:t>
            </a:r>
            <a:r>
              <a:rPr lang="en-US" sz="1000" b="1" dirty="0">
                <a:solidFill>
                  <a:srgbClr val="CC0000"/>
                </a:solidFill>
              </a:rPr>
              <a:t> power demand [W]</a:t>
            </a:r>
            <a:endParaRPr lang="de-AT" sz="1000" b="1" dirty="0">
              <a:solidFill>
                <a:srgbClr val="CC0000"/>
              </a:solidFill>
            </a:endParaRPr>
          </a:p>
        </p:txBody>
      </p:sp>
      <p:sp>
        <p:nvSpPr>
          <p:cNvPr id="11" name="Geschweifte Klammer rechts 10"/>
          <p:cNvSpPr/>
          <p:nvPr/>
        </p:nvSpPr>
        <p:spPr>
          <a:xfrm rot="16200000">
            <a:off x="7147357" y="3423825"/>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rechts 11"/>
          <p:cNvSpPr/>
          <p:nvPr/>
        </p:nvSpPr>
        <p:spPr>
          <a:xfrm rot="16200000">
            <a:off x="4975656" y="4812934"/>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383483" y="4583781"/>
            <a:ext cx="2003172" cy="400110"/>
          </a:xfrm>
          <a:prstGeom prst="rect">
            <a:avLst/>
          </a:prstGeom>
          <a:noFill/>
        </p:spPr>
        <p:txBody>
          <a:bodyPr wrap="square" rtlCol="0">
            <a:spAutoFit/>
          </a:bodyPr>
          <a:lstStyle/>
          <a:p>
            <a:pPr algn="ctr" fontAlgn="b"/>
            <a:r>
              <a:rPr lang="de-AT" sz="1000" b="1" dirty="0" err="1">
                <a:solidFill>
                  <a:srgbClr val="CC0000"/>
                </a:solidFill>
              </a:rPr>
              <a:t>applicability</a:t>
            </a:r>
            <a:r>
              <a:rPr lang="de-AT" sz="1000" b="1" dirty="0">
                <a:solidFill>
                  <a:srgbClr val="CC0000"/>
                </a:solidFill>
              </a:rPr>
              <a:t> </a:t>
            </a:r>
            <a:r>
              <a:rPr lang="de-AT" sz="1000" b="1" dirty="0" err="1">
                <a:solidFill>
                  <a:srgbClr val="CC0000"/>
                </a:solidFill>
              </a:rPr>
              <a:t>for</a:t>
            </a:r>
            <a:r>
              <a:rPr lang="de-AT" sz="1000" b="1" dirty="0">
                <a:solidFill>
                  <a:srgbClr val="CC0000"/>
                </a:solidFill>
              </a:rPr>
              <a:t> </a:t>
            </a:r>
            <a:r>
              <a:rPr lang="de-AT" sz="1000" b="1" dirty="0" err="1">
                <a:solidFill>
                  <a:srgbClr val="CC0000"/>
                </a:solidFill>
              </a:rPr>
              <a:t>architecture</a:t>
            </a:r>
            <a:br>
              <a:rPr lang="de-AT" sz="1000" b="1" dirty="0">
                <a:solidFill>
                  <a:srgbClr val="CC0000"/>
                </a:solidFill>
              </a:rPr>
            </a:br>
            <a:r>
              <a:rPr lang="de-AT" sz="1000" b="1" dirty="0">
                <a:solidFill>
                  <a:srgbClr val="CC0000"/>
                </a:solidFill>
              </a:rPr>
              <a:t>(</a:t>
            </a:r>
            <a:r>
              <a:rPr lang="de-AT" sz="1000" b="1" dirty="0" err="1">
                <a:solidFill>
                  <a:srgbClr val="CC0000"/>
                </a:solidFill>
              </a:rPr>
              <a:t>indicated</a:t>
            </a:r>
            <a:r>
              <a:rPr lang="de-AT" sz="1000" b="1" dirty="0">
                <a:solidFill>
                  <a:srgbClr val="CC0000"/>
                </a:solidFill>
              </a:rPr>
              <a:t> </a:t>
            </a:r>
            <a:r>
              <a:rPr lang="de-AT" sz="1000" b="1" dirty="0" err="1">
                <a:solidFill>
                  <a:srgbClr val="CC0000"/>
                </a:solidFill>
              </a:rPr>
              <a:t>with</a:t>
            </a:r>
            <a:r>
              <a:rPr lang="de-AT" sz="1000" b="1" dirty="0">
                <a:solidFill>
                  <a:srgbClr val="CC0000"/>
                </a:solidFill>
              </a:rPr>
              <a:t> 0/1)</a:t>
            </a:r>
          </a:p>
        </p:txBody>
      </p:sp>
    </p:spTree>
    <p:extLst>
      <p:ext uri="{BB962C8B-B14F-4D97-AF65-F5344CB8AC3E}">
        <p14:creationId xmlns:p14="http://schemas.microsoft.com/office/powerpoint/2010/main" val="36731841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feld 14"/>
          <p:cNvSpPr txBox="1"/>
          <p:nvPr/>
        </p:nvSpPr>
        <p:spPr>
          <a:xfrm>
            <a:off x="-49763" y="4671931"/>
            <a:ext cx="771448" cy="461665"/>
          </a:xfrm>
          <a:prstGeom prst="rect">
            <a:avLst/>
          </a:prstGeom>
          <a:noFill/>
        </p:spPr>
        <p:txBody>
          <a:bodyPr wrap="square" rtlCol="0">
            <a:spAutoFit/>
          </a:bodyPr>
          <a:lstStyle/>
          <a:p>
            <a:pPr algn="ctr" fontAlgn="b"/>
            <a:r>
              <a:rPr lang="de-AT" sz="800" dirty="0">
                <a:solidFill>
                  <a:srgbClr val="CC0000"/>
                </a:solidFill>
              </a:rPr>
              <a:t>Block </a:t>
            </a:r>
            <a:r>
              <a:rPr lang="de-AT" sz="800" dirty="0" err="1">
                <a:solidFill>
                  <a:srgbClr val="CC0000"/>
                </a:solidFill>
              </a:rPr>
              <a:t>of</a:t>
            </a:r>
            <a:r>
              <a:rPr lang="de-AT" sz="800" dirty="0">
                <a:solidFill>
                  <a:srgbClr val="CC0000"/>
                </a:solidFill>
              </a:rPr>
              <a:t> </a:t>
            </a:r>
            <a:r>
              <a:rPr lang="de-AT" sz="800" b="1" dirty="0" err="1">
                <a:solidFill>
                  <a:srgbClr val="CC0000"/>
                </a:solidFill>
              </a:rPr>
              <a:t>mechanical</a:t>
            </a:r>
            <a:r>
              <a:rPr lang="de-AT" sz="800" dirty="0">
                <a:solidFill>
                  <a:srgbClr val="CC0000"/>
                </a:solidFill>
              </a:rPr>
              <a:t> </a:t>
            </a:r>
            <a:r>
              <a:rPr lang="de-AT" sz="800" dirty="0" err="1">
                <a:solidFill>
                  <a:srgbClr val="CC0000"/>
                </a:solidFill>
              </a:rPr>
              <a:t>technologies</a:t>
            </a:r>
            <a:endParaRPr lang="de-AT" sz="800" dirty="0">
              <a:solidFill>
                <a:srgbClr val="CC0000"/>
              </a:solidFill>
            </a:endParaRPr>
          </a:p>
        </p:txBody>
      </p:sp>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1724183"/>
          </a:xfrm>
        </p:spPr>
        <p:txBody>
          <a:bodyPr/>
          <a:lstStyle/>
          <a:p>
            <a:r>
              <a:rPr lang="en-US" sz="1800" dirty="0"/>
              <a:t>Basic principles of pneumatic system in DECL</a:t>
            </a:r>
          </a:p>
          <a:p>
            <a:pPr lvl="1"/>
            <a:r>
              <a:rPr lang="de-AT" sz="1400" dirty="0" err="1"/>
              <a:t>Structure</a:t>
            </a:r>
            <a:r>
              <a:rPr lang="de-AT" sz="1400" dirty="0"/>
              <a:t> </a:t>
            </a:r>
            <a:r>
              <a:rPr lang="de-AT" sz="1400" dirty="0" err="1"/>
              <a:t>of</a:t>
            </a:r>
            <a:r>
              <a:rPr lang="de-AT" sz="1400" dirty="0"/>
              <a:t> </a:t>
            </a:r>
            <a:r>
              <a:rPr lang="de-AT" sz="1400" dirty="0" err="1"/>
              <a:t>table</a:t>
            </a:r>
            <a:r>
              <a:rPr lang="de-AT" sz="1400" dirty="0"/>
              <a:t> </a:t>
            </a:r>
            <a:r>
              <a:rPr lang="de-AT" sz="1400" dirty="0" err="1"/>
              <a:t>is</a:t>
            </a:r>
            <a:r>
              <a:rPr lang="de-AT" sz="1400" dirty="0"/>
              <a:t> </a:t>
            </a:r>
            <a:r>
              <a:rPr lang="de-AT" sz="1400" dirty="0" err="1"/>
              <a:t>slightly</a:t>
            </a:r>
            <a:r>
              <a:rPr lang="de-AT" sz="1400" dirty="0"/>
              <a:t> different, </a:t>
            </a:r>
            <a:r>
              <a:rPr lang="de-AT" sz="1400" dirty="0" err="1"/>
              <a:t>stating</a:t>
            </a:r>
            <a:r>
              <a:rPr lang="de-AT" sz="1400" dirty="0"/>
              <a:t> </a:t>
            </a:r>
            <a:r>
              <a:rPr lang="de-AT" sz="1400" dirty="0" err="1"/>
              <a:t>mechanical</a:t>
            </a:r>
            <a:r>
              <a:rPr lang="de-AT" sz="1400" dirty="0"/>
              <a:t> </a:t>
            </a:r>
            <a:r>
              <a:rPr lang="de-AT" sz="1400" dirty="0" err="1"/>
              <a:t>and</a:t>
            </a:r>
            <a:r>
              <a:rPr lang="de-AT" sz="1400" dirty="0"/>
              <a:t> </a:t>
            </a:r>
            <a:r>
              <a:rPr lang="de-AT" sz="1400" dirty="0" err="1"/>
              <a:t>electrical</a:t>
            </a:r>
            <a:r>
              <a:rPr lang="de-AT" sz="1400" dirty="0"/>
              <a:t> power </a:t>
            </a:r>
            <a:r>
              <a:rPr lang="de-AT" sz="1400" dirty="0" err="1"/>
              <a:t>demand</a:t>
            </a:r>
            <a:br>
              <a:rPr lang="de-AT" sz="1400" dirty="0"/>
            </a:br>
            <a:r>
              <a:rPr lang="de-AT" sz="1400" dirty="0"/>
              <a:t>at </a:t>
            </a:r>
            <a:r>
              <a:rPr lang="de-AT" sz="1400" dirty="0" err="1"/>
              <a:t>the</a:t>
            </a:r>
            <a:r>
              <a:rPr lang="de-AT" sz="1400" dirty="0"/>
              <a:t> same time</a:t>
            </a:r>
          </a:p>
          <a:p>
            <a:pPr lvl="1"/>
            <a:r>
              <a:rPr lang="de-AT" sz="1400" dirty="0" err="1"/>
              <a:t>Reason</a:t>
            </a:r>
            <a:r>
              <a:rPr lang="de-AT" sz="1400" dirty="0"/>
              <a:t> </a:t>
            </a:r>
            <a:r>
              <a:rPr lang="de-AT" sz="1400" dirty="0" err="1"/>
              <a:t>is</a:t>
            </a:r>
            <a:r>
              <a:rPr lang="de-AT" sz="1400" dirty="0"/>
              <a:t> </a:t>
            </a:r>
            <a:r>
              <a:rPr lang="de-AT" sz="1400" dirty="0" err="1"/>
              <a:t>that</a:t>
            </a:r>
            <a:r>
              <a:rPr lang="de-AT" sz="1400" dirty="0"/>
              <a:t> </a:t>
            </a:r>
            <a:r>
              <a:rPr lang="de-AT" sz="1400" dirty="0" err="1"/>
              <a:t>generic</a:t>
            </a:r>
            <a:r>
              <a:rPr lang="de-AT" sz="1400" dirty="0"/>
              <a:t> </a:t>
            </a:r>
            <a:r>
              <a:rPr lang="de-AT" sz="1400" dirty="0" err="1"/>
              <a:t>saving</a:t>
            </a:r>
            <a:r>
              <a:rPr lang="de-AT" sz="1400" dirty="0"/>
              <a:t> </a:t>
            </a:r>
            <a:r>
              <a:rPr lang="de-AT" sz="1400" dirty="0" err="1"/>
              <a:t>of</a:t>
            </a:r>
            <a:r>
              <a:rPr lang="de-AT" sz="1400" dirty="0"/>
              <a:t> AMS </a:t>
            </a:r>
            <a:r>
              <a:rPr lang="de-AT" sz="1400" dirty="0" err="1"/>
              <a:t>techonolgies</a:t>
            </a:r>
            <a:r>
              <a:rPr lang="de-AT" sz="1400" dirty="0"/>
              <a:t> </a:t>
            </a:r>
            <a:r>
              <a:rPr lang="de-AT" sz="1400" dirty="0" err="1"/>
              <a:t>is</a:t>
            </a:r>
            <a:r>
              <a:rPr lang="de-AT" sz="1400" dirty="0"/>
              <a:t> </a:t>
            </a:r>
            <a:r>
              <a:rPr lang="de-AT" sz="1400" dirty="0" err="1"/>
              <a:t>reduced</a:t>
            </a:r>
            <a:r>
              <a:rPr lang="de-AT" sz="1400" dirty="0"/>
              <a:t> </a:t>
            </a:r>
            <a:r>
              <a:rPr lang="de-AT" sz="1400" dirty="0" err="1"/>
              <a:t>for</a:t>
            </a:r>
            <a:r>
              <a:rPr lang="de-AT" sz="1400" dirty="0"/>
              <a:t> </a:t>
            </a:r>
            <a:r>
              <a:rPr lang="de-AT" sz="1400" dirty="0" err="1"/>
              <a:t>xEV</a:t>
            </a:r>
            <a:r>
              <a:rPr lang="de-AT" sz="1400" dirty="0"/>
              <a:t> </a:t>
            </a:r>
            <a:r>
              <a:rPr lang="de-AT" sz="1400" dirty="0" err="1"/>
              <a:t>vehicles</a:t>
            </a:r>
            <a:r>
              <a:rPr lang="de-AT" sz="1400" dirty="0"/>
              <a:t> (</a:t>
            </a:r>
            <a:r>
              <a:rPr lang="de-AT" sz="1400" dirty="0" err="1"/>
              <a:t>only</a:t>
            </a:r>
            <a:r>
              <a:rPr lang="de-AT" sz="1400" dirty="0"/>
              <a:t> minus 10%) due </a:t>
            </a:r>
            <a:r>
              <a:rPr lang="de-AT" sz="1400" dirty="0" err="1"/>
              <a:t>to</a:t>
            </a:r>
            <a:r>
              <a:rPr lang="de-AT" sz="1400" dirty="0"/>
              <a:t> </a:t>
            </a:r>
            <a:r>
              <a:rPr lang="de-AT" sz="1400" dirty="0" err="1"/>
              <a:t>reduced</a:t>
            </a:r>
            <a:r>
              <a:rPr lang="de-AT" sz="1400" dirty="0"/>
              <a:t> </a:t>
            </a:r>
            <a:r>
              <a:rPr lang="de-AT" sz="1400" dirty="0" err="1"/>
              <a:t>recuperative</a:t>
            </a:r>
            <a:r>
              <a:rPr lang="de-AT" sz="1400" dirty="0"/>
              <a:t> potential </a:t>
            </a:r>
            <a:r>
              <a:rPr lang="de-AT" sz="1400" dirty="0" err="1"/>
              <a:t>compared</a:t>
            </a:r>
            <a:r>
              <a:rPr lang="de-AT" sz="1400" dirty="0"/>
              <a:t> </a:t>
            </a:r>
            <a:r>
              <a:rPr lang="de-AT" sz="1400" dirty="0" err="1"/>
              <a:t>to</a:t>
            </a:r>
            <a:r>
              <a:rPr lang="de-AT" sz="1400" dirty="0"/>
              <a:t> </a:t>
            </a:r>
            <a:r>
              <a:rPr lang="de-AT" sz="1400" dirty="0" err="1"/>
              <a:t>conventional</a:t>
            </a:r>
            <a:r>
              <a:rPr lang="de-AT" sz="1400" dirty="0"/>
              <a:t> </a:t>
            </a:r>
            <a:r>
              <a:rPr lang="de-AT" sz="1400" dirty="0" err="1"/>
              <a:t>ones</a:t>
            </a:r>
            <a:r>
              <a:rPr lang="de-AT" sz="1400" dirty="0"/>
              <a:t> </a:t>
            </a:r>
            <a:endParaRPr lang="en-GB" sz="1200" dirty="0"/>
          </a:p>
        </p:txBody>
      </p:sp>
      <p:sp>
        <p:nvSpPr>
          <p:cNvPr id="4" name="Foliennummernplatzhalter 3"/>
          <p:cNvSpPr>
            <a:spLocks noGrp="1"/>
          </p:cNvSpPr>
          <p:nvPr>
            <p:ph type="sldNum" sz="quarter" idx="12"/>
          </p:nvPr>
        </p:nvSpPr>
        <p:spPr/>
        <p:txBody>
          <a:bodyPr/>
          <a:lstStyle/>
          <a:p>
            <a:fld id="{4B64EC4D-37E3-EF42-B9AB-6337577588CB}" type="slidenum">
              <a:rPr lang="de-DE" smtClean="0"/>
              <a:t>7</a:t>
            </a:fld>
            <a:endParaRPr lang="de-DE"/>
          </a:p>
        </p:txBody>
      </p:sp>
      <p:graphicFrame>
        <p:nvGraphicFramePr>
          <p:cNvPr id="6" name="Tabelle 5"/>
          <p:cNvGraphicFramePr>
            <a:graphicFrameLocks noGrp="1"/>
          </p:cNvGraphicFramePr>
          <p:nvPr/>
        </p:nvGraphicFramePr>
        <p:xfrm>
          <a:off x="858719" y="4326904"/>
          <a:ext cx="8158280" cy="165600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1800000">
                  <a:extLst>
                    <a:ext uri="{9D8B030D-6E8A-4147-A177-3AD203B41FA5}">
                      <a16:colId xmlns:a16="http://schemas.microsoft.com/office/drawing/2014/main" val="3710519613"/>
                    </a:ext>
                  </a:extLst>
                </a:gridCol>
                <a:gridCol w="1800000">
                  <a:extLst>
                    <a:ext uri="{9D8B030D-6E8A-4147-A177-3AD203B41FA5}">
                      <a16:colId xmlns:a16="http://schemas.microsoft.com/office/drawing/2014/main" val="3392582189"/>
                    </a:ext>
                  </a:extLst>
                </a:gridCol>
              </a:tblGrid>
              <a:tr h="216000">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a:effectLst/>
                        </a:rPr>
                        <a:t> </a:t>
                      </a:r>
                      <a:r>
                        <a:rPr lang="de-AT" sz="800" b="1" u="none" strike="noStrike" dirty="0" err="1">
                          <a:effectLst/>
                        </a:rPr>
                        <a:t>mechanical</a:t>
                      </a:r>
                      <a:r>
                        <a:rPr lang="de-AT" sz="800" b="1" u="none" strike="noStrike" dirty="0">
                          <a:effectLst/>
                        </a:rPr>
                        <a:t> power </a:t>
                      </a:r>
                      <a:r>
                        <a:rPr lang="de-AT" sz="800" b="1" u="none" strike="noStrike" dirty="0" err="1">
                          <a:effectLst/>
                        </a:rPr>
                        <a:t>demand</a:t>
                      </a:r>
                      <a:r>
                        <a:rPr lang="de-AT" sz="800" b="1" u="none" strike="noStrike" dirty="0">
                          <a:effectLst/>
                        </a:rPr>
                        <a:t> [W]</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a:effectLst/>
                        </a:rPr>
                        <a:t> </a:t>
                      </a:r>
                      <a:r>
                        <a:rPr lang="de-AT" sz="800" b="1" u="none" strike="noStrike" dirty="0" err="1">
                          <a:effectLst/>
                        </a:rPr>
                        <a:t>electrical</a:t>
                      </a:r>
                      <a:r>
                        <a:rPr lang="de-AT" sz="800" b="1" u="none" strike="noStrike" dirty="0">
                          <a:effectLst/>
                        </a:rPr>
                        <a:t> power </a:t>
                      </a:r>
                      <a:r>
                        <a:rPr lang="de-AT" sz="800" b="1" u="none" strike="noStrike" dirty="0" err="1">
                          <a:effectLst/>
                        </a:rPr>
                        <a:t>demand</a:t>
                      </a:r>
                      <a:r>
                        <a:rPr lang="de-AT" sz="800" b="1" u="none" strike="noStrike" dirty="0">
                          <a:effectLst/>
                        </a:rPr>
                        <a:t> [W]</a:t>
                      </a:r>
                      <a:endParaRPr lang="de-AT" sz="800" b="1"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471874194"/>
                  </a:ext>
                </a:extLst>
              </a:tr>
              <a:tr h="180000">
                <a:tc>
                  <a:txBody>
                    <a:bodyPr/>
                    <a:lstStyle/>
                    <a:p>
                      <a:pPr algn="l" fontAlgn="b"/>
                      <a:r>
                        <a:rPr lang="en-US" sz="800" u="none" strike="noStrike" dirty="0">
                          <a:effectLst/>
                        </a:rPr>
                        <a:t>Tech mechanical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Arial"/>
                          <a:ea typeface="+mn-ea"/>
                          <a:cs typeface="+mn-cs"/>
                        </a:rPr>
                        <a:t>#2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Arial"/>
                          <a:ea typeface="+mn-ea"/>
                          <a:cs typeface="+mn-cs"/>
                        </a:rPr>
                        <a:t>#3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80000">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mn-lt"/>
                          <a:ea typeface="+mn-ea"/>
                          <a:cs typeface="+mn-cs"/>
                        </a:rPr>
                        <a:t>#...</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r h="180000">
                <a:tc>
                  <a:txBody>
                    <a:bodyPr/>
                    <a:lstStyle/>
                    <a:p>
                      <a:pPr algn="l" fontAlgn="b"/>
                      <a:r>
                        <a:rPr lang="en-US" sz="800" u="none" strike="noStrike" dirty="0">
                          <a:effectLst/>
                        </a:rPr>
                        <a:t>Tech electrical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314268548"/>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Arial"/>
                          <a:ea typeface="+mn-ea"/>
                          <a:cs typeface="+mn-cs"/>
                        </a:rPr>
                        <a:t>#2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330027890"/>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Arial"/>
                          <a:ea typeface="+mn-ea"/>
                          <a:cs typeface="+mn-cs"/>
                        </a:rPr>
                        <a:t>#3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787719517"/>
                  </a:ext>
                </a:extLst>
              </a:tr>
              <a:tr h="180000">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mn-lt"/>
                          <a:ea typeface="+mn-ea"/>
                          <a:cs typeface="+mn-cs"/>
                        </a:rPr>
                        <a:t>#...</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934790804"/>
                  </a:ext>
                </a:extLst>
              </a:tr>
            </a:tbl>
          </a:graphicData>
        </a:graphic>
      </p:graphicFrame>
      <p:sp>
        <p:nvSpPr>
          <p:cNvPr id="8" name="Geschweifte Klammer rechts 7"/>
          <p:cNvSpPr/>
          <p:nvPr/>
        </p:nvSpPr>
        <p:spPr>
          <a:xfrm rot="16200000">
            <a:off x="3506231" y="3180813"/>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8" y="3401859"/>
            <a:ext cx="1259012" cy="646331"/>
          </a:xfrm>
          <a:prstGeom prst="rect">
            <a:avLst/>
          </a:prstGeom>
          <a:noFill/>
        </p:spPr>
        <p:txBody>
          <a:bodyPr wrap="square" rtlCol="0">
            <a:spAutoFit/>
          </a:bodyPr>
          <a:lstStyle/>
          <a:p>
            <a:pPr algn="ctr" fontAlgn="b"/>
            <a:r>
              <a:rPr lang="de-AT" sz="900" dirty="0" err="1">
                <a:solidFill>
                  <a:srgbClr val="CC0000"/>
                </a:solidFill>
              </a:rPr>
              <a:t>can</a:t>
            </a:r>
            <a:r>
              <a:rPr lang="de-AT" sz="900" dirty="0">
                <a:solidFill>
                  <a:srgbClr val="CC0000"/>
                </a:solidFill>
              </a:rPr>
              <a:t> </a:t>
            </a:r>
            <a:r>
              <a:rPr lang="de-AT" sz="900" dirty="0" err="1">
                <a:solidFill>
                  <a:srgbClr val="CC0000"/>
                </a:solidFill>
              </a:rPr>
              <a:t>be</a:t>
            </a:r>
            <a:r>
              <a:rPr lang="de-AT" sz="900" dirty="0">
                <a:solidFill>
                  <a:srgbClr val="CC0000"/>
                </a:solidFill>
              </a:rPr>
              <a:t> </a:t>
            </a:r>
            <a:r>
              <a:rPr lang="de-AT" sz="900" dirty="0" err="1">
                <a:solidFill>
                  <a:srgbClr val="CC0000"/>
                </a:solidFill>
              </a:rPr>
              <a:t>directly</a:t>
            </a:r>
            <a:r>
              <a:rPr lang="de-AT" sz="900" dirty="0">
                <a:solidFill>
                  <a:srgbClr val="CC0000"/>
                </a:solidFill>
              </a:rPr>
              <a:t> </a:t>
            </a:r>
            <a:r>
              <a:rPr lang="de-AT" sz="900" dirty="0" err="1">
                <a:solidFill>
                  <a:srgbClr val="CC0000"/>
                </a:solidFill>
              </a:rPr>
              <a:t>supplied</a:t>
            </a:r>
            <a:r>
              <a:rPr lang="de-AT" sz="900" dirty="0">
                <a:solidFill>
                  <a:srgbClr val="CC0000"/>
                </a:solidFill>
              </a:rPr>
              <a:t> </a:t>
            </a:r>
            <a:r>
              <a:rPr lang="de-AT" sz="900" dirty="0" err="1">
                <a:solidFill>
                  <a:srgbClr val="CC0000"/>
                </a:solidFill>
              </a:rPr>
              <a:t>by</a:t>
            </a:r>
            <a:r>
              <a:rPr lang="de-AT" sz="900" dirty="0">
                <a:solidFill>
                  <a:srgbClr val="CC0000"/>
                </a:solidFill>
              </a:rPr>
              <a:t> REESS </a:t>
            </a:r>
            <a:r>
              <a:rPr lang="de-AT" sz="900" dirty="0" err="1">
                <a:solidFill>
                  <a:srgbClr val="CC0000"/>
                </a:solidFill>
              </a:rPr>
              <a:t>if</a:t>
            </a:r>
            <a:r>
              <a:rPr lang="de-AT" sz="900" dirty="0">
                <a:solidFill>
                  <a:srgbClr val="CC0000"/>
                </a:solidFill>
              </a:rPr>
              <a:t> </a:t>
            </a:r>
            <a:r>
              <a:rPr lang="de-AT" sz="900" dirty="0" err="1">
                <a:solidFill>
                  <a:srgbClr val="CC0000"/>
                </a:solidFill>
              </a:rPr>
              <a:t>present</a:t>
            </a:r>
            <a:br>
              <a:rPr lang="de-AT" sz="900" dirty="0">
                <a:solidFill>
                  <a:srgbClr val="CC0000"/>
                </a:solidFill>
              </a:rPr>
            </a:br>
            <a:r>
              <a:rPr lang="de-AT" sz="900" dirty="0">
                <a:solidFill>
                  <a:srgbClr val="CC0000"/>
                </a:solidFill>
              </a:rPr>
              <a:t>(</a:t>
            </a:r>
            <a:r>
              <a:rPr lang="de-AT" sz="900" dirty="0" err="1">
                <a:solidFill>
                  <a:srgbClr val="CC0000"/>
                </a:solidFill>
              </a:rPr>
              <a:t>indicated</a:t>
            </a:r>
            <a:r>
              <a:rPr lang="de-AT" sz="900" dirty="0">
                <a:solidFill>
                  <a:srgbClr val="CC0000"/>
                </a:solidFill>
              </a:rPr>
              <a:t> </a:t>
            </a:r>
            <a:r>
              <a:rPr lang="de-AT" sz="900" dirty="0" err="1">
                <a:solidFill>
                  <a:srgbClr val="CC0000"/>
                </a:solidFill>
              </a:rPr>
              <a:t>with</a:t>
            </a:r>
            <a:r>
              <a:rPr lang="de-AT" sz="900" dirty="0">
                <a:solidFill>
                  <a:srgbClr val="CC0000"/>
                </a:solidFill>
              </a:rPr>
              <a:t> 0/1)</a:t>
            </a:r>
          </a:p>
        </p:txBody>
      </p:sp>
      <p:sp>
        <p:nvSpPr>
          <p:cNvPr id="12" name="Geschweifte Klammer rechts 11"/>
          <p:cNvSpPr/>
          <p:nvPr/>
        </p:nvSpPr>
        <p:spPr>
          <a:xfrm rot="16200000">
            <a:off x="4975656" y="3867645"/>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377262" y="3664632"/>
            <a:ext cx="2003172" cy="400110"/>
          </a:xfrm>
          <a:prstGeom prst="rect">
            <a:avLst/>
          </a:prstGeom>
          <a:noFill/>
        </p:spPr>
        <p:txBody>
          <a:bodyPr wrap="square" rtlCol="0">
            <a:spAutoFit/>
          </a:bodyPr>
          <a:lstStyle/>
          <a:p>
            <a:pPr algn="ctr" fontAlgn="b"/>
            <a:r>
              <a:rPr lang="de-AT" sz="1000" dirty="0" err="1">
                <a:solidFill>
                  <a:srgbClr val="CC0000"/>
                </a:solidFill>
              </a:rPr>
              <a:t>applicability</a:t>
            </a:r>
            <a:r>
              <a:rPr lang="de-AT" sz="1000" dirty="0">
                <a:solidFill>
                  <a:srgbClr val="CC0000"/>
                </a:solidFill>
              </a:rPr>
              <a:t> </a:t>
            </a:r>
            <a:r>
              <a:rPr lang="de-AT" sz="1000" dirty="0" err="1">
                <a:solidFill>
                  <a:srgbClr val="CC0000"/>
                </a:solidFill>
              </a:rPr>
              <a:t>for</a:t>
            </a:r>
            <a:r>
              <a:rPr lang="de-AT" sz="1000" dirty="0">
                <a:solidFill>
                  <a:srgbClr val="CC0000"/>
                </a:solidFill>
              </a:rPr>
              <a:t> </a:t>
            </a:r>
            <a:r>
              <a:rPr lang="de-AT" sz="1000" dirty="0" err="1">
                <a:solidFill>
                  <a:srgbClr val="CC0000"/>
                </a:solidFill>
              </a:rPr>
              <a:t>architecture</a:t>
            </a:r>
            <a:br>
              <a:rPr lang="de-AT" sz="1000" dirty="0">
                <a:solidFill>
                  <a:srgbClr val="CC0000"/>
                </a:solidFill>
              </a:rPr>
            </a:br>
            <a:r>
              <a:rPr lang="de-AT" sz="1000" dirty="0">
                <a:solidFill>
                  <a:srgbClr val="CC0000"/>
                </a:solidFill>
              </a:rPr>
              <a:t>(</a:t>
            </a:r>
            <a:r>
              <a:rPr lang="de-AT" sz="1000" dirty="0" err="1">
                <a:solidFill>
                  <a:srgbClr val="CC0000"/>
                </a:solidFill>
              </a:rPr>
              <a:t>indicated</a:t>
            </a:r>
            <a:r>
              <a:rPr lang="de-AT" sz="1000" dirty="0">
                <a:solidFill>
                  <a:srgbClr val="CC0000"/>
                </a:solidFill>
              </a:rPr>
              <a:t> </a:t>
            </a:r>
            <a:r>
              <a:rPr lang="de-AT" sz="1000" dirty="0" err="1">
                <a:solidFill>
                  <a:srgbClr val="CC0000"/>
                </a:solidFill>
              </a:rPr>
              <a:t>with</a:t>
            </a:r>
            <a:r>
              <a:rPr lang="de-AT" sz="1000" dirty="0">
                <a:solidFill>
                  <a:srgbClr val="CC0000"/>
                </a:solidFill>
              </a:rPr>
              <a:t> 0/1)</a:t>
            </a:r>
          </a:p>
        </p:txBody>
      </p:sp>
      <p:sp>
        <p:nvSpPr>
          <p:cNvPr id="14" name="Geschweifte Klammer rechts 13"/>
          <p:cNvSpPr/>
          <p:nvPr/>
        </p:nvSpPr>
        <p:spPr>
          <a:xfrm rot="10800000">
            <a:off x="740228" y="4558102"/>
            <a:ext cx="99949" cy="689576"/>
          </a:xfrm>
          <a:prstGeom prst="rightBrace">
            <a:avLst>
              <a:gd name="adj1" fmla="val 8333"/>
              <a:gd name="adj2" fmla="val 49085"/>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6" name="Textfeld 15"/>
          <p:cNvSpPr txBox="1"/>
          <p:nvPr/>
        </p:nvSpPr>
        <p:spPr>
          <a:xfrm>
            <a:off x="-66297" y="5411622"/>
            <a:ext cx="856247" cy="461665"/>
          </a:xfrm>
          <a:prstGeom prst="rect">
            <a:avLst/>
          </a:prstGeom>
          <a:noFill/>
        </p:spPr>
        <p:txBody>
          <a:bodyPr wrap="square" rtlCol="0">
            <a:spAutoFit/>
          </a:bodyPr>
          <a:lstStyle/>
          <a:p>
            <a:pPr algn="ctr" fontAlgn="b"/>
            <a:r>
              <a:rPr lang="de-AT" sz="800" dirty="0">
                <a:solidFill>
                  <a:srgbClr val="CC0000"/>
                </a:solidFill>
              </a:rPr>
              <a:t>Block </a:t>
            </a:r>
            <a:r>
              <a:rPr lang="de-AT" sz="800" dirty="0" err="1">
                <a:solidFill>
                  <a:srgbClr val="CC0000"/>
                </a:solidFill>
              </a:rPr>
              <a:t>of</a:t>
            </a:r>
            <a:r>
              <a:rPr lang="de-AT" sz="800" dirty="0">
                <a:solidFill>
                  <a:srgbClr val="CC0000"/>
                </a:solidFill>
              </a:rPr>
              <a:t> </a:t>
            </a:r>
            <a:r>
              <a:rPr lang="de-AT" sz="800" b="1" dirty="0" err="1">
                <a:solidFill>
                  <a:srgbClr val="CC0000"/>
                </a:solidFill>
              </a:rPr>
              <a:t>electrical</a:t>
            </a:r>
            <a:r>
              <a:rPr lang="de-AT" sz="800" dirty="0">
                <a:solidFill>
                  <a:srgbClr val="CC0000"/>
                </a:solidFill>
              </a:rPr>
              <a:t> </a:t>
            </a:r>
            <a:r>
              <a:rPr lang="de-AT" sz="800" dirty="0" err="1">
                <a:solidFill>
                  <a:srgbClr val="CC0000"/>
                </a:solidFill>
              </a:rPr>
              <a:t>technologies</a:t>
            </a:r>
            <a:endParaRPr lang="de-AT" sz="800" dirty="0">
              <a:solidFill>
                <a:srgbClr val="CC0000"/>
              </a:solidFill>
            </a:endParaRPr>
          </a:p>
        </p:txBody>
      </p:sp>
      <p:sp>
        <p:nvSpPr>
          <p:cNvPr id="18" name="Geschweifte Klammer rechts 17"/>
          <p:cNvSpPr/>
          <p:nvPr/>
        </p:nvSpPr>
        <p:spPr>
          <a:xfrm rot="10800000">
            <a:off x="721684" y="5293326"/>
            <a:ext cx="118493" cy="68957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9" name="Textfeld 18"/>
          <p:cNvSpPr txBox="1"/>
          <p:nvPr/>
        </p:nvSpPr>
        <p:spPr>
          <a:xfrm>
            <a:off x="6345022" y="3622716"/>
            <a:ext cx="1970235" cy="400110"/>
          </a:xfrm>
          <a:prstGeom prst="rect">
            <a:avLst/>
          </a:prstGeom>
          <a:noFill/>
        </p:spPr>
        <p:txBody>
          <a:bodyPr wrap="square" rtlCol="0">
            <a:spAutoFit/>
          </a:bodyPr>
          <a:lstStyle/>
          <a:p>
            <a:pPr algn="ctr" fontAlgn="b"/>
            <a:r>
              <a:rPr lang="en-US" sz="1000" b="1" dirty="0">
                <a:solidFill>
                  <a:srgbClr val="CC0000"/>
                </a:solidFill>
              </a:rPr>
              <a:t>cycle specific indication of power demand [W]</a:t>
            </a:r>
            <a:endParaRPr lang="de-AT" sz="1000" b="1" dirty="0">
              <a:solidFill>
                <a:srgbClr val="CC0000"/>
              </a:solidFill>
            </a:endParaRPr>
          </a:p>
        </p:txBody>
      </p:sp>
      <p:sp>
        <p:nvSpPr>
          <p:cNvPr id="20" name="Geschweifte Klammer rechts 19"/>
          <p:cNvSpPr/>
          <p:nvPr/>
        </p:nvSpPr>
        <p:spPr>
          <a:xfrm rot="16200000">
            <a:off x="7147357" y="2478537"/>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7" name="Textfeld 6"/>
          <p:cNvSpPr txBox="1"/>
          <p:nvPr/>
        </p:nvSpPr>
        <p:spPr>
          <a:xfrm rot="16200000">
            <a:off x="-620870" y="3551436"/>
            <a:ext cx="1759311" cy="307777"/>
          </a:xfrm>
          <a:prstGeom prst="rect">
            <a:avLst/>
          </a:prstGeom>
          <a:solidFill>
            <a:srgbClr val="F70146"/>
          </a:solidFill>
        </p:spPr>
        <p:txBody>
          <a:bodyPr wrap="square" rtlCol="0">
            <a:spAutoFit/>
          </a:bodyPr>
          <a:lstStyle/>
          <a:p>
            <a:pPr algn="ctr"/>
            <a:r>
              <a:rPr lang="de-AT" sz="1400" b="1" dirty="0">
                <a:solidFill>
                  <a:schemeClr val="bg1"/>
                </a:solidFill>
              </a:rPr>
              <a:t>PS-Table.csv</a:t>
            </a:r>
          </a:p>
        </p:txBody>
      </p:sp>
    </p:spTree>
    <p:extLst>
      <p:ext uri="{BB962C8B-B14F-4D97-AF65-F5344CB8AC3E}">
        <p14:creationId xmlns:p14="http://schemas.microsoft.com/office/powerpoint/2010/main" val="29323882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65529"/>
          </a:xfrm>
        </p:spPr>
        <p:txBody>
          <a:bodyPr/>
          <a:lstStyle/>
          <a:p>
            <a:r>
              <a:rPr lang="en-US" sz="1800" dirty="0"/>
              <a:t>Basic principles of ICE fan and electric components conditioning power in DECL</a:t>
            </a:r>
          </a:p>
          <a:p>
            <a:pPr lvl="1"/>
            <a:r>
              <a:rPr lang="en-US" sz="1400" dirty="0"/>
              <a:t>ICE fan power is always fully applied when ICE = on in simulation</a:t>
            </a:r>
            <a:br>
              <a:rPr lang="en-US" sz="1400" dirty="0"/>
            </a:br>
            <a:endParaRPr lang="en-US" sz="600" dirty="0"/>
          </a:p>
          <a:p>
            <a:pPr lvl="1"/>
            <a:r>
              <a:rPr lang="en-US" sz="1400" b="1" u="sng" dirty="0"/>
              <a:t>For PEV and S-HEV:</a:t>
            </a:r>
            <a:r>
              <a:rPr lang="en-US" sz="1400" dirty="0"/>
              <a:t> values from table below are fully applied when at least one EM = on in simulation (i.e. electric powertrain is propelling/braking) or when E_PTO = on</a:t>
            </a:r>
            <a:br>
              <a:rPr lang="en-US" sz="1400" dirty="0"/>
            </a:br>
            <a:endParaRPr lang="en-US" sz="600" dirty="0"/>
          </a:p>
          <a:p>
            <a:pPr lvl="1"/>
            <a:r>
              <a:rPr lang="en-US" sz="1400" b="1" u="sng" dirty="0"/>
              <a:t>For P-HEV:</a:t>
            </a:r>
            <a:r>
              <a:rPr lang="en-US" sz="1400" dirty="0"/>
              <a:t> values from table below are applied according to equations further below</a:t>
            </a:r>
            <a:br>
              <a:rPr lang="en-US" sz="1400" dirty="0"/>
            </a:br>
            <a:r>
              <a:rPr lang="en-US" sz="1400" dirty="0"/>
              <a:t>with scaling factor “x” reflecting actual split of propulsion power for each </a:t>
            </a:r>
            <a:r>
              <a:rPr lang="en-US" sz="1400" dirty="0" err="1"/>
              <a:t>timestep</a:t>
            </a:r>
            <a:endParaRPr lang="en-US" sz="1400" dirty="0"/>
          </a:p>
          <a:p>
            <a:pPr lvl="2"/>
            <a:r>
              <a:rPr lang="en-GB" sz="1200" dirty="0"/>
              <a:t>x = ABS(P</a:t>
            </a:r>
            <a:r>
              <a:rPr lang="en-GB" sz="1200" baseline="-25000" dirty="0"/>
              <a:t>EM</a:t>
            </a:r>
            <a:r>
              <a:rPr lang="en-GB" sz="1200" dirty="0"/>
              <a:t>) / [ABS(P</a:t>
            </a:r>
            <a:r>
              <a:rPr lang="en-GB" sz="1200" baseline="-25000" dirty="0"/>
              <a:t>EM</a:t>
            </a:r>
            <a:r>
              <a:rPr lang="en-GB" sz="1200" dirty="0"/>
              <a:t>) + ABS(P</a:t>
            </a:r>
            <a:r>
              <a:rPr lang="en-GB" sz="1200" baseline="-25000" dirty="0"/>
              <a:t>ICE</a:t>
            </a:r>
            <a:r>
              <a:rPr lang="en-GB" sz="1200" dirty="0"/>
              <a:t>)] </a:t>
            </a:r>
            <a:br>
              <a:rPr lang="en-GB" sz="1200" dirty="0"/>
            </a:br>
            <a:br>
              <a:rPr lang="en-GB" sz="800" dirty="0"/>
            </a:br>
            <a:r>
              <a:rPr lang="en-GB" sz="1200" dirty="0"/>
              <a:t>with and P</a:t>
            </a:r>
            <a:r>
              <a:rPr lang="en-GB" sz="1200" baseline="-25000" dirty="0"/>
              <a:t>EM</a:t>
            </a:r>
            <a:r>
              <a:rPr lang="en-GB" sz="1200" dirty="0"/>
              <a:t> and P</a:t>
            </a:r>
            <a:r>
              <a:rPr lang="en-GB" sz="1200" baseline="-25000" dirty="0"/>
              <a:t>ICE</a:t>
            </a:r>
            <a:r>
              <a:rPr lang="en-GB" sz="1200" dirty="0"/>
              <a:t> being the mechanical power of EM and ICE</a:t>
            </a:r>
            <a:br>
              <a:rPr lang="en-GB" sz="1200" dirty="0"/>
            </a:br>
            <a:endParaRPr lang="en-GB" sz="700" dirty="0"/>
          </a:p>
          <a:p>
            <a:pPr lvl="2"/>
            <a:r>
              <a:rPr lang="en-GB" sz="1200" dirty="0"/>
              <a:t>Applied electric components conditioning power equals: “table value” multiplied by x</a:t>
            </a:r>
            <a:br>
              <a:rPr lang="en-GB" sz="1200" dirty="0"/>
            </a:br>
            <a:endParaRPr lang="en-GB" sz="600" dirty="0"/>
          </a:p>
          <a:p>
            <a:pPr lvl="2"/>
            <a:r>
              <a:rPr lang="en-GB" sz="1200" dirty="0"/>
              <a:t>For further details please refer to </a:t>
            </a:r>
            <a:r>
              <a:rPr lang="en-GB" sz="1200" b="1" i="1" dirty="0"/>
              <a:t>VECTO-DEV WS#12 18.05.2022 (slide 15ff)</a:t>
            </a:r>
          </a:p>
        </p:txBody>
      </p:sp>
      <p:sp>
        <p:nvSpPr>
          <p:cNvPr id="4" name="Foliennummernplatzhalter 3"/>
          <p:cNvSpPr>
            <a:spLocks noGrp="1"/>
          </p:cNvSpPr>
          <p:nvPr>
            <p:ph type="sldNum" sz="quarter" idx="12"/>
          </p:nvPr>
        </p:nvSpPr>
        <p:spPr/>
        <p:txBody>
          <a:bodyPr/>
          <a:lstStyle/>
          <a:p>
            <a:fld id="{4B64EC4D-37E3-EF42-B9AB-6337577588CB}" type="slidenum">
              <a:rPr lang="de-DE" smtClean="0"/>
              <a:t>8</a:t>
            </a:fld>
            <a:endParaRPr lang="de-DE"/>
          </a:p>
        </p:txBody>
      </p:sp>
      <p:graphicFrame>
        <p:nvGraphicFramePr>
          <p:cNvPr id="7" name="Tabelle 6"/>
          <p:cNvGraphicFramePr>
            <a:graphicFrameLocks noGrp="1"/>
          </p:cNvGraphicFramePr>
          <p:nvPr/>
        </p:nvGraphicFramePr>
        <p:xfrm>
          <a:off x="1292311" y="5077897"/>
          <a:ext cx="7277100" cy="838200"/>
        </p:xfrm>
        <a:graphic>
          <a:graphicData uri="http://schemas.openxmlformats.org/drawingml/2006/table">
            <a:tbl>
              <a:tblPr>
                <a:tableStyleId>{5C22544A-7EE6-4342-B048-85BDC9FD1C3A}</a:tableStyleId>
              </a:tblPr>
              <a:tblGrid>
                <a:gridCol w="1745360">
                  <a:extLst>
                    <a:ext uri="{9D8B030D-6E8A-4147-A177-3AD203B41FA5}">
                      <a16:colId xmlns:a16="http://schemas.microsoft.com/office/drawing/2014/main" val="3885140559"/>
                    </a:ext>
                  </a:extLst>
                </a:gridCol>
                <a:gridCol w="1382935">
                  <a:extLst>
                    <a:ext uri="{9D8B030D-6E8A-4147-A177-3AD203B41FA5}">
                      <a16:colId xmlns:a16="http://schemas.microsoft.com/office/drawing/2014/main" val="1606952657"/>
                    </a:ext>
                  </a:extLst>
                </a:gridCol>
                <a:gridCol w="1382935">
                  <a:extLst>
                    <a:ext uri="{9D8B030D-6E8A-4147-A177-3AD203B41FA5}">
                      <a16:colId xmlns:a16="http://schemas.microsoft.com/office/drawing/2014/main" val="2100958580"/>
                    </a:ext>
                  </a:extLst>
                </a:gridCol>
                <a:gridCol w="1382935">
                  <a:extLst>
                    <a:ext uri="{9D8B030D-6E8A-4147-A177-3AD203B41FA5}">
                      <a16:colId xmlns:a16="http://schemas.microsoft.com/office/drawing/2014/main" val="1215150834"/>
                    </a:ext>
                  </a:extLst>
                </a:gridCol>
                <a:gridCol w="1382935">
                  <a:extLst>
                    <a:ext uri="{9D8B030D-6E8A-4147-A177-3AD203B41FA5}">
                      <a16:colId xmlns:a16="http://schemas.microsoft.com/office/drawing/2014/main" val="4130064881"/>
                    </a:ext>
                  </a:extLst>
                </a:gridCol>
              </a:tblGrid>
              <a:tr h="447675">
                <a:tc gridSpan="5">
                  <a:txBody>
                    <a:bodyPr/>
                    <a:lstStyle/>
                    <a:p>
                      <a:pPr algn="ctr" fontAlgn="b"/>
                      <a:r>
                        <a:rPr lang="en-US" sz="1000" b="1" u="none" strike="noStrike" dirty="0">
                          <a:effectLst/>
                        </a:rPr>
                        <a:t>Electric conditioning power demand</a:t>
                      </a:r>
                      <a:br>
                        <a:rPr lang="en-US" sz="1000" b="1" u="none" strike="noStrike" dirty="0">
                          <a:effectLst/>
                        </a:rPr>
                      </a:br>
                      <a:r>
                        <a:rPr lang="en-US" sz="1000" b="1" u="none" strike="noStrike" dirty="0">
                          <a:effectLst/>
                        </a:rPr>
                        <a:t>applied to electric system [W]</a:t>
                      </a:r>
                      <a:endParaRPr lang="en-US" sz="1000" b="1" i="0" u="none" strike="noStrike" dirty="0">
                        <a:solidFill>
                          <a:srgbClr val="FF0000"/>
                        </a:solidFill>
                        <a:effectLst/>
                        <a:latin typeface="Calibri" panose="020F0502020204030204" pitchFamily="34" charset="0"/>
                      </a:endParaRPr>
                    </a:p>
                  </a:txBody>
                  <a:tcPr marL="0" marR="0" marT="0" marB="0" anchor="ctr"/>
                </a:tc>
                <a:tc hMerge="1">
                  <a:txBody>
                    <a:bodyPr/>
                    <a:lstStyle/>
                    <a:p>
                      <a:endParaRPr lang="de-AT"/>
                    </a:p>
                  </a:txBody>
                  <a:tcPr/>
                </a:tc>
                <a:tc hMerge="1">
                  <a:txBody>
                    <a:bodyPr/>
                    <a:lstStyle/>
                    <a:p>
                      <a:endParaRPr lang="de-AT"/>
                    </a:p>
                  </a:txBody>
                  <a:tcPr/>
                </a:tc>
                <a:tc hMerge="1">
                  <a:txBody>
                    <a:bodyPr/>
                    <a:lstStyle/>
                    <a:p>
                      <a:endParaRPr lang="de-AT"/>
                    </a:p>
                  </a:txBody>
                  <a:tcPr/>
                </a:tc>
                <a:tc hMerge="1">
                  <a:txBody>
                    <a:bodyPr/>
                    <a:lstStyle/>
                    <a:p>
                      <a:endParaRPr lang="de-AT"/>
                    </a:p>
                  </a:txBody>
                  <a:tcPr/>
                </a:tc>
                <a:extLst>
                  <a:ext uri="{0D108BD9-81ED-4DB2-BD59-A6C34878D82A}">
                    <a16:rowId xmlns:a16="http://schemas.microsoft.com/office/drawing/2014/main" val="1532090981"/>
                  </a:ext>
                </a:extLst>
              </a:tr>
              <a:tr h="190500">
                <a:tc>
                  <a:txBody>
                    <a:bodyPr/>
                    <a:lstStyle/>
                    <a:p>
                      <a:pPr algn="ctr" fontAlgn="b"/>
                      <a:r>
                        <a:rPr lang="de-AT" sz="1000" b="1" u="none" strike="noStrike">
                          <a:effectLst/>
                        </a:rPr>
                        <a:t> Long Haul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Regional Delivery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Urban  Delivery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Municipal utility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dirty="0">
                          <a:effectLst/>
                        </a:rPr>
                        <a:t> </a:t>
                      </a:r>
                      <a:r>
                        <a:rPr lang="de-AT" sz="1000" b="1" u="none" strike="noStrike" dirty="0" err="1">
                          <a:effectLst/>
                        </a:rPr>
                        <a:t>Construction</a:t>
                      </a:r>
                      <a:endParaRPr lang="de-AT" sz="10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950272128"/>
                  </a:ext>
                </a:extLst>
              </a:tr>
              <a:tr h="200025">
                <a:tc>
                  <a:txBody>
                    <a:bodyPr/>
                    <a:lstStyle/>
                    <a:p>
                      <a:pPr algn="ctr" fontAlgn="b"/>
                      <a:r>
                        <a:rPr lang="de-AT" sz="1000" b="1" u="none" strike="noStrike">
                          <a:effectLst/>
                        </a:rPr>
                        <a:t>600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600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550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550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dirty="0">
                          <a:effectLst/>
                        </a:rPr>
                        <a:t>600</a:t>
                      </a:r>
                      <a:endParaRPr lang="de-AT" sz="10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792547276"/>
                  </a:ext>
                </a:extLst>
              </a:tr>
            </a:tbl>
          </a:graphicData>
        </a:graphic>
      </p:graphicFrame>
      <p:sp>
        <p:nvSpPr>
          <p:cNvPr id="21" name="Textfeld 20"/>
          <p:cNvSpPr txBox="1"/>
          <p:nvPr/>
        </p:nvSpPr>
        <p:spPr>
          <a:xfrm rot="16200000">
            <a:off x="-577622" y="3443714"/>
            <a:ext cx="1759311" cy="523220"/>
          </a:xfrm>
          <a:prstGeom prst="rect">
            <a:avLst/>
          </a:prstGeom>
          <a:solidFill>
            <a:srgbClr val="F70146"/>
          </a:solidFill>
        </p:spPr>
        <p:txBody>
          <a:bodyPr wrap="square" rtlCol="0">
            <a:spAutoFit/>
          </a:bodyPr>
          <a:lstStyle/>
          <a:p>
            <a:pPr algn="ctr"/>
            <a:r>
              <a:rPr lang="de-AT" sz="1400" b="1" dirty="0">
                <a:solidFill>
                  <a:schemeClr val="bg1"/>
                </a:solidFill>
              </a:rPr>
              <a:t>Fan-Tech.csv + Cond-Table.csv</a:t>
            </a:r>
          </a:p>
        </p:txBody>
      </p:sp>
    </p:spTree>
    <p:extLst>
      <p:ext uri="{BB962C8B-B14F-4D97-AF65-F5344CB8AC3E}">
        <p14:creationId xmlns:p14="http://schemas.microsoft.com/office/powerpoint/2010/main" val="1915643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28459"/>
          </a:xfrm>
        </p:spPr>
        <p:txBody>
          <a:bodyPr>
            <a:normAutofit fontScale="92500" lnSpcReduction="20000"/>
          </a:bodyPr>
          <a:lstStyle/>
          <a:p>
            <a:r>
              <a:rPr lang="en-US" sz="1800" dirty="0"/>
              <a:t>Basic principles of steering system in DECL</a:t>
            </a:r>
          </a:p>
          <a:p>
            <a:pPr lvl="1"/>
            <a:r>
              <a:rPr lang="de-AT" sz="1400" dirty="0" err="1"/>
              <a:t>Foundation</a:t>
            </a:r>
            <a:r>
              <a:rPr lang="de-AT" sz="1400" dirty="0"/>
              <a:t> </a:t>
            </a:r>
            <a:r>
              <a:rPr lang="de-AT" sz="1400" dirty="0" err="1"/>
              <a:t>of</a:t>
            </a:r>
            <a:r>
              <a:rPr lang="de-AT" sz="1400" dirty="0"/>
              <a:t> </a:t>
            </a:r>
            <a:r>
              <a:rPr lang="de-AT" sz="1400" dirty="0" err="1"/>
              <a:t>approach</a:t>
            </a:r>
            <a:r>
              <a:rPr lang="de-AT" sz="1400" dirty="0"/>
              <a:t> </a:t>
            </a:r>
            <a:r>
              <a:rPr lang="de-AT" sz="1400" dirty="0" err="1"/>
              <a:t>is</a:t>
            </a:r>
            <a:r>
              <a:rPr lang="de-AT" sz="1400" dirty="0"/>
              <a:t> </a:t>
            </a:r>
            <a:r>
              <a:rPr lang="de-AT" sz="1400" dirty="0" err="1"/>
              <a:t>that</a:t>
            </a:r>
            <a:r>
              <a:rPr lang="de-AT" sz="1400" dirty="0"/>
              <a:t> </a:t>
            </a:r>
            <a:r>
              <a:rPr lang="de-AT" sz="1400" dirty="0" err="1"/>
              <a:t>basic</a:t>
            </a:r>
            <a:r>
              <a:rPr lang="de-AT" sz="1400" dirty="0"/>
              <a:t> power </a:t>
            </a:r>
            <a:r>
              <a:rPr lang="de-AT" sz="1400" dirty="0" err="1"/>
              <a:t>demand</a:t>
            </a:r>
            <a:r>
              <a:rPr lang="de-AT" sz="1400" dirty="0"/>
              <a:t> </a:t>
            </a:r>
            <a:r>
              <a:rPr lang="de-AT" sz="1400" dirty="0" err="1"/>
              <a:t>defined</a:t>
            </a:r>
            <a:r>
              <a:rPr lang="de-AT" sz="1400" dirty="0"/>
              <a:t> per </a:t>
            </a:r>
            <a:r>
              <a:rPr lang="de-AT" sz="1400" dirty="0" err="1"/>
              <a:t>cycle</a:t>
            </a:r>
            <a:r>
              <a:rPr lang="de-AT" sz="1400" dirty="0"/>
              <a:t> </a:t>
            </a:r>
            <a:r>
              <a:rPr lang="de-AT" sz="1400" dirty="0" err="1"/>
              <a:t>is</a:t>
            </a:r>
            <a:br>
              <a:rPr lang="de-AT" sz="1400" dirty="0"/>
            </a:br>
            <a:r>
              <a:rPr lang="de-AT" sz="1400" dirty="0" err="1"/>
              <a:t>multiplied</a:t>
            </a:r>
            <a:r>
              <a:rPr lang="de-AT" sz="1400" dirty="0"/>
              <a:t> </a:t>
            </a:r>
            <a:r>
              <a:rPr lang="de-AT" sz="1400" dirty="0" err="1"/>
              <a:t>by</a:t>
            </a:r>
            <a:r>
              <a:rPr lang="de-AT" sz="1400" dirty="0"/>
              <a:t> </a:t>
            </a:r>
            <a:r>
              <a:rPr lang="de-AT" sz="1400" dirty="0" err="1"/>
              <a:t>technology</a:t>
            </a:r>
            <a:r>
              <a:rPr lang="de-AT" sz="1400" dirty="0"/>
              <a:t> </a:t>
            </a:r>
            <a:r>
              <a:rPr lang="de-AT" sz="1400" dirty="0" err="1"/>
              <a:t>dependent</a:t>
            </a:r>
            <a:r>
              <a:rPr lang="de-AT" sz="1400" dirty="0"/>
              <a:t> </a:t>
            </a:r>
            <a:r>
              <a:rPr lang="de-AT" sz="1400" dirty="0" err="1"/>
              <a:t>scaling</a:t>
            </a:r>
            <a:r>
              <a:rPr lang="de-AT" sz="1400" dirty="0"/>
              <a:t> </a:t>
            </a:r>
            <a:r>
              <a:rPr lang="de-AT" sz="1400" dirty="0" err="1"/>
              <a:t>factors</a:t>
            </a:r>
            <a:r>
              <a:rPr lang="de-AT" sz="1400" dirty="0"/>
              <a:t> (CFs)</a:t>
            </a:r>
            <a:br>
              <a:rPr lang="de-AT" sz="1400" dirty="0"/>
            </a:br>
            <a:endParaRPr lang="de-AT" sz="600" dirty="0"/>
          </a:p>
          <a:p>
            <a:pPr lvl="1"/>
            <a:r>
              <a:rPr lang="de-AT" sz="1400" dirty="0"/>
              <a:t>3 sub-groups </a:t>
            </a:r>
            <a:r>
              <a:rPr lang="de-AT" sz="1400" dirty="0" err="1"/>
              <a:t>of</a:t>
            </a:r>
            <a:r>
              <a:rPr lang="de-AT" sz="1400" dirty="0"/>
              <a:t> power </a:t>
            </a:r>
            <a:r>
              <a:rPr lang="de-AT" sz="1400" dirty="0" err="1"/>
              <a:t>demands</a:t>
            </a:r>
            <a:r>
              <a:rPr lang="de-AT" sz="1400" dirty="0"/>
              <a:t> </a:t>
            </a:r>
            <a:r>
              <a:rPr lang="de-AT" sz="1400" dirty="0" err="1"/>
              <a:t>defined</a:t>
            </a:r>
            <a:r>
              <a:rPr lang="de-AT" sz="1400" dirty="0"/>
              <a:t>:</a:t>
            </a:r>
          </a:p>
          <a:p>
            <a:pPr lvl="2"/>
            <a:r>
              <a:rPr lang="de-AT" sz="1200" dirty="0"/>
              <a:t>U&amp;F: </a:t>
            </a:r>
            <a:r>
              <a:rPr lang="de-AT" sz="1200" dirty="0" err="1"/>
              <a:t>unloaded</a:t>
            </a:r>
            <a:r>
              <a:rPr lang="de-AT" sz="1200" dirty="0"/>
              <a:t> </a:t>
            </a:r>
            <a:r>
              <a:rPr lang="de-AT" sz="1200" dirty="0" err="1"/>
              <a:t>and</a:t>
            </a:r>
            <a:r>
              <a:rPr lang="de-AT" sz="1200" dirty="0"/>
              <a:t> </a:t>
            </a:r>
            <a:r>
              <a:rPr lang="de-AT" sz="1200" dirty="0" err="1"/>
              <a:t>friction</a:t>
            </a:r>
            <a:endParaRPr lang="de-AT" sz="1200" dirty="0"/>
          </a:p>
          <a:p>
            <a:pPr lvl="2"/>
            <a:r>
              <a:rPr lang="de-AT" sz="1200" dirty="0"/>
              <a:t>B: </a:t>
            </a:r>
            <a:r>
              <a:rPr lang="de-AT" sz="1200" dirty="0" err="1"/>
              <a:t>banking</a:t>
            </a:r>
            <a:endParaRPr lang="de-AT" sz="1200" dirty="0"/>
          </a:p>
          <a:p>
            <a:pPr lvl="2"/>
            <a:r>
              <a:rPr lang="de-AT" sz="1200" dirty="0"/>
              <a:t>S: </a:t>
            </a:r>
            <a:r>
              <a:rPr lang="de-AT" sz="1200" dirty="0" err="1"/>
              <a:t>steering</a:t>
            </a:r>
            <a:br>
              <a:rPr lang="de-AT" sz="1200" dirty="0"/>
            </a:br>
            <a:endParaRPr lang="de-AT" sz="600" dirty="0"/>
          </a:p>
          <a:p>
            <a:pPr lvl="1"/>
            <a:r>
              <a:rPr lang="de-AT" sz="1400" dirty="0"/>
              <a:t>Total </a:t>
            </a:r>
            <a:r>
              <a:rPr lang="de-AT" sz="1400" dirty="0" err="1"/>
              <a:t>steering</a:t>
            </a:r>
            <a:r>
              <a:rPr lang="de-AT" sz="1400" dirty="0"/>
              <a:t> power </a:t>
            </a:r>
            <a:r>
              <a:rPr lang="de-AT" sz="1400" dirty="0" err="1"/>
              <a:t>acc</a:t>
            </a:r>
            <a:r>
              <a:rPr lang="de-AT" sz="1400" dirty="0"/>
              <a:t>. </a:t>
            </a:r>
            <a:r>
              <a:rPr lang="de-AT" sz="1400" dirty="0" err="1"/>
              <a:t>to</a:t>
            </a:r>
            <a:r>
              <a:rPr lang="de-AT" sz="1400" dirty="0"/>
              <a:t> </a:t>
            </a:r>
            <a:r>
              <a:rPr lang="de-AT" sz="1400" dirty="0" err="1"/>
              <a:t>equation</a:t>
            </a:r>
            <a:r>
              <a:rPr lang="de-AT" sz="1400" dirty="0"/>
              <a:t> </a:t>
            </a:r>
            <a:r>
              <a:rPr lang="de-AT" sz="1400" dirty="0" err="1"/>
              <a:t>below</a:t>
            </a:r>
            <a:r>
              <a:rPr lang="de-AT" sz="1400" dirty="0"/>
              <a:t> </a:t>
            </a:r>
            <a:r>
              <a:rPr lang="de-AT" sz="1400" dirty="0" err="1"/>
              <a:t>is</a:t>
            </a:r>
            <a:r>
              <a:rPr lang="de-AT" sz="1400" dirty="0"/>
              <a:t> </a:t>
            </a:r>
            <a:r>
              <a:rPr lang="de-AT" sz="1400" dirty="0" err="1"/>
              <a:t>calculated</a:t>
            </a:r>
            <a:r>
              <a:rPr lang="de-AT" sz="1400" dirty="0"/>
              <a:t> </a:t>
            </a:r>
            <a:r>
              <a:rPr lang="de-AT" sz="1400" dirty="0" err="1"/>
              <a:t>separately</a:t>
            </a:r>
            <a:r>
              <a:rPr lang="de-AT" sz="1400" dirty="0"/>
              <a:t> </a:t>
            </a:r>
            <a:r>
              <a:rPr lang="de-AT" sz="1400" dirty="0" err="1"/>
              <a:t>for</a:t>
            </a:r>
            <a:br>
              <a:rPr lang="de-AT" sz="1400" dirty="0"/>
            </a:br>
            <a:r>
              <a:rPr lang="de-AT" sz="1400" dirty="0" err="1"/>
              <a:t>mechanical</a:t>
            </a:r>
            <a:r>
              <a:rPr lang="de-AT" sz="1400" dirty="0"/>
              <a:t> </a:t>
            </a:r>
            <a:r>
              <a:rPr lang="de-AT" sz="1400" dirty="0" err="1"/>
              <a:t>and</a:t>
            </a:r>
            <a:r>
              <a:rPr lang="de-AT" sz="1400" dirty="0"/>
              <a:t> </a:t>
            </a:r>
            <a:r>
              <a:rPr lang="de-AT" sz="1400" dirty="0" err="1"/>
              <a:t>electrical</a:t>
            </a:r>
            <a:r>
              <a:rPr lang="de-AT" sz="1400" dirty="0"/>
              <a:t> </a:t>
            </a:r>
            <a:r>
              <a:rPr lang="de-AT" sz="1400" dirty="0" err="1"/>
              <a:t>stering</a:t>
            </a:r>
            <a:r>
              <a:rPr lang="de-AT" sz="1400" dirty="0"/>
              <a:t> power </a:t>
            </a:r>
            <a:r>
              <a:rPr lang="de-AT" sz="1400" dirty="0" err="1"/>
              <a:t>demand</a:t>
            </a:r>
            <a:r>
              <a:rPr lang="de-AT" sz="1400" dirty="0"/>
              <a:t>:</a:t>
            </a:r>
          </a:p>
          <a:p>
            <a:pPr lvl="2"/>
            <a:r>
              <a:rPr lang="de-AT" sz="1050" dirty="0"/>
              <a:t>All CFs </a:t>
            </a:r>
            <a:r>
              <a:rPr lang="de-AT" sz="1050" dirty="0" err="1"/>
              <a:t>are</a:t>
            </a:r>
            <a:r>
              <a:rPr lang="de-AT" sz="1050" dirty="0"/>
              <a:t> </a:t>
            </a:r>
            <a:r>
              <a:rPr lang="de-AT" sz="1050" dirty="0" err="1"/>
              <a:t>averaged</a:t>
            </a:r>
            <a:r>
              <a:rPr lang="de-AT" sz="1050" dirty="0"/>
              <a:t> </a:t>
            </a:r>
            <a:r>
              <a:rPr lang="de-AT" sz="1050" dirty="0" err="1"/>
              <a:t>over</a:t>
            </a:r>
            <a:r>
              <a:rPr lang="de-AT" sz="1050" dirty="0"/>
              <a:t> all </a:t>
            </a:r>
            <a:r>
              <a:rPr lang="de-AT" sz="1050" dirty="0" err="1"/>
              <a:t>steered</a:t>
            </a:r>
            <a:r>
              <a:rPr lang="de-AT" sz="1050" dirty="0"/>
              <a:t> </a:t>
            </a:r>
            <a:r>
              <a:rPr lang="de-AT" sz="1050" dirty="0" err="1"/>
              <a:t>axles</a:t>
            </a:r>
            <a:r>
              <a:rPr lang="de-AT" sz="1050" dirty="0"/>
              <a:t> </a:t>
            </a:r>
            <a:r>
              <a:rPr lang="de-AT" sz="1050" dirty="0" err="1"/>
              <a:t>with</a:t>
            </a:r>
            <a:r>
              <a:rPr lang="de-AT" sz="1050" dirty="0"/>
              <a:t> </a:t>
            </a:r>
            <a:r>
              <a:rPr lang="de-AT" sz="1050" dirty="0" err="1"/>
              <a:t>electric</a:t>
            </a:r>
            <a:r>
              <a:rPr lang="de-AT" sz="1050" dirty="0"/>
              <a:t> </a:t>
            </a:r>
            <a:r>
              <a:rPr lang="de-AT" sz="1050" dirty="0" err="1"/>
              <a:t>technology</a:t>
            </a:r>
            <a:endParaRPr lang="de-AT" sz="1050" dirty="0"/>
          </a:p>
          <a:p>
            <a:pPr lvl="2"/>
            <a:r>
              <a:rPr lang="de-AT" sz="1050" dirty="0"/>
              <a:t>All CFs </a:t>
            </a:r>
            <a:r>
              <a:rPr lang="de-AT" sz="1050" dirty="0" err="1"/>
              <a:t>are</a:t>
            </a:r>
            <a:r>
              <a:rPr lang="de-AT" sz="1050" dirty="0"/>
              <a:t> </a:t>
            </a:r>
            <a:r>
              <a:rPr lang="de-AT" sz="1050" dirty="0" err="1"/>
              <a:t>averaged</a:t>
            </a:r>
            <a:r>
              <a:rPr lang="de-AT" sz="1050" dirty="0"/>
              <a:t> </a:t>
            </a:r>
            <a:r>
              <a:rPr lang="de-AT" sz="1050" dirty="0" err="1"/>
              <a:t>over</a:t>
            </a:r>
            <a:r>
              <a:rPr lang="de-AT" sz="1050" dirty="0"/>
              <a:t> all </a:t>
            </a:r>
            <a:r>
              <a:rPr lang="de-AT" sz="1050" dirty="0" err="1"/>
              <a:t>steered</a:t>
            </a:r>
            <a:r>
              <a:rPr lang="de-AT" sz="1050" dirty="0"/>
              <a:t> </a:t>
            </a:r>
            <a:r>
              <a:rPr lang="de-AT" sz="1050" dirty="0" err="1"/>
              <a:t>axles</a:t>
            </a:r>
            <a:r>
              <a:rPr lang="de-AT" sz="1050" dirty="0"/>
              <a:t> </a:t>
            </a:r>
            <a:r>
              <a:rPr lang="de-AT" sz="1050" dirty="0" err="1"/>
              <a:t>with</a:t>
            </a:r>
            <a:r>
              <a:rPr lang="de-AT" sz="1050" dirty="0"/>
              <a:t> </a:t>
            </a:r>
            <a:r>
              <a:rPr lang="de-AT" sz="1050" dirty="0" err="1"/>
              <a:t>mechanical</a:t>
            </a:r>
            <a:r>
              <a:rPr lang="de-AT" sz="1050" dirty="0"/>
              <a:t> </a:t>
            </a:r>
            <a:r>
              <a:rPr lang="de-AT" sz="1050" dirty="0" err="1"/>
              <a:t>technology</a:t>
            </a:r>
            <a:br>
              <a:rPr lang="en-GB" sz="1050"/>
            </a:br>
            <a:br>
              <a:rPr lang="en-GB" sz="1050"/>
            </a:br>
            <a:br>
              <a:rPr lang="en-GB" sz="1050"/>
            </a:br>
            <a:endParaRPr lang="en-GB" sz="1050"/>
          </a:p>
          <a:p>
            <a:pPr lvl="1"/>
            <a:r>
              <a:rPr lang="en-US" sz="1400"/>
              <a:t>If all axles are electric technologies, total steering power is applied as electrical power to REESS</a:t>
            </a:r>
          </a:p>
          <a:p>
            <a:pPr lvl="1"/>
            <a:r>
              <a:rPr lang="en-US" sz="1400" dirty="0"/>
              <a:t>With at least one mechanical </a:t>
            </a:r>
            <a:r>
              <a:rPr lang="en-US" sz="1400" dirty="0" err="1"/>
              <a:t>techn</a:t>
            </a:r>
            <a:r>
              <a:rPr lang="en-US" sz="1400" dirty="0"/>
              <a:t>. present, total steering power is applied as mechanical load</a:t>
            </a:r>
            <a:endParaRPr lang="de-AT" sz="1400"/>
          </a:p>
        </p:txBody>
      </p:sp>
      <p:sp>
        <p:nvSpPr>
          <p:cNvPr id="4" name="Foliennummernplatzhalter 3"/>
          <p:cNvSpPr>
            <a:spLocks noGrp="1"/>
          </p:cNvSpPr>
          <p:nvPr>
            <p:ph type="sldNum" sz="quarter" idx="12"/>
          </p:nvPr>
        </p:nvSpPr>
        <p:spPr/>
        <p:txBody>
          <a:bodyPr/>
          <a:lstStyle/>
          <a:p>
            <a:fld id="{4B64EC4D-37E3-EF42-B9AB-6337577588CB}" type="slidenum">
              <a:rPr lang="de-DE" smtClean="0"/>
              <a:t>9</a:t>
            </a:fld>
            <a:endParaRPr lang="de-DE"/>
          </a:p>
        </p:txBody>
      </p:sp>
      <p:pic>
        <p:nvPicPr>
          <p:cNvPr id="5" name="Grafik 4"/>
          <p:cNvPicPr>
            <a:picLocks noChangeAspect="1"/>
          </p:cNvPicPr>
          <p:nvPr/>
        </p:nvPicPr>
        <p:blipFill>
          <a:blip r:embed="rId2"/>
          <a:stretch>
            <a:fillRect/>
          </a:stretch>
        </p:blipFill>
        <p:spPr>
          <a:xfrm>
            <a:off x="1754659" y="4905198"/>
            <a:ext cx="4020977" cy="224548"/>
          </a:xfrm>
          <a:prstGeom prst="rect">
            <a:avLst/>
          </a:prstGeom>
        </p:spPr>
      </p:pic>
      <p:sp>
        <p:nvSpPr>
          <p:cNvPr id="17" name="Textfeld 16"/>
          <p:cNvSpPr txBox="1"/>
          <p:nvPr/>
        </p:nvSpPr>
        <p:spPr>
          <a:xfrm rot="16200000">
            <a:off x="-478772" y="3335992"/>
            <a:ext cx="1759311" cy="738664"/>
          </a:xfrm>
          <a:prstGeom prst="rect">
            <a:avLst/>
          </a:prstGeom>
          <a:solidFill>
            <a:srgbClr val="F70146"/>
          </a:solidFill>
        </p:spPr>
        <p:txBody>
          <a:bodyPr wrap="square" rtlCol="0">
            <a:spAutoFit/>
          </a:bodyPr>
          <a:lstStyle/>
          <a:p>
            <a:pPr algn="ctr"/>
            <a:r>
              <a:rPr lang="de-AT" sz="1400" b="1" dirty="0">
                <a:solidFill>
                  <a:schemeClr val="bg1"/>
                </a:solidFill>
              </a:rPr>
              <a:t>SP-Tech.csv +</a:t>
            </a:r>
            <a:br>
              <a:rPr lang="de-AT" sz="1400" b="1" dirty="0">
                <a:solidFill>
                  <a:schemeClr val="bg1"/>
                </a:solidFill>
              </a:rPr>
            </a:br>
            <a:r>
              <a:rPr lang="de-AT" sz="1400" b="1" dirty="0">
                <a:solidFill>
                  <a:schemeClr val="bg1"/>
                </a:solidFill>
              </a:rPr>
              <a:t>SP-Table.csv +</a:t>
            </a:r>
            <a:br>
              <a:rPr lang="de-AT" sz="1400" b="1" dirty="0">
                <a:solidFill>
                  <a:schemeClr val="bg1"/>
                </a:solidFill>
              </a:rPr>
            </a:br>
            <a:r>
              <a:rPr lang="de-AT" sz="1400" b="1" dirty="0">
                <a:solidFill>
                  <a:schemeClr val="bg1"/>
                </a:solidFill>
              </a:rPr>
              <a:t>SP-Axles.csv</a:t>
            </a:r>
          </a:p>
        </p:txBody>
      </p:sp>
    </p:spTree>
    <p:extLst>
      <p:ext uri="{BB962C8B-B14F-4D97-AF65-F5344CB8AC3E}">
        <p14:creationId xmlns:p14="http://schemas.microsoft.com/office/powerpoint/2010/main" val="1839066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28459"/>
          </a:xfrm>
        </p:spPr>
        <p:txBody>
          <a:bodyPr/>
          <a:lstStyle/>
          <a:p>
            <a:r>
              <a:rPr lang="en-US" sz="1800" dirty="0"/>
              <a:t>Basic principles </a:t>
            </a:r>
            <a:r>
              <a:rPr lang="en-US" sz="1800"/>
              <a:t>of HVAC </a:t>
            </a:r>
            <a:r>
              <a:rPr lang="en-US" sz="1800" dirty="0"/>
              <a:t>system in DECL</a:t>
            </a:r>
          </a:p>
          <a:p>
            <a:pPr lvl="1"/>
            <a:r>
              <a:rPr lang="de-AT" sz="1400" b="1" u="sng"/>
              <a:t>Conventional </a:t>
            </a:r>
            <a:r>
              <a:rPr lang="de-AT" sz="1400" b="1" u="sng" err="1"/>
              <a:t>and</a:t>
            </a:r>
            <a:r>
              <a:rPr lang="de-AT" sz="1400" b="1" u="sng"/>
              <a:t> P-HEV:</a:t>
            </a:r>
            <a:endParaRPr lang="de-AT" sz="1400" dirty="0"/>
          </a:p>
          <a:p>
            <a:pPr lvl="2"/>
            <a:r>
              <a:rPr lang="de-AT" sz="1400" dirty="0"/>
              <a:t>HVAC </a:t>
            </a:r>
            <a:r>
              <a:rPr lang="de-AT" sz="1400" dirty="0" err="1"/>
              <a:t>load</a:t>
            </a:r>
            <a:r>
              <a:rPr lang="de-AT" sz="1400" dirty="0"/>
              <a:t> </a:t>
            </a:r>
            <a:r>
              <a:rPr lang="de-AT" sz="1400" dirty="0" err="1"/>
              <a:t>is</a:t>
            </a:r>
            <a:r>
              <a:rPr lang="de-AT" sz="1400" dirty="0"/>
              <a:t> </a:t>
            </a:r>
            <a:r>
              <a:rPr lang="de-AT" sz="1400" dirty="0" err="1"/>
              <a:t>applied</a:t>
            </a:r>
            <a:r>
              <a:rPr lang="de-AT" sz="1400" dirty="0"/>
              <a:t> </a:t>
            </a:r>
            <a:r>
              <a:rPr lang="de-AT" sz="1400" dirty="0" err="1"/>
              <a:t>as</a:t>
            </a:r>
            <a:r>
              <a:rPr lang="de-AT" sz="1400" dirty="0"/>
              <a:t> </a:t>
            </a:r>
            <a:r>
              <a:rPr lang="de-AT" sz="1400" dirty="0" err="1"/>
              <a:t>mechanical</a:t>
            </a:r>
            <a:r>
              <a:rPr lang="de-AT" sz="1400" dirty="0"/>
              <a:t> </a:t>
            </a:r>
            <a:r>
              <a:rPr lang="de-AT" sz="1400" dirty="0" err="1"/>
              <a:t>auxiliary</a:t>
            </a:r>
            <a:br>
              <a:rPr lang="de-AT" sz="1400" dirty="0"/>
            </a:br>
            <a:endParaRPr lang="de-AT" sz="1400" dirty="0"/>
          </a:p>
          <a:p>
            <a:pPr lvl="1"/>
            <a:r>
              <a:rPr lang="de-AT" sz="1400" b="1" u="sng" dirty="0"/>
              <a:t>S-HEV </a:t>
            </a:r>
            <a:r>
              <a:rPr lang="de-AT" sz="1400" b="1" u="sng" dirty="0" err="1"/>
              <a:t>and</a:t>
            </a:r>
            <a:r>
              <a:rPr lang="de-AT" sz="1400" b="1" u="sng" dirty="0"/>
              <a:t> PEV:</a:t>
            </a:r>
            <a:endParaRPr lang="de-AT" sz="1400" dirty="0"/>
          </a:p>
          <a:p>
            <a:pPr lvl="2"/>
            <a:r>
              <a:rPr lang="de-AT" sz="1400" dirty="0"/>
              <a:t>HVAC </a:t>
            </a:r>
            <a:r>
              <a:rPr lang="de-AT" sz="1400" dirty="0" err="1"/>
              <a:t>load</a:t>
            </a:r>
            <a:r>
              <a:rPr lang="de-AT" sz="1400" dirty="0"/>
              <a:t> </a:t>
            </a:r>
            <a:r>
              <a:rPr lang="de-AT" sz="1400" dirty="0" err="1"/>
              <a:t>is</a:t>
            </a:r>
            <a:r>
              <a:rPr lang="de-AT" sz="1400" dirty="0"/>
              <a:t> </a:t>
            </a:r>
            <a:r>
              <a:rPr lang="de-AT" sz="1400" dirty="0" err="1"/>
              <a:t>applied</a:t>
            </a:r>
            <a:r>
              <a:rPr lang="de-AT" sz="1400" dirty="0"/>
              <a:t> </a:t>
            </a:r>
            <a:r>
              <a:rPr lang="de-AT" sz="1400" dirty="0" err="1"/>
              <a:t>as</a:t>
            </a:r>
            <a:r>
              <a:rPr lang="de-AT" sz="1400" dirty="0"/>
              <a:t> </a:t>
            </a:r>
            <a:r>
              <a:rPr lang="de-AT" sz="1400" dirty="0" err="1"/>
              <a:t>electrical</a:t>
            </a:r>
            <a:r>
              <a:rPr lang="de-AT" sz="1400" dirty="0"/>
              <a:t> </a:t>
            </a:r>
            <a:r>
              <a:rPr lang="de-AT" sz="1400" dirty="0" err="1"/>
              <a:t>auxiliary</a:t>
            </a:r>
            <a:endParaRPr lang="de-AT" sz="1400" dirty="0"/>
          </a:p>
          <a:p>
            <a:pPr lvl="2"/>
            <a:r>
              <a:rPr lang="de-AT" sz="1400" dirty="0" err="1"/>
              <a:t>Conversion</a:t>
            </a:r>
            <a:r>
              <a:rPr lang="de-AT" sz="1400" dirty="0"/>
              <a:t> </a:t>
            </a:r>
            <a:r>
              <a:rPr lang="de-AT" sz="1400" dirty="0" err="1"/>
              <a:t>from</a:t>
            </a:r>
            <a:r>
              <a:rPr lang="de-AT" sz="1400" dirty="0"/>
              <a:t> </a:t>
            </a:r>
            <a:r>
              <a:rPr lang="de-AT" sz="1400" dirty="0" err="1"/>
              <a:t>mechanical</a:t>
            </a:r>
            <a:r>
              <a:rPr lang="de-AT" sz="1400" dirty="0"/>
              <a:t> </a:t>
            </a:r>
            <a:r>
              <a:rPr lang="de-AT" sz="1400" dirty="0" err="1"/>
              <a:t>to</a:t>
            </a:r>
            <a:r>
              <a:rPr lang="de-AT" sz="1400" dirty="0"/>
              <a:t> </a:t>
            </a:r>
            <a:r>
              <a:rPr lang="de-AT" sz="1400" dirty="0" err="1"/>
              <a:t>electrical</a:t>
            </a:r>
            <a:r>
              <a:rPr lang="de-AT" sz="1400" dirty="0"/>
              <a:t> </a:t>
            </a:r>
            <a:r>
              <a:rPr lang="de-AT" sz="1400" dirty="0" err="1"/>
              <a:t>is</a:t>
            </a:r>
            <a:r>
              <a:rPr lang="de-AT" sz="1400" dirty="0"/>
              <a:t> </a:t>
            </a:r>
            <a:r>
              <a:rPr lang="de-AT" sz="1400" dirty="0" err="1"/>
              <a:t>done</a:t>
            </a:r>
            <a:r>
              <a:rPr lang="de-AT" sz="1400" dirty="0"/>
              <a:t> </a:t>
            </a:r>
            <a:r>
              <a:rPr lang="de-AT" sz="1400" dirty="0" err="1"/>
              <a:t>by</a:t>
            </a:r>
            <a:r>
              <a:rPr lang="de-AT" sz="1400" dirty="0"/>
              <a:t> </a:t>
            </a:r>
            <a:r>
              <a:rPr lang="de-AT" sz="1400" dirty="0" err="1"/>
              <a:t>dividing</a:t>
            </a:r>
            <a:r>
              <a:rPr lang="de-AT" sz="1400" dirty="0"/>
              <a:t> </a:t>
            </a:r>
            <a:r>
              <a:rPr lang="de-AT" sz="1400" dirty="0" err="1"/>
              <a:t>mechanical</a:t>
            </a:r>
            <a:r>
              <a:rPr lang="de-AT" sz="1400" dirty="0"/>
              <a:t> </a:t>
            </a:r>
            <a:r>
              <a:rPr lang="de-AT" sz="1400" dirty="0" err="1"/>
              <a:t>base</a:t>
            </a:r>
            <a:r>
              <a:rPr lang="de-AT" sz="1400" dirty="0"/>
              <a:t> power </a:t>
            </a:r>
            <a:r>
              <a:rPr lang="de-AT" sz="1400" dirty="0" err="1"/>
              <a:t>by</a:t>
            </a:r>
            <a:r>
              <a:rPr lang="de-AT" sz="1400" dirty="0"/>
              <a:t> </a:t>
            </a:r>
            <a:r>
              <a:rPr lang="de-AT" sz="1400" dirty="0" err="1"/>
              <a:t>generic</a:t>
            </a:r>
            <a:r>
              <a:rPr lang="de-AT" sz="1400" dirty="0"/>
              <a:t> </a:t>
            </a:r>
            <a:r>
              <a:rPr lang="de-AT" sz="1400" dirty="0" err="1"/>
              <a:t>efficiency</a:t>
            </a:r>
            <a:r>
              <a:rPr lang="de-AT" sz="1400" dirty="0"/>
              <a:t> </a:t>
            </a:r>
            <a:r>
              <a:rPr lang="de-AT" sz="1400" dirty="0" err="1"/>
              <a:t>of</a:t>
            </a:r>
            <a:r>
              <a:rPr lang="de-AT" sz="1400" dirty="0"/>
              <a:t> 0.8</a:t>
            </a:r>
          </a:p>
        </p:txBody>
      </p:sp>
      <p:sp>
        <p:nvSpPr>
          <p:cNvPr id="4" name="Foliennummernplatzhalter 3"/>
          <p:cNvSpPr>
            <a:spLocks noGrp="1"/>
          </p:cNvSpPr>
          <p:nvPr>
            <p:ph type="sldNum" sz="quarter" idx="12"/>
          </p:nvPr>
        </p:nvSpPr>
        <p:spPr/>
        <p:txBody>
          <a:bodyPr/>
          <a:lstStyle/>
          <a:p>
            <a:fld id="{4B64EC4D-37E3-EF42-B9AB-6337577588CB}" type="slidenum">
              <a:rPr lang="de-DE" smtClean="0"/>
              <a:t>10</a:t>
            </a:fld>
            <a:endParaRPr lang="de-DE"/>
          </a:p>
        </p:txBody>
      </p:sp>
      <p:sp>
        <p:nvSpPr>
          <p:cNvPr id="17" name="Textfeld 16"/>
          <p:cNvSpPr txBox="1"/>
          <p:nvPr/>
        </p:nvSpPr>
        <p:spPr>
          <a:xfrm rot="16200000">
            <a:off x="-620870" y="3551436"/>
            <a:ext cx="1759311" cy="307777"/>
          </a:xfrm>
          <a:prstGeom prst="rect">
            <a:avLst/>
          </a:prstGeom>
          <a:solidFill>
            <a:srgbClr val="F70146"/>
          </a:solidFill>
        </p:spPr>
        <p:txBody>
          <a:bodyPr wrap="square" rtlCol="0">
            <a:spAutoFit/>
          </a:bodyPr>
          <a:lstStyle/>
          <a:p>
            <a:pPr algn="ctr"/>
            <a:r>
              <a:rPr lang="de-AT" sz="1400" b="1" dirty="0">
                <a:solidFill>
                  <a:schemeClr val="bg1"/>
                </a:solidFill>
              </a:rPr>
              <a:t>HVAC-Table.csv</a:t>
            </a:r>
          </a:p>
        </p:txBody>
      </p:sp>
    </p:spTree>
    <p:extLst>
      <p:ext uri="{BB962C8B-B14F-4D97-AF65-F5344CB8AC3E}">
        <p14:creationId xmlns:p14="http://schemas.microsoft.com/office/powerpoint/2010/main" val="1018428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p:txBody>
          <a:bodyPr/>
          <a:lstStyle/>
          <a:p>
            <a:r>
              <a:rPr lang="en-US" sz="1800" dirty="0"/>
              <a:t>General remark about post-processing of “missing” auxiliary power demand for mechanically driven auxiliaries in </a:t>
            </a:r>
            <a:r>
              <a:rPr lang="en-US" sz="1800" dirty="0" err="1"/>
              <a:t>timesteps</a:t>
            </a:r>
            <a:r>
              <a:rPr lang="en-US" sz="1800" dirty="0"/>
              <a:t> where the ICE is off:</a:t>
            </a:r>
          </a:p>
          <a:p>
            <a:pPr lvl="1"/>
            <a:r>
              <a:rPr lang="en-US" sz="1600" dirty="0"/>
              <a:t>These topic is related to “Utility Factor (UF) for Engine-Stop-Start (ESS)”</a:t>
            </a:r>
            <a:br>
              <a:rPr lang="en-US" sz="1600" dirty="0"/>
            </a:br>
            <a:endParaRPr lang="en-US" sz="800" dirty="0"/>
          </a:p>
          <a:p>
            <a:pPr lvl="1"/>
            <a:r>
              <a:rPr lang="en-US" sz="1600" dirty="0"/>
              <a:t>For lorries only the very simple case is relevant (application case 1)</a:t>
            </a:r>
            <a:br>
              <a:rPr lang="en-US" sz="1600" dirty="0"/>
            </a:br>
            <a:endParaRPr lang="en-US" sz="800" dirty="0"/>
          </a:p>
          <a:p>
            <a:pPr lvl="1"/>
            <a:r>
              <a:rPr lang="en-US" sz="1600" dirty="0"/>
              <a:t>Basic rule: for auxiliaries operated</a:t>
            </a:r>
            <a:br>
              <a:rPr lang="en-US" sz="1600" dirty="0"/>
            </a:br>
            <a:r>
              <a:rPr lang="en-US" sz="1600" dirty="0"/>
              <a:t>independently of ICE status energy demand</a:t>
            </a:r>
            <a:br>
              <a:rPr lang="en-US" sz="1600" dirty="0"/>
            </a:br>
            <a:r>
              <a:rPr lang="en-US" sz="1600" dirty="0"/>
              <a:t>over cycle is the same with missing portion </a:t>
            </a:r>
            <a:br>
              <a:rPr lang="en-US" sz="1600" dirty="0"/>
            </a:br>
            <a:r>
              <a:rPr lang="en-US" sz="1600" dirty="0"/>
              <a:t>being accounted for in post-processing</a:t>
            </a:r>
            <a:br>
              <a:rPr lang="en-US" sz="1600" dirty="0"/>
            </a:br>
            <a:endParaRPr lang="en-US" sz="800" dirty="0"/>
          </a:p>
          <a:p>
            <a:pPr lvl="1"/>
            <a:r>
              <a:rPr lang="en-GB" sz="1600" dirty="0"/>
              <a:t>For further details please refer to:</a:t>
            </a:r>
            <a:br>
              <a:rPr lang="en-GB" sz="1600" dirty="0"/>
            </a:br>
            <a:r>
              <a:rPr lang="en-GB" sz="1600" b="1" i="1" dirty="0"/>
              <a:t>VECTO-DEV WS#6 12.07.2021 (slide 7ff)</a:t>
            </a:r>
          </a:p>
        </p:txBody>
      </p:sp>
      <p:sp>
        <p:nvSpPr>
          <p:cNvPr id="4" name="Foliennummernplatzhalter 3"/>
          <p:cNvSpPr>
            <a:spLocks noGrp="1"/>
          </p:cNvSpPr>
          <p:nvPr>
            <p:ph type="sldNum" sz="quarter" idx="12"/>
          </p:nvPr>
        </p:nvSpPr>
        <p:spPr/>
        <p:txBody>
          <a:bodyPr/>
          <a:lstStyle/>
          <a:p>
            <a:fld id="{4B64EC4D-37E3-EF42-B9AB-6337577588CB}" type="slidenum">
              <a:rPr lang="de-DE" smtClean="0"/>
              <a:t>11</a:t>
            </a:fld>
            <a:endParaRPr lang="de-DE"/>
          </a:p>
        </p:txBody>
      </p:sp>
      <p:pic>
        <p:nvPicPr>
          <p:cNvPr id="7" name="Grafik 6"/>
          <p:cNvPicPr>
            <a:picLocks noChangeAspect="1"/>
          </p:cNvPicPr>
          <p:nvPr/>
        </p:nvPicPr>
        <p:blipFill>
          <a:blip r:embed="rId2"/>
          <a:stretch>
            <a:fillRect/>
          </a:stretch>
        </p:blipFill>
        <p:spPr>
          <a:xfrm>
            <a:off x="5438698" y="3884656"/>
            <a:ext cx="3683331" cy="2085491"/>
          </a:xfrm>
          <a:prstGeom prst="rect">
            <a:avLst/>
          </a:prstGeom>
        </p:spPr>
      </p:pic>
    </p:spTree>
    <p:extLst>
      <p:ext uri="{BB962C8B-B14F-4D97-AF65-F5344CB8AC3E}">
        <p14:creationId xmlns:p14="http://schemas.microsoft.com/office/powerpoint/2010/main" val="23285861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400" dirty="0"/>
              <a:t>Fixed number of 3 simulations to determine optimal strategy parameters done automatically</a:t>
            </a:r>
            <a:br>
              <a:rPr lang="en-US" sz="1400" dirty="0"/>
            </a:br>
            <a:endParaRPr lang="en-US" sz="600" dirty="0"/>
          </a:p>
          <a:p>
            <a:pPr lvl="1"/>
            <a:r>
              <a:rPr lang="en-US" sz="1400" b="1" u="sng" dirty="0"/>
              <a:t>1</a:t>
            </a:r>
            <a:r>
              <a:rPr lang="en-US" sz="1400" b="1" u="sng" baseline="30000" dirty="0"/>
              <a:t>st</a:t>
            </a:r>
            <a:r>
              <a:rPr lang="en-US" sz="1400" b="1" u="sng" dirty="0"/>
              <a:t> run:</a:t>
            </a:r>
            <a:r>
              <a:rPr lang="en-US" sz="1400" dirty="0"/>
              <a:t> generic start value for equivalence factor (EF) depending on vehicle group, mission, payload and usable SOC range applied</a:t>
            </a:r>
          </a:p>
          <a:p>
            <a:pPr lvl="2"/>
            <a:r>
              <a:rPr lang="en-US" sz="1200" dirty="0"/>
              <a:t>refer to \Declaration\</a:t>
            </a:r>
            <a:r>
              <a:rPr lang="en-US" sz="1200" dirty="0" err="1"/>
              <a:t>HEVParameters</a:t>
            </a:r>
            <a:r>
              <a:rPr lang="en-US" sz="1200" dirty="0"/>
              <a:t>\Lorry\HEV_Strategy_Parameters_fequiv_</a:t>
            </a:r>
            <a:r>
              <a:rPr lang="en-US" sz="1200" b="1" dirty="0">
                <a:solidFill>
                  <a:srgbClr val="FF0000"/>
                </a:solidFill>
              </a:rPr>
              <a:t>XX</a:t>
            </a:r>
            <a:r>
              <a:rPr lang="en-US" sz="1200" dirty="0"/>
              <a:t>soc.csv</a:t>
            </a:r>
          </a:p>
          <a:p>
            <a:pPr lvl="2"/>
            <a:r>
              <a:rPr lang="en-US" sz="1200" b="1" dirty="0">
                <a:solidFill>
                  <a:srgbClr val="FF0000"/>
                </a:solidFill>
              </a:rPr>
              <a:t>XX</a:t>
            </a:r>
            <a:r>
              <a:rPr lang="en-US" sz="1200" dirty="0"/>
              <a:t> = 10, 20 or 40 depending on usable SOC range in percent (interpolation, no extrapolation)</a:t>
            </a:r>
            <a:br>
              <a:rPr lang="en-US" sz="1200" dirty="0"/>
            </a:br>
            <a:endParaRPr lang="en-US" sz="600" dirty="0"/>
          </a:p>
          <a:p>
            <a:pPr lvl="1"/>
            <a:r>
              <a:rPr lang="en-US" sz="1400" b="1" u="sng" dirty="0"/>
              <a:t>2</a:t>
            </a:r>
            <a:r>
              <a:rPr lang="en-US" sz="1400" b="1" u="sng" baseline="30000" dirty="0"/>
              <a:t>nd</a:t>
            </a:r>
            <a:r>
              <a:rPr lang="en-US" sz="1400" b="1" u="sng" dirty="0"/>
              <a:t> run:</a:t>
            </a:r>
            <a:r>
              <a:rPr lang="en-US" sz="1400" dirty="0"/>
              <a:t> from resulting </a:t>
            </a:r>
            <a:r>
              <a:rPr lang="en-US" sz="1400" dirty="0">
                <a:cs typeface="Calibri" panose="020F0502020204030204" pitchFamily="34" charset="0"/>
              </a:rPr>
              <a:t>∆SOC</a:t>
            </a:r>
            <a:r>
              <a:rPr lang="en-US" sz="1400" baseline="-25000" dirty="0">
                <a:cs typeface="Calibri" panose="020F0502020204030204" pitchFamily="34" charset="0"/>
              </a:rPr>
              <a:t>1</a:t>
            </a:r>
            <a:r>
              <a:rPr lang="en-US" sz="1400" dirty="0">
                <a:cs typeface="Calibri" panose="020F0502020204030204" pitchFamily="34" charset="0"/>
              </a:rPr>
              <a:t> of 1</a:t>
            </a:r>
            <a:r>
              <a:rPr lang="en-US" sz="1400" baseline="30000" dirty="0">
                <a:cs typeface="Calibri" panose="020F0502020204030204" pitchFamily="34" charset="0"/>
              </a:rPr>
              <a:t>st</a:t>
            </a:r>
            <a:r>
              <a:rPr lang="en-US" sz="1400" dirty="0">
                <a:cs typeface="Calibri" panose="020F0502020204030204" pitchFamily="34" charset="0"/>
              </a:rPr>
              <a:t> run (∆SOC = </a:t>
            </a:r>
            <a:r>
              <a:rPr lang="en-US" sz="1400" dirty="0" err="1">
                <a:cs typeface="Calibri" panose="020F0502020204030204" pitchFamily="34" charset="0"/>
              </a:rPr>
              <a:t>SOC</a:t>
            </a:r>
            <a:r>
              <a:rPr lang="en-US" sz="1400" baseline="-25000" dirty="0" err="1">
                <a:cs typeface="Calibri" panose="020F0502020204030204" pitchFamily="34" charset="0"/>
              </a:rPr>
              <a:t>End</a:t>
            </a:r>
            <a:r>
              <a:rPr lang="en-US" sz="1400" dirty="0">
                <a:cs typeface="Calibri" panose="020F0502020204030204" pitchFamily="34" charset="0"/>
              </a:rPr>
              <a:t> – </a:t>
            </a:r>
            <a:r>
              <a:rPr lang="en-US" sz="1400" dirty="0" err="1">
                <a:cs typeface="Calibri" panose="020F0502020204030204" pitchFamily="34" charset="0"/>
              </a:rPr>
              <a:t>SOC</a:t>
            </a:r>
            <a:r>
              <a:rPr lang="en-US" sz="1400" baseline="-25000" dirty="0" err="1">
                <a:cs typeface="Calibri" panose="020F0502020204030204" pitchFamily="34" charset="0"/>
              </a:rPr>
              <a:t>Start</a:t>
            </a:r>
            <a:r>
              <a:rPr lang="en-US" sz="1400" dirty="0">
                <a:cs typeface="Calibri" panose="020F0502020204030204" pitchFamily="34" charset="0"/>
              </a:rPr>
              <a:t>) new </a:t>
            </a:r>
            <a:r>
              <a:rPr lang="en-US" sz="1400" dirty="0"/>
              <a:t>EF is calculated according to following equations:</a:t>
            </a:r>
          </a:p>
          <a:p>
            <a:pPr marL="898525" lvl="2" indent="0">
              <a:buNone/>
            </a:pPr>
            <a:br>
              <a:rPr lang="en-US" sz="1200" dirty="0">
                <a:cs typeface="Calibri" panose="020F0502020204030204" pitchFamily="34" charset="0"/>
              </a:rPr>
            </a:br>
            <a:br>
              <a:rPr lang="en-US" sz="1200" dirty="0">
                <a:cs typeface="Calibri" panose="020F0502020204030204" pitchFamily="34" charset="0"/>
              </a:rPr>
            </a:br>
            <a:br>
              <a:rPr lang="en-US" sz="1200" dirty="0">
                <a:cs typeface="Calibri" panose="020F0502020204030204" pitchFamily="34" charset="0"/>
              </a:rPr>
            </a:br>
            <a:endParaRPr lang="en-US" sz="1000" dirty="0">
              <a:cs typeface="Calibri" panose="020F0502020204030204" pitchFamily="34" charset="0"/>
            </a:endParaRPr>
          </a:p>
          <a:p>
            <a:pPr lvl="1"/>
            <a:r>
              <a:rPr lang="en-US" sz="1400" b="1" u="sng" dirty="0"/>
              <a:t>3</a:t>
            </a:r>
            <a:r>
              <a:rPr lang="en-US" sz="1400" b="1" u="sng" baseline="30000" dirty="0"/>
              <a:t>rd</a:t>
            </a:r>
            <a:r>
              <a:rPr lang="en-US" sz="1400" b="1" u="sng" dirty="0"/>
              <a:t> run:</a:t>
            </a:r>
            <a:r>
              <a:rPr lang="en-US" sz="1400" dirty="0"/>
              <a:t> from resulting </a:t>
            </a:r>
            <a:r>
              <a:rPr lang="en-US" sz="1400" dirty="0">
                <a:cs typeface="Calibri" panose="020F0502020204030204" pitchFamily="34" charset="0"/>
              </a:rPr>
              <a:t>∆SOC</a:t>
            </a:r>
            <a:r>
              <a:rPr lang="en-US" sz="1400" baseline="-25000" dirty="0">
                <a:cs typeface="Calibri" panose="020F0502020204030204" pitchFamily="34" charset="0"/>
              </a:rPr>
              <a:t>2</a:t>
            </a:r>
            <a:r>
              <a:rPr lang="en-US" sz="1400" dirty="0">
                <a:cs typeface="Calibri" panose="020F0502020204030204" pitchFamily="34" charset="0"/>
              </a:rPr>
              <a:t> of 2</a:t>
            </a:r>
            <a:r>
              <a:rPr lang="en-US" sz="1400" baseline="30000" dirty="0">
                <a:cs typeface="Calibri" panose="020F0502020204030204" pitchFamily="34" charset="0"/>
              </a:rPr>
              <a:t>nd</a:t>
            </a:r>
            <a:r>
              <a:rPr lang="en-US" sz="1400" dirty="0">
                <a:cs typeface="Calibri" panose="020F0502020204030204" pitchFamily="34" charset="0"/>
              </a:rPr>
              <a:t> run new </a:t>
            </a:r>
            <a:r>
              <a:rPr lang="en-US" sz="1400" dirty="0"/>
              <a:t>equivalence factor is calculated according to following equation:</a:t>
            </a:r>
            <a:br>
              <a:rPr lang="en-US" sz="1400" dirty="0"/>
            </a:br>
            <a:endParaRPr lang="en-US" sz="1400" dirty="0"/>
          </a:p>
          <a:p>
            <a:pPr lvl="1"/>
            <a:endParaRPr lang="en-GB" sz="1400" dirty="0"/>
          </a:p>
          <a:p>
            <a:pPr lvl="1"/>
            <a:r>
              <a:rPr lang="en-GB" sz="1400" dirty="0"/>
              <a:t>For further details please refer to: </a:t>
            </a:r>
            <a:r>
              <a:rPr lang="en-GB" sz="1400" b="1" i="1" dirty="0"/>
              <a:t>VECTO-DEV WS#8 16.11.2021 (slide 7ff)</a:t>
            </a:r>
            <a:endParaRPr lang="en-US" sz="14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12</a:t>
            </a:fld>
            <a:endParaRPr lang="de-DE"/>
          </a:p>
        </p:txBody>
      </p:sp>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FA0F42E0-6069-490B-8657-ED39F2A42A3A}"/>
                  </a:ext>
                </a:extLst>
              </p:cNvPr>
              <p:cNvSpPr txBox="1"/>
              <p:nvPr/>
            </p:nvSpPr>
            <p:spPr>
              <a:xfrm>
                <a:off x="1345337" y="3756031"/>
                <a:ext cx="1664686" cy="31797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𝑓</m:t>
                          </m:r>
                        </m:e>
                        <m:sub>
                          <m:r>
                            <a:rPr lang="de-AT" sz="1100" i="1">
                              <a:latin typeface="Cambria Math" panose="02040503050406030204" pitchFamily="18" charset="0"/>
                              <a:ea typeface="Cambria Math" panose="02040503050406030204" pitchFamily="18" charset="0"/>
                            </a:rPr>
                            <m:t>𝑒𝑞𝑢𝑖𝑣</m:t>
                          </m:r>
                          <m:r>
                            <a:rPr lang="de-AT" sz="1100" i="1">
                              <a:latin typeface="Cambria Math" panose="02040503050406030204" pitchFamily="18" charset="0"/>
                              <a:ea typeface="Cambria Math" panose="02040503050406030204" pitchFamily="18" charset="0"/>
                            </a:rPr>
                            <m:t>_2</m:t>
                          </m:r>
                        </m:sub>
                      </m:sSub>
                      <m:r>
                        <a:rPr lang="de-AT" sz="1100" i="1">
                          <a:latin typeface="Cambria Math" panose="02040503050406030204" pitchFamily="18" charset="0"/>
                          <a:ea typeface="Cambria Math" panose="02040503050406030204" pitchFamily="18" charset="0"/>
                        </a:rPr>
                        <m:t>=</m:t>
                      </m:r>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𝑓</m:t>
                          </m:r>
                        </m:e>
                        <m:sub>
                          <m:r>
                            <a:rPr lang="de-AT" sz="1100" i="1">
                              <a:latin typeface="Cambria Math" panose="02040503050406030204" pitchFamily="18" charset="0"/>
                              <a:ea typeface="Cambria Math" panose="02040503050406030204" pitchFamily="18" charset="0"/>
                            </a:rPr>
                            <m:t>𝑒𝑞𝑢𝑖𝑣</m:t>
                          </m:r>
                          <m:r>
                            <a:rPr lang="de-AT" sz="1100" i="1">
                              <a:latin typeface="Cambria Math" panose="02040503050406030204" pitchFamily="18" charset="0"/>
                              <a:ea typeface="Cambria Math" panose="02040503050406030204" pitchFamily="18" charset="0"/>
                            </a:rPr>
                            <m:t>_1</m:t>
                          </m:r>
                        </m:sub>
                      </m:sSub>
                      <m:r>
                        <a:rPr lang="de-AT" sz="1100" i="1">
                          <a:latin typeface="Cambria Math" panose="02040503050406030204" pitchFamily="18" charset="0"/>
                          <a:ea typeface="Cambria Math" panose="02040503050406030204" pitchFamily="18" charset="0"/>
                        </a:rPr>
                        <m:t>−</m:t>
                      </m:r>
                      <m:f>
                        <m:fPr>
                          <m:ctrlPr>
                            <a:rPr lang="de-AT" sz="1100" i="1">
                              <a:latin typeface="Cambria Math" panose="02040503050406030204" pitchFamily="18" charset="0"/>
                              <a:ea typeface="Cambria Math" panose="02040503050406030204" pitchFamily="18" charset="0"/>
                            </a:rPr>
                          </m:ctrlPr>
                        </m:fPr>
                        <m:num>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m:t>
                              </m:r>
                              <m:r>
                                <a:rPr lang="de-AT" sz="1100" i="1">
                                  <a:latin typeface="Cambria Math" panose="02040503050406030204" pitchFamily="18" charset="0"/>
                                  <a:ea typeface="Cambria Math" panose="02040503050406030204" pitchFamily="18" charset="0"/>
                                </a:rPr>
                                <m:t>𝑆𝑂𝐶</m:t>
                              </m:r>
                            </m:e>
                            <m:sub>
                              <m:r>
                                <a:rPr lang="de-AT" sz="1100" i="1">
                                  <a:latin typeface="Cambria Math" panose="02040503050406030204" pitchFamily="18" charset="0"/>
                                  <a:ea typeface="Cambria Math" panose="02040503050406030204" pitchFamily="18" charset="0"/>
                                </a:rPr>
                                <m:t>1</m:t>
                              </m:r>
                            </m:sub>
                          </m:sSub>
                        </m:num>
                        <m:den>
                          <m:r>
                            <a:rPr lang="de-AT" sz="1100" i="1">
                              <a:latin typeface="Cambria Math" panose="02040503050406030204" pitchFamily="18" charset="0"/>
                              <a:ea typeface="Cambria Math" panose="02040503050406030204" pitchFamily="18" charset="0"/>
                            </a:rPr>
                            <m:t>𝑘</m:t>
                          </m:r>
                        </m:den>
                      </m:f>
                    </m:oMath>
                  </m:oMathPara>
                </a14:m>
                <a:endParaRPr lang="de-AT" sz="1100" dirty="0"/>
              </a:p>
            </p:txBody>
          </p:sp>
        </mc:Choice>
        <mc:Fallback xmlns="">
          <p:sp>
            <p:nvSpPr>
              <p:cNvPr id="6" name="Textfeld 5">
                <a:extLst>
                  <a:ext uri="{FF2B5EF4-FFF2-40B4-BE49-F238E27FC236}">
                    <a16:creationId xmlns:a16="http://schemas.microsoft.com/office/drawing/2014/main" id="{FA0F42E0-6069-490B-8657-ED39F2A42A3A}"/>
                  </a:ext>
                </a:extLst>
              </p:cNvPr>
              <p:cNvSpPr txBox="1">
                <a:spLocks noRot="1" noChangeAspect="1" noMove="1" noResize="1" noEditPoints="1" noAdjustHandles="1" noChangeArrowheads="1" noChangeShapeType="1" noTextEdit="1"/>
              </p:cNvSpPr>
              <p:nvPr/>
            </p:nvSpPr>
            <p:spPr>
              <a:xfrm>
                <a:off x="1345337" y="3756031"/>
                <a:ext cx="1664686" cy="317972"/>
              </a:xfrm>
              <a:prstGeom prst="rect">
                <a:avLst/>
              </a:prstGeom>
              <a:blipFill>
                <a:blip r:embed="rId2"/>
                <a:stretch>
                  <a:fillRect l="-2564" r="-733" b="-15385"/>
                </a:stretch>
              </a:blipFill>
            </p:spPr>
            <p:txBody>
              <a:bodyPr/>
              <a:lstStyle/>
              <a:p>
                <a:r>
                  <a:rPr lang="de-AT">
                    <a:noFill/>
                  </a:rPr>
                  <a:t> </a:t>
                </a:r>
              </a:p>
            </p:txBody>
          </p:sp>
        </mc:Fallback>
      </mc:AlternateContent>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04A996E3-A1CE-4376-8F84-5151C3480BB7}"/>
                  </a:ext>
                </a:extLst>
              </p:cNvPr>
              <p:cNvSpPr txBox="1"/>
              <p:nvPr/>
            </p:nvSpPr>
            <p:spPr>
              <a:xfrm>
                <a:off x="4963683" y="3830380"/>
                <a:ext cx="20788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AT" sz="1100" i="1">
                              <a:latin typeface="Cambria Math" panose="02040503050406030204" pitchFamily="18" charset="0"/>
                            </a:rPr>
                          </m:ctrlPr>
                        </m:sSubPr>
                        <m:e>
                          <m:r>
                            <a:rPr lang="de-AT" sz="1100" i="1">
                              <a:latin typeface="Cambria Math" panose="02040503050406030204" pitchFamily="18" charset="0"/>
                            </a:rPr>
                            <m:t>𝑘</m:t>
                          </m:r>
                          <m:r>
                            <a:rPr lang="de-AT" sz="1100" i="1">
                              <a:latin typeface="Cambria Math" panose="02040503050406030204" pitchFamily="18" charset="0"/>
                            </a:rPr>
                            <m:t>=</m:t>
                          </m:r>
                          <m:r>
                            <a:rPr lang="de-AT" sz="1100" i="1">
                              <a:latin typeface="Cambria Math" panose="02040503050406030204" pitchFamily="18" charset="0"/>
                            </a:rPr>
                            <m:t>𝑘</m:t>
                          </m:r>
                        </m:e>
                        <m:sub>
                          <m:r>
                            <a:rPr lang="de-AT" sz="1100" i="1">
                              <a:latin typeface="Cambria Math" panose="02040503050406030204" pitchFamily="18" charset="0"/>
                            </a:rPr>
                            <m:t>0.4</m:t>
                          </m:r>
                        </m:sub>
                      </m:sSub>
                      <m:r>
                        <a:rPr lang="de-AT" sz="1100" i="1">
                          <a:latin typeface="Cambria Math" panose="02040503050406030204" pitchFamily="18" charset="0"/>
                        </a:rPr>
                        <m:t>+0.2∗(</m:t>
                      </m:r>
                      <m:sSub>
                        <m:sSubPr>
                          <m:ctrlPr>
                            <a:rPr lang="de-AT" sz="1100" i="1">
                              <a:latin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𝑆𝑂𝐶</m:t>
                          </m:r>
                        </m:e>
                        <m:sub>
                          <m:r>
                            <a:rPr lang="de-AT" sz="1100" i="1">
                              <a:latin typeface="Cambria Math" panose="02040503050406030204" pitchFamily="18" charset="0"/>
                              <a:ea typeface="Cambria Math" panose="02040503050406030204" pitchFamily="18" charset="0"/>
                            </a:rPr>
                            <m:t>𝑢𝑠𝑎𝑏𝑙𝑒</m:t>
                          </m:r>
                        </m:sub>
                      </m:sSub>
                      <m:r>
                        <a:rPr lang="de-AT" sz="1100" i="1">
                          <a:latin typeface="Cambria Math" panose="02040503050406030204" pitchFamily="18" charset="0"/>
                        </a:rPr>
                        <m:t>−0.4)</m:t>
                      </m:r>
                    </m:oMath>
                  </m:oMathPara>
                </a14:m>
                <a:endParaRPr lang="de-AT" sz="1100" dirty="0"/>
              </a:p>
            </p:txBody>
          </p:sp>
        </mc:Choice>
        <mc:Fallback xmlns="">
          <p:sp>
            <p:nvSpPr>
              <p:cNvPr id="7" name="Textfeld 6">
                <a:extLst>
                  <a:ext uri="{FF2B5EF4-FFF2-40B4-BE49-F238E27FC236}">
                    <a16:creationId xmlns:a16="http://schemas.microsoft.com/office/drawing/2014/main" id="{04A996E3-A1CE-4376-8F84-5151C3480BB7}"/>
                  </a:ext>
                </a:extLst>
              </p:cNvPr>
              <p:cNvSpPr txBox="1">
                <a:spLocks noRot="1" noChangeAspect="1" noMove="1" noResize="1" noEditPoints="1" noAdjustHandles="1" noChangeArrowheads="1" noChangeShapeType="1" noTextEdit="1"/>
              </p:cNvSpPr>
              <p:nvPr/>
            </p:nvSpPr>
            <p:spPr>
              <a:xfrm>
                <a:off x="4963683" y="3830380"/>
                <a:ext cx="2078838" cy="169277"/>
              </a:xfrm>
              <a:prstGeom prst="rect">
                <a:avLst/>
              </a:prstGeom>
              <a:blipFill>
                <a:blip r:embed="rId3"/>
                <a:stretch>
                  <a:fillRect l="-880" r="-2053" b="-35714"/>
                </a:stretch>
              </a:blipFill>
            </p:spPr>
            <p:txBody>
              <a:bodyPr/>
              <a:lstStyle/>
              <a:p>
                <a:r>
                  <a:rPr lang="de-AT">
                    <a:noFill/>
                  </a:rPr>
                  <a:t> </a:t>
                </a:r>
              </a:p>
            </p:txBody>
          </p:sp>
        </mc:Fallback>
      </mc:AlternateContent>
      <p:sp>
        <p:nvSpPr>
          <p:cNvPr id="8" name="Textfeld 7"/>
          <p:cNvSpPr txBox="1"/>
          <p:nvPr/>
        </p:nvSpPr>
        <p:spPr>
          <a:xfrm>
            <a:off x="4327309" y="3776518"/>
            <a:ext cx="636374" cy="276999"/>
          </a:xfrm>
          <a:prstGeom prst="rect">
            <a:avLst/>
          </a:prstGeom>
          <a:noFill/>
        </p:spPr>
        <p:txBody>
          <a:bodyPr wrap="square" rtlCol="0">
            <a:spAutoFit/>
          </a:bodyPr>
          <a:lstStyle/>
          <a:p>
            <a:r>
              <a:rPr lang="de-AT" sz="1200" dirty="0" err="1"/>
              <a:t>with</a:t>
            </a:r>
            <a:endParaRPr lang="de-AT" sz="1200" dirty="0"/>
          </a:p>
        </p:txBody>
      </p:sp>
      <p:cxnSp>
        <p:nvCxnSpPr>
          <p:cNvPr id="9" name="Gerade Verbindung mit Pfeil 8">
            <a:extLst>
              <a:ext uri="{FF2B5EF4-FFF2-40B4-BE49-F238E27FC236}">
                <a16:creationId xmlns:a16="http://schemas.microsoft.com/office/drawing/2014/main" id="{791F2253-79F9-4B5E-BA61-AA9D010790C7}"/>
              </a:ext>
            </a:extLst>
          </p:cNvPr>
          <p:cNvCxnSpPr>
            <a:cxnSpLocks/>
          </p:cNvCxnSpPr>
          <p:nvPr/>
        </p:nvCxnSpPr>
        <p:spPr>
          <a:xfrm>
            <a:off x="2182186" y="4030604"/>
            <a:ext cx="0" cy="144000"/>
          </a:xfrm>
          <a:prstGeom prst="straightConnector1">
            <a:avLst/>
          </a:prstGeom>
          <a:ln>
            <a:solidFill>
              <a:srgbClr val="C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Textfeld 9">
            <a:extLst>
              <a:ext uri="{FF2B5EF4-FFF2-40B4-BE49-F238E27FC236}">
                <a16:creationId xmlns:a16="http://schemas.microsoft.com/office/drawing/2014/main" id="{4D01715D-A80C-4D20-81AE-772E3F5503C7}"/>
              </a:ext>
            </a:extLst>
          </p:cNvPr>
          <p:cNvSpPr txBox="1"/>
          <p:nvPr/>
        </p:nvSpPr>
        <p:spPr>
          <a:xfrm>
            <a:off x="1077636" y="4102604"/>
            <a:ext cx="2735044" cy="246221"/>
          </a:xfrm>
          <a:prstGeom prst="rect">
            <a:avLst/>
          </a:prstGeom>
          <a:noFill/>
        </p:spPr>
        <p:txBody>
          <a:bodyPr wrap="none" rtlCol="0">
            <a:spAutoFit/>
          </a:bodyPr>
          <a:lstStyle/>
          <a:p>
            <a:r>
              <a:rPr lang="en-US" sz="1000" dirty="0">
                <a:solidFill>
                  <a:srgbClr val="C00000"/>
                </a:solidFill>
              </a:rPr>
              <a:t>equivalence factor used in 1</a:t>
            </a:r>
            <a:r>
              <a:rPr lang="en-US" sz="1000" baseline="30000" dirty="0">
                <a:solidFill>
                  <a:srgbClr val="C00000"/>
                </a:solidFill>
              </a:rPr>
              <a:t>st</a:t>
            </a:r>
            <a:r>
              <a:rPr lang="en-US" sz="1000" dirty="0">
                <a:solidFill>
                  <a:srgbClr val="C00000"/>
                </a:solidFill>
              </a:rPr>
              <a:t> simulation run</a:t>
            </a:r>
          </a:p>
        </p:txBody>
      </p:sp>
      <p:cxnSp>
        <p:nvCxnSpPr>
          <p:cNvPr id="11" name="Gerade Verbindung mit Pfeil 10">
            <a:extLst>
              <a:ext uri="{FF2B5EF4-FFF2-40B4-BE49-F238E27FC236}">
                <a16:creationId xmlns:a16="http://schemas.microsoft.com/office/drawing/2014/main" id="{791F2253-79F9-4B5E-BA61-AA9D010790C7}"/>
              </a:ext>
            </a:extLst>
          </p:cNvPr>
          <p:cNvCxnSpPr>
            <a:cxnSpLocks/>
          </p:cNvCxnSpPr>
          <p:nvPr/>
        </p:nvCxnSpPr>
        <p:spPr>
          <a:xfrm>
            <a:off x="5376040" y="4025115"/>
            <a:ext cx="0" cy="144000"/>
          </a:xfrm>
          <a:prstGeom prst="straightConnector1">
            <a:avLst/>
          </a:prstGeom>
          <a:ln>
            <a:solidFill>
              <a:srgbClr val="C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Textfeld 11">
            <a:extLst>
              <a:ext uri="{FF2B5EF4-FFF2-40B4-BE49-F238E27FC236}">
                <a16:creationId xmlns:a16="http://schemas.microsoft.com/office/drawing/2014/main" id="{4D01715D-A80C-4D20-81AE-772E3F5503C7}"/>
              </a:ext>
            </a:extLst>
          </p:cNvPr>
          <p:cNvSpPr txBox="1"/>
          <p:nvPr/>
        </p:nvSpPr>
        <p:spPr>
          <a:xfrm>
            <a:off x="4327309" y="4098251"/>
            <a:ext cx="3554178" cy="246221"/>
          </a:xfrm>
          <a:prstGeom prst="rect">
            <a:avLst/>
          </a:prstGeom>
          <a:noFill/>
        </p:spPr>
        <p:txBody>
          <a:bodyPr wrap="none" rtlCol="0">
            <a:spAutoFit/>
          </a:bodyPr>
          <a:lstStyle/>
          <a:p>
            <a:r>
              <a:rPr lang="en-US" sz="1000" dirty="0">
                <a:solidFill>
                  <a:srgbClr val="C00000"/>
                </a:solidFill>
              </a:rPr>
              <a:t>refer to \Declaration\</a:t>
            </a:r>
            <a:r>
              <a:rPr lang="en-US" sz="1000" dirty="0" err="1">
                <a:solidFill>
                  <a:srgbClr val="C00000"/>
                </a:solidFill>
              </a:rPr>
              <a:t>HEVParameters</a:t>
            </a:r>
            <a:r>
              <a:rPr lang="en-US" sz="1000" dirty="0">
                <a:solidFill>
                  <a:srgbClr val="C00000"/>
                </a:solidFill>
              </a:rPr>
              <a:t>\Lorry\Gradient_40.csv</a:t>
            </a:r>
          </a:p>
        </p:txBody>
      </p:sp>
      <p:pic>
        <p:nvPicPr>
          <p:cNvPr id="13" name="Grafik 12"/>
          <p:cNvPicPr>
            <a:picLocks noChangeAspect="1"/>
          </p:cNvPicPr>
          <p:nvPr/>
        </p:nvPicPr>
        <p:blipFill>
          <a:blip r:embed="rId4"/>
          <a:stretch>
            <a:fillRect/>
          </a:stretch>
        </p:blipFill>
        <p:spPr>
          <a:xfrm>
            <a:off x="2843629" y="4798959"/>
            <a:ext cx="3260769" cy="324000"/>
          </a:xfrm>
          <a:prstGeom prst="rect">
            <a:avLst/>
          </a:prstGeom>
        </p:spPr>
      </p:pic>
    </p:spTree>
    <p:extLst>
      <p:ext uri="{BB962C8B-B14F-4D97-AF65-F5344CB8AC3E}">
        <p14:creationId xmlns:p14="http://schemas.microsoft.com/office/powerpoint/2010/main" val="38950521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43196" y="40603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600" dirty="0"/>
              <a:t>Dedicated GUI feature available in order to overrule 3 iterations and perform calculation with single individual EF only (for engineering exercise)</a:t>
            </a:r>
            <a:br>
              <a:rPr lang="en-US" sz="1600" dirty="0"/>
            </a:br>
            <a:endParaRPr lang="en-US" sz="600" dirty="0"/>
          </a:p>
          <a:p>
            <a:pPr lvl="1"/>
            <a:r>
              <a:rPr lang="en-US" sz="1600" dirty="0"/>
              <a:t>Instructions:</a:t>
            </a:r>
          </a:p>
          <a:p>
            <a:pPr lvl="2"/>
            <a:r>
              <a:rPr lang="en-US" sz="1400" dirty="0"/>
              <a:t>Copy files from </a:t>
            </a:r>
            <a:r>
              <a:rPr lang="en-US" sz="1200" dirty="0"/>
              <a:t>“\Declaration\</a:t>
            </a:r>
            <a:r>
              <a:rPr lang="en-US" sz="1200" dirty="0" err="1"/>
              <a:t>HEVParameters</a:t>
            </a:r>
            <a:r>
              <a:rPr lang="en-US" sz="1200" dirty="0"/>
              <a:t>\Lorry\HEV_Strategy_Parameters_fequiv_</a:t>
            </a:r>
            <a:r>
              <a:rPr lang="en-US" sz="1200" b="1" dirty="0">
                <a:solidFill>
                  <a:srgbClr val="FF0000"/>
                </a:solidFill>
              </a:rPr>
              <a:t>XX</a:t>
            </a:r>
            <a:r>
              <a:rPr lang="en-US" sz="1200" dirty="0"/>
              <a:t>soc.csv”</a:t>
            </a:r>
            <a:r>
              <a:rPr lang="en-US" sz="1400" dirty="0"/>
              <a:t> </a:t>
            </a:r>
            <a:br>
              <a:rPr lang="en-US" sz="1400" dirty="0"/>
            </a:br>
            <a:r>
              <a:rPr lang="en-US" sz="1400" dirty="0"/>
              <a:t>to </a:t>
            </a:r>
            <a:r>
              <a:rPr lang="en-US" sz="1200" dirty="0"/>
              <a:t>“\Declaration\Override\”</a:t>
            </a:r>
            <a:r>
              <a:rPr lang="en-US" sz="1400" dirty="0"/>
              <a:t> without adding any sub-directories</a:t>
            </a:r>
            <a:br>
              <a:rPr lang="en-US" sz="1400" dirty="0"/>
            </a:br>
            <a:endParaRPr lang="en-US" sz="600" dirty="0"/>
          </a:p>
          <a:p>
            <a:pPr lvl="2"/>
            <a:r>
              <a:rPr lang="en-US" sz="1400" dirty="0"/>
              <a:t>Adapt respective values for individual EF in files (per vehicle group, mission profile and payload)</a:t>
            </a:r>
            <a:br>
              <a:rPr lang="en-US" sz="1400" dirty="0"/>
            </a:br>
            <a:br>
              <a:rPr lang="en-US" sz="1400" dirty="0"/>
            </a:br>
            <a:br>
              <a:rPr lang="en-US" sz="1400" dirty="0"/>
            </a:br>
            <a:br>
              <a:rPr lang="en-US" sz="1400" dirty="0"/>
            </a:br>
            <a:br>
              <a:rPr lang="en-US" sz="1400" dirty="0"/>
            </a:br>
            <a:br>
              <a:rPr lang="en-US" sz="1400" dirty="0"/>
            </a:br>
            <a:br>
              <a:rPr lang="en-US" sz="1100" dirty="0"/>
            </a:br>
            <a:br>
              <a:rPr lang="en-US" sz="1100" dirty="0"/>
            </a:br>
            <a:r>
              <a:rPr lang="en-US" sz="1100" dirty="0"/>
              <a:t>		   </a:t>
            </a:r>
            <a:r>
              <a:rPr lang="en-US" sz="1200" i="1" dirty="0">
                <a:sym typeface="Wingdings" panose="05000000000000000000" pitchFamily="2" charset="2"/>
              </a:rPr>
              <a:t> 1</a:t>
            </a:r>
            <a:r>
              <a:rPr lang="en-US" sz="1200" i="1" baseline="30000" dirty="0">
                <a:sym typeface="Wingdings" panose="05000000000000000000" pitchFamily="2" charset="2"/>
              </a:rPr>
              <a:t>st</a:t>
            </a:r>
            <a:r>
              <a:rPr lang="en-US" sz="1200" i="1" dirty="0">
                <a:sym typeface="Wingdings" panose="05000000000000000000" pitchFamily="2" charset="2"/>
              </a:rPr>
              <a:t> value for low loading, 2</a:t>
            </a:r>
            <a:r>
              <a:rPr lang="en-US" sz="1200" i="1" baseline="30000" dirty="0">
                <a:sym typeface="Wingdings" panose="05000000000000000000" pitchFamily="2" charset="2"/>
              </a:rPr>
              <a:t>nd</a:t>
            </a:r>
            <a:r>
              <a:rPr lang="en-US" sz="1200" i="1" dirty="0">
                <a:sym typeface="Wingdings" panose="05000000000000000000" pitchFamily="2" charset="2"/>
              </a:rPr>
              <a:t> for reference loading</a:t>
            </a:r>
            <a:br>
              <a:rPr lang="en-US" sz="1200" i="1" dirty="0"/>
            </a:br>
            <a:endParaRPr lang="en-US" sz="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a:t>
            </a:fld>
            <a:endParaRPr lang="de-DE"/>
          </a:p>
        </p:txBody>
      </p:sp>
      <p:graphicFrame>
        <p:nvGraphicFramePr>
          <p:cNvPr id="5" name="Tabelle 4"/>
          <p:cNvGraphicFramePr>
            <a:graphicFrameLocks noGrp="1"/>
          </p:cNvGraphicFramePr>
          <p:nvPr/>
        </p:nvGraphicFramePr>
        <p:xfrm>
          <a:off x="2594919" y="4223729"/>
          <a:ext cx="5968058" cy="1510665"/>
        </p:xfrm>
        <a:graphic>
          <a:graphicData uri="http://schemas.openxmlformats.org/drawingml/2006/table">
            <a:tbl>
              <a:tblPr>
                <a:tableStyleId>{69CF1AB2-1976-4502-BF36-3FF5EA218861}</a:tableStyleId>
              </a:tblPr>
              <a:tblGrid>
                <a:gridCol w="951988">
                  <a:extLst>
                    <a:ext uri="{9D8B030D-6E8A-4147-A177-3AD203B41FA5}">
                      <a16:colId xmlns:a16="http://schemas.microsoft.com/office/drawing/2014/main" val="852312706"/>
                    </a:ext>
                  </a:extLst>
                </a:gridCol>
                <a:gridCol w="972387">
                  <a:extLst>
                    <a:ext uri="{9D8B030D-6E8A-4147-A177-3AD203B41FA5}">
                      <a16:colId xmlns:a16="http://schemas.microsoft.com/office/drawing/2014/main" val="1837859280"/>
                    </a:ext>
                  </a:extLst>
                </a:gridCol>
                <a:gridCol w="1060787">
                  <a:extLst>
                    <a:ext uri="{9D8B030D-6E8A-4147-A177-3AD203B41FA5}">
                      <a16:colId xmlns:a16="http://schemas.microsoft.com/office/drawing/2014/main" val="1001090232"/>
                    </a:ext>
                  </a:extLst>
                </a:gridCol>
                <a:gridCol w="1024521">
                  <a:extLst>
                    <a:ext uri="{9D8B030D-6E8A-4147-A177-3AD203B41FA5}">
                      <a16:colId xmlns:a16="http://schemas.microsoft.com/office/drawing/2014/main" val="1395416183"/>
                    </a:ext>
                  </a:extLst>
                </a:gridCol>
                <a:gridCol w="988254">
                  <a:extLst>
                    <a:ext uri="{9D8B030D-6E8A-4147-A177-3AD203B41FA5}">
                      <a16:colId xmlns:a16="http://schemas.microsoft.com/office/drawing/2014/main" val="3676319759"/>
                    </a:ext>
                  </a:extLst>
                </a:gridCol>
                <a:gridCol w="970121">
                  <a:extLst>
                    <a:ext uri="{9D8B030D-6E8A-4147-A177-3AD203B41FA5}">
                      <a16:colId xmlns:a16="http://schemas.microsoft.com/office/drawing/2014/main" val="465384926"/>
                    </a:ext>
                  </a:extLst>
                </a:gridCol>
              </a:tblGrid>
              <a:tr h="190500">
                <a:tc>
                  <a:txBody>
                    <a:bodyPr/>
                    <a:lstStyle/>
                    <a:p>
                      <a:pPr algn="ctr" fontAlgn="b"/>
                      <a:r>
                        <a:rPr lang="de-AT" sz="900" b="1" u="none" strike="noStrike">
                          <a:effectLst/>
                        </a:rPr>
                        <a:t>vehiclegroup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dirty="0">
                          <a:effectLst/>
                        </a:rPr>
                        <a:t> </a:t>
                      </a:r>
                      <a:r>
                        <a:rPr lang="de-AT" sz="900" b="1" u="none" strike="noStrike" dirty="0" err="1">
                          <a:effectLst/>
                        </a:rPr>
                        <a:t>longhaul</a:t>
                      </a:r>
                      <a:r>
                        <a:rPr lang="de-AT" sz="900" b="1" u="none" strike="noStrike" dirty="0">
                          <a:effectLst/>
                        </a:rPr>
                        <a:t>                     </a:t>
                      </a:r>
                      <a:endParaRPr lang="de-AT" sz="9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regionaldelivery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urbandelivery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municipalutility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dirty="0">
                          <a:effectLst/>
                        </a:rPr>
                        <a:t> </a:t>
                      </a:r>
                      <a:r>
                        <a:rPr lang="de-AT" sz="900" b="1" u="none" strike="noStrike" dirty="0" err="1">
                          <a:effectLst/>
                        </a:rPr>
                        <a:t>construction</a:t>
                      </a:r>
                      <a:r>
                        <a:rPr lang="de-AT" sz="900" b="1" u="none" strike="noStrike" dirty="0">
                          <a:effectLst/>
                        </a:rPr>
                        <a:t>                  </a:t>
                      </a:r>
                      <a:endParaRPr lang="de-AT" sz="900" b="1"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401099527"/>
                  </a:ext>
                </a:extLst>
              </a:tr>
              <a:tr h="144000">
                <a:tc>
                  <a:txBody>
                    <a:bodyPr/>
                    <a:lstStyle/>
                    <a:p>
                      <a:pPr algn="ctr" fontAlgn="b"/>
                      <a:r>
                        <a:rPr lang="de-AT" sz="900" b="0" i="0" u="none" strike="noStrike" dirty="0">
                          <a:solidFill>
                            <a:schemeClr val="dk1"/>
                          </a:solidFill>
                          <a:effectLst/>
                          <a:latin typeface="+mn-lt"/>
                        </a:rPr>
                        <a:t>53</a:t>
                      </a:r>
                      <a:endParaRPr lang="de-AT"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2.6/2.3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2.7/2.3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113796165"/>
                  </a:ext>
                </a:extLst>
              </a:tr>
              <a:tr h="144000">
                <a:tc>
                  <a:txBody>
                    <a:bodyPr/>
                    <a:lstStyle/>
                    <a:p>
                      <a:pPr algn="ctr" fontAlgn="b"/>
                      <a:r>
                        <a:rPr lang="de-AT" sz="900" b="0" i="0" u="none" strike="noStrike" dirty="0">
                          <a:solidFill>
                            <a:srgbClr val="000000"/>
                          </a:solidFill>
                          <a:effectLst/>
                          <a:latin typeface="Calibri" panose="020F0502020204030204" pitchFamily="34" charset="0"/>
                        </a:rPr>
                        <a:t>54</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2700250231"/>
                  </a:ext>
                </a:extLst>
              </a:tr>
              <a:tr h="144000">
                <a:tc>
                  <a:txBody>
                    <a:bodyPr/>
                    <a:lstStyle/>
                    <a:p>
                      <a:pPr algn="ctr" fontAlgn="b"/>
                      <a:r>
                        <a:rPr lang="de-AT" sz="900" b="0" i="0" u="none" strike="noStrike">
                          <a:solidFill>
                            <a:srgbClr val="000000"/>
                          </a:solidFill>
                          <a:effectLst/>
                          <a:latin typeface="Calibri" panose="020F0502020204030204" pitchFamily="34" charset="0"/>
                        </a:rPr>
                        <a:t>1s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3524488572"/>
                  </a:ext>
                </a:extLst>
              </a:tr>
              <a:tr h="144000">
                <a:tc>
                  <a:txBody>
                    <a:bodyPr/>
                    <a:lstStyle/>
                    <a:p>
                      <a:pPr algn="ctr" fontAlgn="b"/>
                      <a:r>
                        <a:rPr lang="de-AT" sz="9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1661254603"/>
                  </a:ext>
                </a:extLst>
              </a:tr>
              <a:tr h="144000">
                <a:tc>
                  <a:txBody>
                    <a:bodyPr/>
                    <a:lstStyle/>
                    <a:p>
                      <a:pPr algn="ctr" fontAlgn="b"/>
                      <a:r>
                        <a:rPr lang="de-AT" sz="9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0.1/0.1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3641180873"/>
                  </a:ext>
                </a:extLst>
              </a:tr>
              <a:tr h="144000">
                <a:tc>
                  <a:txBody>
                    <a:bodyPr/>
                    <a:lstStyle/>
                    <a:p>
                      <a:pPr algn="ctr" fontAlgn="b"/>
                      <a:r>
                        <a:rPr lang="de-AT" sz="9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2591096129"/>
                  </a:ext>
                </a:extLst>
              </a:tr>
              <a:tr h="144000">
                <a:tc>
                  <a:txBody>
                    <a:bodyPr/>
                    <a:lstStyle/>
                    <a:p>
                      <a:pPr algn="ctr" fontAlgn="b"/>
                      <a:r>
                        <a:rPr lang="de-AT" sz="900" b="0" i="0" u="none" strike="noStrike">
                          <a:solidFill>
                            <a:srgbClr val="000000"/>
                          </a:solidFill>
                          <a:effectLst/>
                          <a:latin typeface="Calibri" panose="020F0502020204030204" pitchFamily="34" charset="0"/>
                        </a:rPr>
                        <a:t>4</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1.4/1.3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2.2/2.6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1.9/2.3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a:t>
                      </a:r>
                    </a:p>
                  </a:txBody>
                  <a:tcPr marL="9525" marR="9525" marT="9525" marB="0" anchor="b"/>
                </a:tc>
                <a:extLst>
                  <a:ext uri="{0D108BD9-81ED-4DB2-BD59-A6C34878D82A}">
                    <a16:rowId xmlns:a16="http://schemas.microsoft.com/office/drawing/2014/main" val="3302663884"/>
                  </a:ext>
                </a:extLst>
              </a:tr>
              <a:tr h="144000">
                <a:tc>
                  <a:txBody>
                    <a:bodyPr/>
                    <a:lstStyle/>
                    <a:p>
                      <a:pPr algn="ctr" fontAlgn="b"/>
                      <a:r>
                        <a:rPr lang="de-AT" sz="900" b="0" i="0" u="none" strike="noStrike">
                          <a:solidFill>
                            <a:srgbClr val="000000"/>
                          </a:solidFill>
                          <a:effectLst/>
                          <a:latin typeface="Calibri" panose="020F0502020204030204" pitchFamily="34" charset="0"/>
                        </a:rPr>
                        <a:t>5</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1.4/1.3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2.2/2.6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1.9/2.3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a:t>
                      </a:r>
                    </a:p>
                  </a:txBody>
                  <a:tcPr marL="9525" marR="9525" marT="9525" marB="0" anchor="b"/>
                </a:tc>
                <a:extLst>
                  <a:ext uri="{0D108BD9-81ED-4DB2-BD59-A6C34878D82A}">
                    <a16:rowId xmlns:a16="http://schemas.microsoft.com/office/drawing/2014/main" val="3607436354"/>
                  </a:ext>
                </a:extLst>
              </a:tr>
              <a:tr h="144000">
                <a:tc>
                  <a:txBody>
                    <a:bodyPr/>
                    <a:lstStyle/>
                    <a:p>
                      <a:pPr algn="ctr" fontAlgn="b"/>
                      <a:r>
                        <a:rPr lang="de-AT" sz="900" b="0" i="0" u="none" strike="noStrike" dirty="0">
                          <a:solidFill>
                            <a:srgbClr val="000000"/>
                          </a:solidFill>
                          <a:effectLst/>
                          <a:latin typeface="Calibri" panose="020F0502020204030204" pitchFamily="34" charset="0"/>
                        </a:rPr>
                        <a:t>…</a:t>
                      </a: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59716045"/>
                  </a:ext>
                </a:extLst>
              </a:tr>
            </a:tbl>
          </a:graphicData>
        </a:graphic>
      </p:graphicFrame>
    </p:spTree>
    <p:extLst>
      <p:ext uri="{BB962C8B-B14F-4D97-AF65-F5344CB8AC3E}">
        <p14:creationId xmlns:p14="http://schemas.microsoft.com/office/powerpoint/2010/main" val="4014364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600" dirty="0"/>
              <a:t>Dedicated GUI feature available in order to overrule 3 iterations and perform calculation with single individual EF only (for engineering exercise)</a:t>
            </a:r>
            <a:br>
              <a:rPr lang="en-US" sz="1600" dirty="0"/>
            </a:br>
            <a:endParaRPr lang="en-US" sz="600" dirty="0"/>
          </a:p>
          <a:p>
            <a:pPr lvl="1"/>
            <a:r>
              <a:rPr lang="en-US" sz="1600" dirty="0"/>
              <a:t>Instructions:</a:t>
            </a:r>
          </a:p>
          <a:p>
            <a:pPr lvl="2"/>
            <a:r>
              <a:rPr lang="en-US" sz="1400" dirty="0"/>
              <a:t>Step 3:</a:t>
            </a:r>
            <a:br>
              <a:rPr lang="en-US" sz="1400" dirty="0"/>
            </a:br>
            <a:r>
              <a:rPr lang="en-US" sz="1400" dirty="0"/>
              <a:t>Activate GUI feature under “Options” tab</a:t>
            </a:r>
            <a:br>
              <a:rPr lang="en-US" sz="1400" dirty="0"/>
            </a:br>
            <a:r>
              <a:rPr lang="en-US" sz="1400" dirty="0"/>
              <a:t>to apply single run with individually set EF</a:t>
            </a:r>
            <a:br>
              <a:rPr lang="en-US" sz="1400" dirty="0"/>
            </a:br>
            <a:r>
              <a:rPr lang="en-US" sz="1400" dirty="0"/>
              <a:t>loaded from “\Declaration\Override\” folder</a:t>
            </a:r>
            <a:br>
              <a:rPr lang="en-US" sz="1400" dirty="0"/>
            </a:br>
            <a:endParaRPr lang="en-US" sz="1400" dirty="0"/>
          </a:p>
          <a:p>
            <a:pPr lvl="2"/>
            <a:r>
              <a:rPr lang="en-US" sz="1400" b="1" u="sng" dirty="0"/>
              <a:t>ATTENTION:</a:t>
            </a:r>
            <a:r>
              <a:rPr lang="en-US" sz="1400" dirty="0"/>
              <a:t> Only loaded when VECTO is</a:t>
            </a:r>
            <a:br>
              <a:rPr lang="en-US" sz="1400" dirty="0"/>
            </a:br>
            <a:r>
              <a:rPr lang="en-US" sz="1400" dirty="0"/>
              <a:t>launched initially (updates during active</a:t>
            </a:r>
            <a:br>
              <a:rPr lang="en-US" sz="1400" dirty="0"/>
            </a:br>
            <a:r>
              <a:rPr lang="en-US" sz="1400" dirty="0"/>
              <a:t>VECTO session have no effect)!</a:t>
            </a:r>
            <a:br>
              <a:rPr lang="en-US" sz="1400" dirty="0"/>
            </a:br>
            <a:endParaRPr lang="en-US" sz="1400" dirty="0"/>
          </a:p>
          <a:p>
            <a:r>
              <a:rPr lang="en-US" sz="1800" dirty="0"/>
              <a:t>To be checked: Handling of vehicles with very small batteries in LH</a:t>
            </a:r>
            <a:br>
              <a:rPr lang="en-US" sz="1800" dirty="0"/>
            </a:br>
            <a:r>
              <a:rPr lang="en-US" sz="1400" i="1" dirty="0"/>
              <a:t>(due to high amount of energy being captured at the very end of the cycle)</a:t>
            </a:r>
            <a:endParaRPr lang="en-GB" sz="1400" i="1" dirty="0"/>
          </a:p>
        </p:txBody>
      </p:sp>
      <p:sp>
        <p:nvSpPr>
          <p:cNvPr id="4" name="Foliennummernplatzhalter 3"/>
          <p:cNvSpPr>
            <a:spLocks noGrp="1"/>
          </p:cNvSpPr>
          <p:nvPr>
            <p:ph type="sldNum" sz="quarter" idx="12"/>
          </p:nvPr>
        </p:nvSpPr>
        <p:spPr/>
        <p:txBody>
          <a:bodyPr/>
          <a:lstStyle/>
          <a:p>
            <a:fld id="{4B64EC4D-37E3-EF42-B9AB-6337577588CB}" type="slidenum">
              <a:rPr lang="de-DE" smtClean="0"/>
              <a:t>14</a:t>
            </a:fld>
            <a:endParaRPr lang="de-DE"/>
          </a:p>
        </p:txBody>
      </p:sp>
      <p:grpSp>
        <p:nvGrpSpPr>
          <p:cNvPr id="9" name="Gruppieren 8"/>
          <p:cNvGrpSpPr/>
          <p:nvPr/>
        </p:nvGrpSpPr>
        <p:grpSpPr>
          <a:xfrm>
            <a:off x="5844641" y="2428289"/>
            <a:ext cx="2841799" cy="2201002"/>
            <a:chOff x="4293973" y="2436734"/>
            <a:chExt cx="2706902" cy="2096522"/>
          </a:xfrm>
        </p:grpSpPr>
        <p:pic>
          <p:nvPicPr>
            <p:cNvPr id="6" name="Grafik 5"/>
            <p:cNvPicPr>
              <a:picLocks noChangeAspect="1"/>
            </p:cNvPicPr>
            <p:nvPr/>
          </p:nvPicPr>
          <p:blipFill>
            <a:blip r:embed="rId2"/>
            <a:stretch>
              <a:fillRect/>
            </a:stretch>
          </p:blipFill>
          <p:spPr>
            <a:xfrm>
              <a:off x="4293973" y="2436734"/>
              <a:ext cx="2706902" cy="2096522"/>
            </a:xfrm>
            <a:prstGeom prst="rect">
              <a:avLst/>
            </a:prstGeom>
          </p:spPr>
        </p:pic>
        <p:sp>
          <p:nvSpPr>
            <p:cNvPr id="7" name="Ellipse 6"/>
            <p:cNvSpPr/>
            <p:nvPr/>
          </p:nvSpPr>
          <p:spPr>
            <a:xfrm>
              <a:off x="4683212" y="2679345"/>
              <a:ext cx="525162" cy="169748"/>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8" name="Ellipse 7"/>
            <p:cNvSpPr/>
            <p:nvPr/>
          </p:nvSpPr>
          <p:spPr>
            <a:xfrm>
              <a:off x="5172578" y="3781959"/>
              <a:ext cx="1800000" cy="18000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grpSp>
    </p:spTree>
    <p:extLst>
      <p:ext uri="{BB962C8B-B14F-4D97-AF65-F5344CB8AC3E}">
        <p14:creationId xmlns:p14="http://schemas.microsoft.com/office/powerpoint/2010/main" val="14446641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US" sz="2400" spc="-1" dirty="0">
                <a:solidFill>
                  <a:srgbClr val="990000"/>
                </a:solidFill>
                <a:latin typeface="Arial"/>
              </a:rPr>
              <a:t>Updated P-HEV gear shift model (DECL + ENG)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Gear shift model for P-HEV used slightly wrong ICE operation point for evaluation of fuel costs</a:t>
            </a:r>
            <a:br>
              <a:rPr lang="en-US" sz="1800" dirty="0"/>
            </a:br>
            <a:r>
              <a:rPr lang="en-US" sz="1800" dirty="0">
                <a:sym typeface="Wingdings" panose="05000000000000000000" pitchFamily="2" charset="2"/>
              </a:rPr>
              <a:t> mainly relevant for overdrive drivetrain configurations</a:t>
            </a:r>
            <a:br>
              <a:rPr lang="en-US" sz="1800" dirty="0">
                <a:sym typeface="Wingdings" panose="05000000000000000000" pitchFamily="2" charset="2"/>
              </a:rPr>
            </a:br>
            <a:r>
              <a:rPr lang="en-US" sz="1800" dirty="0">
                <a:sym typeface="Wingdings" panose="05000000000000000000" pitchFamily="2" charset="2"/>
              </a:rPr>
              <a:t> effect </a:t>
            </a:r>
            <a:r>
              <a:rPr lang="en-US" sz="1800">
                <a:sym typeface="Wingdings" panose="05000000000000000000" pitchFamily="2" charset="2"/>
              </a:rPr>
              <a:t>for non-overdrive </a:t>
            </a:r>
            <a:r>
              <a:rPr lang="en-US" sz="1800" dirty="0">
                <a:sym typeface="Wingdings" panose="05000000000000000000" pitchFamily="2" charset="2"/>
              </a:rPr>
              <a:t>drivetrains:</a:t>
            </a:r>
          </a:p>
          <a:p>
            <a:pPr lvl="1"/>
            <a:r>
              <a:rPr lang="en-US" sz="1400" dirty="0">
                <a:sym typeface="Wingdings" panose="05000000000000000000" pitchFamily="2" charset="2"/>
              </a:rPr>
              <a:t>Typical LH application: from slight decrease &lt;1% up to slight increase &lt;1% of HEV FC</a:t>
            </a:r>
          </a:p>
          <a:p>
            <a:pPr lvl="1"/>
            <a:r>
              <a:rPr lang="en-US" sz="1400" dirty="0">
                <a:sym typeface="Wingdings" panose="05000000000000000000" pitchFamily="2" charset="2"/>
              </a:rPr>
              <a:t>Typical dynamic (urban) application:</a:t>
            </a:r>
          </a:p>
          <a:p>
            <a:pPr lvl="2"/>
            <a:r>
              <a:rPr lang="en-US" sz="1200" dirty="0">
                <a:sym typeface="Wingdings" panose="05000000000000000000" pitchFamily="2" charset="2"/>
              </a:rPr>
              <a:t>More realistic (higher) acceleration behavior and better following of speed trace like ICE-only counterpart</a:t>
            </a:r>
          </a:p>
          <a:p>
            <a:pPr lvl="2"/>
            <a:r>
              <a:rPr lang="en-US" sz="1200" dirty="0">
                <a:sym typeface="Wingdings" panose="05000000000000000000" pitchFamily="2" charset="2"/>
              </a:rPr>
              <a:t>Still some percent decrease of FC of HEV compared to previous version</a:t>
            </a:r>
            <a:br>
              <a:rPr lang="en-US" sz="1200" dirty="0">
                <a:sym typeface="Wingdings" panose="05000000000000000000" pitchFamily="2" charset="2"/>
              </a:rPr>
            </a:br>
            <a:endParaRPr lang="en-US" sz="1200" dirty="0"/>
          </a:p>
          <a:p>
            <a:r>
              <a:rPr lang="en-US" sz="1800"/>
              <a:t>In </a:t>
            </a:r>
            <a:r>
              <a:rPr lang="en-US" sz="1800" dirty="0"/>
              <a:t>actual simulation nothing was changed, the change only affects methods used for cost evaluation</a:t>
            </a:r>
          </a:p>
          <a:p>
            <a:endParaRPr lang="en-US" sz="18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15</a:t>
            </a:fld>
            <a:endParaRPr lang="de-DE"/>
          </a:p>
        </p:txBody>
      </p:sp>
    </p:spTree>
    <p:extLst>
      <p:ext uri="{BB962C8B-B14F-4D97-AF65-F5344CB8AC3E}">
        <p14:creationId xmlns:p14="http://schemas.microsoft.com/office/powerpoint/2010/main" val="2906471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US" sz="2400" spc="-1" dirty="0">
                <a:solidFill>
                  <a:srgbClr val="990000"/>
                </a:solidFill>
                <a:latin typeface="Arial"/>
              </a:rPr>
              <a:t>Updated P-HEV gear shift model (DECL + ENG) </a:t>
            </a:r>
            <a:endParaRPr lang="en-GB" sz="2400" spc="-1" dirty="0">
              <a:solidFill>
                <a:srgbClr val="990000"/>
              </a:solidFill>
              <a:latin typeface="Arial"/>
            </a:endParaRPr>
          </a:p>
        </p:txBody>
      </p:sp>
      <p:sp>
        <p:nvSpPr>
          <p:cNvPr id="3" name="Inhaltsplatzhalter 2"/>
          <p:cNvSpPr>
            <a:spLocks noGrp="1"/>
          </p:cNvSpPr>
          <p:nvPr>
            <p:ph idx="1"/>
          </p:nvPr>
        </p:nvSpPr>
        <p:spPr/>
        <p:txBody>
          <a:bodyPr>
            <a:normAutofit fontScale="92500" lnSpcReduction="10000"/>
          </a:bodyPr>
          <a:lstStyle/>
          <a:p>
            <a:pPr fontAlgn="base"/>
            <a:r>
              <a:rPr lang="en-IE" dirty="0"/>
              <a:t>Class 4 vehicle on RD reference load;</a:t>
            </a:r>
            <a:r>
              <a:rPr lang="en-US" dirty="0"/>
              <a:t>​</a:t>
            </a:r>
          </a:p>
          <a:p>
            <a:pPr fontAlgn="base"/>
            <a:r>
              <a:rPr lang="en-IE" dirty="0"/>
              <a:t>Gearbox with direct gear (3% higher </a:t>
            </a:r>
            <a:r>
              <a:rPr lang="el-GR" dirty="0"/>
              <a:t>η</a:t>
            </a:r>
            <a:r>
              <a:rPr lang="en-IE" dirty="0"/>
              <a:t>) and overdrive;</a:t>
            </a:r>
            <a:br>
              <a:rPr lang="en-IE" dirty="0"/>
            </a:br>
            <a:br>
              <a:rPr lang="en-IE" dirty="0"/>
            </a:br>
            <a:br>
              <a:rPr lang="en-IE" dirty="0"/>
            </a:br>
            <a:br>
              <a:rPr lang="en-IE" dirty="0"/>
            </a:br>
            <a:br>
              <a:rPr lang="en-IE" dirty="0"/>
            </a:br>
            <a:br>
              <a:rPr lang="en-IE" dirty="0"/>
            </a:br>
            <a:br>
              <a:rPr lang="en-IE" dirty="0"/>
            </a:br>
            <a:endParaRPr lang="en-IE" dirty="0"/>
          </a:p>
          <a:p>
            <a:pPr fontAlgn="base"/>
            <a:r>
              <a:rPr lang="en-IE" dirty="0"/>
              <a:t>Much better results after the update compared to the previous implementation;</a:t>
            </a:r>
            <a:r>
              <a:rPr lang="en-US" dirty="0"/>
              <a:t>​</a:t>
            </a:r>
            <a:endParaRPr lang="en-US" sz="18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a:t>
            </a:fld>
            <a:endParaRPr lang="de-DE"/>
          </a:p>
        </p:txBody>
      </p:sp>
      <p:graphicFrame>
        <p:nvGraphicFramePr>
          <p:cNvPr id="5" name="Table 4"/>
          <p:cNvGraphicFramePr>
            <a:graphicFrameLocks noGrp="1"/>
          </p:cNvGraphicFramePr>
          <p:nvPr>
            <p:extLst>
              <p:ext uri="{D42A27DB-BD31-4B8C-83A1-F6EECF244321}">
                <p14:modId xmlns:p14="http://schemas.microsoft.com/office/powerpoint/2010/main" val="1481703761"/>
              </p:ext>
            </p:extLst>
          </p:nvPr>
        </p:nvGraphicFramePr>
        <p:xfrm>
          <a:off x="684558" y="2528760"/>
          <a:ext cx="6463538" cy="1920240"/>
        </p:xfrm>
        <a:graphic>
          <a:graphicData uri="http://schemas.openxmlformats.org/drawingml/2006/table">
            <a:tbl>
              <a:tblPr/>
              <a:tblGrid>
                <a:gridCol w="1015078">
                  <a:extLst>
                    <a:ext uri="{9D8B030D-6E8A-4147-A177-3AD203B41FA5}">
                      <a16:colId xmlns:a16="http://schemas.microsoft.com/office/drawing/2014/main" val="3257838502"/>
                    </a:ext>
                  </a:extLst>
                </a:gridCol>
                <a:gridCol w="1651870">
                  <a:extLst>
                    <a:ext uri="{9D8B030D-6E8A-4147-A177-3AD203B41FA5}">
                      <a16:colId xmlns:a16="http://schemas.microsoft.com/office/drawing/2014/main" val="3012404689"/>
                    </a:ext>
                  </a:extLst>
                </a:gridCol>
                <a:gridCol w="1755648">
                  <a:extLst>
                    <a:ext uri="{9D8B030D-6E8A-4147-A177-3AD203B41FA5}">
                      <a16:colId xmlns:a16="http://schemas.microsoft.com/office/drawing/2014/main" val="1743639116"/>
                    </a:ext>
                  </a:extLst>
                </a:gridCol>
                <a:gridCol w="2040942">
                  <a:extLst>
                    <a:ext uri="{9D8B030D-6E8A-4147-A177-3AD203B41FA5}">
                      <a16:colId xmlns:a16="http://schemas.microsoft.com/office/drawing/2014/main" val="2865279632"/>
                    </a:ext>
                  </a:extLst>
                </a:gridCol>
              </a:tblGrid>
              <a:tr h="241300">
                <a:tc>
                  <a:txBody>
                    <a:bodyPr/>
                    <a:lstStyle/>
                    <a:p>
                      <a:pPr algn="l" fontAlgn="base"/>
                      <a:r>
                        <a:rPr lang="en-IE" sz="1200" b="1" i="0" dirty="0">
                          <a:solidFill>
                            <a:srgbClr val="FFFFFF"/>
                          </a:solidFill>
                          <a:effectLst/>
                          <a:latin typeface="Arial" panose="020B0604020202020204" pitchFamily="34" charset="0"/>
                        </a:rPr>
                        <a:t>Test​</a:t>
                      </a:r>
                      <a:endParaRPr lang="en-IE" sz="1200" b="1" i="0" dirty="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dirty="0">
                          <a:solidFill>
                            <a:srgbClr val="FFFFFF"/>
                          </a:solidFill>
                          <a:effectLst/>
                          <a:latin typeface="Arial" panose="020B0604020202020204" pitchFamily="34" charset="0"/>
                        </a:rPr>
                        <a:t>Consumption [-]​</a:t>
                      </a:r>
                      <a:endParaRPr lang="en-IE" sz="1200" b="1" i="0" dirty="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a:solidFill>
                            <a:srgbClr val="FFFFFF"/>
                          </a:solidFill>
                          <a:effectLst/>
                          <a:latin typeface="Arial" panose="020B0604020202020204" pitchFamily="34" charset="0"/>
                        </a:rPr>
                        <a:t>Direct gear usage [% time]​</a:t>
                      </a:r>
                      <a:endParaRPr lang="en-IE" sz="1200" b="1" i="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a:solidFill>
                            <a:srgbClr val="FFFFFF"/>
                          </a:solidFill>
                          <a:effectLst/>
                          <a:latin typeface="Arial" panose="020B0604020202020204" pitchFamily="34" charset="0"/>
                        </a:rPr>
                        <a:t>Overdrive gear usage [% time]​</a:t>
                      </a:r>
                      <a:endParaRPr lang="en-IE" sz="1200" b="1" i="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extLst>
                  <a:ext uri="{0D108BD9-81ED-4DB2-BD59-A6C34878D82A}">
                    <a16:rowId xmlns:a16="http://schemas.microsoft.com/office/drawing/2014/main" val="4090357267"/>
                  </a:ext>
                </a:extLst>
              </a:tr>
              <a:tr h="241300">
                <a:tc>
                  <a:txBody>
                    <a:bodyPr/>
                    <a:lstStyle/>
                    <a:p>
                      <a:pPr algn="l" fontAlgn="base"/>
                      <a:r>
                        <a:rPr lang="en-IE" sz="1200" b="0" i="0" dirty="0">
                          <a:solidFill>
                            <a:srgbClr val="4D4D4D"/>
                          </a:solidFill>
                          <a:effectLst/>
                          <a:latin typeface="Arial" panose="020B0604020202020204" pitchFamily="34" charset="0"/>
                        </a:rPr>
                        <a:t>ICE ​</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l-GR" sz="1200" b="0" i="0" dirty="0">
                          <a:solidFill>
                            <a:srgbClr val="4D4D4D"/>
                          </a:solidFill>
                          <a:effectLst/>
                          <a:latin typeface="Arial" panose="020B0604020202020204" pitchFamily="34" charset="0"/>
                        </a:rPr>
                        <a:t>1​</a:t>
                      </a:r>
                      <a:endParaRPr lang="el-GR"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42%​</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26%​</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5070144"/>
                  </a:ext>
                </a:extLst>
              </a:tr>
              <a:tr h="241300">
                <a:tc>
                  <a:txBody>
                    <a:bodyPr/>
                    <a:lstStyle/>
                    <a:p>
                      <a:pPr algn="l" fontAlgn="base"/>
                      <a:r>
                        <a:rPr lang="en-IE" sz="1200" b="0" i="0" dirty="0">
                          <a:solidFill>
                            <a:srgbClr val="4D4D4D"/>
                          </a:solidFill>
                          <a:effectLst/>
                          <a:latin typeface="Arial" panose="020B0604020202020204" pitchFamily="34" charset="0"/>
                        </a:rPr>
                        <a:t>Direct + overdrive​</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0.965​</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7%​</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68%​</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2145507768"/>
                  </a:ext>
                </a:extLst>
              </a:tr>
              <a:tr h="241300">
                <a:tc>
                  <a:txBody>
                    <a:bodyPr/>
                    <a:lstStyle/>
                    <a:p>
                      <a:pPr algn="l" fontAlgn="base"/>
                      <a:r>
                        <a:rPr lang="en-IE" sz="1200" b="0" i="0" dirty="0">
                          <a:solidFill>
                            <a:srgbClr val="4D4D4D"/>
                          </a:solidFill>
                          <a:effectLst/>
                          <a:latin typeface="Arial" panose="020B0604020202020204" pitchFamily="34" charset="0"/>
                        </a:rPr>
                        <a:t>Direct only​</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0.895​</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78%​</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3046950323"/>
                  </a:ext>
                </a:extLst>
              </a:tr>
              <a:tr h="241300">
                <a:tc>
                  <a:txBody>
                    <a:bodyPr/>
                    <a:lstStyle/>
                    <a:p>
                      <a:pPr algn="l" fontAlgn="base"/>
                      <a:r>
                        <a:rPr lang="en-IE" sz="1200" b="0" i="0">
                          <a:solidFill>
                            <a:srgbClr val="4D4D4D"/>
                          </a:solidFill>
                          <a:effectLst/>
                          <a:latin typeface="Arial" panose="020B0604020202020204" pitchFamily="34" charset="0"/>
                        </a:rPr>
                        <a:t>Direct + overdrive​</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0.870​</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57%​</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12%​</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extLst>
                  <a:ext uri="{0D108BD9-81ED-4DB2-BD59-A6C34878D82A}">
                    <a16:rowId xmlns:a16="http://schemas.microsoft.com/office/drawing/2014/main" val="3539567919"/>
                  </a:ext>
                </a:extLst>
              </a:tr>
            </a:tbl>
          </a:graphicData>
        </a:graphic>
      </p:graphicFrame>
      <p:sp>
        <p:nvSpPr>
          <p:cNvPr id="6" name="Rectangle 1"/>
          <p:cNvSpPr>
            <a:spLocks noChangeArrowheads="1"/>
          </p:cNvSpPr>
          <p:nvPr/>
        </p:nvSpPr>
        <p:spPr bwMode="auto">
          <a:xfrm>
            <a:off x="622300" y="2366061"/>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solidFill>
                  <a:srgbClr val="000000"/>
                </a:solidFill>
                <a:latin typeface="Times New Roman" panose="02020603050405020304" pitchFamily="18" charset="0"/>
                <a:cs typeface="Times New Roman" panose="02020603050405020304" pitchFamily="18" charset="0"/>
              </a:rPr>
              <a:t> </a:t>
            </a:r>
            <a:endParaRPr lang="en-US" altLang="en-US" dirty="0"/>
          </a:p>
          <a:p>
            <a:endParaRPr lang="en-US" altLang="en-US" dirty="0"/>
          </a:p>
        </p:txBody>
      </p:sp>
    </p:spTree>
    <p:extLst>
      <p:ext uri="{BB962C8B-B14F-4D97-AF65-F5344CB8AC3E}">
        <p14:creationId xmlns:p14="http://schemas.microsoft.com/office/powerpoint/2010/main" val="29044197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IE" sz="2400" spc="-1" dirty="0">
                <a:solidFill>
                  <a:srgbClr val="990000"/>
                </a:solidFill>
                <a:latin typeface="Arial"/>
              </a:rPr>
              <a:t>Updated time-based with gear mode for AT (ENG only)​</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pPr fontAlgn="base"/>
            <a:r>
              <a:rPr lang="en-IE" dirty="0"/>
              <a:t>Several manufacturers reported that the TC can be briefly active in higher gears – mainly during gearshifts;​</a:t>
            </a:r>
          </a:p>
          <a:p>
            <a:pPr fontAlgn="base"/>
            <a:r>
              <a:rPr lang="en-IE" dirty="0"/>
              <a:t>Allow input of "TC active" signal in </a:t>
            </a:r>
            <a:r>
              <a:rPr lang="en-IE" dirty="0" err="1"/>
              <a:t>vdri</a:t>
            </a:r>
            <a:r>
              <a:rPr lang="en-IE" dirty="0"/>
              <a:t> in this mode;​</a:t>
            </a:r>
          </a:p>
          <a:p>
            <a:pPr fontAlgn="base"/>
            <a:r>
              <a:rPr lang="en-IE" dirty="0"/>
              <a:t>Changes apply only in engineering mode. </a:t>
            </a:r>
            <a:r>
              <a:rPr lang="en-IE"/>
              <a:t>Included in the upcoming DEV release;​</a:t>
            </a:r>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17</a:t>
            </a:fld>
            <a:endParaRPr lang="de-DE"/>
          </a:p>
        </p:txBody>
      </p:sp>
      <p:sp>
        <p:nvSpPr>
          <p:cNvPr id="6" name="Rectangle 1"/>
          <p:cNvSpPr>
            <a:spLocks noChangeArrowheads="1"/>
          </p:cNvSpPr>
          <p:nvPr/>
        </p:nvSpPr>
        <p:spPr bwMode="auto">
          <a:xfrm>
            <a:off x="622300" y="2366061"/>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solidFill>
                  <a:srgbClr val="000000"/>
                </a:solidFill>
                <a:latin typeface="Times New Roman" panose="02020603050405020304" pitchFamily="18" charset="0"/>
                <a:cs typeface="Times New Roman" panose="02020603050405020304" pitchFamily="18" charset="0"/>
              </a:rPr>
              <a:t> </a:t>
            </a:r>
            <a:endParaRPr lang="en-US" altLang="en-US" dirty="0"/>
          </a:p>
          <a:p>
            <a:endParaRPr lang="en-US" altLang="en-US" dirty="0"/>
          </a:p>
        </p:txBody>
      </p:sp>
    </p:spTree>
    <p:extLst>
      <p:ext uri="{BB962C8B-B14F-4D97-AF65-F5344CB8AC3E}">
        <p14:creationId xmlns:p14="http://schemas.microsoft.com/office/powerpoint/2010/main" val="42695162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usable SOC range</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Actual SOC range used for simulation is determined according to 3 elements:</a:t>
            </a:r>
          </a:p>
          <a:p>
            <a:pPr lvl="1"/>
            <a:r>
              <a:rPr lang="en-US" sz="1600" dirty="0"/>
              <a:t>Generic SOC range for new vehicle</a:t>
            </a:r>
          </a:p>
          <a:p>
            <a:pPr lvl="2"/>
            <a:r>
              <a:rPr lang="en-US" sz="1400" dirty="0"/>
              <a:t>Defined separately for PEV, OVC-HEV, Non-OVC-HEV (NOVC-HEV)</a:t>
            </a:r>
          </a:p>
          <a:p>
            <a:pPr lvl="1"/>
            <a:r>
              <a:rPr lang="en-US" sz="1600" dirty="0"/>
              <a:t>Declared SOC range for new vehicle acc. to Annex III (</a:t>
            </a:r>
            <a:r>
              <a:rPr lang="en-US" sz="1600" i="1" dirty="0"/>
              <a:t>P413 + P414</a:t>
            </a:r>
            <a:r>
              <a:rPr lang="en-US" sz="1600" dirty="0"/>
              <a:t>)</a:t>
            </a:r>
          </a:p>
          <a:p>
            <a:pPr lvl="1"/>
            <a:r>
              <a:rPr lang="en-US" sz="1600" dirty="0"/>
              <a:t>Deterioration factor applied for half of lifetime</a:t>
            </a:r>
          </a:p>
          <a:p>
            <a:pPr lvl="2"/>
            <a:r>
              <a:rPr lang="en-US" sz="1400" dirty="0"/>
              <a:t>Preliminary assumption: 5% decrease of usable SOC range</a:t>
            </a:r>
            <a:br>
              <a:rPr lang="en-US" sz="1400" dirty="0"/>
            </a:br>
            <a:r>
              <a:rPr lang="en-US" sz="1400" dirty="0"/>
              <a:t>(i.e. 0.95 x SOC-range of new vehicle)</a:t>
            </a:r>
          </a:p>
          <a:p>
            <a:pPr lvl="1"/>
            <a:r>
              <a:rPr lang="en-US" sz="1600" dirty="0"/>
              <a:t>Preliminary figures in table below:</a:t>
            </a:r>
            <a:br>
              <a:rPr lang="en-US" sz="1600" dirty="0"/>
            </a:br>
            <a:br>
              <a:rPr lang="en-US" sz="1600" dirty="0"/>
            </a:br>
            <a:br>
              <a:rPr lang="en-US" sz="1800" dirty="0"/>
            </a:br>
            <a:br>
              <a:rPr lang="en-US" sz="1800" dirty="0"/>
            </a:br>
            <a:endParaRPr lang="en-US" sz="1800" dirty="0"/>
          </a:p>
          <a:p>
            <a:r>
              <a:rPr lang="en-US" sz="1800" dirty="0"/>
              <a:t>Further discussions regarding final values ongoing</a:t>
            </a:r>
            <a:br>
              <a:rPr lang="en-US" sz="1800" dirty="0"/>
            </a:br>
            <a:r>
              <a:rPr lang="en-US" sz="1800" dirty="0">
                <a:sym typeface="Wingdings" panose="05000000000000000000" pitchFamily="2" charset="2"/>
              </a:rPr>
              <a:t> see separate agenda point</a:t>
            </a:r>
            <a:endParaRPr lang="en-GB" sz="1400" dirty="0">
              <a:solidFill>
                <a:srgbClr val="FF0000"/>
              </a:solidFill>
            </a:endParaRPr>
          </a:p>
        </p:txBody>
      </p:sp>
      <p:sp>
        <p:nvSpPr>
          <p:cNvPr id="4" name="Foliennummernplatzhalter 3"/>
          <p:cNvSpPr>
            <a:spLocks noGrp="1"/>
          </p:cNvSpPr>
          <p:nvPr>
            <p:ph type="sldNum" sz="quarter" idx="12"/>
          </p:nvPr>
        </p:nvSpPr>
        <p:spPr/>
        <p:txBody>
          <a:bodyPr/>
          <a:lstStyle/>
          <a:p>
            <a:fld id="{4B64EC4D-37E3-EF42-B9AB-6337577588CB}" type="slidenum">
              <a:rPr lang="de-DE" smtClean="0"/>
              <a:t>18</a:t>
            </a:fld>
            <a:endParaRPr lang="de-DE"/>
          </a:p>
        </p:txBody>
      </p:sp>
      <p:pic>
        <p:nvPicPr>
          <p:cNvPr id="6" name="Grafik 5"/>
          <p:cNvPicPr>
            <a:picLocks noChangeAspect="1"/>
          </p:cNvPicPr>
          <p:nvPr/>
        </p:nvPicPr>
        <p:blipFill>
          <a:blip r:embed="rId2"/>
          <a:stretch>
            <a:fillRect/>
          </a:stretch>
        </p:blipFill>
        <p:spPr>
          <a:xfrm>
            <a:off x="71820" y="3786899"/>
            <a:ext cx="9000000" cy="830557"/>
          </a:xfrm>
          <a:prstGeom prst="rect">
            <a:avLst/>
          </a:prstGeom>
        </p:spPr>
      </p:pic>
    </p:spTree>
    <p:extLst>
      <p:ext uri="{BB962C8B-B14F-4D97-AF65-F5344CB8AC3E}">
        <p14:creationId xmlns:p14="http://schemas.microsoft.com/office/powerpoint/2010/main" val="2067660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fr-FR" sz="2400" spc="-1" dirty="0" err="1">
                <a:solidFill>
                  <a:srgbClr val="990000"/>
                </a:solidFill>
                <a:latin typeface="Arial"/>
              </a:rPr>
              <a:t>Separate</a:t>
            </a:r>
            <a:r>
              <a:rPr lang="fr-FR" sz="2400" spc="-1" dirty="0">
                <a:solidFill>
                  <a:srgbClr val="990000"/>
                </a:solidFill>
                <a:latin typeface="Arial"/>
              </a:rPr>
              <a:t> </a:t>
            </a:r>
            <a:r>
              <a:rPr lang="fr-FR" sz="2400" spc="-1" dirty="0" err="1">
                <a:solidFill>
                  <a:srgbClr val="990000"/>
                </a:solidFill>
                <a:latin typeface="Arial"/>
              </a:rPr>
              <a:t>approach</a:t>
            </a:r>
            <a:r>
              <a:rPr lang="fr-FR" sz="2400" spc="-1" dirty="0">
                <a:solidFill>
                  <a:srgbClr val="990000"/>
                </a:solidFill>
                <a:latin typeface="Arial"/>
              </a:rPr>
              <a:t> „CD mode“ simulation</a:t>
            </a:r>
          </a:p>
        </p:txBody>
      </p:sp>
      <p:sp>
        <p:nvSpPr>
          <p:cNvPr id="3" name="Inhaltsplatzhalter 2"/>
          <p:cNvSpPr>
            <a:spLocks noGrp="1"/>
          </p:cNvSpPr>
          <p:nvPr>
            <p:ph idx="1"/>
          </p:nvPr>
        </p:nvSpPr>
        <p:spPr/>
        <p:txBody>
          <a:bodyPr/>
          <a:lstStyle/>
          <a:p>
            <a:r>
              <a:rPr lang="en-US" sz="1800" dirty="0"/>
              <a:t>„Frozen“ SOC (infinity battery) at „</a:t>
            </a:r>
            <a:r>
              <a:rPr lang="en-US" sz="1800" dirty="0" err="1"/>
              <a:t>SOC</a:t>
            </a:r>
            <a:r>
              <a:rPr lang="en-US" sz="1800" baseline="-25000" dirty="0" err="1"/>
              <a:t>center</a:t>
            </a:r>
            <a:r>
              <a:rPr lang="en-US" sz="1800" dirty="0"/>
              <a:t>“ applied</a:t>
            </a:r>
            <a:br>
              <a:rPr lang="en-US" sz="1800" dirty="0"/>
            </a:br>
            <a:r>
              <a:rPr lang="en-US" sz="1800" dirty="0"/>
              <a:t>(i.e. average of actual </a:t>
            </a:r>
            <a:r>
              <a:rPr lang="en-US" sz="1800" dirty="0" err="1"/>
              <a:t>SOC</a:t>
            </a:r>
            <a:r>
              <a:rPr lang="en-US" sz="1800" baseline="-25000" dirty="0" err="1"/>
              <a:t>max</a:t>
            </a:r>
            <a:r>
              <a:rPr lang="en-US" sz="1800" dirty="0"/>
              <a:t> and </a:t>
            </a:r>
            <a:r>
              <a:rPr lang="en-US" sz="1800" dirty="0" err="1"/>
              <a:t>SOC</a:t>
            </a:r>
            <a:r>
              <a:rPr lang="en-US" sz="1800" baseline="-25000" dirty="0" err="1"/>
              <a:t>min</a:t>
            </a:r>
            <a:r>
              <a:rPr lang="en-US" sz="1800" dirty="0"/>
              <a:t>)</a:t>
            </a:r>
            <a:br>
              <a:rPr lang="en-US" sz="1800" dirty="0"/>
            </a:br>
            <a:r>
              <a:rPr lang="en-US" sz="1800" i="1" dirty="0">
                <a:sym typeface="Wingdings" panose="05000000000000000000" pitchFamily="2" charset="2"/>
              </a:rPr>
              <a:t> see previous slide</a:t>
            </a:r>
            <a:br>
              <a:rPr lang="en-US" sz="1800" dirty="0"/>
            </a:br>
            <a:endParaRPr lang="en-US" sz="800" dirty="0"/>
          </a:p>
          <a:p>
            <a:r>
              <a:rPr lang="en-US" sz="1800" dirty="0"/>
              <a:t>GUI feature to set frozen SOC to other</a:t>
            </a:r>
            <a:br>
              <a:rPr lang="en-US" sz="1800" dirty="0"/>
            </a:br>
            <a:r>
              <a:rPr lang="en-US" sz="1800" dirty="0"/>
              <a:t>values than „center SOC“ (</a:t>
            </a:r>
            <a:r>
              <a:rPr lang="en-US" sz="1800" i="1" dirty="0"/>
              <a:t>see figure</a:t>
            </a:r>
            <a:r>
              <a:rPr lang="en-US" sz="1800" dirty="0"/>
              <a:t>)</a:t>
            </a:r>
          </a:p>
          <a:p>
            <a:pPr lvl="1"/>
            <a:r>
              <a:rPr lang="en-US" sz="1400" dirty="0"/>
              <a:t>Value needs to be between actual </a:t>
            </a:r>
            <a:r>
              <a:rPr lang="en-US" sz="1400" dirty="0" err="1"/>
              <a:t>SOC</a:t>
            </a:r>
            <a:r>
              <a:rPr lang="en-US" sz="1400" baseline="-25000" dirty="0" err="1"/>
              <a:t>max</a:t>
            </a:r>
            <a:r>
              <a:rPr lang="en-US" sz="1400" dirty="0"/>
              <a:t> and </a:t>
            </a:r>
            <a:r>
              <a:rPr lang="en-US" sz="1400" dirty="0" err="1"/>
              <a:t>SOC</a:t>
            </a:r>
            <a:r>
              <a:rPr lang="en-US" sz="1400" baseline="-25000" dirty="0" err="1"/>
              <a:t>min</a:t>
            </a:r>
            <a:br>
              <a:rPr lang="en-US" sz="1400" baseline="-25000" dirty="0"/>
            </a:br>
            <a:r>
              <a:rPr lang="en-US" sz="1400" dirty="0"/>
              <a:t>for each individual battery installed</a:t>
            </a:r>
            <a:br>
              <a:rPr lang="en-US" sz="1400" dirty="0"/>
            </a:br>
            <a:endParaRPr lang="en-US" sz="800" dirty="0"/>
          </a:p>
          <a:p>
            <a:r>
              <a:rPr lang="en-US" sz="1800" dirty="0"/>
              <a:t>Influence factors on result:</a:t>
            </a:r>
          </a:p>
          <a:p>
            <a:pPr lvl="1"/>
            <a:r>
              <a:rPr lang="en-US" sz="1400" dirty="0"/>
              <a:t>Limitation of maximum battery power = f(SOC)</a:t>
            </a:r>
          </a:p>
          <a:p>
            <a:pPr lvl="1"/>
            <a:r>
              <a:rPr lang="en-US" sz="1400" dirty="0"/>
              <a:t>Internal resistance = f(SOC) (i.e. battery losses)</a:t>
            </a:r>
            <a:br>
              <a:rPr lang="en-US" sz="1400" dirty="0"/>
            </a:br>
            <a:endParaRPr lang="en-US" sz="1400" dirty="0"/>
          </a:p>
          <a:p>
            <a:r>
              <a:rPr lang="en-US" sz="1800" dirty="0"/>
              <a:t>Discussions ongoing which SOC level(s) shall be considered for final method</a:t>
            </a:r>
            <a:br>
              <a:rPr lang="en-US" sz="1800" dirty="0"/>
            </a:br>
            <a:r>
              <a:rPr lang="en-US" sz="1800" dirty="0">
                <a:sym typeface="Wingdings" panose="05000000000000000000" pitchFamily="2" charset="2"/>
              </a:rPr>
              <a:t> see separate agenda point</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19</a:t>
            </a:fld>
            <a:endParaRPr lang="de-DE"/>
          </a:p>
        </p:txBody>
      </p:sp>
      <p:grpSp>
        <p:nvGrpSpPr>
          <p:cNvPr id="11" name="Gruppieren 10"/>
          <p:cNvGrpSpPr/>
          <p:nvPr/>
        </p:nvGrpSpPr>
        <p:grpSpPr>
          <a:xfrm>
            <a:off x="6030098" y="2424132"/>
            <a:ext cx="2841799" cy="2201002"/>
            <a:chOff x="5591432" y="2230402"/>
            <a:chExt cx="2841799" cy="2201002"/>
          </a:xfrm>
        </p:grpSpPr>
        <p:pic>
          <p:nvPicPr>
            <p:cNvPr id="7" name="Grafik 6"/>
            <p:cNvPicPr>
              <a:picLocks noChangeAspect="1"/>
            </p:cNvPicPr>
            <p:nvPr/>
          </p:nvPicPr>
          <p:blipFill>
            <a:blip r:embed="rId2"/>
            <a:stretch>
              <a:fillRect/>
            </a:stretch>
          </p:blipFill>
          <p:spPr>
            <a:xfrm>
              <a:off x="5591432" y="2230402"/>
              <a:ext cx="2841799" cy="2201002"/>
            </a:xfrm>
            <a:prstGeom prst="rect">
              <a:avLst/>
            </a:prstGeom>
          </p:spPr>
        </p:pic>
        <p:sp>
          <p:nvSpPr>
            <p:cNvPr id="8" name="Ellipse 7"/>
            <p:cNvSpPr/>
            <p:nvPr/>
          </p:nvSpPr>
          <p:spPr>
            <a:xfrm>
              <a:off x="6000069" y="2485103"/>
              <a:ext cx="551333" cy="178207"/>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9" name="Ellipse 8"/>
            <p:cNvSpPr/>
            <p:nvPr/>
          </p:nvSpPr>
          <p:spPr>
            <a:xfrm>
              <a:off x="6513822" y="3797122"/>
              <a:ext cx="1889702" cy="18897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0" name="Ellipse 9"/>
            <p:cNvSpPr/>
            <p:nvPr/>
          </p:nvSpPr>
          <p:spPr>
            <a:xfrm>
              <a:off x="7798907" y="4043837"/>
              <a:ext cx="551333" cy="23778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grpSp>
    </p:spTree>
    <p:extLst>
      <p:ext uri="{BB962C8B-B14F-4D97-AF65-F5344CB8AC3E}">
        <p14:creationId xmlns:p14="http://schemas.microsoft.com/office/powerpoint/2010/main" val="27520785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PEV:</a:t>
            </a:r>
          </a:p>
          <a:p>
            <a:pPr lvl="1"/>
            <a:r>
              <a:rPr lang="de-AT" sz="1600" dirty="0" err="1"/>
              <a:t>Only</a:t>
            </a:r>
            <a:r>
              <a:rPr lang="de-AT" sz="1600" dirty="0"/>
              <a:t> </a:t>
            </a:r>
            <a:r>
              <a:rPr lang="de-AT" sz="1600" dirty="0" err="1"/>
              <a:t>re-charging</a:t>
            </a:r>
            <a:r>
              <a:rPr lang="de-AT" sz="1600" dirty="0"/>
              <a:t> in </a:t>
            </a:r>
            <a:r>
              <a:rPr lang="de-AT" sz="1600" dirty="0" err="1"/>
              <a:t>depot</a:t>
            </a:r>
            <a:r>
              <a:rPr lang="de-AT" sz="1600" dirty="0"/>
              <a:t> relevant </a:t>
            </a:r>
            <a:r>
              <a:rPr lang="de-AT" sz="1600" dirty="0" err="1"/>
              <a:t>for</a:t>
            </a:r>
            <a:r>
              <a:rPr lang="de-AT" sz="1600" dirty="0"/>
              <a:t> </a:t>
            </a:r>
            <a:r>
              <a:rPr lang="de-AT" sz="1600" dirty="0" err="1"/>
              <a:t>charging</a:t>
            </a:r>
            <a:r>
              <a:rPr lang="de-AT" sz="1600" dirty="0"/>
              <a:t> </a:t>
            </a:r>
            <a:r>
              <a:rPr lang="de-AT" sz="1600" dirty="0" err="1"/>
              <a:t>losses</a:t>
            </a:r>
            <a:br>
              <a:rPr lang="de-AT" sz="1600" dirty="0"/>
            </a:br>
            <a:r>
              <a:rPr lang="de-AT" sz="1600" dirty="0"/>
              <a:t>(</a:t>
            </a:r>
            <a:r>
              <a:rPr lang="de-AT" sz="1600" dirty="0" err="1"/>
              <a:t>since</a:t>
            </a:r>
            <a:r>
              <a:rPr lang="de-AT" sz="1600" dirty="0"/>
              <a:t> </a:t>
            </a:r>
            <a:r>
              <a:rPr lang="de-AT" sz="1600" dirty="0" err="1"/>
              <a:t>no</a:t>
            </a:r>
            <a:r>
              <a:rPr lang="de-AT" sz="1600" dirty="0"/>
              <a:t> </a:t>
            </a:r>
            <a:r>
              <a:rPr lang="de-AT" sz="1600" dirty="0" err="1"/>
              <a:t>detailled</a:t>
            </a:r>
            <a:r>
              <a:rPr lang="de-AT" sz="1600" dirty="0"/>
              <a:t> </a:t>
            </a:r>
            <a:r>
              <a:rPr lang="de-AT" sz="1600" dirty="0" err="1"/>
              <a:t>information</a:t>
            </a:r>
            <a:r>
              <a:rPr lang="de-AT" sz="1600" dirty="0"/>
              <a:t> in </a:t>
            </a:r>
            <a:r>
              <a:rPr lang="de-AT" sz="1600" dirty="0" err="1"/>
              <a:t>charging</a:t>
            </a:r>
            <a:r>
              <a:rPr lang="de-AT" sz="1600" dirty="0"/>
              <a:t> </a:t>
            </a:r>
            <a:r>
              <a:rPr lang="de-AT" sz="1600" dirty="0" err="1"/>
              <a:t>behaviour</a:t>
            </a:r>
            <a:r>
              <a:rPr lang="de-AT" sz="1600" dirty="0"/>
              <a:t> </a:t>
            </a:r>
            <a:r>
              <a:rPr lang="de-AT" sz="1600" dirty="0" err="1"/>
              <a:t>is</a:t>
            </a:r>
            <a:r>
              <a:rPr lang="de-AT" sz="1600" dirty="0"/>
              <a:t> </a:t>
            </a:r>
            <a:r>
              <a:rPr lang="de-AT" sz="1600" dirty="0" err="1"/>
              <a:t>available</a:t>
            </a:r>
            <a:r>
              <a:rPr lang="de-AT" sz="1600" dirty="0"/>
              <a:t>)</a:t>
            </a:r>
            <a:br>
              <a:rPr lang="de-AT" sz="1600" dirty="0"/>
            </a:br>
            <a:endParaRPr lang="de-AT" sz="1600" dirty="0"/>
          </a:p>
          <a:p>
            <a:pPr lvl="1"/>
            <a:r>
              <a:rPr lang="de-AT" sz="1600" dirty="0"/>
              <a:t>Power </a:t>
            </a:r>
            <a:r>
              <a:rPr lang="de-AT" sz="1600" dirty="0" err="1"/>
              <a:t>level</a:t>
            </a:r>
            <a:r>
              <a:rPr lang="de-AT" sz="1600" dirty="0"/>
              <a:t> </a:t>
            </a:r>
            <a:r>
              <a:rPr lang="de-AT" sz="1600" dirty="0" err="1"/>
              <a:t>for</a:t>
            </a:r>
            <a:r>
              <a:rPr lang="de-AT" sz="1600" dirty="0"/>
              <a:t> </a:t>
            </a:r>
            <a:r>
              <a:rPr lang="de-AT" sz="1600" dirty="0" err="1"/>
              <a:t>determining</a:t>
            </a:r>
            <a:r>
              <a:rPr lang="de-AT" sz="1600" dirty="0"/>
              <a:t> </a:t>
            </a:r>
            <a:r>
              <a:rPr lang="de-AT" sz="1600" dirty="0" err="1"/>
              <a:t>charging</a:t>
            </a:r>
            <a:r>
              <a:rPr lang="de-AT" sz="1600" dirty="0"/>
              <a:t> </a:t>
            </a:r>
            <a:r>
              <a:rPr lang="de-AT" sz="1600" dirty="0" err="1"/>
              <a:t>losses</a:t>
            </a:r>
            <a:r>
              <a:rPr lang="de-AT" sz="1600" dirty="0"/>
              <a:t> in </a:t>
            </a:r>
            <a:r>
              <a:rPr lang="de-AT" sz="1600" dirty="0" err="1"/>
              <a:t>battery</a:t>
            </a:r>
            <a:r>
              <a:rPr lang="de-AT" sz="1600" dirty="0"/>
              <a:t> </a:t>
            </a:r>
            <a:r>
              <a:rPr lang="de-AT" sz="1600" dirty="0" err="1"/>
              <a:t>defined</a:t>
            </a:r>
            <a:r>
              <a:rPr lang="de-AT" sz="1600" dirty="0"/>
              <a:t> </a:t>
            </a:r>
            <a:r>
              <a:rPr lang="de-AT" sz="1600" dirty="0" err="1"/>
              <a:t>by</a:t>
            </a:r>
            <a:r>
              <a:rPr lang="de-AT" sz="1600" dirty="0"/>
              <a:t> </a:t>
            </a:r>
            <a:r>
              <a:rPr lang="de-AT" sz="1600" dirty="0" err="1"/>
              <a:t>following</a:t>
            </a:r>
            <a:r>
              <a:rPr lang="de-AT" sz="1600" dirty="0"/>
              <a:t> </a:t>
            </a:r>
            <a:r>
              <a:rPr lang="de-AT" sz="1600" dirty="0" err="1"/>
              <a:t>equation</a:t>
            </a:r>
            <a:r>
              <a:rPr lang="de-AT" sz="1600" dirty="0"/>
              <a:t>: </a:t>
            </a:r>
            <a:br>
              <a:rPr lang="de-AT" sz="1600" dirty="0"/>
            </a:br>
            <a:r>
              <a:rPr lang="de-AT" sz="1600" dirty="0"/>
              <a:t>nominal </a:t>
            </a:r>
            <a:r>
              <a:rPr lang="de-AT" sz="1600" dirty="0" err="1"/>
              <a:t>charging</a:t>
            </a:r>
            <a:r>
              <a:rPr lang="de-AT" sz="1600" dirty="0"/>
              <a:t> power in kW = </a:t>
            </a:r>
            <a:r>
              <a:rPr lang="de-AT" sz="1600" b="1" i="1" dirty="0"/>
              <a:t>m</a:t>
            </a:r>
            <a:r>
              <a:rPr lang="en-US" sz="1600" b="1" i="1" dirty="0"/>
              <a:t>ax(10, (usable SOC in kWh) / 6h)</a:t>
            </a:r>
          </a:p>
          <a:p>
            <a:pPr lvl="2"/>
            <a:r>
              <a:rPr lang="en-US" sz="1400" dirty="0"/>
              <a:t>Usable SOC is determined by integration of OCV-data from actual </a:t>
            </a:r>
            <a:r>
              <a:rPr lang="en-US" sz="1400" dirty="0" err="1"/>
              <a:t>SOC</a:t>
            </a:r>
            <a:r>
              <a:rPr lang="en-US" sz="1400" baseline="-25000" dirty="0" err="1"/>
              <a:t>min</a:t>
            </a:r>
            <a:r>
              <a:rPr lang="en-US" sz="1400" dirty="0"/>
              <a:t> to </a:t>
            </a:r>
            <a:r>
              <a:rPr lang="en-US" sz="1400" dirty="0" err="1"/>
              <a:t>SOC</a:t>
            </a:r>
            <a:r>
              <a:rPr lang="en-US" sz="1400" baseline="-25000" dirty="0" err="1"/>
              <a:t>max</a:t>
            </a:r>
            <a:br>
              <a:rPr lang="en-US" sz="1400" baseline="-25000"/>
            </a:br>
            <a:endParaRPr lang="en-US" sz="1400" baseline="-25000" dirty="0"/>
          </a:p>
          <a:p>
            <a:pPr lvl="1"/>
            <a:r>
              <a:rPr lang="en-US" sz="1600" dirty="0"/>
              <a:t>Charging efficiency is determined as follows:</a:t>
            </a:r>
          </a:p>
          <a:p>
            <a:pPr lvl="2"/>
            <a:r>
              <a:rPr lang="en-US" sz="1400" dirty="0"/>
              <a:t>Nominal charging current:</a:t>
            </a:r>
            <a:br>
              <a:rPr lang="en-US" sz="1400" dirty="0"/>
            </a:br>
            <a:r>
              <a:rPr lang="en-US" sz="1400" dirty="0"/>
              <a:t>Charging power above is divided by OCV at </a:t>
            </a:r>
            <a:r>
              <a:rPr lang="en-US" sz="1400" dirty="0" err="1"/>
              <a:t>SOC</a:t>
            </a:r>
            <a:r>
              <a:rPr lang="en-US" sz="1400" baseline="-25000" dirty="0" err="1"/>
              <a:t>center</a:t>
            </a:r>
            <a:r>
              <a:rPr lang="en-US" sz="1400" dirty="0"/>
              <a:t> </a:t>
            </a:r>
            <a:r>
              <a:rPr lang="en-US" sz="1100" dirty="0"/>
              <a:t>(i.e. average of actual </a:t>
            </a:r>
            <a:r>
              <a:rPr lang="en-US" sz="1100" dirty="0" err="1"/>
              <a:t>SOC</a:t>
            </a:r>
            <a:r>
              <a:rPr lang="en-US" sz="1100" baseline="-25000" dirty="0" err="1"/>
              <a:t>max</a:t>
            </a:r>
            <a:r>
              <a:rPr lang="en-US" sz="1100" dirty="0"/>
              <a:t> and </a:t>
            </a:r>
            <a:r>
              <a:rPr lang="en-US" sz="1100" dirty="0" err="1"/>
              <a:t>SOC</a:t>
            </a:r>
            <a:r>
              <a:rPr lang="en-US" sz="1100" baseline="-25000" dirty="0" err="1"/>
              <a:t>min</a:t>
            </a:r>
            <a:r>
              <a:rPr lang="en-US" sz="1100" dirty="0"/>
              <a:t>)</a:t>
            </a:r>
            <a:endParaRPr lang="en-US" sz="1400" baseline="-25000" dirty="0"/>
          </a:p>
          <a:p>
            <a:pPr lvl="2"/>
            <a:r>
              <a:rPr lang="en-US" sz="1400" dirty="0"/>
              <a:t>Charging losses: nominal charging current and internal resistance at </a:t>
            </a:r>
            <a:r>
              <a:rPr lang="en-US" sz="1400" dirty="0" err="1"/>
              <a:t>SOC</a:t>
            </a:r>
            <a:r>
              <a:rPr lang="en-US" sz="1400" baseline="-25000" dirty="0" err="1"/>
              <a:t>center</a:t>
            </a:r>
            <a:r>
              <a:rPr lang="en-US" sz="1400" dirty="0"/>
              <a:t> </a:t>
            </a:r>
          </a:p>
          <a:p>
            <a:pPr lvl="2"/>
            <a:r>
              <a:rPr lang="de-AT" sz="1400"/>
              <a:t>Charging efficiency: 1 – (charging losses / charging power)</a:t>
            </a:r>
            <a:endParaRPr lang="de-AT"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20</a:t>
            </a:fld>
            <a:endParaRPr lang="de-DE"/>
          </a:p>
        </p:txBody>
      </p:sp>
    </p:spTree>
    <p:extLst>
      <p:ext uri="{BB962C8B-B14F-4D97-AF65-F5344CB8AC3E}">
        <p14:creationId xmlns:p14="http://schemas.microsoft.com/office/powerpoint/2010/main" val="25149338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OVC-HEV :</a:t>
            </a:r>
          </a:p>
          <a:p>
            <a:pPr lvl="1"/>
            <a:r>
              <a:rPr lang="de-AT" sz="1600" dirty="0" err="1"/>
              <a:t>Charging</a:t>
            </a:r>
            <a:r>
              <a:rPr lang="de-AT" sz="1600" dirty="0"/>
              <a:t> in </a:t>
            </a:r>
            <a:r>
              <a:rPr lang="de-AT" sz="1600" b="1" u="sng" dirty="0" err="1"/>
              <a:t>depot</a:t>
            </a:r>
            <a:r>
              <a:rPr lang="de-AT" sz="1600" dirty="0"/>
              <a:t> </a:t>
            </a:r>
            <a:r>
              <a:rPr lang="de-AT" sz="1600" dirty="0" err="1"/>
              <a:t>as</a:t>
            </a:r>
            <a:r>
              <a:rPr lang="de-AT" sz="1600" dirty="0"/>
              <a:t> </a:t>
            </a:r>
            <a:r>
              <a:rPr lang="de-AT" sz="1600" dirty="0" err="1"/>
              <a:t>well</a:t>
            </a:r>
            <a:r>
              <a:rPr lang="de-AT" sz="1600" dirty="0"/>
              <a:t> </a:t>
            </a:r>
            <a:r>
              <a:rPr lang="de-AT" sz="1600" dirty="0" err="1"/>
              <a:t>as</a:t>
            </a:r>
            <a:r>
              <a:rPr lang="de-AT" sz="1600" dirty="0"/>
              <a:t> </a:t>
            </a:r>
            <a:r>
              <a:rPr lang="de-AT" sz="1600" b="1" u="sng" dirty="0" err="1"/>
              <a:t>stationary</a:t>
            </a:r>
            <a:r>
              <a:rPr lang="de-AT" sz="1600" b="1" u="sng" dirty="0"/>
              <a:t> </a:t>
            </a:r>
            <a:r>
              <a:rPr lang="de-AT" sz="1600" b="1" u="sng" dirty="0" err="1"/>
              <a:t>during</a:t>
            </a:r>
            <a:r>
              <a:rPr lang="de-AT" sz="1600" b="1" u="sng" dirty="0"/>
              <a:t> </a:t>
            </a:r>
            <a:r>
              <a:rPr lang="de-AT" sz="1600" b="1" u="sng" dirty="0" err="1"/>
              <a:t>mission</a:t>
            </a:r>
            <a:r>
              <a:rPr lang="de-AT" sz="1600" dirty="0"/>
              <a:t> (</a:t>
            </a:r>
            <a:r>
              <a:rPr lang="de-AT" sz="1600" dirty="0" err="1"/>
              <a:t>acc</a:t>
            </a:r>
            <a:r>
              <a:rPr lang="de-AT" sz="1600" dirty="0"/>
              <a:t>. </a:t>
            </a:r>
            <a:r>
              <a:rPr lang="de-AT" sz="1600" dirty="0" err="1"/>
              <a:t>to</a:t>
            </a:r>
            <a:r>
              <a:rPr lang="de-AT" sz="1600" dirty="0"/>
              <a:t> </a:t>
            </a:r>
            <a:r>
              <a:rPr lang="de-AT" sz="1600" dirty="0" err="1"/>
              <a:t>generic</a:t>
            </a:r>
            <a:r>
              <a:rPr lang="de-AT" sz="1600" dirty="0"/>
              <a:t> </a:t>
            </a:r>
            <a:r>
              <a:rPr lang="de-AT" sz="1600" dirty="0" err="1"/>
              <a:t>usage</a:t>
            </a:r>
            <a:r>
              <a:rPr lang="de-AT" sz="1600" dirty="0"/>
              <a:t> </a:t>
            </a:r>
            <a:r>
              <a:rPr lang="de-AT" sz="1600" dirty="0" err="1"/>
              <a:t>data</a:t>
            </a:r>
            <a:r>
              <a:rPr lang="de-AT" sz="1600" dirty="0"/>
              <a:t>) relevant </a:t>
            </a:r>
            <a:r>
              <a:rPr lang="de-AT" sz="1600" dirty="0" err="1"/>
              <a:t>for</a:t>
            </a:r>
            <a:r>
              <a:rPr lang="de-AT" sz="1600" dirty="0"/>
              <a:t> </a:t>
            </a:r>
            <a:r>
              <a:rPr lang="de-AT" sz="1600" dirty="0" err="1"/>
              <a:t>charging</a:t>
            </a:r>
            <a:r>
              <a:rPr lang="de-AT" sz="1600" dirty="0"/>
              <a:t> </a:t>
            </a:r>
            <a:r>
              <a:rPr lang="de-AT" sz="1600" dirty="0" err="1"/>
              <a:t>losses</a:t>
            </a:r>
            <a:br>
              <a:rPr lang="de-AT" sz="1600" dirty="0"/>
            </a:br>
            <a:endParaRPr lang="de-AT" sz="600" dirty="0"/>
          </a:p>
          <a:p>
            <a:pPr lvl="1"/>
            <a:r>
              <a:rPr lang="de-AT" sz="1600" dirty="0"/>
              <a:t>Power </a:t>
            </a:r>
            <a:r>
              <a:rPr lang="de-AT" sz="1600" dirty="0" err="1"/>
              <a:t>level</a:t>
            </a:r>
            <a:r>
              <a:rPr lang="de-AT" sz="1600" dirty="0"/>
              <a:t> </a:t>
            </a:r>
            <a:r>
              <a:rPr lang="de-AT" sz="1600" dirty="0" err="1"/>
              <a:t>for</a:t>
            </a:r>
            <a:r>
              <a:rPr lang="de-AT" sz="1600" dirty="0"/>
              <a:t> </a:t>
            </a:r>
            <a:r>
              <a:rPr lang="de-AT" sz="1600" dirty="0" err="1"/>
              <a:t>determining</a:t>
            </a:r>
            <a:r>
              <a:rPr lang="de-AT" sz="1600" dirty="0"/>
              <a:t> </a:t>
            </a:r>
            <a:r>
              <a:rPr lang="de-AT" sz="1600" dirty="0" err="1"/>
              <a:t>charging</a:t>
            </a:r>
            <a:r>
              <a:rPr lang="de-AT" sz="1600" dirty="0"/>
              <a:t> </a:t>
            </a:r>
            <a:r>
              <a:rPr lang="de-AT" sz="1600" dirty="0" err="1"/>
              <a:t>losses</a:t>
            </a:r>
            <a:r>
              <a:rPr lang="de-AT" sz="1600" dirty="0"/>
              <a:t> in </a:t>
            </a:r>
            <a:r>
              <a:rPr lang="de-AT" sz="1600" dirty="0" err="1"/>
              <a:t>battery</a:t>
            </a:r>
            <a:r>
              <a:rPr lang="de-AT" sz="1600" dirty="0"/>
              <a:t> </a:t>
            </a:r>
            <a:r>
              <a:rPr lang="de-AT" sz="1600" dirty="0" err="1"/>
              <a:t>defined</a:t>
            </a:r>
            <a:r>
              <a:rPr lang="de-AT" sz="1600" dirty="0"/>
              <a:t> </a:t>
            </a:r>
            <a:r>
              <a:rPr lang="de-AT" sz="1600" dirty="0" err="1"/>
              <a:t>as</a:t>
            </a:r>
            <a:r>
              <a:rPr lang="de-AT" sz="1600" dirty="0"/>
              <a:t> </a:t>
            </a:r>
            <a:r>
              <a:rPr lang="de-AT" sz="1600" dirty="0" err="1"/>
              <a:t>follows</a:t>
            </a:r>
            <a:r>
              <a:rPr lang="de-AT" sz="1600" dirty="0"/>
              <a:t>: </a:t>
            </a:r>
          </a:p>
          <a:p>
            <a:pPr lvl="2"/>
            <a:r>
              <a:rPr lang="de-AT" sz="1400" b="1" u="sng" dirty="0"/>
              <a:t>Depot:</a:t>
            </a:r>
            <a:r>
              <a:rPr lang="de-AT" sz="1400" dirty="0"/>
              <a:t> </a:t>
            </a:r>
          </a:p>
          <a:p>
            <a:pPr lvl="3"/>
            <a:r>
              <a:rPr lang="de-AT" sz="1200" dirty="0"/>
              <a:t>same </a:t>
            </a:r>
            <a:r>
              <a:rPr lang="de-AT" sz="1200" dirty="0" err="1"/>
              <a:t>as</a:t>
            </a:r>
            <a:r>
              <a:rPr lang="de-AT" sz="1200" dirty="0"/>
              <a:t> </a:t>
            </a:r>
            <a:r>
              <a:rPr lang="de-AT" sz="1200" dirty="0" err="1"/>
              <a:t>for</a:t>
            </a:r>
            <a:r>
              <a:rPr lang="de-AT" sz="1200" dirty="0"/>
              <a:t> PEV (</a:t>
            </a:r>
            <a:r>
              <a:rPr lang="de-AT" sz="1200" dirty="0" err="1"/>
              <a:t>see</a:t>
            </a:r>
            <a:r>
              <a:rPr lang="de-AT" sz="1200" dirty="0"/>
              <a:t> </a:t>
            </a:r>
            <a:r>
              <a:rPr lang="de-AT" sz="1200" dirty="0" err="1"/>
              <a:t>previous</a:t>
            </a:r>
            <a:r>
              <a:rPr lang="de-AT" sz="1200" dirty="0"/>
              <a:t> </a:t>
            </a:r>
            <a:r>
              <a:rPr lang="de-AT" sz="1200" dirty="0" err="1"/>
              <a:t>slide</a:t>
            </a:r>
            <a:r>
              <a:rPr lang="de-AT" sz="1200" dirty="0"/>
              <a:t>)</a:t>
            </a:r>
          </a:p>
          <a:p>
            <a:pPr lvl="3"/>
            <a:r>
              <a:rPr lang="de-AT" sz="1200" dirty="0"/>
              <a:t>but limited </a:t>
            </a:r>
            <a:r>
              <a:rPr lang="de-AT" sz="1200" dirty="0" err="1"/>
              <a:t>with</a:t>
            </a:r>
            <a:r>
              <a:rPr lang="de-AT" sz="1200" dirty="0"/>
              <a:t> </a:t>
            </a:r>
            <a:r>
              <a:rPr lang="de-AT" sz="1200" dirty="0" err="1"/>
              <a:t>declared</a:t>
            </a:r>
            <a:r>
              <a:rPr lang="de-AT" sz="1200" dirty="0"/>
              <a:t> </a:t>
            </a:r>
            <a:r>
              <a:rPr lang="de-AT" sz="1200" dirty="0" err="1"/>
              <a:t>maximum</a:t>
            </a:r>
            <a:r>
              <a:rPr lang="de-AT" sz="1200" dirty="0"/>
              <a:t> </a:t>
            </a:r>
            <a:r>
              <a:rPr lang="de-AT" sz="1200" dirty="0" err="1"/>
              <a:t>charging</a:t>
            </a:r>
            <a:r>
              <a:rPr lang="de-AT" sz="1200" dirty="0"/>
              <a:t> power </a:t>
            </a:r>
            <a:r>
              <a:rPr lang="en-US" sz="1200" dirty="0"/>
              <a:t>acc. to Annex III (</a:t>
            </a:r>
            <a:r>
              <a:rPr lang="en-US" sz="1200" i="1" dirty="0"/>
              <a:t>P402)</a:t>
            </a:r>
            <a:r>
              <a:rPr lang="de-AT" sz="1200" dirty="0"/>
              <a:t> </a:t>
            </a:r>
            <a:br>
              <a:rPr lang="de-AT" sz="1200" dirty="0"/>
            </a:br>
            <a:endParaRPr lang="de-AT" sz="600" dirty="0"/>
          </a:p>
          <a:p>
            <a:pPr lvl="2"/>
            <a:r>
              <a:rPr lang="de-AT" sz="1400" b="1" u="sng" dirty="0" err="1"/>
              <a:t>Stationary</a:t>
            </a:r>
            <a:r>
              <a:rPr lang="de-AT" sz="1400" b="1" u="sng" dirty="0"/>
              <a:t> </a:t>
            </a:r>
            <a:r>
              <a:rPr lang="de-AT" sz="1400" b="1" u="sng" dirty="0" err="1"/>
              <a:t>during</a:t>
            </a:r>
            <a:r>
              <a:rPr lang="de-AT" sz="1400" b="1" u="sng" dirty="0"/>
              <a:t> </a:t>
            </a:r>
            <a:r>
              <a:rPr lang="de-AT" sz="1400" b="1" u="sng" dirty="0" err="1"/>
              <a:t>mission</a:t>
            </a:r>
            <a:r>
              <a:rPr lang="de-AT" sz="1400" b="1" u="sng" dirty="0"/>
              <a:t>:</a:t>
            </a:r>
            <a:r>
              <a:rPr lang="de-AT" sz="1400" dirty="0"/>
              <a:t> </a:t>
            </a:r>
          </a:p>
          <a:p>
            <a:pPr lvl="3"/>
            <a:r>
              <a:rPr lang="de-AT" sz="1200" dirty="0" err="1"/>
              <a:t>determined</a:t>
            </a:r>
            <a:r>
              <a:rPr lang="de-AT" sz="1200" dirty="0"/>
              <a:t> </a:t>
            </a:r>
            <a:r>
              <a:rPr lang="de-AT" sz="1200" dirty="0" err="1"/>
              <a:t>from</a:t>
            </a:r>
            <a:r>
              <a:rPr lang="de-AT" sz="1200" dirty="0"/>
              <a:t> </a:t>
            </a:r>
            <a:r>
              <a:rPr lang="en-US" sz="1200" dirty="0"/>
              <a:t>matrix of generic usage data as already defined for OVC-UF calculation (function of vehicle group and mission profile)</a:t>
            </a:r>
          </a:p>
          <a:p>
            <a:pPr lvl="3"/>
            <a:r>
              <a:rPr lang="de-AT" sz="1200" dirty="0"/>
              <a:t>limited </a:t>
            </a:r>
            <a:r>
              <a:rPr lang="de-AT" sz="1200" dirty="0" err="1"/>
              <a:t>with</a:t>
            </a:r>
            <a:r>
              <a:rPr lang="de-AT" sz="1200" dirty="0"/>
              <a:t> </a:t>
            </a:r>
            <a:r>
              <a:rPr lang="de-AT" sz="1200" dirty="0" err="1"/>
              <a:t>declared</a:t>
            </a:r>
            <a:r>
              <a:rPr lang="de-AT" sz="1200" dirty="0"/>
              <a:t> </a:t>
            </a:r>
            <a:r>
              <a:rPr lang="de-AT" sz="1200" dirty="0" err="1"/>
              <a:t>maximum</a:t>
            </a:r>
            <a:r>
              <a:rPr lang="de-AT" sz="1200" dirty="0"/>
              <a:t> </a:t>
            </a:r>
            <a:r>
              <a:rPr lang="de-AT" sz="1200" dirty="0" err="1"/>
              <a:t>charging</a:t>
            </a:r>
            <a:r>
              <a:rPr lang="de-AT" sz="1200" dirty="0"/>
              <a:t> power </a:t>
            </a:r>
            <a:r>
              <a:rPr lang="en-US" sz="1200" dirty="0"/>
              <a:t>acc. to Annex III (</a:t>
            </a:r>
            <a:r>
              <a:rPr lang="en-US" sz="1200" i="1" dirty="0"/>
              <a:t>P402)</a:t>
            </a:r>
            <a:br>
              <a:rPr lang="en-US" sz="1200" i="1" dirty="0"/>
            </a:br>
            <a:r>
              <a:rPr lang="en-US" sz="400" b="1" u="sng" dirty="0"/>
              <a:t> </a:t>
            </a:r>
            <a:endParaRPr lang="de-AT" sz="600" b="1" u="sng" dirty="0"/>
          </a:p>
          <a:p>
            <a:pPr lvl="1"/>
            <a:r>
              <a:rPr lang="en-US" sz="1600" dirty="0"/>
              <a:t>2 separate values of charging efficiency determined as described on previous slide</a:t>
            </a:r>
          </a:p>
          <a:p>
            <a:pPr lvl="2"/>
            <a:r>
              <a:rPr lang="de-AT" sz="1400" dirty="0">
                <a:sym typeface="Wingdings" panose="05000000000000000000" pitchFamily="2" charset="2"/>
              </a:rPr>
              <a:t> </a:t>
            </a:r>
            <a:r>
              <a:rPr lang="de-AT" sz="1400" dirty="0" err="1">
                <a:sym typeface="Wingdings" panose="05000000000000000000" pitchFamily="2" charset="2"/>
              </a:rPr>
              <a:t>weighted</a:t>
            </a:r>
            <a:r>
              <a:rPr lang="de-AT" sz="1400" dirty="0">
                <a:sym typeface="Wingdings" panose="05000000000000000000" pitchFamily="2" charset="2"/>
              </a:rPr>
              <a:t> </a:t>
            </a:r>
            <a:r>
              <a:rPr lang="de-AT" sz="1400" dirty="0" err="1">
                <a:sym typeface="Wingdings" panose="05000000000000000000" pitchFamily="2" charset="2"/>
              </a:rPr>
              <a:t>averaging</a:t>
            </a:r>
            <a:r>
              <a:rPr lang="de-AT" sz="1400" dirty="0">
                <a:sym typeface="Wingdings" panose="05000000000000000000" pitchFamily="2" charset="2"/>
              </a:rPr>
              <a:t> </a:t>
            </a:r>
            <a:r>
              <a:rPr lang="de-AT" sz="1400" dirty="0" err="1">
                <a:sym typeface="Wingdings" panose="05000000000000000000" pitchFamily="2" charset="2"/>
              </a:rPr>
              <a:t>by</a:t>
            </a:r>
            <a:r>
              <a:rPr lang="de-AT" sz="1400" dirty="0">
                <a:sym typeface="Wingdings" panose="05000000000000000000" pitchFamily="2" charset="2"/>
              </a:rPr>
              <a:t> </a:t>
            </a:r>
            <a:r>
              <a:rPr lang="de-AT" sz="1400" dirty="0" err="1">
                <a:sym typeface="Wingdings" panose="05000000000000000000" pitchFamily="2" charset="2"/>
              </a:rPr>
              <a:t>amount</a:t>
            </a:r>
            <a:r>
              <a:rPr lang="de-AT" sz="1400" dirty="0">
                <a:sym typeface="Wingdings" panose="05000000000000000000" pitchFamily="2" charset="2"/>
              </a:rPr>
              <a:t> </a:t>
            </a:r>
            <a:r>
              <a:rPr lang="de-AT" sz="1400" dirty="0" err="1">
                <a:sym typeface="Wingdings" panose="05000000000000000000" pitchFamily="2" charset="2"/>
              </a:rPr>
              <a:t>of</a:t>
            </a:r>
            <a:r>
              <a:rPr lang="de-AT" sz="1400" dirty="0">
                <a:sym typeface="Wingdings" panose="05000000000000000000" pitchFamily="2" charset="2"/>
              </a:rPr>
              <a:t> </a:t>
            </a:r>
            <a:r>
              <a:rPr lang="de-AT" sz="1400" dirty="0" err="1">
                <a:sym typeface="Wingdings" panose="05000000000000000000" pitchFamily="2" charset="2"/>
              </a:rPr>
              <a:t>charged</a:t>
            </a:r>
            <a:r>
              <a:rPr lang="de-AT" sz="1400" dirty="0">
                <a:sym typeface="Wingdings" panose="05000000000000000000" pitchFamily="2" charset="2"/>
              </a:rPr>
              <a:t> </a:t>
            </a:r>
            <a:r>
              <a:rPr lang="de-AT" sz="1400" dirty="0" err="1">
                <a:sym typeface="Wingdings" panose="05000000000000000000" pitchFamily="2" charset="2"/>
              </a:rPr>
              <a:t>energy</a:t>
            </a:r>
            <a:r>
              <a:rPr lang="de-AT" sz="1400" dirty="0">
                <a:sym typeface="Wingdings" panose="05000000000000000000" pitchFamily="2" charset="2"/>
              </a:rPr>
              <a:t> </a:t>
            </a:r>
            <a:r>
              <a:rPr lang="de-AT" sz="1400" dirty="0" err="1">
                <a:sym typeface="Wingdings" panose="05000000000000000000" pitchFamily="2" charset="2"/>
              </a:rPr>
              <a:t>for</a:t>
            </a:r>
            <a:r>
              <a:rPr lang="de-AT" sz="1400" dirty="0">
                <a:sym typeface="Wingdings" panose="05000000000000000000" pitchFamily="2" charset="2"/>
              </a:rPr>
              <a:t> </a:t>
            </a:r>
            <a:r>
              <a:rPr lang="de-AT" sz="1400" dirty="0" err="1">
                <a:sym typeface="Wingdings" panose="05000000000000000000" pitchFamily="2" charset="2"/>
              </a:rPr>
              <a:t>depot</a:t>
            </a:r>
            <a:r>
              <a:rPr lang="de-AT" sz="1400" dirty="0">
                <a:sym typeface="Wingdings" panose="05000000000000000000" pitchFamily="2" charset="2"/>
              </a:rPr>
              <a:t> </a:t>
            </a:r>
            <a:r>
              <a:rPr lang="de-AT" sz="1400" dirty="0" err="1">
                <a:sym typeface="Wingdings" panose="05000000000000000000" pitchFamily="2" charset="2"/>
              </a:rPr>
              <a:t>and</a:t>
            </a:r>
            <a:r>
              <a:rPr lang="de-AT" sz="1400" dirty="0">
                <a:sym typeface="Wingdings" panose="05000000000000000000" pitchFamily="2" charset="2"/>
              </a:rPr>
              <a:t> </a:t>
            </a:r>
            <a:r>
              <a:rPr lang="de-AT" sz="1400" dirty="0" err="1">
                <a:sym typeface="Wingdings" panose="05000000000000000000" pitchFamily="2" charset="2"/>
              </a:rPr>
              <a:t>stationary</a:t>
            </a:r>
            <a:r>
              <a:rPr lang="de-AT" sz="1400" dirty="0">
                <a:sym typeface="Wingdings" panose="05000000000000000000" pitchFamily="2" charset="2"/>
              </a:rPr>
              <a:t> </a:t>
            </a:r>
            <a:r>
              <a:rPr lang="de-AT" sz="1400" dirty="0" err="1">
                <a:sym typeface="Wingdings" panose="05000000000000000000" pitchFamily="2" charset="2"/>
              </a:rPr>
              <a:t>during</a:t>
            </a:r>
            <a:r>
              <a:rPr lang="de-AT" sz="1400" dirty="0">
                <a:sym typeface="Wingdings" panose="05000000000000000000" pitchFamily="2" charset="2"/>
              </a:rPr>
              <a:t> </a:t>
            </a:r>
            <a:r>
              <a:rPr lang="de-AT" sz="1400" dirty="0" err="1">
                <a:sym typeface="Wingdings" panose="05000000000000000000" pitchFamily="2" charset="2"/>
              </a:rPr>
              <a:t>mission</a:t>
            </a:r>
            <a:r>
              <a:rPr lang="de-AT" sz="1400" dirty="0">
                <a:sym typeface="Wingdings" panose="05000000000000000000" pitchFamily="2" charset="2"/>
              </a:rPr>
              <a:t> </a:t>
            </a:r>
            <a:r>
              <a:rPr lang="de-AT" sz="1400" dirty="0" err="1">
                <a:sym typeface="Wingdings" panose="05000000000000000000" pitchFamily="2" charset="2"/>
              </a:rPr>
              <a:t>to</a:t>
            </a:r>
            <a:r>
              <a:rPr lang="de-AT" sz="1400" dirty="0">
                <a:sym typeface="Wingdings" panose="05000000000000000000" pitchFamily="2" charset="2"/>
              </a:rPr>
              <a:t> </a:t>
            </a:r>
            <a:r>
              <a:rPr lang="de-AT" sz="1400" dirty="0" err="1">
                <a:sym typeface="Wingdings" panose="05000000000000000000" pitchFamily="2" charset="2"/>
              </a:rPr>
              <a:t>determine</a:t>
            </a:r>
            <a:r>
              <a:rPr lang="de-AT" sz="1400" dirty="0">
                <a:sym typeface="Wingdings" panose="05000000000000000000" pitchFamily="2" charset="2"/>
              </a:rPr>
              <a:t> final </a:t>
            </a:r>
            <a:r>
              <a:rPr lang="de-AT" sz="1400" dirty="0" err="1">
                <a:sym typeface="Wingdings" panose="05000000000000000000" pitchFamily="2" charset="2"/>
              </a:rPr>
              <a:t>charging</a:t>
            </a:r>
            <a:r>
              <a:rPr lang="de-AT" sz="1400" dirty="0">
                <a:sym typeface="Wingdings" panose="05000000000000000000" pitchFamily="2" charset="2"/>
              </a:rPr>
              <a:t> </a:t>
            </a:r>
            <a:r>
              <a:rPr lang="de-AT" sz="1400" dirty="0" err="1">
                <a:sym typeface="Wingdings" panose="05000000000000000000" pitchFamily="2" charset="2"/>
              </a:rPr>
              <a:t>efficiency</a:t>
            </a:r>
            <a:endParaRPr lang="de-AT" sz="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21</a:t>
            </a:fld>
            <a:endParaRPr lang="de-DE"/>
          </a:p>
        </p:txBody>
      </p:sp>
    </p:spTree>
    <p:extLst>
      <p:ext uri="{BB962C8B-B14F-4D97-AF65-F5344CB8AC3E}">
        <p14:creationId xmlns:p14="http://schemas.microsoft.com/office/powerpoint/2010/main" val="7853368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OVC-HEV </a:t>
            </a:r>
            <a:r>
              <a:rPr lang="de-AT" sz="1800" dirty="0" err="1"/>
              <a:t>calculation</a:t>
            </a:r>
            <a:r>
              <a:rPr lang="de-AT" sz="1800" dirty="0"/>
              <a:t> </a:t>
            </a:r>
            <a:r>
              <a:rPr lang="de-AT" sz="1800" dirty="0" err="1"/>
              <a:t>example</a:t>
            </a:r>
            <a:r>
              <a:rPr lang="de-AT" sz="1800" dirty="0"/>
              <a:t>:</a:t>
            </a:r>
          </a:p>
          <a:p>
            <a:pPr lvl="1"/>
            <a:r>
              <a:rPr lang="de-AT" sz="1400" dirty="0" err="1"/>
              <a:t>Charging</a:t>
            </a:r>
            <a:r>
              <a:rPr lang="de-AT" sz="1400" dirty="0"/>
              <a:t> power </a:t>
            </a:r>
            <a:r>
              <a:rPr lang="de-AT" sz="1400" dirty="0" err="1"/>
              <a:t>levels</a:t>
            </a:r>
            <a:r>
              <a:rPr lang="de-AT" sz="1400" dirty="0"/>
              <a:t>:  </a:t>
            </a:r>
            <a:r>
              <a:rPr lang="de-AT" sz="1200" dirty="0"/>
              <a:t>Depot 10 kW  /  </a:t>
            </a:r>
            <a:r>
              <a:rPr lang="de-AT" sz="1200" dirty="0" err="1"/>
              <a:t>Stationary</a:t>
            </a:r>
            <a:r>
              <a:rPr lang="de-AT" sz="1200" dirty="0"/>
              <a:t> </a:t>
            </a:r>
            <a:r>
              <a:rPr lang="de-AT" sz="1200" dirty="0" err="1"/>
              <a:t>during</a:t>
            </a:r>
            <a:r>
              <a:rPr lang="de-AT" sz="1200" dirty="0"/>
              <a:t> </a:t>
            </a:r>
            <a:r>
              <a:rPr lang="de-AT" sz="1200" dirty="0" err="1"/>
              <a:t>mission</a:t>
            </a:r>
            <a:r>
              <a:rPr lang="de-AT" sz="1200" dirty="0"/>
              <a:t> 250 kW</a:t>
            </a:r>
            <a:br>
              <a:rPr lang="de-AT" sz="1200" dirty="0"/>
            </a:br>
            <a:endParaRPr lang="de-AT" sz="600" dirty="0"/>
          </a:p>
          <a:p>
            <a:pPr lvl="1"/>
            <a:r>
              <a:rPr lang="de-AT" sz="1400" dirty="0" err="1"/>
              <a:t>Battery</a:t>
            </a:r>
            <a:r>
              <a:rPr lang="de-AT" sz="1400" dirty="0"/>
              <a:t> </a:t>
            </a:r>
            <a:r>
              <a:rPr lang="de-AT" sz="1400" dirty="0" err="1"/>
              <a:t>related</a:t>
            </a:r>
            <a:r>
              <a:rPr lang="de-AT" sz="1400" dirty="0"/>
              <a:t> </a:t>
            </a:r>
            <a:r>
              <a:rPr lang="de-AT" sz="1400" dirty="0" err="1"/>
              <a:t>data</a:t>
            </a:r>
            <a:r>
              <a:rPr lang="de-AT" sz="1400" dirty="0"/>
              <a:t> and </a:t>
            </a:r>
            <a:r>
              <a:rPr lang="de-AT" sz="1400" dirty="0" err="1"/>
              <a:t>charging</a:t>
            </a:r>
            <a:r>
              <a:rPr lang="de-AT" sz="1400" dirty="0"/>
              <a:t> </a:t>
            </a:r>
            <a:r>
              <a:rPr lang="de-AT" sz="1400" dirty="0" err="1"/>
              <a:t>currents</a:t>
            </a:r>
            <a:r>
              <a:rPr lang="de-AT" sz="1400" dirty="0"/>
              <a:t>:</a:t>
            </a:r>
            <a:br>
              <a:rPr lang="de-AT" sz="1400" dirty="0"/>
            </a:br>
            <a:br>
              <a:rPr lang="de-AT" sz="1400" dirty="0"/>
            </a:br>
            <a:br>
              <a:rPr lang="de-AT" sz="1400" dirty="0"/>
            </a:br>
            <a:br>
              <a:rPr lang="de-AT" sz="1400" dirty="0"/>
            </a:br>
            <a:endParaRPr lang="de-AT" sz="600" dirty="0"/>
          </a:p>
          <a:p>
            <a:pPr lvl="1"/>
            <a:r>
              <a:rPr lang="de-AT" sz="1400" dirty="0" err="1"/>
              <a:t>Charging</a:t>
            </a:r>
            <a:r>
              <a:rPr lang="de-AT" sz="1400" dirty="0"/>
              <a:t> </a:t>
            </a:r>
            <a:r>
              <a:rPr lang="de-AT" sz="1400" dirty="0" err="1"/>
              <a:t>losses</a:t>
            </a:r>
            <a:r>
              <a:rPr lang="de-AT" sz="1400" dirty="0"/>
              <a:t> and </a:t>
            </a:r>
            <a:r>
              <a:rPr lang="de-AT" sz="1400" dirty="0" err="1"/>
              <a:t>efficiencies</a:t>
            </a:r>
            <a:r>
              <a:rPr lang="de-AT" sz="1400" dirty="0"/>
              <a:t>:</a:t>
            </a:r>
            <a:br>
              <a:rPr lang="de-AT" sz="1400" dirty="0"/>
            </a:br>
            <a:br>
              <a:rPr lang="de-AT" sz="1400" dirty="0"/>
            </a:br>
            <a:br>
              <a:rPr lang="de-AT" sz="1400" dirty="0"/>
            </a:br>
            <a:br>
              <a:rPr lang="de-AT" sz="1400" dirty="0"/>
            </a:br>
            <a:br>
              <a:rPr lang="de-AT" sz="1400" dirty="0"/>
            </a:br>
            <a:br>
              <a:rPr lang="de-AT" sz="1400" dirty="0"/>
            </a:br>
            <a:endParaRPr lang="de-AT" sz="700" dirty="0"/>
          </a:p>
          <a:p>
            <a:pPr lvl="1"/>
            <a:r>
              <a:rPr lang="de-AT" sz="1400" dirty="0" err="1"/>
              <a:t>Weighted</a:t>
            </a:r>
            <a:r>
              <a:rPr lang="de-AT" sz="1400" dirty="0"/>
              <a:t> final </a:t>
            </a:r>
            <a:r>
              <a:rPr lang="de-AT" sz="1400" dirty="0" err="1"/>
              <a:t>charging</a:t>
            </a:r>
            <a:r>
              <a:rPr lang="de-AT" sz="1400" dirty="0"/>
              <a:t> </a:t>
            </a:r>
            <a:r>
              <a:rPr lang="de-AT" sz="1400" dirty="0" err="1"/>
              <a:t>efficiency</a:t>
            </a:r>
            <a:r>
              <a:rPr lang="de-AT" sz="1400" dirty="0"/>
              <a:t>:</a:t>
            </a:r>
            <a:endParaRPr lang="de-AT" sz="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22</a:t>
            </a:fld>
            <a:endParaRPr lang="de-DE"/>
          </a:p>
        </p:txBody>
      </p:sp>
      <p:pic>
        <p:nvPicPr>
          <p:cNvPr id="7" name="Grafik 6"/>
          <p:cNvPicPr>
            <a:picLocks noChangeAspect="1"/>
          </p:cNvPicPr>
          <p:nvPr/>
        </p:nvPicPr>
        <p:blipFill>
          <a:blip r:embed="rId2"/>
          <a:stretch>
            <a:fillRect/>
          </a:stretch>
        </p:blipFill>
        <p:spPr>
          <a:xfrm>
            <a:off x="1279952" y="3413700"/>
            <a:ext cx="4209022" cy="923408"/>
          </a:xfrm>
          <a:prstGeom prst="rect">
            <a:avLst/>
          </a:prstGeom>
        </p:spPr>
      </p:pic>
      <p:pic>
        <p:nvPicPr>
          <p:cNvPr id="10" name="Grafik 9"/>
          <p:cNvPicPr>
            <a:picLocks noChangeAspect="1"/>
          </p:cNvPicPr>
          <p:nvPr/>
        </p:nvPicPr>
        <p:blipFill>
          <a:blip r:embed="rId3"/>
          <a:stretch>
            <a:fillRect/>
          </a:stretch>
        </p:blipFill>
        <p:spPr>
          <a:xfrm>
            <a:off x="2076297" y="2492552"/>
            <a:ext cx="2495523" cy="583785"/>
          </a:xfrm>
          <a:prstGeom prst="rect">
            <a:avLst/>
          </a:prstGeom>
        </p:spPr>
      </p:pic>
      <p:pic>
        <p:nvPicPr>
          <p:cNvPr id="11" name="Grafik 10"/>
          <p:cNvPicPr>
            <a:picLocks noChangeAspect="1"/>
          </p:cNvPicPr>
          <p:nvPr/>
        </p:nvPicPr>
        <p:blipFill>
          <a:blip r:embed="rId4"/>
          <a:stretch>
            <a:fillRect/>
          </a:stretch>
        </p:blipFill>
        <p:spPr>
          <a:xfrm>
            <a:off x="1345341" y="5071637"/>
            <a:ext cx="4078245" cy="829712"/>
          </a:xfrm>
          <a:prstGeom prst="rect">
            <a:avLst/>
          </a:prstGeom>
        </p:spPr>
      </p:pic>
      <p:sp>
        <p:nvSpPr>
          <p:cNvPr id="12" name="Textfeld 11"/>
          <p:cNvSpPr txBox="1"/>
          <p:nvPr/>
        </p:nvSpPr>
        <p:spPr>
          <a:xfrm>
            <a:off x="6759148" y="4694979"/>
            <a:ext cx="2347784" cy="1277273"/>
          </a:xfrm>
          <a:prstGeom prst="rect">
            <a:avLst/>
          </a:prstGeom>
          <a:noFill/>
        </p:spPr>
        <p:txBody>
          <a:bodyPr wrap="square" rtlCol="0">
            <a:spAutoFit/>
          </a:bodyPr>
          <a:lstStyle/>
          <a:p>
            <a:r>
              <a:rPr lang="de-AT" sz="1100" b="1" i="1" dirty="0" err="1"/>
              <a:t>Energy</a:t>
            </a:r>
            <a:r>
              <a:rPr lang="de-AT" sz="1100" b="1" i="1" dirty="0"/>
              <a:t> </a:t>
            </a:r>
            <a:r>
              <a:rPr lang="de-AT" sz="1100" b="1" i="1" dirty="0" err="1"/>
              <a:t>charged</a:t>
            </a:r>
            <a:r>
              <a:rPr lang="de-AT" sz="1100" b="1" i="1" dirty="0"/>
              <a:t> </a:t>
            </a:r>
            <a:r>
              <a:rPr lang="de-AT" sz="1100" b="1" i="1" dirty="0" err="1"/>
              <a:t>during</a:t>
            </a:r>
            <a:r>
              <a:rPr lang="de-AT" sz="1100" b="1" i="1" dirty="0"/>
              <a:t> </a:t>
            </a:r>
            <a:r>
              <a:rPr lang="de-AT" sz="1100" b="1" i="1" dirty="0" err="1"/>
              <a:t>mission</a:t>
            </a:r>
            <a:r>
              <a:rPr lang="de-AT" sz="1100" b="1" i="1" dirty="0"/>
              <a:t> limited </a:t>
            </a:r>
            <a:r>
              <a:rPr lang="de-AT" sz="1100" b="1" i="1" dirty="0" err="1"/>
              <a:t>by</a:t>
            </a:r>
            <a:r>
              <a:rPr lang="de-AT" sz="1100" b="1" i="1" dirty="0"/>
              <a:t>:</a:t>
            </a:r>
          </a:p>
          <a:p>
            <a:pPr marL="285750" indent="-285750">
              <a:buFont typeface="Wingdings" panose="05000000000000000000" pitchFamily="2" charset="2"/>
              <a:buChar char="§"/>
            </a:pPr>
            <a:r>
              <a:rPr lang="de-AT" sz="1100" i="1" dirty="0"/>
              <a:t>Max. </a:t>
            </a:r>
            <a:r>
              <a:rPr lang="de-AT" sz="1100" i="1" dirty="0" err="1"/>
              <a:t>charging</a:t>
            </a:r>
            <a:r>
              <a:rPr lang="de-AT" sz="1100" i="1" dirty="0"/>
              <a:t> power</a:t>
            </a:r>
          </a:p>
          <a:p>
            <a:pPr marL="285750" indent="-285750">
              <a:buFont typeface="Wingdings" panose="05000000000000000000" pitchFamily="2" charset="2"/>
              <a:buChar char="§"/>
            </a:pPr>
            <a:r>
              <a:rPr lang="de-AT" sz="1100" i="1" dirty="0"/>
              <a:t>Duration </a:t>
            </a:r>
            <a:r>
              <a:rPr lang="de-AT" sz="1100" i="1" dirty="0" err="1"/>
              <a:t>of</a:t>
            </a:r>
            <a:r>
              <a:rPr lang="de-AT" sz="1100" i="1" dirty="0"/>
              <a:t> </a:t>
            </a:r>
            <a:r>
              <a:rPr lang="de-AT" sz="1100" i="1" dirty="0" err="1"/>
              <a:t>event</a:t>
            </a:r>
            <a:endParaRPr lang="de-AT" sz="1100" i="1" dirty="0"/>
          </a:p>
          <a:p>
            <a:pPr marL="285750" indent="-285750">
              <a:buFont typeface="Wingdings" panose="05000000000000000000" pitchFamily="2" charset="2"/>
              <a:buChar char="§"/>
            </a:pPr>
            <a:r>
              <a:rPr lang="de-AT" sz="1100" i="1" dirty="0" err="1"/>
              <a:t>Usable</a:t>
            </a:r>
            <a:r>
              <a:rPr lang="de-AT" sz="1100" i="1" dirty="0"/>
              <a:t> </a:t>
            </a:r>
            <a:r>
              <a:rPr lang="de-AT" sz="1100" i="1" dirty="0" err="1"/>
              <a:t>battery</a:t>
            </a:r>
            <a:r>
              <a:rPr lang="de-AT" sz="1100" i="1" dirty="0"/>
              <a:t> </a:t>
            </a:r>
            <a:r>
              <a:rPr lang="de-AT" sz="1100" i="1" dirty="0" err="1"/>
              <a:t>capacity</a:t>
            </a:r>
            <a:endParaRPr lang="de-AT" sz="1100" i="1" dirty="0"/>
          </a:p>
          <a:p>
            <a:pPr marL="285750" indent="-285750">
              <a:buFont typeface="Wingdings" panose="05000000000000000000" pitchFamily="2" charset="2"/>
              <a:buChar char="§"/>
            </a:pPr>
            <a:r>
              <a:rPr lang="de-AT" sz="1100" i="1" dirty="0" err="1"/>
              <a:t>Number</a:t>
            </a:r>
            <a:r>
              <a:rPr lang="de-AT" sz="1100" i="1" dirty="0"/>
              <a:t> </a:t>
            </a:r>
            <a:r>
              <a:rPr lang="de-AT" sz="1100" i="1" dirty="0" err="1"/>
              <a:t>of</a:t>
            </a:r>
            <a:r>
              <a:rPr lang="de-AT" sz="1100" i="1" dirty="0"/>
              <a:t> </a:t>
            </a:r>
            <a:r>
              <a:rPr lang="de-AT" sz="1100" i="1" dirty="0" err="1"/>
              <a:t>charging</a:t>
            </a:r>
            <a:r>
              <a:rPr lang="de-AT" sz="1100" i="1" dirty="0"/>
              <a:t> </a:t>
            </a:r>
            <a:r>
              <a:rPr lang="de-AT" sz="1100" i="1" dirty="0" err="1"/>
              <a:t>events</a:t>
            </a:r>
            <a:endParaRPr lang="de-AT" sz="1100" i="1" dirty="0"/>
          </a:p>
          <a:p>
            <a:pPr marL="285750" indent="-285750">
              <a:buFont typeface="Wingdings" panose="05000000000000000000" pitchFamily="2" charset="2"/>
              <a:buChar char="§"/>
            </a:pPr>
            <a:r>
              <a:rPr lang="de-AT" sz="1100" i="1" dirty="0"/>
              <a:t>Real </a:t>
            </a:r>
            <a:r>
              <a:rPr lang="de-AT" sz="1100" i="1" dirty="0" err="1"/>
              <a:t>world</a:t>
            </a:r>
            <a:r>
              <a:rPr lang="de-AT" sz="1100" i="1" dirty="0"/>
              <a:t> </a:t>
            </a:r>
            <a:r>
              <a:rPr lang="de-AT" sz="1100" i="1" dirty="0" err="1"/>
              <a:t>usage</a:t>
            </a:r>
            <a:r>
              <a:rPr lang="de-AT" sz="1100" i="1" dirty="0"/>
              <a:t> </a:t>
            </a:r>
            <a:r>
              <a:rPr lang="de-AT" sz="1100" i="1" dirty="0" err="1"/>
              <a:t>factor</a:t>
            </a:r>
            <a:r>
              <a:rPr lang="de-AT" sz="1100" i="1" dirty="0"/>
              <a:t> (0.5)</a:t>
            </a:r>
          </a:p>
        </p:txBody>
      </p:sp>
      <p:sp>
        <p:nvSpPr>
          <p:cNvPr id="15" name="Geschweifte Klammer links 14"/>
          <p:cNvSpPr/>
          <p:nvPr/>
        </p:nvSpPr>
        <p:spPr>
          <a:xfrm>
            <a:off x="6575167" y="4793592"/>
            <a:ext cx="188096" cy="1108472"/>
          </a:xfrm>
          <a:prstGeom prst="leftBrace">
            <a:avLst>
              <a:gd name="adj1" fmla="val 8333"/>
              <a:gd name="adj2" fmla="val 43869"/>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6" name="Textfeld 15"/>
          <p:cNvSpPr txBox="1"/>
          <p:nvPr/>
        </p:nvSpPr>
        <p:spPr>
          <a:xfrm>
            <a:off x="6763263" y="3772293"/>
            <a:ext cx="2347784" cy="769441"/>
          </a:xfrm>
          <a:prstGeom prst="rect">
            <a:avLst/>
          </a:prstGeom>
          <a:noFill/>
        </p:spPr>
        <p:txBody>
          <a:bodyPr wrap="square" rtlCol="0">
            <a:spAutoFit/>
          </a:bodyPr>
          <a:lstStyle/>
          <a:p>
            <a:r>
              <a:rPr lang="de-AT" sz="1100" b="1" i="1" dirty="0" err="1"/>
              <a:t>Energy</a:t>
            </a:r>
            <a:r>
              <a:rPr lang="de-AT" sz="1100" b="1" i="1" dirty="0"/>
              <a:t> </a:t>
            </a:r>
            <a:r>
              <a:rPr lang="de-AT" sz="1100" b="1" i="1" dirty="0" err="1"/>
              <a:t>charged</a:t>
            </a:r>
            <a:r>
              <a:rPr lang="de-AT" sz="1100" b="1" i="1" dirty="0"/>
              <a:t> in </a:t>
            </a:r>
            <a:r>
              <a:rPr lang="de-AT" sz="1100" b="1" i="1" dirty="0" err="1"/>
              <a:t>depot</a:t>
            </a:r>
            <a:r>
              <a:rPr lang="de-AT" sz="1100" b="1" i="1" dirty="0"/>
              <a:t> limited </a:t>
            </a:r>
            <a:r>
              <a:rPr lang="de-AT" sz="1100" b="1" i="1" dirty="0" err="1"/>
              <a:t>by</a:t>
            </a:r>
            <a:r>
              <a:rPr lang="de-AT" sz="1100" b="1" i="1" dirty="0"/>
              <a:t>:</a:t>
            </a:r>
          </a:p>
          <a:p>
            <a:pPr marL="285750" indent="-285750">
              <a:buFont typeface="Wingdings" panose="05000000000000000000" pitchFamily="2" charset="2"/>
              <a:buChar char="§"/>
            </a:pPr>
            <a:r>
              <a:rPr lang="de-AT" sz="1100" i="1" dirty="0" err="1"/>
              <a:t>Usable</a:t>
            </a:r>
            <a:r>
              <a:rPr lang="de-AT" sz="1100" i="1" dirty="0"/>
              <a:t> </a:t>
            </a:r>
            <a:r>
              <a:rPr lang="de-AT" sz="1100" i="1" dirty="0" err="1"/>
              <a:t>battery</a:t>
            </a:r>
            <a:r>
              <a:rPr lang="de-AT" sz="1100" i="1" dirty="0"/>
              <a:t> </a:t>
            </a:r>
            <a:r>
              <a:rPr lang="de-AT" sz="1100" i="1" dirty="0" err="1"/>
              <a:t>capacity</a:t>
            </a:r>
            <a:endParaRPr lang="de-AT" sz="1100" i="1" dirty="0"/>
          </a:p>
          <a:p>
            <a:pPr marL="285750" indent="-285750">
              <a:buFont typeface="Wingdings" panose="05000000000000000000" pitchFamily="2" charset="2"/>
              <a:buChar char="§"/>
            </a:pPr>
            <a:r>
              <a:rPr lang="de-AT" sz="1100" i="1" dirty="0"/>
              <a:t>Real </a:t>
            </a:r>
            <a:r>
              <a:rPr lang="de-AT" sz="1100" i="1" dirty="0" err="1"/>
              <a:t>world</a:t>
            </a:r>
            <a:r>
              <a:rPr lang="de-AT" sz="1100" i="1" dirty="0"/>
              <a:t> </a:t>
            </a:r>
            <a:r>
              <a:rPr lang="de-AT" sz="1100" i="1" dirty="0" err="1"/>
              <a:t>usage</a:t>
            </a:r>
            <a:r>
              <a:rPr lang="de-AT" sz="1100" i="1" dirty="0"/>
              <a:t> </a:t>
            </a:r>
            <a:r>
              <a:rPr lang="de-AT" sz="1100" i="1" dirty="0" err="1"/>
              <a:t>factor</a:t>
            </a:r>
            <a:r>
              <a:rPr lang="de-AT" sz="1100" i="1" dirty="0"/>
              <a:t> (0.75)</a:t>
            </a:r>
          </a:p>
        </p:txBody>
      </p:sp>
      <p:sp>
        <p:nvSpPr>
          <p:cNvPr id="17" name="Geschweifte Klammer links 16"/>
          <p:cNvSpPr/>
          <p:nvPr/>
        </p:nvSpPr>
        <p:spPr>
          <a:xfrm>
            <a:off x="6575167" y="3830662"/>
            <a:ext cx="188096" cy="610099"/>
          </a:xfrm>
          <a:prstGeom prst="leftBrace">
            <a:avLst>
              <a:gd name="adj1" fmla="val 8333"/>
              <a:gd name="adj2" fmla="val 43869"/>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cxnSp>
        <p:nvCxnSpPr>
          <p:cNvPr id="19" name="Gewinkelter Verbinder 18"/>
          <p:cNvCxnSpPr/>
          <p:nvPr/>
        </p:nvCxnSpPr>
        <p:spPr>
          <a:xfrm flipV="1">
            <a:off x="5461689" y="4098305"/>
            <a:ext cx="1082589" cy="102820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p:nvPr/>
        </p:nvCxnSpPr>
        <p:spPr>
          <a:xfrm>
            <a:off x="5461689" y="5280970"/>
            <a:ext cx="108258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20995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en-GB" sz="1800" dirty="0"/>
              <a:t>For further details please refer to: </a:t>
            </a:r>
            <a:r>
              <a:rPr lang="en-GB" sz="1800" b="1" i="1" dirty="0"/>
              <a:t>VECTO-DEV WS#9 11.01.2022 (slide 23ff)</a:t>
            </a:r>
          </a:p>
          <a:p>
            <a:endParaRPr lang="en-GB" sz="1800" b="1" i="1" dirty="0"/>
          </a:p>
          <a:p>
            <a:r>
              <a:rPr lang="en-GB" sz="1800" b="1" i="1" dirty="0"/>
              <a:t>Excel will be distributed together with meeting material</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23</a:t>
            </a:fld>
            <a:endParaRPr lang="de-DE"/>
          </a:p>
        </p:txBody>
      </p:sp>
    </p:spTree>
    <p:extLst>
      <p:ext uri="{BB962C8B-B14F-4D97-AF65-F5344CB8AC3E}">
        <p14:creationId xmlns:p14="http://schemas.microsoft.com/office/powerpoint/2010/main" val="18190761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24</a:t>
            </a:fld>
            <a:endParaRPr lang="de-DE"/>
          </a:p>
        </p:txBody>
      </p:sp>
      <p:sp>
        <p:nvSpPr>
          <p:cNvPr id="6" name="Inhaltsplatzhalter 5"/>
          <p:cNvSpPr>
            <a:spLocks noGrp="1"/>
          </p:cNvSpPr>
          <p:nvPr>
            <p:ph idx="1"/>
          </p:nvPr>
        </p:nvSpPr>
        <p:spPr/>
        <p:txBody>
          <a:bodyPr/>
          <a:lstStyle/>
          <a:p>
            <a:pPr>
              <a:spcBef>
                <a:spcPts val="600"/>
              </a:spcBef>
            </a:pPr>
            <a:r>
              <a:rPr lang="en-US" sz="1600" dirty="0"/>
              <a:t>OVC-HEV are HEV with external charging feature (“Plug-in HEV”)</a:t>
            </a:r>
          </a:p>
          <a:p>
            <a:pPr lvl="1">
              <a:spcBef>
                <a:spcPts val="600"/>
              </a:spcBef>
            </a:pPr>
            <a:r>
              <a:rPr lang="en-US" sz="1600" dirty="0"/>
              <a:t>Declared acc. to Annex III (</a:t>
            </a:r>
            <a:r>
              <a:rPr lang="en-US" sz="1600" i="1" dirty="0"/>
              <a:t>P401)</a:t>
            </a:r>
            <a:br>
              <a:rPr lang="en-US" sz="1600" i="1" dirty="0"/>
            </a:br>
            <a:endParaRPr lang="en-US" sz="1600" dirty="0"/>
          </a:p>
          <a:p>
            <a:pPr>
              <a:spcBef>
                <a:spcPts val="600"/>
              </a:spcBef>
            </a:pPr>
            <a:r>
              <a:rPr lang="en-US" sz="1600" dirty="0"/>
              <a:t>2 operation modes for OVC-HEV defined in VECTO:</a:t>
            </a:r>
          </a:p>
          <a:p>
            <a:pPr lvl="1">
              <a:spcBef>
                <a:spcPts val="600"/>
              </a:spcBef>
            </a:pPr>
            <a:r>
              <a:rPr lang="en-US" sz="1400" dirty="0"/>
              <a:t>Charge depleting mode (CD) where the propulsion energy is provided by the electric storage only</a:t>
            </a:r>
            <a:br>
              <a:rPr lang="en-US" sz="1400" dirty="0"/>
            </a:br>
            <a:r>
              <a:rPr lang="en-US" sz="1400" i="1" dirty="0">
                <a:sym typeface="Wingdings" panose="05000000000000000000" pitchFamily="2" charset="2"/>
              </a:rPr>
              <a:t> results: </a:t>
            </a:r>
            <a:r>
              <a:rPr lang="en-US" sz="1400" i="1" dirty="0" err="1"/>
              <a:t>kWh_el</a:t>
            </a:r>
            <a:r>
              <a:rPr lang="en-US" sz="1400" i="1" dirty="0"/>
              <a:t>/km, electric range</a:t>
            </a:r>
            <a:br>
              <a:rPr lang="en-US" sz="1400" i="1" dirty="0"/>
            </a:br>
            <a:endParaRPr lang="en-US" sz="1400" i="1" dirty="0"/>
          </a:p>
          <a:p>
            <a:pPr lvl="1">
              <a:spcBef>
                <a:spcPts val="600"/>
              </a:spcBef>
            </a:pPr>
            <a:r>
              <a:rPr lang="en-US" sz="1400" dirty="0"/>
              <a:t>Charge sustaining mode (CS) where the propulsion energy is provided by the fuel storage</a:t>
            </a:r>
            <a:br>
              <a:rPr lang="en-US" sz="1400" dirty="0"/>
            </a:br>
            <a:r>
              <a:rPr lang="en-US" sz="1400" i="1" dirty="0">
                <a:sym typeface="Wingdings" panose="05000000000000000000" pitchFamily="2" charset="2"/>
              </a:rPr>
              <a:t> SOC is balanced over complete cycle, thus no electric energy consumption</a:t>
            </a:r>
            <a:br>
              <a:rPr lang="en-US" sz="1400" i="1" dirty="0">
                <a:sym typeface="Wingdings" panose="05000000000000000000" pitchFamily="2" charset="2"/>
              </a:rPr>
            </a:br>
            <a:r>
              <a:rPr lang="en-US" sz="1400" i="1" dirty="0">
                <a:sym typeface="Wingdings" panose="05000000000000000000" pitchFamily="2" charset="2"/>
              </a:rPr>
              <a:t>    (</a:t>
            </a:r>
            <a:r>
              <a:rPr lang="en-US" sz="1400" i="1" dirty="0" err="1"/>
              <a:t>kWh_el</a:t>
            </a:r>
            <a:r>
              <a:rPr lang="en-US" sz="1400" i="1" dirty="0"/>
              <a:t>/km = 0 per definition!)</a:t>
            </a:r>
          </a:p>
          <a:p>
            <a:endParaRPr lang="de-AT" dirty="0"/>
          </a:p>
        </p:txBody>
      </p:sp>
    </p:spTree>
    <p:extLst>
      <p:ext uri="{BB962C8B-B14F-4D97-AF65-F5344CB8AC3E}">
        <p14:creationId xmlns:p14="http://schemas.microsoft.com/office/powerpoint/2010/main" val="25861895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25</a:t>
            </a:fld>
            <a:endParaRPr lang="de-DE"/>
          </a:p>
        </p:txBody>
      </p:sp>
      <p:sp>
        <p:nvSpPr>
          <p:cNvPr id="6" name="Inhaltsplatzhalter 5"/>
          <p:cNvSpPr>
            <a:spLocks noGrp="1"/>
          </p:cNvSpPr>
          <p:nvPr>
            <p:ph idx="1"/>
          </p:nvPr>
        </p:nvSpPr>
        <p:spPr/>
        <p:txBody>
          <a:bodyPr/>
          <a:lstStyle/>
          <a:p>
            <a:pPr>
              <a:spcBef>
                <a:spcPts val="600"/>
              </a:spcBef>
            </a:pPr>
            <a:r>
              <a:rPr lang="en-US" sz="1600" dirty="0"/>
              <a:t>Separate simulation runs are performed in VECTO for each mode automatically</a:t>
            </a:r>
            <a:br>
              <a:rPr lang="en-US" sz="1600" dirty="0"/>
            </a:br>
            <a:endParaRPr lang="en-US" sz="1600" dirty="0"/>
          </a:p>
          <a:p>
            <a:pPr>
              <a:spcBef>
                <a:spcPts val="600"/>
              </a:spcBef>
            </a:pPr>
            <a:r>
              <a:rPr lang="en-US" sz="1600" dirty="0"/>
              <a:t>Separate results for CD and CS are weighted for final result based on utility factor (UF)</a:t>
            </a:r>
          </a:p>
          <a:p>
            <a:pPr lvl="1">
              <a:spcBef>
                <a:spcPts val="600"/>
              </a:spcBef>
            </a:pPr>
            <a:r>
              <a:rPr lang="en-US" sz="1400" dirty="0"/>
              <a:t>UF is defined as share of electric range in CD mode on total daily mileage of each mission profile</a:t>
            </a:r>
          </a:p>
          <a:p>
            <a:pPr lvl="2">
              <a:spcBef>
                <a:spcPts val="600"/>
              </a:spcBef>
            </a:pPr>
            <a:r>
              <a:rPr lang="en-US" sz="1200" dirty="0"/>
              <a:t>electric range is defined by:</a:t>
            </a:r>
          </a:p>
          <a:p>
            <a:pPr lvl="3">
              <a:spcBef>
                <a:spcPts val="600"/>
              </a:spcBef>
            </a:pPr>
            <a:r>
              <a:rPr lang="en-US" sz="1100" dirty="0"/>
              <a:t>Electric energy consumption in the specific mission in [kWh/km] as result from the simulation</a:t>
            </a:r>
          </a:p>
          <a:p>
            <a:pPr lvl="3">
              <a:spcBef>
                <a:spcPts val="600"/>
              </a:spcBef>
            </a:pPr>
            <a:r>
              <a:rPr lang="en-US" sz="1100" dirty="0"/>
              <a:t>Usable electric energy, which in turn is defined by:</a:t>
            </a:r>
          </a:p>
          <a:p>
            <a:pPr lvl="4">
              <a:spcBef>
                <a:spcPts val="600"/>
              </a:spcBef>
            </a:pPr>
            <a:r>
              <a:rPr lang="en-US" sz="1100" dirty="0"/>
              <a:t>battery capacity due to initial SOC</a:t>
            </a:r>
          </a:p>
          <a:p>
            <a:pPr lvl="4">
              <a:spcBef>
                <a:spcPts val="600"/>
              </a:spcBef>
            </a:pPr>
            <a:r>
              <a:rPr lang="en-US" sz="1100" dirty="0"/>
              <a:t>generic assumptions for re-charging during each mission</a:t>
            </a:r>
            <a:br>
              <a:rPr lang="en-US" sz="1100" dirty="0"/>
            </a:br>
            <a:r>
              <a:rPr lang="en-US" sz="1100" dirty="0"/>
              <a:t>(number and duration of charging events, available charging power from infrastructure)</a:t>
            </a:r>
            <a:br>
              <a:rPr lang="en-US" sz="1100" dirty="0"/>
            </a:br>
            <a:endParaRPr lang="en-US" sz="1000" dirty="0"/>
          </a:p>
          <a:p>
            <a:pPr lvl="1">
              <a:spcBef>
                <a:spcPts val="600"/>
              </a:spcBef>
            </a:pPr>
            <a:r>
              <a:rPr lang="en-US" sz="1400" dirty="0"/>
              <a:t>Weighted results (fuel or energy consumption) are calculated according to the following equation:</a:t>
            </a:r>
          </a:p>
          <a:p>
            <a:pPr lvl="1">
              <a:spcBef>
                <a:spcPts val="600"/>
              </a:spcBef>
            </a:pPr>
            <a:endParaRPr lang="en-US" sz="1400" dirty="0"/>
          </a:p>
        </p:txBody>
      </p:sp>
      <p:pic>
        <p:nvPicPr>
          <p:cNvPr id="5" name="Grafik 4"/>
          <p:cNvPicPr>
            <a:picLocks noChangeAspect="1"/>
          </p:cNvPicPr>
          <p:nvPr/>
        </p:nvPicPr>
        <p:blipFill>
          <a:blip r:embed="rId2"/>
          <a:stretch>
            <a:fillRect/>
          </a:stretch>
        </p:blipFill>
        <p:spPr>
          <a:xfrm>
            <a:off x="1314755" y="5132654"/>
            <a:ext cx="2731488" cy="783295"/>
          </a:xfrm>
          <a:prstGeom prst="rect">
            <a:avLst/>
          </a:prstGeom>
        </p:spPr>
      </p:pic>
    </p:spTree>
    <p:extLst>
      <p:ext uri="{BB962C8B-B14F-4D97-AF65-F5344CB8AC3E}">
        <p14:creationId xmlns:p14="http://schemas.microsoft.com/office/powerpoint/2010/main" val="33252939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Range calculations</a:t>
            </a:r>
          </a:p>
        </p:txBody>
      </p:sp>
      <p:sp>
        <p:nvSpPr>
          <p:cNvPr id="3" name="Inhaltsplatzhalter 2"/>
          <p:cNvSpPr>
            <a:spLocks noGrp="1"/>
          </p:cNvSpPr>
          <p:nvPr>
            <p:ph idx="1"/>
          </p:nvPr>
        </p:nvSpPr>
        <p:spPr/>
        <p:txBody>
          <a:bodyPr/>
          <a:lstStyle/>
          <a:p>
            <a:r>
              <a:rPr lang="en-US" sz="1800" dirty="0"/>
              <a:t>Overview of different ranges in result matrix in VECTO</a:t>
            </a:r>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26</a:t>
            </a:fld>
            <a:endParaRPr lang="de-DE"/>
          </a:p>
        </p:txBody>
      </p:sp>
      <p:graphicFrame>
        <p:nvGraphicFramePr>
          <p:cNvPr id="7" name="Tabelle 6"/>
          <p:cNvGraphicFramePr>
            <a:graphicFrameLocks noGrp="1"/>
          </p:cNvGraphicFramePr>
          <p:nvPr>
            <p:extLst/>
          </p:nvPr>
        </p:nvGraphicFramePr>
        <p:xfrm>
          <a:off x="917938" y="2549079"/>
          <a:ext cx="6221501" cy="2481635"/>
        </p:xfrm>
        <a:graphic>
          <a:graphicData uri="http://schemas.openxmlformats.org/drawingml/2006/table">
            <a:tbl>
              <a:tblPr firstRow="1" bandRow="1">
                <a:tableStyleId>{5C22544A-7EE6-4342-B048-85BDC9FD1C3A}</a:tableStyleId>
              </a:tblPr>
              <a:tblGrid>
                <a:gridCol w="1840495">
                  <a:extLst>
                    <a:ext uri="{9D8B030D-6E8A-4147-A177-3AD203B41FA5}">
                      <a16:colId xmlns:a16="http://schemas.microsoft.com/office/drawing/2014/main" val="984975428"/>
                    </a:ext>
                  </a:extLst>
                </a:gridCol>
                <a:gridCol w="4381006">
                  <a:extLst>
                    <a:ext uri="{9D8B030D-6E8A-4147-A177-3AD203B41FA5}">
                      <a16:colId xmlns:a16="http://schemas.microsoft.com/office/drawing/2014/main" val="3109349199"/>
                    </a:ext>
                  </a:extLst>
                </a:gridCol>
              </a:tblGrid>
              <a:tr h="302315">
                <a:tc>
                  <a:txBody>
                    <a:bodyPr/>
                    <a:lstStyle/>
                    <a:p>
                      <a:r>
                        <a:rPr lang="en-GB" sz="1200" dirty="0"/>
                        <a:t>Electric range</a:t>
                      </a:r>
                    </a:p>
                  </a:txBody>
                  <a:tcPr/>
                </a:tc>
                <a:tc>
                  <a:txBody>
                    <a:bodyPr/>
                    <a:lstStyle/>
                    <a:p>
                      <a:r>
                        <a:rPr lang="en-GB" sz="1200" dirty="0"/>
                        <a:t>Definition</a:t>
                      </a:r>
                    </a:p>
                  </a:txBody>
                  <a:tcPr/>
                </a:tc>
                <a:extLst>
                  <a:ext uri="{0D108BD9-81ED-4DB2-BD59-A6C34878D82A}">
                    <a16:rowId xmlns:a16="http://schemas.microsoft.com/office/drawing/2014/main" val="652954536"/>
                  </a:ext>
                </a:extLst>
              </a:tr>
              <a:tr h="370840">
                <a:tc>
                  <a:txBody>
                    <a:bodyPr/>
                    <a:lstStyle/>
                    <a:p>
                      <a:pPr>
                        <a:spcBef>
                          <a:spcPts val="600"/>
                        </a:spcBef>
                      </a:pPr>
                      <a:r>
                        <a:rPr lang="en-GB" sz="1000" b="1"/>
                        <a:t>Actual charge depleting range</a:t>
                      </a:r>
                    </a:p>
                    <a:p>
                      <a:pPr>
                        <a:spcBef>
                          <a:spcPts val="600"/>
                        </a:spcBef>
                      </a:pPr>
                      <a:r>
                        <a:rPr lang="en-GB" sz="1000" b="1"/>
                        <a:t>(R</a:t>
                      </a:r>
                      <a:r>
                        <a:rPr lang="en-GB" sz="1000" b="1" baseline="-25000"/>
                        <a:t>CDA</a:t>
                      </a:r>
                      <a:r>
                        <a:rPr lang="en-GB" sz="1000" b="1" baseline="0"/>
                        <a:t>)</a:t>
                      </a:r>
                    </a:p>
                  </a:txBody>
                  <a:tcPr/>
                </a:tc>
                <a:tc>
                  <a:txBody>
                    <a:bodyPr/>
                    <a:lstStyle/>
                    <a:p>
                      <a:r>
                        <a:rPr lang="en-US" sz="1000" dirty="0">
                          <a:latin typeface="Times New Roman" panose="02020603050405020304" pitchFamily="18" charset="0"/>
                          <a:cs typeface="Times New Roman" panose="02020603050405020304" pitchFamily="18" charset="0"/>
                        </a:rPr>
                        <a:t>The range that can be driven in charge depleting mode based on the usable amount of REESS energy, without any interim charging. (Annex IV)</a:t>
                      </a:r>
                      <a:endParaRPr lang="en-GB" sz="1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08025345"/>
                  </a:ext>
                </a:extLst>
              </a:tr>
              <a:tr h="370840">
                <a:tc>
                  <a:txBody>
                    <a:bodyPr/>
                    <a:lstStyle/>
                    <a:p>
                      <a:pPr>
                        <a:spcBef>
                          <a:spcPts val="600"/>
                        </a:spcBef>
                      </a:pPr>
                      <a:r>
                        <a:rPr lang="en-GB" sz="1000" b="1" dirty="0"/>
                        <a:t>Equivalent all electric range</a:t>
                      </a:r>
                    </a:p>
                    <a:p>
                      <a:pPr>
                        <a:spcBef>
                          <a:spcPts val="600"/>
                        </a:spcBef>
                      </a:pPr>
                      <a:r>
                        <a:rPr lang="en-GB" sz="1000" b="1" dirty="0"/>
                        <a:t>(EAER)</a:t>
                      </a:r>
                    </a:p>
                  </a:txBody>
                  <a:tcPr/>
                </a:tc>
                <a:tc>
                  <a:txBody>
                    <a:bodyPr/>
                    <a:lstStyle/>
                    <a:p>
                      <a:pPr>
                        <a:spcBef>
                          <a:spcPts val="600"/>
                        </a:spcBef>
                      </a:pPr>
                      <a:r>
                        <a:rPr lang="en-US" sz="1000" dirty="0">
                          <a:latin typeface="Times New Roman" panose="02020603050405020304" pitchFamily="18" charset="0"/>
                          <a:cs typeface="Times New Roman" panose="02020603050405020304" pitchFamily="18" charset="0"/>
                        </a:rPr>
                        <a:t>The part of the actual charge depleting range that can be attributed to the use of electric energy from the REESS, i.e. without any energy provided by the non-electric propulsion energy storage system. (Annex IV)</a:t>
                      </a:r>
                    </a:p>
                    <a:p>
                      <a:pPr>
                        <a:spcBef>
                          <a:spcPts val="600"/>
                        </a:spcBef>
                      </a:pPr>
                      <a:r>
                        <a:rPr lang="en-US" sz="1000" dirty="0">
                          <a:latin typeface="+mn-lt"/>
                          <a:cs typeface="Times New Roman" panose="02020603050405020304" pitchFamily="18" charset="0"/>
                        </a:rPr>
                        <a:t>i.e.</a:t>
                      </a:r>
                      <a:r>
                        <a:rPr lang="en-US" sz="1000" baseline="0" dirty="0">
                          <a:latin typeface="+mn-lt"/>
                          <a:cs typeface="Times New Roman" panose="02020603050405020304" pitchFamily="18" charset="0"/>
                        </a:rPr>
                        <a:t> R</a:t>
                      </a:r>
                      <a:r>
                        <a:rPr lang="en-US" sz="1000" baseline="-25000" dirty="0">
                          <a:latin typeface="+mn-lt"/>
                          <a:cs typeface="Times New Roman" panose="02020603050405020304" pitchFamily="18" charset="0"/>
                        </a:rPr>
                        <a:t>CDA</a:t>
                      </a:r>
                      <a:r>
                        <a:rPr lang="en-US" sz="1000" baseline="0" dirty="0">
                          <a:latin typeface="+mn-lt"/>
                          <a:cs typeface="Times New Roman" panose="02020603050405020304" pitchFamily="18" charset="0"/>
                        </a:rPr>
                        <a:t> mathematically reduced by energy content of fuel used (based on fuel consumption in charge sustaining mode)</a:t>
                      </a:r>
                      <a:endParaRPr lang="en-GB" sz="1000" dirty="0">
                        <a:latin typeface="+mn-lt"/>
                        <a:cs typeface="Times New Roman" panose="02020603050405020304" pitchFamily="18" charset="0"/>
                      </a:endParaRPr>
                    </a:p>
                  </a:txBody>
                  <a:tcPr/>
                </a:tc>
                <a:extLst>
                  <a:ext uri="{0D108BD9-81ED-4DB2-BD59-A6C34878D82A}">
                    <a16:rowId xmlns:a16="http://schemas.microsoft.com/office/drawing/2014/main" val="2413726602"/>
                  </a:ext>
                </a:extLst>
              </a:tr>
              <a:tr h="370840">
                <a:tc>
                  <a:txBody>
                    <a:bodyPr/>
                    <a:lstStyle/>
                    <a:p>
                      <a:pPr>
                        <a:spcBef>
                          <a:spcPts val="600"/>
                        </a:spcBef>
                      </a:pPr>
                      <a:r>
                        <a:rPr lang="en-GB" sz="1000" b="1" dirty="0"/>
                        <a:t>Zero CO</a:t>
                      </a:r>
                      <a:r>
                        <a:rPr lang="en-GB" sz="1000" b="1" baseline="-25000" dirty="0"/>
                        <a:t>2 </a:t>
                      </a:r>
                      <a:r>
                        <a:rPr lang="en-GB" sz="1000" b="1" dirty="0"/>
                        <a:t>emissions range</a:t>
                      </a:r>
                    </a:p>
                    <a:p>
                      <a:pPr>
                        <a:spcBef>
                          <a:spcPts val="600"/>
                        </a:spcBef>
                      </a:pPr>
                      <a:r>
                        <a:rPr lang="en-GB" sz="1000" b="1" dirty="0"/>
                        <a:t>(ZCER)</a:t>
                      </a:r>
                    </a:p>
                  </a:txBody>
                  <a:tcPr/>
                </a:tc>
                <a:tc>
                  <a:txBody>
                    <a:bodyPr/>
                    <a:lstStyle/>
                    <a:p>
                      <a:pPr>
                        <a:spcBef>
                          <a:spcPts val="600"/>
                        </a:spcBef>
                      </a:pPr>
                      <a:r>
                        <a:rPr lang="en-US" sz="1000" dirty="0">
                          <a:latin typeface="Times New Roman" panose="02020603050405020304" pitchFamily="18" charset="0"/>
                          <a:cs typeface="Times New Roman" panose="02020603050405020304" pitchFamily="18" charset="0"/>
                        </a:rPr>
                        <a:t>The range that can be attributed to energy provided by propulsion energy storage systems considered with zero CO</a:t>
                      </a:r>
                      <a:r>
                        <a:rPr lang="en-US" sz="1000" baseline="-25000" dirty="0">
                          <a:latin typeface="Times New Roman" panose="02020603050405020304" pitchFamily="18" charset="0"/>
                          <a:cs typeface="Times New Roman" panose="02020603050405020304" pitchFamily="18" charset="0"/>
                        </a:rPr>
                        <a:t>2</a:t>
                      </a:r>
                      <a:r>
                        <a:rPr lang="en-US" sz="1000" dirty="0">
                          <a:latin typeface="Times New Roman" panose="02020603050405020304" pitchFamily="18" charset="0"/>
                          <a:cs typeface="Times New Roman" panose="02020603050405020304" pitchFamily="18" charset="0"/>
                        </a:rPr>
                        <a:t> impact. (Annex IV)</a:t>
                      </a:r>
                    </a:p>
                    <a:p>
                      <a:pPr>
                        <a:spcBef>
                          <a:spcPts val="600"/>
                        </a:spcBef>
                      </a:pPr>
                      <a:endParaRPr lang="en-US" sz="1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291852091"/>
                  </a:ext>
                </a:extLst>
              </a:tr>
            </a:tbl>
          </a:graphicData>
        </a:graphic>
      </p:graphicFrame>
      <p:sp>
        <p:nvSpPr>
          <p:cNvPr id="6" name="Geschweifte Klammer rechts 5"/>
          <p:cNvSpPr/>
          <p:nvPr/>
        </p:nvSpPr>
        <p:spPr>
          <a:xfrm>
            <a:off x="7201609" y="3494863"/>
            <a:ext cx="96552" cy="152681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8" name="Gleich 7"/>
          <p:cNvSpPr/>
          <p:nvPr/>
        </p:nvSpPr>
        <p:spPr>
          <a:xfrm>
            <a:off x="7360332" y="4130997"/>
            <a:ext cx="527318" cy="272616"/>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
        <p:nvSpPr>
          <p:cNvPr id="9" name="Textfeld 8"/>
          <p:cNvSpPr txBox="1"/>
          <p:nvPr/>
        </p:nvSpPr>
        <p:spPr>
          <a:xfrm>
            <a:off x="7348317" y="3578333"/>
            <a:ext cx="551349" cy="600164"/>
          </a:xfrm>
          <a:prstGeom prst="rect">
            <a:avLst/>
          </a:prstGeom>
          <a:noFill/>
        </p:spPr>
        <p:txBody>
          <a:bodyPr wrap="square" rtlCol="0">
            <a:spAutoFit/>
          </a:bodyPr>
          <a:lstStyle/>
          <a:p>
            <a:pPr algn="ctr"/>
            <a:r>
              <a:rPr lang="de-AT" sz="1100" dirty="0" err="1"/>
              <a:t>for</a:t>
            </a:r>
            <a:r>
              <a:rPr lang="de-AT" sz="1100" dirty="0"/>
              <a:t> OVC-HEV</a:t>
            </a:r>
          </a:p>
        </p:txBody>
      </p:sp>
      <p:sp>
        <p:nvSpPr>
          <p:cNvPr id="10" name="Geschweifte Klammer rechts 9"/>
          <p:cNvSpPr/>
          <p:nvPr/>
        </p:nvSpPr>
        <p:spPr>
          <a:xfrm>
            <a:off x="8138253" y="2825677"/>
            <a:ext cx="96552" cy="21960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1" name="Gleich 10"/>
          <p:cNvSpPr/>
          <p:nvPr/>
        </p:nvSpPr>
        <p:spPr>
          <a:xfrm>
            <a:off x="8250444" y="3789280"/>
            <a:ext cx="527318" cy="272616"/>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
        <p:nvSpPr>
          <p:cNvPr id="12" name="Textfeld 11"/>
          <p:cNvSpPr txBox="1"/>
          <p:nvPr/>
        </p:nvSpPr>
        <p:spPr>
          <a:xfrm>
            <a:off x="8238429" y="3401329"/>
            <a:ext cx="551349" cy="430887"/>
          </a:xfrm>
          <a:prstGeom prst="rect">
            <a:avLst/>
          </a:prstGeom>
          <a:noFill/>
        </p:spPr>
        <p:txBody>
          <a:bodyPr wrap="square" rtlCol="0">
            <a:spAutoFit/>
          </a:bodyPr>
          <a:lstStyle/>
          <a:p>
            <a:pPr algn="ctr"/>
            <a:r>
              <a:rPr lang="de-AT" sz="1100" dirty="0" err="1"/>
              <a:t>for</a:t>
            </a:r>
            <a:r>
              <a:rPr lang="de-AT" sz="1100" dirty="0"/>
              <a:t> PEV</a:t>
            </a:r>
          </a:p>
        </p:txBody>
      </p:sp>
    </p:spTree>
    <p:extLst>
      <p:ext uri="{BB962C8B-B14F-4D97-AF65-F5344CB8AC3E}">
        <p14:creationId xmlns:p14="http://schemas.microsoft.com/office/powerpoint/2010/main" val="59655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27</a:t>
            </a:fld>
            <a:endParaRPr lang="de-DE"/>
          </a:p>
        </p:txBody>
      </p:sp>
      <p:sp>
        <p:nvSpPr>
          <p:cNvPr id="6" name="Inhaltsplatzhalter 5"/>
          <p:cNvSpPr>
            <a:spLocks noGrp="1"/>
          </p:cNvSpPr>
          <p:nvPr>
            <p:ph idx="1"/>
          </p:nvPr>
        </p:nvSpPr>
        <p:spPr>
          <a:xfrm>
            <a:off x="457200" y="1604519"/>
            <a:ext cx="8229240" cy="4783839"/>
          </a:xfrm>
        </p:spPr>
        <p:txBody>
          <a:bodyPr>
            <a:normAutofit/>
          </a:bodyPr>
          <a:lstStyle/>
          <a:p>
            <a:pPr>
              <a:spcBef>
                <a:spcPts val="600"/>
              </a:spcBef>
            </a:pPr>
            <a:r>
              <a:rPr lang="en-US" sz="1600" dirty="0"/>
              <a:t>Schematic overview of result matrix in VECTO for CD + CS mode</a:t>
            </a: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endParaRPr lang="en-US" sz="1600" dirty="0"/>
          </a:p>
          <a:p>
            <a:pPr>
              <a:spcBef>
                <a:spcPts val="600"/>
              </a:spcBef>
            </a:pPr>
            <a:r>
              <a:rPr lang="en-GB" sz="1600" dirty="0"/>
              <a:t>For further details please refer to: </a:t>
            </a:r>
            <a:r>
              <a:rPr lang="en-GB" sz="1600" b="1" i="1" dirty="0"/>
              <a:t>VECTO-DEV WS#13 04.07.2022 (slide 12ff)</a:t>
            </a:r>
            <a:endParaRPr lang="en-US" sz="1600" dirty="0"/>
          </a:p>
        </p:txBody>
      </p:sp>
      <p:pic>
        <p:nvPicPr>
          <p:cNvPr id="3" name="Grafik 2"/>
          <p:cNvPicPr>
            <a:picLocks noChangeAspect="1"/>
          </p:cNvPicPr>
          <p:nvPr/>
        </p:nvPicPr>
        <p:blipFill>
          <a:blip r:embed="rId2"/>
          <a:stretch>
            <a:fillRect/>
          </a:stretch>
        </p:blipFill>
        <p:spPr>
          <a:xfrm>
            <a:off x="149635" y="2237649"/>
            <a:ext cx="6814756" cy="2797416"/>
          </a:xfrm>
          <a:prstGeom prst="rect">
            <a:avLst/>
          </a:prstGeom>
        </p:spPr>
      </p:pic>
      <p:sp>
        <p:nvSpPr>
          <p:cNvPr id="8" name="Textfeld 7"/>
          <p:cNvSpPr txBox="1"/>
          <p:nvPr/>
        </p:nvSpPr>
        <p:spPr>
          <a:xfrm>
            <a:off x="6964391" y="2423768"/>
            <a:ext cx="2179609" cy="2816156"/>
          </a:xfrm>
          <a:prstGeom prst="rect">
            <a:avLst/>
          </a:prstGeom>
          <a:noFill/>
        </p:spPr>
        <p:txBody>
          <a:bodyPr wrap="square" rtlCol="0">
            <a:spAutoFit/>
          </a:bodyPr>
          <a:lstStyle/>
          <a:p>
            <a:r>
              <a:rPr lang="de-AT" sz="1050" dirty="0"/>
              <a:t>Comments:</a:t>
            </a:r>
          </a:p>
          <a:p>
            <a:pPr marL="285750" indent="-285750">
              <a:spcBef>
                <a:spcPts val="300"/>
              </a:spcBef>
              <a:buFont typeface="Wingdings" panose="05000000000000000000" pitchFamily="2" charset="2"/>
              <a:buChar char="§"/>
            </a:pPr>
            <a:r>
              <a:rPr lang="de-AT" sz="1000" dirty="0"/>
              <a:t>General </a:t>
            </a:r>
            <a:r>
              <a:rPr lang="de-AT" sz="1000" dirty="0" err="1"/>
              <a:t>structure</a:t>
            </a:r>
            <a:r>
              <a:rPr lang="de-AT" sz="1000" dirty="0"/>
              <a:t> </a:t>
            </a:r>
            <a:r>
              <a:rPr lang="de-AT" sz="1000" dirty="0" err="1"/>
              <a:t>given</a:t>
            </a:r>
            <a:r>
              <a:rPr lang="de-AT" sz="1000" dirty="0"/>
              <a:t> </a:t>
            </a:r>
            <a:r>
              <a:rPr lang="de-AT" sz="1000" dirty="0" err="1"/>
              <a:t>by</a:t>
            </a:r>
            <a:r>
              <a:rPr lang="de-AT" sz="1000" dirty="0"/>
              <a:t> XML </a:t>
            </a:r>
            <a:r>
              <a:rPr lang="de-AT" sz="1000" dirty="0" err="1"/>
              <a:t>schema</a:t>
            </a:r>
            <a:r>
              <a:rPr lang="de-AT" sz="1000" dirty="0"/>
              <a:t> </a:t>
            </a:r>
            <a:r>
              <a:rPr lang="de-AT" sz="1000" dirty="0" err="1"/>
              <a:t>structure</a:t>
            </a:r>
            <a:br>
              <a:rPr lang="de-AT" sz="1000" dirty="0"/>
            </a:br>
            <a:endParaRPr lang="de-AT" sz="600" dirty="0"/>
          </a:p>
          <a:p>
            <a:pPr marL="285750" indent="-285750">
              <a:spcBef>
                <a:spcPts val="300"/>
              </a:spcBef>
              <a:buFont typeface="Wingdings" panose="05000000000000000000" pitchFamily="2" charset="2"/>
              <a:buChar char="§"/>
            </a:pPr>
            <a:r>
              <a:rPr lang="en-US" sz="1000" dirty="0"/>
              <a:t>The "final results" for each mission profile and payload case are always output in the XML element "Total"</a:t>
            </a:r>
            <a:br>
              <a:rPr lang="en-US" sz="1000" dirty="0"/>
            </a:br>
            <a:endParaRPr lang="en-US" sz="600" dirty="0"/>
          </a:p>
          <a:p>
            <a:pPr marL="285750" indent="-285750">
              <a:spcBef>
                <a:spcPts val="300"/>
              </a:spcBef>
              <a:buFont typeface="Wingdings" panose="05000000000000000000" pitchFamily="2" charset="2"/>
              <a:buChar char="§"/>
            </a:pPr>
            <a:r>
              <a:rPr lang="de-AT" sz="1000" dirty="0"/>
              <a:t>FC, CO2, EC in </a:t>
            </a:r>
            <a:r>
              <a:rPr lang="en-US" sz="1000" dirty="0"/>
              <a:t>XML element "Total“ are weighted with UF</a:t>
            </a:r>
            <a:br>
              <a:rPr lang="en-US" sz="1000" dirty="0"/>
            </a:br>
            <a:endParaRPr lang="en-US" sz="600" dirty="0"/>
          </a:p>
          <a:p>
            <a:pPr marL="285750" indent="-285750">
              <a:spcBef>
                <a:spcPts val="300"/>
              </a:spcBef>
              <a:buFont typeface="Wingdings" panose="05000000000000000000" pitchFamily="2" charset="2"/>
              <a:buChar char="§"/>
            </a:pPr>
            <a:r>
              <a:rPr lang="en-US" sz="1000" dirty="0"/>
              <a:t>Ranges</a:t>
            </a:r>
            <a:r>
              <a:rPr lang="de-AT" sz="1000" dirty="0"/>
              <a:t> in </a:t>
            </a:r>
            <a:r>
              <a:rPr lang="en-US" sz="1000" dirty="0"/>
              <a:t>XML element "Total“ are identical to results from CD mode for OVC-HEV</a:t>
            </a:r>
            <a:br>
              <a:rPr lang="en-US" sz="1000" dirty="0"/>
            </a:br>
            <a:endParaRPr lang="en-US" sz="600" dirty="0"/>
          </a:p>
          <a:p>
            <a:pPr marL="285750" indent="-285750">
              <a:spcBef>
                <a:spcPts val="300"/>
              </a:spcBef>
              <a:buFont typeface="Wingdings" panose="05000000000000000000" pitchFamily="2" charset="2"/>
              <a:buChar char="§"/>
            </a:pPr>
            <a:r>
              <a:rPr lang="en-US" sz="1000" dirty="0"/>
              <a:t>Zero CO2 emissions range equals EAER for OVC-HEV</a:t>
            </a:r>
            <a:endParaRPr lang="de-AT" sz="1000" dirty="0"/>
          </a:p>
        </p:txBody>
      </p:sp>
    </p:spTree>
    <p:extLst>
      <p:ext uri="{BB962C8B-B14F-4D97-AF65-F5344CB8AC3E}">
        <p14:creationId xmlns:p14="http://schemas.microsoft.com/office/powerpoint/2010/main" val="682634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 - EX</a:t>
            </a:r>
          </a:p>
        </p:txBody>
      </p:sp>
      <p:sp>
        <p:nvSpPr>
          <p:cNvPr id="4" name="Foliennummernplatzhalter 3"/>
          <p:cNvSpPr>
            <a:spLocks noGrp="1"/>
          </p:cNvSpPr>
          <p:nvPr>
            <p:ph type="sldNum" sz="quarter" idx="12"/>
          </p:nvPr>
        </p:nvSpPr>
        <p:spPr/>
        <p:txBody>
          <a:bodyPr/>
          <a:lstStyle/>
          <a:p>
            <a:fld id="{4B64EC4D-37E3-EF42-B9AB-6337577588CB}" type="slidenum">
              <a:rPr lang="de-DE" smtClean="0"/>
              <a:t>28</a:t>
            </a:fld>
            <a:endParaRPr lang="de-DE"/>
          </a:p>
        </p:txBody>
      </p:sp>
      <p:sp>
        <p:nvSpPr>
          <p:cNvPr id="10" name="Textfeld 9"/>
          <p:cNvSpPr txBox="1"/>
          <p:nvPr/>
        </p:nvSpPr>
        <p:spPr>
          <a:xfrm>
            <a:off x="7145387" y="2718155"/>
            <a:ext cx="2101378" cy="261610"/>
          </a:xfrm>
          <a:prstGeom prst="rect">
            <a:avLst/>
          </a:prstGeom>
          <a:noFill/>
          <a:ln>
            <a:noFill/>
          </a:ln>
        </p:spPr>
        <p:txBody>
          <a:bodyPr wrap="square" rtlCol="0">
            <a:spAutoFit/>
          </a:bodyPr>
          <a:lstStyle/>
          <a:p>
            <a:r>
              <a:rPr lang="de-AT" sz="1100" b="1" i="1" dirty="0">
                <a:solidFill>
                  <a:schemeClr val="accent1"/>
                </a:solidFill>
              </a:rPr>
              <a:t>„</a:t>
            </a:r>
            <a:r>
              <a:rPr lang="de-AT" sz="1100" b="1" i="1" dirty="0" err="1">
                <a:solidFill>
                  <a:schemeClr val="accent1"/>
                </a:solidFill>
              </a:rPr>
              <a:t>Raw</a:t>
            </a:r>
            <a:r>
              <a:rPr lang="de-AT" sz="1100" b="1" i="1" dirty="0">
                <a:solidFill>
                  <a:schemeClr val="accent1"/>
                </a:solidFill>
              </a:rPr>
              <a:t>“ </a:t>
            </a:r>
            <a:r>
              <a:rPr lang="de-AT" sz="1100" b="1" i="1" dirty="0" err="1">
                <a:solidFill>
                  <a:schemeClr val="accent1"/>
                </a:solidFill>
              </a:rPr>
              <a:t>results</a:t>
            </a:r>
            <a:r>
              <a:rPr lang="de-AT" sz="1100" b="1" i="1" dirty="0">
                <a:solidFill>
                  <a:schemeClr val="accent1"/>
                </a:solidFill>
              </a:rPr>
              <a:t> </a:t>
            </a:r>
            <a:r>
              <a:rPr lang="de-AT" sz="1100" b="1" i="1" dirty="0" err="1">
                <a:solidFill>
                  <a:schemeClr val="accent1"/>
                </a:solidFill>
              </a:rPr>
              <a:t>by</a:t>
            </a:r>
            <a:r>
              <a:rPr lang="de-AT" sz="1100" b="1" i="1" dirty="0">
                <a:solidFill>
                  <a:schemeClr val="accent1"/>
                </a:solidFill>
              </a:rPr>
              <a:t> VECTO</a:t>
            </a:r>
          </a:p>
        </p:txBody>
      </p:sp>
      <p:sp>
        <p:nvSpPr>
          <p:cNvPr id="11" name="Geschweifte Klammer links 10"/>
          <p:cNvSpPr/>
          <p:nvPr/>
        </p:nvSpPr>
        <p:spPr>
          <a:xfrm rot="10800000">
            <a:off x="6866010" y="2070798"/>
            <a:ext cx="182841" cy="5698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links 11"/>
          <p:cNvSpPr/>
          <p:nvPr/>
        </p:nvSpPr>
        <p:spPr>
          <a:xfrm rot="10800000">
            <a:off x="6866009" y="2674692"/>
            <a:ext cx="182841" cy="350557"/>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7145387" y="2224901"/>
            <a:ext cx="2101378" cy="261610"/>
          </a:xfrm>
          <a:prstGeom prst="rect">
            <a:avLst/>
          </a:prstGeom>
          <a:noFill/>
          <a:ln>
            <a:noFill/>
          </a:ln>
        </p:spPr>
        <p:txBody>
          <a:bodyPr wrap="square" rtlCol="0">
            <a:spAutoFit/>
          </a:bodyPr>
          <a:lstStyle/>
          <a:p>
            <a:r>
              <a:rPr lang="de-AT" sz="1100" b="1" i="1" dirty="0" err="1">
                <a:solidFill>
                  <a:schemeClr val="accent1"/>
                </a:solidFill>
              </a:rPr>
              <a:t>Declared</a:t>
            </a:r>
            <a:r>
              <a:rPr lang="de-AT" sz="1100" b="1" i="1" dirty="0">
                <a:solidFill>
                  <a:schemeClr val="accent1"/>
                </a:solidFill>
              </a:rPr>
              <a:t> / </a:t>
            </a:r>
            <a:r>
              <a:rPr lang="de-AT" sz="1100" b="1" i="1" dirty="0" err="1">
                <a:solidFill>
                  <a:schemeClr val="accent1"/>
                </a:solidFill>
              </a:rPr>
              <a:t>Component</a:t>
            </a:r>
            <a:r>
              <a:rPr lang="de-AT" sz="1100" b="1" i="1" dirty="0">
                <a:solidFill>
                  <a:schemeClr val="accent1"/>
                </a:solidFill>
              </a:rPr>
              <a:t> </a:t>
            </a:r>
            <a:r>
              <a:rPr lang="de-AT" sz="1100" b="1" i="1" dirty="0" err="1">
                <a:solidFill>
                  <a:schemeClr val="accent1"/>
                </a:solidFill>
              </a:rPr>
              <a:t>data</a:t>
            </a:r>
            <a:endParaRPr lang="de-AT" sz="1100" b="1" i="1" dirty="0">
              <a:solidFill>
                <a:schemeClr val="accent1"/>
              </a:solidFill>
            </a:endParaRPr>
          </a:p>
        </p:txBody>
      </p:sp>
      <p:sp>
        <p:nvSpPr>
          <p:cNvPr id="14" name="Pfeil nach unten 13"/>
          <p:cNvSpPr/>
          <p:nvPr/>
        </p:nvSpPr>
        <p:spPr>
          <a:xfrm>
            <a:off x="3190436" y="3451992"/>
            <a:ext cx="959836" cy="613386"/>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5" name="Textfeld 14"/>
          <p:cNvSpPr txBox="1"/>
          <p:nvPr/>
        </p:nvSpPr>
        <p:spPr>
          <a:xfrm>
            <a:off x="4406919" y="3605237"/>
            <a:ext cx="4129374" cy="261610"/>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different </a:t>
            </a:r>
            <a:r>
              <a:rPr lang="de-AT" sz="1100" b="1" i="1" dirty="0" err="1">
                <a:solidFill>
                  <a:schemeClr val="accent1"/>
                </a:solidFill>
              </a:rPr>
              <a:t>specific</a:t>
            </a:r>
            <a:r>
              <a:rPr lang="de-AT" sz="1100" b="1" i="1" dirty="0">
                <a:solidFill>
                  <a:schemeClr val="accent1"/>
                </a:solidFill>
              </a:rPr>
              <a:t> </a:t>
            </a:r>
            <a:r>
              <a:rPr lang="de-AT" sz="1100" b="1" i="1" dirty="0" err="1">
                <a:solidFill>
                  <a:schemeClr val="accent1"/>
                </a:solidFill>
              </a:rPr>
              <a:t>ranges</a:t>
            </a:r>
            <a:r>
              <a:rPr lang="de-AT" sz="1100" b="1" i="1" dirty="0">
                <a:solidFill>
                  <a:schemeClr val="accent1"/>
                </a:solidFill>
              </a:rPr>
              <a:t> </a:t>
            </a:r>
            <a:r>
              <a:rPr lang="de-AT" sz="1100" b="1" i="1" dirty="0" err="1">
                <a:solidFill>
                  <a:schemeClr val="accent1"/>
                </a:solidFill>
              </a:rPr>
              <a:t>from</a:t>
            </a:r>
            <a:r>
              <a:rPr lang="de-AT" sz="1100" b="1" i="1" dirty="0">
                <a:solidFill>
                  <a:schemeClr val="accent1"/>
                </a:solidFill>
              </a:rPr>
              <a:t> </a:t>
            </a:r>
            <a:r>
              <a:rPr lang="de-AT" sz="1100" b="1" i="1" dirty="0" err="1">
                <a:solidFill>
                  <a:schemeClr val="accent1"/>
                </a:solidFill>
              </a:rPr>
              <a:t>data</a:t>
            </a:r>
            <a:r>
              <a:rPr lang="de-AT" sz="1100" b="1" i="1" dirty="0">
                <a:solidFill>
                  <a:schemeClr val="accent1"/>
                </a:solidFill>
              </a:rPr>
              <a:t> </a:t>
            </a:r>
            <a:r>
              <a:rPr lang="de-AT" sz="1100" b="1" i="1" dirty="0" err="1">
                <a:solidFill>
                  <a:schemeClr val="accent1"/>
                </a:solidFill>
              </a:rPr>
              <a:t>above</a:t>
            </a:r>
            <a:endParaRPr lang="de-AT" sz="1100" b="1" i="1" dirty="0">
              <a:solidFill>
                <a:schemeClr val="accent1"/>
              </a:solidFill>
            </a:endParaRPr>
          </a:p>
        </p:txBody>
      </p:sp>
      <p:sp>
        <p:nvSpPr>
          <p:cNvPr id="16" name="Nach oben gebogener Pfeil 15"/>
          <p:cNvSpPr/>
          <p:nvPr/>
        </p:nvSpPr>
        <p:spPr>
          <a:xfrm rot="5400000">
            <a:off x="927786" y="4839052"/>
            <a:ext cx="935903" cy="1263690"/>
          </a:xfrm>
          <a:prstGeom prst="bentUpArrow">
            <a:avLst>
              <a:gd name="adj1" fmla="val 11797"/>
              <a:gd name="adj2" fmla="val 25689"/>
              <a:gd name="adj3" fmla="val 25746"/>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7" name="Textfeld 16"/>
          <p:cNvSpPr txBox="1"/>
          <p:nvPr/>
        </p:nvSpPr>
        <p:spPr>
          <a:xfrm>
            <a:off x="2027583" y="5563274"/>
            <a:ext cx="5419567" cy="261610"/>
          </a:xfrm>
          <a:prstGeom prst="rect">
            <a:avLst/>
          </a:prstGeom>
          <a:noFill/>
          <a:ln>
            <a:noFill/>
          </a:ln>
        </p:spPr>
        <p:txBody>
          <a:bodyPr wrap="square" rtlCol="0">
            <a:spAutoFit/>
          </a:bodyPr>
          <a:lstStyle/>
          <a:p>
            <a:r>
              <a:rPr lang="de-AT" sz="1100" b="1" i="1" dirty="0">
                <a:solidFill>
                  <a:schemeClr val="accent1"/>
                </a:solidFill>
              </a:rPr>
              <a:t>Relevant </a:t>
            </a:r>
            <a:r>
              <a:rPr lang="de-AT" sz="1100" b="1" i="1" dirty="0" err="1">
                <a:solidFill>
                  <a:schemeClr val="accent1"/>
                </a:solidFill>
              </a:rPr>
              <a:t>for</a:t>
            </a:r>
            <a:r>
              <a:rPr lang="de-AT" sz="1100" b="1" i="1" dirty="0">
                <a:solidFill>
                  <a:schemeClr val="accent1"/>
                </a:solidFill>
              </a:rPr>
              <a:t> CO2 Standards Regulation, not </a:t>
            </a:r>
            <a:r>
              <a:rPr lang="de-AT" sz="1100" b="1" i="1" dirty="0" err="1">
                <a:solidFill>
                  <a:schemeClr val="accent1"/>
                </a:solidFill>
              </a:rPr>
              <a:t>for</a:t>
            </a:r>
            <a:r>
              <a:rPr lang="de-AT" sz="1100" b="1" i="1" dirty="0">
                <a:solidFill>
                  <a:schemeClr val="accent1"/>
                </a:solidFill>
              </a:rPr>
              <a:t> </a:t>
            </a:r>
            <a:r>
              <a:rPr lang="de-AT" sz="1100" b="1" i="1" dirty="0" err="1">
                <a:solidFill>
                  <a:schemeClr val="accent1"/>
                </a:solidFill>
              </a:rPr>
              <a:t>weighting</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CD+CS </a:t>
            </a:r>
            <a:r>
              <a:rPr lang="de-AT" sz="1100" b="1" i="1" dirty="0" err="1">
                <a:solidFill>
                  <a:schemeClr val="accent1"/>
                </a:solidFill>
              </a:rPr>
              <a:t>results</a:t>
            </a:r>
            <a:endParaRPr lang="de-AT" sz="1100" b="1" i="1" dirty="0">
              <a:solidFill>
                <a:schemeClr val="accent1"/>
              </a:solidFill>
            </a:endParaRPr>
          </a:p>
        </p:txBody>
      </p:sp>
      <p:pic>
        <p:nvPicPr>
          <p:cNvPr id="21" name="Grafik 20"/>
          <p:cNvPicPr>
            <a:picLocks noChangeAspect="1"/>
          </p:cNvPicPr>
          <p:nvPr/>
        </p:nvPicPr>
        <p:blipFill>
          <a:blip r:embed="rId2"/>
          <a:stretch>
            <a:fillRect/>
          </a:stretch>
        </p:blipFill>
        <p:spPr>
          <a:xfrm>
            <a:off x="627174" y="2065267"/>
            <a:ext cx="6096000" cy="981075"/>
          </a:xfrm>
          <a:prstGeom prst="rect">
            <a:avLst/>
          </a:prstGeom>
        </p:spPr>
      </p:pic>
      <p:pic>
        <p:nvPicPr>
          <p:cNvPr id="22" name="Grafik 21"/>
          <p:cNvPicPr>
            <a:picLocks noChangeAspect="1"/>
          </p:cNvPicPr>
          <p:nvPr/>
        </p:nvPicPr>
        <p:blipFill>
          <a:blip r:embed="rId3"/>
          <a:stretch>
            <a:fillRect/>
          </a:stretch>
        </p:blipFill>
        <p:spPr>
          <a:xfrm>
            <a:off x="627174" y="4305187"/>
            <a:ext cx="6096000" cy="638175"/>
          </a:xfrm>
          <a:prstGeom prst="rect">
            <a:avLst/>
          </a:prstGeom>
        </p:spPr>
      </p:pic>
      <p:sp>
        <p:nvSpPr>
          <p:cNvPr id="27" name="Rechteck 26"/>
          <p:cNvSpPr/>
          <p:nvPr/>
        </p:nvSpPr>
        <p:spPr>
          <a:xfrm>
            <a:off x="6723174" y="4552807"/>
            <a:ext cx="72000" cy="1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28" name="Rechteck 27"/>
          <p:cNvSpPr/>
          <p:nvPr/>
        </p:nvSpPr>
        <p:spPr>
          <a:xfrm>
            <a:off x="6723174" y="4742768"/>
            <a:ext cx="72000" cy="1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0" name="Gewinkelter Verbinder 29"/>
          <p:cNvCxnSpPr>
            <a:stCxn id="27" idx="1"/>
            <a:endCxn id="28" idx="1"/>
          </p:cNvCxnSpPr>
          <p:nvPr/>
        </p:nvCxnSpPr>
        <p:spPr>
          <a:xfrm rot="10800000" flipV="1">
            <a:off x="6723174" y="4642807"/>
            <a:ext cx="12700" cy="189961"/>
          </a:xfrm>
          <a:prstGeom prst="bentConnector3">
            <a:avLst>
              <a:gd name="adj1" fmla="val -2091890"/>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32" name="Gleich 31"/>
          <p:cNvSpPr/>
          <p:nvPr/>
        </p:nvSpPr>
        <p:spPr>
          <a:xfrm>
            <a:off x="7048849" y="4606503"/>
            <a:ext cx="364524" cy="272531"/>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Tree>
    <p:extLst>
      <p:ext uri="{BB962C8B-B14F-4D97-AF65-F5344CB8AC3E}">
        <p14:creationId xmlns:p14="http://schemas.microsoft.com/office/powerpoint/2010/main" val="39670489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p:cNvPicPr>
            <a:picLocks noChangeAspect="1"/>
          </p:cNvPicPr>
          <p:nvPr/>
        </p:nvPicPr>
        <p:blipFill>
          <a:blip r:embed="rId2"/>
          <a:stretch>
            <a:fillRect/>
          </a:stretch>
        </p:blipFill>
        <p:spPr>
          <a:xfrm>
            <a:off x="622354" y="4765989"/>
            <a:ext cx="6096000" cy="1190625"/>
          </a:xfrm>
          <a:prstGeom prst="rect">
            <a:avLst/>
          </a:prstGeom>
        </p:spPr>
      </p:pic>
      <p:pic>
        <p:nvPicPr>
          <p:cNvPr id="3" name="Grafik 2"/>
          <p:cNvPicPr>
            <a:picLocks noChangeAspect="1"/>
          </p:cNvPicPr>
          <p:nvPr/>
        </p:nvPicPr>
        <p:blipFill>
          <a:blip r:embed="rId3"/>
          <a:stretch>
            <a:fillRect/>
          </a:stretch>
        </p:blipFill>
        <p:spPr>
          <a:xfrm>
            <a:off x="622354" y="1949509"/>
            <a:ext cx="6096000" cy="1352550"/>
          </a:xfrm>
          <a:prstGeom prst="rect">
            <a:avLst/>
          </a:prstGeom>
        </p:spPr>
      </p:pic>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 - EX</a:t>
            </a:r>
          </a:p>
        </p:txBody>
      </p:sp>
      <p:sp>
        <p:nvSpPr>
          <p:cNvPr id="4" name="Foliennummernplatzhalter 3"/>
          <p:cNvSpPr>
            <a:spLocks noGrp="1"/>
          </p:cNvSpPr>
          <p:nvPr>
            <p:ph type="sldNum" sz="quarter" idx="12"/>
          </p:nvPr>
        </p:nvSpPr>
        <p:spPr/>
        <p:txBody>
          <a:bodyPr/>
          <a:lstStyle/>
          <a:p>
            <a:fld id="{4B64EC4D-37E3-EF42-B9AB-6337577588CB}" type="slidenum">
              <a:rPr lang="de-DE" smtClean="0"/>
              <a:t>29</a:t>
            </a:fld>
            <a:endParaRPr lang="de-DE"/>
          </a:p>
        </p:txBody>
      </p:sp>
      <p:pic>
        <p:nvPicPr>
          <p:cNvPr id="35" name="Grafik 34"/>
          <p:cNvPicPr>
            <a:picLocks noChangeAspect="1"/>
          </p:cNvPicPr>
          <p:nvPr/>
        </p:nvPicPr>
        <p:blipFill rotWithShape="1">
          <a:blip r:embed="rId4"/>
          <a:srcRect b="73902"/>
          <a:stretch/>
        </p:blipFill>
        <p:spPr>
          <a:xfrm>
            <a:off x="622354" y="3748215"/>
            <a:ext cx="6096000" cy="618972"/>
          </a:xfrm>
          <a:prstGeom prst="rect">
            <a:avLst/>
          </a:prstGeom>
        </p:spPr>
      </p:pic>
      <p:sp>
        <p:nvSpPr>
          <p:cNvPr id="36" name="Geschweifte Klammer links 35"/>
          <p:cNvSpPr/>
          <p:nvPr/>
        </p:nvSpPr>
        <p:spPr>
          <a:xfrm rot="10800000">
            <a:off x="6840449" y="1948457"/>
            <a:ext cx="182841" cy="1362075"/>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37" name="Textfeld 36"/>
          <p:cNvSpPr txBox="1"/>
          <p:nvPr/>
        </p:nvSpPr>
        <p:spPr>
          <a:xfrm>
            <a:off x="7036942" y="2503064"/>
            <a:ext cx="1851480" cy="261610"/>
          </a:xfrm>
          <a:prstGeom prst="rect">
            <a:avLst/>
          </a:prstGeom>
          <a:noFill/>
          <a:ln>
            <a:noFill/>
          </a:ln>
        </p:spPr>
        <p:txBody>
          <a:bodyPr wrap="square" rtlCol="0">
            <a:spAutoFit/>
          </a:bodyPr>
          <a:lstStyle/>
          <a:p>
            <a:r>
              <a:rPr lang="de-AT" sz="1100" b="1" i="1" dirty="0" err="1">
                <a:solidFill>
                  <a:schemeClr val="accent1"/>
                </a:solidFill>
              </a:rPr>
              <a:t>Generic</a:t>
            </a:r>
            <a:r>
              <a:rPr lang="de-AT" sz="1100" b="1" i="1" dirty="0">
                <a:solidFill>
                  <a:schemeClr val="accent1"/>
                </a:solidFill>
              </a:rPr>
              <a:t> </a:t>
            </a:r>
            <a:r>
              <a:rPr lang="de-AT" sz="1100" b="1" i="1" dirty="0" err="1">
                <a:solidFill>
                  <a:schemeClr val="accent1"/>
                </a:solidFill>
              </a:rPr>
              <a:t>data</a:t>
            </a:r>
            <a:endParaRPr lang="de-AT" sz="1100" b="1" i="1" dirty="0">
              <a:solidFill>
                <a:schemeClr val="accent1"/>
              </a:solidFill>
            </a:endParaRPr>
          </a:p>
        </p:txBody>
      </p:sp>
      <p:sp>
        <p:nvSpPr>
          <p:cNvPr id="38" name="Textfeld 37"/>
          <p:cNvSpPr txBox="1"/>
          <p:nvPr/>
        </p:nvSpPr>
        <p:spPr>
          <a:xfrm>
            <a:off x="6943772" y="3962142"/>
            <a:ext cx="1727206" cy="400110"/>
          </a:xfrm>
          <a:prstGeom prst="rect">
            <a:avLst/>
          </a:prstGeom>
          <a:noFill/>
          <a:ln>
            <a:noFill/>
          </a:ln>
        </p:spPr>
        <p:txBody>
          <a:bodyPr wrap="square" rtlCol="0">
            <a:spAutoFit/>
          </a:bodyPr>
          <a:lstStyle/>
          <a:p>
            <a:r>
              <a:rPr lang="de-AT" sz="1000" b="1" i="1" dirty="0">
                <a:solidFill>
                  <a:schemeClr val="accent1"/>
                </a:solidFill>
              </a:rPr>
              <a:t>Due </a:t>
            </a:r>
            <a:r>
              <a:rPr lang="de-AT" sz="1000" b="1" i="1" dirty="0" err="1">
                <a:solidFill>
                  <a:schemeClr val="accent1"/>
                </a:solidFill>
              </a:rPr>
              <a:t>to</a:t>
            </a:r>
            <a:r>
              <a:rPr lang="de-AT" sz="1000" b="1" i="1" dirty="0">
                <a:solidFill>
                  <a:schemeClr val="accent1"/>
                </a:solidFill>
              </a:rPr>
              <a:t> </a:t>
            </a:r>
            <a:r>
              <a:rPr lang="de-AT" sz="1000" b="1" i="1" dirty="0" err="1">
                <a:solidFill>
                  <a:schemeClr val="accent1"/>
                </a:solidFill>
              </a:rPr>
              <a:t>re-charging</a:t>
            </a:r>
            <a:r>
              <a:rPr lang="de-AT" sz="1000" b="1" i="1" dirty="0">
                <a:solidFill>
                  <a:schemeClr val="accent1"/>
                </a:solidFill>
              </a:rPr>
              <a:t> </a:t>
            </a:r>
            <a:r>
              <a:rPr lang="de-AT" sz="1000" b="1" i="1" dirty="0" err="1">
                <a:solidFill>
                  <a:schemeClr val="accent1"/>
                </a:solidFill>
              </a:rPr>
              <a:t>during</a:t>
            </a:r>
            <a:r>
              <a:rPr lang="de-AT" sz="1000" b="1" i="1" dirty="0">
                <a:solidFill>
                  <a:schemeClr val="accent1"/>
                </a:solidFill>
              </a:rPr>
              <a:t> </a:t>
            </a:r>
            <a:r>
              <a:rPr lang="de-AT" sz="1000" b="1" i="1" dirty="0" err="1">
                <a:solidFill>
                  <a:schemeClr val="accent1"/>
                </a:solidFill>
              </a:rPr>
              <a:t>mission</a:t>
            </a:r>
            <a:endParaRPr lang="de-AT" sz="1000" b="1" i="1" dirty="0">
              <a:solidFill>
                <a:schemeClr val="accent1"/>
              </a:solidFill>
            </a:endParaRPr>
          </a:p>
        </p:txBody>
      </p:sp>
      <p:sp>
        <p:nvSpPr>
          <p:cNvPr id="39" name="Geschweifte Klammer links 38"/>
          <p:cNvSpPr/>
          <p:nvPr/>
        </p:nvSpPr>
        <p:spPr>
          <a:xfrm rot="10800000">
            <a:off x="6760931" y="3969186"/>
            <a:ext cx="182841" cy="36000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40" name="Pfeil nach unten 39"/>
          <p:cNvSpPr/>
          <p:nvPr/>
        </p:nvSpPr>
        <p:spPr>
          <a:xfrm>
            <a:off x="927216" y="3367290"/>
            <a:ext cx="959836" cy="324167"/>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1" name="Textfeld 40"/>
          <p:cNvSpPr txBox="1"/>
          <p:nvPr/>
        </p:nvSpPr>
        <p:spPr>
          <a:xfrm>
            <a:off x="2009147" y="3311769"/>
            <a:ext cx="4129374" cy="430887"/>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UF </a:t>
            </a:r>
            <a:r>
              <a:rPr lang="de-AT" sz="1100" b="1" i="1" dirty="0" err="1">
                <a:solidFill>
                  <a:schemeClr val="accent1"/>
                </a:solidFill>
              </a:rPr>
              <a:t>specific</a:t>
            </a:r>
            <a:r>
              <a:rPr lang="de-AT" sz="1100" b="1" i="1" dirty="0">
                <a:solidFill>
                  <a:schemeClr val="accent1"/>
                </a:solidFill>
              </a:rPr>
              <a:t> </a:t>
            </a:r>
            <a:r>
              <a:rPr lang="de-AT" sz="1100" b="1" i="1" dirty="0" err="1">
                <a:solidFill>
                  <a:schemeClr val="accent1"/>
                </a:solidFill>
              </a:rPr>
              <a:t>ranges</a:t>
            </a:r>
            <a:r>
              <a:rPr lang="de-AT" sz="1100" b="1" i="1" dirty="0">
                <a:solidFill>
                  <a:schemeClr val="accent1"/>
                </a:solidFill>
              </a:rPr>
              <a:t> </a:t>
            </a:r>
            <a:r>
              <a:rPr lang="de-AT" sz="1100" b="1" i="1" dirty="0" err="1">
                <a:solidFill>
                  <a:schemeClr val="accent1"/>
                </a:solidFill>
              </a:rPr>
              <a:t>from</a:t>
            </a:r>
            <a:r>
              <a:rPr lang="de-AT" sz="1100" b="1" i="1" dirty="0">
                <a:solidFill>
                  <a:schemeClr val="accent1"/>
                </a:solidFill>
              </a:rPr>
              <a:t> </a:t>
            </a:r>
            <a:r>
              <a:rPr lang="de-AT" sz="1100" b="1" i="1" dirty="0" err="1">
                <a:solidFill>
                  <a:schemeClr val="accent1"/>
                </a:solidFill>
              </a:rPr>
              <a:t>consumption</a:t>
            </a:r>
            <a:r>
              <a:rPr lang="de-AT" sz="1100" b="1" i="1" dirty="0">
                <a:solidFill>
                  <a:schemeClr val="accent1"/>
                </a:solidFill>
              </a:rPr>
              <a:t> </a:t>
            </a:r>
            <a:r>
              <a:rPr lang="de-AT" sz="1100" b="1" i="1" dirty="0" err="1">
                <a:solidFill>
                  <a:schemeClr val="accent1"/>
                </a:solidFill>
              </a:rPr>
              <a:t>figures</a:t>
            </a:r>
            <a:r>
              <a:rPr lang="de-AT" sz="1100" b="1" i="1" dirty="0">
                <a:solidFill>
                  <a:schemeClr val="accent1"/>
                </a:solidFill>
              </a:rPr>
              <a:t> (</a:t>
            </a:r>
            <a:r>
              <a:rPr lang="de-AT" sz="1100" b="1" i="1" dirty="0" err="1">
                <a:solidFill>
                  <a:schemeClr val="accent1"/>
                </a:solidFill>
              </a:rPr>
              <a:t>previous</a:t>
            </a:r>
            <a:r>
              <a:rPr lang="de-AT" sz="1100" b="1" i="1" dirty="0">
                <a:solidFill>
                  <a:schemeClr val="accent1"/>
                </a:solidFill>
              </a:rPr>
              <a:t> </a:t>
            </a:r>
            <a:r>
              <a:rPr lang="de-AT" sz="1100" b="1" i="1" dirty="0" err="1">
                <a:solidFill>
                  <a:schemeClr val="accent1"/>
                </a:solidFill>
              </a:rPr>
              <a:t>slide</a:t>
            </a:r>
            <a:r>
              <a:rPr lang="de-AT" sz="1100" b="1" i="1" dirty="0">
                <a:solidFill>
                  <a:schemeClr val="accent1"/>
                </a:solidFill>
              </a:rPr>
              <a:t>) </a:t>
            </a:r>
            <a:r>
              <a:rPr lang="de-AT" sz="1100" b="1" i="1" dirty="0" err="1">
                <a:solidFill>
                  <a:schemeClr val="accent1"/>
                </a:solidFill>
              </a:rPr>
              <a:t>and</a:t>
            </a:r>
            <a:r>
              <a:rPr lang="de-AT" sz="1100" b="1" i="1" dirty="0">
                <a:solidFill>
                  <a:schemeClr val="accent1"/>
                </a:solidFill>
              </a:rPr>
              <a:t> </a:t>
            </a:r>
            <a:r>
              <a:rPr lang="de-AT" sz="1100" b="1" i="1" dirty="0" err="1">
                <a:solidFill>
                  <a:schemeClr val="accent1"/>
                </a:solidFill>
              </a:rPr>
              <a:t>generic</a:t>
            </a:r>
            <a:r>
              <a:rPr lang="de-AT" sz="1100" b="1" i="1" dirty="0">
                <a:solidFill>
                  <a:schemeClr val="accent1"/>
                </a:solidFill>
              </a:rPr>
              <a:t> </a:t>
            </a:r>
            <a:r>
              <a:rPr lang="de-AT" sz="1100" b="1" i="1" dirty="0" err="1">
                <a:solidFill>
                  <a:schemeClr val="accent1"/>
                </a:solidFill>
              </a:rPr>
              <a:t>data</a:t>
            </a:r>
            <a:r>
              <a:rPr lang="de-AT" sz="1100" b="1" i="1" dirty="0">
                <a:solidFill>
                  <a:schemeClr val="accent1"/>
                </a:solidFill>
              </a:rPr>
              <a:t> </a:t>
            </a:r>
            <a:r>
              <a:rPr lang="de-AT" sz="1100" b="1" i="1" dirty="0" err="1">
                <a:solidFill>
                  <a:schemeClr val="accent1"/>
                </a:solidFill>
              </a:rPr>
              <a:t>above</a:t>
            </a:r>
            <a:endParaRPr lang="de-AT" sz="1100" b="1" i="1" dirty="0">
              <a:solidFill>
                <a:schemeClr val="accent1"/>
              </a:solidFill>
            </a:endParaRPr>
          </a:p>
        </p:txBody>
      </p:sp>
      <p:sp>
        <p:nvSpPr>
          <p:cNvPr id="42" name="Textfeld 41"/>
          <p:cNvSpPr txBox="1"/>
          <p:nvPr/>
        </p:nvSpPr>
        <p:spPr>
          <a:xfrm>
            <a:off x="6650196" y="3713257"/>
            <a:ext cx="2366804" cy="246221"/>
          </a:xfrm>
          <a:prstGeom prst="rect">
            <a:avLst/>
          </a:prstGeom>
          <a:noFill/>
          <a:ln>
            <a:noFill/>
          </a:ln>
        </p:spPr>
        <p:txBody>
          <a:bodyPr wrap="square" rtlCol="0">
            <a:spAutoFit/>
          </a:bodyPr>
          <a:lstStyle/>
          <a:p>
            <a:r>
              <a:rPr lang="de-AT" sz="1000" b="1" i="1" dirty="0">
                <a:solidFill>
                  <a:schemeClr val="accent1"/>
                </a:solidFill>
              </a:rPr>
              <a:t>R</a:t>
            </a:r>
            <a:r>
              <a:rPr lang="de-AT" sz="1000" b="1" i="1" baseline="-25000" dirty="0">
                <a:solidFill>
                  <a:schemeClr val="accent1"/>
                </a:solidFill>
              </a:rPr>
              <a:t>CDA</a:t>
            </a:r>
            <a:r>
              <a:rPr lang="de-AT" sz="1000" b="1" i="1" dirty="0">
                <a:solidFill>
                  <a:schemeClr val="accent1"/>
                </a:solidFill>
              </a:rPr>
              <a:t> </a:t>
            </a:r>
            <a:r>
              <a:rPr lang="de-AT" sz="1000" b="1" i="1" dirty="0" err="1">
                <a:solidFill>
                  <a:schemeClr val="accent1"/>
                </a:solidFill>
              </a:rPr>
              <a:t>corrected</a:t>
            </a:r>
            <a:r>
              <a:rPr lang="de-AT" sz="1000" b="1" i="1" dirty="0">
                <a:solidFill>
                  <a:schemeClr val="accent1"/>
                </a:solidFill>
              </a:rPr>
              <a:t> </a:t>
            </a:r>
            <a:r>
              <a:rPr lang="de-AT" sz="1000" b="1" i="1" dirty="0" err="1">
                <a:solidFill>
                  <a:schemeClr val="accent1"/>
                </a:solidFill>
              </a:rPr>
              <a:t>by</a:t>
            </a:r>
            <a:r>
              <a:rPr lang="de-AT" sz="1000" b="1" i="1" dirty="0">
                <a:solidFill>
                  <a:schemeClr val="accent1"/>
                </a:solidFill>
              </a:rPr>
              <a:t> real </a:t>
            </a:r>
            <a:r>
              <a:rPr lang="de-AT" sz="1000" b="1" i="1" dirty="0" err="1">
                <a:solidFill>
                  <a:schemeClr val="accent1"/>
                </a:solidFill>
              </a:rPr>
              <a:t>world</a:t>
            </a:r>
            <a:r>
              <a:rPr lang="de-AT" sz="1000" b="1" i="1" dirty="0">
                <a:solidFill>
                  <a:schemeClr val="accent1"/>
                </a:solidFill>
              </a:rPr>
              <a:t> </a:t>
            </a:r>
            <a:r>
              <a:rPr lang="de-AT" sz="1000" b="1" i="1" dirty="0" err="1">
                <a:solidFill>
                  <a:schemeClr val="accent1"/>
                </a:solidFill>
              </a:rPr>
              <a:t>factor</a:t>
            </a:r>
            <a:endParaRPr lang="de-AT" sz="1000" b="1" i="1" dirty="0">
              <a:solidFill>
                <a:schemeClr val="accent1"/>
              </a:solidFill>
            </a:endParaRPr>
          </a:p>
        </p:txBody>
      </p:sp>
      <p:sp>
        <p:nvSpPr>
          <p:cNvPr id="43" name="Pfeil nach unten 42"/>
          <p:cNvSpPr/>
          <p:nvPr/>
        </p:nvSpPr>
        <p:spPr>
          <a:xfrm>
            <a:off x="927216" y="4386831"/>
            <a:ext cx="959836" cy="324167"/>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4" name="Textfeld 43"/>
          <p:cNvSpPr txBox="1"/>
          <p:nvPr/>
        </p:nvSpPr>
        <p:spPr>
          <a:xfrm>
            <a:off x="2009147" y="4345213"/>
            <a:ext cx="4129374" cy="430887"/>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UF </a:t>
            </a:r>
            <a:r>
              <a:rPr lang="de-AT" sz="1100" b="1" i="1" dirty="0" err="1">
                <a:solidFill>
                  <a:schemeClr val="accent1"/>
                </a:solidFill>
              </a:rPr>
              <a:t>as</a:t>
            </a:r>
            <a:r>
              <a:rPr lang="de-AT" sz="1100" b="1" i="1" dirty="0">
                <a:solidFill>
                  <a:schemeClr val="accent1"/>
                </a:solidFill>
              </a:rPr>
              <a:t> </a:t>
            </a:r>
            <a:r>
              <a:rPr lang="en-US" sz="1100" b="1" i="1" dirty="0">
                <a:solidFill>
                  <a:schemeClr val="accent1"/>
                </a:solidFill>
              </a:rPr>
              <a:t>share of electric range in CD mode on total daily mileage (163.9 + 32.0 = 195.8 / 480)</a:t>
            </a:r>
            <a:endParaRPr lang="de-AT" sz="1100" b="1" i="1" dirty="0">
              <a:solidFill>
                <a:schemeClr val="accent1"/>
              </a:solidFill>
            </a:endParaRPr>
          </a:p>
        </p:txBody>
      </p:sp>
      <p:pic>
        <p:nvPicPr>
          <p:cNvPr id="45" name="Grafik 44"/>
          <p:cNvPicPr>
            <a:picLocks noChangeAspect="1"/>
          </p:cNvPicPr>
          <p:nvPr/>
        </p:nvPicPr>
        <p:blipFill rotWithShape="1">
          <a:blip r:embed="rId5"/>
          <a:srcRect r="5943" b="70299"/>
          <a:stretch/>
        </p:blipFill>
        <p:spPr>
          <a:xfrm>
            <a:off x="7010845" y="5661603"/>
            <a:ext cx="2124000" cy="192332"/>
          </a:xfrm>
          <a:prstGeom prst="rect">
            <a:avLst/>
          </a:prstGeom>
        </p:spPr>
      </p:pic>
      <p:sp>
        <p:nvSpPr>
          <p:cNvPr id="46" name="Geschweifte Klammer links 45"/>
          <p:cNvSpPr/>
          <p:nvPr/>
        </p:nvSpPr>
        <p:spPr>
          <a:xfrm rot="10800000">
            <a:off x="6760932" y="5572929"/>
            <a:ext cx="182841" cy="36000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12458705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e-PTO in MUN cycle</a:t>
            </a:r>
          </a:p>
        </p:txBody>
      </p:sp>
      <p:sp>
        <p:nvSpPr>
          <p:cNvPr id="3" name="Inhaltsplatzhalter 2"/>
          <p:cNvSpPr>
            <a:spLocks noGrp="1"/>
          </p:cNvSpPr>
          <p:nvPr>
            <p:ph idx="1"/>
          </p:nvPr>
        </p:nvSpPr>
        <p:spPr/>
        <p:txBody>
          <a:bodyPr/>
          <a:lstStyle/>
          <a:p>
            <a:pPr>
              <a:spcBef>
                <a:spcPts val="600"/>
              </a:spcBef>
            </a:pPr>
            <a:r>
              <a:rPr lang="en-US" sz="1800" dirty="0"/>
              <a:t>e-PTO applied for PEV and S-HEV in the MUN cycle (generic refuse body)</a:t>
            </a:r>
            <a:br>
              <a:rPr lang="en-US" sz="1800" dirty="0"/>
            </a:br>
            <a:endParaRPr lang="en-US" sz="1800" dirty="0"/>
          </a:p>
          <a:p>
            <a:pPr>
              <a:spcBef>
                <a:spcPts val="600"/>
              </a:spcBef>
            </a:pPr>
            <a:r>
              <a:rPr lang="en-US" sz="1800" dirty="0"/>
              <a:t>e-PTO cycle </a:t>
            </a:r>
            <a:r>
              <a:rPr lang="en-US" sz="1800" dirty="0" err="1"/>
              <a:t>P</a:t>
            </a:r>
            <a:r>
              <a:rPr lang="en-US" sz="1800" baseline="-25000" dirty="0" err="1"/>
              <a:t>el,PTO</a:t>
            </a:r>
            <a:r>
              <a:rPr lang="en-US" sz="1800" dirty="0"/>
              <a:t> = f(t) derived from:</a:t>
            </a:r>
          </a:p>
          <a:p>
            <a:pPr lvl="1">
              <a:spcBef>
                <a:spcPts val="600"/>
              </a:spcBef>
            </a:pPr>
            <a:r>
              <a:rPr lang="en-US" sz="1600" dirty="0"/>
              <a:t>generic hydraulic pump cycle for ICE and the allocated  ICE high idle speed</a:t>
            </a:r>
          </a:p>
          <a:p>
            <a:pPr lvl="1">
              <a:spcBef>
                <a:spcPts val="600"/>
              </a:spcBef>
            </a:pPr>
            <a:r>
              <a:rPr lang="en-US" sz="1600" dirty="0"/>
              <a:t>assuming an average e-PTO efficiency of 80%</a:t>
            </a:r>
            <a:br>
              <a:rPr lang="en-US" sz="1600" dirty="0"/>
            </a:br>
            <a:endParaRPr lang="en-US" sz="1600" dirty="0"/>
          </a:p>
          <a:p>
            <a:pPr>
              <a:spcBef>
                <a:spcPts val="600"/>
              </a:spcBef>
            </a:pPr>
            <a:r>
              <a:rPr lang="en-US" sz="1800" dirty="0"/>
              <a:t>Calculation is included time-resolved in the </a:t>
            </a:r>
            <a:r>
              <a:rPr lang="en-US" sz="1800" dirty="0" err="1"/>
              <a:t>vmod</a:t>
            </a:r>
            <a:r>
              <a:rPr lang="en-US" sz="1800" dirty="0"/>
              <a:t> file  </a:t>
            </a:r>
            <a:br>
              <a:rPr lang="en-US" sz="1800" dirty="0"/>
            </a:br>
            <a:endParaRPr lang="en-US" sz="1800" dirty="0"/>
          </a:p>
          <a:p>
            <a:pPr>
              <a:spcBef>
                <a:spcPts val="600"/>
              </a:spcBef>
            </a:pPr>
            <a:r>
              <a:rPr lang="en-US" sz="1800" dirty="0"/>
              <a:t>Electric energy consumption is considered in electric range for MUN </a:t>
            </a:r>
            <a:r>
              <a:rPr lang="en-US" sz="1800" dirty="0" err="1"/>
              <a:t>cyle</a:t>
            </a:r>
            <a:endParaRPr lang="en-US" sz="18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30</a:t>
            </a:fld>
            <a:endParaRPr lang="de-DE"/>
          </a:p>
        </p:txBody>
      </p:sp>
    </p:spTree>
    <p:extLst>
      <p:ext uri="{BB962C8B-B14F-4D97-AF65-F5344CB8AC3E}">
        <p14:creationId xmlns:p14="http://schemas.microsoft.com/office/powerpoint/2010/main" val="35724268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27360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Known issues with current version</a:t>
            </a:r>
          </a:p>
        </p:txBody>
      </p:sp>
      <p:sp>
        <p:nvSpPr>
          <p:cNvPr id="3" name="Inhaltsplatzhalter 2"/>
          <p:cNvSpPr>
            <a:spLocks noGrp="1"/>
          </p:cNvSpPr>
          <p:nvPr>
            <p:ph idx="1"/>
          </p:nvPr>
        </p:nvSpPr>
        <p:spPr/>
        <p:txBody>
          <a:bodyPr/>
          <a:lstStyle/>
          <a:p>
            <a:pPr>
              <a:spcBef>
                <a:spcPts val="1200"/>
              </a:spcBef>
            </a:pPr>
            <a:r>
              <a:rPr lang="en-US" sz="1600" dirty="0"/>
              <a:t>Elements not yet implemented</a:t>
            </a:r>
          </a:p>
          <a:p>
            <a:pPr lvl="1"/>
            <a:r>
              <a:rPr lang="en-US" sz="1600" dirty="0"/>
              <a:t>Battery connectors / junction box not included</a:t>
            </a:r>
            <a:br>
              <a:rPr lang="en-US" sz="1600" dirty="0"/>
            </a:br>
            <a:r>
              <a:rPr lang="en-US" sz="1400" dirty="0">
                <a:sym typeface="Wingdings" panose="05000000000000000000" pitchFamily="2" charset="2"/>
              </a:rPr>
              <a:t> define and implement generic additional resistances (i.e. loss factors) </a:t>
            </a:r>
            <a:endParaRPr lang="en-US" sz="1600" dirty="0">
              <a:sym typeface="Wingdings" panose="05000000000000000000" pitchFamily="2" charset="2"/>
            </a:endParaRPr>
          </a:p>
          <a:p>
            <a:pPr lvl="1"/>
            <a:r>
              <a:rPr lang="en-US" sz="1600" dirty="0">
                <a:sym typeface="Wingdings" panose="05000000000000000000" pitchFamily="2" charset="2"/>
              </a:rPr>
              <a:t>Generic P-HEV strategy:</a:t>
            </a:r>
            <a:br>
              <a:rPr lang="en-US" sz="1600" dirty="0">
                <a:sym typeface="Wingdings" panose="05000000000000000000" pitchFamily="2" charset="2"/>
              </a:rPr>
            </a:br>
            <a:r>
              <a:rPr lang="en-US" sz="1600" dirty="0">
                <a:sym typeface="Wingdings" panose="05000000000000000000" pitchFamily="2" charset="2"/>
              </a:rPr>
              <a:t> </a:t>
            </a:r>
            <a:r>
              <a:rPr lang="en-US" sz="1400" dirty="0">
                <a:sym typeface="Wingdings" panose="05000000000000000000" pitchFamily="2" charset="2"/>
              </a:rPr>
              <a:t>To be tested whether an alternative post-processing method for vehicles with very small batteries is needed as back-up</a:t>
            </a:r>
            <a:endParaRPr lang="en-US" sz="1600" dirty="0">
              <a:sym typeface="Wingdings" panose="05000000000000000000" pitchFamily="2" charset="2"/>
            </a:endParaRPr>
          </a:p>
          <a:p>
            <a:pPr lvl="1"/>
            <a:r>
              <a:rPr lang="en-US" sz="1600" dirty="0"/>
              <a:t>Technical elements as resulting from the revision of the CO</a:t>
            </a:r>
            <a:r>
              <a:rPr lang="en-US" sz="1600" baseline="-25000" dirty="0"/>
              <a:t>2</a:t>
            </a:r>
            <a:r>
              <a:rPr lang="en-US" sz="1600" dirty="0"/>
              <a:t> Standards to be added</a:t>
            </a:r>
          </a:p>
          <a:p>
            <a:pPr lvl="2"/>
            <a:r>
              <a:rPr lang="en-US" sz="1400" dirty="0"/>
              <a:t>Sub-group allocation for the for the newly covered vehicle groups </a:t>
            </a:r>
          </a:p>
          <a:p>
            <a:pPr lvl="2"/>
            <a:r>
              <a:rPr lang="en-US" sz="1400" dirty="0"/>
              <a:t>Generation of weighted results for vocational vehicles</a:t>
            </a:r>
          </a:p>
          <a:p>
            <a:pPr>
              <a:spcBef>
                <a:spcPts val="1200"/>
              </a:spcBef>
            </a:pPr>
            <a:r>
              <a:rPr lang="en-US" sz="1600" dirty="0"/>
              <a:t>Elements still under discussion</a:t>
            </a:r>
          </a:p>
          <a:p>
            <a:pPr lvl="1"/>
            <a:r>
              <a:rPr lang="en-US" sz="1400" dirty="0"/>
              <a:t>Medium lorries mission profile and payload weighting factors (equally weighted, only preliminary)</a:t>
            </a:r>
          </a:p>
          <a:p>
            <a:pPr lvl="1"/>
            <a:r>
              <a:rPr lang="en-US" sz="1400" dirty="0"/>
              <a:t>Generic SOC min/max ranges and deterioration (only preliminary values)</a:t>
            </a:r>
          </a:p>
          <a:p>
            <a:pPr lvl="1"/>
            <a:r>
              <a:rPr lang="en-US" sz="1400" dirty="0"/>
              <a:t>Multiple SOC level(s) for VECTO PEV simulation and respective weighting of results</a:t>
            </a:r>
          </a:p>
          <a:p>
            <a:pPr lvl="2"/>
            <a:endParaRPr lang="en-GB" sz="1200" dirty="0">
              <a:solidFill>
                <a:srgbClr val="FF0000"/>
              </a:solidFill>
            </a:endParaRPr>
          </a:p>
        </p:txBody>
      </p:sp>
      <p:sp>
        <p:nvSpPr>
          <p:cNvPr id="4" name="Foliennummernplatzhalter 3"/>
          <p:cNvSpPr>
            <a:spLocks noGrp="1"/>
          </p:cNvSpPr>
          <p:nvPr>
            <p:ph type="sldNum" sz="quarter" idx="12"/>
          </p:nvPr>
        </p:nvSpPr>
        <p:spPr/>
        <p:txBody>
          <a:bodyPr/>
          <a:lstStyle/>
          <a:p>
            <a:fld id="{4B64EC4D-37E3-EF42-B9AB-6337577588CB}" type="slidenum">
              <a:rPr lang="de-DE" smtClean="0"/>
              <a:t>31</a:t>
            </a:fld>
            <a:endParaRPr lang="de-DE"/>
          </a:p>
        </p:txBody>
      </p:sp>
    </p:spTree>
    <p:extLst>
      <p:ext uri="{BB962C8B-B14F-4D97-AF65-F5344CB8AC3E}">
        <p14:creationId xmlns:p14="http://schemas.microsoft.com/office/powerpoint/2010/main" val="14324828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380" y="410547"/>
            <a:ext cx="8229240" cy="939281"/>
          </a:xfrm>
        </p:spPr>
        <p:txBody>
          <a:bodyPr/>
          <a:lstStyle/>
          <a:p>
            <a:r>
              <a:rPr lang="en-GB" sz="2400" spc="-1" dirty="0">
                <a:solidFill>
                  <a:srgbClr val="990000"/>
                </a:solidFill>
                <a:latin typeface="Arial"/>
              </a:rPr>
              <a:t>DECL Lorries – </a:t>
            </a:r>
            <a:r>
              <a:rPr lang="en-US" sz="2400" spc="-1" dirty="0">
                <a:solidFill>
                  <a:srgbClr val="990000"/>
                </a:solidFill>
                <a:latin typeface="Arial"/>
              </a:rPr>
              <a:t>Testing requests and organ. of feedback</a:t>
            </a:r>
            <a:endParaRPr lang="en-US" dirty="0"/>
          </a:p>
        </p:txBody>
      </p:sp>
      <p:sp>
        <p:nvSpPr>
          <p:cNvPr id="3" name="Inhaltsplatzhalter 2"/>
          <p:cNvSpPr>
            <a:spLocks noGrp="1"/>
          </p:cNvSpPr>
          <p:nvPr>
            <p:ph idx="1"/>
          </p:nvPr>
        </p:nvSpPr>
        <p:spPr/>
        <p:txBody>
          <a:bodyPr/>
          <a:lstStyle/>
          <a:p>
            <a:pPr>
              <a:spcBef>
                <a:spcPts val="900"/>
              </a:spcBef>
            </a:pPr>
            <a:r>
              <a:rPr lang="en-US" sz="1600" dirty="0"/>
              <a:t>Testing requests:</a:t>
            </a:r>
          </a:p>
          <a:p>
            <a:pPr lvl="1"/>
            <a:r>
              <a:rPr lang="en-US" sz="1400" dirty="0"/>
              <a:t>Test configurations relevant in your portfolio</a:t>
            </a:r>
          </a:p>
          <a:p>
            <a:pPr lvl="1"/>
            <a:r>
              <a:rPr lang="en-US" sz="1400" dirty="0"/>
              <a:t>Specific analysis regarding open issues as mentioned on slide “Known issues with current version”</a:t>
            </a:r>
          </a:p>
          <a:p>
            <a:pPr>
              <a:spcBef>
                <a:spcPts val="900"/>
              </a:spcBef>
            </a:pPr>
            <a:r>
              <a:rPr lang="en-US" sz="1600" dirty="0"/>
              <a:t>Feedback</a:t>
            </a:r>
          </a:p>
          <a:p>
            <a:pPr lvl="1"/>
            <a:r>
              <a:rPr lang="en-US" sz="1400" dirty="0"/>
              <a:t>Bug reports, questions etc.: please </a:t>
            </a:r>
            <a:r>
              <a:rPr lang="en-US" sz="1400" b="1" u="sng" dirty="0"/>
              <a:t>ONLY use JIRA</a:t>
            </a:r>
            <a:r>
              <a:rPr lang="en-US" sz="1400" dirty="0"/>
              <a:t> (no specific emails regarding those topics in the upcoming period)</a:t>
            </a:r>
          </a:p>
          <a:p>
            <a:pPr lvl="1"/>
            <a:r>
              <a:rPr lang="en-US" sz="1400" dirty="0"/>
              <a:t>If there is an urgent need for a meeting before the next DEV workshop (e.g. because of a special problem), this will be announced separately.</a:t>
            </a:r>
          </a:p>
          <a:p>
            <a:pPr marL="266700" lvl="1">
              <a:spcBef>
                <a:spcPts val="900"/>
              </a:spcBef>
              <a:buClr>
                <a:srgbClr val="F70146"/>
              </a:buClr>
            </a:pPr>
            <a:r>
              <a:rPr lang="en-US" sz="1600" dirty="0"/>
              <a:t>Bug fixing and support</a:t>
            </a:r>
          </a:p>
          <a:p>
            <a:pPr lvl="1"/>
            <a:r>
              <a:rPr lang="en-US" sz="1400" dirty="0"/>
              <a:t>TUG will focus on </a:t>
            </a:r>
            <a:r>
              <a:rPr lang="en-US" sz="1400" dirty="0" err="1"/>
              <a:t>finalising</a:t>
            </a:r>
            <a:r>
              <a:rPr lang="en-US" sz="1400" dirty="0"/>
              <a:t> the DECL for buses in the coming weeks.</a:t>
            </a:r>
          </a:p>
          <a:p>
            <a:pPr lvl="1"/>
            <a:r>
              <a:rPr lang="en-US" sz="1400" dirty="0"/>
              <a:t>Topics for the DECL for lorries will be collected and sorted by priority.</a:t>
            </a:r>
          </a:p>
          <a:p>
            <a:pPr lvl="1"/>
            <a:r>
              <a:rPr lang="en-US" sz="1400" dirty="0"/>
              <a:t>Unless urgent </a:t>
            </a:r>
            <a:r>
              <a:rPr lang="en-US" sz="1400" dirty="0" err="1"/>
              <a:t>bugfix</a:t>
            </a:r>
            <a:r>
              <a:rPr lang="en-US" sz="1400" dirty="0"/>
              <a:t> releases for blocking issues, there will be no new release before May.</a:t>
            </a:r>
          </a:p>
        </p:txBody>
      </p:sp>
      <p:sp>
        <p:nvSpPr>
          <p:cNvPr id="4" name="Foliennummernplatzhalter 3"/>
          <p:cNvSpPr>
            <a:spLocks noGrp="1"/>
          </p:cNvSpPr>
          <p:nvPr>
            <p:ph type="sldNum" sz="quarter" idx="12"/>
          </p:nvPr>
        </p:nvSpPr>
        <p:spPr/>
        <p:txBody>
          <a:bodyPr/>
          <a:lstStyle/>
          <a:p>
            <a:fld id="{4B64EC4D-37E3-EF42-B9AB-6337577588CB}" type="slidenum">
              <a:rPr lang="de-DE" smtClean="0"/>
              <a:t>32</a:t>
            </a:fld>
            <a:endParaRPr lang="de-DE"/>
          </a:p>
        </p:txBody>
      </p:sp>
    </p:spTree>
    <p:extLst>
      <p:ext uri="{BB962C8B-B14F-4D97-AF65-F5344CB8AC3E}">
        <p14:creationId xmlns:p14="http://schemas.microsoft.com/office/powerpoint/2010/main" val="26020678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err="1">
                <a:solidFill>
                  <a:srgbClr val="990000"/>
                </a:solidFill>
                <a:latin typeface="Arial"/>
              </a:rPr>
              <a:t>Vecto</a:t>
            </a:r>
            <a:r>
              <a:rPr lang="en-US" sz="2400" b="1" strike="noStrike" spc="-1" dirty="0">
                <a:solidFill>
                  <a:srgbClr val="990000"/>
                </a:solidFill>
                <a:latin typeface="Arial"/>
              </a:rPr>
              <a:t> 0.7.9.2864 JRC Development Version</a:t>
            </a:r>
            <a:r>
              <a:rPr lang="en-US" sz="2400" b="0" strike="noStrike" spc="-1" dirty="0">
                <a:latin typeface="Arial"/>
              </a:rPr>
              <a:t> </a:t>
            </a:r>
            <a:br>
              <a:rPr sz="2400" dirty="0"/>
            </a:br>
            <a:r>
              <a:rPr lang="en-US" sz="1600" b="1" strike="noStrike" spc="-1" dirty="0">
                <a:solidFill>
                  <a:srgbClr val="990000"/>
                </a:solidFill>
                <a:latin typeface="Arial"/>
              </a:rPr>
              <a:t>November 2022</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Important Note</a:t>
            </a:r>
            <a:br>
              <a:rPr sz="1600"/>
            </a:br>
            <a:r>
              <a:rPr lang="en-US" sz="1600" b="0" strike="noStrike" spc="-1">
                <a:solidFill>
                  <a:srgbClr val="000000"/>
                </a:solidFill>
                <a:latin typeface="Arial"/>
              </a:rPr>
              <a:t>This is a special development release by JRC to validate the time-runs for BEVs. </a:t>
            </a:r>
            <a:br>
              <a:rPr sz="1600"/>
            </a:br>
            <a:r>
              <a:rPr lang="en-US" sz="1600" b="0" strike="noStrike" spc="-1">
                <a:solidFill>
                  <a:srgbClr val="000000"/>
                </a:solidFill>
                <a:latin typeface="Arial"/>
              </a:rPr>
              <a:t> </a:t>
            </a:r>
            <a:endParaRPr lang="en-US" sz="1600" b="0" strike="noStrike" spc="-1">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cycle for BEVs (E2, E3, E4,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with gear for BEVs (E2,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Pwheel mode for BEVs (E2, E3, E4, IEPC)</a:t>
            </a:r>
            <a:br>
              <a:rPr sz="1400"/>
            </a:br>
            <a:r>
              <a:rPr lang="en-US" sz="1400" b="0" strike="noStrike" spc="-1">
                <a:solidFill>
                  <a:srgbClr val="000000"/>
                </a:solidFill>
                <a:latin typeface="Arial"/>
              </a:rPr>
              <a:t>In this type of cycle, the input field </a:t>
            </a:r>
            <a:r>
              <a:rPr lang="en-US" sz="1400" b="1" strike="noStrike" spc="-1">
                <a:solidFill>
                  <a:srgbClr val="000000"/>
                </a:solidFill>
                <a:latin typeface="Arial"/>
              </a:rPr>
              <a:t>&lt;n&gt;</a:t>
            </a:r>
            <a:r>
              <a:rPr lang="en-US" sz="1400" b="0" strike="noStrike" spc="-1">
                <a:solidFill>
                  <a:srgbClr val="000000"/>
                </a:solidFill>
                <a:latin typeface="Arial"/>
              </a:rPr>
              <a:t> stands for the speed of the electric motor.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Microsoft YaHei"/>
              </a:rPr>
              <a:t>The E2 vehicle job “Generic Vehicles\Engineering Mode\GenericVehicleE2\BEV_ENG_timeruns.vecto” is preconfigured to run time-run cycles.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0.7.9.2741 Development Version</a:t>
            </a:r>
            <a:br>
              <a:rPr sz="2400"/>
            </a:br>
            <a:r>
              <a:rPr lang="en-US" sz="1600" b="1" strike="noStrike" spc="-1">
                <a:solidFill>
                  <a:srgbClr val="990000"/>
                </a:solidFill>
                <a:latin typeface="Arial"/>
              </a:rPr>
              <a:t>June 2022</a:t>
            </a:r>
            <a:endParaRPr lang="en-US" sz="1600" b="0" strike="noStrike" spc="-1">
              <a:latin typeface="Arial"/>
            </a:endParaRPr>
          </a:p>
        </p:txBody>
      </p:sp>
      <p:sp>
        <p:nvSpPr>
          <p:cNvPr id="9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IHPC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Adaptations HEV-S strategy, SoC correction for HEV-S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PTO idle drag losses for PEV, adapting PTO idle losses according to 2nd amendment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Hashing tool crashes in .net version 6.0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Corrected length for BusAux volume calculation</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IEPC component</a:t>
            </a:r>
            <a:endParaRPr lang="en-US" sz="2400" b="0" strike="noStrike" spc="-1">
              <a:latin typeface="Arial"/>
            </a:endParaRPr>
          </a:p>
        </p:txBody>
      </p:sp>
      <p:sp>
        <p:nvSpPr>
          <p:cNvPr id="9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is modelled as APT-N transmission and electric machine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Using already available models, same shift strategy as for E2/S2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Simplified transmission in case of single-speed IEPC</a:t>
            </a:r>
            <a:endParaRPr lang="en-US" sz="1800" b="0" strike="noStrike" spc="-1">
              <a:latin typeface="Arial"/>
            </a:endParaRPr>
          </a:p>
        </p:txBody>
      </p:sp>
      <p:sp>
        <p:nvSpPr>
          <p:cNvPr id="96" name="PlaceHolder 3"/>
          <p:cNvSpPr>
            <a:spLocks noGrp="1"/>
          </p:cNvSpPr>
          <p:nvPr>
            <p:ph type="sldNum" idx="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97" name="Grafik 72"/>
          <p:cNvPicPr/>
          <p:nvPr/>
        </p:nvPicPr>
        <p:blipFill>
          <a:blip r:embed="rId2"/>
          <a:stretch/>
        </p:blipFill>
        <p:spPr>
          <a:xfrm>
            <a:off x="2500920" y="3562200"/>
            <a:ext cx="3913560" cy="1592280"/>
          </a:xfrm>
          <a:prstGeom prst="rect">
            <a:avLst/>
          </a:prstGeom>
          <a:ln w="0">
            <a:noFill/>
          </a:ln>
        </p:spPr>
      </p:pic>
      <p:sp>
        <p:nvSpPr>
          <p:cNvPr id="98" name="Textfeld 73"/>
          <p:cNvSpPr/>
          <p:nvPr/>
        </p:nvSpPr>
        <p:spPr>
          <a:xfrm>
            <a:off x="0" y="5155200"/>
            <a:ext cx="914328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700"/>
              </a:spcBef>
              <a:buNone/>
            </a:pPr>
            <a:r>
              <a:rPr lang="en-US" sz="1400" b="1" strike="noStrike" spc="-1">
                <a:solidFill>
                  <a:srgbClr val="000000"/>
                </a:solidFill>
                <a:latin typeface="Courier New"/>
                <a:ea typeface="DejaVu Sans"/>
              </a:rPr>
              <a:t>_int </a:t>
            </a:r>
            <a:r>
              <a:rPr lang="en-US" sz="1400" b="1" strike="noStrike" spc="-1">
                <a:solidFill>
                  <a:srgbClr val="000000"/>
                </a:solidFill>
                <a:latin typeface="Arial"/>
                <a:ea typeface="DejaVu Sans"/>
              </a:rPr>
              <a:t>signals refer to the out-shaft of the electric motor</a:t>
            </a:r>
            <a:endParaRPr lang="en-US" sz="1400" b="0" strike="noStrike" spc="-1">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dirty="0">
                <a:solidFill>
                  <a:srgbClr val="990000"/>
                </a:solidFill>
                <a:latin typeface="Arial"/>
              </a:rPr>
              <a:t>Peculiarities of IEPC</a:t>
            </a:r>
            <a:endParaRPr lang="en-US" sz="2400" b="0" strike="noStrike" spc="-1" dirty="0">
              <a:latin typeface="Arial"/>
            </a:endParaRPr>
          </a:p>
        </p:txBody>
      </p:sp>
      <p:sp>
        <p:nvSpPr>
          <p:cNvPr id="10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Model parameters (max torque, power maps) refer to IEPC out-shaft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Internally converted to electric motor</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Overload parameters are measured in the gear with the </a:t>
            </a:r>
            <a:br>
              <a:rPr sz="2000"/>
            </a:br>
            <a:r>
              <a:rPr lang="en-US" sz="2000" b="0" strike="noStrike" spc="-1">
                <a:solidFill>
                  <a:srgbClr val="000000"/>
                </a:solidFill>
                <a:latin typeface="Arial"/>
              </a:rPr>
              <a:t>ratio closest to 1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2 options for drag curve acc. to Annex Xb:</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 single drag curve is provided </a:t>
            </a:r>
            <a:br>
              <a:rPr sz="1800"/>
            </a:br>
            <a:r>
              <a:rPr lang="en-US" sz="1800" b="0" strike="noStrike" spc="-1">
                <a:solidFill>
                  <a:srgbClr val="000000"/>
                </a:solidFill>
                <a:latin typeface="Arial"/>
              </a:rPr>
              <a:t>(measured in gear with ratio closest to 1)</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 curve for every gear is provided</a:t>
            </a:r>
            <a:endParaRPr lang="en-US" sz="1800" b="0" strike="noStrike" spc="-1">
              <a:latin typeface="Arial"/>
            </a:endParaRPr>
          </a:p>
        </p:txBody>
      </p:sp>
      <p:sp>
        <p:nvSpPr>
          <p:cNvPr id="101" name="PlaceHolder 3"/>
          <p:cNvSpPr>
            <a:spLocks noGrp="1"/>
          </p:cNvSpPr>
          <p:nvPr>
            <p:ph type="sldNum" idx="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03" name="PlaceHolder 2"/>
          <p:cNvSpPr>
            <a:spLocks noGrp="1"/>
          </p:cNvSpPr>
          <p:nvPr>
            <p:ph/>
          </p:nvPr>
        </p:nvSpPr>
        <p:spPr>
          <a:xfrm>
            <a:off x="622440" y="2137320"/>
            <a:ext cx="8393760" cy="95688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powertrain architecture definition</a:t>
            </a:r>
            <a:endParaRPr lang="en-US" sz="2000" b="0" strike="noStrike" spc="-1">
              <a:latin typeface="Arial"/>
            </a:endParaRPr>
          </a:p>
          <a:p>
            <a:pPr marL="743040" lvl="1" indent="-285840">
              <a:lnSpc>
                <a:spcPct val="100000"/>
              </a:lnSpc>
              <a:spcBef>
                <a:spcPts val="281"/>
              </a:spcBef>
              <a:buClr>
                <a:srgbClr val="000000"/>
              </a:buClr>
              <a:buFont typeface="Symbol"/>
              <a:buChar char=""/>
            </a:pPr>
            <a:r>
              <a:rPr lang="en-US" sz="1400" b="0" strike="noStrike" spc="-1">
                <a:solidFill>
                  <a:srgbClr val="000000"/>
                </a:solidFill>
                <a:latin typeface="Arial"/>
              </a:rPr>
              <a:t>Specific system layout is described by setting of 3 parameters</a:t>
            </a:r>
            <a:br>
              <a:rPr sz="1400"/>
            </a:br>
            <a:r>
              <a:rPr lang="en-US" sz="1400" b="0" strike="noStrike" spc="-1">
                <a:solidFill>
                  <a:srgbClr val="000000"/>
                </a:solidFill>
                <a:latin typeface="Arial"/>
              </a:rPr>
              <a:t>(for detailed description please refer to Annex Xb)</a:t>
            </a:r>
            <a:endParaRPr lang="en-US" sz="1400" b="0" strike="noStrike" spc="-1">
              <a:latin typeface="Arial"/>
            </a:endParaRPr>
          </a:p>
        </p:txBody>
      </p:sp>
      <p:sp>
        <p:nvSpPr>
          <p:cNvPr id="104" name="PlaceHolder 3"/>
          <p:cNvSpPr>
            <a:spLocks noGrp="1"/>
          </p:cNvSpPr>
          <p:nvPr>
            <p:ph type="sldNum" idx="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05" name="Tabelle 4"/>
          <p:cNvGraphicFramePr/>
          <p:nvPr/>
        </p:nvGraphicFramePr>
        <p:xfrm>
          <a:off x="29160" y="2980800"/>
          <a:ext cx="9074160" cy="2890440"/>
        </p:xfrm>
        <a:graphic>
          <a:graphicData uri="http://schemas.openxmlformats.org/drawingml/2006/table">
            <a:tbl>
              <a:tblPr/>
              <a:tblGrid>
                <a:gridCol w="542520">
                  <a:extLst>
                    <a:ext uri="{9D8B030D-6E8A-4147-A177-3AD203B41FA5}">
                      <a16:colId xmlns:a16="http://schemas.microsoft.com/office/drawing/2014/main" val="20000"/>
                    </a:ext>
                  </a:extLst>
                </a:gridCol>
                <a:gridCol w="684000">
                  <a:extLst>
                    <a:ext uri="{9D8B030D-6E8A-4147-A177-3AD203B41FA5}">
                      <a16:colId xmlns:a16="http://schemas.microsoft.com/office/drawing/2014/main" val="20001"/>
                    </a:ext>
                  </a:extLst>
                </a:gridCol>
                <a:gridCol w="720000">
                  <a:extLst>
                    <a:ext uri="{9D8B030D-6E8A-4147-A177-3AD203B41FA5}">
                      <a16:colId xmlns:a16="http://schemas.microsoft.com/office/drawing/2014/main" val="20002"/>
                    </a:ext>
                  </a:extLst>
                </a:gridCol>
                <a:gridCol w="972000">
                  <a:extLst>
                    <a:ext uri="{9D8B030D-6E8A-4147-A177-3AD203B41FA5}">
                      <a16:colId xmlns:a16="http://schemas.microsoft.com/office/drawing/2014/main" val="20003"/>
                    </a:ext>
                  </a:extLst>
                </a:gridCol>
                <a:gridCol w="2700000">
                  <a:extLst>
                    <a:ext uri="{9D8B030D-6E8A-4147-A177-3AD203B41FA5}">
                      <a16:colId xmlns:a16="http://schemas.microsoft.com/office/drawing/2014/main" val="20004"/>
                    </a:ext>
                  </a:extLst>
                </a:gridCol>
                <a:gridCol w="3456000">
                  <a:extLst>
                    <a:ext uri="{9D8B030D-6E8A-4147-A177-3AD203B41FA5}">
                      <a16:colId xmlns:a16="http://schemas.microsoft.com/office/drawing/2014/main" val="20005"/>
                    </a:ext>
                  </a:extLst>
                </a:gridCol>
              </a:tblGrid>
              <a:tr h="370800">
                <a:tc>
                  <a:txBody>
                    <a:bodyPr/>
                    <a:lstStyle/>
                    <a:p>
                      <a:pPr algn="ctr">
                        <a:lnSpc>
                          <a:spcPct val="100000"/>
                        </a:lnSpc>
                        <a:buNone/>
                      </a:pPr>
                      <a:r>
                        <a:rPr lang="de-AT" sz="800" b="1" strike="noStrike" spc="-1">
                          <a:solidFill>
                            <a:srgbClr val="FFFFFF"/>
                          </a:solidFill>
                          <a:latin typeface="Arial"/>
                        </a:rPr>
                        <a:t>IEPC layout case #</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Differential</a:t>
                      </a:r>
                      <a:br>
                        <a:rPr sz="700"/>
                      </a:br>
                      <a:r>
                        <a:rPr lang="de-AT" sz="700" b="1" strike="noStrike" spc="-1">
                          <a:solidFill>
                            <a:srgbClr val="FFFFFF"/>
                          </a:solidFill>
                          <a:latin typeface="Arial"/>
                        </a:rPr>
                        <a:t>Included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a:t>
                      </a:r>
                      <a:br>
                        <a:rPr sz="700"/>
                      </a:br>
                      <a:r>
                        <a:rPr lang="de-AT" sz="700" b="1" strike="noStrike" spc="-1">
                          <a:solidFill>
                            <a:srgbClr val="FFFFFF"/>
                          </a:solidFill>
                          <a:latin typeface="Arial"/>
                        </a:rPr>
                        <a:t>WheelMotor</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DesignTypeWheel</a:t>
                      </a:r>
                      <a:br>
                        <a:rPr sz="700"/>
                      </a:br>
                      <a:r>
                        <a:rPr lang="de-AT" sz="700" b="1" strike="noStrike" spc="-1">
                          <a:solidFill>
                            <a:srgbClr val="FFFFFF"/>
                          </a:solidFill>
                          <a:latin typeface="Arial"/>
                        </a:rPr>
                        <a:t>MotorMeasured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Layout schematics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Comments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56000">
                <a:tc>
                  <a:txBody>
                    <a:bodyPr/>
                    <a:lstStyle/>
                    <a:p>
                      <a:pP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Regular axle component required in job file</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1" strike="noStrike" spc="-1">
                          <a:solidFill>
                            <a:srgbClr val="000000"/>
                          </a:solidFill>
                          <a:latin typeface="Wingdings"/>
                        </a:rPr>
                        <a:t></a:t>
                      </a:r>
                      <a:r>
                        <a:rPr lang="de-AT" sz="800" b="1" strike="noStrike" spc="-1">
                          <a:solidFill>
                            <a:srgbClr val="000000"/>
                          </a:solidFill>
                          <a:latin typeface="Arial"/>
                        </a:rPr>
                        <a:t> useage of transmission type</a:t>
                      </a:r>
                      <a:br>
                        <a:rPr sz="800"/>
                      </a:br>
                      <a:r>
                        <a:rPr lang="de-AT" sz="800" b="1" strike="noStrike" spc="-1">
                          <a:solidFill>
                            <a:srgbClr val="000000"/>
                          </a:solidFill>
                          <a:latin typeface="Arial"/>
                        </a:rPr>
                        <a:t>„IEPC Transmission – dummy entry“</a:t>
                      </a:r>
                      <a:endParaRPr lang="en-US" sz="800" b="0" strike="noStrike" spc="-1">
                        <a:latin typeface="Arial"/>
                      </a:endParaRPr>
                    </a:p>
                    <a:p>
                      <a:pPr>
                        <a:lnSpc>
                          <a:spcPct val="100000"/>
                        </a:lnSpc>
                        <a:buNone/>
                      </a:pPr>
                      <a:r>
                        <a:rPr lang="de-AT" sz="800" b="0" strike="noStrike" spc="-1">
                          <a:solidFill>
                            <a:srgbClr val="000000"/>
                          </a:solidFill>
                          <a:latin typeface="Arial"/>
                        </a:rPr>
                        <a:t>(allows axle component alone without a min. number of gears)</a:t>
                      </a:r>
                      <a:endParaRPr lang="en-US" sz="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756000">
                <a:tc>
                  <a:txBody>
                    <a:bodyPr/>
                    <a:lstStyle/>
                    <a:p>
                      <a:pP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800" b="0" strike="noStrike" spc="-1">
                          <a:solidFill>
                            <a:srgbClr val="000000"/>
                          </a:solidFill>
                          <a:latin typeface="Arial"/>
                        </a:rPr>
                        <a:t>No axle component</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0" strike="noStrike" spc="-1">
                          <a:solidFill>
                            <a:srgbClr val="000000"/>
                          </a:solidFill>
                          <a:latin typeface="Arial"/>
                        </a:rPr>
                        <a:t>All parameterization via IEPC specific window</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504000">
                <a:tc>
                  <a:txBody>
                    <a:bodyPr/>
                    <a:lstStyle/>
                    <a:p>
                      <a:pPr>
                        <a:lnSpc>
                          <a:spcPct val="100000"/>
                        </a:lnSpc>
                        <a:buNone/>
                      </a:pPr>
                      <a:r>
                        <a:rPr lang="de-AT" sz="1200" b="0" strike="noStrike" spc="-1">
                          <a:solidFill>
                            <a:srgbClr val="000000"/>
                          </a:solidFill>
                          <a:latin typeface="Arial"/>
                        </a:rPr>
                        <a:t>3</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Component test performed in L-config acc. to Annex Xb (only one side)</a:t>
                      </a:r>
                      <a:endParaRPr lang="en-US" sz="800" b="0" strike="noStrike" spc="-1">
                        <a:latin typeface="Arial"/>
                      </a:endParaRPr>
                    </a:p>
                    <a:p>
                      <a:pPr>
                        <a:lnSpc>
                          <a:spcPct val="100000"/>
                        </a:lnSpc>
                        <a:buNone/>
                      </a:pPr>
                      <a:r>
                        <a:rPr lang="de-AT" sz="800" b="0" i="1" strike="noStrike" spc="-1">
                          <a:solidFill>
                            <a:srgbClr val="000000"/>
                          </a:solidFill>
                          <a:latin typeface="Wingdings"/>
                        </a:rPr>
                        <a:t></a:t>
                      </a:r>
                      <a:r>
                        <a:rPr lang="de-AT" sz="800" b="0" i="1" strike="noStrike" spc="-1">
                          <a:solidFill>
                            <a:srgbClr val="000000"/>
                          </a:solidFill>
                          <a:latin typeface="Arial"/>
                        </a:rPr>
                        <a:t> All torque and power values in input data are multiplied with a factor of 2</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504000">
                <a:tc>
                  <a:txBody>
                    <a:bodyPr/>
                    <a:lstStyle/>
                    <a:p>
                      <a:pPr>
                        <a:lnSpc>
                          <a:spcPct val="100000"/>
                        </a:lnSpc>
                        <a:buNone/>
                      </a:pPr>
                      <a:r>
                        <a:rPr lang="de-AT" sz="1200" b="0" strike="noStrike" spc="-1">
                          <a:solidFill>
                            <a:srgbClr val="000000"/>
                          </a:solidFill>
                          <a:latin typeface="Arial"/>
                        </a:rPr>
                        <a:t>4</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800" b="0" strike="noStrike" spc="-1">
                          <a:solidFill>
                            <a:srgbClr val="000000"/>
                          </a:solidFill>
                          <a:latin typeface="Arial"/>
                        </a:rPr>
                        <a:t>Component test performed in T-config acc. to Annex Xb (both sides)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pic>
        <p:nvPicPr>
          <p:cNvPr id="106" name="Grafik 5"/>
          <p:cNvPicPr/>
          <p:nvPr/>
        </p:nvPicPr>
        <p:blipFill>
          <a:blip r:embed="rId2"/>
          <a:stretch/>
        </p:blipFill>
        <p:spPr>
          <a:xfrm>
            <a:off x="2983680" y="3498840"/>
            <a:ext cx="1720800" cy="647280"/>
          </a:xfrm>
          <a:prstGeom prst="rect">
            <a:avLst/>
          </a:prstGeom>
          <a:ln w="0">
            <a:noFill/>
          </a:ln>
        </p:spPr>
      </p:pic>
      <p:pic>
        <p:nvPicPr>
          <p:cNvPr id="107" name="Grafik 6"/>
          <p:cNvPicPr/>
          <p:nvPr/>
        </p:nvPicPr>
        <p:blipFill>
          <a:blip r:embed="rId3"/>
          <a:stretch/>
        </p:blipFill>
        <p:spPr>
          <a:xfrm>
            <a:off x="2983680" y="4256640"/>
            <a:ext cx="1465920" cy="647280"/>
          </a:xfrm>
          <a:prstGeom prst="rect">
            <a:avLst/>
          </a:prstGeom>
          <a:ln w="0">
            <a:noFill/>
          </a:ln>
        </p:spPr>
      </p:pic>
      <p:pic>
        <p:nvPicPr>
          <p:cNvPr id="108" name="Grafik 7"/>
          <p:cNvPicPr/>
          <p:nvPr/>
        </p:nvPicPr>
        <p:blipFill>
          <a:blip r:embed="rId4"/>
          <a:stretch/>
        </p:blipFill>
        <p:spPr>
          <a:xfrm>
            <a:off x="2986200" y="4988880"/>
            <a:ext cx="939960" cy="935280"/>
          </a:xfrm>
          <a:prstGeom prst="rect">
            <a:avLst/>
          </a:prstGeom>
          <a:ln w="0">
            <a:noFill/>
          </a:ln>
        </p:spPr>
      </p:pic>
      <p:pic>
        <p:nvPicPr>
          <p:cNvPr id="109" name="Grafik 8"/>
          <p:cNvPicPr/>
          <p:nvPr/>
        </p:nvPicPr>
        <p:blipFill>
          <a:blip r:embed="rId5"/>
          <a:stretch/>
        </p:blipFill>
        <p:spPr>
          <a:xfrm>
            <a:off x="4516560" y="4256640"/>
            <a:ext cx="1077840" cy="644040"/>
          </a:xfrm>
          <a:prstGeom prst="rect">
            <a:avLst/>
          </a:prstGeom>
          <a:ln w="0">
            <a:noFill/>
          </a:ln>
        </p:spPr>
      </p:pic>
      <p:pic>
        <p:nvPicPr>
          <p:cNvPr id="110" name="Grafik 9"/>
          <p:cNvPicPr/>
          <p:nvPr/>
        </p:nvPicPr>
        <p:blipFill>
          <a:blip r:embed="rId4"/>
          <a:stretch/>
        </p:blipFill>
        <p:spPr>
          <a:xfrm>
            <a:off x="4141800" y="4988880"/>
            <a:ext cx="939960" cy="935280"/>
          </a:xfrm>
          <a:prstGeom prst="rect">
            <a:avLst/>
          </a:prstGeom>
          <a:ln w="0">
            <a:noFill/>
          </a:ln>
        </p:spPr>
      </p:pic>
      <p:sp>
        <p:nvSpPr>
          <p:cNvPr id="111" name="Rechteck 10"/>
          <p:cNvSpPr/>
          <p:nvPr/>
        </p:nvSpPr>
        <p:spPr>
          <a:xfrm>
            <a:off x="2986200" y="5467680"/>
            <a:ext cx="939960" cy="456480"/>
          </a:xfrm>
          <a:prstGeom prst="rect">
            <a:avLst/>
          </a:prstGeom>
          <a:solidFill>
            <a:schemeClr val="bg1">
              <a:alpha val="80000"/>
            </a:schemeClr>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General parameters</a:t>
            </a:r>
            <a:endParaRPr lang="en-US" sz="2000" b="0" strike="noStrike" spc="-1">
              <a:latin typeface="Arial"/>
            </a:endParaRPr>
          </a:p>
        </p:txBody>
      </p:sp>
      <p:sp>
        <p:nvSpPr>
          <p:cNvPr id="114"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5" name="Tabelle 4"/>
          <p:cNvGraphicFramePr/>
          <p:nvPr/>
        </p:nvGraphicFramePr>
        <p:xfrm>
          <a:off x="933480" y="2647800"/>
          <a:ext cx="7835040" cy="249012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7436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DifferentialIncluded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Set to ‘true’ in the case a differential is part of the IEPC</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DesignTypeWheelMotor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Set to ‘true’ in the case of an IEPC design type wheel 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603720">
                <a:tc>
                  <a:txBody>
                    <a:bodyPr/>
                    <a:lstStyle/>
                    <a:p>
                      <a:pPr>
                        <a:lnSpc>
                          <a:spcPct val="100000"/>
                        </a:lnSpc>
                        <a:buNone/>
                      </a:pPr>
                      <a:r>
                        <a:rPr lang="de-AT" sz="1200" b="0" strike="noStrike" spc="-1">
                          <a:solidFill>
                            <a:srgbClr val="000000"/>
                          </a:solidFill>
                          <a:latin typeface="Arial"/>
                        </a:rPr>
                        <a:t>DesignTypeWheelMotorMeasured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Input only relevant in the case of an IEPC design type wheel motor, in accordance with paragraph 4.1.1.2 of Annex Xb.</a:t>
                      </a:r>
                      <a:endParaRPr lang="en-US" sz="1200" b="0" strike="noStrike" spc="-1">
                        <a:latin typeface="Arial"/>
                      </a:endParaRPr>
                    </a:p>
                    <a:p>
                      <a:pPr>
                        <a:lnSpc>
                          <a:spcPct val="100000"/>
                        </a:lnSpc>
                        <a:buNone/>
                      </a:pPr>
                      <a:r>
                        <a:rPr lang="en-US" sz="1200" b="0" strike="noStrike" spc="-1">
                          <a:solidFill>
                            <a:srgbClr val="000000"/>
                          </a:solidFill>
                          <a:latin typeface="Arial"/>
                        </a:rPr>
                        <a:t>Allowed values: ‘1’, ‘2’</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performance parameters</a:t>
            </a:r>
            <a:endParaRPr lang="en-US" sz="2000" b="0" strike="noStrike" spc="-1">
              <a:latin typeface="Arial"/>
            </a:endParaRPr>
          </a:p>
        </p:txBody>
      </p:sp>
      <p:sp>
        <p:nvSpPr>
          <p:cNvPr id="118"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9" name="Tabelle 4"/>
          <p:cNvGraphicFramePr/>
          <p:nvPr/>
        </p:nvGraphicFramePr>
        <p:xfrm>
          <a:off x="933480" y="2647800"/>
          <a:ext cx="7835040" cy="264420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43308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ratio, MaxOutputShaftTorque (optional), MaxOutputShaftSpeed (optional)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Only for one voltage level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IEPC Input Form</a:t>
            </a:r>
            <a:endParaRPr lang="en-US" sz="2400" b="0" strike="noStrike" spc="-1">
              <a:latin typeface="Arial"/>
            </a:endParaRPr>
          </a:p>
        </p:txBody>
      </p:sp>
      <p:sp>
        <p:nvSpPr>
          <p:cNvPr id="121" name="PlaceHolder 2"/>
          <p:cNvSpPr>
            <a:spLocks noGrp="1"/>
          </p:cNvSpPr>
          <p:nvPr>
            <p:ph type="sldNum" idx="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22" name="Grafik 4"/>
          <p:cNvPicPr/>
          <p:nvPr/>
        </p:nvPicPr>
        <p:blipFill>
          <a:blip r:embed="rId2"/>
          <a:stretch/>
        </p:blipFill>
        <p:spPr>
          <a:xfrm>
            <a:off x="4567680" y="1908720"/>
            <a:ext cx="4449600" cy="3288240"/>
          </a:xfrm>
          <a:prstGeom prst="rect">
            <a:avLst/>
          </a:prstGeom>
          <a:ln w="0">
            <a:noFill/>
          </a:ln>
        </p:spPr>
      </p:pic>
      <p:sp>
        <p:nvSpPr>
          <p:cNvPr id="123" name="Gerade Verbindung mit Pfeil 6"/>
          <p:cNvSpPr/>
          <p:nvPr/>
        </p:nvSpPr>
        <p:spPr>
          <a:xfrm flipH="1" flipV="1">
            <a:off x="4938120" y="4318920"/>
            <a:ext cx="495720" cy="87732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24" name="Gerade Verbindung mit Pfeil 8"/>
          <p:cNvSpPr/>
          <p:nvPr/>
        </p:nvSpPr>
        <p:spPr>
          <a:xfrm flipV="1">
            <a:off x="5435640" y="3552480"/>
            <a:ext cx="1991880" cy="164376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25" name="Grafik 5"/>
          <p:cNvPicPr/>
          <p:nvPr/>
        </p:nvPicPr>
        <p:blipFill>
          <a:blip r:embed="rId3"/>
          <a:stretch/>
        </p:blipFill>
        <p:spPr>
          <a:xfrm>
            <a:off x="622440" y="1908720"/>
            <a:ext cx="3527280" cy="3027600"/>
          </a:xfrm>
          <a:prstGeom prst="rect">
            <a:avLst/>
          </a:prstGeom>
          <a:ln w="0">
            <a:noFill/>
          </a:ln>
        </p:spPr>
      </p:pic>
      <p:sp>
        <p:nvSpPr>
          <p:cNvPr id="126" name="Pfeil nach rechts 7"/>
          <p:cNvSpPr/>
          <p:nvPr/>
        </p:nvSpPr>
        <p:spPr>
          <a:xfrm>
            <a:off x="4150440" y="2647080"/>
            <a:ext cx="47340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27" name="Textfeld 9"/>
          <p:cNvSpPr/>
          <p:nvPr/>
        </p:nvSpPr>
        <p:spPr>
          <a:xfrm>
            <a:off x="4701960" y="5153400"/>
            <a:ext cx="2442960" cy="820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Lists with gear entries are synchronized, gears can be added/removed in the gear-list on the right</a:t>
            </a:r>
            <a:endParaRPr lang="en-US" sz="1200" b="0" strike="noStrike" spc="-1">
              <a:latin typeface="Arial"/>
            </a:endParaRPr>
          </a:p>
        </p:txBody>
      </p:sp>
      <p:sp>
        <p:nvSpPr>
          <p:cNvPr id="128" name="Textfeld 11"/>
          <p:cNvSpPr/>
          <p:nvPr/>
        </p:nvSpPr>
        <p:spPr>
          <a:xfrm>
            <a:off x="622440" y="5065560"/>
            <a:ext cx="35272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IEPC component via</a:t>
            </a:r>
            <a:br>
              <a:rPr sz="1200"/>
            </a:br>
            <a:r>
              <a:rPr lang="en-US" sz="1200" b="1" i="1" strike="noStrike" spc="-1">
                <a:solidFill>
                  <a:srgbClr val="000000"/>
                </a:solidFill>
                <a:latin typeface="Arial"/>
                <a:ea typeface="DejaVu Sans"/>
              </a:rPr>
              <a:t>“Vehicle \ IEPC-Tab”</a:t>
            </a:r>
            <a:endParaRPr lang="en-US" sz="1200" b="0" strike="noStrike" spc="-1">
              <a:latin typeface="Arial"/>
            </a:endParaRPr>
          </a:p>
        </p:txBody>
      </p:sp>
      <p:sp>
        <p:nvSpPr>
          <p:cNvPr id="129" name="Ellipse 12"/>
          <p:cNvSpPr/>
          <p:nvPr/>
        </p:nvSpPr>
        <p:spPr>
          <a:xfrm>
            <a:off x="529560" y="2379240"/>
            <a:ext cx="578880" cy="17640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0" name="Ellipse 13"/>
          <p:cNvSpPr/>
          <p:nvPr/>
        </p:nvSpPr>
        <p:spPr>
          <a:xfrm>
            <a:off x="1630080" y="3207600"/>
            <a:ext cx="5788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1" name="Gerade Verbindung mit Pfeil 15"/>
          <p:cNvSpPr/>
          <p:nvPr/>
        </p:nvSpPr>
        <p:spPr>
          <a:xfrm flipH="1" flipV="1">
            <a:off x="1697760" y="34783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2" name="Textfeld 17"/>
          <p:cNvSpPr/>
          <p:nvPr/>
        </p:nvSpPr>
        <p:spPr>
          <a:xfrm>
            <a:off x="1825920" y="366696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IEPC GUI-window</a:t>
            </a:r>
            <a:endParaRPr lang="en-US" sz="1050" b="0" strike="noStrike" spc="-1">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Gearbox Form for IEPC Vehicles</a:t>
            </a:r>
            <a:endParaRPr lang="en-US" sz="2400" b="0" strike="noStrike" spc="-1">
              <a:latin typeface="Arial"/>
            </a:endParaRPr>
          </a:p>
        </p:txBody>
      </p:sp>
      <p:sp>
        <p:nvSpPr>
          <p:cNvPr id="134" name="PlaceHolder 2"/>
          <p:cNvSpPr>
            <a:spLocks noGrp="1"/>
          </p:cNvSpPr>
          <p:nvPr>
            <p:ph/>
          </p:nvPr>
        </p:nvSpPr>
        <p:spPr>
          <a:xfrm>
            <a:off x="622440" y="2137320"/>
            <a:ext cx="3633840" cy="34812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No gearbox file needs to be provided for IEPC with differential included (case 2)</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New IEPC gearbox type for all other variants where only the axlegear ratio needs to be provided</a:t>
            </a:r>
            <a:endParaRPr lang="en-US" sz="2000" b="0" strike="noStrike" spc="-1">
              <a:latin typeface="Arial"/>
            </a:endParaRPr>
          </a:p>
        </p:txBody>
      </p:sp>
      <p:sp>
        <p:nvSpPr>
          <p:cNvPr id="135"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36" name="Grafik 4"/>
          <p:cNvPicPr/>
          <p:nvPr/>
        </p:nvPicPr>
        <p:blipFill>
          <a:blip r:embed="rId2"/>
          <a:stretch/>
        </p:blipFill>
        <p:spPr>
          <a:xfrm>
            <a:off x="4500000" y="2137320"/>
            <a:ext cx="3516120" cy="3321720"/>
          </a:xfrm>
          <a:prstGeom prst="rect">
            <a:avLst/>
          </a:prstGeom>
          <a:ln w="0">
            <a:noFill/>
          </a:ln>
        </p:spPr>
      </p:pic>
      <p:sp>
        <p:nvSpPr>
          <p:cNvPr id="137" name="Gerade Verbindung mit Pfeil 5"/>
          <p:cNvSpPr/>
          <p:nvPr/>
        </p:nvSpPr>
        <p:spPr>
          <a:xfrm flipH="1">
            <a:off x="6164280" y="2885400"/>
            <a:ext cx="811440" cy="29160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8" name="Textfeld 6"/>
          <p:cNvSpPr/>
          <p:nvPr/>
        </p:nvSpPr>
        <p:spPr>
          <a:xfrm>
            <a:off x="6977160" y="2596680"/>
            <a:ext cx="2003760" cy="56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Specific Gearbox Type for IEPC. Only requires axlegear to be provided</a:t>
            </a:r>
            <a:endParaRPr lang="en-US" sz="1050" b="0" strike="noStrike" spc="-1">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IHPC component</a:t>
            </a:r>
            <a:endParaRPr lang="en-US" sz="2400" b="0" strike="noStrike" spc="-1">
              <a:latin typeface="Arial"/>
            </a:endParaRPr>
          </a:p>
        </p:txBody>
      </p:sp>
      <p:sp>
        <p:nvSpPr>
          <p:cNvPr id="14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transmission is modeled as APT-N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electric motor is modeled as regular electric motor at position P2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Gear-dependent power maps</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Peculiarities of IHPC</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Drag-curve shall be set to </a:t>
            </a:r>
            <a:r>
              <a:rPr lang="en-US" sz="1800" b="1" strike="noStrike" spc="-1">
                <a:solidFill>
                  <a:srgbClr val="000000"/>
                </a:solidFill>
                <a:latin typeface="Arial"/>
              </a:rPr>
              <a:t>0 Nm</a:t>
            </a:r>
            <a:r>
              <a:rPr lang="en-US" sz="1800" b="0" strike="noStrike" spc="-1">
                <a:solidFill>
                  <a:srgbClr val="000000"/>
                </a:solidFill>
                <a:latin typeface="Arial"/>
              </a:rPr>
              <a:t> acc. to Annex Xb</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detailed description of component characteristics as well as</a:t>
            </a:r>
            <a:br>
              <a:rPr sz="2000"/>
            </a:br>
            <a:r>
              <a:rPr lang="en-US" sz="2000" b="0" strike="noStrike" spc="-1">
                <a:solidFill>
                  <a:srgbClr val="000000"/>
                </a:solidFill>
                <a:latin typeface="Arial"/>
              </a:rPr>
              <a:t>testing and measurement post-processing methods please refer to Annex Xb</a:t>
            </a:r>
            <a:endParaRPr lang="en-US" sz="2000" b="0" strike="noStrike" spc="-1">
              <a:latin typeface="Arial"/>
            </a:endParaRPr>
          </a:p>
        </p:txBody>
      </p:sp>
      <p:sp>
        <p:nvSpPr>
          <p:cNvPr id="141"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general parameters EM </a:t>
            </a:r>
            <a:r>
              <a:rPr lang="en-US" sz="2000" b="0" i="1" strike="noStrike" spc="-1">
                <a:solidFill>
                  <a:srgbClr val="000000"/>
                </a:solidFill>
                <a:latin typeface="Arial"/>
              </a:rPr>
              <a:t>(same as for basic EM component)</a:t>
            </a:r>
            <a:endParaRPr lang="en-US" sz="2000" b="0" strike="noStrike" spc="-1">
              <a:latin typeface="Arial"/>
            </a:endParaRPr>
          </a:p>
        </p:txBody>
      </p:sp>
      <p:sp>
        <p:nvSpPr>
          <p:cNvPr id="144"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5" name="Tabelle 4"/>
          <p:cNvGraphicFramePr/>
          <p:nvPr/>
        </p:nvGraphicFramePr>
        <p:xfrm>
          <a:off x="933480" y="2647800"/>
          <a:ext cx="7835040" cy="74124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performance parameters EM</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EM component, except </a:t>
            </a:r>
            <a:r>
              <a:rPr lang="en-US" sz="2000" b="1" i="1" u="sng" strike="noStrike" spc="-1">
                <a:solidFill>
                  <a:srgbClr val="000000"/>
                </a:solidFill>
                <a:uFillTx/>
                <a:latin typeface="Arial"/>
              </a:rPr>
              <a:t>multiple El. power maps</a:t>
            </a:r>
            <a:endParaRPr lang="en-US" sz="2000" b="0" strike="noStrike" spc="-1">
              <a:latin typeface="Arial"/>
            </a:endParaRPr>
          </a:p>
        </p:txBody>
      </p:sp>
      <p:sp>
        <p:nvSpPr>
          <p:cNvPr id="148"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9" name="Tabelle 4"/>
          <p:cNvGraphicFramePr/>
          <p:nvPr/>
        </p:nvGraphicFramePr>
        <p:xfrm>
          <a:off x="933480" y="3238560"/>
          <a:ext cx="7835040" cy="258192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gearbox file)</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1" u="sng" strike="noStrike" spc="-1">
                          <a:solidFill>
                            <a:srgbClr val="000000"/>
                          </a:solidFill>
                          <a:uFillTx/>
                          <a:latin typeface="Arial"/>
                        </a:rPr>
                        <a:t>NOT MEASURED</a:t>
                      </a:r>
                      <a:r>
                        <a:rPr lang="en-US" sz="1200" b="0" strike="noStrike" spc="-1">
                          <a:solidFill>
                            <a:srgbClr val="000000"/>
                          </a:solidFill>
                          <a:latin typeface="Arial"/>
                        </a:rPr>
                        <a:t> acc. to Annex Xb, but input of “0 Nm” drag torque reqired!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51"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parameters Gearbox</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transmission component</a:t>
            </a:r>
            <a:br>
              <a:rPr sz="2000"/>
            </a:br>
            <a:r>
              <a:rPr lang="en-US" sz="2000" b="0" i="1" strike="noStrike" spc="-1">
                <a:solidFill>
                  <a:srgbClr val="000000"/>
                </a:solidFill>
                <a:latin typeface="Wingdings"/>
              </a:rPr>
              <a:t></a:t>
            </a:r>
            <a:r>
              <a:rPr lang="en-US" sz="2000" b="0" i="1" strike="noStrike" spc="-1">
                <a:solidFill>
                  <a:srgbClr val="000000"/>
                </a:solidFill>
                <a:latin typeface="Arial"/>
              </a:rPr>
              <a:t> transmission type needs to be set to </a:t>
            </a:r>
            <a:r>
              <a:rPr lang="en-US" sz="2000" b="1" i="1" u="sng" strike="noStrike" spc="-1">
                <a:solidFill>
                  <a:srgbClr val="000000"/>
                </a:solidFill>
                <a:uFillTx/>
                <a:latin typeface="Arial"/>
              </a:rPr>
              <a:t>”IHPC Transmission”</a:t>
            </a:r>
            <a:endParaRPr lang="en-US" sz="2000" b="0" strike="noStrike" spc="-1">
              <a:latin typeface="Arial"/>
            </a:endParaRPr>
          </a:p>
        </p:txBody>
      </p:sp>
      <p:sp>
        <p:nvSpPr>
          <p:cNvPr id="152"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53" name="Tabelle 4"/>
          <p:cNvGraphicFramePr/>
          <p:nvPr/>
        </p:nvGraphicFramePr>
        <p:xfrm>
          <a:off x="933480" y="3238560"/>
          <a:ext cx="7835040" cy="148284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identifier</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IHPC file)</a:t>
                      </a: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Ratio</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Loss Map</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For each gear</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Methodology how to derive data acc. to Annex Xb</a:t>
                      </a:r>
                      <a:br>
                        <a:rPr sz="1200"/>
                      </a:br>
                      <a:r>
                        <a:rPr lang="en-US" sz="1200" b="0" strike="noStrike" spc="-1">
                          <a:solidFill>
                            <a:srgbClr val="000000"/>
                          </a:solidFill>
                          <a:latin typeface="Arial"/>
                        </a:rPr>
                        <a:t>(esp. braking side needs to be measured separately as well – as opposed to copy-paste for regular transmission testing)</a:t>
                      </a:r>
                      <a:endParaRPr lang="en-US" sz="1200" b="0" strike="noStrike" spc="-1">
                        <a:latin typeface="Arial"/>
                      </a:endParaRPr>
                    </a:p>
                    <a:p>
                      <a:pPr>
                        <a:lnSpc>
                          <a:spcPct val="100000"/>
                        </a:lnSpc>
                        <a:buNone/>
                        <a:tabLst>
                          <a:tab pos="0" algn="l"/>
                        </a:tabLst>
                      </a:pP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4" name="Grafik 36"/>
          <p:cNvPicPr/>
          <p:nvPr/>
        </p:nvPicPr>
        <p:blipFill>
          <a:blip r:embed="rId2"/>
          <a:stretch/>
        </p:blipFill>
        <p:spPr>
          <a:xfrm>
            <a:off x="6566040" y="1469880"/>
            <a:ext cx="2450520" cy="2748240"/>
          </a:xfrm>
          <a:prstGeom prst="rect">
            <a:avLst/>
          </a:prstGeom>
          <a:ln w="0">
            <a:noFill/>
          </a:ln>
        </p:spPr>
      </p:pic>
      <p:pic>
        <p:nvPicPr>
          <p:cNvPr id="155" name="Grafik 34"/>
          <p:cNvPicPr/>
          <p:nvPr/>
        </p:nvPicPr>
        <p:blipFill>
          <a:blip r:embed="rId3"/>
          <a:srcRect b="44675"/>
          <a:stretch/>
        </p:blipFill>
        <p:spPr>
          <a:xfrm>
            <a:off x="5650920" y="4423680"/>
            <a:ext cx="3365280" cy="1541880"/>
          </a:xfrm>
          <a:prstGeom prst="rect">
            <a:avLst/>
          </a:prstGeom>
          <a:ln w="0">
            <a:solidFill>
              <a:srgbClr val="000000"/>
            </a:solidFill>
          </a:ln>
        </p:spPr>
      </p:pic>
      <p:pic>
        <p:nvPicPr>
          <p:cNvPr id="156" name="Grafik 27"/>
          <p:cNvPicPr/>
          <p:nvPr/>
        </p:nvPicPr>
        <p:blipFill>
          <a:blip r:embed="rId4"/>
          <a:srcRect r="43153"/>
          <a:stretch/>
        </p:blipFill>
        <p:spPr>
          <a:xfrm>
            <a:off x="676440" y="1908720"/>
            <a:ext cx="2004840" cy="2471760"/>
          </a:xfrm>
          <a:prstGeom prst="rect">
            <a:avLst/>
          </a:prstGeom>
          <a:ln w="0">
            <a:solidFill>
              <a:srgbClr val="000000"/>
            </a:solidFill>
          </a:ln>
        </p:spPr>
      </p:pic>
      <p:sp>
        <p:nvSpPr>
          <p:cNvPr id="15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IHPC Input Form</a:t>
            </a:r>
            <a:endParaRPr lang="en-US" sz="2400" b="0" strike="noStrike" spc="-1">
              <a:latin typeface="Arial"/>
            </a:endParaRPr>
          </a:p>
        </p:txBody>
      </p:sp>
      <p:sp>
        <p:nvSpPr>
          <p:cNvPr id="158" name="PlaceHolder 2"/>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
        <p:nvSpPr>
          <p:cNvPr id="159" name="Gerade Verbindung mit Pfeil 6"/>
          <p:cNvSpPr/>
          <p:nvPr/>
        </p:nvSpPr>
        <p:spPr>
          <a:xfrm flipH="1">
            <a:off x="5833080" y="4035240"/>
            <a:ext cx="224280" cy="14580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0" name="Gerade Verbindung mit Pfeil 8"/>
          <p:cNvSpPr/>
          <p:nvPr/>
        </p:nvSpPr>
        <p:spPr>
          <a:xfrm flipV="1">
            <a:off x="6058800" y="3477600"/>
            <a:ext cx="657360" cy="5562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1" name="Pfeil nach rechts 7"/>
          <p:cNvSpPr/>
          <p:nvPr/>
        </p:nvSpPr>
        <p:spPr>
          <a:xfrm>
            <a:off x="5894280" y="2058840"/>
            <a:ext cx="61128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2" name="Textfeld 9"/>
          <p:cNvSpPr/>
          <p:nvPr/>
        </p:nvSpPr>
        <p:spPr>
          <a:xfrm>
            <a:off x="4579200" y="3804480"/>
            <a:ext cx="14788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601"/>
              </a:spcBef>
              <a:buNone/>
            </a:pPr>
            <a:r>
              <a:rPr lang="en-US" sz="1200" b="1" strike="noStrike" spc="-1">
                <a:solidFill>
                  <a:srgbClr val="000000"/>
                </a:solidFill>
                <a:latin typeface="Arial"/>
                <a:ea typeface="DejaVu Sans"/>
              </a:rPr>
              <a:t>Number of gears</a:t>
            </a:r>
            <a:br>
              <a:rPr sz="1200"/>
            </a:br>
            <a:r>
              <a:rPr lang="en-US" sz="1200" b="1" strike="noStrike" spc="-1">
                <a:solidFill>
                  <a:srgbClr val="000000"/>
                </a:solidFill>
                <a:latin typeface="Arial"/>
                <a:ea typeface="DejaVu Sans"/>
              </a:rPr>
              <a:t>need to match</a:t>
            </a:r>
            <a:endParaRPr lang="en-US" sz="1200" b="0" strike="noStrike" spc="-1">
              <a:latin typeface="Arial"/>
            </a:endParaRPr>
          </a:p>
        </p:txBody>
      </p:sp>
      <p:sp>
        <p:nvSpPr>
          <p:cNvPr id="163" name="Textfeld 11"/>
          <p:cNvSpPr/>
          <p:nvPr/>
        </p:nvSpPr>
        <p:spPr>
          <a:xfrm>
            <a:off x="583560" y="4470120"/>
            <a:ext cx="2490120" cy="107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IHPC component as two separate component parts via</a:t>
            </a:r>
            <a:br>
              <a:rPr sz="1200"/>
            </a:br>
            <a:r>
              <a:rPr lang="en-US" sz="1200" b="1" strike="noStrike" spc="-1">
                <a:solidFill>
                  <a:srgbClr val="000000"/>
                </a:solidFill>
                <a:latin typeface="Arial"/>
                <a:ea typeface="DejaVu Sans"/>
              </a:rPr>
              <a:t>#1: </a:t>
            </a:r>
            <a:r>
              <a:rPr lang="en-US" sz="1200" b="1" i="1" strike="noStrike" spc="-1">
                <a:solidFill>
                  <a:srgbClr val="000000"/>
                </a:solidFill>
                <a:latin typeface="Arial"/>
                <a:ea typeface="DejaVu Sans"/>
              </a:rPr>
              <a:t>“Vehicle \ IHPC-Tab”</a:t>
            </a:r>
            <a:endParaRPr lang="en-US" sz="1200" b="0" strike="noStrike" spc="-1">
              <a:latin typeface="Arial"/>
            </a:endParaRPr>
          </a:p>
          <a:p>
            <a:pPr algn="ctr">
              <a:lnSpc>
                <a:spcPct val="100000"/>
              </a:lnSpc>
              <a:spcBef>
                <a:spcPts val="601"/>
              </a:spcBef>
              <a:buNone/>
            </a:pPr>
            <a:r>
              <a:rPr lang="en-US" sz="1200" b="1" strike="noStrike" spc="-1">
                <a:solidFill>
                  <a:srgbClr val="000000"/>
                </a:solidFill>
                <a:latin typeface="Arial"/>
                <a:ea typeface="DejaVu Sans"/>
              </a:rPr>
              <a:t>#2: </a:t>
            </a:r>
            <a:r>
              <a:rPr lang="en-US" sz="1200" b="1" i="1" strike="noStrike" spc="-1">
                <a:solidFill>
                  <a:srgbClr val="000000"/>
                </a:solidFill>
                <a:latin typeface="Arial"/>
                <a:ea typeface="DejaVu Sans"/>
              </a:rPr>
              <a:t>“Gearbox”</a:t>
            </a:r>
            <a:endParaRPr lang="en-US" sz="1200" b="0" strike="noStrike" spc="-1">
              <a:latin typeface="Arial"/>
            </a:endParaRPr>
          </a:p>
        </p:txBody>
      </p:sp>
      <p:sp>
        <p:nvSpPr>
          <p:cNvPr id="164" name="Ellipse 12"/>
          <p:cNvSpPr/>
          <p:nvPr/>
        </p:nvSpPr>
        <p:spPr>
          <a:xfrm>
            <a:off x="583560" y="241308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5" name="Grafik 16"/>
          <p:cNvPicPr/>
          <p:nvPr/>
        </p:nvPicPr>
        <p:blipFill>
          <a:blip r:embed="rId5"/>
          <a:srcRect b="34206"/>
          <a:stretch/>
        </p:blipFill>
        <p:spPr>
          <a:xfrm>
            <a:off x="3324600" y="1908720"/>
            <a:ext cx="2508480" cy="1623240"/>
          </a:xfrm>
          <a:prstGeom prst="rect">
            <a:avLst/>
          </a:prstGeom>
          <a:ln w="0">
            <a:solidFill>
              <a:srgbClr val="000000"/>
            </a:solidFill>
          </a:ln>
        </p:spPr>
      </p:pic>
      <p:sp>
        <p:nvSpPr>
          <p:cNvPr id="166" name="Ellipse 13"/>
          <p:cNvSpPr/>
          <p:nvPr/>
        </p:nvSpPr>
        <p:spPr>
          <a:xfrm>
            <a:off x="3357360" y="2801160"/>
            <a:ext cx="578880" cy="143280"/>
          </a:xfrm>
          <a:prstGeom prst="ellipse">
            <a:avLst/>
          </a:prstGeom>
          <a:solidFill>
            <a:srgbClr val="FF0000">
              <a:alpha val="15000"/>
            </a:srgbClr>
          </a:solidFill>
          <a:ln w="28575">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Gerade Verbindung mit Pfeil 15"/>
          <p:cNvSpPr/>
          <p:nvPr/>
        </p:nvSpPr>
        <p:spPr>
          <a:xfrm flipH="1" flipV="1">
            <a:off x="3702600" y="30247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8" name="Textfeld 17"/>
          <p:cNvSpPr/>
          <p:nvPr/>
        </p:nvSpPr>
        <p:spPr>
          <a:xfrm>
            <a:off x="3830760" y="315900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IHPC GUI-window</a:t>
            </a:r>
            <a:endParaRPr lang="en-US" sz="1050" b="0" strike="noStrike" spc="-1">
              <a:latin typeface="Arial"/>
            </a:endParaRPr>
          </a:p>
        </p:txBody>
      </p:sp>
      <p:sp>
        <p:nvSpPr>
          <p:cNvPr id="169" name="Textfeld 19"/>
          <p:cNvSpPr/>
          <p:nvPr/>
        </p:nvSpPr>
        <p:spPr>
          <a:xfrm>
            <a:off x="13680" y="266004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
        <p:nvSpPr>
          <p:cNvPr id="170" name="Textfeld 20"/>
          <p:cNvSpPr/>
          <p:nvPr/>
        </p:nvSpPr>
        <p:spPr>
          <a:xfrm>
            <a:off x="784440" y="337356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1" name="Gerade Verbindung mit Pfeil 21"/>
          <p:cNvSpPr/>
          <p:nvPr/>
        </p:nvSpPr>
        <p:spPr>
          <a:xfrm flipV="1">
            <a:off x="352080" y="2504520"/>
            <a:ext cx="315720" cy="15408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2" name="Gerade Verbindung mit Pfeil 24"/>
          <p:cNvSpPr/>
          <p:nvPr/>
        </p:nvSpPr>
        <p:spPr>
          <a:xfrm flipH="1" flipV="1">
            <a:off x="872640" y="2747880"/>
            <a:ext cx="405720" cy="6246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3" name="Ellipse 25"/>
          <p:cNvSpPr/>
          <p:nvPr/>
        </p:nvSpPr>
        <p:spPr>
          <a:xfrm>
            <a:off x="583560" y="264060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4" name="Pfeil nach rechts 28"/>
          <p:cNvSpPr/>
          <p:nvPr/>
        </p:nvSpPr>
        <p:spPr>
          <a:xfrm>
            <a:off x="1369800" y="2322360"/>
            <a:ext cx="18730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#1</a:t>
            </a:r>
            <a:endParaRPr lang="en-US" sz="1100" b="0" strike="noStrike" spc="-1">
              <a:latin typeface="Arial"/>
            </a:endParaRPr>
          </a:p>
        </p:txBody>
      </p:sp>
      <p:sp>
        <p:nvSpPr>
          <p:cNvPr id="175" name="Pfeil nach rechts 31"/>
          <p:cNvSpPr/>
          <p:nvPr/>
        </p:nvSpPr>
        <p:spPr>
          <a:xfrm rot="1800000">
            <a:off x="831600" y="3837600"/>
            <a:ext cx="47242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#2</a:t>
            </a:r>
            <a:endParaRPr lang="en-US" sz="1100" b="0" strike="noStrike" spc="-1">
              <a:latin typeface="Arial"/>
            </a:endParaRPr>
          </a:p>
        </p:txBody>
      </p:sp>
      <p:sp>
        <p:nvSpPr>
          <p:cNvPr id="176" name="Ellipse 35"/>
          <p:cNvSpPr/>
          <p:nvPr/>
        </p:nvSpPr>
        <p:spPr>
          <a:xfrm>
            <a:off x="6062760" y="4896360"/>
            <a:ext cx="9352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7" name="Textfeld 41"/>
          <p:cNvSpPr/>
          <p:nvPr/>
        </p:nvSpPr>
        <p:spPr>
          <a:xfrm>
            <a:off x="6800400" y="443988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8" name="Textfeld 42"/>
          <p:cNvSpPr/>
          <p:nvPr/>
        </p:nvSpPr>
        <p:spPr>
          <a:xfrm>
            <a:off x="7506720" y="151020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(1/3)</a:t>
            </a:r>
            <a:endParaRPr lang="en-US" sz="2400" b="0" strike="noStrike" spc="-1">
              <a:latin typeface="Arial"/>
            </a:endParaRPr>
          </a:p>
        </p:txBody>
      </p:sp>
      <p:sp>
        <p:nvSpPr>
          <p:cNvPr id="18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Observation: GenSet often switching between optimal and maximum power, while operating constantly at optimal power would be sufficient</a:t>
            </a:r>
            <a:endParaRPr lang="en-US" sz="2000" b="0" strike="noStrike" spc="-1">
              <a:latin typeface="Arial"/>
            </a:endParaRPr>
          </a:p>
        </p:txBody>
      </p:sp>
      <p:sp>
        <p:nvSpPr>
          <p:cNvPr id="181" name="PlaceHolder 3"/>
          <p:cNvSpPr>
            <a:spLocks noGrp="1"/>
          </p:cNvSpPr>
          <p:nvPr>
            <p:ph type="sldNum" idx="1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2" name="Grafik 7"/>
          <p:cNvPicPr/>
          <p:nvPr/>
        </p:nvPicPr>
        <p:blipFill>
          <a:blip r:embed="rId2"/>
          <a:stretch/>
        </p:blipFill>
        <p:spPr>
          <a:xfrm>
            <a:off x="1650240" y="2942640"/>
            <a:ext cx="4498920" cy="2755800"/>
          </a:xfrm>
          <a:prstGeom prst="rect">
            <a:avLst/>
          </a:prstGeom>
          <a:ln w="0">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(2/3)</a:t>
            </a:r>
            <a:endParaRPr lang="en-US" sz="2400" b="0" strike="noStrike" spc="-1">
              <a:latin typeface="Arial"/>
            </a:endParaRPr>
          </a:p>
        </p:txBody>
      </p:sp>
      <p:sp>
        <p:nvSpPr>
          <p:cNvPr id="184" name="PlaceHolder 2"/>
          <p:cNvSpPr>
            <a:spLocks noGrp="1"/>
          </p:cNvSpPr>
          <p:nvPr>
            <p:ph/>
          </p:nvPr>
        </p:nvSpPr>
        <p:spPr>
          <a:xfrm>
            <a:off x="622440" y="2137320"/>
            <a:ext cx="5026320" cy="34812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Minor changes in Serial Hybrid Strategy</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on as soon as SoC falls below SoC_min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off as soon as SoC reaches SoC_target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operation points P_opt and P_max:</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In total 4 points defined, for GenSet in regular and in de-rating condition</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SoC_min ≤ </a:t>
            </a:r>
            <a:r>
              <a:rPr lang="en-US" sz="1400" b="1" strike="noStrike" spc="-1">
                <a:solidFill>
                  <a:srgbClr val="000000"/>
                </a:solidFill>
                <a:latin typeface="Arial"/>
              </a:rPr>
              <a:t>SoC</a:t>
            </a:r>
            <a:r>
              <a:rPr lang="en-US" sz="1400" b="0" strike="noStrike" spc="-1">
                <a:solidFill>
                  <a:srgbClr val="000000"/>
                </a:solidFill>
                <a:latin typeface="Arial"/>
              </a:rPr>
              <a:t> &lt; SOC_target: P_opt</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1" strike="noStrike" spc="-1">
                <a:solidFill>
                  <a:srgbClr val="000000"/>
                </a:solidFill>
                <a:latin typeface="Arial"/>
              </a:rPr>
              <a:t>SoC</a:t>
            </a:r>
            <a:r>
              <a:rPr lang="en-US" sz="1400" b="0" strike="noStrike" spc="-1">
                <a:solidFill>
                  <a:srgbClr val="000000"/>
                </a:solidFill>
                <a:latin typeface="Arial"/>
              </a:rPr>
              <a:t> &lt; SoC_min:</a:t>
            </a:r>
            <a:endParaRPr lang="en-US" sz="14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&gt; P_opt: GENSET @ P_max</a:t>
            </a:r>
            <a:endParaRPr lang="en-US" sz="12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 P_opt: GENSET @ P_opt</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i="1" strike="noStrike" spc="-1">
                <a:solidFill>
                  <a:srgbClr val="000000"/>
                </a:solidFill>
                <a:latin typeface="Arial"/>
              </a:rPr>
              <a:t>Note: SoC_min shall be above battery’s min SoC</a:t>
            </a:r>
            <a:endParaRPr lang="en-US" sz="1600" b="0" strike="noStrike" spc="-1">
              <a:latin typeface="Arial"/>
            </a:endParaRPr>
          </a:p>
        </p:txBody>
      </p:sp>
      <p:sp>
        <p:nvSpPr>
          <p:cNvPr id="185"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6" name="Grafik 4"/>
          <p:cNvPicPr/>
          <p:nvPr/>
        </p:nvPicPr>
        <p:blipFill>
          <a:blip r:embed="rId2"/>
          <a:stretch/>
        </p:blipFill>
        <p:spPr>
          <a:xfrm>
            <a:off x="5649120" y="4174560"/>
            <a:ext cx="3367080" cy="1362960"/>
          </a:xfrm>
          <a:prstGeom prst="rect">
            <a:avLst/>
          </a:prstGeom>
          <a:ln w="0">
            <a:noFill/>
          </a:ln>
        </p:spPr>
      </p:pic>
      <p:pic>
        <p:nvPicPr>
          <p:cNvPr id="187" name="Grafik 5"/>
          <p:cNvPicPr/>
          <p:nvPr/>
        </p:nvPicPr>
        <p:blipFill>
          <a:blip r:embed="rId3"/>
          <a:stretch/>
        </p:blipFill>
        <p:spPr>
          <a:xfrm>
            <a:off x="7012440" y="1480680"/>
            <a:ext cx="2003760" cy="2350440"/>
          </a:xfrm>
          <a:prstGeom prst="rect">
            <a:avLst/>
          </a:prstGeom>
          <a:ln w="0">
            <a:noFill/>
          </a:ln>
        </p:spPr>
      </p:pic>
      <p:sp>
        <p:nvSpPr>
          <p:cNvPr id="188" name="Gerade Verbindung mit Pfeil 6"/>
          <p:cNvSpPr/>
          <p:nvPr/>
        </p:nvSpPr>
        <p:spPr>
          <a:xfrm flipV="1">
            <a:off x="6318360" y="2520360"/>
            <a:ext cx="640800" cy="1571760"/>
          </a:xfrm>
          <a:custGeom>
            <a:avLst/>
            <a:gdLst/>
            <a:ahLst/>
            <a:cxnLst/>
            <a:rect l="l" t="t" r="r" b="b"/>
            <a:pathLst>
              <a:path w="21600" h="21600">
                <a:moveTo>
                  <a:pt x="0" y="0"/>
                </a:moveTo>
                <a:lnTo>
                  <a:pt x="21600" y="21600"/>
                </a:lnTo>
              </a:path>
            </a:pathLst>
          </a:custGeom>
          <a:noFill/>
          <a:ln>
            <a:solidFill>
              <a:srgbClr val="FF0000"/>
            </a:solidFill>
            <a:round/>
            <a:headEnd type="triangle" w="med" len="me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(3/3)</a:t>
            </a:r>
            <a:endParaRPr lang="en-US" sz="2400" b="0" strike="noStrike" spc="-1">
              <a:latin typeface="Arial"/>
            </a:endParaRPr>
          </a:p>
        </p:txBody>
      </p:sp>
      <p:sp>
        <p:nvSpPr>
          <p:cNvPr id="19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GenSet now always operates in optimal point</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Speed profile is unchanged, SoC trace slightly different</a:t>
            </a:r>
            <a:endParaRPr lang="en-US" sz="2000" b="0" strike="noStrike" spc="-1">
              <a:latin typeface="Arial"/>
            </a:endParaRPr>
          </a:p>
        </p:txBody>
      </p:sp>
      <p:sp>
        <p:nvSpPr>
          <p:cNvPr id="191"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2" name="Grafik 7"/>
          <p:cNvPicPr/>
          <p:nvPr/>
        </p:nvPicPr>
        <p:blipFill>
          <a:blip r:embed="rId2"/>
          <a:stretch/>
        </p:blipFill>
        <p:spPr>
          <a:xfrm>
            <a:off x="1659240" y="2942640"/>
            <a:ext cx="4481280" cy="2755800"/>
          </a:xfrm>
          <a:prstGeom prst="rect">
            <a:avLst/>
          </a:prstGeom>
          <a:ln w="0">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SoC Correction for HEV-S</a:t>
            </a:r>
            <a:endParaRPr lang="en-US" sz="2400" b="0" strike="noStrike" spc="-1">
              <a:latin typeface="Arial"/>
            </a:endParaRPr>
          </a:p>
        </p:txBody>
      </p:sp>
      <p:sp>
        <p:nvSpPr>
          <p:cNvPr id="19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REESS SoC for HEV is corrected using the engine line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Engine line makes no sense for HEV-S as the ICE is decoupled from the drivetrain and operates only in certain points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SoC Correction:</a:t>
            </a:r>
            <a:endParaRPr lang="en-US" sz="2000" b="0" strike="noStrike" spc="-1">
              <a:latin typeface="Arial"/>
            </a:endParaRPr>
          </a:p>
          <a:p>
            <a:pPr>
              <a:lnSpc>
                <a:spcPct val="100000"/>
              </a:lnSpc>
              <a:buNone/>
            </a:pPr>
            <a:endParaRPr lang="en-US" sz="1800" b="0" strike="noStrike" spc="-1">
              <a:latin typeface="Arial"/>
            </a:endParaRPr>
          </a:p>
        </p:txBody>
      </p:sp>
      <p:sp>
        <p:nvSpPr>
          <p:cNvPr id="195"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6" name="Grafik 4"/>
          <p:cNvPicPr/>
          <p:nvPr/>
        </p:nvPicPr>
        <p:blipFill>
          <a:blip r:embed="rId2"/>
          <a:stretch/>
        </p:blipFill>
        <p:spPr>
          <a:xfrm>
            <a:off x="1735920" y="3544560"/>
            <a:ext cx="2488680" cy="435960"/>
          </a:xfrm>
          <a:prstGeom prst="rect">
            <a:avLst/>
          </a:prstGeom>
          <a:ln w="0">
            <a:noFill/>
          </a:ln>
        </p:spPr>
      </p:pic>
      <p:pic>
        <p:nvPicPr>
          <p:cNvPr id="197" name="Grafik 5"/>
          <p:cNvPicPr/>
          <p:nvPr/>
        </p:nvPicPr>
        <p:blipFill>
          <a:blip r:embed="rId3"/>
          <a:stretch/>
        </p:blipFill>
        <p:spPr>
          <a:xfrm>
            <a:off x="4686840" y="3607560"/>
            <a:ext cx="1725480" cy="309240"/>
          </a:xfrm>
          <a:prstGeom prst="rect">
            <a:avLst/>
          </a:prstGeom>
          <a:ln w="0">
            <a:noFill/>
          </a:ln>
        </p:spPr>
      </p:pic>
      <p:pic>
        <p:nvPicPr>
          <p:cNvPr id="198" name="Grafik 6"/>
          <p:cNvPicPr/>
          <p:nvPr/>
        </p:nvPicPr>
        <p:blipFill>
          <a:blip r:embed="rId4"/>
          <a:stretch/>
        </p:blipFill>
        <p:spPr>
          <a:xfrm>
            <a:off x="1453320" y="4127040"/>
            <a:ext cx="2859840" cy="529920"/>
          </a:xfrm>
          <a:prstGeom prst="rect">
            <a:avLst/>
          </a:prstGeom>
          <a:ln w="0">
            <a:noFill/>
          </a:ln>
        </p:spPr>
      </p:pic>
      <p:pic>
        <p:nvPicPr>
          <p:cNvPr id="199" name="Grafik 7"/>
          <p:cNvPicPr/>
          <p:nvPr/>
        </p:nvPicPr>
        <p:blipFill>
          <a:blip r:embed="rId5"/>
          <a:stretch/>
        </p:blipFill>
        <p:spPr>
          <a:xfrm>
            <a:off x="1453320" y="4777200"/>
            <a:ext cx="2709000" cy="493200"/>
          </a:xfrm>
          <a:prstGeom prst="rect">
            <a:avLst/>
          </a:prstGeom>
          <a:ln w="0">
            <a:noFill/>
          </a:ln>
        </p:spPr>
      </p:pic>
      <p:sp>
        <p:nvSpPr>
          <p:cNvPr id="200" name="Textfeld 8"/>
          <p:cNvSpPr/>
          <p:nvPr/>
        </p:nvSpPr>
        <p:spPr>
          <a:xfrm>
            <a:off x="4557240" y="4253760"/>
            <a:ext cx="3899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on during the simulation</a:t>
            </a:r>
            <a:endParaRPr lang="en-US" sz="1200" b="0" strike="noStrike" spc="-1">
              <a:latin typeface="Arial"/>
            </a:endParaRPr>
          </a:p>
        </p:txBody>
      </p:sp>
      <p:sp>
        <p:nvSpPr>
          <p:cNvPr id="201" name="Textfeld 9"/>
          <p:cNvSpPr/>
          <p:nvPr/>
        </p:nvSpPr>
        <p:spPr>
          <a:xfrm>
            <a:off x="4584960" y="4885560"/>
            <a:ext cx="4178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not on during the simulation</a:t>
            </a:r>
            <a:endParaRPr lang="en-US" sz="1200" b="0" strike="noStrike" spc="-1">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0.7.8.2679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0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Multi-Target Executables in .net 6.0 and .net Framework 4.8 (and .net Framework 4.5, but this will be removed with the next release)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Serial Hybrid Vehicles S2, S3, S4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APT-S/P with E2 and S2 vehicle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 handling of retarder positions with HEV and PEV, adding axlegear input retarder option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hashing tool to handle new powertrain components (electric motor, battery, supercap)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Changing EM overload buffer calculation: interpolate between both voltage levels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Handling of torque limitations (engine torque limit, boosting torque limits, gearbox torque limits) for P2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Connect electric WHR system to REESS in case of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GUI improvements: enable/disable some fields in Job Form, Vehicle Form, and Hybrid Strategy Parameters to simplify user interface and avoid erratic entries.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Implementation</a:t>
            </a:r>
            <a:endParaRPr lang="en-US" sz="2400" b="0" strike="noStrike" spc="-1">
              <a:latin typeface="Arial"/>
            </a:endParaRPr>
          </a:p>
        </p:txBody>
      </p:sp>
      <p:sp>
        <p:nvSpPr>
          <p:cNvPr id="20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General approach</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Simple operating strategy, not ECMS–based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Three-point controller for GenSet (off/optimal point/maximum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Operate GenSet in optimal load-points whenever required and possible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Drivetrain similar to PEV</a:t>
            </a:r>
            <a:endParaRPr lang="en-US" sz="1800" b="0" strike="noStrike" spc="-1">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 Pre-Processing</a:t>
            </a:r>
            <a:endParaRPr lang="en-US" sz="2400" b="0" strike="noStrike" spc="-1">
              <a:latin typeface="Arial"/>
            </a:endParaRPr>
          </a:p>
        </p:txBody>
      </p:sp>
      <p:sp>
        <p:nvSpPr>
          <p:cNvPr id="20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Find optimal points for the GenSet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0 to maximum power of the ICE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ICE idle speed to n</a:t>
            </a:r>
            <a:r>
              <a:rPr lang="en-US" sz="1800" b="0" strike="noStrike" spc="-1" baseline="-25000">
                <a:solidFill>
                  <a:srgbClr val="000000"/>
                </a:solidFill>
                <a:latin typeface="Arial"/>
              </a:rPr>
              <a:t>95h</a:t>
            </a:r>
            <a:r>
              <a:rPr lang="en-US" sz="1800" b="0" strike="noStrike" spc="-1">
                <a:solidFill>
                  <a:srgbClr val="000000"/>
                </a:solidFill>
                <a:latin typeface="Arial"/>
              </a:rPr>
              <a:t> speed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Calculate electric power and fuel consumption for all load-points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Select operating points:</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electric power, EM de-rated/not de-rated</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Optimal operating point (minimum FC per electric power generated), EM de-rated/not de-rated</a:t>
            </a:r>
            <a:endParaRPr lang="en-US" sz="1400" b="0" strike="noStrike" spc="-1">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(main principles)</a:t>
            </a:r>
            <a:endParaRPr lang="en-US" sz="2400" b="0" strike="noStrike" spc="-1">
              <a:latin typeface="Arial"/>
            </a:endParaRPr>
          </a:p>
        </p:txBody>
      </p:sp>
      <p:sp>
        <p:nvSpPr>
          <p:cNvPr id="209" name="PlaceHolder 2"/>
          <p:cNvSpPr>
            <a:spLocks noGrp="1"/>
          </p:cNvSpPr>
          <p:nvPr>
            <p:ph/>
          </p:nvPr>
        </p:nvSpPr>
        <p:spPr>
          <a:xfrm>
            <a:off x="468360" y="1582560"/>
            <a:ext cx="5629320" cy="4542840"/>
          </a:xfrm>
          <a:prstGeom prst="rect">
            <a:avLst/>
          </a:prstGeom>
          <a:noFill/>
          <a:ln w="0">
            <a:noFill/>
          </a:ln>
        </p:spPr>
        <p:txBody>
          <a:bodyPr lIns="90000" tIns="45000" rIns="90000" bIns="45000" numCol="1" spcCol="0" anchor="t">
            <a:noAutofit/>
          </a:bodyPr>
          <a:lstStyle/>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max. electric power GenSet can provide</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power demand of electric motor, assuming max. electric power (REESS + GenSet)</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Depending on drivetrain power demand and SoC turn on ICE and operate GenSet either in optimal point or at maximum power (considering de-rating of GenSet)</a:t>
            </a:r>
            <a:endParaRPr lang="en-US" sz="1600" b="0" strike="noStrike" spc="-1">
              <a:latin typeface="Arial"/>
            </a:endParaRPr>
          </a:p>
        </p:txBody>
      </p:sp>
      <p:pic>
        <p:nvPicPr>
          <p:cNvPr id="210" name="Grafik 4"/>
          <p:cNvPicPr/>
          <p:nvPr/>
        </p:nvPicPr>
        <p:blipFill>
          <a:blip r:embed="rId2"/>
          <a:stretch/>
        </p:blipFill>
        <p:spPr>
          <a:xfrm>
            <a:off x="5924880" y="2263320"/>
            <a:ext cx="2942280" cy="3073680"/>
          </a:xfrm>
          <a:prstGeom prst="rect">
            <a:avLst/>
          </a:prstGeom>
          <a:ln w="0">
            <a:noFill/>
          </a:ln>
        </p:spPr>
      </p:pic>
      <p:pic>
        <p:nvPicPr>
          <p:cNvPr id="211" name="Grafik 5"/>
          <p:cNvPicPr/>
          <p:nvPr/>
        </p:nvPicPr>
        <p:blipFill>
          <a:blip r:embed="rId3"/>
          <a:stretch/>
        </p:blipFill>
        <p:spPr>
          <a:xfrm>
            <a:off x="622440" y="3945240"/>
            <a:ext cx="3777480" cy="1712880"/>
          </a:xfrm>
          <a:prstGeom prst="rect">
            <a:avLst/>
          </a:prstGeom>
          <a:ln w="0">
            <a:noFill/>
          </a:ln>
        </p:spPr>
      </p:pic>
      <p:sp>
        <p:nvSpPr>
          <p:cNvPr id="212" name="Textfeld 6"/>
          <p:cNvSpPr/>
          <p:nvPr/>
        </p:nvSpPr>
        <p:spPr>
          <a:xfrm>
            <a:off x="90360" y="5779080"/>
            <a:ext cx="5958360" cy="257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550"/>
              </a:spcBef>
              <a:buNone/>
            </a:pPr>
            <a:r>
              <a:rPr lang="en-US" sz="1100" b="1" i="1" strike="noStrike" spc="-1">
                <a:solidFill>
                  <a:srgbClr val="808080"/>
                </a:solidFill>
                <a:latin typeface="Arial"/>
                <a:ea typeface="DejaVu Sans"/>
              </a:rPr>
              <a:t>Note: SoC_min and SoC_target are parameters of the SerialHybridStrategy, not REESS</a:t>
            </a:r>
            <a:endParaRPr lang="en-US" sz="1100" b="0" strike="noStrike" spc="-1">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a:t>
            </a:r>
            <a:endParaRPr lang="en-US" sz="2400" b="0" strike="noStrike" spc="-1">
              <a:latin typeface="Arial"/>
            </a:endParaRPr>
          </a:p>
        </p:txBody>
      </p:sp>
      <p:sp>
        <p:nvSpPr>
          <p:cNvPr id="21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lang="en-US" sz="2000" b="0" strike="noStrike" spc="-1">
                <a:solidFill>
                  <a:srgbClr val="000000"/>
                </a:solidFill>
                <a:latin typeface="Wingdings"/>
              </a:rPr>
              <a:t></a:t>
            </a:r>
            <a:r>
              <a:rPr lang="en-US" sz="2000" b="0" strike="noStrike" spc="-1">
                <a:solidFill>
                  <a:srgbClr val="000000"/>
                </a:solidFill>
                <a:latin typeface="Arial"/>
              </a:rPr>
              <a:t> Ramp-up ICE with electric machine switched off (usually 1 or 2 </a:t>
            </a:r>
            <a:br>
              <a:rPr sz="2000"/>
            </a:br>
            <a:r>
              <a:rPr lang="en-US" sz="2000" b="0" strike="noStrike" spc="-1">
                <a:solidFill>
                  <a:srgbClr val="000000"/>
                </a:solidFill>
                <a:latin typeface="Arial"/>
              </a:rPr>
              <a:t>     simulation steps) and then turn on the electric machine</a:t>
            </a:r>
            <a:endParaRPr lang="en-US" sz="2000" b="0" strike="noStrike" spc="-1">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Parameters</a:t>
            </a:r>
            <a:endParaRPr lang="en-US" sz="2400" b="0" strike="noStrike" spc="-1">
              <a:latin typeface="Arial"/>
            </a:endParaRPr>
          </a:p>
        </p:txBody>
      </p:sp>
      <p:sp>
        <p:nvSpPr>
          <p:cNvPr id="216"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MinSoC</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TargetSoC</a:t>
            </a:r>
            <a:endParaRPr lang="en-US" sz="2000" b="0" strike="noStrike" spc="-1">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7" name="Inhaltsplatzhalter 4"/>
          <p:cNvPicPr/>
          <p:nvPr/>
        </p:nvPicPr>
        <p:blipFill>
          <a:blip r:embed="rId2"/>
          <a:stretch/>
        </p:blipFill>
        <p:spPr>
          <a:xfrm>
            <a:off x="467640" y="1124640"/>
            <a:ext cx="7625520" cy="4542840"/>
          </a:xfrm>
          <a:prstGeom prst="rect">
            <a:avLst/>
          </a:prstGeom>
          <a:ln w="0">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EM: overload buffer calculated from both voltage levels</a:t>
            </a:r>
            <a:endParaRPr lang="en-US" sz="2400" b="0" strike="noStrike" spc="-1">
              <a:latin typeface="Arial"/>
            </a:endParaRPr>
          </a:p>
        </p:txBody>
      </p:sp>
      <p:sp>
        <p:nvSpPr>
          <p:cNvPr id="219"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Input parameters of EM measured for min and max voltage level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Overload data</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Continuous Torque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Overload Torque + Overload Duration</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Maximum and Minimum torque limitations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Electric power map</a:t>
            </a:r>
            <a:endParaRPr lang="en-US" sz="1600" b="0" strike="noStrike" spc="-1">
              <a:latin typeface="Arial"/>
            </a:endParaRPr>
          </a:p>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Implementation in software: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From overload data above, thermal buffer is calculated for each voltage level separately (acc. to equations in VECTO user manual						    )</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Applied values for simulation run are calculated by linear interpolation between two voltage levels, where average of usable SOC range is used</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Overload buffer</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and Minimum torque limitations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Continuous Torque</a:t>
            </a:r>
            <a:endParaRPr lang="en-US" sz="1400" b="0" strike="noStrike" spc="-1">
              <a:latin typeface="Arial"/>
            </a:endParaRPr>
          </a:p>
        </p:txBody>
      </p:sp>
      <p:pic>
        <p:nvPicPr>
          <p:cNvPr id="220" name="Grafik 5"/>
          <p:cNvPicPr/>
          <p:nvPr/>
        </p:nvPicPr>
        <p:blipFill>
          <a:blip r:embed="rId2"/>
          <a:stretch/>
        </p:blipFill>
        <p:spPr>
          <a:xfrm>
            <a:off x="6131160" y="4268520"/>
            <a:ext cx="2447280" cy="278280"/>
          </a:xfrm>
          <a:prstGeom prst="rect">
            <a:avLst/>
          </a:prstGeom>
          <a:ln w="0">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Inhaltsplatzhalter 2"/>
          <p:cNvSpPr/>
          <p:nvPr/>
        </p:nvSpPr>
        <p:spPr>
          <a:xfrm>
            <a:off x="622440" y="1990440"/>
            <a:ext cx="4746960" cy="344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Ref. to ticket nr. 1478+1479</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Only relevant for P1 + P2 HEV where EM is located upstream of transmission</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Starting Point: ICE FLD</a:t>
            </a:r>
            <a:endParaRPr lang="en-US" sz="18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Crop with max ICE torque declared at vehicle level (per gear) </a:t>
            </a:r>
            <a:br>
              <a:rPr sz="1800"/>
            </a:br>
            <a:r>
              <a:rPr lang="en-US" sz="1200" b="1" i="1" strike="noStrike" spc="-1">
                <a:solidFill>
                  <a:srgbClr val="376092"/>
                </a:solidFill>
                <a:latin typeface="Arial"/>
                <a:ea typeface="DejaVu Sans"/>
              </a:rPr>
              <a:t>‘Vehicle/EngineTorqueLimits’ per gear – P196 + P197</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Add boosting torque</a:t>
            </a:r>
            <a:br>
              <a:rPr sz="1800"/>
            </a:br>
            <a:r>
              <a:rPr lang="en-US" sz="1200" b="1" i="1" strike="noStrike" spc="-1">
                <a:solidFill>
                  <a:srgbClr val="376092"/>
                </a:solidFill>
                <a:latin typeface="Arial"/>
                <a:ea typeface="DejaVu Sans"/>
              </a:rPr>
              <a:t>Boosting limitations for parallel HEV – P415 + P416</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In case of P1 or P2: crop with gearbox max input torque (per gear)  </a:t>
            </a:r>
            <a:r>
              <a:rPr lang="en-US" sz="1200" b="1" i="1" strike="noStrike" spc="-1">
                <a:solidFill>
                  <a:srgbClr val="376092"/>
                </a:solidFill>
                <a:latin typeface="Arial"/>
                <a:ea typeface="DejaVu Sans"/>
              </a:rPr>
              <a:t>MaxTorque – P157</a:t>
            </a:r>
            <a:endParaRPr lang="en-US" sz="1200" b="0" strike="noStrike" spc="-1">
              <a:latin typeface="Arial"/>
            </a:endParaRPr>
          </a:p>
          <a:p>
            <a:pPr marL="357120" indent="-357120">
              <a:lnSpc>
                <a:spcPct val="100000"/>
              </a:lnSpc>
              <a:spcBef>
                <a:spcPts val="360"/>
              </a:spcBef>
              <a:buNone/>
              <a:tabLst>
                <a:tab pos="0" algn="l"/>
              </a:tabLst>
            </a:pPr>
            <a:r>
              <a:rPr lang="en-US" sz="1800" b="1" strike="noStrike" spc="-1">
                <a:solidFill>
                  <a:srgbClr val="000000"/>
                </a:solidFill>
                <a:latin typeface="Wingdings"/>
                <a:ea typeface="DejaVu Sans"/>
              </a:rPr>
              <a:t></a:t>
            </a:r>
            <a:r>
              <a:rPr lang="en-US" sz="1800" b="1" strike="noStrike" spc="-1">
                <a:solidFill>
                  <a:srgbClr val="000000"/>
                </a:solidFill>
                <a:latin typeface="Arial"/>
                <a:ea typeface="DejaVu Sans"/>
              </a:rPr>
              <a:t> Torque limits per gear applied by HybridStrategy</a:t>
            </a:r>
            <a:endParaRPr lang="en-US" sz="1800" b="0" strike="noStrike" spc="-1">
              <a:latin typeface="Arial"/>
            </a:endParaRPr>
          </a:p>
        </p:txBody>
      </p:sp>
      <p:sp>
        <p:nvSpPr>
          <p:cNvPr id="222" name="Textfeld 6"/>
          <p:cNvSpPr/>
          <p:nvPr/>
        </p:nvSpPr>
        <p:spPr>
          <a:xfrm>
            <a:off x="5237640" y="1922040"/>
            <a:ext cx="3517920" cy="257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50"/>
              </a:spcBef>
              <a:buNone/>
            </a:pPr>
            <a:r>
              <a:rPr lang="en-US" sz="1100" b="1" strike="noStrike" spc="-1">
                <a:solidFill>
                  <a:srgbClr val="000000"/>
                </a:solidFill>
                <a:latin typeface="Arial"/>
                <a:ea typeface="DejaVu Sans"/>
              </a:rPr>
              <a:t>Example for P2</a:t>
            </a:r>
            <a:endParaRPr lang="en-US" sz="1100" b="0" strike="noStrike" spc="-1">
              <a:latin typeface="Arial"/>
            </a:endParaRPr>
          </a:p>
        </p:txBody>
      </p:sp>
      <p:pic>
        <p:nvPicPr>
          <p:cNvPr id="223" name="Grafik 7"/>
          <p:cNvPicPr/>
          <p:nvPr/>
        </p:nvPicPr>
        <p:blipFill>
          <a:blip r:embed="rId2"/>
          <a:stretch/>
        </p:blipFill>
        <p:spPr>
          <a:xfrm>
            <a:off x="5220360" y="2088000"/>
            <a:ext cx="3813840" cy="2790720"/>
          </a:xfrm>
          <a:prstGeom prst="rect">
            <a:avLst/>
          </a:prstGeom>
          <a:ln w="0">
            <a:noFill/>
          </a:ln>
        </p:spPr>
      </p:pic>
      <p:pic>
        <p:nvPicPr>
          <p:cNvPr id="224" name="Grafik 8"/>
          <p:cNvPicPr/>
          <p:nvPr/>
        </p:nvPicPr>
        <p:blipFill>
          <a:blip r:embed="rId3"/>
          <a:stretch/>
        </p:blipFill>
        <p:spPr>
          <a:xfrm>
            <a:off x="5781960" y="4757760"/>
            <a:ext cx="2815200" cy="1215720"/>
          </a:xfrm>
          <a:prstGeom prst="rect">
            <a:avLst/>
          </a:prstGeom>
          <a:ln w="0">
            <a:noFill/>
          </a:ln>
        </p:spPr>
      </p:pic>
      <p:sp>
        <p:nvSpPr>
          <p:cNvPr id="22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Consider gearbox MaxTorque limits for HEV</a:t>
            </a:r>
            <a:endParaRPr lang="en-US" sz="2400" b="0" strike="noStrike" spc="-1">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7"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[VECTO-1541] - Implement E2/S2 with APT-S/P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[VECTO-1549] - Error in gearshift behavior for AT transmissions when braking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[VECTO-1466] - 076.2451 E2 significant increase of calculation time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[VECTO-1479] - Maximum gearbox torque not respected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[VECTO-1519] - 077.2457 E2 Gear oscillation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[VECTO-1520] - 077.2457 P2 Crashing at takeoff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[VECTO-1531] - ElectricMotor Lookup Maximum Torque: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[VECTO-1532] - 077.2547 P2 crashing with 600 RPM idling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[VECTO-1539] - Engine speed ramping up before vehicle halt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[VECTO-1551] - AT-P Transmission Bus Application: Error during braking phase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[VECTO-1559] - battery internal resistance curve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[VECTO-1411] - Switching to new .NET version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[VECTO-1456] - Cycle Cache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[VECTO-1478] - Torque limits only apply to ICE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[VECTO-1521] - Updating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[VECTO-1522] - VECTO warning if there are more steered axles than steering pump technologies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[VECTO-1525] - PCC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[VECTO-1533] - Multi-Target Compilation and .NET Upgrade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[VECTO-1538] - Transmission ratios limitation of input value to &lt;=25</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[VECTO-1540] - Retarder Types AxleGearInputRetarder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[VECTO-1543] - Calculation of EM Overload buffer, and continuous torque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[VECTO-1545] - WHR electric - connect to REESS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[VECTO-1548] - Update Coach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[VECTO-1560] - update toolchain for generating usermanual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[VECTO-1562] - Adapting WHTC Correction Factor weighting for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[VECTO-1563] - Electric Motor: Calculation of Overload Buffer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[VECTO-1564] - XML Schema adaptations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[VECTO-1565] - VECTO warning if there are more steered axles than steering pump technologies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[VECTO-1569] - Bugfix: Extrapolation warning in PEV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[VECTO-1573] - Update LH Cycle and WHTC correction factor weighting</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1"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APT-N Gearbox +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model (drag curve independent of voltage level)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electric power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Update/bugfixes PEV shift strategy (influence of drag curve, error in calculation of costs)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calculation E_EM_off_loss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generic shift lines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post-processing fuel consumption correction bus auxiliaries (in case of no alternator)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PCC for xEV</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(1/x)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All topics in this section will also be explained in the next xEV workshop #9 on 11.01.2022</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Also topics for testing and feedback will be discussed in this workshop.</a:t>
            </a:r>
            <a:br>
              <a:rPr sz="1400"/>
            </a:br>
            <a:r>
              <a:rPr lang="en-US" sz="1400" b="0" strike="noStrike" spc="-1">
                <a:solidFill>
                  <a:srgbClr val="000000"/>
                </a:solidFill>
                <a:latin typeface="Arial"/>
              </a:rPr>
              <a:t>Until then, no feedback on the distributed version is expected.</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Calculation of overload buffer for EM</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Overload buffer is currently calculated with data for lower voltage level only</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of calculation method based on two voltage levels will be implemented once all details reg. the method are clarified</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Propulsion Torque Limits (Vehicle Boosting Limits)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Any arbitrary number of values may be declared in between the range of zero and the maximum rotational speed of the ICE full load curve.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Declared values lower than zero are not allowed for the additional torque.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 (“Vehicle Editor – Torque Limits Tab”, “Torque and Speed Limitations”)</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Pulse-duration dependency of internal resistance of battery</a:t>
            </a:r>
            <a:endParaRPr lang="en-US" sz="1400" b="0" strike="noStrike" spc="-1">
              <a:latin typeface="Arial"/>
            </a:endParaRPr>
          </a:p>
          <a:p>
            <a:pPr marL="1143000" lvl="2" indent="-228600">
              <a:lnSpc>
                <a:spcPct val="100000"/>
              </a:lnSpc>
              <a:spcBef>
                <a:spcPts val="28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HEV operation strategy method for declaration mode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Method explained in “User Manual/HEV_DECL_method_20211221.pptx”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Generic values defined per (vehicle group, mission, payload and usable SOC range) in “User Manual/HEV_Strategy_Parameters.xlsx”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further details refer to distributed material/recording from xEV workshop #8</a:t>
            </a:r>
            <a:endParaRPr lang="en-US" sz="10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(2/x)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Auxiliaries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power demand of auxiliaries for both, lorries and buses, need to be parameterized via the “BusAux” GUI window</a:t>
            </a:r>
            <a:br>
              <a:rPr sz="1000"/>
            </a:br>
            <a:br>
              <a:rPr sz="1000"/>
            </a:br>
            <a:br>
              <a:rPr sz="1000"/>
            </a:br>
            <a:br>
              <a:rPr sz="1000"/>
            </a:br>
            <a:r>
              <a:rPr lang="en-US" sz="1000" b="0" strike="noStrike" spc="-1">
                <a:solidFill>
                  <a:srgbClr val="000000"/>
                </a:solidFill>
                <a:latin typeface="Arial"/>
              </a:rPr>
              <a:t> </a:t>
            </a:r>
            <a:endParaRPr lang="en-US" sz="1000" b="0" strike="noStrike" spc="-1">
              <a:latin typeface="Arial"/>
            </a:endParaRPr>
          </a:p>
          <a:p>
            <a:pPr>
              <a:lnSpc>
                <a:spcPct val="100000"/>
              </a:lnSpc>
              <a:buNone/>
              <a:tabLst>
                <a:tab pos="1886040" algn="l"/>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Gearshift model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Details explained on next slides</a:t>
            </a:r>
            <a:endParaRPr lang="en-US" sz="1000" b="0" strike="noStrike" spc="-1">
              <a:latin typeface="Arial"/>
            </a:endParaRPr>
          </a:p>
        </p:txBody>
      </p:sp>
      <p:grpSp>
        <p:nvGrpSpPr>
          <p:cNvPr id="236" name="Gruppieren 12"/>
          <p:cNvGrpSpPr/>
          <p:nvPr/>
        </p:nvGrpSpPr>
        <p:grpSpPr>
          <a:xfrm>
            <a:off x="1047600" y="2188080"/>
            <a:ext cx="7963560" cy="2519280"/>
            <a:chOff x="1047600" y="2188080"/>
            <a:chExt cx="7963560" cy="2519280"/>
          </a:xfrm>
        </p:grpSpPr>
        <p:pic>
          <p:nvPicPr>
            <p:cNvPr id="237" name="Grafik 5"/>
            <p:cNvPicPr/>
            <p:nvPr/>
          </p:nvPicPr>
          <p:blipFill>
            <a:blip r:embed="rId2"/>
            <a:srcRect r="53544"/>
            <a:stretch/>
          </p:blipFill>
          <p:spPr>
            <a:xfrm>
              <a:off x="5004000" y="2188080"/>
              <a:ext cx="2510280" cy="2519280"/>
            </a:xfrm>
            <a:prstGeom prst="rect">
              <a:avLst/>
            </a:prstGeom>
            <a:ln w="0">
              <a:noFill/>
            </a:ln>
          </p:spPr>
        </p:pic>
        <p:grpSp>
          <p:nvGrpSpPr>
            <p:cNvPr id="238" name="Gruppieren 7"/>
            <p:cNvGrpSpPr/>
            <p:nvPr/>
          </p:nvGrpSpPr>
          <p:grpSpPr>
            <a:xfrm>
              <a:off x="1047600" y="2188080"/>
              <a:ext cx="3735000" cy="2519280"/>
              <a:chOff x="1047600" y="2188080"/>
              <a:chExt cx="3735000" cy="2519280"/>
            </a:xfrm>
          </p:grpSpPr>
          <p:pic>
            <p:nvPicPr>
              <p:cNvPr id="239" name="Grafik 4"/>
              <p:cNvPicPr/>
              <p:nvPr/>
            </p:nvPicPr>
            <p:blipFill>
              <a:blip r:embed="rId3"/>
              <a:stretch/>
            </p:blipFill>
            <p:spPr>
              <a:xfrm>
                <a:off x="1187640" y="2188080"/>
                <a:ext cx="3594960" cy="2519280"/>
              </a:xfrm>
              <a:prstGeom prst="rect">
                <a:avLst/>
              </a:prstGeom>
              <a:ln w="0">
                <a:noFill/>
              </a:ln>
            </p:spPr>
          </p:pic>
          <p:sp>
            <p:nvSpPr>
              <p:cNvPr id="240" name="Ellipse 6"/>
              <p:cNvSpPr/>
              <p:nvPr/>
            </p:nvSpPr>
            <p:spPr>
              <a:xfrm>
                <a:off x="1047600" y="3812760"/>
                <a:ext cx="899280" cy="287280"/>
              </a:xfrm>
              <a:prstGeom prst="ellipse">
                <a:avLst/>
              </a:prstGeom>
              <a:noFill/>
              <a:ln w="19050">
                <a:solidFill>
                  <a:srgbClr val="FF0000"/>
                </a:solidFill>
                <a:round/>
              </a:ln>
            </p:spPr>
            <p:style>
              <a:lnRef idx="0">
                <a:scrgbClr r="0" g="0" b="0"/>
              </a:lnRef>
              <a:fillRef idx="0">
                <a:scrgbClr r="0" g="0" b="0"/>
              </a:fillRef>
              <a:effectRef idx="0">
                <a:scrgbClr r="0" g="0" b="0"/>
              </a:effectRef>
              <a:fontRef idx="minor"/>
            </p:style>
          </p:sp>
        </p:grpSp>
        <p:sp>
          <p:nvSpPr>
            <p:cNvPr id="241" name="Legende mit Linie 1 10"/>
            <p:cNvSpPr/>
            <p:nvPr/>
          </p:nvSpPr>
          <p:spPr>
            <a:xfrm>
              <a:off x="7566480" y="2836080"/>
              <a:ext cx="1444680" cy="337680"/>
            </a:xfrm>
            <a:prstGeom prst="borderCallout1">
              <a:avLst>
                <a:gd name="adj1" fmla="val 18750"/>
                <a:gd name="adj2" fmla="val -8333"/>
                <a:gd name="adj3" fmla="val 70225"/>
                <a:gd name="adj4" fmla="val -65838"/>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driving</a:t>
              </a:r>
              <a:endParaRPr lang="en-US" sz="1100" b="0" strike="noStrike" spc="-1">
                <a:latin typeface="Arial"/>
              </a:endParaRPr>
            </a:p>
          </p:txBody>
        </p:sp>
        <p:sp>
          <p:nvSpPr>
            <p:cNvPr id="242" name="Legende mit Linie 1 11"/>
            <p:cNvSpPr/>
            <p:nvPr/>
          </p:nvSpPr>
          <p:spPr>
            <a:xfrm>
              <a:off x="7566480" y="3340080"/>
              <a:ext cx="1444680" cy="337680"/>
            </a:xfrm>
            <a:prstGeom prst="borderCallout1">
              <a:avLst>
                <a:gd name="adj1" fmla="val 18750"/>
                <a:gd name="adj2" fmla="val -8333"/>
                <a:gd name="adj3" fmla="val -28416"/>
                <a:gd name="adj4" fmla="val -65839"/>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standstill</a:t>
              </a:r>
              <a:endParaRPr lang="en-US" sz="1100" b="0" strike="noStrike" spc="-1">
                <a:latin typeface="Arial"/>
              </a:endParaRPr>
            </a:p>
          </p:txBody>
        </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3" name="Grafik 14"/>
          <p:cNvPicPr/>
          <p:nvPr/>
        </p:nvPicPr>
        <p:blipFill>
          <a:blip r:embed="rId2"/>
          <a:stretch/>
        </p:blipFill>
        <p:spPr>
          <a:xfrm>
            <a:off x="323640" y="1743840"/>
            <a:ext cx="5759280" cy="4748040"/>
          </a:xfrm>
          <a:prstGeom prst="rect">
            <a:avLst/>
          </a:prstGeom>
          <a:ln w="0">
            <a:noFill/>
          </a:ln>
        </p:spPr>
      </p:pic>
      <p:sp>
        <p:nvSpPr>
          <p:cNvPr id="2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(1/x)</a:t>
            </a:r>
            <a:endParaRPr lang="en-US" sz="1600" b="0" strike="noStrike" spc="-1">
              <a:latin typeface="Arial"/>
            </a:endParaRPr>
          </a:p>
        </p:txBody>
      </p:sp>
      <p:sp>
        <p:nvSpPr>
          <p:cNvPr id="246" name="Textfeld 12"/>
          <p:cNvSpPr/>
          <p:nvPr/>
        </p:nvSpPr>
        <p:spPr>
          <a:xfrm>
            <a:off x="6156000" y="1524960"/>
            <a:ext cx="2987280" cy="4677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Basics:</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Downshift for operation point left of green dot-dashed downshift lines</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Upshift for operation point right of green dot-dashed upshift line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method applied for operation point between downshift and upshift lines (refer to user manual) </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Driving: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Maximum downshift speed always located at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(where 80% of max power is available)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For EM in de-rating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is calculated from the de-rated power curve</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Braking: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is suppressed for operation point within red shaded area</a:t>
            </a:r>
            <a:br>
              <a:rPr sz="1000"/>
            </a:br>
            <a:r>
              <a:rPr lang="en-US" sz="1000" b="0" strike="noStrike" spc="-1">
                <a:solidFill>
                  <a:srgbClr val="000000"/>
                </a:solidFill>
                <a:latin typeface="Arial"/>
                <a:ea typeface="DejaVu Sans"/>
              </a:rPr>
              <a:t>(2% below max recuperation power)</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New gear after downshift is selected so that operation point is closest to and above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(or only closest to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in case no operation point with higher speed exists)</a:t>
            </a:r>
            <a:endParaRPr lang="en-US" sz="1000" b="0" strike="noStrike" spc="-1">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7" name="Grafik 6"/>
          <p:cNvPicPr/>
          <p:nvPr/>
        </p:nvPicPr>
        <p:blipFill>
          <a:blip r:embed="rId2"/>
          <a:stretch/>
        </p:blipFill>
        <p:spPr>
          <a:xfrm>
            <a:off x="323640" y="1743840"/>
            <a:ext cx="5759280" cy="4748040"/>
          </a:xfrm>
          <a:prstGeom prst="rect">
            <a:avLst/>
          </a:prstGeom>
          <a:ln w="0">
            <a:noFill/>
          </a:ln>
        </p:spPr>
      </p:pic>
      <p:sp>
        <p:nvSpPr>
          <p:cNvPr id="2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(2/x)</a:t>
            </a:r>
            <a:endParaRPr lang="en-US" sz="1600" b="0" strike="noStrike" spc="-1">
              <a:latin typeface="Arial"/>
            </a:endParaRPr>
          </a:p>
        </p:txBody>
      </p:sp>
      <p:sp>
        <p:nvSpPr>
          <p:cNvPr id="250" name="Textfeld 12"/>
          <p:cNvSpPr/>
          <p:nvPr/>
        </p:nvSpPr>
        <p:spPr>
          <a:xfrm>
            <a:off x="6156000" y="1524960"/>
            <a:ext cx="2987280" cy="1097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All factors in bold red can be tuned via shift parameter file .vtcu</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Refer to sample file for User Manual/PEV_ShiftParameters.vtcu distributed together with VECTO archive</a:t>
            </a:r>
            <a:endParaRPr lang="en-US" sz="1000" b="0" strike="noStrike" spc="-1">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2"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[VECTO-1460] - APT-N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[VECTO-1501] - Update EM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[VECTO-1477] - 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[VECTO-1383] - E2 PEV, 2-speed AMT: "Failed to find operating point"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[VECTO-1384] - E2 PEV, 2-speed AMT: Downshifts missing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[VECTO-1414] - E2 selects high gear at low speed after take-off, does not reach target acc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[VECTO-1443] - 0.7.5.2356 EC_el_final calculated from REESS terminal signals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[VECTO-1445] - 073.2356, E2 Missing Downshifts, simulation abort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[VECTO-1464] - Engine Off not working with activated PCC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[VECTO-1465] - PEV PCCState oscillates between Interrupt and UseCase1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[VECTO-1467] - PCC HEV Small Spike at end of UseCase1 when Target speed is reached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[VECTO-1468] - EM map interpolation comments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[VECTO-1470] - 076.2463 EM drag torque questions/findings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[VECTO-1482] - Hybrid Vehicle EM speed gets very high, no 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[VECTO-1483] - Job aborting: E4_Group 5 LH_ll_LongHaul_mod5_id_2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[VECTO-1484] - Job aborting: P2_Group5_s2c0_rep_Payload_LongHaul_mod5_id_27</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[VECTO-1486] - NG PI fuel type not working with Engine GUI (.veng)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[VECTO-1487] - Calculation of EM efficiency during recuperation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[VECTO-1490] - Exceeded max iterations: Operating Point could not be found</a:t>
            </a:r>
            <a:endParaRPr lang="en-US" sz="1400" b="0" strike="noStrike" spc="-1">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4"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[VECTO-1491] - Electric Energy Storage Editor does not show values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[VECTO-1499] - Energy balance when ICE is turned on in a P1 hybrid configuration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[VECTO-1514] - Modeldata uses wrong inertia in case multiple EMs are used on a position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[VECTO-1515] - Output in vsum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[VECTO-1516] - GUI: PEV vehicle, disable hybrid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[VECTO-1489] - Engine-off eco-roll for P1 hybrids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[VECTO-1448] - 075.2356, E2 Selecting high gear in downhill, needs to use wheel brakes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[VECTO-1472] - Do not end PCC if acceleration is still high enough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[VECTO-1473] - Additional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[VECTO-1476] - Update EM GUI, EM component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[VECTO-1493] - Use EngineStartStop in PCC-Events for Hybrid P1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[VECTO-1498] - Crosswind correction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[VECTO-1508] - EM-Off Losses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[VECTO-1509] - SP Technology "Electric" already contains mechanical power demand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[VECTO-1510] - Remove selection of shift strategy in job dialog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[VECTO-1511] - Error Message for "HEVs and BEVs not supported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[VECTO-1512] - Adapt shift lines for xEV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[VECTO-1513] - Bus Aux post-processing correction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[VECTO-1481] - New warning message regarding transmission: what does it mean?</a:t>
            </a:r>
            <a:endParaRPr lang="en-US" sz="1400" b="0" strike="noStrike" spc="-1">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0.7.6.2451 Development Version</a:t>
            </a:r>
            <a:br>
              <a:rPr sz="2400"/>
            </a:br>
            <a:r>
              <a:rPr lang="en-US" sz="1600" b="1" strike="noStrike" spc="-1">
                <a:solidFill>
                  <a:srgbClr val="990000"/>
                </a:solidFill>
                <a:latin typeface="Arial"/>
              </a:rPr>
              <a:t>September 2021</a:t>
            </a:r>
            <a:endParaRPr lang="en-US" sz="1600" b="0" strike="noStrike" spc="-1">
              <a:latin typeface="Arial"/>
            </a:endParaRPr>
          </a:p>
        </p:txBody>
      </p:sp>
      <p:sp>
        <p:nvSpPr>
          <p:cNvPr id="256"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ADAS for HEV and PEV vehicles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HEV vehicles interaction of PCC and HEV strategy under further analysis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electric motor model: support for different voltage levels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modular battery components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pulse-duration dependent internal resistance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0.7.5.2353 Development Version</a:t>
            </a:r>
            <a:br>
              <a:rPr sz="2400"/>
            </a:br>
            <a:r>
              <a:rPr lang="en-US" sz="1600" b="1" strike="noStrike" spc="-1">
                <a:solidFill>
                  <a:srgbClr val="990000"/>
                </a:solidFill>
                <a:latin typeface="Arial"/>
              </a:rPr>
              <a:t>June 2021</a:t>
            </a:r>
            <a:endParaRPr lang="en-US" sz="1600" b="0" strike="noStrike" spc="-1">
              <a:latin typeface="Arial"/>
            </a:endParaRPr>
          </a:p>
        </p:txBody>
      </p:sp>
      <p:sp>
        <p:nvSpPr>
          <p:cNvPr id="258"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Additional Powertrain architectures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P1 AMT and APT-S/P</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P2.5 (transmission ratio EM per gear)</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P3 &amp; P4 with APT transmissions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Loss-map for electric machine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Bus auxiliaries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Combine Bus auxiliaries with HEV powertrains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Refactoring Engine Stop/Start approach</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ICE is always off during simulation, balance missing energy in case ICE is on / ICE is off for all auxiliaries in .vmod.</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Correct for missing aux energy in post-processing (not fully implemented in this version)</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Added vehicle propulsion limits (relative to ICE max torque)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 P3, and P4</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Refactored EM model: continuous torque, overload torque as separate inputs</a:t>
            </a:r>
            <a:endParaRPr lang="en-US" sz="1400" b="0" strike="noStrike" spc="-1">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0.7.3.2164 Development Version</a:t>
            </a:r>
            <a:br>
              <a:rPr sz="2400"/>
            </a:br>
            <a:r>
              <a:rPr lang="en-US" sz="1600" b="1" strike="noStrike" spc="-1">
                <a:solidFill>
                  <a:srgbClr val="990000"/>
                </a:solidFill>
                <a:latin typeface="Arial"/>
              </a:rPr>
              <a:t>December 2020</a:t>
            </a:r>
            <a:endParaRPr lang="en-US" sz="1600" b="0" strike="noStrike" spc="-1">
              <a:latin typeface="Arial"/>
            </a:endParaRPr>
          </a:p>
        </p:txBody>
      </p:sp>
      <p:sp>
        <p:nvSpPr>
          <p:cNvPr id="260"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SuperCap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Removed E_REESS from .vmod file, calculate delta_E_REESS from P_REESS in .vsum file</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0.7.2.2118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2"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PEV architecture E2 with EffShift-like gearshift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REESS Dialog (.vimax)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in output of EM overload output in .vmod file </a:t>
            </a:r>
            <a:endParaRPr lang="en-US" sz="1400" b="0" strike="noStrike" spc="-1">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0.7.1.2108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4"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More stable operating point search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Bugfixes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Super Cap as REESS </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electric machine thermal de-rating</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Modified battery model: max charge/discharge current over state of charge</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Improvements simulation time hybrid vehicles</a:t>
            </a:r>
            <a:endParaRPr lang="en-US" sz="1100" b="0" strike="noStrike" spc="-1">
              <a:latin typeface="Arial"/>
            </a:endParaRPr>
          </a:p>
        </p:txBody>
      </p:sp>
      <p:sp>
        <p:nvSpPr>
          <p:cNvPr id="265" name="Textfeld 3"/>
          <p:cNvSpPr/>
          <p:nvPr/>
        </p:nvSpPr>
        <p:spPr>
          <a:xfrm>
            <a:off x="719640" y="3161160"/>
            <a:ext cx="7704000" cy="729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400" b="1" strike="noStrike" spc="-1">
                <a:solidFill>
                  <a:srgbClr val="000000"/>
                </a:solidFill>
                <a:latin typeface="Arial"/>
                <a:ea typeface="DejaVu Sans"/>
              </a:rPr>
              <a:t>Note: </a:t>
            </a:r>
            <a:r>
              <a:rPr lang="en-US" sz="1400" b="0" strike="noStrike" spc="-1">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lang="en-US" sz="1400" b="0" strike="noStrike" spc="-1">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0.7.0.2076 Development Version</a:t>
            </a:r>
            <a:br>
              <a:rPr sz="2400"/>
            </a:br>
            <a:r>
              <a:rPr lang="en-US" sz="1600" b="1" strike="noStrike" spc="-1">
                <a:solidFill>
                  <a:srgbClr val="990000"/>
                </a:solidFill>
                <a:latin typeface="Arial"/>
              </a:rPr>
              <a:t>September 2020</a:t>
            </a:r>
            <a:endParaRPr lang="en-US" sz="1600" b="0" strike="noStrike" spc="-1">
              <a:latin typeface="Arial"/>
            </a:endParaRPr>
          </a:p>
        </p:txBody>
      </p:sp>
      <p:sp>
        <p:nvSpPr>
          <p:cNvPr id="267" name="PlaceHolder 2"/>
          <p:cNvSpPr>
            <a:spLocks noGrp="1"/>
          </p:cNvSpPr>
          <p:nvPr>
            <p:ph/>
          </p:nvPr>
        </p:nvSpPr>
        <p:spPr>
          <a:xfrm>
            <a:off x="323640" y="1268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241"/>
              </a:spcBef>
              <a:buClr>
                <a:srgbClr val="000000"/>
              </a:buClr>
              <a:buFont typeface="Symbol"/>
              <a:buChar char=""/>
              <a:tabLst>
                <a:tab pos="1886040" algn="l"/>
              </a:tabLst>
            </a:pPr>
            <a:r>
              <a:rPr lang="en-US" sz="1200" b="1" strike="noStrike" spc="-1">
                <a:solidFill>
                  <a:srgbClr val="000000"/>
                </a:solidFill>
                <a:latin typeface="Arial"/>
              </a:rPr>
              <a:t>Changes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i="1" strike="noStrike" spc="-1">
                <a:solidFill>
                  <a:srgbClr val="000000"/>
                </a:solidFill>
                <a:latin typeface="Arial"/>
              </a:rPr>
              <a:t>This release is the first beta version with capabilities to simulate hybrid and battery electric vehicles</a:t>
            </a:r>
            <a:r>
              <a:rPr lang="en-US" sz="1000" b="0" strike="noStrike" spc="-1">
                <a:solidFill>
                  <a:srgbClr val="000000"/>
                </a:solidFill>
                <a:latin typeface="Arial"/>
              </a:rPr>
              <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It covers powertrain architectures “P2”, “P3”, “P4” for hybrid electric vehicles (HEV) and  “E3”, “E4” for battery electric vehicles (PEV, pure electric vehicles).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The definitions of the powertrain architectures and other input parameters on vehicle level can be found in the document </a:t>
            </a:r>
            <a:r>
              <a:rPr lang="en-US" sz="1000" b="0" i="1" strike="noStrike" spc="-1">
                <a:solidFill>
                  <a:srgbClr val="000000"/>
                </a:solidFill>
                <a:latin typeface="Arial"/>
              </a:rPr>
              <a:t>Input parameters vehicle level 20200907.docx</a:t>
            </a:r>
            <a:r>
              <a:rPr lang="en-US" sz="1000" b="0" strike="noStrike" spc="-1">
                <a:solidFill>
                  <a:srgbClr val="000000"/>
                </a:solidFill>
                <a:latin typeface="Arial"/>
              </a:rPr>
              <a:t>. This document is an excerpt of working document 3 of the HDV CO2 Editing board. Items marked in red are not yet featured by the tool and will follow in the next releases.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Known limitations</a:t>
            </a:r>
            <a:endParaRPr lang="en-US" sz="10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Electric machine system overload feature not available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Supercaps not implemented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Engine Stop Start Utility Factor has to be set to 1 – further discussions in task force needed how UF-approach shall be aligned with hybrid control strategy</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P_aux_el are electric auxiliaries connected to the high-voltage system. For hybrid electric vehicles this model parameter shall currently be set to 0. – further discussions in task force needed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APTs with HEV – to be implemented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Eco-roll and PCC not implemented</a:t>
            </a:r>
            <a:endParaRPr lang="en-US" sz="900" b="0" strike="noStrike" spc="-1">
              <a:latin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0.6.1.1975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69"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Bugfixes </a:t>
            </a:r>
            <a:endParaRPr lang="en-US" sz="16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Change passenger density primary vehicle for IU cycle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primary vehicle: ignore TPMLM (to limit payload, do not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completed vehicle: limit total mass with TPMLM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consider l_drivetrain. this length is subtracted from internal length for HVAC calculation only (bus volume for ventilation, max cooling capacity); completed vehicle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set alternator gear efficiency to 1 to align with lorries (currently 0.92)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system / radio: all vehicles are equipped with radio. modify consumed amps to consider 'usage factor' - updated already in master excel.</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generic values for primary HF vehicles CdxA</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check/correct internal height for coaches (shall be 1.8m)</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subtract driver compartment from total volume for max cooling capacity passengers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add configuration #10, add sanity checks (i.e. if driver AC is provided for configurations #2,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Steering pump power demand: tubing factor only applied for first steered axle (as the additionally steered axles are close to the engine and the distance is not known)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Allow enabling/disabling LAC in declaration mode via GUI (not persistent). Additional input on “Options” tab to set min activation speed</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 file: E_AUX_SUM matches sum of individual AUX entries; bugfix writing P_busAux_ES_mech</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user manual on VTP cycle file format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APT gearbox (all gears) generic efficiency 0.925</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retarder: set factor for generic retarder losses from 0.5 to 1 (i.e., use standardvalues)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VTP engineering mode - vsum actual CF different to declaration mode</a:t>
            </a:r>
            <a:endParaRPr lang="en-US" sz="1000" b="0" strike="noStrike" spc="-1">
              <a:latin typeface="Arial"/>
            </a:endParaRPr>
          </a:p>
          <a:p>
            <a:pPr marL="343080" indent="-34308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Improvements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Switch GUI to 64bit mode (see VECTO-1270)</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New normalization/denormalization method for generic engine FC-Map (see VECTO-1269)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.vsum-file: new entries P_ice_fcmap, P_wheel_in, k_vehline (previous k_vehline is now k_engline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Bus VTP: Fan Parameter C4</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don't write CIF for primary vehicle</a:t>
            </a:r>
            <a:endParaRPr lang="en-US" sz="1000" b="0" strike="noStrike" spc="-1">
              <a:latin typeface="Arial"/>
            </a:endParaRPr>
          </a:p>
          <a:p>
            <a:pPr>
              <a:lnSpc>
                <a:spcPct val="100000"/>
              </a:lnSpc>
              <a:buNone/>
              <a:tabLst>
                <a:tab pos="1886040" algn="l"/>
              </a:tabLst>
            </a:pPr>
            <a:endParaRPr lang="en-US" sz="1000" b="0" strike="noStrike" spc="-1">
              <a:latin typeface="Arial"/>
            </a:endParaRPr>
          </a:p>
          <a:p>
            <a:pPr>
              <a:lnSpc>
                <a:spcPct val="100000"/>
              </a:lnSpc>
              <a:buNone/>
              <a:tabLst>
                <a:tab pos="1886040" algn="l"/>
              </a:tabLst>
            </a:pPr>
            <a:endParaRPr lang="en-US" sz="1000" b="0" strike="noStrike" spc="-1">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1"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Improvements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Declaration mode for complete and completed buses via “factor method”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heavy buses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dual-fuel vehicles (new cycle file required!)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“Single bus” mode with generic data from segmentation table completed vehicle (previous version used generic data from primary vehicle)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highway sections on coach cycle (required for PCC)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graphical user interface (VECTO3.exe) (</a:t>
            </a:r>
            <a:r>
              <a:rPr lang="en-US" sz="1600" b="0" i="1" strike="noStrike" spc="-1">
                <a:solidFill>
                  <a:srgbClr val="953735"/>
                </a:solidFill>
                <a:latin typeface="Arial"/>
              </a:rPr>
              <a:t>alpha version!</a:t>
            </a:r>
            <a:r>
              <a:rPr lang="en-US" sz="1600" b="0" strike="noStrike" spc="-1">
                <a:solidFill>
                  <a:srgbClr val="000000"/>
                </a:solidFill>
                <a:latin typeface="Arial"/>
              </a:rPr>
              <a:t>)</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job file (PIF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single bus job file (primary XML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Simulation of all types of VECTO jobs</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Currently, other existing job files can not be edited in the new GUI – planned to be extended in future</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Functionality similar to currently official VECTO version, for further information see separate user manual on new GUI</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XML reports (MRF, CIF, PIF) according to draft Annex IV</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a:t>
            </a:r>
            <a:r>
              <a:rPr lang="en-US" sz="1600" b="0" strike="noStrike" spc="-1">
                <a:solidFill>
                  <a:srgbClr val="000000"/>
                </a:solidFill>
                <a:latin typeface="Arial"/>
              </a:rPr>
              <a:t> allow adding torque converter data to PIF manually (not added by VECTO automatically)  to investigate on generic TC data for APT-P (see generic vehicles for reference)</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 </a:t>
            </a:r>
            <a:r>
              <a:rPr lang="en-US" sz="1600" b="0" strike="noStrike" spc="-1">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lang="en-US" sz="1600" b="0" strike="noStrike" spc="-1">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heavy buses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for engine fan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Consider electric auxiliaries (fan, steering pump) as electrical consumer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pneumatic system with mechanical clutch</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electrical consumers LED bonus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Correction for double compensation of smart electrics (battery &amp; generated vs. consumed)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passenger count depending on HVAC configuration</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Bugfixes medium lorries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technologies for electric steering pump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tyre xml supported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Bugfixes graphical user interface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sample data VTP</a:t>
            </a:r>
            <a:endParaRPr lang="en-US" sz="1600" b="0" strike="noStrike" spc="-1">
              <a:latin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0.6.0.1908 Development Version</a:t>
            </a:r>
            <a:br>
              <a:rPr sz="2400"/>
            </a:br>
            <a:r>
              <a:rPr lang="en-US" sz="1600" b="1" strike="noStrike" spc="-1">
                <a:solidFill>
                  <a:srgbClr val="990000"/>
                </a:solidFill>
                <a:latin typeface="Arial"/>
              </a:rPr>
              <a:t>March. 2020</a:t>
            </a:r>
            <a:endParaRPr lang="en-US" sz="1600" b="0" strike="noStrike" spc="-1">
              <a:latin typeface="Arial"/>
            </a:endParaRPr>
          </a:p>
        </p:txBody>
      </p:sp>
      <p:sp>
        <p:nvSpPr>
          <p:cNvPr id="2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Consider vehicle’s max speed when validating input data, calculating velocity drop during traction interruption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Reading vehicle design speed (85km/h) from segment table (also related to vehicle’s max speed)</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JobEditor GUI – toolbar with icons not visible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null-reference exception simulating vehicles in engineering mode</a:t>
            </a:r>
            <a:endParaRPr lang="en-US" sz="1800" b="0" strike="noStrike" spc="-1">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0.6.0.1884 Development Version</a:t>
            </a:r>
            <a:br>
              <a:rPr sz="2400"/>
            </a:br>
            <a:r>
              <a:rPr lang="en-US" sz="1600" b="1" strike="noStrike" spc="-1">
                <a:solidFill>
                  <a:srgbClr val="990000"/>
                </a:solidFill>
                <a:latin typeface="Arial"/>
              </a:rPr>
              <a:t>Feb. 2020</a:t>
            </a:r>
            <a:endParaRPr lang="en-US" sz="1600" b="0" strike="noStrike" spc="-1">
              <a:latin typeface="Arial"/>
            </a:endParaRPr>
          </a:p>
        </p:txBody>
      </p:sp>
      <p:sp>
        <p:nvSpPr>
          <p:cNvPr id="2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P0 hybrids in bus 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“primary bus”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“single bus” – combine input parameters of primary bus and completed bus to a single simulation (no factor method)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vehicles with front-wheel drive (axlegear included in gearbox)</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VTP Mode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New XML schema for new vehicle categories, adapted XML schema for generated reports (MRF, CIF, PIF)</a:t>
            </a:r>
            <a:endParaRPr lang="en-US" sz="18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This development version includes all features already included in version 0.5.0</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0.5.0 Development Version</a:t>
            </a:r>
            <a:br>
              <a:rPr sz="2400"/>
            </a:br>
            <a:r>
              <a:rPr lang="en-US" sz="1600" b="1" strike="noStrike" spc="-1">
                <a:solidFill>
                  <a:srgbClr val="990000"/>
                </a:solidFill>
                <a:latin typeface="Arial"/>
              </a:rPr>
              <a:t>Dec. 2019</a:t>
            </a:r>
            <a:endParaRPr lang="en-US" sz="1600" b="0" strike="noStrike" spc="-1">
              <a:latin typeface="Arial"/>
            </a:endParaRPr>
          </a:p>
        </p:txBody>
      </p:sp>
      <p:sp>
        <p:nvSpPr>
          <p:cNvPr id="27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Adding in-the-loop simulation of advanced driver assistant systems (ADAS)</a:t>
            </a:r>
            <a:endParaRPr lang="en-US" sz="18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Engine stop-start during vehicle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Eco-roll with and without engine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Predictive cruise control: dip coasting, crest coasting</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dual-fuel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waste- / exhaust-heat recovery systems (electrical and mechanical)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gear shift strategy (EffShift) for AMT and AT transmissions</a:t>
            </a:r>
            <a:endParaRPr lang="en-US" sz="16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Details on the new models, model parameters, and new signals in the output are described in the user manual</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3.3.10.2401 Official Release</a:t>
            </a:r>
            <a:br>
              <a:rPr sz="2400"/>
            </a:br>
            <a:r>
              <a:rPr lang="en-US" sz="1600" b="1" strike="noStrike" spc="-1">
                <a:solidFill>
                  <a:srgbClr val="990000"/>
                </a:solidFill>
                <a:latin typeface="Arial"/>
              </a:rPr>
              <a:t>2020-07-29</a:t>
            </a:r>
            <a:endParaRPr lang="en-US" sz="1600" b="0" strike="noStrike" spc="-1">
              <a:latin typeface="Arial"/>
            </a:endParaRPr>
          </a:p>
        </p:txBody>
      </p:sp>
      <p:sp>
        <p:nvSpPr>
          <p:cNvPr id="2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Handling of exempted vehicles (not changed since release candidate) – see next slides for details</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3.3.10.2401</a:t>
            </a:r>
            <a:endParaRPr lang="en-US" sz="1600" b="0" strike="noStrike" spc="-1">
              <a:latin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[VECTO-1421] – Added vehicle sub-group (CO</a:t>
            </a:r>
            <a:r>
              <a:rPr lang="en-US" sz="1600" b="0" strike="noStrike" spc="-1" baseline="-25000">
                <a:solidFill>
                  <a:srgbClr val="000000"/>
                </a:solidFill>
                <a:latin typeface="Arial"/>
              </a:rPr>
              <a:t>2</a:t>
            </a:r>
            <a:r>
              <a:rPr lang="en-US" sz="1600" b="0" strike="noStrike" spc="-1">
                <a:solidFill>
                  <a:srgbClr val="000000"/>
                </a:solidFill>
                <a:latin typeface="Arial"/>
              </a:rPr>
              <a:t>-standards to MRF and CIF)</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1449] – Handling of exempted vehicles: See next slide for details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[VECTO-1404] – Corrected URL for CSS in MRF and CIF</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[VECTO-1419] – Simulation abort in urban cycle: failed to find operating point on search braking power with TC gear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[VECTO-1439] – Bugfix handling duplicate entries in engine full-load curve when intersecting with max-torque of gearbox</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[VECTO-1429] – error in XML schema 2.x for exempted vehicles – MaxNetPower1/2 are optional input parameters</a:t>
            </a:r>
            <a:endParaRPr lang="en-US" sz="1600" b="0" strike="noStrike" spc="-1">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479"/>
              </a:spcBef>
              <a:buNone/>
              <a:tabLst>
                <a:tab pos="0" algn="l"/>
              </a:tabLst>
            </a:pPr>
            <a:r>
              <a:rPr lang="en-US" sz="2400" b="1" strike="noStrike" spc="-1">
                <a:solidFill>
                  <a:srgbClr val="990000"/>
                </a:solidFill>
                <a:latin typeface="Arial"/>
              </a:rPr>
              <a:t>Handling of exempted vehicles</a:t>
            </a:r>
            <a:endParaRPr lang="en-US" sz="24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Axle configuration and sleeper cab are optional input parameters for exempted vehicles (XML schema 1.0 and 2.2.1).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OEMs are recommended to provide these parameters for exempted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the axle configuration is provided as input parameter, the MRF contains the vehicle group.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The sleeper cab input parameter is also part of the MRF if provided as input.</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Input parameters MaxNetPower1/2 are optional input parameters for all exempted vehicles.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provided in the input these parameters are part of the MRF for all exempted vehicle types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It is recommended that those parameters are used to specify the rated power also for PEV (pure electric vehicles)</a:t>
            </a:r>
            <a:endParaRPr lang="en-US" sz="1600" b="0" strike="noStrike" spc="-1">
              <a:latin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3.3.9.2175 Official Release</a:t>
            </a:r>
            <a:br>
              <a:rPr sz="2400"/>
            </a:br>
            <a:r>
              <a:rPr lang="en-US" sz="1600" b="1" strike="noStrike" spc="-1">
                <a:solidFill>
                  <a:srgbClr val="990000"/>
                </a:solidFill>
                <a:latin typeface="Arial"/>
              </a:rPr>
              <a:t>2020-12-15</a:t>
            </a:r>
            <a:endParaRPr lang="en-US" sz="1600" b="0" strike="noStrike" spc="-1">
              <a:latin typeface="Arial"/>
            </a:endParaRPr>
          </a:p>
        </p:txBody>
      </p:sp>
      <p:sp>
        <p:nvSpPr>
          <p:cNvPr id="28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version 3.3.9.2147)</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 – regression update</a:t>
            </a:r>
            <a:endParaRPr lang="en-US" sz="1600" b="0" strike="noStrike" spc="-1">
              <a:latin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3.3.9.2147 Release Candidate</a:t>
            </a:r>
            <a:br>
              <a:rPr sz="2400"/>
            </a:br>
            <a:r>
              <a:rPr lang="en-US" sz="1600" b="1" strike="noStrike" spc="-1">
                <a:solidFill>
                  <a:srgbClr val="990000"/>
                </a:solidFill>
                <a:latin typeface="Arial"/>
              </a:rPr>
              <a:t>2020-11-17</a:t>
            </a:r>
            <a:endParaRPr lang="en-US" sz="1600" b="0" strike="noStrike" spc="-1">
              <a:latin typeface="Arial"/>
            </a:endParaRPr>
          </a:p>
        </p:txBody>
      </p:sp>
      <p:sp>
        <p:nvSpPr>
          <p:cNvPr id="28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[VECTO-1331] - VTP Mode does not function for vehicles of group 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[VECTO-1355] - VTP Simulation Abort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[VECTO-1356] - PTO Losses not considered in VTP simulation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[VECTO-1361] - Torque Converter in use for the First and Second Gear VTP file does not allow for this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[VECTO-1372] - Deviation of CdxA Input vs. Output for HDV16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[VECTO-1360] - make unit tests execute in parallel</a:t>
            </a:r>
            <a:endParaRPr lang="en-US" sz="1600" b="0" strike="noStrike" spc="-1">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3.3.8.2052 Official Release</a:t>
            </a:r>
            <a:br>
              <a:rPr sz="2400"/>
            </a:br>
            <a:r>
              <a:rPr lang="en-US" sz="1600" b="1" strike="noStrike" spc="-1">
                <a:solidFill>
                  <a:srgbClr val="990000"/>
                </a:solidFill>
                <a:latin typeface="Arial"/>
              </a:rPr>
              <a:t>2020-08-14</a:t>
            </a:r>
            <a:endParaRPr lang="en-US" sz="1600" b="0" strike="noStrike" spc="-1">
              <a:latin typeface="Arial"/>
            </a:endParaRPr>
          </a:p>
        </p:txBody>
      </p:sp>
      <p:sp>
        <p:nvSpPr>
          <p:cNvPr id="29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3.3.8.2024</a:t>
            </a:r>
            <a:endParaRPr lang="en-US" sz="1600" b="0" strike="noStrike" spc="-1">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3.3.8.2024 Release Candidate</a:t>
            </a:r>
            <a:br>
              <a:rPr sz="2400"/>
            </a:br>
            <a:r>
              <a:rPr lang="en-US" sz="1600" b="1" strike="noStrike" spc="-1">
                <a:solidFill>
                  <a:srgbClr val="990000"/>
                </a:solidFill>
                <a:latin typeface="Arial"/>
              </a:rPr>
              <a:t>2020-07-17</a:t>
            </a:r>
            <a:endParaRPr lang="en-US" sz="1600" b="0" strike="noStrike" spc="-1">
              <a:latin typeface="Arial"/>
            </a:endParaRPr>
          </a:p>
        </p:txBody>
      </p:sp>
      <p:sp>
        <p:nvSpPr>
          <p:cNvPr id="29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[VECTO-1288] - Simulation Abort UD RL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[VECTO-1327] - Simulation abort Construction RefLoad: unexpected response ResponseOverload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[VECTO-1266] - Gear 4 Loss-Map was extrapolated</a:t>
            </a:r>
            <a:endParaRPr lang="en-US" sz="1600" b="0" strike="noStrike" spc="-1">
              <a:latin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3.3.7.1964 Official Release</a:t>
            </a:r>
            <a:br>
              <a:rPr sz="2400"/>
            </a:br>
            <a:r>
              <a:rPr lang="en-US" sz="1600" b="1" strike="noStrike" spc="-1">
                <a:solidFill>
                  <a:srgbClr val="990000"/>
                </a:solidFill>
                <a:latin typeface="Arial"/>
              </a:rPr>
              <a:t>2020-05-18</a:t>
            </a:r>
            <a:endParaRPr lang="en-US" sz="1600" b="0" strike="noStrike" spc="-1">
              <a:latin typeface="Arial"/>
            </a:endParaRPr>
          </a:p>
        </p:txBody>
      </p:sp>
      <p:sp>
        <p:nvSpPr>
          <p:cNvPr id="29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[VECTO-1254] - Hashing method does not ignore certain XML attributes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[VECTO-1259] - Mission profile weighting factors for vehicles of group 16 are not correct</a:t>
            </a:r>
            <a:endParaRPr lang="en-US" sz="1600" b="0" strike="noStrike" spc="-1">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3.3.6.1916 Official Release</a:t>
            </a:r>
            <a:br>
              <a:rPr sz="2400"/>
            </a:br>
            <a:r>
              <a:rPr lang="en-US" sz="1600" b="1" strike="noStrike" spc="-1">
                <a:solidFill>
                  <a:srgbClr val="990000"/>
                </a:solidFill>
                <a:latin typeface="Arial"/>
              </a:rPr>
              <a:t>2020-03-31</a:t>
            </a:r>
            <a:endParaRPr lang="en-US" sz="1600" b="0" strike="noStrike" spc="-1">
              <a:latin typeface="Arial"/>
            </a:endParaRPr>
          </a:p>
        </p:txBody>
      </p:sp>
      <p:sp>
        <p:nvSpPr>
          <p:cNvPr id="29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[VECTO-1250] - Error creating new gearbox file from scratch</a:t>
            </a:r>
            <a:endParaRPr lang="en-US" sz="1600" b="0" strike="noStrike" spc="-1">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3.3.6.1898 Release Candidate</a:t>
            </a:r>
            <a:br>
              <a:rPr sz="2400"/>
            </a:br>
            <a:r>
              <a:rPr lang="en-US" sz="1600" b="1" strike="noStrike" spc="-1">
                <a:solidFill>
                  <a:srgbClr val="990000"/>
                </a:solidFill>
                <a:latin typeface="Arial"/>
              </a:rPr>
              <a:t>2020-03-13</a:t>
            </a:r>
            <a:endParaRPr lang="en-US" sz="1600" b="0" strike="noStrike" spc="-1">
              <a:latin typeface="Arial"/>
            </a:endParaRPr>
          </a:p>
        </p:txBody>
      </p:sp>
      <p:sp>
        <p:nvSpPr>
          <p:cNvPr id="29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[VECTO-1239] - Adaptation of Mission Profile Weighting Factors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[VECTO-1241] - Engineering mode: Adding support for additional PTO activations</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[VECTO-1243] - Bug in VTP mode for heavy lorries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[VECTO-1234] - urban cycle at reference load not running for bug when find braking operating point</a:t>
            </a:r>
            <a:endParaRPr lang="en-US" sz="1600" b="0" strike="noStrike" spc="-1">
              <a:latin typeface="Aria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3.3.5.1812 Official Release</a:t>
            </a:r>
            <a:br>
              <a:rPr sz="2400"/>
            </a:br>
            <a:r>
              <a:rPr lang="en-US" sz="1600" b="1" strike="noStrike" spc="-1">
                <a:solidFill>
                  <a:srgbClr val="990000"/>
                </a:solidFill>
                <a:latin typeface="Arial"/>
              </a:rPr>
              <a:t>2019-12-18</a:t>
            </a:r>
            <a:endParaRPr lang="en-US" sz="1600" b="0" strike="noStrike" spc="-1">
              <a:latin typeface="Arial"/>
            </a:endParaRPr>
          </a:p>
        </p:txBody>
      </p:sp>
      <p:sp>
        <p:nvSpPr>
          <p:cNvPr id="30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3.3.5.1783-RC)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[VECTO-1220] - Simulation Abort Urban Delivery RefLoad</a:t>
            </a:r>
            <a:endParaRPr lang="en-US" sz="1600" b="0" strike="noStrike" spc="-1">
              <a:latin typeface="Arial"/>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3.3.5.1783 Release Candidate</a:t>
            </a:r>
            <a:br>
              <a:rPr sz="2400"/>
            </a:br>
            <a:r>
              <a:rPr lang="en-US" sz="1600" b="1" strike="noStrike" spc="-1">
                <a:solidFill>
                  <a:srgbClr val="990000"/>
                </a:solidFill>
                <a:latin typeface="Arial"/>
              </a:rPr>
              <a:t>2019-11-19</a:t>
            </a:r>
            <a:endParaRPr lang="en-US" sz="1600" b="0" strike="noStrike" spc="-1">
              <a:latin typeface="Arial"/>
            </a:endParaRPr>
          </a:p>
        </p:txBody>
      </p:sp>
      <p:sp>
        <p:nvSpPr>
          <p:cNvPr id="30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[VECTO-1194] - Handling input parameter 'vocational' for groups other than 4, 5, 9, 10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[VECTO-1147] - Updating declaration mode cycles values in user manual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[VECTO-1207] - run VECTO in 64bit mode by default</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[VECTO-1159] - Simulation Abort in UrbanDelivery LowLoading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[VECTO-1189] - Error in delaunay triangulation invariant violated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[VECTO-1209] - Unexpected Response Response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[VECTO-1211] - Simulation Abort Urban Delivery Ref 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[VECTO-1214] - Validation of input data fails when gearbox speed limits are applied</a:t>
            </a:r>
            <a:endParaRPr lang="en-US" sz="1600" b="0" strike="noStrike" spc="-1">
              <a:latin typeface="Aria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3.3.4.1716 Official Release</a:t>
            </a:r>
            <a:br>
              <a:rPr sz="2400"/>
            </a:br>
            <a:r>
              <a:rPr lang="en-US" sz="1600" b="1" strike="noStrike" spc="-1">
                <a:solidFill>
                  <a:srgbClr val="990000"/>
                </a:solidFill>
                <a:latin typeface="Arial"/>
              </a:rPr>
              <a:t>2019-09-13</a:t>
            </a:r>
            <a:endParaRPr lang="en-US" sz="1600" b="0" strike="noStrike" spc="-1">
              <a:latin typeface="Arial"/>
            </a:endParaRPr>
          </a:p>
        </p:txBody>
      </p:sp>
      <p:sp>
        <p:nvSpPr>
          <p:cNvPr id="30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3.3.4.1686-RC)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 ([VECTO-1046])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[VECTO-1111] - Simulation Abort in Municipal Reference Load</a:t>
            </a:r>
            <a:endParaRPr lang="en-US" sz="1600" b="0" strike="noStrike" spc="-1">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3.3.4.1686 Release Candidate</a:t>
            </a:r>
            <a:br>
              <a:rPr sz="2400"/>
            </a:br>
            <a:r>
              <a:rPr lang="en-US" sz="1600" b="1" strike="noStrike" spc="-1">
                <a:solidFill>
                  <a:srgbClr val="990000"/>
                </a:solidFill>
                <a:latin typeface="Arial"/>
              </a:rPr>
              <a:t>2019-08-14</a:t>
            </a:r>
            <a:endParaRPr lang="en-US" sz="1600" b="0" strike="noStrike" spc="-1">
              <a:latin typeface="Arial"/>
            </a:endParaRPr>
          </a:p>
        </p:txBody>
      </p:sp>
      <p:sp>
        <p:nvSpPr>
          <p:cNvPr id="30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[VECTO-1042] - Add option to write results into a certain directory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[VECTO-1064] - add weighting factors for vehicle groups 1, 2, 3, 11, 12, 16</a:t>
            </a:r>
            <a:endParaRPr lang="en-US" sz="1600" b="0" strike="noStrike" spc="-1">
              <a:latin typeface="Arial"/>
            </a:endParaRPr>
          </a:p>
          <a:p>
            <a:pPr>
              <a:lnSpc>
                <a:spcPct val="100000"/>
              </a:lnSpc>
              <a:buNone/>
              <a:tabLst>
                <a:tab pos="1886040" algn="l"/>
              </a:tabLst>
            </a:pP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[VECTO-1030] - Exceeded max iterations when searching for operating point! Failed to find operating point!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[VECTO-1032] - Gear 5 LossMap data was extrapolated in Declaration Mode: range for loss map is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[VECTO-1067] - Vair and Beta correction for Aerodynamics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[VECTO-1000] - Error Loss-Map extrapolation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[VECTO-1040] - Gear 6 LossMap data was extrapolated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[VECTO-1047] - Failed to find operating point on construction cycle, ref load, AT gearbox</a:t>
            </a: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3.3.3.1639 Official Release</a:t>
            </a:r>
            <a:br>
              <a:rPr sz="2400"/>
            </a:br>
            <a:r>
              <a:rPr lang="en-US" sz="1600" b="1" strike="noStrike" spc="-1">
                <a:solidFill>
                  <a:srgbClr val="990000"/>
                </a:solidFill>
                <a:latin typeface="Arial"/>
              </a:rPr>
              <a:t>2019-06-27</a:t>
            </a:r>
            <a:endParaRPr lang="en-US" sz="1600" b="0" strike="noStrike" spc="-1">
              <a:latin typeface="Arial"/>
            </a:endParaRPr>
          </a:p>
        </p:txBody>
      </p:sp>
      <p:sp>
        <p:nvSpPr>
          <p:cNvPr id="30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3.3.3.1609-RC)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[VECTO-1003] - Vecto Error: Loss-Map extrapolation in declaration mode required</a:t>
            </a:r>
            <a:br>
              <a:rPr sz="1600"/>
            </a:br>
            <a:r>
              <a:rPr lang="en-US" sz="1600" b="0" strike="noStrike" spc="-1">
                <a:solidFill>
                  <a:srgbClr val="000000"/>
                </a:solidFill>
                <a:latin typeface="Arial"/>
              </a:rPr>
              <a:t>(issue VECTO-991)</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[VECTO-1006] - Failed to find torque converter operating point on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[VECTO-1010] - Unexpected Response: ResponseOverload in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[VECTO-1015] - XML Schema not correctly identified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[VECTO-1019] - Error opening job in case a file is missing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[VECTO-1020] - HashingTool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[VECTO-1021] - Invalid hash of job data</a:t>
            </a:r>
            <a:endParaRPr lang="en-US" sz="1600" b="0" strike="noStrike" spc="-1">
              <a:latin typeface="Arial"/>
            </a:endParaRPr>
          </a:p>
          <a:p>
            <a:pPr>
              <a:lnSpc>
                <a:spcPct val="100000"/>
              </a:lnSpc>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3.3.3.1609 Release Candidate</a:t>
            </a:r>
            <a:br>
              <a:rPr sz="2400"/>
            </a:br>
            <a:r>
              <a:rPr lang="en-US" sz="1600" b="1" strike="noStrike" spc="-1">
                <a:solidFill>
                  <a:srgbClr val="990000"/>
                </a:solidFill>
                <a:latin typeface="Arial"/>
              </a:rPr>
              <a:t>2019-05-29</a:t>
            </a:r>
            <a:endParaRPr lang="en-US" sz="1600" b="0" strike="noStrike" spc="-1">
              <a:latin typeface="Arial"/>
            </a:endParaRPr>
          </a:p>
        </p:txBody>
      </p:sp>
      <p:sp>
        <p:nvSpPr>
          <p:cNvPr id="31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 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[VECTO-916] - Adding new tyre sizes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[VECTO-946] - Refactoring XML reading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[VECTO-965] - Add input fields for ADAS into VECTO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[VECTO-966] - Allow selecting Tank System for NG engines in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[VECTO-932] - Consistency in NA values in the vsum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[VECTO-954] - Failed to find operating point for braking power (Fix for Notification Art. 10(2) - [VECTO-952])</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[VECTO-979] - VECTO Simulation abort with 8-speed MT transmission (Fix for Notification Art. 10(2) - [VECTO-978])</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[VECTO-931] - AT error in VECTO version 3.3.2.1519</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[VECTO-950] - Error when loading Engine Full-load curve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[VECTO-967] - Engine-Only mode: Engine Torque reported in .vmod does not match the provided cycle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[VECTO-980] - Error during simulation run</a:t>
            </a:r>
            <a:endParaRPr lang="en-US" sz="1600" b="0" strike="noStrike" spc="-1">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3.3.2.1548 Official Release</a:t>
            </a:r>
            <a:br>
              <a:rPr sz="2400"/>
            </a:br>
            <a:r>
              <a:rPr lang="en-US" sz="1600" b="1" strike="noStrike" spc="-1">
                <a:solidFill>
                  <a:srgbClr val="990000"/>
                </a:solidFill>
                <a:latin typeface="Arial"/>
              </a:rPr>
              <a:t>2019-03-29</a:t>
            </a:r>
            <a:endParaRPr lang="en-US" sz="1600" b="0" strike="noStrike" spc="-1">
              <a:latin typeface="Arial"/>
            </a:endParaRPr>
          </a:p>
        </p:txBody>
      </p:sp>
      <p:sp>
        <p:nvSpPr>
          <p:cNvPr id="31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3.3.2.1519-RC)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[VECTO-904] - Range for gear loss map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[VECTO-909] - 3.3.2.1519: Problems running more than one input .xml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[VECTO-917] - TargetVelocity (0.0000) and VehicleVelocity (&gt;0) must be zero when vehicle is halting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[VECTO-918] - RegionalDeliveryEMS LowLoading -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[VECTO-920] - Urban Delivery: Simulation Run Aborted, TargetVelocity and VehicleVelocity must be zero when vehicle is halting!</a:t>
            </a:r>
            <a:endParaRPr lang="en-US" sz="1600" b="0" strike="noStrike" spc="-1">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[VECTO-869] - change new vehicle input fields (ADAS, sleeper cab, etc.) to be mandatory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[VECTO-784] - Configuration file for VECTO log files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[VECTO-865] - Extend Sum-Data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[VECTO-873] - Add digest value to SumData</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[VECTO-729] - Bugs APT submodel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[VECTO-787] - APT: DrivingAction Accelerate after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[VECTO-789] - APT: ResponseUnderload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[VECTO-797] - VECTO abort with AT transmission and TC table value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[VECTO-798] - VECTO abort with certified AT transmission data and certified TC 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[VECTO-807] - VECTO errors in vehicle class 1/2/3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[VECTO-827] - Torque converter inertia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[VECTO-838] - APT: ResponseOverload</a:t>
            </a:r>
            <a:endParaRPr lang="en-US" sz="1600" b="0" strike="noStrike" spc="-1">
              <a:latin typeface="Arial"/>
            </a:endParaRPr>
          </a:p>
        </p:txBody>
      </p:sp>
      <p:sp>
        <p:nvSpPr>
          <p:cNvPr id="31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8" name="PlaceHolder 2"/>
          <p:cNvSpPr>
            <a:spLocks noGrp="1"/>
          </p:cNvSpPr>
          <p:nvPr>
            <p:ph/>
          </p:nvPr>
        </p:nvSpPr>
        <p:spPr>
          <a:xfrm>
            <a:off x="323640" y="1340640"/>
            <a:ext cx="881964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[VECTO-843] - AT Transmissions problem on VECTO 3.3.1.1463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[VECTO-844] - Error with AT gearbox 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[VECTO-847] - Simulation abort due to error in NLog?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[VECTO-848] - AT Gearbox Simulation abort (was: Problem related to Tyres?)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[VECTO-858] - Urban Delivery Abort - with APT-S Transmission and TC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[VECTO-872] - MRF/CIF: Torque Converter certification method and certification nbr not correctly set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[VECTO-879] - SIMULATION RUN ABORTED DistanceRun got an unexpected resp.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[VECTO-883] - Traction interruption may be too long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[VECTO-815] - Unexpected Response: 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[VECTO-816] - object reference not set to an instance of an object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[VECTO-817] - TargetVelocity and VehicleVelocity must not be 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[VECTO-820] - DistanceRun got an unexpected response: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[VECTO-864] - Prevent VECTO loss-map extension to result in negative torque loss</a:t>
            </a:r>
            <a:endParaRPr lang="en-US" sz="1600" b="0" strike="noStrike" spc="-1">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20" name="PlaceHolder 2"/>
          <p:cNvSpPr>
            <a:spLocks noGrp="1"/>
          </p:cNvSpPr>
          <p:nvPr>
            <p:ph/>
          </p:nvPr>
        </p:nvSpPr>
        <p:spPr>
          <a:xfrm>
            <a:off x="323640" y="1340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Installation Option </a:t>
            </a:r>
            <a:r>
              <a:rPr lang="en-US" sz="1800" b="0" strike="noStrike" spc="-1">
                <a:solidFill>
                  <a:srgbClr val="000000"/>
                </a:solidFill>
                <a:latin typeface="Arial"/>
              </a:rPr>
              <a:t>(VECTO-784)</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3.3.2 adds a new feature to run as ‘installed application’ instead of the ‘portable’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as ‘installed application’</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Needs no write permissions to the VECTO application folder</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configuration files and settings are written to %AppData%\VECTO\&lt;Version&gt;</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log files are written to %LocalAppData%\VECTO\&lt;Version&gt;</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Switch to ‘installed application’</a:t>
            </a:r>
            <a:endParaRPr lang="en-US" sz="16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Copy the VECTO directory and all its files and subdirectories to the appropriate location where the user has execute permissions</a:t>
            </a:r>
            <a:endParaRPr lang="en-US" sz="12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Edit the file ‘</a:t>
            </a:r>
            <a:r>
              <a:rPr lang="en-US" sz="1200" b="0" i="1" strike="noStrike" spc="-1">
                <a:solidFill>
                  <a:srgbClr val="000000"/>
                </a:solidFill>
                <a:latin typeface="Arial"/>
              </a:rPr>
              <a:t>install.ini</a:t>
            </a:r>
            <a:r>
              <a:rPr lang="en-US" sz="1200" b="0" strike="noStrike" spc="-1">
                <a:solidFill>
                  <a:srgbClr val="000000"/>
                </a:solidFill>
                <a:latin typeface="Arial"/>
              </a:rPr>
              <a:t>’ and remove the comment character (#) in the line containing </a:t>
            </a:r>
            <a:br>
              <a:rPr sz="1200"/>
            </a:br>
            <a:r>
              <a:rPr lang="en-US" sz="1200" b="0" strike="noStrike" spc="-1">
                <a:solidFill>
                  <a:srgbClr val="000000"/>
                </a:solidFill>
                <a:latin typeface="Arial"/>
              </a:rPr>
              <a:t>	</a:t>
            </a:r>
            <a:r>
              <a:rPr lang="en-US" sz="1200" b="1" strike="noStrike" spc="-1">
                <a:solidFill>
                  <a:srgbClr val="000000"/>
                </a:solidFill>
                <a:latin typeface="Courier New"/>
              </a:rPr>
              <a:t>ExecutionMode = install</a:t>
            </a:r>
            <a:endParaRPr lang="en-US" sz="1200" b="0" strike="noStrike" spc="-1">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3.3.1.1492 Official Release</a:t>
            </a:r>
            <a:br>
              <a:rPr sz="2400"/>
            </a:br>
            <a:r>
              <a:rPr lang="en-US" sz="1600" b="1" strike="noStrike" spc="-1">
                <a:solidFill>
                  <a:srgbClr val="990000"/>
                </a:solidFill>
                <a:latin typeface="Arial"/>
              </a:rPr>
              <a:t>2019-02-01</a:t>
            </a:r>
            <a:endParaRPr lang="en-US" sz="1600" b="0" strike="noStrike" spc="-1">
              <a:latin typeface="Arial"/>
            </a:endParaRPr>
          </a:p>
        </p:txBody>
      </p:sp>
      <p:sp>
        <p:nvSpPr>
          <p:cNvPr id="322"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3.3.1.1463-RC)</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[VECTO-845] - Fixing bug for VECTO-840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[VECTO-826] - DistanceRun got an unexpected response: ResponseSpeedLimitExceeded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[VECTO-837] - VECTO GUI displays incorrect cycles prior to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[VECTO-831] - Addition of indication to be added in Help and Release notes for simulations with LNG</a:t>
            </a:r>
            <a:endParaRPr lang="en-US" sz="1400" b="0" strike="noStrike" spc="-1">
              <a:latin typeface="Arial"/>
            </a:endParaRPr>
          </a:p>
        </p:txBody>
      </p:sp>
      <p:sp>
        <p:nvSpPr>
          <p:cNvPr id="323" name="Textfeld 4"/>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 according to 2017/2400 amendments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[VECTO-761] - Adaptation of input XML Schema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[VECTO-762] - Extension of Input Interfaces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[VECTO-763] - Extension of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[VECTO-764] - ADAS benefits (according to Annex III Point 8. of amendment to 2017/2400)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[VECTO-766] - Update power demand auxiliaries (for extended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[VECTO-767] - Report for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[VECTO-768] - VTP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[VECTO-770] - Fuel Types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[VECTO-771] - Handling of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[VECTO-824] - Throw exception for certain combinations of exempted vehicle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[VECTO-773] - Correction Factor for Reference Fuel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[VECTO-790] - Adapt generic data for construction/municipal utility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[VECTO-493] - Implementation of generic body weights and air drag values for construction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[VECTO-565] - Consideration of LNG as possible fuel is missing</a:t>
            </a:r>
            <a:endParaRPr lang="en-US" sz="1400" b="0" strike="noStrike" spc="-1">
              <a:latin typeface="Arial"/>
            </a:endParaRPr>
          </a:p>
        </p:txBody>
      </p:sp>
      <p:sp>
        <p:nvSpPr>
          <p:cNvPr id="32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8" name="PlaceHolder 2"/>
          <p:cNvSpPr>
            <a:spLocks noGrp="1"/>
          </p:cNvSpPr>
          <p:nvPr>
            <p:ph/>
          </p:nvPr>
        </p:nvSpPr>
        <p:spPr>
          <a:xfrm>
            <a:off x="323640" y="1196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New input parameters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lang="en-US" sz="1400" b="0" strike="noStrike" spc="-1" baseline="30000">
                <a:solidFill>
                  <a:srgbClr val="000000"/>
                </a:solidFill>
                <a:latin typeface="Arial"/>
              </a:rPr>
              <a:t>st</a:t>
            </a:r>
            <a:r>
              <a:rPr lang="en-US" sz="1400" b="0" strike="noStrike" spc="-1">
                <a:solidFill>
                  <a:srgbClr val="000000"/>
                </a:solidFill>
                <a:latin typeface="Arial"/>
              </a:rPr>
              <a:t> July 2019 the new input fields will become mandatory. Further details are provided in the timetable on the next page.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Default values when the new input parameters are not provided:</a:t>
            </a:r>
            <a:endParaRPr lang="en-US" sz="1400" b="0" strike="noStrike" spc="-1">
              <a:latin typeface="Arial"/>
            </a:endParaRPr>
          </a:p>
        </p:txBody>
      </p:sp>
      <p:sp>
        <p:nvSpPr>
          <p:cNvPr id="329"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0" name="Tabelle 4"/>
          <p:cNvGraphicFramePr/>
          <p:nvPr/>
        </p:nvGraphicFramePr>
        <p:xfrm>
          <a:off x="1475640" y="2768760"/>
          <a:ext cx="6021720" cy="2891160"/>
        </p:xfrm>
        <a:graphic>
          <a:graphicData uri="http://schemas.openxmlformats.org/drawingml/2006/table">
            <a:tbl>
              <a:tblPr/>
              <a:tblGrid>
                <a:gridCol w="2092320">
                  <a:extLst>
                    <a:ext uri="{9D8B030D-6E8A-4147-A177-3AD203B41FA5}">
                      <a16:colId xmlns:a16="http://schemas.microsoft.com/office/drawing/2014/main" val="20000"/>
                    </a:ext>
                  </a:extLst>
                </a:gridCol>
                <a:gridCol w="3929760">
                  <a:extLst>
                    <a:ext uri="{9D8B030D-6E8A-4147-A177-3AD203B41FA5}">
                      <a16:colId xmlns:a16="http://schemas.microsoft.com/office/drawing/2014/main" val="20001"/>
                    </a:ext>
                  </a:extLst>
                </a:gridCol>
              </a:tblGrid>
              <a:tr h="183960">
                <a:tc gridSpan="2">
                  <a:txBody>
                    <a:bodyPr/>
                    <a:lstStyle/>
                    <a:p>
                      <a:pPr>
                        <a:lnSpc>
                          <a:spcPct val="115000"/>
                        </a:lnSpc>
                        <a:buNone/>
                      </a:pPr>
                      <a:r>
                        <a:rPr lang="en-GB" sz="1050" b="1" strike="noStrike" spc="-1">
                          <a:solidFill>
                            <a:srgbClr val="FFFFFF"/>
                          </a:solidFill>
                          <a:latin typeface="Arial"/>
                        </a:rPr>
                        <a:t>Input parameters vehicle – Table 1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0"/>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1"/>
                  </a:ext>
                </a:extLst>
              </a:tr>
              <a:tr h="367560">
                <a:tc>
                  <a:txBody>
                    <a:bodyPr/>
                    <a:lstStyle/>
                    <a:p>
                      <a:pPr>
                        <a:lnSpc>
                          <a:spcPct val="115000"/>
                        </a:lnSpc>
                        <a:buNone/>
                      </a:pPr>
                      <a:r>
                        <a:rPr lang="en-GB" sz="1050" b="1" strike="noStrike" spc="-1">
                          <a:solidFill>
                            <a:srgbClr val="FFFFFF"/>
                          </a:solidFill>
                          <a:latin typeface="Arial"/>
                        </a:rPr>
                        <a:t>VehicleCategory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 default value but input 'rigid truck' will be converted automatically into 'rigid lorry'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52800">
                <a:tc>
                  <a:txBody>
                    <a:bodyPr/>
                    <a:lstStyle/>
                    <a:p>
                      <a:pPr>
                        <a:lnSpc>
                          <a:spcPct val="115000"/>
                        </a:lnSpc>
                        <a:buNone/>
                      </a:pPr>
                      <a:r>
                        <a:rPr lang="en-GB" sz="1050" b="1" strike="noStrike" spc="-1">
                          <a:solidFill>
                            <a:srgbClr val="FFFFFF"/>
                          </a:solidFill>
                          <a:latin typeface="Arial"/>
                        </a:rPr>
                        <a:t>ZeroEmissionVehicle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52800">
                <a:tc>
                  <a:txBody>
                    <a:bodyPr/>
                    <a:lstStyle/>
                    <a:p>
                      <a:pPr>
                        <a:lnSpc>
                          <a:spcPct val="115000"/>
                        </a:lnSpc>
                        <a:buNone/>
                      </a:pPr>
                      <a:r>
                        <a:rPr lang="en-GB" sz="1050" b="1" strike="noStrike" spc="-1">
                          <a:solidFill>
                            <a:srgbClr val="FFFFFF"/>
                          </a:solidFill>
                          <a:latin typeface="Arial"/>
                        </a:rPr>
                        <a:t>NgTankSystem</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'Compressed' (only applicable to gas vehicles)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183960">
                <a:tc>
                  <a:txBody>
                    <a:bodyPr/>
                    <a:lstStyle/>
                    <a:p>
                      <a:pPr>
                        <a:lnSpc>
                          <a:spcPct val="115000"/>
                        </a:lnSpc>
                        <a:buNone/>
                      </a:pPr>
                      <a:r>
                        <a:rPr lang="en-GB" sz="1050" b="1" strike="noStrike" spc="-1">
                          <a:solidFill>
                            <a:srgbClr val="FFFFFF"/>
                          </a:solidFill>
                          <a:latin typeface="Arial"/>
                        </a:rPr>
                        <a:t>SleeperCab</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'Yes'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r h="183960">
                <a:tc gridSpan="2">
                  <a:txBody>
                    <a:bodyPr/>
                    <a:lstStyle/>
                    <a:p>
                      <a:pPr>
                        <a:lnSpc>
                          <a:spcPct val="115000"/>
                        </a:lnSpc>
                        <a:buNone/>
                      </a:pPr>
                      <a:r>
                        <a:rPr lang="en-GB" sz="1050" b="1" strike="noStrike" spc="-1">
                          <a:solidFill>
                            <a:srgbClr val="FFFFFF"/>
                          </a:solidFill>
                          <a:latin typeface="Arial"/>
                        </a:rPr>
                        <a:t>Input parameters ADAS – Pt. 8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7"/>
                  </a:ext>
                </a:extLst>
              </a:tr>
              <a:tr h="250560">
                <a:tc>
                  <a:txBody>
                    <a:bodyPr/>
                    <a:lstStyle/>
                    <a:p>
                      <a:pPr>
                        <a:lnSpc>
                          <a:spcPct val="115000"/>
                        </a:lnSpc>
                        <a:buNone/>
                      </a:pPr>
                      <a:r>
                        <a:rPr lang="en-GB" sz="1050" b="1" strike="noStrike" spc="-1">
                          <a:solidFill>
                            <a:srgbClr val="FFFFFF"/>
                          </a:solidFill>
                          <a:latin typeface="Arial"/>
                        </a:rPr>
                        <a:t>EngineStartStop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216000">
                <a:tc>
                  <a:txBody>
                    <a:bodyPr/>
                    <a:lstStyle/>
                    <a:p>
                      <a:pPr>
                        <a:lnSpc>
                          <a:spcPct val="115000"/>
                        </a:lnSpc>
                        <a:buNone/>
                      </a:pPr>
                      <a:r>
                        <a:rPr lang="en-GB" sz="1050" b="1" strike="noStrike" spc="-1">
                          <a:solidFill>
                            <a:srgbClr val="FFFFFF"/>
                          </a:solidFill>
                          <a:latin typeface="Arial"/>
                        </a:rPr>
                        <a:t>EcoRollWithoutEngineStop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9"/>
                  </a:ext>
                </a:extLst>
              </a:tr>
              <a:tr h="216000">
                <a:tc>
                  <a:txBody>
                    <a:bodyPr/>
                    <a:lstStyle/>
                    <a:p>
                      <a:pPr>
                        <a:lnSpc>
                          <a:spcPct val="115000"/>
                        </a:lnSpc>
                        <a:buNone/>
                      </a:pPr>
                      <a:r>
                        <a:rPr lang="en-GB" sz="1050" b="1" strike="noStrike" spc="-1">
                          <a:solidFill>
                            <a:srgbClr val="FFFFFF"/>
                          </a:solidFill>
                          <a:latin typeface="Arial"/>
                        </a:rPr>
                        <a:t>EcoRollWithEngineStop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10"/>
                  </a:ext>
                </a:extLst>
              </a:tr>
              <a:tr h="216000">
                <a:tc>
                  <a:txBody>
                    <a:bodyPr/>
                    <a:lstStyle/>
                    <a:p>
                      <a:pPr>
                        <a:lnSpc>
                          <a:spcPct val="115000"/>
                        </a:lnSpc>
                        <a:buNone/>
                      </a:pPr>
                      <a:r>
                        <a:rPr lang="en-GB" sz="1050" b="1" strike="noStrike" spc="-1">
                          <a:solidFill>
                            <a:srgbClr val="FFFFFF"/>
                          </a:solidFill>
                          <a:latin typeface="Arial"/>
                        </a:rPr>
                        <a:t>PredictiveCruiseControl</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11"/>
                  </a:ext>
                </a:extLst>
              </a:tr>
            </a:tbl>
          </a:graphicData>
        </a:graphic>
      </p:graphicFrame>
      <p:sp>
        <p:nvSpPr>
          <p:cNvPr id="331" name="Inhaltsplatzhalter 2"/>
          <p:cNvSpPr/>
          <p:nvPr/>
        </p:nvSpPr>
        <p:spPr>
          <a:xfrm>
            <a:off x="166320" y="5661360"/>
            <a:ext cx="8640360" cy="935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DejaVu Sans"/>
              </a:rPr>
              <a:t>Currently </a:t>
            </a:r>
            <a:r>
              <a:rPr lang="en-US" sz="1400" b="1" strike="noStrike" spc="-1">
                <a:solidFill>
                  <a:srgbClr val="000000"/>
                </a:solidFill>
                <a:latin typeface="Arial"/>
                <a:ea typeface="DejaVu Sans"/>
              </a:rPr>
              <a:t>only</a:t>
            </a:r>
            <a:r>
              <a:rPr lang="en-US" sz="1400" b="0" strike="noStrike" spc="-1">
                <a:solidFill>
                  <a:srgbClr val="000000"/>
                </a:solidFill>
                <a:latin typeface="Arial"/>
                <a:ea typeface="DejaVu Sans"/>
              </a:rPr>
              <a:t> the fuel type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for the </a:t>
            </a:r>
            <a:r>
              <a:rPr lang="en-US" sz="1400" b="1" strike="noStrike" spc="-1">
                <a:solidFill>
                  <a:srgbClr val="000000"/>
                </a:solidFill>
                <a:latin typeface="Arial"/>
                <a:ea typeface="DejaVu Sans"/>
              </a:rPr>
              <a:t>engine certification </a:t>
            </a:r>
            <a:r>
              <a:rPr lang="en-US" sz="1400" b="0" strike="noStrike" spc="-1">
                <a:solidFill>
                  <a:srgbClr val="000000"/>
                </a:solidFill>
                <a:latin typeface="Arial"/>
                <a:ea typeface="DejaVu Sans"/>
              </a:rPr>
              <a:t>is allowed by 2017/2400. For LNG vehicles, therefore, the engine fuel type has to be set to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and at the vehicle level NgTankSystem has to be set to </a:t>
            </a:r>
            <a:r>
              <a:rPr lang="en-US" sz="1400" b="1" strike="noStrike" spc="-1">
                <a:solidFill>
                  <a:srgbClr val="000000"/>
                </a:solidFill>
                <a:latin typeface="Arial"/>
                <a:ea typeface="DejaVu Sans"/>
              </a:rPr>
              <a:t>liquefied</a:t>
            </a:r>
            <a:r>
              <a:rPr lang="en-US" sz="1400" b="0" strike="noStrike" spc="-1">
                <a:solidFill>
                  <a:srgbClr val="000000"/>
                </a:solidFill>
                <a:latin typeface="Arial"/>
                <a:ea typeface="DejaVu Sans"/>
              </a:rPr>
              <a:t>. For CNG the same engine fuel type is used but NgTankSystem has to be set to </a:t>
            </a:r>
            <a:r>
              <a:rPr lang="en-US" sz="1400" b="1" strike="noStrike" spc="-1">
                <a:solidFill>
                  <a:srgbClr val="000000"/>
                </a:solidFill>
                <a:latin typeface="Arial"/>
                <a:ea typeface="DejaVu Sans"/>
              </a:rPr>
              <a:t>compressed</a:t>
            </a:r>
            <a:r>
              <a:rPr lang="en-US" sz="1400" b="0" strike="noStrike" spc="-1">
                <a:solidFill>
                  <a:srgbClr val="000000"/>
                </a:solidFill>
                <a:latin typeface="Arial"/>
                <a:ea typeface="DejaVu Sans"/>
              </a:rPr>
              <a:t>.</a:t>
            </a:r>
            <a:endParaRPr lang="en-US" sz="1400" b="0" strike="noStrike" spc="-1">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3" name="PlaceHolder 2"/>
          <p:cNvSpPr>
            <a:spLocks noGrp="1"/>
          </p:cNvSpPr>
          <p:nvPr>
            <p:ph/>
          </p:nvPr>
        </p:nvSpPr>
        <p:spPr>
          <a:xfrm>
            <a:off x="323640" y="1628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Timetable</a:t>
            </a:r>
            <a:endParaRPr lang="en-US" sz="1800" b="0" strike="noStrike" spc="-1">
              <a:latin typeface="Arial"/>
            </a:endParaRPr>
          </a:p>
        </p:txBody>
      </p:sp>
      <p:sp>
        <p:nvSpPr>
          <p:cNvPr id="334"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5" name="Tabelle 5"/>
          <p:cNvGraphicFramePr/>
          <p:nvPr/>
        </p:nvGraphicFramePr>
        <p:xfrm>
          <a:off x="899640" y="2100600"/>
          <a:ext cx="7786440" cy="2763720"/>
        </p:xfrm>
        <a:graphic>
          <a:graphicData uri="http://schemas.openxmlformats.org/drawingml/2006/table">
            <a:tbl>
              <a:tblPr/>
              <a:tblGrid>
                <a:gridCol w="1800000">
                  <a:extLst>
                    <a:ext uri="{9D8B030D-6E8A-4147-A177-3AD203B41FA5}">
                      <a16:colId xmlns:a16="http://schemas.microsoft.com/office/drawing/2014/main" val="20000"/>
                    </a:ext>
                  </a:extLst>
                </a:gridCol>
                <a:gridCol w="1512000">
                  <a:extLst>
                    <a:ext uri="{9D8B030D-6E8A-4147-A177-3AD203B41FA5}">
                      <a16:colId xmlns:a16="http://schemas.microsoft.com/office/drawing/2014/main" val="20001"/>
                    </a:ext>
                  </a:extLst>
                </a:gridCol>
                <a:gridCol w="4474800">
                  <a:extLst>
                    <a:ext uri="{9D8B030D-6E8A-4147-A177-3AD203B41FA5}">
                      <a16:colId xmlns:a16="http://schemas.microsoft.com/office/drawing/2014/main" val="20002"/>
                    </a:ext>
                  </a:extLst>
                </a:gridCol>
              </a:tblGrid>
              <a:tr h="370800">
                <a:tc>
                  <a:txBody>
                    <a:bodyPr/>
                    <a:lstStyle/>
                    <a:p>
                      <a:pPr>
                        <a:lnSpc>
                          <a:spcPct val="100000"/>
                        </a:lnSpc>
                        <a:buNone/>
                      </a:pPr>
                      <a:r>
                        <a:rPr lang="en-US" sz="1800" b="1" strike="noStrike" spc="-1">
                          <a:solidFill>
                            <a:srgbClr val="FFFFFF"/>
                          </a:solidFill>
                          <a:latin typeface="Arial"/>
                        </a:rPr>
                        <a:t>Planned Date</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Version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Description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640440">
                <a:tc>
                  <a:txBody>
                    <a:bodyPr/>
                    <a:lstStyle/>
                    <a:p>
                      <a:pPr>
                        <a:lnSpc>
                          <a:spcPct val="100000"/>
                        </a:lnSpc>
                        <a:buNone/>
                      </a:pPr>
                      <a:r>
                        <a:rPr lang="en-US" sz="1800" b="0" strike="noStrike" spc="-1">
                          <a:solidFill>
                            <a:srgbClr val="000000"/>
                          </a:solidFill>
                          <a:latin typeface="Arial"/>
                        </a:rPr>
                        <a:t>1. Feb. 2019</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3.3.1.x</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Release of official version of release candidate 3.3.1.1463</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40440">
                <a:tc>
                  <a:txBody>
                    <a:bodyPr/>
                    <a:lstStyle/>
                    <a:p>
                      <a:pPr>
                        <a:lnSpc>
                          <a:spcPct val="100000"/>
                        </a:lnSpc>
                        <a:buNone/>
                      </a:pPr>
                      <a:r>
                        <a:rPr lang="en-US" sz="1800" b="0" strike="noStrike" spc="-1">
                          <a:solidFill>
                            <a:srgbClr val="000000"/>
                          </a:solidFill>
                          <a:latin typeface="Arial"/>
                        </a:rPr>
                        <a:t>1. March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3.3.2.x-RC</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Release candidate, new input parameters are mandatory (+ further bugfixes)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en-US" sz="1800" b="0" strike="noStrike" spc="-1">
                          <a:solidFill>
                            <a:srgbClr val="000000"/>
                          </a:solidFill>
                          <a:latin typeface="Arial"/>
                        </a:rPr>
                        <a:t>1. April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3.3.2.x</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Official version of VECTO 3.3.2</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en-US" sz="1800" b="0" strike="noStrike" spc="-1">
                          <a:solidFill>
                            <a:srgbClr val="000000"/>
                          </a:solidFill>
                          <a:latin typeface="Arial"/>
                        </a:rPr>
                        <a:t>1. May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Mandatory use of 3.3.1.x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70800">
                <a:tc>
                  <a:txBody>
                    <a:bodyPr/>
                    <a:lstStyle/>
                    <a:p>
                      <a:pPr>
                        <a:lnSpc>
                          <a:spcPct val="100000"/>
                        </a:lnSpc>
                        <a:buNone/>
                      </a:pPr>
                      <a:r>
                        <a:rPr lang="en-US" sz="1800" b="0" strike="noStrike" spc="-1">
                          <a:solidFill>
                            <a:srgbClr val="000000"/>
                          </a:solidFill>
                          <a:latin typeface="Arial"/>
                        </a:rPr>
                        <a:t>1. July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Mandatory use of 3.3.2.x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Changes/Improvements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[VECTO-799] - Remove TUG Logos from Simulation Tool,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[VECTO-808] - Add Monitoring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[VECTO-754] - Extending Loss-Maps in case of AT gearbox for each gear, axlegear, gearbox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[VECTO-779] - Update Construction Cycle - shorter stop times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[VECTO-783] - Rename columns in segmentation table and GUI</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[VECTO-709] - VTP editor from user manual not matching new VECTO one: updated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[VECTO-785] - Handling of Vehicles that cannot reach the cycle's target speed: Limit max speed in driver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[VECTO-716] - Validate data in Settings Tab: update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[VECTO-793] - Inconsistency between GUI, Help and Regulation: update wording in GUI and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[VECTO-796] - Adaptation of FuelProperties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[VECTO-806] - extend loss-maps (gbx, axl, angl) for MT and AMT transmissions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[VECTO-750] - Simulation error DrivingAction: adapt downshift rules for AT to drive over hill with 6% inclination</a:t>
            </a: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p:txBody>
      </p:sp>
      <p:sp>
        <p:nvSpPr>
          <p:cNvPr id="338"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0" name="PlaceHolder 2"/>
          <p:cNvSpPr>
            <a:spLocks noGrp="1"/>
          </p:cNvSpPr>
          <p:nvPr>
            <p:ph/>
          </p:nvPr>
        </p:nvSpPr>
        <p:spPr>
          <a:xfrm>
            <a:off x="323640" y="1628640"/>
            <a:ext cx="8640360" cy="50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Update of Fuel Properties [VECTO-796]</a:t>
            </a:r>
            <a:endParaRPr lang="en-US" sz="1800" b="0" strike="noStrike" spc="-1">
              <a:latin typeface="Arial"/>
            </a:endParaRPr>
          </a:p>
        </p:txBody>
      </p:sp>
      <p:sp>
        <p:nvSpPr>
          <p:cNvPr id="341"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42" name="Tabelle 4"/>
          <p:cNvGraphicFramePr/>
          <p:nvPr/>
        </p:nvGraphicFramePr>
        <p:xfrm>
          <a:off x="468360" y="2606400"/>
          <a:ext cx="8217720" cy="2148840"/>
        </p:xfrm>
        <a:graphic>
          <a:graphicData uri="http://schemas.openxmlformats.org/drawingml/2006/table">
            <a:tbl>
              <a:tblPr/>
              <a:tblGrid>
                <a:gridCol w="947160">
                  <a:extLst>
                    <a:ext uri="{9D8B030D-6E8A-4147-A177-3AD203B41FA5}">
                      <a16:colId xmlns:a16="http://schemas.microsoft.com/office/drawing/2014/main" val="20000"/>
                    </a:ext>
                  </a:extLst>
                </a:gridCol>
                <a:gridCol w="1369440">
                  <a:extLst>
                    <a:ext uri="{9D8B030D-6E8A-4147-A177-3AD203B41FA5}">
                      <a16:colId xmlns:a16="http://schemas.microsoft.com/office/drawing/2014/main" val="20001"/>
                    </a:ext>
                  </a:extLst>
                </a:gridCol>
                <a:gridCol w="947160">
                  <a:extLst>
                    <a:ext uri="{9D8B030D-6E8A-4147-A177-3AD203B41FA5}">
                      <a16:colId xmlns:a16="http://schemas.microsoft.com/office/drawing/2014/main" val="20002"/>
                    </a:ext>
                  </a:extLst>
                </a:gridCol>
                <a:gridCol w="947160">
                  <a:extLst>
                    <a:ext uri="{9D8B030D-6E8A-4147-A177-3AD203B41FA5}">
                      <a16:colId xmlns:a16="http://schemas.microsoft.com/office/drawing/2014/main" val="20003"/>
                    </a:ext>
                  </a:extLst>
                </a:gridCol>
                <a:gridCol w="947160">
                  <a:extLst>
                    <a:ext uri="{9D8B030D-6E8A-4147-A177-3AD203B41FA5}">
                      <a16:colId xmlns:a16="http://schemas.microsoft.com/office/drawing/2014/main" val="20004"/>
                    </a:ext>
                  </a:extLst>
                </a:gridCol>
                <a:gridCol w="3060000">
                  <a:extLst>
                    <a:ext uri="{9D8B030D-6E8A-4147-A177-3AD203B41FA5}">
                      <a16:colId xmlns:a16="http://schemas.microsoft.com/office/drawing/2014/main" val="20005"/>
                    </a:ext>
                  </a:extLst>
                </a:gridCol>
              </a:tblGrid>
              <a:tr h="342360">
                <a:tc>
                  <a:txBody>
                    <a:bodyPr/>
                    <a:lstStyle/>
                    <a:p>
                      <a:pPr algn="ctr">
                        <a:lnSpc>
                          <a:spcPct val="100000"/>
                        </a:lnSpc>
                        <a:buNone/>
                      </a:pPr>
                      <a:r>
                        <a:rPr lang="de-AT" sz="1000" b="0" strike="noStrike" spc="-1">
                          <a:solidFill>
                            <a:srgbClr val="000000"/>
                          </a:solidFill>
                          <a:latin typeface="Arial"/>
                        </a:rPr>
                        <a:t>Fuel type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Reference for fuel properties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Density</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CO2 emission factor</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Lower Heating Value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Data Source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0"/>
                  </a:ext>
                </a:extLst>
              </a:tr>
              <a:tr h="171000">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[kg/m³]</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[g_CO2/g_Fuel]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[MJ/kg]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1"/>
                  </a:ext>
                </a:extLst>
              </a:tr>
              <a:tr h="171000">
                <a:tc>
                  <a:txBody>
                    <a:bodyPr/>
                    <a:lstStyle/>
                    <a:p>
                      <a:pPr>
                        <a:lnSpc>
                          <a:spcPct val="100000"/>
                        </a:lnSpc>
                        <a:buNone/>
                      </a:pPr>
                      <a:r>
                        <a:rPr lang="de-AT" sz="1000" b="0" strike="noStrike" spc="-1">
                          <a:solidFill>
                            <a:srgbClr val="000000"/>
                          </a:solidFill>
                          <a:latin typeface="Arial"/>
                        </a:rPr>
                        <a:t>Diesel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B7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836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3.13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42.7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 </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171000">
                <a:tc>
                  <a:txBody>
                    <a:bodyPr/>
                    <a:lstStyle/>
                    <a:p>
                      <a:pP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820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1.81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25.4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3"/>
                  </a:ext>
                </a:extLst>
              </a:tr>
              <a:tr h="171000">
                <a:tc>
                  <a:txBody>
                    <a:bodyPr/>
                    <a:lstStyle/>
                    <a:p>
                      <a:pPr>
                        <a:lnSpc>
                          <a:spcPct val="100000"/>
                        </a:lnSpc>
                        <a:buNone/>
                      </a:pPr>
                      <a:r>
                        <a:rPr lang="de-AT" sz="1000" b="0" strike="noStrike" spc="-1">
                          <a:solidFill>
                            <a:srgbClr val="000000"/>
                          </a:solidFill>
                          <a:latin typeface="Arial"/>
                        </a:rPr>
                        <a:t>Petrol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748</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41.5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04920">
                <a:tc>
                  <a:txBody>
                    <a:bodyPr/>
                    <a:lstStyle/>
                    <a:p>
                      <a:pP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786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29.3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000" b="0" strike="noStrike" spc="-1">
                          <a:solidFill>
                            <a:srgbClr val="000000"/>
                          </a:solidFill>
                          <a:latin typeface="Arial"/>
                        </a:rPr>
                        <a:t>Calculated from E0 and E100  from 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5"/>
                  </a:ext>
                </a:extLst>
              </a:tr>
              <a:tr h="171000">
                <a:tc>
                  <a:txBody>
                    <a:bodyPr/>
                    <a:lstStyle/>
                    <a:p>
                      <a:pP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3.02</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46.0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6"/>
                  </a:ext>
                </a:extLst>
              </a:tr>
              <a:tr h="171000">
                <a:tc>
                  <a:txBody>
                    <a:bodyPr/>
                    <a:lstStyle/>
                    <a:p>
                      <a:pPr>
                        <a:lnSpc>
                          <a:spcPct val="100000"/>
                        </a:lnSpc>
                        <a:buNone/>
                      </a:pPr>
                      <a:r>
                        <a:rPr lang="de-AT" sz="1000" b="0" strike="noStrike" spc="-1">
                          <a:solidFill>
                            <a:srgbClr val="000000"/>
                          </a:solidFill>
                          <a:latin typeface="Arial"/>
                        </a:rPr>
                        <a:t>CNG</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CNG (H-Gas)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2.69</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48.0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7"/>
                  </a:ext>
                </a:extLst>
              </a:tr>
              <a:tr h="304920">
                <a:tc>
                  <a:txBody>
                    <a:bodyPr/>
                    <a:lstStyle/>
                    <a:p>
                      <a:pPr>
                        <a:lnSpc>
                          <a:spcPct val="100000"/>
                        </a:lnSpc>
                        <a:buNone/>
                      </a:pPr>
                      <a:r>
                        <a:rPr lang="de-AT" sz="1000" b="0" strike="noStrike" spc="-1">
                          <a:solidFill>
                            <a:srgbClr val="000000"/>
                          </a:solidFill>
                          <a:latin typeface="Arial"/>
                        </a:rPr>
                        <a:t>LNG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LNG (EU mix. 2016/2030)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2.77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49.1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171000">
                <a:tc gridSpan="4">
                  <a:txBody>
                    <a:bodyPr/>
                    <a:lstStyle/>
                    <a:p>
                      <a:pPr>
                        <a:lnSpc>
                          <a:spcPct val="100000"/>
                        </a:lnSpc>
                        <a:buNone/>
                      </a:pPr>
                      <a:r>
                        <a:rPr lang="en-US" sz="1000" b="0" strike="noStrike" spc="-1">
                          <a:solidFill>
                            <a:srgbClr val="000000"/>
                          </a:solidFill>
                          <a:latin typeface="Arial"/>
                        </a:rPr>
                        <a:t>* VECTO does not provide volume based figures for gaseous fuels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9"/>
                  </a:ext>
                </a:extLst>
              </a:tr>
            </a:tbl>
          </a:graphicData>
        </a:graphic>
      </p:graphicFrame>
      <p:sp>
        <p:nvSpPr>
          <p:cNvPr id="343" name="Rectangle 3"/>
          <p:cNvSpPr/>
          <p:nvPr/>
        </p:nvSpPr>
        <p:spPr>
          <a:xfrm>
            <a:off x="396000" y="5153040"/>
            <a:ext cx="8142120" cy="570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spAutoFit/>
          </a:bodyPr>
          <a:lstStyle/>
          <a:p>
            <a:pPr marL="357120" indent="-357120">
              <a:lnSpc>
                <a:spcPct val="100000"/>
              </a:lnSpc>
              <a:buNone/>
              <a:tabLst>
                <a:tab pos="0" algn="l"/>
              </a:tabLst>
            </a:pPr>
            <a:r>
              <a:rPr lang="de-AT" sz="1050" b="0" strike="noStrike" spc="-1">
                <a:solidFill>
                  <a:srgbClr val="000000"/>
                </a:solidFill>
                <a:latin typeface="Arial"/>
                <a:ea typeface="DejaVu Sans"/>
              </a:rPr>
              <a:t>CONCAWE/JEC (2018): </a:t>
            </a:r>
            <a:r>
              <a:rPr lang="en-GB" sz="1050" b="0" strike="noStrike" spc="-1">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lang="en-GB" sz="1050" b="0" strike="noStrike" spc="-1">
                <a:solidFill>
                  <a:srgbClr val="000000"/>
                </a:solidFill>
                <a:latin typeface="Arial"/>
                <a:ea typeface="DejaVu Sans"/>
              </a:rPr>
              <a:t>Well-To-Wheels Analysis Of Future Automotive Fuels And Powertrains in the European Context – Heavy Duty vehicles</a:t>
            </a:r>
            <a:endParaRPr lang="en-US" sz="1050" b="0" strike="noStrike" spc="-1">
              <a:latin typeface="Aria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[VECTO-819] -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[VECTO-818] - SearchOperatingPoint: Unknown response type.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[VECTO-813] - Error "Infinity [] is not allowed for SI-Value"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[VECTO-769] - DrivingAction Brake: request failed after braking power was found.ResponseEngineSpeedTooHigh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[VECTO-804] - Error on simulation with VECTO 3.3.0.1433</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[VECTO-805] - Total vehicle mass exceeds TPMLM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[VECTO-811] - AMT: ResponseGearShift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[VECTO-812] - AMT: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[VECTO-822] - SIMULATION RUN ABORTED by Infinity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[VECTO-792] - Vecto Hashing Tool - error object reference not set to an instance of an object (overwriting Date element)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[VECTO-696] - Problem with Primary Retarder: regression update, set torque loss to 0 for 0 speed and engaged gear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[VECTO-776] - Decision Factor (DF)  field is emptied after each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[VECTO-814] - Error: DistanceRun got an unexpected response: ResponseGearshift</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3.3.0.1433 Official Release</a:t>
            </a:r>
            <a:br>
              <a:rPr sz="2400"/>
            </a:br>
            <a:r>
              <a:rPr lang="en-US" sz="1600" b="1" strike="noStrike" spc="-1">
                <a:solidFill>
                  <a:srgbClr val="990000"/>
                </a:solidFill>
                <a:latin typeface="Arial"/>
              </a:rPr>
              <a:t>2018-12-04</a:t>
            </a:r>
            <a:endParaRPr lang="en-US" sz="1600" b="0" strike="noStrike" spc="-1">
              <a:latin typeface="Arial"/>
            </a:endParaRPr>
          </a:p>
        </p:txBody>
      </p:sp>
      <p:sp>
        <p:nvSpPr>
          <p:cNvPr id="34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3.3.0.1398)</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[VECTO-795] – VECTO Hashing 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[VECTO-802] – Error in XML schema for manufacturer's record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3.3.0.1398 Release Candiate</a:t>
            </a:r>
            <a:br>
              <a:rPr sz="2400"/>
            </a:br>
            <a:r>
              <a:rPr lang="en-US" sz="1600" b="1" strike="noStrike" spc="-1">
                <a:solidFill>
                  <a:srgbClr val="990000"/>
                </a:solidFill>
                <a:latin typeface="Arial"/>
              </a:rPr>
              <a:t>2018-10-30</a:t>
            </a:r>
            <a:endParaRPr lang="en-US" sz="1600" b="0" strike="noStrike" spc="-1">
              <a:latin typeface="Arial"/>
            </a:endParaRPr>
          </a:p>
        </p:txBody>
      </p:sp>
      <p:sp>
        <p:nvSpPr>
          <p:cNvPr id="34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[VECTO-665] - Adding style information to XML Reports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[VECTO-669] - Group 1 vehicle comprises vehicles with gross vehicle weight &gt; 7.5t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[VECTO-672] - Keep manual choice for "Validate data"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[VECTO-682] - VTP Simulation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[VECTO-652] - VTP: Check Cycle matches simulation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[VECTO-683] - VTP: Quality and plausibility checks for recorded data from VTP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[VECTO-685] - VTP Programming of standard VECTO VTP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[VECTO-689] - Additional Tyre sizes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[VECTO-702] - Hashing tool: adapt warnings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[VECTO-667] - Removing NCV Correction Factor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[VECTO-679] - Engine n95h computation gives wrong (too high) engine speed (above measured FLD, n70h)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[VECTO-693] - extend vehicle performance in manufacturer record</a:t>
            </a:r>
            <a:endParaRPr lang="en-US" sz="1400" b="0" strike="noStrike" spc="-1">
              <a:latin typeface="Aria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[VECTO-656] - Distance computation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[VECTO-666] - CF_RegPer no effect in vehicle simulation -- added to the engine correction factors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[VECTO-687] - Saving a Engine-Only Job is not possible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[VECTO-695] - Bug in vectocmd.exe - process does not terminate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[VECTO-699] - Output in manufacturer report and customer report (VECTO) uses different units than described in legislation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[VECTO-700] - errorr in simulation with 0 stop time at the beginning of the cycle </a:t>
            </a:r>
            <a:endParaRPr lang="en-US" sz="1400" b="0" strike="noStrike" spc="-1">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3.2.1.1133</a:t>
            </a:r>
            <a:br>
              <a:rPr sz="2400"/>
            </a:br>
            <a:r>
              <a:rPr lang="en-US" sz="1600" b="1" strike="noStrike" spc="-1">
                <a:solidFill>
                  <a:srgbClr val="990000"/>
                </a:solidFill>
                <a:latin typeface="Arial"/>
              </a:rPr>
              <a:t>2018-02-07</a:t>
            </a:r>
            <a:endParaRPr lang="en-US" sz="1600" b="0" strike="noStrike" spc="-1">
              <a:latin typeface="Arial"/>
            </a:endParaRPr>
          </a:p>
        </p:txBody>
      </p:sp>
      <p:sp>
        <p:nvSpPr>
          <p:cNvPr id="35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[VECTO-634] - VTP Mode: specific fuel consumption</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[VECTO-642] - VECTO BUG – secondary retarder losses: </a:t>
            </a:r>
            <a:br>
              <a:rPr sz="1400"/>
            </a:br>
            <a:r>
              <a:rPr lang="en-US" sz="1400" b="1" strike="noStrike" spc="-1">
                <a:solidFill>
                  <a:srgbClr val="000000"/>
                </a:solidFill>
                <a:latin typeface="Arial"/>
              </a:rPr>
              <a:t>IMPORTANT:</a:t>
            </a:r>
            <a:r>
              <a:rPr lang="en-US" sz="1400" b="0" strike="noStrike" spc="-1">
                <a:solidFill>
                  <a:srgbClr val="000000"/>
                </a:solidFill>
                <a:latin typeface="Arial"/>
              </a:rPr>
              <a:t> Fuel-consumption relevant bug! wrong calculation of retarder losses for retarder ratio not equal to 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[VECTO-624] - Crash w/o comment: Infinite recursion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[VECTO-627] - Cannot open Engine-Only Job</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[VECTO-629] - Vecto crashes without errror message (same issue as VECTO-624)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[VECTO-639] - Failed to find operating point for braking power: cycle with low target speed (3km/h). allow driving with slipping clutch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[VECTO-640] - Exceeded max. iterations: driving fully-loaded vehicle steep uphill. fixed by allowing full-stop and drive off again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[VECTO-633] - unable to start VTP Mode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[VECTO-645] - Encountered error while validating Vecto output (generated by API) through Hashing tool for vehicle without retarder</a:t>
            </a:r>
            <a:endParaRPr lang="en-US" sz="1400" b="0" strike="noStrike" spc="-1">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3.2.1.1079</a:t>
            </a:r>
            <a:br>
              <a:rPr sz="2400"/>
            </a:br>
            <a:r>
              <a:rPr lang="en-US" sz="1600" b="1" strike="noStrike" spc="-1">
                <a:solidFill>
                  <a:srgbClr val="990000"/>
                </a:solidFill>
                <a:latin typeface="Arial"/>
              </a:rPr>
              <a:t>2017-12-15</a:t>
            </a:r>
            <a:endParaRPr lang="en-US" sz="1600" b="0" strike="noStrike" spc="-1">
              <a:latin typeface="Arial"/>
            </a:endParaRPr>
          </a:p>
        </p:txBody>
      </p:sp>
      <p:sp>
        <p:nvSpPr>
          <p:cNvPr id="35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[VECTO-618] - Add Hash value of tyres to manufacturer's record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[VECTO-590] - Handling of hash values: customer's record contains hash of manufacturer's record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[VECTO-612] - Continuously changing hashes: Info in GUI of HashingTool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[VECTO-560] - Change Mail-Address of general VECTO contact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[VECTO-616] - SI-Unit - display derived unit instead of base units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[VECTO-608] - Power balance in EPT-mode not closed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 [VECTO-611] - Invalid input. Cannot cast Newtonsoft.Json.Linq.JObject to Newtonsoft.Json.Linq.Jtoken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[VECTO-610] - TyreCertificationNumber missing in Manufacturer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[VECTO-613] - Incomplete description of allowed values of LegislativeClass (p251) in VECTO parameter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[VECTO-625] - Update XML Schema: Tyre dimensions according to Technicall Annex, trailing spaces in enums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Support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 </a:t>
            </a:r>
            <a:r>
              <a:rPr lang="en-US" sz="1400" b="0" strike="noStrike" spc="-1">
                <a:solidFill>
                  <a:srgbClr val="000000"/>
                </a:solidFill>
                <a:latin typeface="Arial"/>
              </a:rPr>
              <a:t>[VECTO-615] - Error torque interpolation in declaration jobs exported to XMLImprovements</a:t>
            </a:r>
            <a:endParaRPr lang="en-US" sz="1400" b="0" strike="noStrike" spc="-1">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3.2.1.1054</a:t>
            </a:r>
            <a:br>
              <a:rPr sz="2400"/>
            </a:br>
            <a:r>
              <a:rPr lang="en-US" sz="1600" b="1" strike="noStrike" spc="-1">
                <a:solidFill>
                  <a:srgbClr val="990000"/>
                </a:solidFill>
                <a:latin typeface="Arial"/>
              </a:rPr>
              <a:t>2017-11-20</a:t>
            </a:r>
            <a:endParaRPr lang="en-US" sz="1600" b="0" strike="noStrike" spc="-1">
              <a:latin typeface="Arial"/>
            </a:endParaRPr>
          </a:p>
        </p:txBody>
      </p:sp>
      <p:sp>
        <p:nvSpPr>
          <p:cNvPr id="35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[VECTO-592] - VTP Simulation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[VECTO-605] - Improve simulation speed</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[VECTO-602] - Error in simulation without airdrag component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[VECTO-589] - Scheme .xml error</a:t>
            </a:r>
            <a:endParaRPr lang="en-US" sz="1400" b="0" strike="noStrike" spc="-1">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7720" cy="575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VTP Simulation Mode</a:t>
            </a:r>
            <a:endParaRPr lang="en-US" sz="2400" b="0" strike="noStrike" spc="-1">
              <a:latin typeface="Arial"/>
            </a:endParaRPr>
          </a:p>
        </p:txBody>
      </p:sp>
      <p:sp>
        <p:nvSpPr>
          <p:cNvPr id="361" name="PlaceHolder 2"/>
          <p:cNvSpPr>
            <a:spLocks noGrp="1"/>
          </p:cNvSpPr>
          <p:nvPr>
            <p:ph/>
          </p:nvPr>
        </p:nvSpPr>
        <p:spPr>
          <a:xfrm>
            <a:off x="468360" y="1196640"/>
            <a:ext cx="821772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Verification Test Procedure (VTP) Simulation Mode</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Similar to Pwheel mode, different cycle format (see user manual)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Requires:</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Vehicle in declaration mode (XML)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Measured driving cycle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Parameters for engine-fan model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 calculates the gear based on the wheel speed and engine speed (and vehicle parameters) and ignores the gear provided in the driving cycle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Fuel consumption interpolation is done using the engine speed from the cycle and calculated power demand (to avoid wrong engine speeds due to wrong gear selection)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Simulation uses all auxiliaries except engine fan</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Engine fan is modeled separately, power demand depends on fan speed (see user manual)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Auxiliary power selected according to segment table, BUT power demand depends on vehicle speed</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&lt; 50 km/h: Urban</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50 &lt;= v &lt; 70 km/h: Rural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&gt;70 km/h: Long haul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Gear and fuel consumption in the driving cycle are optional for now, may be used in future versions</a:t>
            </a:r>
            <a:endParaRPr lang="en-US" sz="1600" b="0" strike="noStrike" spc="-1">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3.2.0.1022</a:t>
            </a:r>
            <a:br>
              <a:rPr sz="2400"/>
            </a:br>
            <a:r>
              <a:rPr lang="en-US" sz="1600" b="1" strike="noStrike" spc="-1">
                <a:solidFill>
                  <a:srgbClr val="990000"/>
                </a:solidFill>
                <a:latin typeface="Arial"/>
              </a:rPr>
              <a:t>2017-10-19</a:t>
            </a:r>
            <a:endParaRPr lang="en-US" sz="1600" b="0" strike="noStrike" spc="-1">
              <a:latin typeface="Arial"/>
            </a:endParaRPr>
          </a:p>
        </p:txBody>
      </p:sp>
      <p:sp>
        <p:nvSpPr>
          <p:cNvPr id="36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[VECTO-585, VECTO-587] – VECTO Simulation aborts when run as WCF Service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[VECTO-586] – Gearshiftcout in reports too high</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Use of old library references .net framework 2.0</a:t>
            </a:r>
            <a:endParaRPr lang="en-US" sz="1400" b="0" strike="noStrike" spc="-1">
              <a:latin typeface="Arial"/>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3.2.0.1005</a:t>
            </a:r>
            <a:br>
              <a:rPr sz="2400"/>
            </a:br>
            <a:r>
              <a:rPr lang="en-US" sz="1600" b="1" strike="noStrike" spc="-1">
                <a:solidFill>
                  <a:srgbClr val="990000"/>
                </a:solidFill>
                <a:latin typeface="Arial"/>
              </a:rPr>
              <a:t>2017-10-02</a:t>
            </a:r>
            <a:endParaRPr lang="en-US" sz="1600" b="0" strike="noStrike" spc="-1">
              <a:latin typeface="Arial"/>
            </a:endParaRPr>
          </a:p>
        </p:txBody>
      </p:sp>
      <p:sp>
        <p:nvSpPr>
          <p:cNvPr id="36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1" strike="noStrike" spc="-1">
                <a:solidFill>
                  <a:srgbClr val="000000"/>
                </a:solidFill>
                <a:latin typeface="Arial"/>
              </a:rPr>
              <a:t>Release of Vecto Hashing Tool</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[VECTO-557] Engine speed simulated too high during long stops</a:t>
            </a:r>
            <a:endParaRPr lang="en-US" sz="1400" b="0" strike="noStrike" spc="-1">
              <a:latin typeface="Arial"/>
            </a:endParaRPr>
          </a:p>
          <a:p>
            <a:pPr>
              <a:lnSpc>
                <a:spcPct val="100000"/>
              </a:lnSpc>
              <a:spcBef>
                <a:spcPts val="320"/>
              </a:spcBef>
              <a:buNone/>
              <a:tabLst>
                <a:tab pos="0" algn="l"/>
              </a:tabLst>
            </a:pPr>
            <a:endParaRPr lang="en-US" sz="16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[VECTO-569] - ‘Engine Retarder’ not correctly recognized as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[VECTO-571] - Customer Report – wrong output format of average RRC</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Correction of displayed units in graph window</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[VECTO-575] - Correction of simulation aborts (due to gearbox inertia,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[VECTO-577] - Correction of XML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[VECTO-579] - Bug fix GUI crashes on invalid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[VECTO-558] - Correction of output in .vsum file – BFColdHot always 0</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[VECTO-564] - Bug fix: correct output of vehicle group in XML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[VECTO-566] - Vehicle height not correctly read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[VECTO-545] - Update documentation on Settings dialog</a:t>
            </a:r>
            <a:endParaRPr lang="en-US" sz="1400" b="0" strike="noStrike" spc="-1">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3.2.0.940</a:t>
            </a:r>
            <a:br>
              <a:rPr sz="2400"/>
            </a:br>
            <a:r>
              <a:rPr lang="en-US" sz="1600" b="1" strike="noStrike" spc="-1">
                <a:solidFill>
                  <a:srgbClr val="990000"/>
                </a:solidFill>
                <a:latin typeface="Arial"/>
              </a:rPr>
              <a:t>2017-07-28</a:t>
            </a:r>
            <a:endParaRPr lang="en-US" sz="1600" b="0" strike="noStrike" spc="-1">
              <a:latin typeface="Arial"/>
            </a:endParaRPr>
          </a:p>
        </p:txBody>
      </p:sp>
      <p:sp>
        <p:nvSpPr>
          <p:cNvPr id="36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[VECTO-546] - GearboxCertificationOptionType Option 2 not accepted by VECTO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[VECTO-547] - Engine Manufacturer and Engine Model are empty in .vsum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[VECTO-548] - online user manual</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[VECTO-549] - Inconsistent (and wrong) decimal separator in XML output (manufacturer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[VECTO-551] - Average Tyre RRC not in Customer Information File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[VECTO-536] - GUI: improvements vehicle dialog (add missing pictures for vehicle categories)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[VECTO-550] - Allow custom settings for AirDensity in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[VECTO-552] - set engine rated power, rated speed to computed values from FLD if not provided as input</a:t>
            </a:r>
            <a:endParaRPr lang="en-US" sz="1400" b="0" strike="noStrike" spc="-1">
              <a:latin typeface="Arial"/>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6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[VECTO-366] added EMS vehicle configuration, EMS is only simulated when engine rated power &gt; 300kW</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[VECTO-463] add pneumatic system technology 'vacuum pump‘</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[VECTO-465] change RRC value of trailers (declaration mode) from 0.00555 to 0.0055 (due to limits in user interface)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[VECTO-477] AT Gearbox, powershift losses: remove inertia factor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[VECTO-471] update cross-wind correction model: height-dependent wind speed (see Excel spreadsheet in User Manual folder for details)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[VECTO-367] Add Vehicle Design Speed to segmentation table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[VECTO-470] Add XML reading and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[VECTO-486] Adding hashing library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[VECTO-469] Limit engine max torque (either due to vehicle or gearbox limits), limit gearbox input speed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[VECTO-466] Update vehicle payloads: 10% loaded and reference load are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[VECTO-467] Add generic PTO activation in municipal cycle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[VECTO-468] Add PTO losses (idle) in declaration mode</a:t>
            </a:r>
            <a:endParaRPr lang="en-US" sz="14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400" b="0" strike="noStrike" spc="-1">
                <a:solidFill>
                  <a:srgbClr val="000000"/>
                </a:solidFill>
                <a:latin typeface="Arial"/>
              </a:rPr>
              <a:t>[VECTO-479</a:t>
            </a:r>
            <a:r>
              <a:rPr lang="en-US" sz="1600" b="0" strike="noStrike" spc="-1">
                <a:solidFill>
                  <a:srgbClr val="000000"/>
                </a:solidFill>
                <a:latin typeface="Arial"/>
              </a:rPr>
              <a:t>] Added PTO option 'only one engaged gearwheel above oil level' with 0 losses</a:t>
            </a:r>
            <a:endParaRPr lang="en-US" sz="1600" b="0" strike="noStrike" spc="-1">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[VECTO-483] Adapt CdxA supplement for additional trailers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[VECTO-494] Implementation of different fuel types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[VECTO-502] Implementing standard values for air-drag area (if not measured)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[VECTO-501] Implement engine idle speed set in vehicle (must be higher than engine's idle speed value)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[VECTO-504] Adding HVAC technology 'none‘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[VECTO-489] Extrapolate gearbox lossmaps (required when torque limitation by gearbox is ignored)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[VECTO-505] Implement AT transmissions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[VECTO-507] Allow to ignore validation of model data when starting a simulation (significant improvement on simulation startup time - about 10s)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[VECTO-506] modified method how torque-converter characteristics in drag is extended. allow drag-values in the input, only add one point at a high speed ratio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[VECTO-509] Add axle-type (vehicle driven, vehicle non-driven, trailer) to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[VECTO-511] Add engine idle speed to Vehicle input form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[VECTO-510] Write XML reports (manufacturer, customer information)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[VECTO-474] new driving cycles for Municipal and Regional Delivery</a:t>
            </a:r>
            <a:endParaRPr lang="en-US" sz="1400" b="0" strike="noStrike" spc="-1">
              <a:latin typeface="Arial"/>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[VECTO-522] step-up ratio for using torque converter in second gear set to 1.85 for busses (still 1.8 for trucks)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[VECTO-525] remove info-box with max loading in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[VECTO-533] allow second driven axle, rdyn is calculated as average of both driven axles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[VECTO-537] new Suburban driving cycles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[VECTO-541] increase declaration mode PT1 curve to higher speeds (2500 is too low for some engines)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[VECTO-542] reduce overspeed in declaration mode to 2.5km/h</a:t>
            </a:r>
            <a:endParaRPr lang="en-US" sz="1400" b="0" strike="noStrike" spc="-1">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[VECTO-462] fix: decision if PTO cycle is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[VECTO-473] fix: adapt range for validation of torque converter characteristics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[VECTO-464] fix: extrapolation of engine full-load curve gives neg. max. torque. Limit engine speed to n95h</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[VECTO-480] fix: a_pos in .vsum was less than zero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[VECTO-487] fix: Duration of PTO cycle was computed incorrectly if PTO cycle does not start at t=0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[VECTO-514] fix: sort entries in .vsum numerically, not lexically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[VECTO-516] fix: consider axlegear losses for estimation of acceleration after gearshifts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[VECTO-517] fix: valid shift polygon was considered invalid when extended to very high torque ranges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[VECTO-424] fix: VectoCore.dll could not be found when the current working directory is different to the directory of the vectocmd.exe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[VECTO-425] fix: vectocmd.exe - check if the output is redirected, and skip updating of the progress bar when this is the case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[VECTO-426] fix: vectocmd.exe - log errors to STDERR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[VECTO-519] fix: computation of n95h fails for a valid full-load curve due to numerical inaccuracy. add tolerance when searching for solutions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[VECTO-520] fix: gearashift count in vsum is 0</a:t>
            </a:r>
            <a:endParaRPr lang="en-US" sz="1400" b="0" strike="noStrike" spc="-1">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3.1.2.810</a:t>
            </a:r>
            <a:br>
              <a:rPr sz="2400"/>
            </a:br>
            <a:r>
              <a:rPr lang="en-US" sz="1600" b="1" strike="noStrike" spc="-1">
                <a:solidFill>
                  <a:srgbClr val="990000"/>
                </a:solidFill>
                <a:latin typeface="Arial"/>
              </a:rPr>
              <a:t>2017-01-18</a:t>
            </a:r>
            <a:endParaRPr lang="en-US" sz="1600" b="0" strike="noStrike" spc="-1">
              <a:latin typeface="Arial"/>
            </a:endParaRPr>
          </a:p>
        </p:txBody>
      </p:sp>
      <p:sp>
        <p:nvSpPr>
          <p:cNvPr id="3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[VECTO-445] Additional columns in vsum file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splitting shift losses among multiple simulation intervals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coasting overspeed only if vehicle speed &gt; 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Torque converter: better handling of ‘creeping’ situations</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[VECTO-443] Bugfix in AMT shift strategy: skip gears not working correctly</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3.1.2.796</a:t>
            </a:r>
            <a:br>
              <a:rPr sz="2400"/>
            </a:br>
            <a:r>
              <a:rPr lang="en-US" sz="1600" b="1" strike="noStrike" spc="-1">
                <a:solidFill>
                  <a:srgbClr val="990000"/>
                </a:solidFill>
                <a:latin typeface="Arial"/>
              </a:rPr>
              <a:t>2017-03-07</a:t>
            </a:r>
            <a:endParaRPr lang="en-US" sz="1600" b="0" strike="noStrike" spc="-1">
              <a:latin typeface="Arial"/>
            </a:endParaRPr>
          </a:p>
        </p:txBody>
      </p:sp>
      <p:sp>
        <p:nvSpPr>
          <p:cNvPr id="379"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41"/>
              </a:spcBef>
              <a:buNone/>
              <a:tabLst>
                <a:tab pos="0" algn="l"/>
              </a:tabLst>
            </a:pPr>
            <a:r>
              <a:rPr lang="en-US" sz="1200" b="1" strike="noStrike" spc="-1">
                <a:solidFill>
                  <a:srgbClr val="000000"/>
                </a:solidFill>
                <a:latin typeface="Arial"/>
              </a:rPr>
              <a:t>Improvements: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[VECTO-405] Adding clutch-losses for AMT/MT gearboxes during drive-off, reduce drive-off distance after stop from 1m to 0.25m, set clutch closing speed (normalized) to 6.5%,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[VECTO-379] Make GUI more tolerant against missing files. Instead of aborting reading the input data the GUI shows a suffix for missing input files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[VECTO-411] Allow a traction interruption of 0s for AMT/MT gearboxes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[VECTO-408] Gearbox Inertia for AT gearboxes set to 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[VECTO-419] Adapted error messages, added list of errors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[VECTO-421,VECTO-439] Added volume-related results to vsum file (volume is computed based on default bodies)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 Energy balance (vsum) and balance of engine power output and power consumers (vmod) level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[VECTO-430] AT shift strategy: upshifts may happen too early</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[VECTO-431] AMT shift strategy always started in first gear due to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[VECTO-433] adapt generic vehicles: use typical WHTC correction factors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[VECTO-437] set vehicle speed at clutch-closed to 1.3 m/s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[VECTO-436] fix simulation aborts with AT gearbox (neg. braking power, unexpected response, underload)</a:t>
            </a:r>
            <a:endParaRPr lang="en-US" sz="1200" b="0" strike="noStrike" spc="-1">
              <a:latin typeface="Arial"/>
            </a:endParaRPr>
          </a:p>
          <a:p>
            <a:pPr>
              <a:lnSpc>
                <a:spcPct val="100000"/>
              </a:lnSpc>
              <a:spcBef>
                <a:spcPts val="241"/>
              </a:spcBef>
              <a:buNone/>
              <a:tabLst>
                <a:tab pos="0" algn="l"/>
              </a:tabLst>
            </a:pPr>
            <a:r>
              <a:rPr lang="en-US" sz="1200" b="1" strike="noStrike" spc="-1">
                <a:solidFill>
                  <a:srgbClr val="000000"/>
                </a:solidFill>
                <a:latin typeface="Arial"/>
              </a:rPr>
              <a:t>Bugfixes: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[VECTO-415] Powershift Losses were not considered for AT gearboxes with PowerSplit</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[VECTO-416] Measured Speed with gear failed when cycle contained parts with eco-roll (computation of next gear failed)</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[VECTO-428] Sum of timeshares adds up to 100%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[VECTO-429] Min Velocity for lookahead coasting was not written to JSON file</a:t>
            </a:r>
            <a:endParaRPr lang="en-US" sz="1200" b="0" strike="noStrike" spc="-1">
              <a:latin typeface="Arial"/>
            </a:endParaRPr>
          </a:p>
          <a:p>
            <a:pPr>
              <a:lnSpc>
                <a:spcPct val="100000"/>
              </a:lnSpc>
              <a:spcBef>
                <a:spcPts val="241"/>
              </a:spcBef>
              <a:buNone/>
              <a:tabLst>
                <a:tab pos="0" algn="l"/>
              </a:tabLst>
            </a:pPr>
            <a:endParaRPr lang="en-US" sz="1200" b="0" strike="noStrike" spc="-1">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3.1.1.748</a:t>
            </a:r>
            <a:br>
              <a:rPr sz="2400"/>
            </a:br>
            <a:r>
              <a:rPr lang="en-US" sz="1600" b="1" strike="noStrike" spc="-1">
                <a:solidFill>
                  <a:srgbClr val="990000"/>
                </a:solidFill>
                <a:latin typeface="Arial"/>
              </a:rPr>
              <a:t>2017-01-18</a:t>
            </a:r>
            <a:endParaRPr lang="en-US" sz="1600" b="0" strike="noStrike" spc="-1">
              <a:latin typeface="Arial"/>
            </a:endParaRPr>
          </a:p>
        </p:txBody>
      </p:sp>
      <p:sp>
        <p:nvSpPr>
          <p:cNvPr id="3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[VECTO-404] Driving Cycle with PTO stopped simulation after first PTO activation</a:t>
            </a:r>
            <a:endParaRPr lang="en-US" sz="1400" b="0" strike="noStrike" spc="-1">
              <a:latin typeface="Arial"/>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3.1.1.742</a:t>
            </a:r>
            <a:br>
              <a:rPr sz="2400"/>
            </a:br>
            <a:r>
              <a:rPr lang="en-US" sz="1600" b="1" strike="noStrike" spc="-1">
                <a:solidFill>
                  <a:srgbClr val="990000"/>
                </a:solidFill>
                <a:latin typeface="Arial"/>
              </a:rPr>
              <a:t>2017-01-12</a:t>
            </a:r>
            <a:endParaRPr lang="en-US" sz="1600" b="0" strike="noStrike" spc="-1">
              <a:latin typeface="Arial"/>
            </a:endParaRPr>
          </a:p>
        </p:txBody>
      </p:sp>
      <p:sp>
        <p:nvSpPr>
          <p:cNvPr id="383"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[VECTO-390, VECTO-400] Adapt engine speed to estimated engine speed after gear shift during traction interruption (double clutching)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[VECTO-396, VECTO-388] Add shift losses for AT power 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[VECTO-389] new gear shift rules for AT gearboxes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[VECTO-387] added max input speed for torque converter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[VECTO-385] Automatically add generic torque converter data for drag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[VECTO-399] Add missions and loadings for vehicle categories 11, 12, and 16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[VECTO-384] cleanup memory after simulation run</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[VECTO-394] new option for vectocmd to disable all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[VECTO-392] make the GUI scale depending on the Windows font size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[VECTO-391] Gearbox output speed and output torque added to .vmod files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[VECTO-386] Gearbox window: disable input fields not applicable for the selected gearbox type</a:t>
            </a: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[VECTO-401] Computation of n_95h etc. fails if engine’s max torque is constant 0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Lookup of Airdrag parameters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[VECTO-378] Improved file-handling in AAUX module</a:t>
            </a:r>
            <a:endParaRPr lang="en-US" sz="1400" b="0" strike="noStrike" spc="-1">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3.1.0.683</a:t>
            </a:r>
            <a:br>
              <a:rPr sz="2400"/>
            </a:br>
            <a:r>
              <a:rPr lang="en-US" sz="1600" b="1" strike="noStrike" spc="-1">
                <a:solidFill>
                  <a:srgbClr val="990000"/>
                </a:solidFill>
                <a:latin typeface="Arial"/>
              </a:rPr>
              <a:t>2016-11-14</a:t>
            </a:r>
            <a:endParaRPr lang="en-US" sz="1600" b="0" strike="noStrike" spc="-1">
              <a:latin typeface="Arial"/>
            </a:endParaRPr>
          </a:p>
        </p:txBody>
      </p:sp>
      <p:sp>
        <p:nvSpPr>
          <p:cNvPr id="385"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[VECTO-375] Fixed bug when braking during slope change from negative to positive values.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[VECTO-372] Added check for unusual acceleration/deceleration data which could lead to error when halting.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[VECTO-371]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[VECTO-370]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[VECTO-369] CrosswindCorrection is now saved and read again from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[VECTO-373] WHTC-Engineering correction factor now correctly read/write in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[VECTO-368] Fixed validation for specific cases when values are intentionally invalid.</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[VECTO-357] Updated GUI to not show ECO-Roll option to avoid confusion</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AT-ShiftStrategy regarding the Torque 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MeasuredSpeed Mode (and MeasuredSpeed with Gear) in connection with AT-Gearbox and TorqueConverter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a bug when PTO-Cycle was missing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axle loss maps for Generic Vehicles in Declaration Mode to match technical annex</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SumFile Cruise Time Share. Added that timeshares must add up to 100%</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PlaceHolder 1"/>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[VECTO-355] Updated documentation, added powertrain schematics in chapter "Simulation Models"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[VECTO-374] Check range for Torque Converter speed ratio input data to be at least between 0 and 2.2</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many error messages to be more explicit about the reason of error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"Mission Profiles" Directory with driving cycles publicly available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"Declaration" directory with the declaration data files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warning when engine inertia is 0</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check that engine speed must not fall below idle speed (even in measured speed mode)</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Shift curve validation for AT gearboxes: shift curves may now overlap due to different shift logic in AutomaticTransmissions.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Crosswind Coefficients for </a:t>
            </a:r>
            <a:r>
              <a:rPr lang="de-AT" sz="1600" b="0" strike="noStrike" spc="-1">
                <a:solidFill>
                  <a:srgbClr val="000000"/>
                </a:solidFill>
                <a:latin typeface="Arial"/>
              </a:rPr>
              <a:t>Tractor+Semitrailer</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
        <p:nvSpPr>
          <p:cNvPr id="387" name="Titel 1"/>
          <p:cNvSpPr/>
          <p:nvPr/>
        </p:nvSpPr>
        <p:spPr>
          <a:xfrm>
            <a:off x="468360" y="476640"/>
            <a:ext cx="8217720" cy="68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ea typeface="DejaVu Sans"/>
              </a:rPr>
              <a:t>Vecto 3.1.0.683</a:t>
            </a:r>
            <a:br>
              <a:rPr sz="2400"/>
            </a:br>
            <a:r>
              <a:rPr lang="en-US" sz="1600" b="1" strike="noStrike" spc="-1">
                <a:solidFill>
                  <a:srgbClr val="990000"/>
                </a:solidFill>
                <a:latin typeface="Arial"/>
                <a:ea typeface="DejaVu Sans"/>
              </a:rPr>
              <a:t>2016-11-14</a:t>
            </a:r>
            <a:endParaRPr lang="en-US" sz="1600" b="0" strike="noStrike" spc="-1">
              <a:latin typeface="Arial"/>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3.1.0.662</a:t>
            </a:r>
            <a:br>
              <a:rPr sz="2400"/>
            </a:br>
            <a:r>
              <a:rPr lang="en-US" sz="1600" b="1" strike="noStrike" spc="-1">
                <a:solidFill>
                  <a:srgbClr val="990000"/>
                </a:solidFill>
                <a:latin typeface="Arial"/>
              </a:rPr>
              <a:t>2016-10-24</a:t>
            </a:r>
            <a:endParaRPr lang="en-US" sz="1600" b="0" strike="noStrike" spc="-1">
              <a:latin typeface="Arial"/>
            </a:endParaRPr>
          </a:p>
        </p:txBody>
      </p:sp>
      <p:sp>
        <p:nvSpPr>
          <p:cNvPr id="389" name="PlaceHolder 2"/>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Bugfixes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[VECTO-360] Fixed error during startup of VECTO (loading of DLLs).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[VECTO-361] Fixed classification of vehicles with GVM of exactly 7500kg</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[VECTO-364] Fixed an error in measured speed mode (run aborts).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[VECTO-363] Compute shift polygons in declaration mode now uses correct boundary for full load margin.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[VECTO-365] Fixed editing gears in declaration mode</a:t>
            </a:r>
            <a:endParaRPr lang="en-US" sz="1600" b="0" strike="noStrike" spc="-1">
              <a:latin typeface="Arial"/>
            </a:endParaRPr>
          </a:p>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Improvements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[VECTO-355] User Manual updated (Screenshots, Descriptions, File Formats, Vecto V2 Comments removed).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[VECTO-317] Declaration data for Wheel sizes updated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[VECTO-359] Simplified code regarding PT1 behavior.</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[VECTO-323] PTO-Cycle may now be left empty when not used in driving cycle.</a:t>
            </a:r>
            <a:endParaRPr lang="en-US" sz="1600" b="0" strike="noStrike" spc="-1">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1" name="PlaceHolder 2"/>
          <p:cNvSpPr>
            <a:spLocks noGrp="1"/>
          </p:cNvSpPr>
          <p:nvPr>
            <p:ph/>
          </p:nvPr>
        </p:nvSpPr>
        <p:spPr>
          <a:xfrm>
            <a:off x="468360" y="1412640"/>
            <a:ext cx="8495280" cy="471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VECTO Core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Refactoring of the User-Interface Backend: loading, saving files and validating user input uses Vecto 3 models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AT-Gearbox Model: differentiate between AT gearbox with serial torque converter and AT gearbox using powersplit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Numbering of gears with AT gearbox corresponds to mechanical gears, new column TC_locked in .vmod file to indicate if torque converter is active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Torque converter gear no longer allowed in input (added by Vecto depending on the AT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implementation of torque converter model (analytic solutions)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PTO option for municipal utility vehicles: PTO idle losses, separate PTO cycle during standstill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Angledrive Component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Option for constant Auxiliary Power Demand in Job-File</a:t>
            </a:r>
            <a:endParaRPr lang="en-US" sz="1800" b="0" strike="noStrike" spc="-1">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3" name="PlaceHolder 2"/>
          <p:cNvSpPr>
            <a:spLocks noGrp="1"/>
          </p:cNvSpPr>
          <p:nvPr>
            <p:ph/>
          </p:nvPr>
        </p:nvSpPr>
        <p:spPr>
          <a:xfrm>
            <a:off x="468360" y="1268640"/>
            <a:ext cx="849528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 (cont.)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Normalize x/y values before triangulating Delaunay map (transmission loss-maps, fuel consumption loss map)</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Additional fuel consumption correction factor in declaration mode: cold/hot balancing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fuel consumption correction factor (WHTC, Cold/Hot balancing, …) in engineering mode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Update auxiliaries power demand according to latest whitebook</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multiple steered axles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Adapted engine idle controller (during declutch) – engine speed decreases faster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SUM-File: split E_axl_gbx into two columns, E_axl and E_gbx</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columns in mod-file: PTO, torque converter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full-load curve per gear, only single value MaxTorque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rims (dynamic wheel radius depends on wheel type)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Fixes in AAUX module: open correct file-browser, save selected files</a:t>
            </a:r>
            <a:endParaRPr lang="en-US" sz="1800" b="0" strike="noStrike" spc="-1">
              <a:latin typeface="Arial"/>
            </a:endParaRPr>
          </a:p>
          <a:p>
            <a:pPr>
              <a:lnSpc>
                <a:spcPct val="100000"/>
              </a:lnSpc>
              <a:buNone/>
            </a:pPr>
            <a:endParaRPr lang="en-US" sz="1800" b="0" strike="noStrike" spc="-1">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296640" y="476640"/>
            <a:ext cx="8451360" cy="575280"/>
          </a:xfrm>
          <a:prstGeom prst="rect">
            <a:avLst/>
          </a:prstGeom>
          <a:noFill/>
          <a:ln w="0">
            <a:noFill/>
          </a:ln>
        </p:spPr>
        <p:txBody>
          <a:bodyPr lIns="90000" tIns="45000" rIns="90000" bIns="45000" numCol="1" spcCol="0" anchor="ctr">
            <a:noAutofit/>
          </a:bodyPr>
          <a:lstStyle/>
          <a:p>
            <a:pPr>
              <a:lnSpc>
                <a:spcPct val="100000"/>
              </a:lnSpc>
              <a:buNone/>
            </a:pPr>
            <a:r>
              <a:rPr lang="en-US" sz="2400" b="1" strike="noStrike" spc="-1">
                <a:solidFill>
                  <a:srgbClr val="990000"/>
                </a:solidFill>
                <a:latin typeface="Arial"/>
              </a:rPr>
              <a:t>Status quo VECTO software and open issues (Oct. 2016)</a:t>
            </a:r>
            <a:endParaRPr lang="en-US" sz="2400" b="0" strike="noStrike" spc="-1">
              <a:latin typeface="Arial"/>
            </a:endParaRPr>
          </a:p>
        </p:txBody>
      </p:sp>
      <p:sp>
        <p:nvSpPr>
          <p:cNvPr id="395" name="Textfeld 2"/>
          <p:cNvSpPr/>
          <p:nvPr/>
        </p:nvSpPr>
        <p:spPr>
          <a:xfrm>
            <a:off x="323640" y="908640"/>
            <a:ext cx="8496360" cy="39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001"/>
              </a:spcBef>
              <a:buNone/>
            </a:pPr>
            <a:r>
              <a:rPr lang="de-AT" sz="2000" b="1" strike="noStrike" spc="-1">
                <a:solidFill>
                  <a:srgbClr val="000000"/>
                </a:solidFill>
                <a:latin typeface="Arial"/>
                <a:ea typeface="DejaVu Sans"/>
              </a:rPr>
              <a:t>Next issues on the to do list</a:t>
            </a:r>
            <a:endParaRPr lang="en-US" sz="2000" b="0" strike="noStrike" spc="-1">
              <a:latin typeface="Arial"/>
            </a:endParaRPr>
          </a:p>
        </p:txBody>
      </p:sp>
      <p:sp>
        <p:nvSpPr>
          <p:cNvPr id="396" name="Textfeld 6"/>
          <p:cNvSpPr/>
          <p:nvPr/>
        </p:nvSpPr>
        <p:spPr>
          <a:xfrm>
            <a:off x="539640" y="1484640"/>
            <a:ext cx="8352360" cy="4879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Further development of the AT model</a:t>
            </a:r>
            <a:br>
              <a:rPr sz="1400"/>
            </a:br>
            <a:r>
              <a:rPr lang="en-GB" sz="1400" b="0" strike="noStrike" spc="-1">
                <a:solidFill>
                  <a:srgbClr val="000000"/>
                </a:solidFill>
                <a:latin typeface="Arial"/>
                <a:ea typeface="DejaVu Sans"/>
              </a:rPr>
              <a:t>Consideration of losses during power shifts, update of gear shift logics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Reimplementation of engine stop/start</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implementation of EMS vehicle configurations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r>
              <a:rPr lang="en-GB" sz="1400" b="1" u="sng" strike="noStrike" spc="-1">
                <a:solidFill>
                  <a:srgbClr val="000000"/>
                </a:solidFill>
                <a:uFillTx/>
                <a:latin typeface="Arial"/>
                <a:ea typeface="DejaVu Sans"/>
              </a:rPr>
              <a:t>Items waiting for decision on methods and resources: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Update engine data (according to update of Annex II)</a:t>
            </a:r>
            <a:br>
              <a:rPr sz="1400"/>
            </a:br>
            <a:r>
              <a:rPr lang="en-GB" sz="1400" b="0" strike="noStrike" spc="-1">
                <a:solidFill>
                  <a:srgbClr val="000000"/>
                </a:solidFill>
                <a:latin typeface="Arial"/>
                <a:ea typeface="DejaVu Sans"/>
              </a:rPr>
              <a:t>Other fuels than diesel, “top torque” feature, correction factor for periodic regerating DPFs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Revision of calculated vehicle loads</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implementation of refuse cycle (instead “municipal”)</a:t>
            </a:r>
            <a:br>
              <a:rPr sz="1400"/>
            </a:br>
            <a:r>
              <a:rPr lang="en-GB" sz="1400" b="0" strike="noStrike" spc="-1">
                <a:solidFill>
                  <a:srgbClr val="000000"/>
                </a:solidFill>
                <a:latin typeface="Arial"/>
                <a:ea typeface="DejaVu Sans"/>
              </a:rPr>
              <a:t>Update of driving cycle, consideration of generic PTO loads during collection part,</a:t>
            </a:r>
            <a:br>
              <a:rPr sz="1400"/>
            </a:br>
            <a:r>
              <a:rPr lang="en-GB" sz="1400" b="0" strike="noStrike" spc="-1">
                <a:solidFill>
                  <a:srgbClr val="000000"/>
                </a:solidFill>
                <a:latin typeface="Arial"/>
                <a:ea typeface="DejaVu Sans"/>
              </a:rPr>
              <a:t>generic body weight and payload</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VECTO output (approval authorities, customer info, monitoring)</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Buses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Predictive ADAS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endParaRPr lang="en-US" sz="1400" b="0" strike="noStrike" spc="-1">
              <a:latin typeface="Arial"/>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3.0.4.565</a:t>
            </a:r>
            <a:br>
              <a:rPr sz="2400"/>
            </a:br>
            <a:r>
              <a:rPr lang="en-US" sz="1600" b="1" strike="noStrike" spc="-1">
                <a:solidFill>
                  <a:srgbClr val="990000"/>
                </a:solidFill>
                <a:latin typeface="Arial"/>
              </a:rPr>
              <a:t>2016-07-19</a:t>
            </a:r>
            <a:endParaRPr lang="en-US" sz="1600" b="0" strike="noStrike" spc="-1">
              <a:latin typeface="Arial"/>
            </a:endParaRPr>
          </a:p>
        </p:txBody>
      </p:sp>
      <p:sp>
        <p:nvSpPr>
          <p:cNvPr id="39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AAUX HVAC Dialog does not store path to ActuationsMap and SSMSource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check for axle loads in declaration mode renders editing dialog useless </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2.2: Simulation aborts (Vecto terminates) when simulating EngineOnly cycles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3: Building SimulationRun EngineOnly simulation failed</a:t>
            </a:r>
            <a:endParaRPr lang="en-US" sz="1800" b="0" strike="noStrike" spc="-1">
              <a:latin typeface="Arial"/>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468360" y="786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3.0.4.544</a:t>
            </a:r>
            <a:br>
              <a:rPr sz="2400"/>
            </a:br>
            <a:r>
              <a:rPr lang="en-US" sz="1600" b="1" strike="noStrike" spc="-1">
                <a:solidFill>
                  <a:srgbClr val="990000"/>
                </a:solidFill>
                <a:latin typeface="Arial"/>
              </a:rPr>
              <a:t>2016-06-28</a:t>
            </a:r>
            <a:endParaRPr lang="en-US" sz="1600" b="0" strike="noStrike" spc="-1">
              <a:latin typeface="Arial"/>
            </a:endParaRPr>
          </a:p>
        </p:txBody>
      </p:sp>
      <p:sp>
        <p:nvSpPr>
          <p:cNvPr id="400" name="PlaceHolder 2"/>
          <p:cNvSpPr>
            <a:spLocks noGrp="1"/>
          </p:cNvSpPr>
          <p:nvPr>
            <p:ph/>
          </p:nvPr>
        </p:nvSpPr>
        <p:spPr>
          <a:xfrm>
            <a:off x="539640" y="1628640"/>
            <a:ext cx="8064000" cy="435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gear shift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coasting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input parameters (enineering mode) for coasting and gear shift behavior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Use SI units in Advanced Auxiliaries Module and compile with strict compiler settings (no implicit casts, etc.)</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efficiency for transmission losses (in engineering mode)</a:t>
            </a:r>
            <a:endParaRPr lang="en-US" sz="1800" b="0" strike="noStrike" spc="-1">
              <a:latin typeface="Arial"/>
            </a:endParaRPr>
          </a:p>
          <a:p>
            <a:pPr>
              <a:lnSpc>
                <a:spcPct val="100000"/>
              </a:lnSpc>
              <a:spcBef>
                <a:spcPts val="400"/>
              </a:spcBef>
              <a:buNone/>
            </a:pP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Auxiliary TechList not read from JSON input data</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in driver strategy</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Bugfixes in MeasuredSpeed mode</a:t>
            </a:r>
            <a:endParaRPr lang="en-US" sz="1800" b="0" strike="noStrike" spc="-1">
              <a:latin typeface="Arial"/>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(1)</a:t>
            </a:r>
            <a:endParaRPr lang="en-US" sz="2400" b="0" strike="noStrike" spc="-1">
              <a:latin typeface="Arial"/>
            </a:endParaRPr>
          </a:p>
        </p:txBody>
      </p:sp>
      <p:sp>
        <p:nvSpPr>
          <p:cNvPr id="40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lang="en-US" sz="2000" b="1" strike="noStrike" spc="-1">
                <a:solidFill>
                  <a:srgbClr val="000000"/>
                </a:solidFill>
                <a:latin typeface="Arial"/>
              </a:rPr>
              <a:t>and</a:t>
            </a:r>
            <a:r>
              <a:rPr lang="en-US" sz="2000" b="0" strike="noStrike" spc="-1">
                <a:solidFill>
                  <a:srgbClr val="000000"/>
                </a:solidFill>
                <a:latin typeface="Arial"/>
              </a:rPr>
              <a:t> “heavy_urban” or “suburban” or “interurban” or “urban”; </a:t>
            </a:r>
            <a:r>
              <a:rPr lang="en-US" sz="2000" b="1" strike="noStrike" spc="-1">
                <a:solidFill>
                  <a:srgbClr val="000000"/>
                </a:solidFill>
                <a:latin typeface="Arial"/>
              </a:rPr>
              <a:t>or</a:t>
            </a:r>
            <a:r>
              <a:rPr lang="en-US" sz="2000" b="0" strike="noStrike" spc="-1">
                <a:solidFill>
                  <a:srgbClr val="000000"/>
                </a:solidFill>
                <a:latin typeface="Arial"/>
              </a:rPr>
              <a:t> the cycle contains “coach” (</a:t>
            </a:r>
            <a:r>
              <a:rPr lang="en-US" sz="2000" b="0" i="1" strike="noStrike" spc="-1">
                <a:solidFill>
                  <a:srgbClr val="000000"/>
                </a:solidFill>
                <a:latin typeface="Arial"/>
              </a:rPr>
              <a:t>case insensitive</a:t>
            </a:r>
            <a:r>
              <a:rPr lang="en-US" sz="2000" b="0" strike="noStrike" spc="-1">
                <a:solidFill>
                  <a:srgbClr val="000000"/>
                </a:solidFill>
                <a:latin typeface="Arial"/>
              </a:rPr>
              <a:t>)) the actuations file already contains the number of activations and the cycle time. For other cycles the filename without extension is used to lookup the activations in the .APAC file (</a:t>
            </a:r>
            <a:r>
              <a:rPr lang="en-US" sz="2000" b="0" i="1" strike="noStrike" spc="-1">
                <a:solidFill>
                  <a:srgbClr val="000000"/>
                </a:solidFill>
                <a:latin typeface="Arial"/>
              </a:rPr>
              <a:t>case sensitive</a:t>
            </a:r>
            <a:r>
              <a:rPr lang="en-US" sz="2000" b="0" strike="noStrike" spc="-1">
                <a:solidFill>
                  <a:srgbClr val="000000"/>
                </a:solidFill>
                <a:latin typeface="Arial"/>
              </a:rPr>
              <a:t>)</a:t>
            </a:r>
            <a:endParaRPr lang="en-US" sz="2000" b="0" strike="noStrike" spc="-1">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(2)</a:t>
            </a:r>
            <a:endParaRPr lang="en-US" sz="2400" b="0" strike="noStrike" spc="-1">
              <a:latin typeface="Arial"/>
            </a:endParaRPr>
          </a:p>
        </p:txBody>
      </p:sp>
      <p:sp>
        <p:nvSpPr>
          <p:cNvPr id="404" name="PlaceHolder 2"/>
          <p:cNvSpPr>
            <a:spLocks noGrp="1"/>
          </p:cNvSpPr>
          <p:nvPr>
            <p:ph/>
          </p:nvPr>
        </p:nvSpPr>
        <p:spPr>
          <a:xfrm>
            <a:off x="179640" y="1124640"/>
            <a:ext cx="8856360" cy="53280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.vmod file contains both, the fuel consumption calculated by VectoCore (per simulation interval) and AAUX (accumulated and per simulation interval).</a:t>
            </a:r>
            <a:br>
              <a:rPr sz="1800"/>
            </a:br>
            <a:r>
              <a:rPr lang="en-US" sz="1800" b="0" strike="noStrike" spc="-1">
                <a:solidFill>
                  <a:srgbClr val="000000"/>
                </a:solidFill>
                <a:latin typeface="Arial"/>
              </a:rPr>
              <a:t>Columns in .vmod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AA_TotalCycleFC_Grams [g]: accumulated fuel consumption as computed by the AAUX model, considering smart consumers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[g/h]: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[g/h]: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[g/h]: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[g/h]: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[g/h]: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(3)</a:t>
            </a:r>
            <a:endParaRPr lang="en-US" sz="2400" b="0" strike="noStrike" spc="-1">
              <a:latin typeface="Arial"/>
            </a:endParaRPr>
          </a:p>
        </p:txBody>
      </p:sp>
      <p:sp>
        <p:nvSpPr>
          <p:cNvPr id="406" name="PlaceHolder 2"/>
          <p:cNvSpPr>
            <a:spLocks noGrp="1"/>
          </p:cNvSpPr>
          <p:nvPr>
            <p:ph/>
          </p:nvPr>
        </p:nvSpPr>
        <p:spPr>
          <a:xfrm>
            <a:off x="251640" y="1628640"/>
            <a:ext cx="8640360" cy="46076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 .vsum</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Columns in .vsum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total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total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468360" y="570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3.0.3.537</a:t>
            </a:r>
            <a:br>
              <a:rPr sz="2400"/>
            </a:br>
            <a:r>
              <a:rPr lang="en-US" sz="1600" b="1" strike="noStrike" spc="-1">
                <a:solidFill>
                  <a:srgbClr val="990000"/>
                </a:solidFill>
                <a:latin typeface="Arial"/>
              </a:rPr>
              <a:t>2016-06-21</a:t>
            </a:r>
            <a:endParaRPr lang="en-US" sz="1600" b="0" strike="noStrike" spc="-1">
              <a:latin typeface="Arial"/>
            </a:endParaRPr>
          </a:p>
        </p:txBody>
      </p:sp>
      <p:sp>
        <p:nvSpPr>
          <p:cNvPr id="408" name="PlaceHolder 2"/>
          <p:cNvSpPr>
            <a:spLocks noGrp="1"/>
          </p:cNvSpPr>
          <p:nvPr>
            <p:ph/>
          </p:nvPr>
        </p:nvSpPr>
        <p:spPr>
          <a:xfrm>
            <a:off x="179640" y="1124640"/>
            <a:ext cx="878436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Plot shift lines as computed according to WB 2016 declaration mode in GUI</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Buttons to add/remove auxiliaries are visible again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calculation of WHTC correction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consider gearbox inertia (engineering mode) for searching operating point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Wrong output of road gradient in measured speed mode (correct gradient for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Fuel consumption in .vsum file now accounts for AdvancedAuxiliaries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GraphDrawer (Vecto): handle new .vmod format of Vecto 3</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AdvancedAuxiliaries: language-settings independent input parsing</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Paux was ignored when running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massive multithreaded execution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unhandled response during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output columns in .vmod</a:t>
            </a:r>
            <a:endParaRPr lang="en-US" sz="1800" b="0" strike="noStrike" spc="-1">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3.0.3.495</a:t>
            </a:r>
            <a:br>
              <a:rPr sz="2400"/>
            </a:br>
            <a:r>
              <a:rPr lang="en-US" sz="1600" b="1" strike="noStrike" spc="-1">
                <a:solidFill>
                  <a:srgbClr val="990000"/>
                </a:solidFill>
                <a:latin typeface="Arial"/>
              </a:rPr>
              <a:t>2016-05-10</a:t>
            </a:r>
            <a:endParaRPr lang="en-US" sz="1600" b="0" strike="noStrike" spc="-1">
              <a:latin typeface="Arial"/>
            </a:endParaRPr>
          </a:p>
        </p:txBody>
      </p:sp>
      <p:sp>
        <p:nvSpPr>
          <p:cNvPr id="41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Support for Advanced Auxiliaries (Ricardo) in Vecto 3.0.3 and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Performance improvements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Gearshift polygons according to WB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Revision of SUM-data file, changed order of columns, changed column headers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Delaunay Maps: additional check for duplicate input 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Creation of PDF Report when running multiple jobs at once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Sanity checks for gear shift lines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DriverStrategy: handling special cases</a:t>
            </a:r>
            <a:endParaRPr lang="en-US" sz="1800" b="0" strike="noStrike" spc="-1">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1" name="Grafik 6"/>
          <p:cNvPicPr/>
          <p:nvPr/>
        </p:nvPicPr>
        <p:blipFill>
          <a:blip r:embed="rId2"/>
          <a:stretch/>
        </p:blipFill>
        <p:spPr>
          <a:xfrm>
            <a:off x="971640" y="1049400"/>
            <a:ext cx="7488000" cy="4750200"/>
          </a:xfrm>
          <a:prstGeom prst="rect">
            <a:avLst/>
          </a:prstGeom>
          <a:ln w="0">
            <a:noFill/>
          </a:ln>
        </p:spPr>
      </p:pic>
      <p:sp>
        <p:nvSpPr>
          <p:cNvPr id="4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Performance Comparison</a:t>
            </a:r>
            <a:endParaRPr lang="en-US" sz="2400" b="0" strike="noStrike" spc="-1">
              <a:latin typeface="Arial"/>
            </a:endParaRPr>
          </a:p>
        </p:txBody>
      </p:sp>
      <p:sp>
        <p:nvSpPr>
          <p:cNvPr id="413" name="Textfeld 4"/>
          <p:cNvSpPr/>
          <p:nvPr/>
        </p:nvSpPr>
        <p:spPr>
          <a:xfrm rot="16200000">
            <a:off x="1162800" y="2851200"/>
            <a:ext cx="675720" cy="2570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100" b="0" strike="noStrike" spc="-1">
                <a:solidFill>
                  <a:srgbClr val="000000"/>
                </a:solidFill>
                <a:latin typeface="Arial"/>
                <a:ea typeface="DejaVu Sans"/>
              </a:rPr>
              <a:t>Time [s]</a:t>
            </a:r>
            <a:endParaRPr lang="en-US" sz="1100" b="0" strike="noStrike" spc="-1">
              <a:latin typeface="Arial"/>
            </a:endParaRPr>
          </a:p>
        </p:txBody>
      </p:sp>
      <p:sp>
        <p:nvSpPr>
          <p:cNvPr id="414" name="Textfeld 5"/>
          <p:cNvSpPr/>
          <p:nvPr/>
        </p:nvSpPr>
        <p:spPr>
          <a:xfrm>
            <a:off x="102240" y="5764680"/>
            <a:ext cx="8301960" cy="364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800" b="0" strike="noStrike" spc="-1">
                <a:solidFill>
                  <a:srgbClr val="000000"/>
                </a:solidFill>
                <a:latin typeface="Arial"/>
                <a:ea typeface="DejaVu Sans"/>
              </a:rPr>
              <a:t>Total execution time (15 runs in parallel):  Vecto 3.0.2: 6min 6s; </a:t>
            </a:r>
            <a:r>
              <a:rPr lang="en-US" sz="1800" b="1" strike="noStrike" spc="-1">
                <a:solidFill>
                  <a:srgbClr val="000000"/>
                </a:solidFill>
                <a:latin typeface="Arial"/>
                <a:ea typeface="DejaVu Sans"/>
              </a:rPr>
              <a:t>Vecto 3.0.3: 35s</a:t>
            </a:r>
            <a:endParaRPr lang="en-US" sz="1800" b="0" strike="noStrike" spc="-1">
              <a:latin typeface="Arial"/>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Rectangle 3"/>
          <p:cNvSpPr/>
          <p:nvPr/>
        </p:nvSpPr>
        <p:spPr>
          <a:xfrm>
            <a:off x="0" y="778680"/>
            <a:ext cx="9143280" cy="345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GB" sz="2800" b="1" strike="noStrike" spc="-1">
                <a:solidFill>
                  <a:srgbClr val="990000"/>
                </a:solidFill>
                <a:latin typeface="Arial"/>
                <a:ea typeface="DejaVu Sans"/>
              </a:rPr>
              <a:t>VECTO 3.0.2</a:t>
            </a:r>
            <a:br>
              <a:rPr sz="2800"/>
            </a:br>
            <a:r>
              <a:rPr lang="en-GB" sz="1600" b="1" strike="noStrike" spc="-1">
                <a:solidFill>
                  <a:srgbClr val="990000"/>
                </a:solidFill>
                <a:latin typeface="Arial"/>
                <a:ea typeface="DejaVu Sans"/>
              </a:rPr>
              <a:t>2016-03-11</a:t>
            </a:r>
            <a:endParaRPr lang="en-US" sz="1600" b="0" strike="noStrike" spc="-1">
              <a:latin typeface="Arial"/>
            </a:endParaRPr>
          </a:p>
        </p:txBody>
      </p:sp>
      <p:sp>
        <p:nvSpPr>
          <p:cNvPr id="416" name="Textfeld 5"/>
          <p:cNvSpPr/>
          <p:nvPr/>
        </p:nvSpPr>
        <p:spPr>
          <a:xfrm>
            <a:off x="251640" y="1124640"/>
            <a:ext cx="8496360" cy="5148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50000"/>
              </a:lnSpc>
              <a:spcBef>
                <a:spcPts val="601"/>
              </a:spcBef>
              <a:buNone/>
            </a:pPr>
            <a:r>
              <a:rPr lang="en-GB" sz="2000" b="1" strike="noStrike" spc="-1">
                <a:solidFill>
                  <a:srgbClr val="000000"/>
                </a:solidFill>
                <a:latin typeface="Arial"/>
                <a:ea typeface="DejaVu Sans"/>
              </a:rPr>
              <a:t>Main updates</a:t>
            </a:r>
            <a:endParaRPr lang="en-US" sz="2000" b="0" strike="noStrike" spc="-1">
              <a:latin typeface="Arial"/>
            </a:endParaRPr>
          </a:p>
          <a:p>
            <a:pPr marL="343080" indent="-343080">
              <a:lnSpc>
                <a:spcPct val="130000"/>
              </a:lnSpc>
              <a:spcBef>
                <a:spcPts val="601"/>
              </a:spcBef>
              <a:buClr>
                <a:srgbClr val="000000"/>
              </a:buClr>
              <a:buFont typeface="Arial"/>
              <a:buChar char="•"/>
            </a:pPr>
            <a:r>
              <a:rPr lang="en-GB" sz="1400" b="0" strike="noStrike" spc="-1">
                <a:solidFill>
                  <a:srgbClr val="000000"/>
                </a:solidFill>
                <a:latin typeface="Arial"/>
                <a:ea typeface="DejaVu Sans"/>
              </a:rPr>
              <a:t>New simulation modes: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Pwheel (SiCo),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Measured Speed (with/without gear)</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v_air/beta cross-wind correction (vcdb)</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Adaptations of powertrain components architecture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Move wheels inertia from vehicle to wheels</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Auxiliaries no longer connected via clutch to the engine but via a separate port</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Engine checks overload of gearbox and engine overload</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Fixed some driving behavior related issues in VectoCore: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When the vehicle comes to a halt during gear shift, instead of aborting the cycle, it tries to drive away again with an appropriate gear.</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ModData Format changed for better information and clarity</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Added validation of input values (according to latest VectoInputParameters.xls)</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Various bugfixes</a:t>
            </a:r>
            <a:endParaRPr lang="en-US" sz="1400" b="0" strike="noStrike" spc="-1">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Pwheel (SiCo) Mode</a:t>
            </a:r>
            <a:endParaRPr lang="en-US" sz="2400" b="0" strike="noStrike" spc="-1">
              <a:latin typeface="Arial"/>
            </a:endParaRPr>
          </a:p>
        </p:txBody>
      </p:sp>
      <p:sp>
        <p:nvSpPr>
          <p:cNvPr id="41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 as already available in Vecto 2.2 also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specifies power at wheel, engine speed, gear, and auxiliary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creating reference results for SiCo tests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Simulation Models / Pwheel Input (SiCo)</a:t>
            </a:r>
            <a:endParaRPr lang="en-US" sz="1800" b="0" strike="noStrike" spc="-1">
              <a:latin typeface="Arial"/>
            </a:endParaRPr>
          </a:p>
          <a:p>
            <a:pPr>
              <a:lnSpc>
                <a:spcPct val="100000"/>
              </a:lnSpc>
              <a:buNone/>
            </a:pPr>
            <a:endParaRPr lang="en-US" sz="1800" b="0" strike="noStrike" spc="-1">
              <a:latin typeface="Arial"/>
            </a:endParaRPr>
          </a:p>
          <a:p>
            <a:pPr>
              <a:lnSpc>
                <a:spcPct val="100000"/>
              </a:lnSpc>
              <a:spcBef>
                <a:spcPts val="400"/>
              </a:spcBef>
              <a:buNone/>
            </a:pPr>
            <a:endParaRPr lang="en-US" sz="2000" b="0" strike="noStrike" spc="-1">
              <a:latin typeface="Arial"/>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Measured Speed Mode</a:t>
            </a:r>
            <a:endParaRPr lang="en-US" sz="2400" b="0" strike="noStrike" spc="-1">
              <a:latin typeface="Arial"/>
            </a:endParaRPr>
          </a:p>
        </p:txBody>
      </p:sp>
      <p:sp>
        <p:nvSpPr>
          <p:cNvPr id="42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Functionality already available in Vecto 2.2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not defined by target speed but by actual speed. 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 and engine speed can be specified in the driving cycle. In this case 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“proof of concept” purposes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Calculation Modes / Engineering Mode / Measured Speed</a:t>
            </a:r>
            <a:endParaRPr lang="en-US" sz="1800" b="0" strike="noStrike" spc="-1">
              <a:latin typeface="Arial"/>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.vmod File Update</a:t>
            </a:r>
            <a:endParaRPr lang="en-US" sz="2400" b="0" strike="noStrike" spc="-1">
              <a:latin typeface="Arial"/>
            </a:endParaRPr>
          </a:p>
        </p:txBody>
      </p:sp>
      <p:sp>
        <p:nvSpPr>
          <p:cNvPr id="42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details see the user manual: Input and Output / Modal Results (.vmod)</a:t>
            </a:r>
            <a:endParaRPr lang="en-US" sz="2000" b="0" strike="noStrike" spc="-1">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Changelog 3.0.2</a:t>
            </a:r>
            <a:endParaRPr lang="en-US" sz="2400" b="0" strike="noStrike" spc="-1">
              <a:latin typeface="Arial"/>
            </a:endParaRPr>
          </a:p>
        </p:txBody>
      </p:sp>
      <p:sp>
        <p:nvSpPr>
          <p:cNvPr id="42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simulation modes: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 with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Pwheel (SiCo)</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Adaptations of powertrain components architecture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Move wheels inertia from vehicle to wheels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Auxiliaries no longer connected via clutch to the engine but via a separate port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Engine checks overload of gearbox and engine overload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Fixed some driving behavior related issues in VectoCore: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When the vehicle comes to a halt during gear shift, instead of aborting the cycle, it tries to drive away again with an appropriate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[ModData Format](#modal-results-.vmod) changed for better information and clarity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Entries in the sum-file are sorted in the same way as in Vecto 2.2</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In engineering mode the execution mode (distance-based, time-based measured speed, time-based measured speed with gear, engine only) are detected based on the cycle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Added validation of input values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Gravity constant set to 9.80665 (NIST standard acceleration for gravity)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Improved input data handling: sort input values of full-load curves (engine, gbx, retarder)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Better Integration of VectoCore into GUI (Notifications and Messages)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v_air/beta cross-wind correction (vcdb) impemented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For all calculations the averaged values of the current simulation step are used for interpolations in loss-maps.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Allow extrapolation of loss maps in engineering mode (warnings)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input data handling: separate InputDataProvider interfaces for model data</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result handling: separate result container and output writer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Long-Haul driving cycle included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User Manual updated for VECTO V3.x</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 sparse representation of declaration cycles had some missing entries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computation of engine's preferred speed </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wrong vehicle class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duplicate entries in intersected full-load curves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retarder takes the retarder ratio into account for lossmap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use unique identifier for jobs in job list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triagulation of fuel consumption map</a:t>
            </a:r>
            <a:endParaRPr lang="en-US" sz="800" b="0" strike="noStrike" spc="-1">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16978</Words>
  <Application>Microsoft Office PowerPoint</Application>
  <PresentationFormat>Bildschirmpräsentation (4:3)</PresentationFormat>
  <Paragraphs>1765</Paragraphs>
  <Slides>145</Slides>
  <Notes>0</Notes>
  <HiddenSlides>0</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145</vt:i4>
      </vt:variant>
    </vt:vector>
  </HeadingPairs>
  <TitlesOfParts>
    <vt:vector size="157" baseType="lpstr">
      <vt:lpstr>Microsoft YaHei</vt:lpstr>
      <vt:lpstr>Arial</vt:lpstr>
      <vt:lpstr>Calibri</vt:lpstr>
      <vt:lpstr>Cambria Math</vt:lpstr>
      <vt:lpstr>Courier New</vt:lpstr>
      <vt:lpstr>DejaVu Sans</vt:lpstr>
      <vt:lpstr>Symbol</vt:lpstr>
      <vt:lpstr>Times New Roman</vt:lpstr>
      <vt:lpstr>Verdana</vt:lpstr>
      <vt:lpstr>Wingdings</vt:lpstr>
      <vt:lpstr>Office Theme</vt:lpstr>
      <vt:lpstr>Office Theme</vt:lpstr>
      <vt:lpstr>PowerPoint-Präsentation</vt:lpstr>
      <vt:lpstr>Vecto 0.7.10.2995  Development Version  March 2023</vt:lpstr>
      <vt:lpstr>Declaration Mode Lorries – Overview (1/2)</vt:lpstr>
      <vt:lpstr>Declaration Mode Lorries – Overview (2/2)</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parametrisation P-HEV strategy </vt:lpstr>
      <vt:lpstr>DECL Lorries – Generic parametrisation P-HEV strategy </vt:lpstr>
      <vt:lpstr>DECL Lorries – Generic parametrisation P-HEV strategy </vt:lpstr>
      <vt:lpstr>Updated P-HEV gear shift model (DECL + ENG) </vt:lpstr>
      <vt:lpstr>Updated P-HEV gear shift model (DECL + ENG) </vt:lpstr>
      <vt:lpstr>Updated time-based with gear mode for AT (ENG only)​</vt:lpstr>
      <vt:lpstr>DECL Lorries – Generic parametrisation usable SOC range</vt:lpstr>
      <vt:lpstr>DECL Lorries – Separate approach „CD mode“ simulation</vt:lpstr>
      <vt:lpstr>DECL Lorries – Calculation EC at “battery terminals”</vt:lpstr>
      <vt:lpstr>DECL Lorries – Calculation EC at “battery terminals”</vt:lpstr>
      <vt:lpstr>DECL Lorries – Calculation EC at “battery terminals”</vt:lpstr>
      <vt:lpstr>DECL Lorries – Calculation EC at “battery terminals”</vt:lpstr>
      <vt:lpstr>DECL Lorries – Automation of OVC-HEV simulation</vt:lpstr>
      <vt:lpstr>DECL Lorries – Automation of OVC-HEV simulation</vt:lpstr>
      <vt:lpstr>DECL Lorries – Range calculations</vt:lpstr>
      <vt:lpstr>DECL Lorries – Automation of OVC-HEV simulation</vt:lpstr>
      <vt:lpstr>DECL Lorries – Automation of OVC-HEV simulation - EX</vt:lpstr>
      <vt:lpstr>DECL Lorries – Automation of OVC-HEV simulation - EX</vt:lpstr>
      <vt:lpstr>DECL Lorries – Generic e-PTO in MUN cycle</vt:lpstr>
      <vt:lpstr>DECL Lorries – Known issues with current version</vt:lpstr>
      <vt:lpstr>DECL Lorries – Testing requests and organ. of feedback</vt:lpstr>
      <vt:lpstr>Vecto 0.7.9.2864 JRC Development Version  November 2022</vt:lpstr>
      <vt:lpstr>Vecto 0.7.9.2741 Development Version June 2022</vt:lpstr>
      <vt:lpstr>Modeling of IEPC component</vt:lpstr>
      <vt:lpstr>Peculiarities of IEPC</vt:lpstr>
      <vt:lpstr>Input data for IEPC component</vt:lpstr>
      <vt:lpstr>Input data for IEPC component</vt:lpstr>
      <vt:lpstr>Input data for IEPC component</vt:lpstr>
      <vt:lpstr>IEPC Input Form</vt:lpstr>
      <vt:lpstr>Gearbox Form for IEPC Vehicles</vt:lpstr>
      <vt:lpstr>Modeling of IHPC component</vt:lpstr>
      <vt:lpstr>Input data for IHPC component</vt:lpstr>
      <vt:lpstr>Input data for IHPC component</vt:lpstr>
      <vt:lpstr>Input data for IHPC component</vt:lpstr>
      <vt:lpstr>IHPC Input Form</vt:lpstr>
      <vt:lpstr>Adaptations Serial Hybrid Strategy  (1/3)</vt:lpstr>
      <vt:lpstr>Adaptations Serial Hybrid Strategy  (2/3)</vt:lpstr>
      <vt:lpstr>Adaptations Serial Hybrid Strategy  (3/3)</vt:lpstr>
      <vt:lpstr>SoC Correction for HEV-S</vt:lpstr>
      <vt:lpstr>Vecto 0.7.8.2679 Development Version April 2022</vt:lpstr>
      <vt:lpstr>Serial Hybrid Implementation</vt:lpstr>
      <vt:lpstr>Serial Hybrids: GenSet Pre-Processing</vt:lpstr>
      <vt:lpstr>Serial Hybrid Strategy (main principles)</vt:lpstr>
      <vt:lpstr>Serial Hybrids: GenSet</vt:lpstr>
      <vt:lpstr>Serial Hybrid Strategy Parameters</vt:lpstr>
      <vt:lpstr>PowerPoint-Präsentation</vt:lpstr>
      <vt:lpstr>EM: overload buffer calculated from both voltage levels</vt:lpstr>
      <vt:lpstr>Consider gearbox MaxTorque limits for HEV</vt:lpstr>
      <vt:lpstr>Vecto 0.7.8.xxx Development Version April 2022</vt:lpstr>
      <vt:lpstr>Vecto 0.7.8.xxx Development Version April 2022</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subject/>
  <dc:creator>martinrexeis</dc:creator>
  <dc:description/>
  <cp:lastModifiedBy>Martini Harald</cp:lastModifiedBy>
  <cp:revision>1301</cp:revision>
  <cp:lastPrinted>2013-01-22T12:03:30Z</cp:lastPrinted>
  <dcterms:created xsi:type="dcterms:W3CDTF">2010-01-07T15:28:02Z</dcterms:created>
  <dcterms:modified xsi:type="dcterms:W3CDTF">2023-03-15T15:18:21Z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