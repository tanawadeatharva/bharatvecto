
<file path=[Content_Types].xml><?xml version="1.0" encoding="utf-8"?>
<Types xmlns="http://schemas.openxmlformats.org/package/2006/content-types">
  <Default Extension="png" ContentType="image/png"/>
  <Default Extension="wmf" ContentType="image/x-w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1"/>
  </p:notesMasterIdLst>
  <p:handoutMasterIdLst>
    <p:handoutMasterId r:id="rId42"/>
  </p:handoutMasterIdLst>
  <p:sldIdLst>
    <p:sldId id="575" r:id="rId2"/>
    <p:sldId id="677" r:id="rId3"/>
    <p:sldId id="679" r:id="rId4"/>
    <p:sldId id="678" r:id="rId5"/>
    <p:sldId id="671" r:id="rId6"/>
    <p:sldId id="676" r:id="rId7"/>
    <p:sldId id="675" r:id="rId8"/>
    <p:sldId id="674" r:id="rId9"/>
    <p:sldId id="673" r:id="rId10"/>
    <p:sldId id="672" r:id="rId11"/>
    <p:sldId id="669" r:id="rId12"/>
    <p:sldId id="670" r:id="rId13"/>
    <p:sldId id="664" r:id="rId14"/>
    <p:sldId id="666" r:id="rId15"/>
    <p:sldId id="667" r:id="rId16"/>
    <p:sldId id="668" r:id="rId17"/>
    <p:sldId id="665" r:id="rId18"/>
    <p:sldId id="663" r:id="rId19"/>
    <p:sldId id="661" r:id="rId20"/>
    <p:sldId id="662" r:id="rId21"/>
    <p:sldId id="657" r:id="rId22"/>
    <p:sldId id="659" r:id="rId23"/>
    <p:sldId id="660" r:id="rId24"/>
    <p:sldId id="656" r:id="rId25"/>
    <p:sldId id="655" r:id="rId26"/>
    <p:sldId id="654" r:id="rId27"/>
    <p:sldId id="653" r:id="rId28"/>
    <p:sldId id="651" r:id="rId29"/>
    <p:sldId id="648" r:id="rId30"/>
    <p:sldId id="649" r:id="rId31"/>
    <p:sldId id="650" r:id="rId32"/>
    <p:sldId id="645" r:id="rId33"/>
    <p:sldId id="647" r:id="rId34"/>
    <p:sldId id="646" r:id="rId35"/>
    <p:sldId id="640" r:id="rId36"/>
    <p:sldId id="641" r:id="rId37"/>
    <p:sldId id="642" r:id="rId38"/>
    <p:sldId id="643" r:id="rId39"/>
    <p:sldId id="644" r:id="rId40"/>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05" d="100"/>
          <a:sy n="105" d="100"/>
        </p:scale>
        <p:origin x="1710" y="102"/>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handoutMaster" Target="handoutMasters/handoutMaster1.xml"/><Relationship Id="rId47"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commentAuthors" Target="commen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4.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w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031" name="Rectangle 25"/>
          <p:cNvSpPr>
            <a:spLocks noChangeArrowheads="1"/>
          </p:cNvSpPr>
          <p:nvPr userDrawn="1"/>
        </p:nvSpPr>
        <p:spPr bwMode="auto">
          <a:xfrm>
            <a:off x="0" y="6373813"/>
            <a:ext cx="9144000" cy="215900"/>
          </a:xfrm>
          <a:prstGeom prst="rect">
            <a:avLst/>
          </a:prstGeom>
          <a:solidFill>
            <a:srgbClr val="DDDDDD"/>
          </a:solidFill>
          <a:ln w="63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p>
            <a:pPr algn="l">
              <a:spcBef>
                <a:spcPct val="0"/>
              </a:spcBef>
            </a:pPr>
            <a:endParaRPr lang="en-GB" sz="1200">
              <a:latin typeface="Verdana" pitchFamily="34" charset="0"/>
            </a:endParaRPr>
          </a:p>
        </p:txBody>
      </p:sp>
      <p:pic>
        <p:nvPicPr>
          <p:cNvPr id="1032" name="Picture 26" descr="logo"/>
          <p:cNvPicPr>
            <a:picLocks noChangeAspect="1" noChangeArrowheads="1"/>
          </p:cNvPicPr>
          <p:nvPr userDrawn="1"/>
        </p:nvPicPr>
        <p:blipFill>
          <a:blip r:embed="rId15" cstate="print">
            <a:extLst>
              <a:ext uri="{28A0092B-C50C-407E-A947-70E740481C1C}">
                <a14:useLocalDpi xmlns:a14="http://schemas.microsoft.com/office/drawing/2010/main" val="0"/>
              </a:ext>
            </a:extLst>
          </a:blip>
          <a:srcRect/>
          <a:stretch>
            <a:fillRect/>
          </a:stretch>
        </p:blipFill>
        <p:spPr bwMode="auto">
          <a:xfrm>
            <a:off x="8532442" y="152075"/>
            <a:ext cx="504056" cy="185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33" name="Picture 27" descr="IVT_Logo_klein"/>
          <p:cNvPicPr>
            <a:picLocks noChangeAspect="1" noChangeArrowheads="1"/>
          </p:cNvPicPr>
          <p:nvPr userDrawn="1"/>
        </p:nvPicPr>
        <p:blipFill>
          <a:blip r:embed="rId16" cstate="print">
            <a:extLst>
              <a:ext uri="{28A0092B-C50C-407E-A947-70E740481C1C}">
                <a14:useLocalDpi xmlns:a14="http://schemas.microsoft.com/office/drawing/2010/main" val="0"/>
              </a:ext>
            </a:extLst>
          </a:blip>
          <a:srcRect/>
          <a:stretch>
            <a:fillRect/>
          </a:stretch>
        </p:blipFill>
        <p:spPr bwMode="auto">
          <a:xfrm>
            <a:off x="8100392" y="188640"/>
            <a:ext cx="310830" cy="1493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35" name="Rectangle 29"/>
          <p:cNvSpPr>
            <a:spLocks noChangeAspect="1" noChangeArrowheads="1"/>
          </p:cNvSpPr>
          <p:nvPr userDrawn="1"/>
        </p:nvSpPr>
        <p:spPr bwMode="auto">
          <a:xfrm>
            <a:off x="0" y="6373813"/>
            <a:ext cx="215900" cy="214312"/>
          </a:xfrm>
          <a:prstGeom prst="rect">
            <a:avLst/>
          </a:prstGeom>
          <a:solidFill>
            <a:srgbClr val="F7014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spcBef>
                <a:spcPct val="30000"/>
              </a:spcBef>
            </a:pPr>
            <a:endParaRPr lang="en-GB" sz="2000"/>
          </a:p>
        </p:txBody>
      </p:sp>
      <p:sp>
        <p:nvSpPr>
          <p:cNvPr id="13" name="Text Box 30"/>
          <p:cNvSpPr txBox="1">
            <a:spLocks noChangeArrowheads="1"/>
          </p:cNvSpPr>
          <p:nvPr userDrawn="1"/>
        </p:nvSpPr>
        <p:spPr bwMode="auto">
          <a:xfrm>
            <a:off x="215900" y="6381328"/>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descr="I:\raphaelluz\VECTO\source\VECTO\User Manual\pics\JRC.png"/>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6588224" y="44624"/>
            <a:ext cx="1367520" cy="284378"/>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8">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3.x</a:t>
            </a:r>
            <a:endParaRPr lang="en-US" sz="3200" dirty="0">
              <a:solidFill>
                <a:srgbClr val="990000"/>
              </a:solidFill>
            </a:endParaRPr>
          </a:p>
          <a:p>
            <a:pPr eaLnBrk="1" hangingPunct="1"/>
            <a:r>
              <a:rPr lang="en-US" sz="2000" dirty="0" smtClean="0">
                <a:solidFill>
                  <a:srgbClr val="990000"/>
                </a:solidFill>
              </a:rPr>
              <a:t>04.12.2018</a:t>
            </a:r>
            <a:endParaRPr lang="en-US" sz="2000" dirty="0" smtClean="0">
              <a:solidFill>
                <a:srgbClr val="990000"/>
              </a:solidFill>
            </a:endParaRP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3.3.0.1433 </a:t>
            </a:r>
            <a:r>
              <a:rPr lang="en-US" dirty="0" smtClean="0"/>
              <a:t>Official Release</a:t>
            </a:r>
            <a:r>
              <a:rPr lang="en-US" dirty="0"/>
              <a:t/>
            </a:r>
            <a:br>
              <a:rPr lang="en-US" dirty="0"/>
            </a:br>
            <a:r>
              <a:rPr lang="en-US" sz="1600" dirty="0" smtClean="0"/>
              <a:t>2018-12-04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3.3.0.1398)</a:t>
            </a:r>
          </a:p>
          <a:p>
            <a:pPr lvl="1">
              <a:tabLst>
                <a:tab pos="1885950" algn="l"/>
              </a:tabLst>
            </a:pPr>
            <a:r>
              <a:rPr lang="en-US" sz="1600" dirty="0" smtClean="0"/>
              <a:t>[VECTO-795] – VECTO Hashing Tool </a:t>
            </a:r>
            <a:r>
              <a:rPr lang="en-US" sz="1600" dirty="0" smtClean="0"/>
              <a:t>crashes</a:t>
            </a:r>
          </a:p>
          <a:p>
            <a:pPr lvl="1">
              <a:tabLst>
                <a:tab pos="1885950" algn="l"/>
              </a:tabLst>
            </a:pPr>
            <a:r>
              <a:rPr lang="en-US" sz="1600" dirty="0"/>
              <a:t>[VECTO-802] –</a:t>
            </a:r>
            <a:r>
              <a:rPr lang="en-US" sz="1600" dirty="0" smtClean="0"/>
              <a:t> </a:t>
            </a:r>
            <a:r>
              <a:rPr lang="en-US" sz="1600" dirty="0"/>
              <a:t>Error in XML schema for manufacturer's record </a:t>
            </a:r>
            <a:r>
              <a:rPr lang="en-US" sz="1600" dirty="0" smtClean="0"/>
              <a:t>file</a:t>
            </a:r>
            <a:endParaRPr lang="en-US" sz="1600" dirty="0" smtClean="0"/>
          </a:p>
          <a:p>
            <a:pPr>
              <a:tabLst>
                <a:tab pos="1885950" algn="l"/>
              </a:tabLst>
            </a:pPr>
            <a:r>
              <a:rPr lang="en-US" sz="1800" b="1" dirty="0" err="1" smtClean="0"/>
              <a:t>Bugfixes</a:t>
            </a:r>
            <a:r>
              <a:rPr lang="en-US" sz="1800" b="1" dirty="0" smtClean="0"/>
              <a:t> (compared to 3.3.0.1250)</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 (compared to 3.3.0.1250)</a:t>
            </a:r>
            <a:endParaRPr lang="en-US" sz="1600" b="1" dirty="0"/>
          </a:p>
          <a:p>
            <a:pPr lvl="1">
              <a:tabLst>
                <a:tab pos="1885950" algn="l"/>
              </a:tabLst>
            </a:pPr>
            <a:r>
              <a:rPr lang="en-US" sz="1400" dirty="0"/>
              <a:t>[VECTO-704] - Allow VTP-simulations for AT </a:t>
            </a:r>
            <a:r>
              <a:rPr lang="en-US" sz="1400" dirty="0" smtClean="0"/>
              <a:t>gearboxes</a:t>
            </a:r>
            <a:endParaRPr lang="en-US" sz="1800" b="1" dirty="0"/>
          </a:p>
        </p:txBody>
      </p:sp>
    </p:spTree>
    <p:extLst>
      <p:ext uri="{BB962C8B-B14F-4D97-AF65-F5344CB8AC3E}">
        <p14:creationId xmlns:p14="http://schemas.microsoft.com/office/powerpoint/2010/main" val="486230827"/>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3.3.0.1398 Release </a:t>
            </a:r>
            <a:r>
              <a:rPr lang="en-US" dirty="0" err="1" smtClean="0"/>
              <a:t>Candiate</a:t>
            </a:r>
            <a:r>
              <a:rPr lang="en-US" dirty="0"/>
              <a:t/>
            </a:r>
            <a:br>
              <a:rPr lang="en-US" dirty="0"/>
            </a:br>
            <a:r>
              <a:rPr lang="en-US" sz="1600" dirty="0" smtClean="0"/>
              <a:t>2018-10-30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400" dirty="0" smtClean="0"/>
              <a:t>[</a:t>
            </a:r>
            <a:r>
              <a:rPr lang="en-US" sz="1400" dirty="0"/>
              <a:t>VECTO-665] - Adding style information to XML Reports</a:t>
            </a:r>
          </a:p>
          <a:p>
            <a:pPr lvl="1">
              <a:tabLst>
                <a:tab pos="1885950" algn="l"/>
              </a:tabLst>
            </a:pPr>
            <a:r>
              <a:rPr lang="en-US" sz="1400" dirty="0" smtClean="0"/>
              <a:t>[</a:t>
            </a:r>
            <a:r>
              <a:rPr lang="en-US" sz="1400" dirty="0"/>
              <a:t>VECTO-669] - Group 1 vehicle comprises vehicles with gross vehicle weight &gt; 7.5t</a:t>
            </a:r>
          </a:p>
          <a:p>
            <a:pPr lvl="1">
              <a:tabLst>
                <a:tab pos="1885950" algn="l"/>
              </a:tabLst>
            </a:pPr>
            <a:r>
              <a:rPr lang="en-US" sz="1400" dirty="0" smtClean="0"/>
              <a:t>[</a:t>
            </a:r>
            <a:r>
              <a:rPr lang="en-US" sz="1400" dirty="0"/>
              <a:t>VECTO-672] - Keep manual choice for "Validate data"</a:t>
            </a:r>
          </a:p>
          <a:p>
            <a:pPr lvl="1">
              <a:tabLst>
                <a:tab pos="1885950" algn="l"/>
              </a:tabLst>
            </a:pPr>
            <a:r>
              <a:rPr lang="en-US" sz="1400" dirty="0" smtClean="0"/>
              <a:t>[</a:t>
            </a:r>
            <a:r>
              <a:rPr lang="en-US" sz="1400" dirty="0"/>
              <a:t>VECTO-682] - VTP Simulation in declaration mode</a:t>
            </a:r>
          </a:p>
          <a:p>
            <a:pPr lvl="1">
              <a:tabLst>
                <a:tab pos="1885950" algn="l"/>
              </a:tabLst>
            </a:pPr>
            <a:r>
              <a:rPr lang="en-US" sz="1400" dirty="0" smtClean="0"/>
              <a:t>[</a:t>
            </a:r>
            <a:r>
              <a:rPr lang="en-US" sz="1400" dirty="0"/>
              <a:t>VECTO-652] - VTP: Check Cycle matches simulation mode</a:t>
            </a:r>
          </a:p>
          <a:p>
            <a:pPr lvl="1">
              <a:tabLst>
                <a:tab pos="1885950" algn="l"/>
              </a:tabLst>
            </a:pPr>
            <a:r>
              <a:rPr lang="en-US" sz="1400" dirty="0" smtClean="0"/>
              <a:t>[</a:t>
            </a:r>
            <a:r>
              <a:rPr lang="en-US" sz="1400" dirty="0"/>
              <a:t>VECTO-683] - VTP: Quality and plausibility checks for recorded data from VTP</a:t>
            </a:r>
          </a:p>
          <a:p>
            <a:pPr lvl="1">
              <a:tabLst>
                <a:tab pos="1885950" algn="l"/>
              </a:tabLst>
            </a:pPr>
            <a:r>
              <a:rPr lang="en-US" sz="1400" dirty="0" smtClean="0"/>
              <a:t>[</a:t>
            </a:r>
            <a:r>
              <a:rPr lang="en-US" sz="1400" dirty="0"/>
              <a:t>VECTO-685] - VTP Programming of standard VECTO VTP report</a:t>
            </a:r>
          </a:p>
          <a:p>
            <a:pPr lvl="1">
              <a:tabLst>
                <a:tab pos="1885950" algn="l"/>
              </a:tabLst>
            </a:pPr>
            <a:r>
              <a:rPr lang="en-US" sz="1400" dirty="0" smtClean="0"/>
              <a:t>[</a:t>
            </a:r>
            <a:r>
              <a:rPr lang="en-US" sz="1400" dirty="0"/>
              <a:t>VECTO-689] - Additional </a:t>
            </a:r>
            <a:r>
              <a:rPr lang="en-US" sz="1400" dirty="0" err="1"/>
              <a:t>Tyre</a:t>
            </a:r>
            <a:r>
              <a:rPr lang="en-US" sz="1400" dirty="0"/>
              <a:t> sizes</a:t>
            </a:r>
          </a:p>
          <a:p>
            <a:pPr lvl="1">
              <a:tabLst>
                <a:tab pos="1885950" algn="l"/>
              </a:tabLst>
            </a:pPr>
            <a:r>
              <a:rPr lang="en-US" sz="1400" dirty="0" smtClean="0"/>
              <a:t>[</a:t>
            </a:r>
            <a:r>
              <a:rPr lang="en-US" sz="1400" dirty="0"/>
              <a:t>VECTO-702] - Hashing tool: adapt warnings</a:t>
            </a:r>
          </a:p>
          <a:p>
            <a:pPr lvl="1">
              <a:tabLst>
                <a:tab pos="1885950" algn="l"/>
              </a:tabLst>
            </a:pPr>
            <a:r>
              <a:rPr lang="en-US" sz="1400" dirty="0" smtClean="0"/>
              <a:t>[</a:t>
            </a:r>
            <a:r>
              <a:rPr lang="en-US" sz="1400" dirty="0"/>
              <a:t>VECTO-667] - Removing NCV Correction Factor</a:t>
            </a:r>
          </a:p>
          <a:p>
            <a:pPr lvl="1">
              <a:tabLst>
                <a:tab pos="1885950" algn="l"/>
              </a:tabLst>
            </a:pPr>
            <a:r>
              <a:rPr lang="en-US" sz="1400" dirty="0" smtClean="0"/>
              <a:t>[</a:t>
            </a:r>
            <a:r>
              <a:rPr lang="en-US" sz="1400" dirty="0"/>
              <a:t>VECTO-679] - Engine n95h computation gives wrong (too high) engine speed (above measured FLD, n70h)</a:t>
            </a:r>
          </a:p>
          <a:p>
            <a:pPr lvl="1">
              <a:tabLst>
                <a:tab pos="1885950" algn="l"/>
              </a:tabLst>
            </a:pPr>
            <a:r>
              <a:rPr lang="en-US" sz="1400" dirty="0" smtClean="0"/>
              <a:t>[</a:t>
            </a:r>
            <a:r>
              <a:rPr lang="en-US" sz="1400" dirty="0"/>
              <a:t>VECTO-693] - extend vehicle performance in manufacturer </a:t>
            </a:r>
            <a:r>
              <a:rPr lang="en-US" sz="1400" dirty="0" smtClean="0"/>
              <a:t>record</a:t>
            </a:r>
            <a:endParaRPr lang="en-US" sz="1800" b="1" dirty="0"/>
          </a:p>
        </p:txBody>
      </p:sp>
    </p:spTree>
    <p:extLst>
      <p:ext uri="{BB962C8B-B14F-4D97-AF65-F5344CB8AC3E}">
        <p14:creationId xmlns:p14="http://schemas.microsoft.com/office/powerpoint/2010/main" val="151990564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VECTO-656] - Distance computation in </a:t>
            </a:r>
            <a:r>
              <a:rPr lang="en-US" sz="1400" dirty="0" err="1"/>
              <a:t>vsum</a:t>
            </a:r>
            <a:endParaRPr lang="en-US" sz="1400" dirty="0"/>
          </a:p>
          <a:p>
            <a:pPr lvl="1">
              <a:tabLst>
                <a:tab pos="1885950" algn="l"/>
              </a:tabLst>
            </a:pPr>
            <a:r>
              <a:rPr lang="en-US" sz="1400" dirty="0" smtClean="0"/>
              <a:t>[</a:t>
            </a: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smtClean="0"/>
              <a:t>[</a:t>
            </a:r>
            <a:r>
              <a:rPr lang="en-US" sz="1400" dirty="0"/>
              <a:t>VECTO-687] - Saving a Engine-Only Job is not possible</a:t>
            </a:r>
          </a:p>
          <a:p>
            <a:pPr lvl="1">
              <a:tabLst>
                <a:tab pos="1885950" algn="l"/>
              </a:tabLst>
            </a:pPr>
            <a:r>
              <a:rPr lang="en-US" sz="1400" dirty="0" smtClean="0"/>
              <a:t>[</a:t>
            </a:r>
            <a:r>
              <a:rPr lang="en-US" sz="1400" dirty="0"/>
              <a:t>VECTO-695] - Bug in vectocmd.exe - process does not terminate</a:t>
            </a:r>
          </a:p>
          <a:p>
            <a:pPr lvl="1">
              <a:tabLst>
                <a:tab pos="1885950" algn="l"/>
              </a:tabLst>
            </a:pPr>
            <a:r>
              <a:rPr lang="en-US" sz="1400" dirty="0" smtClean="0"/>
              <a:t>[</a:t>
            </a:r>
            <a:r>
              <a:rPr lang="en-US" sz="1400" dirty="0"/>
              <a:t>VECTO-699] - Output in manufacturer report and customer report (VECTO) uses different units than described in legislation</a:t>
            </a:r>
          </a:p>
          <a:p>
            <a:pPr lvl="1">
              <a:tabLst>
                <a:tab pos="1885950" algn="l"/>
              </a:tabLst>
            </a:pPr>
            <a:r>
              <a:rPr lang="en-US" sz="1400" dirty="0" smtClean="0"/>
              <a:t>[</a:t>
            </a: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3.2.1.1133</a:t>
            </a:r>
            <a:r>
              <a:rPr lang="en-US" dirty="0"/>
              <a:t/>
            </a:r>
            <a:br>
              <a:rPr lang="en-US" dirty="0"/>
            </a:br>
            <a:r>
              <a:rPr lang="en-US" sz="1600" dirty="0" smtClean="0"/>
              <a:t>2018-02-07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smtClean="0"/>
              <a:t>Bugfixes</a:t>
            </a:r>
            <a:endParaRPr lang="en-US" sz="1800" b="1" dirty="0" smtClean="0"/>
          </a:p>
          <a:p>
            <a:pPr lvl="1">
              <a:tabLst>
                <a:tab pos="1885950" algn="l"/>
              </a:tabLst>
            </a:pPr>
            <a:r>
              <a:rPr lang="en-US" sz="1400" dirty="0" smtClean="0">
                <a:ea typeface="+mn-ea"/>
                <a:cs typeface="+mn-cs"/>
              </a:rPr>
              <a:t>[</a:t>
            </a:r>
            <a:r>
              <a:rPr lang="en-US" sz="1400" dirty="0">
                <a:ea typeface="+mn-ea"/>
                <a:cs typeface="+mn-cs"/>
              </a:rPr>
              <a:t>VECTO-642] - VECTO BUG – secondary retarder losses: </a:t>
            </a:r>
            <a:r>
              <a:rPr lang="en-US" sz="1400" dirty="0" smtClean="0">
                <a:ea typeface="+mn-ea"/>
                <a:cs typeface="+mn-cs"/>
              </a:rPr>
              <a:t/>
            </a:r>
            <a:br>
              <a:rPr lang="en-US" sz="1400" dirty="0" smtClean="0">
                <a:ea typeface="+mn-ea"/>
                <a:cs typeface="+mn-cs"/>
              </a:rPr>
            </a:br>
            <a:r>
              <a:rPr lang="en-US" sz="1400" b="1" dirty="0" smtClean="0">
                <a:ea typeface="+mn-ea"/>
                <a:cs typeface="+mn-cs"/>
              </a:rPr>
              <a:t>IMPORTANT:</a:t>
            </a:r>
            <a:r>
              <a:rPr lang="en-US" sz="1400" dirty="0" smtClean="0">
                <a:ea typeface="+mn-ea"/>
                <a:cs typeface="+mn-cs"/>
              </a:rPr>
              <a:t> </a:t>
            </a:r>
            <a:r>
              <a:rPr lang="en-US" sz="1400" dirty="0">
                <a:ea typeface="+mn-ea"/>
                <a:cs typeface="+mn-cs"/>
              </a:rPr>
              <a:t>Fuel-consumption relevant bug! wrong calculation of retarder losses for retarder ratio not equal to 1</a:t>
            </a:r>
          </a:p>
          <a:p>
            <a:pPr lvl="1">
              <a:tabLst>
                <a:tab pos="1885950" algn="l"/>
              </a:tabLst>
            </a:pPr>
            <a:r>
              <a:rPr lang="en-US" sz="1400" dirty="0" smtClean="0">
                <a:ea typeface="+mn-ea"/>
                <a:cs typeface="+mn-cs"/>
              </a:rPr>
              <a:t>[</a:t>
            </a:r>
            <a:r>
              <a:rPr lang="en-US" sz="1400" dirty="0">
                <a:ea typeface="+mn-ea"/>
                <a:cs typeface="+mn-cs"/>
              </a:rPr>
              <a:t>VECTO-624] - Crash w/o comment: Infinite recursion</a:t>
            </a:r>
          </a:p>
          <a:p>
            <a:pPr lvl="1">
              <a:tabLst>
                <a:tab pos="1885950" algn="l"/>
              </a:tabLst>
            </a:pPr>
            <a:r>
              <a:rPr lang="en-US" sz="1400" dirty="0" smtClean="0">
                <a:ea typeface="+mn-ea"/>
                <a:cs typeface="+mn-cs"/>
              </a:rPr>
              <a:t>[</a:t>
            </a:r>
            <a:r>
              <a:rPr lang="en-US" sz="1400" dirty="0">
                <a:ea typeface="+mn-ea"/>
                <a:cs typeface="+mn-cs"/>
              </a:rPr>
              <a:t>VECTO-627] - Cannot open Engine-Only Job</a:t>
            </a:r>
          </a:p>
          <a:p>
            <a:pPr lvl="1">
              <a:tabLst>
                <a:tab pos="1885950" algn="l"/>
              </a:tabLst>
            </a:pPr>
            <a:r>
              <a:rPr lang="en-US" sz="1400" dirty="0" smtClean="0">
                <a:ea typeface="+mn-ea"/>
                <a:cs typeface="+mn-cs"/>
              </a:rPr>
              <a:t>[</a:t>
            </a: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smtClean="0">
                <a:ea typeface="+mn-ea"/>
                <a:cs typeface="+mn-cs"/>
              </a:rPr>
              <a:t>[</a:t>
            </a: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smtClean="0">
                <a:ea typeface="+mn-ea"/>
                <a:cs typeface="+mn-cs"/>
              </a:rPr>
              <a:t>[</a:t>
            </a:r>
            <a:r>
              <a:rPr lang="en-US" sz="1400" dirty="0">
                <a:ea typeface="+mn-ea"/>
                <a:cs typeface="+mn-cs"/>
              </a:rPr>
              <a:t>VECTO-640] - Exceeded max. iterations: driving fully-loaded vehicle steep uphill. fixed by allowing full-stop and drive off </a:t>
            </a:r>
            <a:r>
              <a:rPr lang="en-US" sz="1400" dirty="0" smtClean="0">
                <a:ea typeface="+mn-ea"/>
                <a:cs typeface="+mn-cs"/>
              </a:rPr>
              <a:t>again</a:t>
            </a:r>
          </a:p>
          <a:p>
            <a:pPr lvl="1">
              <a:tabLst>
                <a:tab pos="1885950" algn="l"/>
              </a:tabLst>
            </a:pPr>
            <a:r>
              <a:rPr lang="en-US" sz="1400" dirty="0">
                <a:ea typeface="+mn-ea"/>
                <a:cs typeface="+mn-cs"/>
              </a:rPr>
              <a:t>[VECTO-633] - unable to start VTP Mode </a:t>
            </a:r>
            <a:r>
              <a:rPr lang="en-US" sz="1400" dirty="0" smtClean="0">
                <a:ea typeface="+mn-ea"/>
                <a:cs typeface="+mn-cs"/>
              </a:rPr>
              <a:t>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3.2.1.1079</a:t>
            </a:r>
            <a:r>
              <a:rPr lang="en-US" dirty="0"/>
              <a:t/>
            </a:r>
            <a:br>
              <a:rPr lang="en-US" dirty="0"/>
            </a:br>
            <a:r>
              <a:rPr lang="en-US" sz="1600" dirty="0" smtClean="0"/>
              <a:t>2017-12-15</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smtClean="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VECTO-560] - Change Mail-Address of general VECTO contact</a:t>
            </a:r>
          </a:p>
          <a:p>
            <a:pPr lvl="1">
              <a:tabLst>
                <a:tab pos="1885950" algn="l"/>
              </a:tabLst>
            </a:pPr>
            <a:r>
              <a:rPr lang="en-US" sz="1400" dirty="0" smtClean="0">
                <a:ea typeface="+mn-ea"/>
                <a:cs typeface="+mn-cs"/>
              </a:rPr>
              <a:t>[</a:t>
            </a:r>
            <a:r>
              <a:rPr lang="en-US" sz="1400" dirty="0">
                <a:ea typeface="+mn-ea"/>
                <a:cs typeface="+mn-cs"/>
              </a:rPr>
              <a:t>VECTO-616] - SI-Unit - display derived unit instead of base units</a:t>
            </a:r>
          </a:p>
          <a:p>
            <a:pPr>
              <a:tabLst>
                <a:tab pos="1885950" algn="l"/>
              </a:tabLst>
            </a:pPr>
            <a:r>
              <a:rPr lang="en-US" sz="1800" b="1" dirty="0" err="1" smtClean="0"/>
              <a:t>Bugfixes</a:t>
            </a:r>
            <a:endParaRPr lang="en-US" sz="1800" b="1" dirty="0" smtClean="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smtClean="0">
                <a:ea typeface="+mn-ea"/>
                <a:cs typeface="+mn-cs"/>
              </a:rPr>
              <a:t>[</a:t>
            </a: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a:t>
            </a:r>
            <a:r>
              <a:rPr lang="en-US" sz="1400" dirty="0" smtClean="0">
                <a:ea typeface="+mn-ea"/>
                <a:cs typeface="+mn-cs"/>
              </a:rPr>
              <a:t>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smtClean="0"/>
              <a:t>Support</a:t>
            </a:r>
          </a:p>
          <a:p>
            <a:pPr lvl="1">
              <a:tabLst>
                <a:tab pos="1885950" algn="l"/>
              </a:tabLst>
            </a:pPr>
            <a:r>
              <a:rPr lang="en-US" sz="1600" b="1" dirty="0" smtClean="0"/>
              <a:t> </a:t>
            </a:r>
            <a:r>
              <a:rPr lang="en-US" sz="1400" dirty="0">
                <a:ea typeface="+mn-ea"/>
                <a:cs typeface="+mn-cs"/>
              </a:rPr>
              <a:t>[VECTO-615] - Error torque interpolation in declaration jobs exported to </a:t>
            </a:r>
            <a:r>
              <a:rPr lang="en-US" sz="1400" dirty="0" err="1" smtClean="0">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3.2.1.1054</a:t>
            </a:r>
            <a:r>
              <a:rPr lang="en-US" dirty="0"/>
              <a:t/>
            </a:r>
            <a:br>
              <a:rPr lang="en-US" dirty="0"/>
            </a:br>
            <a:r>
              <a:rPr lang="en-US" sz="1600" dirty="0" smtClean="0"/>
              <a:t>2017-11-20</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smtClean="0"/>
              <a:t>Improvements</a:t>
            </a:r>
            <a:endParaRPr lang="en-US" sz="1600" b="1" dirty="0"/>
          </a:p>
          <a:p>
            <a:pPr>
              <a:tabLst>
                <a:tab pos="1885950" algn="l"/>
              </a:tabLst>
            </a:pPr>
            <a:r>
              <a:rPr lang="en-US" sz="1400" dirty="0" smtClean="0"/>
              <a:t>[</a:t>
            </a:r>
            <a:r>
              <a:rPr lang="en-US" sz="1400" dirty="0"/>
              <a:t>VECTO-592] - V</a:t>
            </a:r>
            <a:r>
              <a:rPr lang="en-US" sz="1400" dirty="0" smtClean="0"/>
              <a:t>TP </a:t>
            </a:r>
            <a:r>
              <a:rPr lang="en-US" sz="1400" dirty="0"/>
              <a:t>Simulation Mode</a:t>
            </a:r>
          </a:p>
          <a:p>
            <a:pPr>
              <a:tabLst>
                <a:tab pos="1885950" algn="l"/>
              </a:tabLst>
            </a:pPr>
            <a:r>
              <a:rPr lang="en-US" sz="1400" dirty="0" smtClean="0"/>
              <a:t>[</a:t>
            </a:r>
            <a:r>
              <a:rPr lang="en-US" sz="1400" dirty="0"/>
              <a:t>VECTO-605] - Improve simulation </a:t>
            </a:r>
            <a:r>
              <a:rPr lang="en-US" sz="1400" dirty="0" smtClean="0"/>
              <a:t>speed</a:t>
            </a:r>
          </a:p>
          <a:p>
            <a:pPr marL="0" indent="0">
              <a:buNone/>
              <a:tabLst>
                <a:tab pos="1885950" algn="l"/>
              </a:tabLst>
            </a:pPr>
            <a:endParaRPr lang="en-US" sz="1400" dirty="0" smtClean="0"/>
          </a:p>
          <a:p>
            <a:pPr marL="0" indent="0">
              <a:buNone/>
              <a:tabLst>
                <a:tab pos="1885950" algn="l"/>
              </a:tabLst>
            </a:pPr>
            <a:r>
              <a:rPr lang="en-US" sz="1600" b="1" dirty="0" err="1"/>
              <a:t>Bugfixes</a:t>
            </a:r>
            <a:endParaRPr lang="en-US" sz="1600" b="1" dirty="0"/>
          </a:p>
          <a:p>
            <a:pPr>
              <a:tabLst>
                <a:tab pos="1885950" algn="l"/>
              </a:tabLst>
            </a:pPr>
            <a:r>
              <a:rPr lang="en-US" sz="1400" dirty="0" smtClean="0"/>
              <a:t>[</a:t>
            </a:r>
            <a:r>
              <a:rPr lang="en-US" sz="1400" dirty="0"/>
              <a:t>VECTO-602] - Error in simulation without </a:t>
            </a:r>
            <a:r>
              <a:rPr lang="en-US" sz="1400" dirty="0" err="1"/>
              <a:t>airdrag</a:t>
            </a:r>
            <a:r>
              <a:rPr lang="en-US" sz="1400" dirty="0"/>
              <a:t> component</a:t>
            </a:r>
          </a:p>
          <a:p>
            <a:pPr>
              <a:tabLst>
                <a:tab pos="1885950" algn="l"/>
              </a:tabLst>
            </a:pPr>
            <a:r>
              <a:rPr lang="en-US" sz="1400" dirty="0" smtClean="0"/>
              <a:t>[</a:t>
            </a: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smtClean="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smtClean="0"/>
              <a:t>Verification Test Procedure (VTP) Simulation Mode</a:t>
            </a:r>
          </a:p>
          <a:p>
            <a:pPr lvl="1"/>
            <a:r>
              <a:rPr lang="en-US" sz="1600" dirty="0" smtClean="0"/>
              <a:t>Similar to </a:t>
            </a:r>
            <a:r>
              <a:rPr lang="en-US" sz="1600" dirty="0" err="1" smtClean="0"/>
              <a:t>Pwheel</a:t>
            </a:r>
            <a:r>
              <a:rPr lang="en-US" sz="1600" dirty="0" smtClean="0"/>
              <a:t> mode, different cycle format (see user manual)</a:t>
            </a:r>
          </a:p>
          <a:p>
            <a:pPr lvl="1"/>
            <a:r>
              <a:rPr lang="en-US" sz="1600" dirty="0" smtClean="0"/>
              <a:t>Requires:</a:t>
            </a:r>
          </a:p>
          <a:p>
            <a:pPr lvl="2"/>
            <a:r>
              <a:rPr lang="en-US" sz="1200" dirty="0" smtClean="0"/>
              <a:t>Vehicle in declaration mode (XML)</a:t>
            </a:r>
          </a:p>
          <a:p>
            <a:pPr lvl="2"/>
            <a:r>
              <a:rPr lang="en-US" sz="1200" dirty="0" smtClean="0"/>
              <a:t>Measured driving cycle</a:t>
            </a:r>
          </a:p>
          <a:p>
            <a:pPr lvl="2"/>
            <a:r>
              <a:rPr lang="en-US" sz="1200" dirty="0" smtClean="0"/>
              <a:t>Parameters for engine-fan model</a:t>
            </a:r>
          </a:p>
          <a:p>
            <a:pPr lvl="1"/>
            <a:r>
              <a:rPr lang="en-US" sz="1600" dirty="0" smtClean="0"/>
              <a:t>VECTO calculates the gear based on the wheel speed and engine speed (and vehicle parameters) and ignores the gear provided in the driving cycle</a:t>
            </a:r>
          </a:p>
          <a:p>
            <a:pPr lvl="1"/>
            <a:r>
              <a:rPr lang="en-US" sz="1600" dirty="0" smtClean="0"/>
              <a:t>Fuel consumption interpolation is done using the engine speed from the cycle and calculated power demand (to avoid wrong engine speeds due to wrong gear selection)</a:t>
            </a:r>
          </a:p>
          <a:p>
            <a:pPr lvl="1"/>
            <a:r>
              <a:rPr lang="en-US" sz="1600" dirty="0" smtClean="0"/>
              <a:t>Simulation uses all auxiliaries except engine fan</a:t>
            </a:r>
          </a:p>
          <a:p>
            <a:pPr lvl="2"/>
            <a:r>
              <a:rPr lang="en-US" sz="1200" dirty="0" smtClean="0"/>
              <a:t>Engine fan is modeled separately, power demand depends on fan speed (see user manual)</a:t>
            </a:r>
          </a:p>
          <a:p>
            <a:pPr lvl="1"/>
            <a:r>
              <a:rPr lang="en-US" sz="1600" dirty="0" smtClean="0"/>
              <a:t>Auxiliary power selected according to segment table, BUT power demand depends on vehicle speed</a:t>
            </a:r>
          </a:p>
          <a:p>
            <a:pPr lvl="2"/>
            <a:r>
              <a:rPr lang="en-US" sz="1200" dirty="0" smtClean="0"/>
              <a:t>v &lt; 50 km/h: Urban</a:t>
            </a:r>
          </a:p>
          <a:p>
            <a:pPr lvl="2"/>
            <a:r>
              <a:rPr lang="en-US" sz="1200" dirty="0" smtClean="0"/>
              <a:t>50 &lt;= v &lt; 70 km/h: Rural</a:t>
            </a:r>
          </a:p>
          <a:p>
            <a:pPr lvl="2"/>
            <a:r>
              <a:rPr lang="en-US" sz="1200" dirty="0" smtClean="0"/>
              <a:t>v &gt;70 km/h: Long haul</a:t>
            </a:r>
          </a:p>
          <a:p>
            <a:pPr lvl="1"/>
            <a:r>
              <a:rPr lang="en-US" sz="1600" dirty="0" smtClean="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3.2.0.1022</a:t>
            </a:r>
            <a:r>
              <a:rPr lang="en-US" dirty="0"/>
              <a:t/>
            </a:r>
            <a:br>
              <a:rPr lang="en-US" dirty="0"/>
            </a:br>
            <a:r>
              <a:rPr lang="en-US" sz="1600" dirty="0" smtClean="0"/>
              <a:t>2017-10-19</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pPr>
              <a:tabLst>
                <a:tab pos="1885950" algn="l"/>
              </a:tabLst>
            </a:pPr>
            <a:r>
              <a:rPr lang="en-US" sz="1400" dirty="0" smtClean="0"/>
              <a:t>[VECTO-585, VECTO-587] – VECTO Simulation aborts when run as WCF Service</a:t>
            </a:r>
            <a:endParaRPr lang="en-US" sz="1400" dirty="0"/>
          </a:p>
          <a:p>
            <a:pPr>
              <a:tabLst>
                <a:tab pos="1885950" algn="l"/>
              </a:tabLst>
            </a:pPr>
            <a:r>
              <a:rPr lang="en-US" sz="1400" dirty="0" smtClean="0"/>
              <a:t>[VECTO-586] – </a:t>
            </a:r>
            <a:r>
              <a:rPr lang="en-US" sz="1400" dirty="0" err="1" smtClean="0"/>
              <a:t>Gearshiftcout</a:t>
            </a:r>
            <a:r>
              <a:rPr lang="en-US" sz="1400" dirty="0" smtClean="0"/>
              <a:t> in reports too high</a:t>
            </a:r>
            <a:endParaRPr lang="en-US" sz="1400" dirty="0"/>
          </a:p>
          <a:p>
            <a:pPr>
              <a:tabLst>
                <a:tab pos="1885950" algn="l"/>
              </a:tabLst>
            </a:pPr>
            <a:r>
              <a:rPr lang="en-US" sz="1400" dirty="0" smtClean="0"/>
              <a:t>[VECTO-573] – Use of old library references </a:t>
            </a:r>
            <a:r>
              <a:rPr lang="en-US" sz="1400" dirty="0" err="1" smtClean="0"/>
              <a:t>.net</a:t>
            </a:r>
            <a:r>
              <a:rPr lang="en-US" sz="1400" dirty="0" smtClean="0"/>
              <a:t> </a:t>
            </a:r>
            <a:r>
              <a:rPr lang="en-US" sz="1400" smtClean="0"/>
              <a:t>framework 2.0</a:t>
            </a:r>
            <a:endParaRPr lang="en-US" sz="1400" dirty="0"/>
          </a:p>
        </p:txBody>
      </p:sp>
    </p:spTree>
    <p:extLst>
      <p:ext uri="{BB962C8B-B14F-4D97-AF65-F5344CB8AC3E}">
        <p14:creationId xmlns:p14="http://schemas.microsoft.com/office/powerpoint/2010/main" val="4269153384"/>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3.2.0.1005</a:t>
            </a:r>
            <a:r>
              <a:rPr lang="en-US" dirty="0"/>
              <a:t/>
            </a:r>
            <a:br>
              <a:rPr lang="en-US" dirty="0"/>
            </a:br>
            <a:r>
              <a:rPr lang="en-US" sz="1600" dirty="0" smtClean="0"/>
              <a:t>2017-10-02</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smtClean="0"/>
              <a:t>Improvements</a:t>
            </a:r>
          </a:p>
          <a:p>
            <a:r>
              <a:rPr lang="en-US" sz="1600" b="1" dirty="0" smtClean="0"/>
              <a:t>Release of </a:t>
            </a:r>
            <a:r>
              <a:rPr lang="en-US" sz="1600" b="1" dirty="0" err="1" smtClean="0"/>
              <a:t>Vecto</a:t>
            </a:r>
            <a:r>
              <a:rPr lang="en-US" sz="1600" b="1" dirty="0" smtClean="0"/>
              <a:t> Hashing Tool</a:t>
            </a:r>
          </a:p>
          <a:p>
            <a:r>
              <a:rPr lang="en-US" sz="1400" dirty="0" smtClean="0"/>
              <a:t>[VECTO-557] Engine speed simulated too high during long stops</a:t>
            </a:r>
          </a:p>
          <a:p>
            <a:endParaRPr lang="en-US" sz="1600" b="1" dirty="0" smtClean="0"/>
          </a:p>
          <a:p>
            <a:pPr marL="0" indent="0">
              <a:buNone/>
            </a:pPr>
            <a:r>
              <a:rPr lang="en-US" sz="1600" b="1" dirty="0" err="1" smtClean="0"/>
              <a:t>Bugfixes</a:t>
            </a:r>
            <a:endParaRPr lang="en-US" sz="1600" b="1" dirty="0" smtClean="0"/>
          </a:p>
          <a:p>
            <a:pPr>
              <a:tabLst>
                <a:tab pos="1885950" algn="l"/>
              </a:tabLst>
            </a:pPr>
            <a:r>
              <a:rPr lang="en-US" sz="1400" dirty="0" smtClean="0"/>
              <a:t>[VECTO-569] - ‘</a:t>
            </a:r>
            <a:r>
              <a:rPr lang="en-US" sz="1400" dirty="0"/>
              <a:t>Engine Retarder’ not correctly recognized as input</a:t>
            </a:r>
          </a:p>
          <a:p>
            <a:pPr>
              <a:tabLst>
                <a:tab pos="1885950" algn="l"/>
              </a:tabLst>
            </a:pPr>
            <a:r>
              <a:rPr lang="en-US" sz="1400" dirty="0" smtClean="0"/>
              <a:t>[VECTO-571] </a:t>
            </a:r>
            <a:r>
              <a:rPr lang="en-US" sz="1400" dirty="0"/>
              <a:t>- </a:t>
            </a:r>
            <a:r>
              <a:rPr lang="en-US" sz="1400" dirty="0" smtClean="0"/>
              <a:t>Customer </a:t>
            </a:r>
            <a:r>
              <a:rPr lang="en-US" sz="1400" dirty="0"/>
              <a:t>Report – wrong output format of </a:t>
            </a:r>
            <a:r>
              <a:rPr lang="en-US" sz="1400" dirty="0" smtClean="0"/>
              <a:t>average </a:t>
            </a:r>
            <a:r>
              <a:rPr lang="en-US" sz="1400" dirty="0"/>
              <a:t>RRC</a:t>
            </a:r>
          </a:p>
          <a:p>
            <a:pPr>
              <a:tabLst>
                <a:tab pos="1885950" algn="l"/>
              </a:tabLst>
            </a:pPr>
            <a:r>
              <a:rPr lang="en-US" sz="1400" dirty="0" smtClean="0"/>
              <a:t>[VECTO-573] </a:t>
            </a:r>
            <a:r>
              <a:rPr lang="en-US" sz="1400" dirty="0"/>
              <a:t>- </a:t>
            </a:r>
            <a:r>
              <a:rPr lang="en-US" sz="1400" dirty="0" smtClean="0"/>
              <a:t>Correction </a:t>
            </a:r>
            <a:r>
              <a:rPr lang="en-US" sz="1400" dirty="0"/>
              <a:t>of displayed units in graph window</a:t>
            </a:r>
          </a:p>
          <a:p>
            <a:pPr>
              <a:tabLst>
                <a:tab pos="1885950" algn="l"/>
              </a:tabLst>
            </a:pPr>
            <a:r>
              <a:rPr lang="en-US" sz="1400" dirty="0" smtClean="0"/>
              <a:t>[VECTO-575] </a:t>
            </a:r>
            <a:r>
              <a:rPr lang="en-US" sz="1400" dirty="0"/>
              <a:t>- </a:t>
            </a:r>
            <a:r>
              <a:rPr lang="en-US" sz="1400" dirty="0" smtClean="0"/>
              <a:t>Correction </a:t>
            </a:r>
            <a:r>
              <a:rPr lang="en-US" sz="1400" dirty="0"/>
              <a:t>of simulation aborts (due to gearbox inertia, </a:t>
            </a:r>
            <a:r>
              <a:rPr lang="en-US" sz="1400" dirty="0" smtClean="0"/>
              <a:t>engineering </a:t>
            </a:r>
            <a:r>
              <a:rPr lang="en-US" sz="1400" dirty="0"/>
              <a:t>mode)</a:t>
            </a:r>
          </a:p>
          <a:p>
            <a:pPr>
              <a:tabLst>
                <a:tab pos="1885950" algn="l"/>
              </a:tabLst>
            </a:pPr>
            <a:r>
              <a:rPr lang="en-US" sz="1400" dirty="0" smtClean="0"/>
              <a:t>[VECTO-577] </a:t>
            </a:r>
            <a:r>
              <a:rPr lang="en-US" sz="1400" dirty="0"/>
              <a:t>- </a:t>
            </a:r>
            <a:r>
              <a:rPr lang="en-US" sz="1400" dirty="0" smtClean="0"/>
              <a:t>Correction </a:t>
            </a:r>
            <a:r>
              <a:rPr lang="en-US" sz="1400" dirty="0"/>
              <a:t>of XML export functionality</a:t>
            </a:r>
          </a:p>
          <a:p>
            <a:pPr>
              <a:tabLst>
                <a:tab pos="1885950" algn="l"/>
              </a:tabLst>
            </a:pPr>
            <a:r>
              <a:rPr lang="en-US" sz="1400" dirty="0" smtClean="0"/>
              <a:t>[VECTO-579] </a:t>
            </a:r>
            <a:r>
              <a:rPr lang="en-US" sz="1400" dirty="0"/>
              <a:t>- </a:t>
            </a:r>
            <a:r>
              <a:rPr lang="en-US" sz="1400" dirty="0" smtClean="0"/>
              <a:t>Bug </a:t>
            </a:r>
            <a:r>
              <a:rPr lang="en-US" sz="1400" dirty="0"/>
              <a:t>fix GUI crashes on invalid input</a:t>
            </a:r>
          </a:p>
          <a:p>
            <a:pPr>
              <a:tabLst>
                <a:tab pos="1885950" algn="l"/>
              </a:tabLst>
            </a:pPr>
            <a:r>
              <a:rPr lang="en-US" sz="1400" dirty="0" smtClean="0"/>
              <a:t>[VECTO-558] </a:t>
            </a:r>
            <a:r>
              <a:rPr lang="en-US" sz="1400" dirty="0"/>
              <a:t>- </a:t>
            </a:r>
            <a:r>
              <a:rPr lang="en-US" sz="1400" dirty="0" smtClean="0"/>
              <a:t>Correction </a:t>
            </a:r>
            <a:r>
              <a:rPr lang="en-US" sz="1400" dirty="0"/>
              <a:t>of output in .</a:t>
            </a:r>
            <a:r>
              <a:rPr lang="en-US" sz="1400" dirty="0" err="1"/>
              <a:t>vsum</a:t>
            </a:r>
            <a:r>
              <a:rPr lang="en-US" sz="1400" dirty="0"/>
              <a:t> file – </a:t>
            </a:r>
            <a:r>
              <a:rPr lang="en-US" sz="1400" dirty="0" err="1" smtClean="0"/>
              <a:t>BFColdHot</a:t>
            </a:r>
            <a:r>
              <a:rPr lang="en-US" sz="1400" dirty="0" smtClean="0"/>
              <a:t> </a:t>
            </a:r>
            <a:r>
              <a:rPr lang="en-US" sz="1400" dirty="0"/>
              <a:t>always 0</a:t>
            </a:r>
          </a:p>
          <a:p>
            <a:pPr>
              <a:tabLst>
                <a:tab pos="1885950" algn="l"/>
              </a:tabLst>
            </a:pPr>
            <a:r>
              <a:rPr lang="en-US" sz="1400" dirty="0" smtClean="0"/>
              <a:t>[VECTO-564] </a:t>
            </a:r>
            <a:r>
              <a:rPr lang="en-US" sz="1400" dirty="0"/>
              <a:t>- </a:t>
            </a:r>
            <a:r>
              <a:rPr lang="en-US" sz="1400" dirty="0" smtClean="0"/>
              <a:t>Bug </a:t>
            </a:r>
            <a:r>
              <a:rPr lang="en-US" sz="1400" dirty="0"/>
              <a:t>fix: correct output of vehicle group in XML report</a:t>
            </a:r>
          </a:p>
          <a:p>
            <a:pPr>
              <a:tabLst>
                <a:tab pos="1885950" algn="l"/>
              </a:tabLst>
            </a:pPr>
            <a:r>
              <a:rPr lang="en-US" sz="1400" dirty="0" smtClean="0"/>
              <a:t>[VECTO-566] </a:t>
            </a:r>
            <a:r>
              <a:rPr lang="en-US" sz="1400" dirty="0"/>
              <a:t>- </a:t>
            </a:r>
            <a:r>
              <a:rPr lang="en-US" sz="1400" dirty="0" smtClean="0"/>
              <a:t>Vehicle </a:t>
            </a:r>
            <a:r>
              <a:rPr lang="en-US" sz="1400" dirty="0"/>
              <a:t>height not correctly read (engineering mode)</a:t>
            </a:r>
          </a:p>
          <a:p>
            <a:pPr>
              <a:tabLst>
                <a:tab pos="1885950" algn="l"/>
              </a:tabLst>
            </a:pPr>
            <a:r>
              <a:rPr lang="en-US" sz="1400" dirty="0" smtClean="0"/>
              <a:t>[VECTO-545] </a:t>
            </a:r>
            <a:r>
              <a:rPr lang="en-US" sz="1400" dirty="0"/>
              <a:t>- </a:t>
            </a:r>
            <a:r>
              <a:rPr lang="en-US" sz="1400" dirty="0" smtClean="0"/>
              <a:t>Update </a:t>
            </a:r>
            <a:r>
              <a:rPr lang="en-US" sz="1400" dirty="0"/>
              <a:t>documentation on Settings dialog</a:t>
            </a:r>
          </a:p>
        </p:txBody>
      </p:sp>
    </p:spTree>
    <p:extLst>
      <p:ext uri="{BB962C8B-B14F-4D97-AF65-F5344CB8AC3E}">
        <p14:creationId xmlns:p14="http://schemas.microsoft.com/office/powerpoint/2010/main" val="3939537437"/>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3.2.0.940</a:t>
            </a:r>
            <a:r>
              <a:rPr lang="en-US" dirty="0"/>
              <a:t/>
            </a:r>
            <a:br>
              <a:rPr lang="en-US" dirty="0"/>
            </a:br>
            <a:r>
              <a:rPr lang="en-US" sz="1600" dirty="0" smtClean="0"/>
              <a:t>2017-07-28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r>
              <a:rPr lang="en-US" sz="1400" dirty="0" smtClean="0"/>
              <a:t>[</a:t>
            </a:r>
            <a:r>
              <a:rPr lang="en-US" sz="1400" dirty="0"/>
              <a:t>VECTO-546] - </a:t>
            </a:r>
            <a:r>
              <a:rPr lang="en-US" sz="1400" dirty="0" err="1"/>
              <a:t>GearboxCertificationOptionType</a:t>
            </a:r>
            <a:r>
              <a:rPr lang="en-US" sz="1400" dirty="0"/>
              <a:t> Option 2 not accepted by VECTO</a:t>
            </a:r>
          </a:p>
          <a:p>
            <a:r>
              <a:rPr lang="en-US" sz="1400" dirty="0" smtClean="0"/>
              <a:t>[</a:t>
            </a:r>
            <a:r>
              <a:rPr lang="en-US" sz="1400" dirty="0"/>
              <a:t>VECTO-547] - Engine Manufacturer and Engine Model are empty in .</a:t>
            </a:r>
            <a:r>
              <a:rPr lang="en-US" sz="1400" dirty="0" err="1"/>
              <a:t>vsum</a:t>
            </a:r>
            <a:r>
              <a:rPr lang="en-US" sz="1400" dirty="0"/>
              <a:t> </a:t>
            </a:r>
          </a:p>
          <a:p>
            <a:r>
              <a:rPr lang="en-US" sz="1400" dirty="0" smtClean="0"/>
              <a:t>[</a:t>
            </a:r>
            <a:r>
              <a:rPr lang="en-US" sz="1400" dirty="0"/>
              <a:t>VECTO-548] - online user manual</a:t>
            </a:r>
          </a:p>
          <a:p>
            <a:r>
              <a:rPr lang="en-US" sz="1400" dirty="0" smtClean="0"/>
              <a:t>[</a:t>
            </a:r>
            <a:r>
              <a:rPr lang="en-US" sz="1400" dirty="0"/>
              <a:t>VECTO-549] - Inconsistent (and wrong) decimal separator in XML output (manufacturer report)</a:t>
            </a:r>
          </a:p>
          <a:p>
            <a:r>
              <a:rPr lang="en-US" sz="1400" dirty="0" smtClean="0"/>
              <a:t>[</a:t>
            </a:r>
            <a:r>
              <a:rPr lang="en-US" sz="1400" dirty="0"/>
              <a:t>VECTO-551] - Average </a:t>
            </a:r>
            <a:r>
              <a:rPr lang="en-US" sz="1400" dirty="0" err="1"/>
              <a:t>Tyre</a:t>
            </a:r>
            <a:r>
              <a:rPr lang="en-US" sz="1400" dirty="0"/>
              <a:t> RRC not in Customer Information File output</a:t>
            </a:r>
          </a:p>
          <a:p>
            <a:r>
              <a:rPr lang="en-US" sz="1400" dirty="0" smtClean="0"/>
              <a:t>[</a:t>
            </a:r>
            <a:r>
              <a:rPr lang="en-US" sz="1400" dirty="0"/>
              <a:t>VECTO-536] - GUI: improvements vehicle dialog (add missing pictures for vehicle categories)</a:t>
            </a:r>
          </a:p>
          <a:p>
            <a:r>
              <a:rPr lang="en-US" sz="1400" dirty="0" smtClean="0"/>
              <a:t>[</a:t>
            </a:r>
            <a:r>
              <a:rPr lang="en-US" sz="1400" dirty="0"/>
              <a:t>VECTO-550] - Allow custom settings for </a:t>
            </a:r>
            <a:r>
              <a:rPr lang="en-US" sz="1400" dirty="0" err="1"/>
              <a:t>AirDensity</a:t>
            </a:r>
            <a:r>
              <a:rPr lang="en-US" sz="1400" dirty="0"/>
              <a:t> in Engineering mode</a:t>
            </a:r>
          </a:p>
          <a:p>
            <a:r>
              <a:rPr lang="en-US" sz="1400" dirty="0" smtClean="0"/>
              <a:t>[</a:t>
            </a:r>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VECTO-366] added EMS vehicle configuration, EMS is only simulated when engine rated power &gt; </a:t>
            </a:r>
            <a:r>
              <a:rPr lang="en-US" sz="1400" dirty="0" smtClean="0"/>
              <a:t>300kW</a:t>
            </a:r>
          </a:p>
          <a:p>
            <a:r>
              <a:rPr lang="en-US" sz="1400" dirty="0" smtClean="0"/>
              <a:t>[VECTO-463</a:t>
            </a:r>
            <a:r>
              <a:rPr lang="en-US" sz="1400" dirty="0"/>
              <a:t>] add pneumatic system technology 'vacuum </a:t>
            </a:r>
            <a:r>
              <a:rPr lang="en-US" sz="1400" dirty="0" smtClean="0"/>
              <a:t>pump‘</a:t>
            </a:r>
          </a:p>
          <a:p>
            <a:r>
              <a:rPr lang="en-US" sz="1400" dirty="0" smtClean="0"/>
              <a:t>[</a:t>
            </a:r>
            <a:r>
              <a:rPr lang="en-US" sz="1400" dirty="0"/>
              <a:t>VECTO-465] change RRC value of trailers (declaration mode) from 0.00555 to 0.0055 (due to limits in user interface</a:t>
            </a:r>
            <a:r>
              <a:rPr lang="en-US" sz="1400" dirty="0" smtClean="0"/>
              <a:t>)</a:t>
            </a:r>
          </a:p>
          <a:p>
            <a:r>
              <a:rPr lang="en-US" sz="1400" dirty="0" smtClean="0"/>
              <a:t>[VECTO-477</a:t>
            </a:r>
            <a:r>
              <a:rPr lang="en-US" sz="1400" dirty="0"/>
              <a:t>] AT Gearbox, </a:t>
            </a:r>
            <a:r>
              <a:rPr lang="en-US" sz="1400" dirty="0" err="1"/>
              <a:t>powershift</a:t>
            </a:r>
            <a:r>
              <a:rPr lang="en-US" sz="1400" dirty="0"/>
              <a:t> losses: remove inertia </a:t>
            </a:r>
            <a:r>
              <a:rPr lang="en-US" sz="1400" dirty="0" smtClean="0"/>
              <a:t>factor</a:t>
            </a:r>
          </a:p>
          <a:p>
            <a:r>
              <a:rPr lang="en-US" sz="1400" dirty="0" smtClean="0"/>
              <a:t>[VECTO-471</a:t>
            </a:r>
            <a:r>
              <a:rPr lang="en-US" sz="1400" dirty="0"/>
              <a:t>] update cross-wind correction model: height-dependent wind speed (see Excel spreadsheet in User Manual folder for details</a:t>
            </a:r>
            <a:r>
              <a:rPr lang="en-US" sz="1400" dirty="0" smtClean="0"/>
              <a:t>)</a:t>
            </a:r>
          </a:p>
          <a:p>
            <a:r>
              <a:rPr lang="en-US" sz="1400" dirty="0" smtClean="0"/>
              <a:t>[</a:t>
            </a:r>
            <a:r>
              <a:rPr lang="en-US" sz="1400" dirty="0"/>
              <a:t>VECTO-367] Add Vehicle Design Speed to segmentation </a:t>
            </a:r>
            <a:r>
              <a:rPr lang="en-US" sz="1400" dirty="0" smtClean="0"/>
              <a:t>table</a:t>
            </a:r>
          </a:p>
          <a:p>
            <a:r>
              <a:rPr lang="en-US" sz="1400" dirty="0" smtClean="0"/>
              <a:t>[VECTO-470</a:t>
            </a:r>
            <a:r>
              <a:rPr lang="en-US" sz="1400" dirty="0"/>
              <a:t>] Add XML reading and export </a:t>
            </a:r>
            <a:r>
              <a:rPr lang="en-US" sz="1400" dirty="0" smtClean="0"/>
              <a:t>functionality</a:t>
            </a:r>
          </a:p>
          <a:p>
            <a:r>
              <a:rPr lang="en-US" sz="1400" dirty="0" smtClean="0"/>
              <a:t>[VECTO-486</a:t>
            </a:r>
            <a:r>
              <a:rPr lang="en-US" sz="1400" dirty="0"/>
              <a:t>] Adding hashing </a:t>
            </a:r>
            <a:r>
              <a:rPr lang="en-US" sz="1400" dirty="0" smtClean="0"/>
              <a:t>library</a:t>
            </a:r>
          </a:p>
          <a:p>
            <a:r>
              <a:rPr lang="en-US" sz="1400" dirty="0" smtClean="0"/>
              <a:t>[VECTO-469</a:t>
            </a:r>
            <a:r>
              <a:rPr lang="en-US" sz="1400" dirty="0"/>
              <a:t>] Limit engine max torque (either due to vehicle or gearbox limits), limit gearbox input </a:t>
            </a:r>
            <a:r>
              <a:rPr lang="en-US" sz="1400" dirty="0" smtClean="0"/>
              <a:t>speed</a:t>
            </a:r>
          </a:p>
          <a:p>
            <a:r>
              <a:rPr lang="en-US" sz="1400" dirty="0" smtClean="0"/>
              <a:t>[VECTO-466</a:t>
            </a:r>
            <a:r>
              <a:rPr lang="en-US" sz="1400" dirty="0"/>
              <a:t>] Update vehicle payloads: 10% loaded and reference load are </a:t>
            </a:r>
            <a:r>
              <a:rPr lang="en-US" sz="1400" dirty="0" smtClean="0"/>
              <a:t>simulated</a:t>
            </a:r>
          </a:p>
          <a:p>
            <a:r>
              <a:rPr lang="en-US" sz="1400" dirty="0" smtClean="0"/>
              <a:t>[VECTO-467</a:t>
            </a:r>
            <a:r>
              <a:rPr lang="en-US" sz="1400" dirty="0"/>
              <a:t>] Add generic PTO activation in municipal </a:t>
            </a:r>
            <a:r>
              <a:rPr lang="en-US" sz="1400" dirty="0" smtClean="0"/>
              <a:t>cycle</a:t>
            </a:r>
          </a:p>
          <a:p>
            <a:r>
              <a:rPr lang="en-US" sz="1400" dirty="0" smtClean="0"/>
              <a:t>[VECTO-468</a:t>
            </a:r>
            <a:r>
              <a:rPr lang="en-US" sz="1400" dirty="0"/>
              <a:t>] Add PTO losses (idle) in declaration </a:t>
            </a:r>
            <a:r>
              <a:rPr lang="en-US" sz="1400" dirty="0" smtClean="0"/>
              <a:t>mode</a:t>
            </a:r>
          </a:p>
          <a:p>
            <a:r>
              <a:rPr lang="en-US" sz="1400" dirty="0" smtClean="0"/>
              <a:t>[VECTO-479</a:t>
            </a:r>
            <a:r>
              <a:rPr lang="en-US" sz="1600" dirty="0"/>
              <a:t>] Added PTO option 'only one engaged gearwheel above oil level' with 0 </a:t>
            </a:r>
            <a:r>
              <a:rPr lang="en-US" sz="1600" dirty="0" smtClean="0"/>
              <a:t>losses</a:t>
            </a:r>
            <a:endParaRPr lang="en-US" sz="1600" dirty="0"/>
          </a:p>
        </p:txBody>
      </p:sp>
    </p:spTree>
    <p:extLst>
      <p:ext uri="{BB962C8B-B14F-4D97-AF65-F5344CB8AC3E}">
        <p14:creationId xmlns:p14="http://schemas.microsoft.com/office/powerpoint/2010/main" val="935717193"/>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VECTO-483] Adapt </a:t>
            </a:r>
            <a:r>
              <a:rPr lang="en-US" sz="1400" dirty="0" err="1"/>
              <a:t>CdxA</a:t>
            </a:r>
            <a:r>
              <a:rPr lang="en-US" sz="1400" dirty="0"/>
              <a:t> supplement for </a:t>
            </a:r>
            <a:r>
              <a:rPr lang="en-US" sz="1400"/>
              <a:t>additional </a:t>
            </a:r>
            <a:r>
              <a:rPr lang="en-US" sz="1400" smtClean="0"/>
              <a:t>trailers</a:t>
            </a:r>
            <a:endParaRPr lang="en-US" sz="1400" dirty="0" smtClean="0"/>
          </a:p>
          <a:p>
            <a:r>
              <a:rPr lang="en-US" sz="1400" dirty="0" smtClean="0"/>
              <a:t>[VECTO-494</a:t>
            </a:r>
            <a:r>
              <a:rPr lang="en-US" sz="1400" dirty="0"/>
              <a:t>] Implementation of different fuel </a:t>
            </a:r>
            <a:r>
              <a:rPr lang="en-US" sz="1400" dirty="0" smtClean="0"/>
              <a:t>types</a:t>
            </a:r>
          </a:p>
          <a:p>
            <a:r>
              <a:rPr lang="en-US" sz="1400" dirty="0" smtClean="0"/>
              <a:t>[VECTO-502</a:t>
            </a:r>
            <a:r>
              <a:rPr lang="en-US" sz="1400" dirty="0"/>
              <a:t>] Implementing standard values for air-drag area (if not measured</a:t>
            </a:r>
            <a:r>
              <a:rPr lang="en-US" sz="1400" dirty="0" smtClean="0"/>
              <a:t>)</a:t>
            </a:r>
          </a:p>
          <a:p>
            <a:r>
              <a:rPr lang="en-US" sz="1400" dirty="0" smtClean="0"/>
              <a:t>[</a:t>
            </a:r>
            <a:r>
              <a:rPr lang="en-US" sz="1400" dirty="0"/>
              <a:t>VECTO-501] Implement engine idle speed set in vehicle (must be higher than engine's idle speed value</a:t>
            </a:r>
            <a:r>
              <a:rPr lang="en-US" sz="1400" dirty="0" smtClean="0"/>
              <a:t>)</a:t>
            </a:r>
          </a:p>
          <a:p>
            <a:r>
              <a:rPr lang="en-US" sz="1400" dirty="0" smtClean="0"/>
              <a:t>[</a:t>
            </a:r>
            <a:r>
              <a:rPr lang="en-US" sz="1400" dirty="0"/>
              <a:t>VECTO-504] Adding HVAC technology </a:t>
            </a:r>
            <a:r>
              <a:rPr lang="en-US" sz="1400" dirty="0" smtClean="0"/>
              <a:t>'none‘</a:t>
            </a:r>
          </a:p>
          <a:p>
            <a:r>
              <a:rPr lang="en-US" sz="1400" dirty="0" smtClean="0"/>
              <a:t>[</a:t>
            </a:r>
            <a:r>
              <a:rPr lang="en-US" sz="1400" dirty="0"/>
              <a:t>VECTO-489] Extrapolate gearbox </a:t>
            </a:r>
            <a:r>
              <a:rPr lang="en-US" sz="1400" dirty="0" err="1"/>
              <a:t>lossmaps</a:t>
            </a:r>
            <a:r>
              <a:rPr lang="en-US" sz="1400" dirty="0"/>
              <a:t> (required when torque limitation by gearbox is ignored</a:t>
            </a:r>
            <a:r>
              <a:rPr lang="en-US" sz="1400" dirty="0" smtClean="0"/>
              <a:t>)</a:t>
            </a:r>
          </a:p>
          <a:p>
            <a:r>
              <a:rPr lang="en-US" sz="1400" dirty="0" smtClean="0"/>
              <a:t>[</a:t>
            </a:r>
            <a:r>
              <a:rPr lang="en-US" sz="1400" dirty="0"/>
              <a:t>VECTO-505] Implement AT transmissions in declaration </a:t>
            </a:r>
            <a:r>
              <a:rPr lang="en-US" sz="1400" dirty="0" smtClean="0"/>
              <a:t>mode</a:t>
            </a:r>
          </a:p>
          <a:p>
            <a:r>
              <a:rPr lang="en-US" sz="1400" dirty="0" smtClean="0"/>
              <a:t>[VECTO-507</a:t>
            </a:r>
            <a:r>
              <a:rPr lang="en-US" sz="1400" dirty="0"/>
              <a:t>] Allow to ignore validation of model data when starting a simulation (significant improvement on simulation startup time - about 10s</a:t>
            </a:r>
            <a:r>
              <a:rPr lang="en-US" sz="1400" dirty="0" smtClean="0"/>
              <a:t>)</a:t>
            </a:r>
          </a:p>
          <a:p>
            <a:r>
              <a:rPr lang="en-US" sz="1400" dirty="0" smtClean="0"/>
              <a:t>[</a:t>
            </a:r>
            <a:r>
              <a:rPr lang="en-US" sz="1400" dirty="0"/>
              <a:t>VECTO-506] modified method how torque-converter characteristics in drag is extended. allow drag-values in the input, only add one point at a high speed </a:t>
            </a:r>
            <a:r>
              <a:rPr lang="en-US" sz="1400" dirty="0" smtClean="0"/>
              <a:t>ratio</a:t>
            </a:r>
          </a:p>
          <a:p>
            <a:r>
              <a:rPr lang="en-US" sz="1400" dirty="0" smtClean="0"/>
              <a:t>[VECTO-509</a:t>
            </a:r>
            <a:r>
              <a:rPr lang="en-US" sz="1400" dirty="0"/>
              <a:t>] Add axle-type (vehicle driven, vehicle non-driven, trailer) to </a:t>
            </a:r>
            <a:r>
              <a:rPr lang="en-US" sz="1400" dirty="0" smtClean="0"/>
              <a:t>GUI</a:t>
            </a:r>
          </a:p>
          <a:p>
            <a:r>
              <a:rPr lang="en-US" sz="1400" dirty="0" smtClean="0"/>
              <a:t>[VECTO-511</a:t>
            </a:r>
            <a:r>
              <a:rPr lang="en-US" sz="1400" dirty="0"/>
              <a:t>] Add engine idle speed to Vehicle input form (GUI</a:t>
            </a:r>
            <a:r>
              <a:rPr lang="en-US" sz="1400" dirty="0" smtClean="0"/>
              <a:t>)</a:t>
            </a:r>
          </a:p>
          <a:p>
            <a:r>
              <a:rPr lang="en-US" sz="1400" dirty="0" smtClean="0"/>
              <a:t>[</a:t>
            </a:r>
            <a:r>
              <a:rPr lang="en-US" sz="1400" dirty="0"/>
              <a:t>VECTO-510] Write XML reports (manufacturer, customer information) in declaration </a:t>
            </a:r>
            <a:r>
              <a:rPr lang="en-US" sz="1400" dirty="0" smtClean="0"/>
              <a:t>mode</a:t>
            </a:r>
          </a:p>
          <a:p>
            <a:r>
              <a:rPr lang="en-US" sz="1400" dirty="0" smtClean="0"/>
              <a:t>[VECTO-474</a:t>
            </a:r>
            <a:r>
              <a:rPr lang="en-US" sz="1400" dirty="0"/>
              <a:t>] new driving cycles for Municipal and Regional </a:t>
            </a:r>
            <a:r>
              <a:rPr lang="en-US" sz="1400" dirty="0" smtClean="0"/>
              <a:t>Delivery</a:t>
            </a:r>
            <a:endParaRPr lang="en-US" sz="1400" dirty="0"/>
          </a:p>
        </p:txBody>
      </p:sp>
    </p:spTree>
    <p:extLst>
      <p:ext uri="{BB962C8B-B14F-4D97-AF65-F5344CB8AC3E}">
        <p14:creationId xmlns:p14="http://schemas.microsoft.com/office/powerpoint/2010/main" val="1190642042"/>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VECTO-522] step-up ratio for using torque converter in second gear set to 1.85 for busses (still 1.8 for trucks</a:t>
            </a:r>
            <a:r>
              <a:rPr lang="en-US" sz="1400" dirty="0" smtClean="0"/>
              <a:t>)</a:t>
            </a:r>
          </a:p>
          <a:p>
            <a:r>
              <a:rPr lang="en-US" sz="1400" dirty="0" smtClean="0"/>
              <a:t>[</a:t>
            </a:r>
            <a:r>
              <a:rPr lang="en-US" sz="1400" dirty="0"/>
              <a:t>VECTO-525] remove info-box with max loading in </a:t>
            </a:r>
            <a:r>
              <a:rPr lang="en-US" sz="1400" dirty="0" smtClean="0"/>
              <a:t>GUI</a:t>
            </a:r>
          </a:p>
          <a:p>
            <a:r>
              <a:rPr lang="en-US" sz="1400" dirty="0" smtClean="0"/>
              <a:t>[VECTO-531</a:t>
            </a:r>
            <a:r>
              <a:rPr lang="en-US" sz="1400" dirty="0"/>
              <a:t>]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r>
              <a:rPr lang="en-US" sz="1400" dirty="0" smtClean="0"/>
              <a:t>)</a:t>
            </a:r>
          </a:p>
          <a:p>
            <a:r>
              <a:rPr lang="en-US" sz="1400" dirty="0" smtClean="0"/>
              <a:t>[</a:t>
            </a:r>
            <a:r>
              <a:rPr lang="en-US" sz="1400" dirty="0"/>
              <a:t>VECTO-533] allow second driven axle, </a:t>
            </a:r>
            <a:r>
              <a:rPr lang="en-US" sz="1400" dirty="0" err="1"/>
              <a:t>rdyn</a:t>
            </a:r>
            <a:r>
              <a:rPr lang="en-US" sz="1400" dirty="0"/>
              <a:t> is calculated as average of both driven </a:t>
            </a:r>
            <a:r>
              <a:rPr lang="en-US" sz="1400" dirty="0" smtClean="0"/>
              <a:t>axles</a:t>
            </a:r>
          </a:p>
          <a:p>
            <a:r>
              <a:rPr lang="en-US" sz="1400" dirty="0" smtClean="0"/>
              <a:t>[VECTO-537</a:t>
            </a:r>
            <a:r>
              <a:rPr lang="en-US" sz="1400" dirty="0"/>
              <a:t>] new Suburban driving </a:t>
            </a:r>
            <a:r>
              <a:rPr lang="en-US" sz="1400" dirty="0" smtClean="0"/>
              <a:t>cycles</a:t>
            </a:r>
          </a:p>
          <a:p>
            <a:r>
              <a:rPr lang="en-US" sz="1400" dirty="0" smtClean="0"/>
              <a:t>[VECTO-541</a:t>
            </a:r>
            <a:r>
              <a:rPr lang="en-US" sz="1400" dirty="0"/>
              <a:t>] increase declaration mode PT1 curve to higher speeds (2500 is too low for some engines</a:t>
            </a:r>
            <a:r>
              <a:rPr lang="en-US" sz="1400" dirty="0" smtClean="0"/>
              <a:t>)</a:t>
            </a:r>
          </a:p>
          <a:p>
            <a:r>
              <a:rPr lang="en-US" sz="1400" dirty="0" smtClean="0"/>
              <a:t>[VECTO-542] </a:t>
            </a:r>
            <a:r>
              <a:rPr lang="en-US" sz="1400" dirty="0"/>
              <a:t>reduce </a:t>
            </a:r>
            <a:r>
              <a:rPr lang="en-US" sz="1400" dirty="0" err="1"/>
              <a:t>overspeed</a:t>
            </a:r>
            <a:r>
              <a:rPr lang="en-US" sz="1400" dirty="0"/>
              <a:t> in declaration mode to 2.5km/h</a:t>
            </a:r>
            <a:endParaRPr lang="en-US" sz="1400" dirty="0" smtClean="0"/>
          </a:p>
        </p:txBody>
      </p:sp>
    </p:spTree>
    <p:extLst>
      <p:ext uri="{BB962C8B-B14F-4D97-AF65-F5344CB8AC3E}">
        <p14:creationId xmlns:p14="http://schemas.microsoft.com/office/powerpoint/2010/main" val="1367177659"/>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3.1.2.810</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[VECTO-445] Additional columns in </a:t>
            </a:r>
            <a:r>
              <a:rPr lang="en-US" sz="1400" dirty="0" err="1" smtClean="0"/>
              <a:t>vsum</a:t>
            </a:r>
            <a:r>
              <a:rPr lang="en-US" sz="1400" dirty="0" smtClean="0"/>
              <a:t> file</a:t>
            </a:r>
          </a:p>
          <a:p>
            <a:r>
              <a:rPr lang="en-US" sz="1400" dirty="0" smtClean="0"/>
              <a:t>Allow splitting shift losses among multiple simulation intervals</a:t>
            </a:r>
          </a:p>
          <a:p>
            <a:r>
              <a:rPr lang="en-US" sz="1400" dirty="0" smtClean="0"/>
              <a:t>Allow coasting </a:t>
            </a:r>
            <a:r>
              <a:rPr lang="en-US" sz="1400" dirty="0" err="1" smtClean="0"/>
              <a:t>overspeed</a:t>
            </a:r>
            <a:r>
              <a:rPr lang="en-US" sz="1400" dirty="0" smtClean="0"/>
              <a:t> only if vehicle speed &gt; 0</a:t>
            </a:r>
          </a:p>
          <a:p>
            <a:r>
              <a:rPr lang="en-US" sz="1400" dirty="0" smtClean="0"/>
              <a:t>Torque converter: better handling of ‘creeping’ situations</a:t>
            </a:r>
          </a:p>
          <a:p>
            <a:endParaRPr lang="en-US" sz="1400" dirty="0" smtClean="0"/>
          </a:p>
          <a:p>
            <a:pPr marL="0" indent="0">
              <a:buNone/>
            </a:pPr>
            <a:r>
              <a:rPr lang="en-US" sz="1400" b="1" dirty="0" err="1" smtClean="0"/>
              <a:t>Bugfixes</a:t>
            </a:r>
            <a:r>
              <a:rPr lang="en-US" sz="1400" b="1" dirty="0"/>
              <a:t>:</a:t>
            </a:r>
          </a:p>
          <a:p>
            <a:r>
              <a:rPr lang="en-US" sz="1400" dirty="0" smtClean="0"/>
              <a:t>[VECTO-443] </a:t>
            </a:r>
            <a:r>
              <a:rPr lang="en-US" sz="1400" dirty="0" err="1" smtClean="0"/>
              <a:t>Bugfix</a:t>
            </a:r>
            <a:r>
              <a:rPr lang="en-US" sz="1400" dirty="0" smtClean="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3.1.2.796</a:t>
            </a:r>
            <a:r>
              <a:rPr lang="en-US" dirty="0"/>
              <a:t/>
            </a:r>
            <a:br>
              <a:rPr lang="en-US" dirty="0"/>
            </a:br>
            <a:r>
              <a:rPr lang="en-US" sz="1600" dirty="0" smtClean="0"/>
              <a:t>2017-03-07</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smtClean="0"/>
              <a:t>Improvements:</a:t>
            </a:r>
          </a:p>
          <a:p>
            <a:r>
              <a:rPr lang="en-US" sz="1200" dirty="0" smtClean="0"/>
              <a:t>[VECTO-405] Adding clutch-losses for AMT/MT gearboxes during drive-off, reduce drive-off distance after stop from 1m to 0.25m, set clutch closing speed (normalized) to 6.5%, changes in clutch model</a:t>
            </a:r>
          </a:p>
          <a:p>
            <a:r>
              <a:rPr lang="en-US" sz="1200" dirty="0" smtClean="0"/>
              <a:t>[VECTO-379] Make GUI more tolerant against missing files. Instead of aborting reading the input data the GUI shows a suffix for missing input files</a:t>
            </a:r>
          </a:p>
          <a:p>
            <a:r>
              <a:rPr lang="en-US" sz="1200" dirty="0" smtClean="0"/>
              <a:t>[VECTO-411] Allow a traction interruption of 0s for AMT/MT gearboxes</a:t>
            </a:r>
          </a:p>
          <a:p>
            <a:r>
              <a:rPr lang="en-US" sz="1200" dirty="0" smtClean="0"/>
              <a:t>[VECTO-408] Gearbox Inertia for AT gearboxes set to 0</a:t>
            </a:r>
          </a:p>
          <a:p>
            <a:r>
              <a:rPr lang="en-US" sz="1200" dirty="0" smtClean="0"/>
              <a:t>[VECTO-419] Adapted error messages, added list of errors</a:t>
            </a:r>
          </a:p>
          <a:p>
            <a:r>
              <a:rPr lang="en-US" sz="1200" dirty="0" smtClean="0"/>
              <a:t>[VECTO-421,VECTO-439] Added volume-related results to </a:t>
            </a:r>
            <a:r>
              <a:rPr lang="en-US" sz="1200" dirty="0" err="1" smtClean="0"/>
              <a:t>vsum</a:t>
            </a:r>
            <a:r>
              <a:rPr lang="en-US" sz="1200" dirty="0" smtClean="0"/>
              <a:t> file (volume is computed based on default bodies)</a:t>
            </a:r>
          </a:p>
          <a:p>
            <a:r>
              <a:rPr lang="en-US" sz="1200" dirty="0" smtClean="0"/>
              <a:t>[] Energy balance (</a:t>
            </a:r>
            <a:r>
              <a:rPr lang="en-US" sz="1200" dirty="0" err="1" smtClean="0"/>
              <a:t>vsum</a:t>
            </a:r>
            <a:r>
              <a:rPr lang="en-US" sz="1200" dirty="0" smtClean="0"/>
              <a:t>) and balance of engine power output and power consumers (</a:t>
            </a:r>
            <a:r>
              <a:rPr lang="en-US" sz="1200" dirty="0" err="1" smtClean="0"/>
              <a:t>vmod</a:t>
            </a:r>
            <a:r>
              <a:rPr lang="en-US" sz="1200" dirty="0" smtClean="0"/>
              <a:t>) level</a:t>
            </a:r>
          </a:p>
          <a:p>
            <a:r>
              <a:rPr lang="en-US" sz="1200" dirty="0" smtClean="0"/>
              <a:t>[VECTO-430] AT shift strategy: upshifts may happen too early</a:t>
            </a:r>
          </a:p>
          <a:p>
            <a:r>
              <a:rPr lang="en-US" sz="1200" dirty="0" smtClean="0"/>
              <a:t>[VECTO-431] AMT shift strategy always started in first gear due to changes in clutch model</a:t>
            </a:r>
          </a:p>
          <a:p>
            <a:r>
              <a:rPr lang="en-US" sz="1200" dirty="0" smtClean="0"/>
              <a:t>[VECTO-433] adapt generic vehicles: use typical WHTC correction factors</a:t>
            </a:r>
          </a:p>
          <a:p>
            <a:r>
              <a:rPr lang="en-US" sz="1200" dirty="0" smtClean="0"/>
              <a:t>[VECTO-437] set vehicle speed at clutch-closed to 1.3 m/s</a:t>
            </a:r>
          </a:p>
          <a:p>
            <a:r>
              <a:rPr lang="en-US" sz="1200" dirty="0" smtClean="0"/>
              <a:t>[VECTO-436] fix simulation aborts with AT gearbox (neg. braking power, unexpected response, underload)</a:t>
            </a:r>
          </a:p>
          <a:p>
            <a:pPr marL="0" indent="0">
              <a:buNone/>
            </a:pPr>
            <a:r>
              <a:rPr lang="en-US" sz="1200" b="1" dirty="0" err="1" smtClean="0"/>
              <a:t>Bugfixes</a:t>
            </a:r>
            <a:r>
              <a:rPr lang="en-US" sz="1200" b="1" dirty="0"/>
              <a:t>:</a:t>
            </a:r>
          </a:p>
          <a:p>
            <a:r>
              <a:rPr lang="en-US" sz="1200" dirty="0" smtClean="0"/>
              <a:t>[VECTO-415] </a:t>
            </a:r>
            <a:r>
              <a:rPr lang="en-US" sz="1200" dirty="0" err="1" smtClean="0"/>
              <a:t>Powershift</a:t>
            </a:r>
            <a:r>
              <a:rPr lang="en-US" sz="1200" dirty="0" smtClean="0"/>
              <a:t> Losses were not considered for AT gearboxes with </a:t>
            </a:r>
            <a:r>
              <a:rPr lang="en-US" sz="1200" dirty="0" err="1" smtClean="0"/>
              <a:t>PowerSplit</a:t>
            </a:r>
            <a:endParaRPr lang="en-US" sz="1200" dirty="0" smtClean="0"/>
          </a:p>
          <a:p>
            <a:r>
              <a:rPr lang="en-US" sz="1200" dirty="0" smtClean="0"/>
              <a:t>[VECTO-416] Measured Speed with gear failed when cycle contained parts with eco-roll (computation of next gear failed)</a:t>
            </a:r>
          </a:p>
          <a:p>
            <a:r>
              <a:rPr lang="en-US" sz="1200" dirty="0" smtClean="0"/>
              <a:t>[VECTO-428] Sum of timeshares adds up to 100%</a:t>
            </a:r>
          </a:p>
          <a:p>
            <a:r>
              <a:rPr lang="en-US" sz="1200" dirty="0" smtClean="0"/>
              <a:t>[VECTO-429] Min Velocity for </a:t>
            </a:r>
            <a:r>
              <a:rPr lang="en-US" sz="1200" dirty="0" err="1" smtClean="0"/>
              <a:t>lookahead</a:t>
            </a:r>
            <a:r>
              <a:rPr lang="en-US" sz="1200" dirty="0" smtClean="0"/>
              <a:t> coasting was not written to JSON file</a:t>
            </a:r>
          </a:p>
          <a:p>
            <a:pPr marL="0" indent="0">
              <a:buNone/>
            </a:pPr>
            <a:endParaRPr lang="en-US" sz="1200" dirty="0" smtClean="0"/>
          </a:p>
        </p:txBody>
      </p:sp>
    </p:spTree>
    <p:extLst>
      <p:ext uri="{BB962C8B-B14F-4D97-AF65-F5344CB8AC3E}">
        <p14:creationId xmlns:p14="http://schemas.microsoft.com/office/powerpoint/2010/main" val="652415552"/>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3.1.1.748</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smtClean="0"/>
              <a:t>Bugfixes</a:t>
            </a:r>
            <a:r>
              <a:rPr lang="en-US" sz="1400" b="1" dirty="0"/>
              <a:t>:</a:t>
            </a:r>
          </a:p>
          <a:p>
            <a:r>
              <a:rPr lang="en-US" sz="1400" dirty="0" smtClean="0"/>
              <a:t>[</a:t>
            </a:r>
            <a:r>
              <a:rPr lang="en-US" sz="1400" dirty="0"/>
              <a:t>VECTO-404] Driving Cycle with PTO </a:t>
            </a:r>
            <a:r>
              <a:rPr lang="en-US" sz="1400" dirty="0" smtClean="0"/>
              <a:t>stopped simulation </a:t>
            </a:r>
            <a:r>
              <a:rPr lang="en-US" sz="1400" dirty="0"/>
              <a:t>after first PTO activation</a:t>
            </a:r>
          </a:p>
        </p:txBody>
      </p:sp>
    </p:spTree>
    <p:extLst>
      <p:ext uri="{BB962C8B-B14F-4D97-AF65-F5344CB8AC3E}">
        <p14:creationId xmlns:p14="http://schemas.microsoft.com/office/powerpoint/2010/main" val="3490509634"/>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3.1.1.742</a:t>
            </a:r>
            <a:r>
              <a:rPr lang="en-US"/>
              <a:t/>
            </a:r>
            <a:br>
              <a:rPr lang="en-US"/>
            </a:br>
            <a:r>
              <a:rPr lang="en-US" sz="1600" smtClean="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smtClean="0"/>
              <a:t>Improvements:</a:t>
            </a:r>
          </a:p>
          <a:p>
            <a:r>
              <a:rPr lang="en-US" sz="1400" dirty="0" smtClean="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a:t>
            </a:r>
            <a:r>
              <a:rPr lang="en-US" sz="1400" dirty="0" smtClean="0"/>
              <a:t>drag</a:t>
            </a:r>
          </a:p>
          <a:p>
            <a:r>
              <a:rPr lang="en-US" sz="1400" dirty="0" smtClean="0"/>
              <a:t>[VECTO-399] Add missions and loadings for vehicle categories 11, 12, and 16 (declaration mode)</a:t>
            </a:r>
          </a:p>
          <a:p>
            <a:r>
              <a:rPr lang="en-US" sz="1400" dirty="0"/>
              <a:t>[VECTO-384] cleanup memory after simulation run</a:t>
            </a:r>
          </a:p>
          <a:p>
            <a:r>
              <a:rPr lang="en-US" sz="1400" dirty="0" smtClean="0"/>
              <a:t>[VECTO-394] new option for </a:t>
            </a:r>
            <a:r>
              <a:rPr lang="en-US" sz="1400" dirty="0" err="1" smtClean="0"/>
              <a:t>vectocmd</a:t>
            </a:r>
            <a:r>
              <a:rPr lang="en-US" sz="1400" dirty="0" smtClean="0"/>
              <a:t> to disable all output</a:t>
            </a:r>
          </a:p>
          <a:p>
            <a:r>
              <a:rPr lang="en-US" sz="1400" dirty="0" smtClean="0"/>
              <a:t>[VECTO-392] make the GUI scale depending on the Windows font size</a:t>
            </a:r>
          </a:p>
          <a:p>
            <a:r>
              <a:rPr lang="en-US" sz="1400" dirty="0" smtClean="0"/>
              <a:t>[VECTO-391] Gearbox output speed and output torque added to .</a:t>
            </a:r>
            <a:r>
              <a:rPr lang="en-US" sz="1400" dirty="0" err="1" smtClean="0"/>
              <a:t>vmod</a:t>
            </a:r>
            <a:r>
              <a:rPr lang="en-US" sz="1400" dirty="0" smtClean="0"/>
              <a:t> files</a:t>
            </a:r>
          </a:p>
          <a:p>
            <a:r>
              <a:rPr lang="en-US" sz="1400" dirty="0" smtClean="0"/>
              <a:t>[VECTO-386] Gearbox window: disable input fields not applicable for the selected gearbox type</a:t>
            </a:r>
          </a:p>
          <a:p>
            <a:pPr marL="0" indent="0">
              <a:buNone/>
            </a:pPr>
            <a:r>
              <a:rPr lang="en-US" sz="1400" b="1" dirty="0" err="1" smtClean="0"/>
              <a:t>Bugfixes</a:t>
            </a:r>
            <a:r>
              <a:rPr lang="en-US" sz="1400" b="1" dirty="0"/>
              <a:t>:</a:t>
            </a:r>
          </a:p>
          <a:p>
            <a:r>
              <a:rPr lang="en-US" sz="1400" dirty="0" smtClean="0"/>
              <a:t>[VECTO-401] Computation of n_95h etc. fails if engine’s max torque is constant 0 </a:t>
            </a:r>
          </a:p>
          <a:p>
            <a:r>
              <a:rPr lang="en-US" sz="1400" dirty="0" smtClean="0"/>
              <a:t>Lookup of </a:t>
            </a:r>
            <a:r>
              <a:rPr lang="en-US" sz="1400" dirty="0" err="1" smtClean="0"/>
              <a:t>Airdrag</a:t>
            </a:r>
            <a:r>
              <a:rPr lang="en-US" sz="1400" dirty="0" smtClean="0"/>
              <a:t> parameters in declaration mode</a:t>
            </a:r>
          </a:p>
          <a:p>
            <a:r>
              <a:rPr lang="en-US" sz="1400" dirty="0" smtClean="0"/>
              <a:t>[VECTO-378] Improved file-handling in AAUX module</a:t>
            </a:r>
            <a:endParaRPr lang="en-US" sz="1400" dirty="0"/>
          </a:p>
        </p:txBody>
      </p:sp>
    </p:spTree>
    <p:extLst>
      <p:ext uri="{BB962C8B-B14F-4D97-AF65-F5344CB8AC3E}">
        <p14:creationId xmlns:p14="http://schemas.microsoft.com/office/powerpoint/2010/main" val="2520835531"/>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3.1.0.683</a:t>
            </a:r>
            <a:r>
              <a:rPr lang="en-US" dirty="0"/>
              <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smtClean="0"/>
              <a:t>Bugfixes</a:t>
            </a:r>
            <a:r>
              <a:rPr lang="en-US" sz="1600" b="1" dirty="0" smtClean="0"/>
              <a:t>:</a:t>
            </a:r>
          </a:p>
          <a:p>
            <a:r>
              <a:rPr lang="en-US" sz="1600" dirty="0" smtClean="0"/>
              <a:t>[</a:t>
            </a:r>
            <a:r>
              <a:rPr lang="en-US" sz="1600" dirty="0"/>
              <a:t>VECTO-375] Fixed bug when braking during slope change from negative to positive values.</a:t>
            </a:r>
          </a:p>
          <a:p>
            <a:r>
              <a:rPr lang="en-US" sz="1600" dirty="0" smtClean="0"/>
              <a:t>[</a:t>
            </a:r>
            <a:r>
              <a:rPr lang="en-US" sz="1600" dirty="0"/>
              <a:t>VECTO-372] Added check for unusual acceleration/deceleration data which could lead to error when halting.</a:t>
            </a:r>
          </a:p>
          <a:p>
            <a:r>
              <a:rPr lang="en-US" sz="1600" dirty="0" smtClean="0"/>
              <a:t>[</a:t>
            </a:r>
            <a:r>
              <a:rPr lang="en-US" sz="1600" dirty="0"/>
              <a:t>VECTO-371] Added additional behavior to overcome such situations</a:t>
            </a:r>
          </a:p>
          <a:p>
            <a:r>
              <a:rPr lang="en-US" sz="1600" dirty="0" smtClean="0"/>
              <a:t>[</a:t>
            </a:r>
            <a:r>
              <a:rPr lang="en-US" sz="1600" dirty="0"/>
              <a:t>VECTO-370] Added additional behavior to overcome such situations</a:t>
            </a:r>
          </a:p>
          <a:p>
            <a:r>
              <a:rPr lang="en-US" sz="1600" dirty="0" smtClean="0"/>
              <a:t>[</a:t>
            </a:r>
            <a:r>
              <a:rPr lang="en-US" sz="1600" dirty="0"/>
              <a:t>VECTO-369] </a:t>
            </a:r>
            <a:r>
              <a:rPr lang="en-US" sz="1600" dirty="0" err="1"/>
              <a:t>CrosswindCorrection</a:t>
            </a:r>
            <a:r>
              <a:rPr lang="en-US" sz="1600" dirty="0"/>
              <a:t> is now saved and read again from JSON files</a:t>
            </a:r>
          </a:p>
          <a:p>
            <a:r>
              <a:rPr lang="en-US" sz="1600" dirty="0" smtClean="0"/>
              <a:t>[</a:t>
            </a:r>
            <a:r>
              <a:rPr lang="en-US" sz="1600" dirty="0"/>
              <a:t>VECTO-373] WHTC-Engineering correction factor now correctly read/write in JSON files</a:t>
            </a:r>
          </a:p>
          <a:p>
            <a:r>
              <a:rPr lang="en-US" sz="1600" dirty="0" smtClean="0"/>
              <a:t>[</a:t>
            </a:r>
            <a:r>
              <a:rPr lang="en-US" sz="1600" dirty="0"/>
              <a:t>VECTO-368] Fixed validation for specific cases when values are intentionally invalid.</a:t>
            </a:r>
          </a:p>
          <a:p>
            <a:r>
              <a:rPr lang="en-US" sz="1600" dirty="0" smtClean="0"/>
              <a:t>[</a:t>
            </a:r>
            <a:r>
              <a:rPr lang="en-US" sz="1600" dirty="0"/>
              <a:t>VECTO-357] Updated GUI to not show ECO-Roll option to avoid confusion</a:t>
            </a:r>
          </a:p>
          <a:p>
            <a:r>
              <a:rPr lang="en-US" sz="1600" dirty="0" smtClean="0"/>
              <a:t>Fixed </a:t>
            </a:r>
            <a:r>
              <a:rPr lang="en-US" sz="1600" dirty="0"/>
              <a:t>numerous bugs in AT-</a:t>
            </a:r>
            <a:r>
              <a:rPr lang="en-US" sz="1600" dirty="0" err="1"/>
              <a:t>ShiftStrategy</a:t>
            </a:r>
            <a:r>
              <a:rPr lang="en-US" sz="1600" dirty="0"/>
              <a:t> regarding the Torque Converter</a:t>
            </a:r>
          </a:p>
          <a:p>
            <a:r>
              <a:rPr lang="en-US" sz="1600" dirty="0" smtClean="0"/>
              <a:t>Fixed </a:t>
            </a:r>
            <a:r>
              <a:rPr lang="en-US" sz="1600" dirty="0"/>
              <a:t>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smtClean="0"/>
              <a:t>Fixed </a:t>
            </a:r>
            <a:r>
              <a:rPr lang="en-US" sz="1600" dirty="0"/>
              <a:t>a bug when PTO-Cycle was missing</a:t>
            </a:r>
          </a:p>
          <a:p>
            <a:r>
              <a:rPr lang="en-US" sz="1600" dirty="0" smtClean="0"/>
              <a:t>Corrected </a:t>
            </a:r>
            <a:r>
              <a:rPr lang="en-US" sz="1600" dirty="0"/>
              <a:t>axle loss maps for Generic Vehicles in Declaration Mode to match technical annex</a:t>
            </a:r>
          </a:p>
          <a:p>
            <a:r>
              <a:rPr lang="en-US" sz="1600" dirty="0" smtClean="0"/>
              <a:t>Corrected </a:t>
            </a:r>
            <a:r>
              <a:rPr lang="en-US" sz="1600" dirty="0" err="1"/>
              <a:t>SumFile</a:t>
            </a:r>
            <a:r>
              <a:rPr lang="en-US" sz="1600" dirty="0"/>
              <a:t> Cruise Time Share. </a:t>
            </a:r>
            <a:r>
              <a:rPr lang="en-US" sz="1600" dirty="0" smtClean="0"/>
              <a:t>Added </a:t>
            </a:r>
            <a:r>
              <a:rPr lang="en-US" sz="1600" dirty="0"/>
              <a:t>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smtClean="0"/>
              <a:t>Improvements</a:t>
            </a:r>
            <a:r>
              <a:rPr lang="en-US" sz="1600" b="1" dirty="0"/>
              <a:t>:</a:t>
            </a:r>
          </a:p>
          <a:p>
            <a:r>
              <a:rPr lang="en-US" sz="1600" dirty="0" smtClean="0"/>
              <a:t>[</a:t>
            </a:r>
            <a:r>
              <a:rPr lang="en-US" sz="1600" dirty="0"/>
              <a:t>VECTO-355] Updated documentation, added powertrain schematics in chapter "Simulation Models"</a:t>
            </a:r>
          </a:p>
          <a:p>
            <a:r>
              <a:rPr lang="en-US" sz="1600" dirty="0" smtClean="0"/>
              <a:t>[</a:t>
            </a:r>
            <a:r>
              <a:rPr lang="en-US" sz="1600" dirty="0"/>
              <a:t>VECTO-374] Check range for Torque Converter </a:t>
            </a:r>
            <a:r>
              <a:rPr lang="en-US" sz="1600" dirty="0" smtClean="0"/>
              <a:t>speed ratio </a:t>
            </a:r>
            <a:r>
              <a:rPr lang="en-US" sz="1600" dirty="0"/>
              <a:t>input data to be at least </a:t>
            </a:r>
            <a:r>
              <a:rPr lang="en-US" sz="1600" dirty="0" smtClean="0"/>
              <a:t>between </a:t>
            </a:r>
            <a:r>
              <a:rPr lang="en-US" sz="1600" dirty="0"/>
              <a:t>0 and 2.2</a:t>
            </a:r>
          </a:p>
          <a:p>
            <a:r>
              <a:rPr lang="en-US" sz="1600" dirty="0" smtClean="0"/>
              <a:t>Updated </a:t>
            </a:r>
            <a:r>
              <a:rPr lang="en-US" sz="1600" dirty="0"/>
              <a:t>many </a:t>
            </a:r>
            <a:r>
              <a:rPr lang="en-US" sz="1600" dirty="0" smtClean="0"/>
              <a:t>error messages </a:t>
            </a:r>
            <a:r>
              <a:rPr lang="en-US" sz="1600" dirty="0"/>
              <a:t>to be more explicit about the reason of error</a:t>
            </a:r>
          </a:p>
          <a:p>
            <a:r>
              <a:rPr lang="en-US" sz="1600" dirty="0" smtClean="0"/>
              <a:t>Added </a:t>
            </a:r>
            <a:r>
              <a:rPr lang="en-US" sz="1600" dirty="0"/>
              <a:t>"Mission P</a:t>
            </a:r>
            <a:r>
              <a:rPr lang="en-US" sz="1600" dirty="0" smtClean="0"/>
              <a:t>rofiles" </a:t>
            </a:r>
            <a:r>
              <a:rPr lang="en-US" sz="1600" dirty="0"/>
              <a:t>Directory with driving cycles publicly available in the application root directory.</a:t>
            </a:r>
          </a:p>
          <a:p>
            <a:r>
              <a:rPr lang="en-US" sz="1600" dirty="0" smtClean="0"/>
              <a:t>Added </a:t>
            </a:r>
            <a:r>
              <a:rPr lang="en-US" sz="1600" dirty="0"/>
              <a:t>"Declaration" directory with the declaration data files in the application root directory</a:t>
            </a:r>
            <a:r>
              <a:rPr lang="en-US" sz="1600" dirty="0" smtClean="0"/>
              <a:t>.</a:t>
            </a:r>
          </a:p>
          <a:p>
            <a:r>
              <a:rPr lang="en-US" sz="1600" dirty="0" smtClean="0"/>
              <a:t>Added </a:t>
            </a:r>
            <a:r>
              <a:rPr lang="en-US" sz="1600" dirty="0"/>
              <a:t>warning when engine inertia is </a:t>
            </a:r>
            <a:r>
              <a:rPr lang="en-US" sz="1600" dirty="0" smtClean="0"/>
              <a:t>0</a:t>
            </a:r>
          </a:p>
          <a:p>
            <a:r>
              <a:rPr lang="en-US" sz="1600" dirty="0" smtClean="0"/>
              <a:t>Added check that engine speed must not fall below idle speed (even in measured speed mode)</a:t>
            </a:r>
            <a:endParaRPr lang="en-US" sz="1600" dirty="0"/>
          </a:p>
          <a:p>
            <a:r>
              <a:rPr lang="en-US" sz="1600" dirty="0" smtClean="0"/>
              <a:t>Shift </a:t>
            </a:r>
            <a:r>
              <a:rPr lang="en-US" sz="1600" dirty="0"/>
              <a:t>curve validation for AT gearboxes: shift curves may now overlap due to different shift logic in </a:t>
            </a:r>
            <a:r>
              <a:rPr lang="en-US" sz="1600" dirty="0" err="1"/>
              <a:t>AutomaticTransmissions</a:t>
            </a:r>
            <a:r>
              <a:rPr lang="en-US" sz="1600" dirty="0" smtClean="0"/>
              <a:t>.</a:t>
            </a:r>
          </a:p>
          <a:p>
            <a:r>
              <a:rPr lang="en-US" sz="1600" dirty="0" smtClean="0"/>
              <a:t>Updated Crosswind </a:t>
            </a:r>
            <a:r>
              <a:rPr lang="en-US" sz="1600" dirty="0"/>
              <a:t>Coefficients for </a:t>
            </a:r>
            <a:r>
              <a:rPr lang="de-AT" sz="1600" dirty="0" err="1" smtClean="0"/>
              <a:t>Tractor+Semitrailer</a:t>
            </a:r>
            <a:endParaRPr lang="en-US" sz="1600" dirty="0"/>
          </a:p>
          <a:p>
            <a:endParaRPr lang="en-US" sz="1600" dirty="0" smtClean="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smtClean="0"/>
              <a:t>Vecto 3.1.0.683</a:t>
            </a:r>
            <a:br>
              <a:rPr lang="en-US" kern="0" smtClean="0"/>
            </a:br>
            <a:r>
              <a:rPr lang="en-US" sz="1600" kern="0" smtClea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3.1.0.662</a:t>
            </a:r>
            <a:br>
              <a:rPr lang="en-US" dirty="0" smtClean="0"/>
            </a:br>
            <a:r>
              <a:rPr lang="en-US" sz="1600" dirty="0" smtClean="0"/>
              <a:t>2016-10-24</a:t>
            </a:r>
            <a:endParaRPr lang="en-US" sz="1600" dirty="0"/>
          </a:p>
        </p:txBody>
      </p:sp>
      <p:sp>
        <p:nvSpPr>
          <p:cNvPr id="3" name="Inhaltsplatzhalter 2"/>
          <p:cNvSpPr>
            <a:spLocks noGrp="1"/>
          </p:cNvSpPr>
          <p:nvPr>
            <p:ph idx="1"/>
          </p:nvPr>
        </p:nvSpPr>
        <p:spPr>
          <a:xfrm>
            <a:off x="468315" y="1412776"/>
            <a:ext cx="8496173" cy="4968552"/>
          </a:xfrm>
        </p:spPr>
        <p:txBody>
          <a:bodyPr/>
          <a:lstStyle/>
          <a:p>
            <a:r>
              <a:rPr lang="en-US" sz="1800" b="1" dirty="0" err="1" smtClean="0"/>
              <a:t>Bugfixes</a:t>
            </a:r>
            <a:r>
              <a:rPr lang="en-US" sz="1800" dirty="0" smtClean="0"/>
              <a:t>:</a:t>
            </a:r>
          </a:p>
          <a:p>
            <a:pPr lvl="1"/>
            <a:r>
              <a:rPr lang="en-US" sz="1600" dirty="0" smtClean="0"/>
              <a:t>[</a:t>
            </a:r>
            <a:r>
              <a:rPr lang="en-US" sz="1600" dirty="0"/>
              <a:t>VECTO-360] Fixed error during startup of VECTO (loading of DLLs</a:t>
            </a:r>
            <a:r>
              <a:rPr lang="en-US" sz="1600" dirty="0" smtClean="0"/>
              <a:t>).</a:t>
            </a:r>
          </a:p>
          <a:p>
            <a:pPr lvl="1"/>
            <a:r>
              <a:rPr lang="en-US" sz="1600" dirty="0" smtClean="0"/>
              <a:t>[</a:t>
            </a:r>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r>
              <a:rPr lang="en-US" sz="1600" dirty="0" smtClean="0"/>
              <a:t>)</a:t>
            </a:r>
          </a:p>
          <a:p>
            <a:pPr lvl="1"/>
            <a:r>
              <a:rPr lang="en-US" sz="1600" dirty="0" smtClean="0"/>
              <a:t>[</a:t>
            </a:r>
            <a:r>
              <a:rPr lang="en-US" sz="1600" dirty="0"/>
              <a:t>VECTO-361] Fixed classification of vehicles with GVM of exactly </a:t>
            </a:r>
            <a:r>
              <a:rPr lang="en-US" sz="1600" dirty="0" smtClean="0"/>
              <a:t>7500kg</a:t>
            </a:r>
          </a:p>
          <a:p>
            <a:pPr lvl="1"/>
            <a:r>
              <a:rPr lang="en-US" sz="1600" dirty="0" smtClean="0"/>
              <a:t>[</a:t>
            </a:r>
            <a:r>
              <a:rPr lang="en-US" sz="1600" dirty="0"/>
              <a:t>VECTO-364] Fixed an error in measured speed mode (run aborts</a:t>
            </a:r>
            <a:r>
              <a:rPr lang="en-US" sz="1600" dirty="0" smtClean="0"/>
              <a:t>).</a:t>
            </a:r>
          </a:p>
          <a:p>
            <a:pPr lvl="1"/>
            <a:r>
              <a:rPr lang="en-US" sz="1600" dirty="0" smtClean="0"/>
              <a:t>[</a:t>
            </a:r>
            <a:r>
              <a:rPr lang="en-US" sz="1600" dirty="0"/>
              <a:t>VECTO-363] Compute shift polygons in declaration mode now uses correct boundary for full load </a:t>
            </a:r>
            <a:r>
              <a:rPr lang="en-US" sz="1600" dirty="0" smtClean="0"/>
              <a:t>margin.</a:t>
            </a:r>
          </a:p>
          <a:p>
            <a:pPr lvl="1"/>
            <a:r>
              <a:rPr lang="en-US" sz="1600" dirty="0" smtClean="0"/>
              <a:t>[VECTO-365] Fixed </a:t>
            </a:r>
            <a:r>
              <a:rPr lang="en-US" sz="1600" dirty="0"/>
              <a:t>editing gears in declaration </a:t>
            </a:r>
            <a:r>
              <a:rPr lang="en-US" sz="1600" dirty="0" smtClean="0"/>
              <a:t>mode</a:t>
            </a:r>
          </a:p>
          <a:p>
            <a:r>
              <a:rPr lang="en-US" sz="1800" b="1" dirty="0" smtClean="0"/>
              <a:t>Improvements</a:t>
            </a:r>
            <a:r>
              <a:rPr lang="en-US" sz="1800" dirty="0" smtClean="0"/>
              <a:t>:</a:t>
            </a:r>
          </a:p>
          <a:p>
            <a:pPr lvl="1"/>
            <a:r>
              <a:rPr lang="en-US" sz="1600" dirty="0" smtClean="0"/>
              <a:t>[</a:t>
            </a:r>
            <a:r>
              <a:rPr lang="en-US" sz="1600" dirty="0"/>
              <a:t>VECTO-355] User Manual updated (Screenshots, Descriptions, File Formats, </a:t>
            </a:r>
            <a:r>
              <a:rPr lang="en-US" sz="1600" dirty="0" err="1"/>
              <a:t>Vecto</a:t>
            </a:r>
            <a:r>
              <a:rPr lang="en-US" sz="1600" dirty="0"/>
              <a:t> V2 Comments removed</a:t>
            </a:r>
            <a:r>
              <a:rPr lang="en-US" sz="1600" dirty="0" smtClean="0"/>
              <a:t>).</a:t>
            </a:r>
          </a:p>
          <a:p>
            <a:pPr lvl="1"/>
            <a:r>
              <a:rPr lang="en-US" sz="1600" dirty="0" smtClean="0"/>
              <a:t>[</a:t>
            </a:r>
            <a:r>
              <a:rPr lang="en-US" sz="1600" dirty="0"/>
              <a:t>VECTO-317] Declaration data for Wheel sizes </a:t>
            </a:r>
            <a:r>
              <a:rPr lang="en-US" sz="1600" dirty="0" smtClean="0"/>
              <a:t>updated</a:t>
            </a:r>
          </a:p>
          <a:p>
            <a:pPr lvl="1"/>
            <a:r>
              <a:rPr lang="en-US" sz="1600" dirty="0" smtClean="0"/>
              <a:t>[VECTO-359</a:t>
            </a:r>
            <a:r>
              <a:rPr lang="en-US" sz="1600" dirty="0"/>
              <a:t>] Simplified code regarding PT1 behavior</a:t>
            </a:r>
            <a:r>
              <a:rPr lang="en-US" sz="1600" dirty="0" smtClean="0"/>
              <a:t>.</a:t>
            </a:r>
          </a:p>
          <a:p>
            <a:pPr lvl="1"/>
            <a:r>
              <a:rPr lang="en-US" sz="1600" dirty="0" smtClean="0"/>
              <a:t>[</a:t>
            </a:r>
            <a:r>
              <a:rPr lang="en-US" sz="1600" dirty="0"/>
              <a:t>VECTO-323] PTO-Cycle may now be left empty when not used in driving </a:t>
            </a:r>
            <a:r>
              <a:rPr lang="en-US" sz="1600" dirty="0" smtClean="0"/>
              <a:t>cycle.</a:t>
            </a:r>
          </a:p>
        </p:txBody>
      </p:sp>
    </p:spTree>
    <p:extLst>
      <p:ext uri="{BB962C8B-B14F-4D97-AF65-F5344CB8AC3E}">
        <p14:creationId xmlns:p14="http://schemas.microsoft.com/office/powerpoint/2010/main" val="38927240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smtClean="0"/>
              <a:t>2016-10-14</a:t>
            </a:r>
            <a:endParaRPr lang="en-US" sz="1600"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35954454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smtClean="0"/>
              <a:t>Further development of the AT model</a:t>
            </a:r>
            <a:br>
              <a:rPr lang="en-GB" sz="1400" dirty="0" smtClean="0"/>
            </a:br>
            <a:r>
              <a:rPr lang="en-GB" sz="1400" b="0" dirty="0" smtClean="0"/>
              <a:t>Consideration of losses during power shifts, update of gear shift logics</a:t>
            </a:r>
          </a:p>
          <a:p>
            <a:pPr marL="285750" indent="-285750" algn="l">
              <a:buFont typeface="Arial" panose="020B0604020202020204" pitchFamily="34" charset="0"/>
              <a:buChar char="•"/>
            </a:pPr>
            <a:r>
              <a:rPr lang="en-GB" sz="1400" dirty="0" smtClean="0"/>
              <a:t>Reimplementation </a:t>
            </a:r>
            <a:r>
              <a:rPr lang="en-GB" sz="1400" dirty="0"/>
              <a:t>of engine stop/start</a:t>
            </a:r>
          </a:p>
          <a:p>
            <a:pPr marL="285750" indent="-285750" algn="l">
              <a:buFont typeface="Arial" panose="020B0604020202020204" pitchFamily="34" charset="0"/>
              <a:buChar char="•"/>
            </a:pPr>
            <a:r>
              <a:rPr lang="en-GB" sz="1400" dirty="0" smtClean="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smtClean="0"/>
              <a:t>Items waiting for decision on methods and resources:</a:t>
            </a:r>
          </a:p>
          <a:p>
            <a:pPr marL="285750" indent="-285750" algn="l">
              <a:buFont typeface="Arial" panose="020B0604020202020204" pitchFamily="34" charset="0"/>
              <a:buChar char="•"/>
            </a:pPr>
            <a:r>
              <a:rPr lang="en-GB" sz="1400" dirty="0" smtClean="0"/>
              <a:t>Update engine data (according to update of Annex II)</a:t>
            </a:r>
            <a:br>
              <a:rPr lang="en-GB" sz="1400" dirty="0" smtClean="0"/>
            </a:br>
            <a:r>
              <a:rPr lang="en-GB" sz="1400" b="0" dirty="0" smtClean="0"/>
              <a:t>Other fuels than diesel, “top torque” feature, correction factor for periodic </a:t>
            </a:r>
            <a:r>
              <a:rPr lang="en-GB" sz="1400" b="0" dirty="0" err="1" smtClean="0"/>
              <a:t>regerating</a:t>
            </a:r>
            <a:r>
              <a:rPr lang="en-GB" sz="1400" b="0" dirty="0" smtClean="0"/>
              <a:t> DPFs</a:t>
            </a:r>
          </a:p>
          <a:p>
            <a:pPr marL="285750" indent="-285750" algn="l">
              <a:buFont typeface="Arial" panose="020B0604020202020204" pitchFamily="34" charset="0"/>
              <a:buChar char="•"/>
            </a:pPr>
            <a:r>
              <a:rPr lang="en-GB" sz="1400" dirty="0" smtClean="0"/>
              <a:t>Declaration mode: </a:t>
            </a:r>
          </a:p>
          <a:p>
            <a:pPr marL="742950" lvl="1" indent="-285750" algn="l">
              <a:spcBef>
                <a:spcPts val="300"/>
              </a:spcBef>
              <a:buFont typeface="Arial" panose="020B0604020202020204" pitchFamily="34" charset="0"/>
              <a:buChar char="•"/>
            </a:pPr>
            <a:r>
              <a:rPr lang="en-GB" sz="1400" dirty="0"/>
              <a:t>Revision of calculated vehicle </a:t>
            </a:r>
            <a:r>
              <a:rPr lang="en-GB" sz="1400" dirty="0" smtClean="0"/>
              <a:t>loads</a:t>
            </a:r>
          </a:p>
          <a:p>
            <a:pPr marL="742950" lvl="1" indent="-285750" algn="l">
              <a:spcBef>
                <a:spcPts val="300"/>
              </a:spcBef>
              <a:buFont typeface="Arial" panose="020B0604020202020204" pitchFamily="34" charset="0"/>
              <a:buChar char="•"/>
            </a:pPr>
            <a:r>
              <a:rPr lang="en-GB" sz="1400" dirty="0" smtClean="0"/>
              <a:t>implementation of refuse cycle (instead “municipal”)</a:t>
            </a:r>
            <a:br>
              <a:rPr lang="en-GB" sz="1400" dirty="0" smtClean="0"/>
            </a:br>
            <a:r>
              <a:rPr lang="en-GB" sz="1400" b="0" dirty="0" smtClean="0"/>
              <a:t>Update of driving cycle, consideration of generic PTO loads during collection part,</a:t>
            </a:r>
            <a:br>
              <a:rPr lang="en-GB" sz="1400" b="0" dirty="0" smtClean="0"/>
            </a:br>
            <a:r>
              <a:rPr lang="en-GB" sz="1400" b="0" dirty="0" smtClean="0"/>
              <a:t>generic body weight and payload</a:t>
            </a:r>
          </a:p>
          <a:p>
            <a:pPr marL="742950" lvl="1" indent="-285750" algn="l">
              <a:spcBef>
                <a:spcPts val="300"/>
              </a:spcBef>
              <a:buFont typeface="Arial" panose="020B0604020202020204" pitchFamily="34" charset="0"/>
              <a:buChar char="•"/>
            </a:pPr>
            <a:r>
              <a:rPr lang="en-GB" sz="1400" dirty="0"/>
              <a:t>VECTO output (approval </a:t>
            </a:r>
            <a:r>
              <a:rPr lang="en-GB" sz="1400" dirty="0" smtClean="0"/>
              <a:t>authorities</a:t>
            </a:r>
            <a:r>
              <a:rPr lang="en-GB" sz="1400" dirty="0"/>
              <a:t>, customer info, monitoring</a:t>
            </a:r>
            <a:r>
              <a:rPr lang="en-GB" sz="1400" dirty="0" smtClean="0"/>
              <a:t>)</a:t>
            </a:r>
          </a:p>
          <a:p>
            <a:pPr marL="742950" lvl="1" indent="-285750" algn="l">
              <a:spcBef>
                <a:spcPts val="300"/>
              </a:spcBef>
              <a:buFont typeface="Arial" panose="020B0604020202020204" pitchFamily="34" charset="0"/>
              <a:buChar char="•"/>
            </a:pPr>
            <a:r>
              <a:rPr lang="en-GB" sz="1400" dirty="0" smtClean="0"/>
              <a:t>Buses</a:t>
            </a:r>
            <a:endParaRPr lang="en-GB" sz="1400" b="0" dirty="0" smtClean="0"/>
          </a:p>
          <a:p>
            <a:pPr marL="285750" indent="-285750" algn="l">
              <a:buFont typeface="Arial" panose="020B0604020202020204" pitchFamily="34" charset="0"/>
              <a:buChar char="•"/>
            </a:pPr>
            <a:r>
              <a:rPr lang="en-GB" sz="1400" dirty="0" smtClean="0"/>
              <a:t>Predictive ADAS</a:t>
            </a:r>
          </a:p>
          <a:p>
            <a:pPr marL="285750" indent="-285750" algn="l">
              <a:buFont typeface="Arial" panose="020B0604020202020204" pitchFamily="34" charset="0"/>
              <a:buChar char="•"/>
            </a:pP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a:t>
            </a:r>
            <a:r>
              <a:rPr lang="en-US" dirty="0"/>
              <a:t>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a:t>
            </a:r>
            <a:r>
              <a:rPr lang="en-US" dirty="0"/>
              <a:t>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3.0.3.495</a:t>
            </a:r>
            <a:r>
              <a:rPr lang="en-US" dirty="0"/>
              <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a:t>
            </a:r>
            <a:r>
              <a:rPr lang="en-GB" sz="2800" kern="0" dirty="0"/>
              <a:t>3.0.2</a:t>
            </a:r>
            <a:br>
              <a:rPr lang="en-GB" sz="2800" kern="0" dirty="0"/>
            </a:br>
            <a:r>
              <a:rPr lang="en-GB" sz="1600" kern="0" dirty="0" smtClean="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smtClean="0"/>
              <a:t>+ </a:t>
            </a:r>
            <a:r>
              <a:rPr lang="en-US" sz="800" dirty="0"/>
              <a:t>Measured Speed</a:t>
            </a:r>
          </a:p>
          <a:p>
            <a:r>
              <a:rPr lang="en-US" sz="800" dirty="0" smtClean="0"/>
              <a:t>+ </a:t>
            </a:r>
            <a:r>
              <a:rPr lang="en-US" sz="800" dirty="0"/>
              <a:t>Measured Speed with Gear</a:t>
            </a:r>
          </a:p>
          <a:p>
            <a:r>
              <a:rPr lang="en-US" sz="800" dirty="0" smtClean="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smtClean="0"/>
              <a:t>+ </a:t>
            </a:r>
            <a:r>
              <a:rPr lang="en-US" sz="800" dirty="0"/>
              <a:t>Move wheels inertia from vehicle to wheels</a:t>
            </a:r>
          </a:p>
          <a:p>
            <a:r>
              <a:rPr lang="en-US" sz="800" dirty="0" smtClean="0"/>
              <a:t>+ </a:t>
            </a:r>
            <a:r>
              <a:rPr lang="en-US" sz="800" dirty="0"/>
              <a:t>Auxiliaries no longer connected via clutch to the engine but via a separate port</a:t>
            </a:r>
          </a:p>
          <a:p>
            <a:r>
              <a:rPr lang="en-US" sz="800" dirty="0" smtClean="0"/>
              <a:t>+ </a:t>
            </a:r>
            <a:r>
              <a:rPr lang="en-US" sz="800" dirty="0"/>
              <a:t>Engine checks overload of gearbox and engine overload</a:t>
            </a:r>
          </a:p>
          <a:p>
            <a:r>
              <a:rPr lang="en-US" sz="800" dirty="0"/>
              <a:t>- Fixed some driving behavior related issues in </a:t>
            </a:r>
            <a:r>
              <a:rPr lang="en-US" sz="800" dirty="0" err="1"/>
              <a:t>VectoCore</a:t>
            </a:r>
            <a:r>
              <a:rPr lang="en-US" sz="800" dirty="0"/>
              <a:t>:</a:t>
            </a:r>
          </a:p>
          <a:p>
            <a:r>
              <a:rPr lang="en-US" sz="800" dirty="0" smtClean="0"/>
              <a:t>+ </a:t>
            </a:r>
            <a:r>
              <a:rPr lang="en-US" sz="800" dirty="0"/>
              <a:t>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4604</Words>
  <Application>Microsoft Office PowerPoint</Application>
  <PresentationFormat>Bildschirmpräsentation (4:3)</PresentationFormat>
  <Paragraphs>452</Paragraphs>
  <Slides>39</Slides>
  <Notes>0</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39</vt:i4>
      </vt:variant>
    </vt:vector>
  </HeadingPairs>
  <TitlesOfParts>
    <vt:vector size="42" baseType="lpstr">
      <vt:lpstr>Arial</vt:lpstr>
      <vt:lpstr>Verdana</vt:lpstr>
      <vt:lpstr>Standarddesign</vt:lpstr>
      <vt:lpstr>PowerPoint-Präsentation</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1187</cp:revision>
  <cp:lastPrinted>2013-01-22T12:03:30Z</cp:lastPrinted>
  <dcterms:created xsi:type="dcterms:W3CDTF">2010-01-07T15:28:02Z</dcterms:created>
  <dcterms:modified xsi:type="dcterms:W3CDTF">2018-12-04T11:53:54Z</dcterms:modified>
</cp:coreProperties>
</file>