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handoutMasterIdLst>
    <p:handoutMasterId r:id="rId53"/>
  </p:handoutMasterIdLst>
  <p:sldIdLst>
    <p:sldId id="575" r:id="rId2"/>
    <p:sldId id="681" r:id="rId3"/>
    <p:sldId id="690" r:id="rId4"/>
    <p:sldId id="688" r:id="rId5"/>
    <p:sldId id="689" r:id="rId6"/>
    <p:sldId id="687" r:id="rId7"/>
    <p:sldId id="686" r:id="rId8"/>
    <p:sldId id="683" r:id="rId9"/>
    <p:sldId id="684" r:id="rId10"/>
    <p:sldId id="677" r:id="rId11"/>
    <p:sldId id="685" r:id="rId12"/>
    <p:sldId id="682" r:id="rId13"/>
    <p:sldId id="680" r:id="rId14"/>
    <p:sldId id="679" r:id="rId15"/>
    <p:sldId id="678" r:id="rId16"/>
    <p:sldId id="671" r:id="rId17"/>
    <p:sldId id="676" r:id="rId18"/>
    <p:sldId id="675" r:id="rId19"/>
    <p:sldId id="674" r:id="rId20"/>
    <p:sldId id="673" r:id="rId21"/>
    <p:sldId id="672" r:id="rId22"/>
    <p:sldId id="669" r:id="rId23"/>
    <p:sldId id="670" r:id="rId24"/>
    <p:sldId id="664" r:id="rId25"/>
    <p:sldId id="666" r:id="rId26"/>
    <p:sldId id="667" r:id="rId27"/>
    <p:sldId id="668" r:id="rId28"/>
    <p:sldId id="665" r:id="rId29"/>
    <p:sldId id="663" r:id="rId30"/>
    <p:sldId id="661" r:id="rId31"/>
    <p:sldId id="662" r:id="rId32"/>
    <p:sldId id="657" r:id="rId33"/>
    <p:sldId id="659" r:id="rId34"/>
    <p:sldId id="660" r:id="rId35"/>
    <p:sldId id="656" r:id="rId36"/>
    <p:sldId id="655" r:id="rId37"/>
    <p:sldId id="654" r:id="rId38"/>
    <p:sldId id="653" r:id="rId39"/>
    <p:sldId id="651" r:id="rId40"/>
    <p:sldId id="648" r:id="rId41"/>
    <p:sldId id="649" r:id="rId42"/>
    <p:sldId id="650" r:id="rId43"/>
    <p:sldId id="645" r:id="rId44"/>
    <p:sldId id="647" r:id="rId45"/>
    <p:sldId id="646" r:id="rId46"/>
    <p:sldId id="640" r:id="rId47"/>
    <p:sldId id="641" r:id="rId48"/>
    <p:sldId id="642" r:id="rId49"/>
    <p:sldId id="643" r:id="rId50"/>
    <p:sldId id="644" r:id="rId51"/>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5" d="100"/>
          <a:sy n="105" d="100"/>
        </p:scale>
        <p:origin x="1710" y="9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8"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dirty="0" smtClean="0">
                <a:solidFill>
                  <a:srgbClr val="990000"/>
                </a:solidFill>
              </a:rPr>
              <a:t>29</a:t>
            </a:r>
            <a:r>
              <a:rPr lang="en-US" sz="2000" dirty="0" smtClean="0">
                <a:solidFill>
                  <a:srgbClr val="990000"/>
                </a:solidFill>
              </a:rPr>
              <a:t>.03.2019</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3.3.2.1548 Official Release</a:t>
            </a:r>
            <a:r>
              <a:rPr lang="en-US" dirty="0"/>
              <a:t/>
            </a:r>
            <a:br>
              <a:rPr lang="en-US" dirty="0"/>
            </a:br>
            <a:r>
              <a:rPr lang="en-US" sz="1600" dirty="0" smtClean="0"/>
              <a:t>2019-03-29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3.3.2.1519-RC)</a:t>
            </a:r>
            <a:endParaRPr lang="en-US" sz="1800" b="1" dirty="0" smtClean="0"/>
          </a:p>
          <a:p>
            <a:pPr lvl="1">
              <a:tabLst>
                <a:tab pos="1885950" algn="l"/>
              </a:tabLst>
            </a:pPr>
            <a:r>
              <a:rPr lang="en-US" sz="1600" dirty="0"/>
              <a:t>[VECTO-861] - 3.3.1: Torque converter not working correctly</a:t>
            </a:r>
          </a:p>
          <a:p>
            <a:pPr lvl="1">
              <a:tabLst>
                <a:tab pos="1885950" algn="l"/>
              </a:tabLst>
            </a:pPr>
            <a:r>
              <a:rPr lang="en-US" sz="1600" dirty="0" smtClean="0"/>
              <a:t>[</a:t>
            </a:r>
            <a:r>
              <a:rPr lang="en-US" sz="1600" dirty="0"/>
              <a:t>VECTO-904] - Range for gear loss map not sufficient.</a:t>
            </a:r>
          </a:p>
          <a:p>
            <a:pPr lvl="1">
              <a:tabLst>
                <a:tab pos="1885950" algn="l"/>
              </a:tabLst>
            </a:pPr>
            <a:r>
              <a:rPr lang="en-US" sz="1600" dirty="0" smtClean="0"/>
              <a:t>[</a:t>
            </a:r>
            <a:r>
              <a:rPr lang="en-US" sz="1600" dirty="0"/>
              <a:t>VECTO-909] - 3.3.2.1519: Problems running more than one input .xml</a:t>
            </a:r>
          </a:p>
          <a:p>
            <a:pPr lvl="1">
              <a:tabLst>
                <a:tab pos="1885950" algn="l"/>
              </a:tabLst>
            </a:pPr>
            <a:r>
              <a:rPr lang="en-US" sz="1600" dirty="0" smtClean="0"/>
              <a:t>[</a:t>
            </a: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smtClean="0"/>
              <a:t>[</a:t>
            </a: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smtClean="0"/>
              <a:t>[</a:t>
            </a: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endParaRPr lang="en-US" sz="1600" dirty="0" smtClean="0"/>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a:t>
            </a:r>
          </a:p>
          <a:p>
            <a:pPr lvl="1">
              <a:tabLst>
                <a:tab pos="1885950" algn="l"/>
              </a:tabLst>
            </a:pPr>
            <a:r>
              <a:rPr lang="en-US" sz="1600" dirty="0" smtClean="0"/>
              <a:t>[</a:t>
            </a:r>
            <a:r>
              <a:rPr lang="en-US" sz="1600" dirty="0"/>
              <a:t>VECTO-869] - change new vehicle input fields (ADAS, sleeper cab, etc.) to be mandatory</a:t>
            </a:r>
          </a:p>
          <a:p>
            <a:pPr lvl="1">
              <a:tabLst>
                <a:tab pos="1885950" algn="l"/>
              </a:tabLst>
            </a:pPr>
            <a:r>
              <a:rPr lang="en-US" sz="1600" dirty="0" smtClean="0"/>
              <a:t>[</a:t>
            </a:r>
            <a:r>
              <a:rPr lang="en-US" sz="1600" dirty="0"/>
              <a:t>VECTO-784] - Configuration file for VECTO log files</a:t>
            </a:r>
          </a:p>
          <a:p>
            <a:pPr lvl="1">
              <a:tabLst>
                <a:tab pos="1885950" algn="l"/>
              </a:tabLst>
            </a:pPr>
            <a:r>
              <a:rPr lang="en-US" sz="1600" dirty="0" smtClean="0"/>
              <a:t>[</a:t>
            </a:r>
            <a:r>
              <a:rPr lang="en-US" sz="1600" dirty="0"/>
              <a:t>VECTO-865] - Extend Sum-Data</a:t>
            </a:r>
          </a:p>
          <a:p>
            <a:pPr lvl="1">
              <a:tabLst>
                <a:tab pos="1885950" algn="l"/>
              </a:tabLst>
            </a:pPr>
            <a:r>
              <a:rPr lang="en-US" sz="1600" dirty="0" smtClean="0"/>
              <a:t>[</a:t>
            </a:r>
            <a:r>
              <a:rPr lang="en-US" sz="1600" dirty="0"/>
              <a:t>VECTO-873] - Add digest value to </a:t>
            </a:r>
            <a:r>
              <a:rPr lang="en-US" sz="1600" dirty="0" err="1"/>
              <a:t>SumData</a:t>
            </a:r>
            <a:endParaRPr lang="en-US" sz="1600" dirty="0" smtClean="0"/>
          </a:p>
          <a:p>
            <a:pPr>
              <a:tabLst>
                <a:tab pos="1885950" algn="l"/>
              </a:tabLst>
            </a:pPr>
            <a:r>
              <a:rPr lang="en-US" sz="1800" b="1" dirty="0" err="1" smtClean="0"/>
              <a:t>Bugfixes</a:t>
            </a:r>
            <a:endParaRPr lang="en-US" sz="1800" b="1" dirty="0" smtClean="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smtClean="0"/>
              <a:t>[</a:t>
            </a:r>
            <a:r>
              <a:rPr lang="en-US" sz="1600" dirty="0"/>
              <a:t>VECTO-787] - APT: </a:t>
            </a:r>
            <a:r>
              <a:rPr lang="en-US" sz="1600" dirty="0" err="1"/>
              <a:t>DrivingAction</a:t>
            </a:r>
            <a:r>
              <a:rPr lang="en-US" sz="1600" dirty="0"/>
              <a:t> Accelerate after Overload</a:t>
            </a:r>
          </a:p>
          <a:p>
            <a:pPr lvl="1">
              <a:tabLst>
                <a:tab pos="1885950" algn="l"/>
              </a:tabLst>
            </a:pPr>
            <a:r>
              <a:rPr lang="en-US" sz="1600" dirty="0" smtClean="0"/>
              <a:t>[</a:t>
            </a:r>
            <a:r>
              <a:rPr lang="en-US" sz="1600" dirty="0"/>
              <a:t>VECTO-789] - APT: </a:t>
            </a:r>
            <a:r>
              <a:rPr lang="en-US" sz="1600" dirty="0" err="1"/>
              <a:t>ResponseUnderload</a:t>
            </a:r>
            <a:endParaRPr lang="en-US" sz="1600" dirty="0"/>
          </a:p>
          <a:p>
            <a:pPr lvl="1">
              <a:tabLst>
                <a:tab pos="1885950" algn="l"/>
              </a:tabLst>
            </a:pPr>
            <a:r>
              <a:rPr lang="en-US" sz="1600" dirty="0" smtClean="0"/>
              <a:t>[</a:t>
            </a:r>
            <a:r>
              <a:rPr lang="en-US" sz="1600" dirty="0"/>
              <a:t>VECTO-797] - VECTO abort with AT transmission and TC table value</a:t>
            </a:r>
          </a:p>
          <a:p>
            <a:pPr lvl="1">
              <a:tabLst>
                <a:tab pos="1885950" algn="l"/>
              </a:tabLst>
            </a:pPr>
            <a:r>
              <a:rPr lang="en-US" sz="1600" dirty="0" smtClean="0"/>
              <a:t>[</a:t>
            </a:r>
            <a:r>
              <a:rPr lang="en-US" sz="1600" dirty="0"/>
              <a:t>VECTO-798] - VECTO abort with certified AT transmission data and certified TC data</a:t>
            </a:r>
          </a:p>
          <a:p>
            <a:pPr lvl="1">
              <a:tabLst>
                <a:tab pos="1885950" algn="l"/>
              </a:tabLst>
            </a:pPr>
            <a:r>
              <a:rPr lang="en-US" sz="1600" dirty="0" smtClean="0"/>
              <a:t>[</a:t>
            </a:r>
            <a:r>
              <a:rPr lang="en-US" sz="1600" dirty="0"/>
              <a:t>VECTO-807] - VECTO errors in vehicle class 1/2/3</a:t>
            </a:r>
          </a:p>
          <a:p>
            <a:pPr lvl="1">
              <a:tabLst>
                <a:tab pos="1885950" algn="l"/>
              </a:tabLst>
            </a:pPr>
            <a:r>
              <a:rPr lang="en-US" sz="1600" dirty="0" smtClean="0"/>
              <a:t>[</a:t>
            </a:r>
            <a:r>
              <a:rPr lang="en-US" sz="1600" dirty="0"/>
              <a:t>VECTO-827] - Torque converter inertia </a:t>
            </a:r>
          </a:p>
          <a:p>
            <a:pPr lvl="1">
              <a:tabLst>
                <a:tab pos="1885950" algn="l"/>
              </a:tabLst>
            </a:pPr>
            <a:r>
              <a:rPr lang="en-US" sz="1600" dirty="0" smtClean="0"/>
              <a:t>[</a:t>
            </a:r>
            <a:r>
              <a:rPr lang="en-US" sz="1600" dirty="0"/>
              <a:t>VECTO-838] - APT: </a:t>
            </a:r>
            <a:r>
              <a:rPr lang="en-US" sz="1600" dirty="0" err="1" smtClean="0"/>
              <a:t>ResponseOverload</a:t>
            </a:r>
            <a:endParaRPr lang="en-US" sz="1600" dirty="0" smtClean="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1994297893"/>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smtClean="0"/>
              <a:t>Bugfixes</a:t>
            </a:r>
            <a:endParaRPr lang="en-US" sz="1800" b="1" dirty="0" smtClean="0"/>
          </a:p>
          <a:p>
            <a:pPr lvl="1">
              <a:tabLst>
                <a:tab pos="1885950" algn="l"/>
              </a:tabLst>
            </a:pPr>
            <a:r>
              <a:rPr lang="en-US" sz="1600" dirty="0" smtClean="0"/>
              <a:t>[VECTO-843</a:t>
            </a:r>
            <a:r>
              <a:rPr lang="en-US" sz="1600" dirty="0"/>
              <a:t>] - AT Transmissions problem on VECTO 3.3.1.1463</a:t>
            </a:r>
          </a:p>
          <a:p>
            <a:pPr lvl="1">
              <a:tabLst>
                <a:tab pos="1885950" algn="l"/>
              </a:tabLst>
            </a:pPr>
            <a:r>
              <a:rPr lang="en-US" sz="1600" dirty="0" smtClean="0"/>
              <a:t>[</a:t>
            </a:r>
            <a:r>
              <a:rPr lang="en-US" sz="1600" dirty="0"/>
              <a:t>VECTO-844] - Error with AT gearbox model</a:t>
            </a:r>
          </a:p>
          <a:p>
            <a:pPr lvl="1">
              <a:tabLst>
                <a:tab pos="1885950" algn="l"/>
              </a:tabLst>
            </a:pPr>
            <a:r>
              <a:rPr lang="en-US" sz="1600" dirty="0" smtClean="0"/>
              <a:t>[</a:t>
            </a:r>
            <a:r>
              <a:rPr lang="en-US" sz="1600" dirty="0"/>
              <a:t>VECTO-847] - Simulation abort due to error in </a:t>
            </a:r>
            <a:r>
              <a:rPr lang="en-US" sz="1600" dirty="0" err="1"/>
              <a:t>NLog</a:t>
            </a:r>
            <a:r>
              <a:rPr lang="en-US" sz="1600" dirty="0"/>
              <a:t>?</a:t>
            </a:r>
          </a:p>
          <a:p>
            <a:pPr lvl="1">
              <a:tabLst>
                <a:tab pos="1885950" algn="l"/>
              </a:tabLst>
            </a:pPr>
            <a:r>
              <a:rPr lang="en-US" sz="1600" dirty="0" smtClean="0"/>
              <a:t>[</a:t>
            </a: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smtClean="0"/>
              <a:t>[</a:t>
            </a:r>
            <a:r>
              <a:rPr lang="en-US" sz="1600" dirty="0"/>
              <a:t>VECTO-858] - Urban Delivery Abort - with APT-S Transmission and TC</a:t>
            </a:r>
          </a:p>
          <a:p>
            <a:pPr lvl="1">
              <a:tabLst>
                <a:tab pos="1885950" algn="l"/>
              </a:tabLst>
            </a:pPr>
            <a:r>
              <a:rPr lang="en-US" sz="1600" dirty="0" smtClean="0"/>
              <a:t>[</a:t>
            </a:r>
            <a:r>
              <a:rPr lang="en-US" sz="1600" dirty="0"/>
              <a:t>VECTO-861] - 3.3.1: Torque converter not working correctly</a:t>
            </a:r>
          </a:p>
          <a:p>
            <a:pPr lvl="1">
              <a:tabLst>
                <a:tab pos="1885950" algn="l"/>
              </a:tabLst>
            </a:pPr>
            <a:r>
              <a:rPr lang="en-US" sz="1600" dirty="0" smtClean="0"/>
              <a:t>[</a:t>
            </a:r>
            <a:r>
              <a:rPr lang="en-US" sz="1600" dirty="0"/>
              <a:t>VECTO-872] - MRF/CIF: Torque Converter certification method and certification </a:t>
            </a:r>
            <a:r>
              <a:rPr lang="en-US" sz="1600" dirty="0" err="1" smtClean="0"/>
              <a:t>nbr</a:t>
            </a:r>
            <a:r>
              <a:rPr lang="en-US" sz="1600" dirty="0" smtClean="0"/>
              <a:t> </a:t>
            </a:r>
            <a:r>
              <a:rPr lang="en-US" sz="1600" dirty="0"/>
              <a:t>not correctly set</a:t>
            </a:r>
          </a:p>
          <a:p>
            <a:pPr lvl="1">
              <a:tabLst>
                <a:tab pos="1885950" algn="l"/>
              </a:tabLst>
            </a:pPr>
            <a:r>
              <a:rPr lang="en-US" sz="1600" dirty="0" smtClean="0"/>
              <a:t>[</a:t>
            </a:r>
            <a:r>
              <a:rPr lang="en-US" sz="1600" dirty="0"/>
              <a:t>VECTO-879] - SIMULATION RUN ABORTED </a:t>
            </a:r>
            <a:r>
              <a:rPr lang="en-US" sz="1600" dirty="0" err="1"/>
              <a:t>DistanceRun</a:t>
            </a:r>
            <a:r>
              <a:rPr lang="en-US" sz="1600" dirty="0"/>
              <a:t> got an unexpected </a:t>
            </a:r>
            <a:r>
              <a:rPr lang="en-US" sz="1600" dirty="0" smtClean="0"/>
              <a:t>resp.</a:t>
            </a:r>
            <a:endParaRPr lang="en-US" sz="1600" dirty="0"/>
          </a:p>
          <a:p>
            <a:pPr lvl="1">
              <a:tabLst>
                <a:tab pos="1885950" algn="l"/>
              </a:tabLst>
            </a:pPr>
            <a:r>
              <a:rPr lang="en-US" sz="1600" dirty="0" smtClean="0"/>
              <a:t>[</a:t>
            </a:r>
            <a:r>
              <a:rPr lang="en-US" sz="1600" dirty="0"/>
              <a:t>VECTO-883] - Traction interruption may be too long</a:t>
            </a:r>
          </a:p>
          <a:p>
            <a:pPr lvl="1">
              <a:tabLst>
                <a:tab pos="1885950" algn="l"/>
              </a:tabLst>
            </a:pPr>
            <a:r>
              <a:rPr lang="en-US" sz="1600" dirty="0" smtClean="0"/>
              <a:t>[</a:t>
            </a:r>
            <a:r>
              <a:rPr lang="en-US" sz="1600" dirty="0"/>
              <a:t>VECTO-815] - Unexpected Response: </a:t>
            </a:r>
            <a:r>
              <a:rPr lang="en-US" sz="1600" dirty="0" err="1"/>
              <a:t>SpeedLimitExceeded</a:t>
            </a:r>
            <a:endParaRPr lang="en-US" sz="1600" dirty="0"/>
          </a:p>
          <a:p>
            <a:pPr lvl="1">
              <a:tabLst>
                <a:tab pos="1885950" algn="l"/>
              </a:tabLst>
            </a:pPr>
            <a:r>
              <a:rPr lang="en-US" sz="1600" dirty="0" smtClean="0"/>
              <a:t>[</a:t>
            </a:r>
            <a:r>
              <a:rPr lang="en-US" sz="1600" dirty="0"/>
              <a:t>VECTO-816] - object reference not set to an instance of an object</a:t>
            </a:r>
          </a:p>
          <a:p>
            <a:pPr lvl="1">
              <a:tabLst>
                <a:tab pos="1885950" algn="l"/>
              </a:tabLst>
            </a:pPr>
            <a:r>
              <a:rPr lang="en-US" sz="1600" dirty="0" smtClean="0"/>
              <a:t>[</a:t>
            </a: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smtClean="0"/>
              <a:t>[</a:t>
            </a: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smtClean="0"/>
              <a:t>[</a:t>
            </a: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smtClean="0"/>
              <a:t>Installation Option </a:t>
            </a:r>
            <a:r>
              <a:rPr lang="en-US" sz="1800" dirty="0" smtClean="0"/>
              <a:t>(VECTO-784)</a:t>
            </a:r>
          </a:p>
          <a:p>
            <a:pPr lvl="1">
              <a:tabLst>
                <a:tab pos="1885950" algn="l"/>
              </a:tabLst>
            </a:pPr>
            <a:r>
              <a:rPr lang="en-US" sz="1600" dirty="0" smtClean="0"/>
              <a:t>VECTO 3.3.2 adds a new feature to run as ‘installed application’ instead of the ‘portable’ mode</a:t>
            </a:r>
          </a:p>
          <a:p>
            <a:pPr lvl="1">
              <a:tabLst>
                <a:tab pos="1885950" algn="l"/>
              </a:tabLst>
            </a:pPr>
            <a:r>
              <a:rPr lang="en-US" sz="1600" dirty="0" smtClean="0"/>
              <a:t>VECTO as ‘installed application’</a:t>
            </a:r>
          </a:p>
          <a:p>
            <a:pPr lvl="2">
              <a:tabLst>
                <a:tab pos="1885950" algn="l"/>
              </a:tabLst>
            </a:pPr>
            <a:r>
              <a:rPr lang="en-US" sz="1200" dirty="0" smtClean="0"/>
              <a:t>Needs no write permissions to the VECTO application folder</a:t>
            </a:r>
          </a:p>
          <a:p>
            <a:pPr lvl="2">
              <a:tabLst>
                <a:tab pos="1885950" algn="l"/>
              </a:tabLst>
            </a:pPr>
            <a:r>
              <a:rPr lang="en-US" sz="1200" dirty="0" smtClean="0"/>
              <a:t>All configuration files and settings are written to %</a:t>
            </a:r>
            <a:r>
              <a:rPr lang="en-US" sz="1200" dirty="0" err="1" smtClean="0"/>
              <a:t>AppData</a:t>
            </a:r>
            <a:r>
              <a:rPr lang="en-US" sz="1200" dirty="0" smtClean="0"/>
              <a:t>%\VECTO\&lt;Version&gt;</a:t>
            </a:r>
          </a:p>
          <a:p>
            <a:pPr lvl="2">
              <a:tabLst>
                <a:tab pos="1885950" algn="l"/>
              </a:tabLst>
            </a:pPr>
            <a:r>
              <a:rPr lang="en-US" sz="1200" dirty="0" smtClean="0"/>
              <a:t>All log files are written to %</a:t>
            </a:r>
            <a:r>
              <a:rPr lang="en-US" sz="1200" dirty="0" err="1" smtClean="0"/>
              <a:t>LocalAppData</a:t>
            </a:r>
            <a:r>
              <a:rPr lang="en-US" sz="1200" dirty="0" smtClean="0"/>
              <a:t>%\VECTO\&lt;Version&gt;</a:t>
            </a:r>
          </a:p>
          <a:p>
            <a:pPr lvl="1">
              <a:tabLst>
                <a:tab pos="1885950" algn="l"/>
              </a:tabLst>
            </a:pPr>
            <a:r>
              <a:rPr lang="en-US" sz="1600" dirty="0" smtClean="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smtClean="0"/>
              <a:t>Edit </a:t>
            </a:r>
            <a:r>
              <a:rPr lang="en-US" sz="1200" dirty="0"/>
              <a:t>the file </a:t>
            </a:r>
            <a:r>
              <a:rPr lang="en-US" sz="1200" dirty="0" smtClean="0"/>
              <a:t>‘</a:t>
            </a:r>
            <a:r>
              <a:rPr lang="en-US" sz="1200" i="1" dirty="0" smtClean="0"/>
              <a:t>install.ini</a:t>
            </a:r>
            <a:r>
              <a:rPr lang="en-US" sz="1200" dirty="0" smtClean="0"/>
              <a:t>’ </a:t>
            </a:r>
            <a:r>
              <a:rPr lang="en-US" sz="1200" dirty="0"/>
              <a:t>and remove the comment character (#) in the line containing </a:t>
            </a:r>
            <a:r>
              <a:rPr lang="en-US" sz="1200" dirty="0" smtClean="0"/>
              <a:t/>
            </a:r>
            <a:br>
              <a:rPr lang="en-US" sz="1200" dirty="0" smtClean="0"/>
            </a:br>
            <a:r>
              <a:rPr lang="en-US" sz="1200" dirty="0" smtClean="0"/>
              <a:t>	</a:t>
            </a:r>
            <a:r>
              <a:rPr lang="en-US" sz="1200" b="1" dirty="0" err="1" smtClean="0">
                <a:latin typeface="Courier New" panose="02070309020205020404" pitchFamily="49" charset="0"/>
                <a:cs typeface="Courier New" panose="02070309020205020404" pitchFamily="49" charset="0"/>
              </a:rPr>
              <a:t>ExecutionMode</a:t>
            </a:r>
            <a:r>
              <a:rPr lang="en-US" sz="1200" b="1" dirty="0" smtClean="0">
                <a:latin typeface="Courier New" panose="02070309020205020404" pitchFamily="49" charset="0"/>
                <a:cs typeface="Courier New" panose="02070309020205020404" pitchFamily="49" charset="0"/>
              </a:rPr>
              <a:t> </a:t>
            </a:r>
            <a:r>
              <a:rPr lang="en-US" sz="1200" b="1" dirty="0">
                <a:latin typeface="Courier New" panose="02070309020205020404" pitchFamily="49" charset="0"/>
                <a:cs typeface="Courier New" panose="02070309020205020404" pitchFamily="49" charset="0"/>
              </a:rPr>
              <a:t>= </a:t>
            </a:r>
            <a:r>
              <a:rPr lang="en-US" sz="1200" b="1" dirty="0" smtClean="0">
                <a:latin typeface="Courier New" panose="02070309020205020404" pitchFamily="49" charset="0"/>
                <a:cs typeface="Courier New" panose="02070309020205020404" pitchFamily="49" charset="0"/>
              </a:rPr>
              <a:t>install</a:t>
            </a:r>
            <a:endParaRPr lang="en-US" sz="12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11785829"/>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3.3.1.1492 Official Release</a:t>
            </a:r>
            <a:r>
              <a:rPr lang="en-US" dirty="0"/>
              <a:t/>
            </a:r>
            <a:br>
              <a:rPr lang="en-US" dirty="0"/>
            </a:br>
            <a:r>
              <a:rPr lang="en-US" sz="1600" dirty="0" smtClean="0"/>
              <a:t>2019-02-01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3.3.1.1463-RC)</a:t>
            </a:r>
            <a:endParaRPr lang="en-US" sz="1800" b="1" dirty="0"/>
          </a:p>
          <a:p>
            <a:pPr lvl="1">
              <a:tabLst>
                <a:tab pos="1885950" algn="l"/>
              </a:tabLst>
            </a:pPr>
            <a:r>
              <a:rPr lang="en-US" sz="1400" dirty="0"/>
              <a:t>[VECTO-845] - Fixing bug for VECTO-840</a:t>
            </a:r>
          </a:p>
          <a:p>
            <a:pPr lvl="1">
              <a:tabLst>
                <a:tab pos="1885950" algn="l"/>
              </a:tabLst>
            </a:pPr>
            <a:r>
              <a:rPr lang="en-US" sz="1400" dirty="0" smtClean="0"/>
              <a:t>[</a:t>
            </a: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smtClean="0"/>
              <a:t>[</a:t>
            </a:r>
            <a:r>
              <a:rPr lang="en-US" sz="1400" dirty="0"/>
              <a:t>VECTO-837] - VECTO GUI displays incorrect cycles prior to simulation</a:t>
            </a:r>
          </a:p>
          <a:p>
            <a:pPr lvl="1">
              <a:tabLst>
                <a:tab pos="1885950" algn="l"/>
              </a:tabLst>
            </a:pPr>
            <a:r>
              <a:rPr lang="en-US" sz="1400" dirty="0" smtClean="0"/>
              <a:t>[</a:t>
            </a:r>
            <a:r>
              <a:rPr lang="en-US" sz="1400" dirty="0"/>
              <a:t>VECTO-831] - Addition of indication to be added in Help and Release notes for simulations with </a:t>
            </a:r>
            <a:r>
              <a:rPr lang="en-US" sz="1400" dirty="0" smtClean="0"/>
              <a:t>LNG</a:t>
            </a:r>
            <a:endParaRPr lang="en-US" sz="1400" dirty="0"/>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48183388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22183907"/>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smtClean="0"/>
              <a:t>New input parameters</a:t>
            </a:r>
            <a:endParaRPr lang="en-US" sz="1800" b="1" dirty="0"/>
          </a:p>
          <a:p>
            <a:pPr lvl="1">
              <a:tabLst>
                <a:tab pos="1885950" algn="l"/>
              </a:tabLst>
            </a:pPr>
            <a:r>
              <a:rPr lang="en-US" sz="1400" dirty="0" smtClean="0"/>
              <a:t>The new input fields (see table below) are optional in this version. When this release candidate will be an official version manufacturers MAY certify their new vehicles using the new input parameters. As from 1</a:t>
            </a:r>
            <a:r>
              <a:rPr lang="en-US" sz="1400" baseline="30000" dirty="0" smtClean="0"/>
              <a:t>st</a:t>
            </a:r>
            <a:r>
              <a:rPr lang="en-US" sz="1400" dirty="0" smtClean="0"/>
              <a:t> July 2019 the new input fields will become mandatory. Further details are provided in the timetable on the next page.</a:t>
            </a:r>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smtClean="0"/>
              <a:t>Currently </a:t>
            </a:r>
            <a:r>
              <a:rPr lang="en-US" sz="1400" kern="0" dirty="0" smtClean="0"/>
              <a:t>only</a:t>
            </a:r>
            <a:r>
              <a:rPr lang="en-US" sz="1400" b="0" kern="0" dirty="0" smtClean="0"/>
              <a:t> the fuel type ‘</a:t>
            </a:r>
            <a:r>
              <a:rPr lang="en-US" sz="1400" kern="0" dirty="0" smtClean="0"/>
              <a:t>NG PI</a:t>
            </a:r>
            <a:r>
              <a:rPr lang="en-US" sz="1400" b="0" kern="0" dirty="0" smtClean="0"/>
              <a:t>’ for the </a:t>
            </a:r>
            <a:r>
              <a:rPr lang="en-US" sz="1400" kern="0" dirty="0" smtClean="0"/>
              <a:t>engine certification </a:t>
            </a:r>
            <a:r>
              <a:rPr lang="en-US" sz="1400" b="0" kern="0" dirty="0" smtClean="0"/>
              <a:t>is allowed by 2017/2400. For LNG vehicles, therefore, the engine fuel type has to be set to ‘</a:t>
            </a:r>
            <a:r>
              <a:rPr lang="en-US" sz="1400" kern="0" dirty="0" smtClean="0"/>
              <a:t>NG PI</a:t>
            </a:r>
            <a:r>
              <a:rPr lang="en-US" sz="1400" b="0" kern="0" dirty="0" smtClean="0"/>
              <a:t>’ and at the vehicle level </a:t>
            </a:r>
            <a:r>
              <a:rPr lang="en-US" sz="1400" b="0" kern="0" dirty="0" err="1" smtClean="0"/>
              <a:t>NgTankSystem</a:t>
            </a:r>
            <a:r>
              <a:rPr lang="en-US" sz="1400" b="0" kern="0" dirty="0" smtClean="0"/>
              <a:t> has to be set to </a:t>
            </a:r>
            <a:r>
              <a:rPr lang="en-US" sz="1400" kern="0" dirty="0" smtClean="0"/>
              <a:t>liquefied</a:t>
            </a:r>
            <a:r>
              <a:rPr lang="en-US" sz="1400" b="0" kern="0" dirty="0" smtClean="0"/>
              <a:t>. For CNG the same engine fuel type is used but </a:t>
            </a:r>
            <a:r>
              <a:rPr lang="en-US" sz="1400" b="0" kern="0" dirty="0" err="1" smtClean="0"/>
              <a:t>NgTankSystem</a:t>
            </a:r>
            <a:r>
              <a:rPr lang="en-US" sz="1400" b="0" kern="0" dirty="0" smtClean="0"/>
              <a:t> has to be set to </a:t>
            </a:r>
            <a:r>
              <a:rPr lang="en-US" sz="1400" kern="0" dirty="0" smtClean="0"/>
              <a:t>compressed</a:t>
            </a:r>
            <a:r>
              <a:rPr lang="en-US" sz="1400" b="0" kern="0" dirty="0" smtClean="0"/>
              <a:t>.</a:t>
            </a:r>
          </a:p>
        </p:txBody>
      </p:sp>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6172</Words>
  <Application>Microsoft Office PowerPoint</Application>
  <PresentationFormat>Bildschirmpräsentation (4:3)</PresentationFormat>
  <Paragraphs>665</Paragraphs>
  <Slides>50</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50</vt:i4>
      </vt:variant>
    </vt:vector>
  </HeadingPairs>
  <TitlesOfParts>
    <vt:vector size="56" baseType="lpstr">
      <vt:lpstr>Arial</vt:lpstr>
      <vt:lpstr>Calibri</vt:lpstr>
      <vt:lpstr>Courier New</vt:lpstr>
      <vt:lpstr>Times New Roman</vt:lpstr>
      <vt:lpstr>Verdana</vt:lpstr>
      <vt:lpstr>Standarddesign</vt:lpstr>
      <vt:lpstr>PowerPoint-Präsentation</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1211</cp:revision>
  <cp:lastPrinted>2013-01-22T12:03:30Z</cp:lastPrinted>
  <dcterms:created xsi:type="dcterms:W3CDTF">2010-01-07T15:28:02Z</dcterms:created>
  <dcterms:modified xsi:type="dcterms:W3CDTF">2019-03-29T08:05:27Z</dcterms:modified>
</cp:coreProperties>
</file>