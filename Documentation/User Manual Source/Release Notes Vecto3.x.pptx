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8"/>
  </p:notesMasterIdLst>
  <p:handoutMasterIdLst>
    <p:handoutMasterId r:id="rId99"/>
  </p:handoutMasterIdLst>
  <p:sldIdLst>
    <p:sldId id="575" r:id="rId2"/>
    <p:sldId id="707" r:id="rId3"/>
    <p:sldId id="910" r:id="rId4"/>
    <p:sldId id="911" r:id="rId5"/>
    <p:sldId id="912" r:id="rId6"/>
    <p:sldId id="913" r:id="rId7"/>
    <p:sldId id="915" r:id="rId8"/>
    <p:sldId id="914" r:id="rId9"/>
    <p:sldId id="937" r:id="rId10"/>
    <p:sldId id="938" r:id="rId11"/>
    <p:sldId id="727" r:id="rId12"/>
    <p:sldId id="728" r:id="rId13"/>
    <p:sldId id="726" r:id="rId14"/>
    <p:sldId id="722" r:id="rId15"/>
    <p:sldId id="723" r:id="rId16"/>
    <p:sldId id="724" r:id="rId17"/>
    <p:sldId id="725" r:id="rId18"/>
    <p:sldId id="721" r:id="rId19"/>
    <p:sldId id="720" r:id="rId20"/>
    <p:sldId id="719" r:id="rId21"/>
    <p:sldId id="718" r:id="rId22"/>
    <p:sldId id="708" r:id="rId23"/>
    <p:sldId id="709" r:id="rId24"/>
    <p:sldId id="710" r:id="rId25"/>
    <p:sldId id="711" r:id="rId26"/>
    <p:sldId id="712" r:id="rId27"/>
    <p:sldId id="713" r:id="rId28"/>
    <p:sldId id="714" r:id="rId29"/>
    <p:sldId id="715" r:id="rId30"/>
    <p:sldId id="716" r:id="rId31"/>
    <p:sldId id="717" r:id="rId32"/>
    <p:sldId id="705" r:id="rId33"/>
    <p:sldId id="706" r:id="rId34"/>
    <p:sldId id="703" r:id="rId35"/>
    <p:sldId id="704" r:id="rId36"/>
    <p:sldId id="681" r:id="rId37"/>
    <p:sldId id="702" r:id="rId38"/>
    <p:sldId id="701" r:id="rId39"/>
    <p:sldId id="700" r:id="rId40"/>
    <p:sldId id="699" r:id="rId41"/>
    <p:sldId id="698" r:id="rId42"/>
    <p:sldId id="697" r:id="rId43"/>
    <p:sldId id="696" r:id="rId44"/>
    <p:sldId id="695" r:id="rId45"/>
    <p:sldId id="694" r:id="rId46"/>
    <p:sldId id="693" r:id="rId47"/>
    <p:sldId id="692" r:id="rId48"/>
    <p:sldId id="691" r:id="rId49"/>
    <p:sldId id="690" r:id="rId50"/>
    <p:sldId id="688" r:id="rId51"/>
    <p:sldId id="689" r:id="rId52"/>
    <p:sldId id="687" r:id="rId53"/>
    <p:sldId id="686" r:id="rId54"/>
    <p:sldId id="683" r:id="rId55"/>
    <p:sldId id="684" r:id="rId56"/>
    <p:sldId id="677" r:id="rId57"/>
    <p:sldId id="685" r:id="rId58"/>
    <p:sldId id="682" r:id="rId59"/>
    <p:sldId id="680" r:id="rId60"/>
    <p:sldId id="679" r:id="rId61"/>
    <p:sldId id="678" r:id="rId62"/>
    <p:sldId id="671" r:id="rId63"/>
    <p:sldId id="676" r:id="rId64"/>
    <p:sldId id="675" r:id="rId65"/>
    <p:sldId id="674" r:id="rId66"/>
    <p:sldId id="673" r:id="rId67"/>
    <p:sldId id="672" r:id="rId68"/>
    <p:sldId id="669" r:id="rId69"/>
    <p:sldId id="670" r:id="rId70"/>
    <p:sldId id="664" r:id="rId71"/>
    <p:sldId id="666" r:id="rId72"/>
    <p:sldId id="667" r:id="rId73"/>
    <p:sldId id="668" r:id="rId74"/>
    <p:sldId id="665" r:id="rId75"/>
    <p:sldId id="663" r:id="rId76"/>
    <p:sldId id="661" r:id="rId77"/>
    <p:sldId id="662" r:id="rId78"/>
    <p:sldId id="657" r:id="rId79"/>
    <p:sldId id="659" r:id="rId80"/>
    <p:sldId id="660" r:id="rId81"/>
    <p:sldId id="656" r:id="rId82"/>
    <p:sldId id="655" r:id="rId83"/>
    <p:sldId id="654" r:id="rId84"/>
    <p:sldId id="653" r:id="rId85"/>
    <p:sldId id="651" r:id="rId86"/>
    <p:sldId id="648" r:id="rId87"/>
    <p:sldId id="649" r:id="rId88"/>
    <p:sldId id="650" r:id="rId89"/>
    <p:sldId id="645" r:id="rId90"/>
    <p:sldId id="647" r:id="rId91"/>
    <p:sldId id="646" r:id="rId92"/>
    <p:sldId id="640" r:id="rId93"/>
    <p:sldId id="641" r:id="rId94"/>
    <p:sldId id="642" r:id="rId95"/>
    <p:sldId id="643" r:id="rId96"/>
    <p:sldId id="644" r:id="rId97"/>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0" d="100"/>
          <a:sy n="150" d="100"/>
        </p:scale>
        <p:origin x="2024" y="7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handoutMaster" Target="handoutMasters/handoutMaster1.xml"/><Relationship Id="rId10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notesMaster" Target="notesMasters/notesMaster1.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citnet.tech.ec.europa.eu/CITnet/jira/projects/VECTO/versions/341166"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hyperlink" Target="https://citnet.tech.ec.europa.eu/CITnet/jira/projects/VECTO/versions/335270" TargetMode="Externa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3.5.2022</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0.7.8.xxx Development Version</a:t>
            </a:r>
            <a:br>
              <a:rPr lang="en-US" dirty="0"/>
            </a:br>
            <a:r>
              <a:rPr lang="en-US" sz="1600" dirty="0"/>
              <a:t>April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Multi-Target Executables in </a:t>
            </a:r>
            <a:r>
              <a:rPr lang="en-US" sz="1400" dirty="0" err="1"/>
              <a:t>.net</a:t>
            </a:r>
            <a:r>
              <a:rPr lang="en-US" sz="1400" dirty="0"/>
              <a:t> 6.0 and </a:t>
            </a:r>
            <a:r>
              <a:rPr lang="en-US" sz="1400" dirty="0" err="1"/>
              <a:t>.net</a:t>
            </a:r>
            <a:r>
              <a:rPr lang="en-US" sz="1400" dirty="0"/>
              <a:t> Framework 4.8 (and </a:t>
            </a:r>
            <a:r>
              <a:rPr lang="en-US" sz="1400" dirty="0" err="1"/>
              <a:t>.net</a:t>
            </a:r>
            <a:r>
              <a:rPr lang="en-US" sz="1400" dirty="0"/>
              <a:t> Framework 4.5, but this will be removed with the next release)</a:t>
            </a:r>
          </a:p>
          <a:p>
            <a:pPr lvl="1">
              <a:tabLst>
                <a:tab pos="1885950" algn="l"/>
              </a:tabLst>
            </a:pPr>
            <a:r>
              <a:rPr lang="en-US" sz="1400" dirty="0"/>
              <a:t>Implementation Serial Hybrid Vehicles S2, S3, S4</a:t>
            </a:r>
          </a:p>
          <a:p>
            <a:pPr lvl="1">
              <a:tabLst>
                <a:tab pos="1885950" algn="l"/>
              </a:tabLst>
            </a:pPr>
            <a:r>
              <a:rPr lang="en-US" sz="1400" dirty="0"/>
              <a:t>Implementation APT-S/P with E2 and S2 vehicle architecture</a:t>
            </a:r>
          </a:p>
          <a:p>
            <a:pPr lvl="1">
              <a:tabLst>
                <a:tab pos="1885950" algn="l"/>
              </a:tabLst>
            </a:pPr>
            <a:r>
              <a:rPr lang="en-US" sz="1400" dirty="0"/>
              <a:t>Correct handling of retarder positions with HEV and PEV, adding </a:t>
            </a:r>
            <a:r>
              <a:rPr lang="en-US" sz="1400" dirty="0" err="1"/>
              <a:t>axlegear</a:t>
            </a:r>
            <a:r>
              <a:rPr lang="en-US" sz="1400" dirty="0"/>
              <a:t> input retarder option</a:t>
            </a:r>
          </a:p>
          <a:p>
            <a:pPr lvl="1">
              <a:tabLst>
                <a:tab pos="1885950" algn="l"/>
              </a:tabLst>
            </a:pPr>
            <a:r>
              <a:rPr lang="en-US" sz="1400" dirty="0"/>
              <a:t>Update hashing tool to handle new powertrain components (electric motor, battery, </a:t>
            </a:r>
            <a:r>
              <a:rPr lang="en-US" sz="1400" dirty="0" err="1"/>
              <a:t>supercap</a:t>
            </a:r>
            <a:r>
              <a:rPr lang="en-US" sz="1400" dirty="0"/>
              <a:t>)</a:t>
            </a:r>
          </a:p>
          <a:p>
            <a:pPr lvl="1">
              <a:tabLst>
                <a:tab pos="1885950" algn="l"/>
              </a:tabLst>
            </a:pPr>
            <a:r>
              <a:rPr lang="en-US" sz="1400" dirty="0"/>
              <a:t>Changing EM overload buffer calculation: interpolate between both voltage levels (pre-processing)</a:t>
            </a:r>
          </a:p>
          <a:p>
            <a:pPr lvl="1">
              <a:tabLst>
                <a:tab pos="1885950" algn="l"/>
              </a:tabLst>
            </a:pPr>
            <a:r>
              <a:rPr lang="en-US" sz="1400" dirty="0"/>
              <a:t>Handling of torque limitations (engine torque limit, boosting torque limits, gearbox torque limits) for P2 architecture</a:t>
            </a:r>
          </a:p>
          <a:p>
            <a:pPr lvl="1">
              <a:tabLst>
                <a:tab pos="1885950" algn="l"/>
              </a:tabLst>
            </a:pPr>
            <a:r>
              <a:rPr lang="en-US" sz="1400" dirty="0"/>
              <a:t>Connect electric WHR system to REESS in case of hybrid vehicles</a:t>
            </a:r>
          </a:p>
          <a:p>
            <a:pPr lvl="1">
              <a:tabLst>
                <a:tab pos="1885950" algn="l"/>
              </a:tabLst>
            </a:pPr>
            <a:r>
              <a:rPr lang="en-US" sz="1400" dirty="0"/>
              <a:t>Update LH cycle</a:t>
            </a:r>
          </a:p>
          <a:p>
            <a:pPr lvl="1">
              <a:tabLst>
                <a:tab pos="1885950" algn="l"/>
              </a:tabLst>
            </a:pPr>
            <a:endParaRPr lang="en-US" sz="1400" dirty="0"/>
          </a:p>
          <a:p>
            <a:pPr lvl="1">
              <a:tabLst>
                <a:tab pos="1885950" algn="l"/>
              </a:tabLst>
            </a:pPr>
            <a:endParaRPr lang="en-US" sz="1400" dirty="0"/>
          </a:p>
          <a:p>
            <a:pPr>
              <a:tabLst>
                <a:tab pos="1885950" algn="l"/>
              </a:tabLst>
            </a:pPr>
            <a:endParaRPr lang="en-US" sz="1400" dirty="0"/>
          </a:p>
          <a:p>
            <a:pPr lvl="1">
              <a:tabLst>
                <a:tab pos="1885950" algn="l"/>
              </a:tabLst>
            </a:pPr>
            <a:endParaRPr lang="en-US" sz="1400" dirty="0"/>
          </a:p>
          <a:p>
            <a:pPr lvl="1">
              <a:tabLst>
                <a:tab pos="1885950" algn="l"/>
              </a:tabLst>
            </a:pPr>
            <a:endParaRPr lang="en-US" sz="1400" dirty="0"/>
          </a:p>
        </p:txBody>
      </p:sp>
    </p:spTree>
    <p:extLst>
      <p:ext uri="{BB962C8B-B14F-4D97-AF65-F5344CB8AC3E}">
        <p14:creationId xmlns:p14="http://schemas.microsoft.com/office/powerpoint/2010/main" val="281448147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9CCF4DD-910A-4C73-8C39-8D8F1F945478}"/>
              </a:ext>
            </a:extLst>
          </p:cNvPr>
          <p:cNvSpPr>
            <a:spLocks noGrp="1"/>
          </p:cNvSpPr>
          <p:nvPr>
            <p:ph type="title"/>
          </p:nvPr>
        </p:nvSpPr>
        <p:spPr/>
        <p:txBody>
          <a:bodyPr/>
          <a:lstStyle/>
          <a:p>
            <a:r>
              <a:rPr lang="en-US" dirty="0"/>
              <a:t>Serial Hybrid Implementation</a:t>
            </a:r>
            <a:endParaRPr lang="de-AT" dirty="0"/>
          </a:p>
        </p:txBody>
      </p:sp>
      <p:sp>
        <p:nvSpPr>
          <p:cNvPr id="3" name="Inhaltsplatzhalter 2">
            <a:extLst>
              <a:ext uri="{FF2B5EF4-FFF2-40B4-BE49-F238E27FC236}">
                <a16:creationId xmlns:a16="http://schemas.microsoft.com/office/drawing/2014/main" id="{611F4231-C0B2-42D5-83CA-710B9FD58A2D}"/>
              </a:ext>
            </a:extLst>
          </p:cNvPr>
          <p:cNvSpPr>
            <a:spLocks noGrp="1"/>
          </p:cNvSpPr>
          <p:nvPr>
            <p:ph idx="1"/>
          </p:nvPr>
        </p:nvSpPr>
        <p:spPr/>
        <p:txBody>
          <a:bodyPr/>
          <a:lstStyle/>
          <a:p>
            <a:r>
              <a:rPr lang="en-US" dirty="0"/>
              <a:t>General approach</a:t>
            </a:r>
          </a:p>
          <a:p>
            <a:pPr lvl="1"/>
            <a:r>
              <a:rPr lang="en-US" dirty="0"/>
              <a:t>Simple operating strategy, not ECMS–based</a:t>
            </a:r>
          </a:p>
          <a:p>
            <a:pPr lvl="1"/>
            <a:r>
              <a:rPr lang="en-US" dirty="0"/>
              <a:t>Three-point controller for </a:t>
            </a:r>
            <a:r>
              <a:rPr lang="en-US" dirty="0" err="1"/>
              <a:t>GenSet</a:t>
            </a:r>
            <a:r>
              <a:rPr lang="en-US" dirty="0"/>
              <a:t> (off/optimal point/maximum power)</a:t>
            </a:r>
          </a:p>
          <a:p>
            <a:pPr lvl="1"/>
            <a:r>
              <a:rPr lang="en-US" dirty="0"/>
              <a:t>Operate </a:t>
            </a:r>
            <a:r>
              <a:rPr lang="en-US" dirty="0" err="1"/>
              <a:t>GenSet</a:t>
            </a:r>
            <a:r>
              <a:rPr lang="en-US" dirty="0"/>
              <a:t> in optimal load-points whenever required and possible</a:t>
            </a:r>
          </a:p>
          <a:p>
            <a:pPr lvl="1"/>
            <a:r>
              <a:rPr lang="en-US" dirty="0"/>
              <a:t>Drivetrain similar to PEV</a:t>
            </a:r>
            <a:endParaRPr lang="de-AT" dirty="0"/>
          </a:p>
        </p:txBody>
      </p:sp>
    </p:spTree>
    <p:extLst>
      <p:ext uri="{BB962C8B-B14F-4D97-AF65-F5344CB8AC3E}">
        <p14:creationId xmlns:p14="http://schemas.microsoft.com/office/powerpoint/2010/main" val="24349402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AF2411A-6CBE-4E62-B4DA-314BF88895A6}"/>
              </a:ext>
            </a:extLst>
          </p:cNvPr>
          <p:cNvSpPr>
            <a:spLocks noGrp="1"/>
          </p:cNvSpPr>
          <p:nvPr>
            <p:ph type="title"/>
          </p:nvPr>
        </p:nvSpPr>
        <p:spPr/>
        <p:txBody>
          <a:bodyPr/>
          <a:lstStyle/>
          <a:p>
            <a:r>
              <a:rPr lang="en-US" dirty="0"/>
              <a:t>Serial Hybrids: </a:t>
            </a:r>
            <a:r>
              <a:rPr lang="en-US" dirty="0" err="1"/>
              <a:t>GenSet</a:t>
            </a:r>
            <a:r>
              <a:rPr lang="en-US" dirty="0"/>
              <a:t> Pre-Processing</a:t>
            </a:r>
            <a:endParaRPr lang="de-AT" dirty="0"/>
          </a:p>
        </p:txBody>
      </p:sp>
      <p:sp>
        <p:nvSpPr>
          <p:cNvPr id="3" name="Inhaltsplatzhalter 2">
            <a:extLst>
              <a:ext uri="{FF2B5EF4-FFF2-40B4-BE49-F238E27FC236}">
                <a16:creationId xmlns:a16="http://schemas.microsoft.com/office/drawing/2014/main" id="{1E95A56A-B1A9-4541-BCD4-531495603052}"/>
              </a:ext>
            </a:extLst>
          </p:cNvPr>
          <p:cNvSpPr>
            <a:spLocks noGrp="1"/>
          </p:cNvSpPr>
          <p:nvPr>
            <p:ph idx="1"/>
          </p:nvPr>
        </p:nvSpPr>
        <p:spPr/>
        <p:txBody>
          <a:bodyPr/>
          <a:lstStyle/>
          <a:p>
            <a:r>
              <a:rPr lang="en-US" dirty="0"/>
              <a:t>Find optimal points for the </a:t>
            </a:r>
            <a:r>
              <a:rPr lang="en-US" dirty="0" err="1"/>
              <a:t>GenSet</a:t>
            </a:r>
            <a:endParaRPr lang="en-US" dirty="0"/>
          </a:p>
          <a:p>
            <a:pPr lvl="1"/>
            <a:r>
              <a:rPr lang="en-US" dirty="0"/>
              <a:t>Iterate from 0 to maximum power of the ICE (20 steps)</a:t>
            </a:r>
          </a:p>
          <a:p>
            <a:pPr lvl="1"/>
            <a:r>
              <a:rPr lang="en-US" dirty="0"/>
              <a:t>Iterate from ICE idle speed to n</a:t>
            </a:r>
            <a:r>
              <a:rPr lang="en-US" baseline="-25000" dirty="0"/>
              <a:t>95h</a:t>
            </a:r>
            <a:r>
              <a:rPr lang="en-US" dirty="0"/>
              <a:t> speed (20 steps)</a:t>
            </a:r>
          </a:p>
          <a:p>
            <a:pPr lvl="1"/>
            <a:r>
              <a:rPr lang="en-US" dirty="0"/>
              <a:t>Calculate electric power and fuel consumption for all load-points</a:t>
            </a:r>
          </a:p>
          <a:p>
            <a:pPr lvl="1"/>
            <a:r>
              <a:rPr lang="en-US" dirty="0"/>
              <a:t>Select operating points:</a:t>
            </a:r>
          </a:p>
          <a:p>
            <a:pPr lvl="2"/>
            <a:r>
              <a:rPr lang="en-US" dirty="0"/>
              <a:t>Maximum electric power, EM de-rated/not de-rated</a:t>
            </a:r>
          </a:p>
          <a:p>
            <a:pPr lvl="2"/>
            <a:r>
              <a:rPr lang="en-US" dirty="0"/>
              <a:t>Optimal operating point (minimum FC per electric power generated), EM de-rated/not de-rated</a:t>
            </a:r>
            <a:endParaRPr lang="de-AT" dirty="0"/>
          </a:p>
        </p:txBody>
      </p:sp>
      <p:sp>
        <p:nvSpPr>
          <p:cNvPr id="5" name="Textfeld 4"/>
          <p:cNvSpPr txBox="1"/>
          <p:nvPr/>
        </p:nvSpPr>
        <p:spPr>
          <a:xfrm rot="16200000">
            <a:off x="6974865" y="3831669"/>
            <a:ext cx="4091941" cy="246221"/>
          </a:xfrm>
          <a:prstGeom prst="rect">
            <a:avLst/>
          </a:prstGeom>
          <a:solidFill>
            <a:srgbClr val="2CB7FF"/>
          </a:solidFill>
        </p:spPr>
        <p:txBody>
          <a:bodyPr wrap="square" rtlCol="0">
            <a:spAutoFit/>
          </a:bodyPr>
          <a:lstStyle/>
          <a:p>
            <a:pPr algn="r"/>
            <a:r>
              <a:rPr lang="en-GB" sz="1000"/>
              <a:t>2</a:t>
            </a:r>
            <a:r>
              <a:rPr lang="en-GB" sz="1000" baseline="30000"/>
              <a:t>nd</a:t>
            </a:r>
            <a:r>
              <a:rPr lang="en-GB" sz="1000"/>
              <a:t> amendment ff </a:t>
            </a:r>
          </a:p>
        </p:txBody>
      </p:sp>
    </p:spTree>
    <p:extLst>
      <p:ext uri="{BB962C8B-B14F-4D97-AF65-F5344CB8AC3E}">
        <p14:creationId xmlns:p14="http://schemas.microsoft.com/office/powerpoint/2010/main" val="398694980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C803749-DFD3-46C4-A1C0-65D3A8C7CA8A}"/>
              </a:ext>
            </a:extLst>
          </p:cNvPr>
          <p:cNvSpPr>
            <a:spLocks noGrp="1"/>
          </p:cNvSpPr>
          <p:nvPr>
            <p:ph type="title"/>
          </p:nvPr>
        </p:nvSpPr>
        <p:spPr/>
        <p:txBody>
          <a:bodyPr/>
          <a:lstStyle/>
          <a:p>
            <a:r>
              <a:rPr lang="en-US" dirty="0"/>
              <a:t>Serial Hybrid </a:t>
            </a:r>
            <a:r>
              <a:rPr lang="en-US"/>
              <a:t>Strategy (main principles)</a:t>
            </a:r>
            <a:endParaRPr lang="de-AT" dirty="0"/>
          </a:p>
        </p:txBody>
      </p:sp>
      <p:sp>
        <p:nvSpPr>
          <p:cNvPr id="3" name="Inhaltsplatzhalter 2">
            <a:extLst>
              <a:ext uri="{FF2B5EF4-FFF2-40B4-BE49-F238E27FC236}">
                <a16:creationId xmlns:a16="http://schemas.microsoft.com/office/drawing/2014/main" id="{6A97302D-1974-46E2-AE86-9F286FB94D31}"/>
              </a:ext>
            </a:extLst>
          </p:cNvPr>
          <p:cNvSpPr>
            <a:spLocks noGrp="1"/>
          </p:cNvSpPr>
          <p:nvPr>
            <p:ph idx="1"/>
          </p:nvPr>
        </p:nvSpPr>
        <p:spPr>
          <a:xfrm>
            <a:off x="468316" y="1582738"/>
            <a:ext cx="5629968" cy="4543425"/>
          </a:xfrm>
        </p:spPr>
        <p:txBody>
          <a:bodyPr/>
          <a:lstStyle/>
          <a:p>
            <a:pPr marL="457200" indent="-457200">
              <a:buFont typeface="+mj-lt"/>
              <a:buAutoNum type="arabicPeriod"/>
            </a:pPr>
            <a:r>
              <a:rPr lang="en-US" sz="1600" dirty="0"/>
              <a:t>Calculate max. electric power </a:t>
            </a:r>
            <a:r>
              <a:rPr lang="en-US" sz="1600" dirty="0" err="1"/>
              <a:t>GenSet</a:t>
            </a:r>
            <a:r>
              <a:rPr lang="en-US" sz="1600" dirty="0"/>
              <a:t> can provide</a:t>
            </a:r>
          </a:p>
          <a:p>
            <a:pPr marL="457200" indent="-457200">
              <a:buFont typeface="+mj-lt"/>
              <a:buAutoNum type="arabicPeriod"/>
            </a:pPr>
            <a:r>
              <a:rPr lang="en-US" sz="1600" dirty="0"/>
              <a:t>Calculate power demand of electric motor, assuming max. electric power (REESS + </a:t>
            </a:r>
            <a:r>
              <a:rPr lang="en-US" sz="1600" dirty="0" err="1"/>
              <a:t>GenSet</a:t>
            </a:r>
            <a:r>
              <a:rPr lang="en-US" sz="1600" dirty="0"/>
              <a:t>)</a:t>
            </a:r>
          </a:p>
          <a:p>
            <a:pPr marL="457200" indent="-457200">
              <a:buFont typeface="+mj-lt"/>
              <a:buAutoNum type="arabicPeriod"/>
            </a:pPr>
            <a:r>
              <a:rPr lang="en-US" sz="1600" dirty="0"/>
              <a:t>Depending on drivetrain power demand and SoC turn on ICE and operate </a:t>
            </a:r>
            <a:r>
              <a:rPr lang="en-US" sz="1600" dirty="0" err="1"/>
              <a:t>GenSet</a:t>
            </a:r>
            <a:r>
              <a:rPr lang="en-US" sz="1600" dirty="0"/>
              <a:t> either in optimal point or at maximum power (considering de-rating of </a:t>
            </a:r>
            <a:r>
              <a:rPr lang="en-US" sz="1600" dirty="0" err="1"/>
              <a:t>GenSet</a:t>
            </a:r>
            <a:r>
              <a:rPr lang="en-US" sz="1600" dirty="0"/>
              <a:t>)</a:t>
            </a:r>
            <a:endParaRPr lang="de-AT" sz="1600" dirty="0"/>
          </a:p>
        </p:txBody>
      </p:sp>
      <p:pic>
        <p:nvPicPr>
          <p:cNvPr id="5" name="Grafik 4">
            <a:extLst>
              <a:ext uri="{FF2B5EF4-FFF2-40B4-BE49-F238E27FC236}">
                <a16:creationId xmlns:a16="http://schemas.microsoft.com/office/drawing/2014/main" id="{A674387A-FEA9-40A7-A2D3-21D5BD482267}"/>
              </a:ext>
            </a:extLst>
          </p:cNvPr>
          <p:cNvPicPr>
            <a:picLocks noChangeAspect="1"/>
          </p:cNvPicPr>
          <p:nvPr/>
        </p:nvPicPr>
        <p:blipFill>
          <a:blip r:embed="rId2"/>
          <a:stretch>
            <a:fillRect/>
          </a:stretch>
        </p:blipFill>
        <p:spPr>
          <a:xfrm>
            <a:off x="5925022" y="2263242"/>
            <a:ext cx="2942822" cy="3074450"/>
          </a:xfrm>
          <a:prstGeom prst="rect">
            <a:avLst/>
          </a:prstGeom>
        </p:spPr>
      </p:pic>
      <p:pic>
        <p:nvPicPr>
          <p:cNvPr id="6" name="Grafik 5">
            <a:extLst>
              <a:ext uri="{FF2B5EF4-FFF2-40B4-BE49-F238E27FC236}">
                <a16:creationId xmlns:a16="http://schemas.microsoft.com/office/drawing/2014/main" id="{033FCE65-F4B5-40B8-A46A-1FD3D5B30B43}"/>
              </a:ext>
            </a:extLst>
          </p:cNvPr>
          <p:cNvPicPr>
            <a:picLocks noChangeAspect="1"/>
          </p:cNvPicPr>
          <p:nvPr/>
        </p:nvPicPr>
        <p:blipFill>
          <a:blip r:embed="rId3"/>
          <a:stretch>
            <a:fillRect/>
          </a:stretch>
        </p:blipFill>
        <p:spPr>
          <a:xfrm>
            <a:off x="622355" y="3945356"/>
            <a:ext cx="3778099" cy="1713776"/>
          </a:xfrm>
          <a:prstGeom prst="rect">
            <a:avLst/>
          </a:prstGeom>
        </p:spPr>
      </p:pic>
      <p:sp>
        <p:nvSpPr>
          <p:cNvPr id="7" name="Textfeld 6">
            <a:extLst>
              <a:ext uri="{FF2B5EF4-FFF2-40B4-BE49-F238E27FC236}">
                <a16:creationId xmlns:a16="http://schemas.microsoft.com/office/drawing/2014/main" id="{F68D9CBA-9F9E-4827-ACEE-F8D4575F534D}"/>
              </a:ext>
            </a:extLst>
          </p:cNvPr>
          <p:cNvSpPr txBox="1"/>
          <p:nvPr/>
        </p:nvSpPr>
        <p:spPr>
          <a:xfrm>
            <a:off x="71246" y="5779209"/>
            <a:ext cx="5997156" cy="261610"/>
          </a:xfrm>
          <a:prstGeom prst="rect">
            <a:avLst/>
          </a:prstGeom>
          <a:noFill/>
        </p:spPr>
        <p:txBody>
          <a:bodyPr wrap="none" rtlCol="0">
            <a:spAutoFit/>
          </a:bodyPr>
          <a:lstStyle/>
          <a:p>
            <a:r>
              <a:rPr lang="en-US" sz="1100" i="1" dirty="0">
                <a:solidFill>
                  <a:schemeClr val="bg1">
                    <a:lumMod val="50000"/>
                  </a:schemeClr>
                </a:solidFill>
              </a:rPr>
              <a:t>Note: </a:t>
            </a:r>
            <a:r>
              <a:rPr lang="en-US" sz="1100" i="1" dirty="0" err="1">
                <a:solidFill>
                  <a:schemeClr val="bg1">
                    <a:lumMod val="50000"/>
                  </a:schemeClr>
                </a:solidFill>
              </a:rPr>
              <a:t>SoC_min</a:t>
            </a:r>
            <a:r>
              <a:rPr lang="en-US" sz="1100" i="1" dirty="0">
                <a:solidFill>
                  <a:schemeClr val="bg1">
                    <a:lumMod val="50000"/>
                  </a:schemeClr>
                </a:solidFill>
              </a:rPr>
              <a:t> and </a:t>
            </a:r>
            <a:r>
              <a:rPr lang="en-US" sz="1100" i="1" dirty="0" err="1">
                <a:solidFill>
                  <a:schemeClr val="bg1">
                    <a:lumMod val="50000"/>
                  </a:schemeClr>
                </a:solidFill>
              </a:rPr>
              <a:t>SoC_target</a:t>
            </a:r>
            <a:r>
              <a:rPr lang="en-US" sz="1100" i="1" dirty="0">
                <a:solidFill>
                  <a:schemeClr val="bg1">
                    <a:lumMod val="50000"/>
                  </a:schemeClr>
                </a:solidFill>
              </a:rPr>
              <a:t> are parameters of the </a:t>
            </a:r>
            <a:r>
              <a:rPr lang="en-US" sz="1100" i="1" dirty="0" err="1">
                <a:solidFill>
                  <a:schemeClr val="bg1">
                    <a:lumMod val="50000"/>
                  </a:schemeClr>
                </a:solidFill>
              </a:rPr>
              <a:t>SerialHybridStrategy</a:t>
            </a:r>
            <a:r>
              <a:rPr lang="en-US" sz="1100" i="1" dirty="0">
                <a:solidFill>
                  <a:schemeClr val="bg1">
                    <a:lumMod val="50000"/>
                  </a:schemeClr>
                </a:solidFill>
              </a:rPr>
              <a:t>, not REESS</a:t>
            </a:r>
            <a:endParaRPr lang="de-AT" sz="1100" i="1" dirty="0">
              <a:solidFill>
                <a:schemeClr val="bg1">
                  <a:lumMod val="50000"/>
                </a:schemeClr>
              </a:solidFill>
            </a:endParaRPr>
          </a:p>
        </p:txBody>
      </p:sp>
    </p:spTree>
    <p:extLst>
      <p:ext uri="{BB962C8B-B14F-4D97-AF65-F5344CB8AC3E}">
        <p14:creationId xmlns:p14="http://schemas.microsoft.com/office/powerpoint/2010/main" val="23007492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B75F07-A8B1-421B-B9AE-17D35152600D}"/>
              </a:ext>
            </a:extLst>
          </p:cNvPr>
          <p:cNvSpPr>
            <a:spLocks noGrp="1"/>
          </p:cNvSpPr>
          <p:nvPr>
            <p:ph type="title"/>
          </p:nvPr>
        </p:nvSpPr>
        <p:spPr/>
        <p:txBody>
          <a:bodyPr/>
          <a:lstStyle/>
          <a:p>
            <a:r>
              <a:rPr lang="en-US" dirty="0"/>
              <a:t>Serial Hybrids: </a:t>
            </a:r>
            <a:r>
              <a:rPr lang="en-US" dirty="0" err="1"/>
              <a:t>GenSet</a:t>
            </a:r>
            <a:endParaRPr lang="de-AT" dirty="0"/>
          </a:p>
        </p:txBody>
      </p:sp>
      <p:sp>
        <p:nvSpPr>
          <p:cNvPr id="3" name="Inhaltsplatzhalter 2">
            <a:extLst>
              <a:ext uri="{FF2B5EF4-FFF2-40B4-BE49-F238E27FC236}">
                <a16:creationId xmlns:a16="http://schemas.microsoft.com/office/drawing/2014/main" id="{0D1484E4-94C0-47E1-BFB1-DEFCC0B3C341}"/>
              </a:ext>
            </a:extLst>
          </p:cNvPr>
          <p:cNvSpPr>
            <a:spLocks noGrp="1"/>
          </p:cNvSpPr>
          <p:nvPr>
            <p:ph idx="1"/>
          </p:nvPr>
        </p:nvSpPr>
        <p:spPr/>
        <p:txBody>
          <a:bodyPr/>
          <a:lstStyle/>
          <a:p>
            <a:r>
              <a:rPr lang="en-US" dirty="0"/>
              <a:t>When switching on the ICE, it is often not possible to directly operate it in the desired operating point (high ICE speed, too high torque demand due to inertia)</a:t>
            </a:r>
            <a:br>
              <a:rPr lang="en-US" dirty="0"/>
            </a:br>
            <a:br>
              <a:rPr lang="en-US" dirty="0"/>
            </a:br>
            <a:r>
              <a:rPr lang="en-US" dirty="0">
                <a:sym typeface="Wingdings" panose="05000000000000000000" pitchFamily="2" charset="2"/>
              </a:rPr>
              <a:t> </a:t>
            </a:r>
            <a:r>
              <a:rPr lang="en-US" dirty="0"/>
              <a:t>Ramp-up ICE with electric machine switched off (usually 1 or 2 </a:t>
            </a:r>
            <a:br>
              <a:rPr lang="en-US" dirty="0"/>
            </a:br>
            <a:r>
              <a:rPr lang="en-US" dirty="0"/>
              <a:t>     simulation steps) and then turn on the electric machine</a:t>
            </a:r>
            <a:endParaRPr lang="de-AT" dirty="0"/>
          </a:p>
        </p:txBody>
      </p:sp>
    </p:spTree>
    <p:extLst>
      <p:ext uri="{BB962C8B-B14F-4D97-AF65-F5344CB8AC3E}">
        <p14:creationId xmlns:p14="http://schemas.microsoft.com/office/powerpoint/2010/main" val="9973081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6FBC2-8988-4D45-AADC-3638E959DFC7}"/>
              </a:ext>
            </a:extLst>
          </p:cNvPr>
          <p:cNvSpPr>
            <a:spLocks noGrp="1"/>
          </p:cNvSpPr>
          <p:nvPr>
            <p:ph type="title"/>
          </p:nvPr>
        </p:nvSpPr>
        <p:spPr/>
        <p:txBody>
          <a:bodyPr/>
          <a:lstStyle/>
          <a:p>
            <a:r>
              <a:rPr lang="en-US" dirty="0"/>
              <a:t>Serial Hybrid Strategy Parameters</a:t>
            </a:r>
            <a:endParaRPr lang="de-AT" dirty="0"/>
          </a:p>
        </p:txBody>
      </p:sp>
      <p:sp>
        <p:nvSpPr>
          <p:cNvPr id="3" name="Inhaltsplatzhalter 2">
            <a:extLst>
              <a:ext uri="{FF2B5EF4-FFF2-40B4-BE49-F238E27FC236}">
                <a16:creationId xmlns:a16="http://schemas.microsoft.com/office/drawing/2014/main" id="{700BDEE2-E8AE-4715-9865-1D158F12584B}"/>
              </a:ext>
            </a:extLst>
          </p:cNvPr>
          <p:cNvSpPr>
            <a:spLocks noGrp="1"/>
          </p:cNvSpPr>
          <p:nvPr>
            <p:ph idx="1"/>
          </p:nvPr>
        </p:nvSpPr>
        <p:spPr/>
        <p:txBody>
          <a:bodyPr/>
          <a:lstStyle/>
          <a:p>
            <a:r>
              <a:rPr lang="en-US" dirty="0" err="1"/>
              <a:t>MinSoC</a:t>
            </a:r>
            <a:endParaRPr lang="en-US" dirty="0"/>
          </a:p>
          <a:p>
            <a:r>
              <a:rPr lang="en-US" dirty="0" err="1"/>
              <a:t>TargetSoC</a:t>
            </a:r>
            <a:endParaRPr lang="de-AT" dirty="0"/>
          </a:p>
        </p:txBody>
      </p:sp>
    </p:spTree>
    <p:extLst>
      <p:ext uri="{BB962C8B-B14F-4D97-AF65-F5344CB8AC3E}">
        <p14:creationId xmlns:p14="http://schemas.microsoft.com/office/powerpoint/2010/main" val="26324616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nhaltsplatzhalter 4">
            <a:extLst>
              <a:ext uri="{FF2B5EF4-FFF2-40B4-BE49-F238E27FC236}">
                <a16:creationId xmlns:a16="http://schemas.microsoft.com/office/drawing/2014/main" id="{BBD82B5B-5E83-41F3-BAB5-62DF6D240696}"/>
              </a:ext>
            </a:extLst>
          </p:cNvPr>
          <p:cNvPicPr>
            <a:picLocks noGrp="1" noChangeAspect="1"/>
          </p:cNvPicPr>
          <p:nvPr>
            <p:ph idx="4294967295"/>
          </p:nvPr>
        </p:nvPicPr>
        <p:blipFill>
          <a:blip r:embed="rId2"/>
          <a:stretch>
            <a:fillRect/>
          </a:stretch>
        </p:blipFill>
        <p:spPr>
          <a:xfrm>
            <a:off x="467544" y="1124744"/>
            <a:ext cx="7626350" cy="4543425"/>
          </a:xfrm>
          <a:prstGeom prst="rect">
            <a:avLst/>
          </a:prstGeom>
        </p:spPr>
      </p:pic>
    </p:spTree>
    <p:extLst>
      <p:ext uri="{BB962C8B-B14F-4D97-AF65-F5344CB8AC3E}">
        <p14:creationId xmlns:p14="http://schemas.microsoft.com/office/powerpoint/2010/main" val="31773965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C16FBC2-8988-4D45-AADC-3638E959DFC7}"/>
              </a:ext>
            </a:extLst>
          </p:cNvPr>
          <p:cNvSpPr>
            <a:spLocks noGrp="1"/>
          </p:cNvSpPr>
          <p:nvPr>
            <p:ph type="title"/>
          </p:nvPr>
        </p:nvSpPr>
        <p:spPr/>
        <p:txBody>
          <a:bodyPr/>
          <a:lstStyle/>
          <a:p>
            <a:r>
              <a:rPr lang="en-GB" dirty="0"/>
              <a:t>EM: overload buffer calculated from both voltage levels</a:t>
            </a:r>
            <a:endParaRPr lang="de-AT" dirty="0"/>
          </a:p>
        </p:txBody>
      </p:sp>
      <p:sp>
        <p:nvSpPr>
          <p:cNvPr id="3" name="Inhaltsplatzhalter 2">
            <a:extLst>
              <a:ext uri="{FF2B5EF4-FFF2-40B4-BE49-F238E27FC236}">
                <a16:creationId xmlns:a16="http://schemas.microsoft.com/office/drawing/2014/main" id="{700BDEE2-E8AE-4715-9865-1D158F12584B}"/>
              </a:ext>
            </a:extLst>
          </p:cNvPr>
          <p:cNvSpPr>
            <a:spLocks noGrp="1"/>
          </p:cNvSpPr>
          <p:nvPr>
            <p:ph idx="1"/>
          </p:nvPr>
        </p:nvSpPr>
        <p:spPr/>
        <p:txBody>
          <a:bodyPr/>
          <a:lstStyle/>
          <a:p>
            <a:r>
              <a:rPr lang="en-US" sz="1600" dirty="0"/>
              <a:t>Input parameters of EM measured for min and max voltage level</a:t>
            </a:r>
          </a:p>
          <a:p>
            <a:pPr lvl="1"/>
            <a:r>
              <a:rPr lang="en-US" sz="1600" dirty="0"/>
              <a:t>Overload data</a:t>
            </a:r>
          </a:p>
          <a:p>
            <a:pPr lvl="2"/>
            <a:r>
              <a:rPr lang="en-US" sz="1200" dirty="0"/>
              <a:t>Continuous Torque</a:t>
            </a:r>
          </a:p>
          <a:p>
            <a:pPr lvl="2"/>
            <a:r>
              <a:rPr lang="en-US" sz="1200" dirty="0"/>
              <a:t>Overload Torque + Overload Duration</a:t>
            </a:r>
            <a:endParaRPr lang="en-US" dirty="0"/>
          </a:p>
          <a:p>
            <a:pPr lvl="1"/>
            <a:r>
              <a:rPr lang="en-US" sz="1600" dirty="0"/>
              <a:t>Maximum and Minimum torque limitations</a:t>
            </a:r>
          </a:p>
          <a:p>
            <a:pPr lvl="1"/>
            <a:r>
              <a:rPr lang="en-US" sz="1600" dirty="0"/>
              <a:t>Electric power map</a:t>
            </a:r>
          </a:p>
          <a:p>
            <a:r>
              <a:rPr lang="en-US" sz="1600" dirty="0"/>
              <a:t>Implementation in software:</a:t>
            </a:r>
          </a:p>
          <a:p>
            <a:pPr lvl="1"/>
            <a:r>
              <a:rPr lang="en-US" sz="1600" dirty="0"/>
              <a:t>From overload data above, thermal buffer is calculated for each voltage level separately (acc. to equations in VECTO user manual						    )</a:t>
            </a:r>
          </a:p>
          <a:p>
            <a:pPr lvl="1"/>
            <a:r>
              <a:rPr lang="en-US" sz="1600" dirty="0"/>
              <a:t>Applied values for simulation run are calculated by linear interpolation between two voltage levels, where average of usable SOC range is used</a:t>
            </a:r>
          </a:p>
          <a:p>
            <a:pPr lvl="2"/>
            <a:r>
              <a:rPr lang="en-US" dirty="0"/>
              <a:t>Overload buffer</a:t>
            </a:r>
          </a:p>
          <a:p>
            <a:pPr lvl="2"/>
            <a:r>
              <a:rPr lang="en-US" dirty="0"/>
              <a:t>Maximum and Minimum torque limitations</a:t>
            </a:r>
          </a:p>
          <a:p>
            <a:pPr lvl="2"/>
            <a:r>
              <a:rPr lang="en-US" dirty="0"/>
              <a:t>Continuous Torque</a:t>
            </a:r>
          </a:p>
        </p:txBody>
      </p:sp>
      <p:pic>
        <p:nvPicPr>
          <p:cNvPr id="6" name="Grafik 5"/>
          <p:cNvPicPr>
            <a:picLocks noChangeAspect="1"/>
          </p:cNvPicPr>
          <p:nvPr/>
        </p:nvPicPr>
        <p:blipFill>
          <a:blip r:embed="rId2"/>
          <a:stretch>
            <a:fillRect/>
          </a:stretch>
        </p:blipFill>
        <p:spPr>
          <a:xfrm>
            <a:off x="6131003" y="4268434"/>
            <a:ext cx="2448000" cy="279072"/>
          </a:xfrm>
          <a:prstGeom prst="rect">
            <a:avLst/>
          </a:prstGeom>
        </p:spPr>
      </p:pic>
    </p:spTree>
    <p:extLst>
      <p:ext uri="{BB962C8B-B14F-4D97-AF65-F5344CB8AC3E}">
        <p14:creationId xmlns:p14="http://schemas.microsoft.com/office/powerpoint/2010/main" val="28187895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Inhaltsplatzhalter 2">
            <a:extLst>
              <a:ext uri="{FF2B5EF4-FFF2-40B4-BE49-F238E27FC236}">
                <a16:creationId xmlns:a16="http://schemas.microsoft.com/office/drawing/2014/main" id="{25A87CB2-867F-462E-9F8B-C8910F4B66B2}"/>
              </a:ext>
            </a:extLst>
          </p:cNvPr>
          <p:cNvSpPr txBox="1">
            <a:spLocks/>
          </p:cNvSpPr>
          <p:nvPr/>
        </p:nvSpPr>
        <p:spPr>
          <a:xfrm>
            <a:off x="622353" y="1990591"/>
            <a:ext cx="4747552" cy="3446838"/>
          </a:xfrm>
          <a:prstGeom prst="rect">
            <a:avLst/>
          </a:prstGeom>
        </p:spPr>
        <p:txBody>
          <a:bodyPr vert="horz" lIns="0" tIns="0" rIns="0" bIns="0" rtlCol="0" anchor="t">
            <a:noAutofit/>
          </a:bodyPr>
          <a:lstStyle>
            <a:lvl1pPr marL="266700" indent="-266700" algn="l" defTabSz="457200" rtl="0" eaLnBrk="1" latinLnBrk="0" hangingPunct="1">
              <a:spcBef>
                <a:spcPct val="20000"/>
              </a:spcBef>
              <a:buClr>
                <a:srgbClr val="F70146"/>
              </a:buClr>
              <a:buFont typeface="Wingdings" panose="05000000000000000000" pitchFamily="2" charset="2"/>
              <a:buChar char="§"/>
              <a:defRPr sz="2000" kern="1200" baseline="0">
                <a:solidFill>
                  <a:schemeClr val="tx1"/>
                </a:solidFill>
                <a:latin typeface="+mn-lt"/>
                <a:ea typeface="+mn-ea"/>
                <a:cs typeface="+mn-cs"/>
              </a:defRPr>
            </a:lvl1pPr>
            <a:lvl2pPr marL="715963" indent="-266700" algn="l" defTabSz="457200" rtl="0" eaLnBrk="1" latinLnBrk="0" hangingPunct="1">
              <a:spcBef>
                <a:spcPct val="20000"/>
              </a:spcBef>
              <a:buClr>
                <a:schemeClr val="tx1"/>
              </a:buClr>
              <a:buFont typeface="Wingdings" panose="05000000000000000000" pitchFamily="2" charset="2"/>
              <a:buChar char="§"/>
              <a:defRPr sz="2000" kern="1200">
                <a:solidFill>
                  <a:schemeClr val="tx1"/>
                </a:solidFill>
                <a:latin typeface="+mn-lt"/>
                <a:ea typeface="+mn-ea"/>
                <a:cs typeface="+mn-cs"/>
              </a:defRPr>
            </a:lvl2pPr>
            <a:lvl3pPr marL="1165225" indent="-266700" algn="l" defTabSz="457200" rtl="0" eaLnBrk="1" latinLnBrk="0" hangingPunct="1">
              <a:spcBef>
                <a:spcPct val="20000"/>
              </a:spcBef>
              <a:buClr>
                <a:schemeClr val="bg1">
                  <a:lumMod val="50000"/>
                </a:schemeClr>
              </a:buClr>
              <a:buFont typeface="Wingdings" charset="2"/>
              <a:buChar char="§"/>
              <a:tabLst/>
              <a:defRPr sz="1800" kern="1200">
                <a:solidFill>
                  <a:schemeClr val="tx1"/>
                </a:solidFill>
                <a:latin typeface="+mn-lt"/>
                <a:ea typeface="+mn-ea"/>
                <a:cs typeface="+mn-cs"/>
              </a:defRPr>
            </a:lvl3pPr>
            <a:lvl4pPr marL="1524000" indent="-269875" algn="l" defTabSz="457200" rtl="0" eaLnBrk="1" latinLnBrk="0" hangingPunct="1">
              <a:spcBef>
                <a:spcPct val="20000"/>
              </a:spcBef>
              <a:buClr>
                <a:srgbClr val="99A7B0"/>
              </a:buClr>
              <a:buFont typeface="Wingdings" panose="05000000000000000000" pitchFamily="2" charset="2"/>
              <a:buChar char="§"/>
              <a:defRPr sz="1600" kern="1200">
                <a:solidFill>
                  <a:schemeClr val="tx1"/>
                </a:solidFill>
                <a:latin typeface="+mn-lt"/>
                <a:ea typeface="+mn-ea"/>
                <a:cs typeface="+mn-cs"/>
              </a:defRPr>
            </a:lvl4pPr>
            <a:lvl5pPr marL="1884363" indent="-273050" algn="l" defTabSz="457200" rtl="0" eaLnBrk="1" latinLnBrk="0" hangingPunct="1">
              <a:spcBef>
                <a:spcPct val="20000"/>
              </a:spcBef>
              <a:buFont typeface="Lucida Grande"/>
              <a:buChar char="‑"/>
              <a:defRPr sz="16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r>
              <a:rPr lang="en-US" sz="1800" dirty="0"/>
              <a:t>Ref. to ticket </a:t>
            </a:r>
            <a:r>
              <a:rPr lang="en-US" sz="1800" dirty="0" err="1"/>
              <a:t>nr</a:t>
            </a:r>
            <a:r>
              <a:rPr lang="en-US" sz="1800" dirty="0"/>
              <a:t>. 1478+1479</a:t>
            </a:r>
          </a:p>
          <a:p>
            <a:r>
              <a:rPr lang="en-US" sz="1800" dirty="0"/>
              <a:t>Only relevant for P1 + P2 HEV where EM is located upstream of transmission</a:t>
            </a:r>
          </a:p>
          <a:p>
            <a:r>
              <a:rPr lang="en-US" sz="1800" dirty="0"/>
              <a:t>Starting Point: ICE FLD</a:t>
            </a:r>
          </a:p>
          <a:p>
            <a:pPr marL="906463" lvl="1" indent="-457200">
              <a:buFont typeface="+mj-lt"/>
              <a:buAutoNum type="arabicPeriod"/>
            </a:pPr>
            <a:r>
              <a:rPr lang="en-US" sz="1800" dirty="0"/>
              <a:t>Crop with max ICE torque declared at vehicle level (per gear) </a:t>
            </a:r>
            <a:br>
              <a:rPr lang="en-US" sz="1800" dirty="0"/>
            </a:br>
            <a:r>
              <a:rPr lang="en-US" sz="1200" i="1" dirty="0">
                <a:solidFill>
                  <a:schemeClr val="accent1">
                    <a:lumMod val="75000"/>
                  </a:schemeClr>
                </a:solidFill>
              </a:rPr>
              <a:t>‘Vehicle/</a:t>
            </a:r>
            <a:r>
              <a:rPr lang="en-US" sz="1200" i="1" dirty="0" err="1">
                <a:solidFill>
                  <a:schemeClr val="accent1">
                    <a:lumMod val="75000"/>
                  </a:schemeClr>
                </a:solidFill>
              </a:rPr>
              <a:t>EngineTorqueLimits</a:t>
            </a:r>
            <a:r>
              <a:rPr lang="en-US" sz="1200" i="1" dirty="0">
                <a:solidFill>
                  <a:schemeClr val="accent1">
                    <a:lumMod val="75000"/>
                  </a:schemeClr>
                </a:solidFill>
              </a:rPr>
              <a:t>’ per gear – P196 + P197</a:t>
            </a:r>
            <a:endParaRPr lang="en-US" sz="1800" i="1" dirty="0">
              <a:solidFill>
                <a:schemeClr val="accent1">
                  <a:lumMod val="75000"/>
                </a:schemeClr>
              </a:solidFill>
            </a:endParaRPr>
          </a:p>
          <a:p>
            <a:pPr marL="906463" lvl="1" indent="-457200">
              <a:buFont typeface="+mj-lt"/>
              <a:buAutoNum type="arabicPeriod"/>
            </a:pPr>
            <a:r>
              <a:rPr lang="en-US" sz="1800" dirty="0"/>
              <a:t>Add boosting torque</a:t>
            </a:r>
            <a:br>
              <a:rPr lang="en-US" sz="1800" dirty="0"/>
            </a:br>
            <a:r>
              <a:rPr lang="en-US" sz="1200" i="1" dirty="0">
                <a:solidFill>
                  <a:schemeClr val="accent1">
                    <a:lumMod val="75000"/>
                  </a:schemeClr>
                </a:solidFill>
              </a:rPr>
              <a:t>Boosting limitations for parallel HEV – P415 + P416</a:t>
            </a:r>
            <a:endParaRPr lang="en-US" sz="1800" dirty="0"/>
          </a:p>
          <a:p>
            <a:pPr marL="906463" lvl="1" indent="-457200">
              <a:buFont typeface="+mj-lt"/>
              <a:buAutoNum type="arabicPeriod"/>
            </a:pPr>
            <a:r>
              <a:rPr lang="en-US" sz="1800" dirty="0"/>
              <a:t>In case of P1 or P2: crop with gearbox max input torque (per gear)  </a:t>
            </a:r>
            <a:r>
              <a:rPr lang="en-US" sz="1200" i="1" dirty="0" err="1">
                <a:solidFill>
                  <a:schemeClr val="accent1">
                    <a:lumMod val="75000"/>
                  </a:schemeClr>
                </a:solidFill>
              </a:rPr>
              <a:t>MaxTorque</a:t>
            </a:r>
            <a:r>
              <a:rPr lang="en-US" sz="1200" i="1" dirty="0">
                <a:solidFill>
                  <a:schemeClr val="accent1">
                    <a:lumMod val="75000"/>
                  </a:schemeClr>
                </a:solidFill>
              </a:rPr>
              <a:t> – P157</a:t>
            </a:r>
            <a:endParaRPr lang="en-US" dirty="0"/>
          </a:p>
          <a:p>
            <a:pPr marL="357188" indent="-357188">
              <a:buNone/>
            </a:pPr>
            <a:r>
              <a:rPr lang="en-US" sz="1800" dirty="0">
                <a:sym typeface="Wingdings" panose="05000000000000000000" pitchFamily="2" charset="2"/>
              </a:rPr>
              <a:t> Torque limits per gear applied by </a:t>
            </a:r>
            <a:r>
              <a:rPr lang="en-US" sz="1800" dirty="0" err="1">
                <a:sym typeface="Wingdings" panose="05000000000000000000" pitchFamily="2" charset="2"/>
              </a:rPr>
              <a:t>HybridStrategy</a:t>
            </a:r>
            <a:endParaRPr lang="de-AT" sz="1800" dirty="0"/>
          </a:p>
        </p:txBody>
      </p:sp>
      <p:sp>
        <p:nvSpPr>
          <p:cNvPr id="7" name="Textfeld 6">
            <a:extLst>
              <a:ext uri="{FF2B5EF4-FFF2-40B4-BE49-F238E27FC236}">
                <a16:creationId xmlns:a16="http://schemas.microsoft.com/office/drawing/2014/main" id="{B917920C-0AAE-421E-8A2B-076AF219D280}"/>
              </a:ext>
            </a:extLst>
          </p:cNvPr>
          <p:cNvSpPr txBox="1"/>
          <p:nvPr/>
        </p:nvSpPr>
        <p:spPr>
          <a:xfrm>
            <a:off x="5237684" y="1922166"/>
            <a:ext cx="3518611" cy="261610"/>
          </a:xfrm>
          <a:prstGeom prst="rect">
            <a:avLst/>
          </a:prstGeom>
          <a:noFill/>
        </p:spPr>
        <p:txBody>
          <a:bodyPr wrap="square" rtlCol="0">
            <a:spAutoFit/>
          </a:bodyPr>
          <a:lstStyle/>
          <a:p>
            <a:pPr algn="ctr"/>
            <a:r>
              <a:rPr lang="en-US" sz="1100" dirty="0"/>
              <a:t>Example for P2</a:t>
            </a:r>
            <a:endParaRPr lang="de-AT" sz="1100" dirty="0"/>
          </a:p>
        </p:txBody>
      </p:sp>
      <p:pic>
        <p:nvPicPr>
          <p:cNvPr id="8" name="Grafik 7">
            <a:extLst>
              <a:ext uri="{FF2B5EF4-FFF2-40B4-BE49-F238E27FC236}">
                <a16:creationId xmlns:a16="http://schemas.microsoft.com/office/drawing/2014/main" id="{BE446510-C98F-4FD8-96A7-A8621B4B1E05}"/>
              </a:ext>
            </a:extLst>
          </p:cNvPr>
          <p:cNvPicPr>
            <a:picLocks noChangeAspect="1"/>
          </p:cNvPicPr>
          <p:nvPr/>
        </p:nvPicPr>
        <p:blipFill>
          <a:blip r:embed="rId2"/>
          <a:stretch>
            <a:fillRect/>
          </a:stretch>
        </p:blipFill>
        <p:spPr>
          <a:xfrm>
            <a:off x="5220509" y="2088000"/>
            <a:ext cx="3814654" cy="2791427"/>
          </a:xfrm>
          <a:prstGeom prst="rect">
            <a:avLst/>
          </a:prstGeom>
        </p:spPr>
      </p:pic>
      <p:pic>
        <p:nvPicPr>
          <p:cNvPr id="9" name="Grafik 8">
            <a:extLst>
              <a:ext uri="{FF2B5EF4-FFF2-40B4-BE49-F238E27FC236}">
                <a16:creationId xmlns:a16="http://schemas.microsoft.com/office/drawing/2014/main" id="{F151DDE9-1A85-4091-A54D-9311F028CB82}"/>
              </a:ext>
            </a:extLst>
          </p:cNvPr>
          <p:cNvPicPr>
            <a:picLocks noChangeAspect="1"/>
          </p:cNvPicPr>
          <p:nvPr/>
        </p:nvPicPr>
        <p:blipFill>
          <a:blip r:embed="rId3"/>
          <a:stretch>
            <a:fillRect/>
          </a:stretch>
        </p:blipFill>
        <p:spPr>
          <a:xfrm>
            <a:off x="5782028" y="4757826"/>
            <a:ext cx="2815804" cy="1216585"/>
          </a:xfrm>
          <a:prstGeom prst="rect">
            <a:avLst/>
          </a:prstGeom>
        </p:spPr>
      </p:pic>
      <p:sp>
        <p:nvSpPr>
          <p:cNvPr id="2" name="Titel 1">
            <a:extLst>
              <a:ext uri="{FF2B5EF4-FFF2-40B4-BE49-F238E27FC236}">
                <a16:creationId xmlns:a16="http://schemas.microsoft.com/office/drawing/2014/main" id="{3C16FBC2-8988-4D45-AADC-3638E959DFC7}"/>
              </a:ext>
            </a:extLst>
          </p:cNvPr>
          <p:cNvSpPr>
            <a:spLocks noGrp="1"/>
          </p:cNvSpPr>
          <p:nvPr>
            <p:ph type="title"/>
          </p:nvPr>
        </p:nvSpPr>
        <p:spPr/>
        <p:txBody>
          <a:bodyPr/>
          <a:lstStyle/>
          <a:p>
            <a:r>
              <a:rPr lang="en-GB" dirty="0"/>
              <a:t>Consider gearbox </a:t>
            </a:r>
            <a:r>
              <a:rPr lang="en-GB" dirty="0" err="1"/>
              <a:t>MaxTorque</a:t>
            </a:r>
            <a:r>
              <a:rPr lang="en-GB" dirty="0"/>
              <a:t> limits for HEV</a:t>
            </a:r>
            <a:endParaRPr lang="de-AT" dirty="0"/>
          </a:p>
        </p:txBody>
      </p:sp>
    </p:spTree>
    <p:extLst>
      <p:ext uri="{BB962C8B-B14F-4D97-AF65-F5344CB8AC3E}">
        <p14:creationId xmlns:p14="http://schemas.microsoft.com/office/powerpoint/2010/main" val="9211672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0.7.8.xxx Development Version</a:t>
            </a:r>
            <a:br>
              <a:rPr lang="en-US" dirty="0"/>
            </a:br>
            <a:r>
              <a:rPr lang="en-US" sz="1600" dirty="0"/>
              <a:t>April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[VECTO-1541] - Implement E2/S2 with APT-S/P</a:t>
            </a:r>
          </a:p>
          <a:p>
            <a:pPr lvl="1">
              <a:tabLst>
                <a:tab pos="1885950" algn="l"/>
              </a:tabLst>
            </a:pPr>
            <a:r>
              <a:rPr lang="en-US" sz="1400" dirty="0"/>
              <a:t>[VECTO-1549] - Error in gearshift behavior for AT transmissions when braking</a:t>
            </a:r>
          </a:p>
          <a:p>
            <a:pPr lvl="1">
              <a:tabLst>
                <a:tab pos="1885950" algn="l"/>
              </a:tabLst>
            </a:pPr>
            <a:r>
              <a:rPr lang="en-US" sz="1400" dirty="0"/>
              <a:t>[VECTO-1466] - 076.2451 E2 significant increase of calculation time</a:t>
            </a:r>
          </a:p>
          <a:p>
            <a:pPr lvl="1">
              <a:tabLst>
                <a:tab pos="1885950" algn="l"/>
              </a:tabLst>
            </a:pPr>
            <a:r>
              <a:rPr lang="en-US" sz="1400" dirty="0"/>
              <a:t>[VECTO-1479] - Maximum gearbox torque not respected</a:t>
            </a:r>
          </a:p>
          <a:p>
            <a:pPr lvl="1">
              <a:tabLst>
                <a:tab pos="1885950" algn="l"/>
              </a:tabLst>
            </a:pPr>
            <a:r>
              <a:rPr lang="en-US" sz="1400" dirty="0"/>
              <a:t>[VECTO-1519] - 077.2457 E2 Gear oscillation</a:t>
            </a:r>
          </a:p>
          <a:p>
            <a:pPr lvl="1">
              <a:tabLst>
                <a:tab pos="1885950" algn="l"/>
              </a:tabLst>
            </a:pPr>
            <a:r>
              <a:rPr lang="en-US" sz="1400" dirty="0"/>
              <a:t>[VECTO-1520] - 077.2457 P2 Crashing at takeoff</a:t>
            </a:r>
          </a:p>
          <a:p>
            <a:pPr lvl="1">
              <a:tabLst>
                <a:tab pos="1885950" algn="l"/>
              </a:tabLst>
            </a:pPr>
            <a:r>
              <a:rPr lang="en-US" sz="1400" dirty="0"/>
              <a:t>[VECTO-1531] - </a:t>
            </a:r>
            <a:r>
              <a:rPr lang="en-US" sz="1400" dirty="0" err="1"/>
              <a:t>ElectricMotor</a:t>
            </a:r>
            <a:r>
              <a:rPr lang="en-US" sz="1400" dirty="0"/>
              <a:t> Lookup Maximum Torque: Object reference not set to an instance of an object</a:t>
            </a:r>
          </a:p>
          <a:p>
            <a:pPr lvl="1">
              <a:tabLst>
                <a:tab pos="1885950" algn="l"/>
              </a:tabLst>
            </a:pPr>
            <a:r>
              <a:rPr lang="en-US" sz="1400" dirty="0"/>
              <a:t>[VECTO-1532] - 077.2547 P2 crashing with 600 RPM idling speed</a:t>
            </a:r>
          </a:p>
          <a:p>
            <a:pPr lvl="1">
              <a:tabLst>
                <a:tab pos="1885950" algn="l"/>
              </a:tabLst>
            </a:pPr>
            <a:r>
              <a:rPr lang="en-US" sz="1400" dirty="0"/>
              <a:t>[VECTO-1539] - Engine speed ramping up before vehicle halt</a:t>
            </a:r>
          </a:p>
          <a:p>
            <a:pPr lvl="1">
              <a:tabLst>
                <a:tab pos="1885950" algn="l"/>
              </a:tabLst>
            </a:pPr>
            <a:r>
              <a:rPr lang="en-US" sz="1400" dirty="0"/>
              <a:t>[VECTO-1551] - AT-P Transmission Bus Application: Error during braking phase</a:t>
            </a:r>
          </a:p>
          <a:p>
            <a:pPr lvl="1">
              <a:tabLst>
                <a:tab pos="1885950" algn="l"/>
              </a:tabLst>
            </a:pPr>
            <a:r>
              <a:rPr lang="en-US" sz="1400" dirty="0"/>
              <a:t>[VECTO-1559] - battery internal resistance curve</a:t>
            </a:r>
          </a:p>
          <a:p>
            <a:pPr lvl="1">
              <a:tabLst>
                <a:tab pos="1885950" algn="l"/>
              </a:tabLst>
            </a:pPr>
            <a:r>
              <a:rPr lang="en-US" sz="1400" dirty="0"/>
              <a:t>[VECTO-1411] - Switching to new .NET version</a:t>
            </a:r>
          </a:p>
          <a:p>
            <a:pPr lvl="1">
              <a:tabLst>
                <a:tab pos="1885950" algn="l"/>
              </a:tabLst>
            </a:pPr>
            <a:r>
              <a:rPr lang="en-US" sz="1400" dirty="0"/>
              <a:t>[VECTO-1456] - Cycle Cache in engineering mode</a:t>
            </a:r>
          </a:p>
          <a:p>
            <a:pPr lvl="1">
              <a:tabLst>
                <a:tab pos="1885950" algn="l"/>
              </a:tabLst>
            </a:pPr>
            <a:r>
              <a:rPr lang="en-US" sz="1400" dirty="0"/>
              <a:t>[VECTO-1478] - Torque limits only apply to ICE</a:t>
            </a:r>
          </a:p>
          <a:p>
            <a:pPr lvl="1">
              <a:tabLst>
                <a:tab pos="1885950" algn="l"/>
              </a:tabLst>
            </a:pPr>
            <a:r>
              <a:rPr lang="en-US" sz="1400" dirty="0"/>
              <a:t>[VECTO-1521] - Updating </a:t>
            </a:r>
            <a:r>
              <a:rPr lang="en-US" sz="1400" dirty="0" err="1"/>
              <a:t>tyre</a:t>
            </a:r>
            <a:r>
              <a:rPr lang="en-US" sz="1400" dirty="0"/>
              <a:t> dimensions</a:t>
            </a:r>
          </a:p>
          <a:p>
            <a:pPr lvl="1">
              <a:tabLst>
                <a:tab pos="1885950" algn="l"/>
              </a:tabLst>
            </a:pPr>
            <a:r>
              <a:rPr lang="en-US" sz="1400" dirty="0"/>
              <a:t>[VECTO-1522] - VECTO warning if there are more steered axles than steering pump technologies</a:t>
            </a:r>
          </a:p>
          <a:p>
            <a:pPr lvl="1">
              <a:tabLst>
                <a:tab pos="1885950" algn="l"/>
              </a:tabLst>
            </a:pPr>
            <a:endParaRPr lang="en-US" sz="1400" dirty="0"/>
          </a:p>
        </p:txBody>
      </p:sp>
    </p:spTree>
    <p:extLst>
      <p:ext uri="{BB962C8B-B14F-4D97-AF65-F5344CB8AC3E}">
        <p14:creationId xmlns:p14="http://schemas.microsoft.com/office/powerpoint/2010/main" val="21830941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0.7.8.xxx Development Version</a:t>
            </a:r>
            <a:br>
              <a:rPr lang="en-US" dirty="0"/>
            </a:br>
            <a:r>
              <a:rPr lang="en-US" sz="1600" dirty="0"/>
              <a:t>April 2022</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[VECTO-1525] - PCC Preprocessing</a:t>
            </a:r>
          </a:p>
          <a:p>
            <a:pPr lvl="1">
              <a:tabLst>
                <a:tab pos="1885950" algn="l"/>
              </a:tabLst>
            </a:pPr>
            <a:r>
              <a:rPr lang="en-US" sz="1400" dirty="0"/>
              <a:t>[VECTO-1533] - Multi-Target Compilation and .NET Upgrade</a:t>
            </a:r>
          </a:p>
          <a:p>
            <a:pPr lvl="1">
              <a:tabLst>
                <a:tab pos="1885950" algn="l"/>
              </a:tabLst>
            </a:pPr>
            <a:r>
              <a:rPr lang="en-US" sz="1400" dirty="0"/>
              <a:t>[VECTO-1538] - Transmission ratios limitation of input value to &lt;=25</a:t>
            </a:r>
          </a:p>
          <a:p>
            <a:pPr lvl="1">
              <a:tabLst>
                <a:tab pos="1885950" algn="l"/>
              </a:tabLst>
            </a:pPr>
            <a:r>
              <a:rPr lang="en-US" sz="1400" dirty="0"/>
              <a:t>[VECTO-1540] - Retarder Types </a:t>
            </a:r>
            <a:r>
              <a:rPr lang="en-US" sz="1400" dirty="0" err="1"/>
              <a:t>AxleGearInputRetarder</a:t>
            </a:r>
            <a:endParaRPr lang="en-US" sz="1400" dirty="0"/>
          </a:p>
          <a:p>
            <a:pPr lvl="1">
              <a:tabLst>
                <a:tab pos="1885950" algn="l"/>
              </a:tabLst>
            </a:pPr>
            <a:r>
              <a:rPr lang="en-US" sz="1400" dirty="0"/>
              <a:t>[VECTO-1543] - Calculation of EM Overload buffer, and continuous torque</a:t>
            </a:r>
          </a:p>
          <a:p>
            <a:pPr lvl="1">
              <a:tabLst>
                <a:tab pos="1885950" algn="l"/>
              </a:tabLst>
            </a:pPr>
            <a:r>
              <a:rPr lang="en-US" sz="1400" dirty="0"/>
              <a:t>[VECTO-1545] - WHR electric - connect to REESS</a:t>
            </a:r>
          </a:p>
          <a:p>
            <a:pPr lvl="1">
              <a:tabLst>
                <a:tab pos="1885950" algn="l"/>
              </a:tabLst>
            </a:pPr>
            <a:r>
              <a:rPr lang="en-US" sz="1400" dirty="0"/>
              <a:t>[VECTO-1548] - Update Coach cycle</a:t>
            </a:r>
          </a:p>
          <a:p>
            <a:pPr lvl="1">
              <a:tabLst>
                <a:tab pos="1885950" algn="l"/>
              </a:tabLst>
            </a:pPr>
            <a:r>
              <a:rPr lang="en-US" sz="1400" dirty="0"/>
              <a:t>[VECTO-1560] - update toolchain for generating </a:t>
            </a:r>
            <a:r>
              <a:rPr lang="en-US" sz="1400" dirty="0" err="1"/>
              <a:t>usermanual</a:t>
            </a:r>
            <a:endParaRPr lang="en-US" sz="1400" dirty="0"/>
          </a:p>
          <a:p>
            <a:pPr lvl="1">
              <a:tabLst>
                <a:tab pos="1885950" algn="l"/>
              </a:tabLst>
            </a:pPr>
            <a:r>
              <a:rPr lang="en-US" sz="1400" dirty="0"/>
              <a:t>[VECTO-1562] - Adapting WHTC Correction Factor weighting for LH Cycle</a:t>
            </a:r>
          </a:p>
          <a:p>
            <a:pPr lvl="1">
              <a:tabLst>
                <a:tab pos="1885950" algn="l"/>
              </a:tabLst>
            </a:pPr>
            <a:r>
              <a:rPr lang="en-US" sz="1400" dirty="0"/>
              <a:t>[VECTO-1563] - Electric Motor: Calculation of Overload Buffer</a:t>
            </a:r>
          </a:p>
          <a:p>
            <a:pPr lvl="1">
              <a:tabLst>
                <a:tab pos="1885950" algn="l"/>
              </a:tabLst>
            </a:pPr>
            <a:r>
              <a:rPr lang="en-US" sz="1400" dirty="0"/>
              <a:t>[VECTO-1564] - XML Schema adaptations</a:t>
            </a:r>
          </a:p>
          <a:p>
            <a:pPr lvl="1">
              <a:tabLst>
                <a:tab pos="1885950" algn="l"/>
              </a:tabLst>
            </a:pPr>
            <a:r>
              <a:rPr lang="en-US" sz="1400" dirty="0"/>
              <a:t>[VECTO-1565] - VECTO warning if there are more steered axles than steering pump technologies</a:t>
            </a:r>
          </a:p>
          <a:p>
            <a:pPr lvl="1">
              <a:tabLst>
                <a:tab pos="1885950" algn="l"/>
              </a:tabLst>
            </a:pPr>
            <a:r>
              <a:rPr lang="en-US" sz="1400" dirty="0"/>
              <a:t>[VECTO-1569] - Bugfix: Extrapolation warning in PEV shift strategy</a:t>
            </a:r>
          </a:p>
          <a:p>
            <a:pPr lvl="1">
              <a:tabLst>
                <a:tab pos="1885950" algn="l"/>
              </a:tabLst>
            </a:pPr>
            <a:r>
              <a:rPr lang="en-US" sz="1400" dirty="0"/>
              <a:t>[VECTO-1573] - Update LH Cycle and WHTC correction </a:t>
            </a:r>
            <a:r>
              <a:rPr lang="en-US" sz="1400"/>
              <a:t>factor weighting</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24951943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Changes/Bugfixes</a:t>
            </a:r>
          </a:p>
          <a:p>
            <a:pPr lvl="1">
              <a:tabLst>
                <a:tab pos="1885950" algn="l"/>
              </a:tabLst>
            </a:pPr>
            <a:r>
              <a:rPr lang="en-US" sz="1400" dirty="0"/>
              <a:t>Implementation APT-N Gearbox + shift strategy</a:t>
            </a:r>
          </a:p>
          <a:p>
            <a:pPr lvl="1">
              <a:tabLst>
                <a:tab pos="1885950" algn="l"/>
              </a:tabLst>
            </a:pPr>
            <a:r>
              <a:rPr lang="en-US" sz="1400" dirty="0"/>
              <a:t>Update EM model (drag curve independent of voltage level)</a:t>
            </a:r>
          </a:p>
          <a:p>
            <a:pPr lvl="1">
              <a:tabLst>
                <a:tab pos="1885950" algn="l"/>
              </a:tabLst>
            </a:pPr>
            <a:r>
              <a:rPr lang="en-US" sz="1400" dirty="0"/>
              <a:t>Update EM electric power map interpolation method</a:t>
            </a:r>
          </a:p>
          <a:p>
            <a:pPr lvl="1">
              <a:tabLst>
                <a:tab pos="1885950" algn="l"/>
              </a:tabLst>
            </a:pPr>
            <a:r>
              <a:rPr lang="en-US" sz="1400" dirty="0"/>
              <a:t>Update user manual</a:t>
            </a:r>
          </a:p>
          <a:p>
            <a:pPr lvl="1">
              <a:tabLst>
                <a:tab pos="1885950" algn="l"/>
              </a:tabLst>
            </a:pPr>
            <a:r>
              <a:rPr lang="en-US" sz="1400" dirty="0"/>
              <a:t>Update/bugfixes PEV shift strategy (influence of drag curve, error in calculation of costs)</a:t>
            </a:r>
          </a:p>
          <a:p>
            <a:pPr lvl="1">
              <a:tabLst>
                <a:tab pos="1885950" algn="l"/>
              </a:tabLst>
            </a:pPr>
            <a:r>
              <a:rPr lang="en-US" sz="1400" dirty="0"/>
              <a:t>Bugfix calculation </a:t>
            </a:r>
            <a:r>
              <a:rPr lang="en-US" sz="1400" dirty="0" err="1"/>
              <a:t>E_EM_off_loss</a:t>
            </a:r>
            <a:endParaRPr lang="en-US" sz="1400" dirty="0"/>
          </a:p>
          <a:p>
            <a:pPr lvl="1">
              <a:tabLst>
                <a:tab pos="1885950" algn="l"/>
              </a:tabLst>
            </a:pPr>
            <a:r>
              <a:rPr lang="en-US" sz="1400" dirty="0"/>
              <a:t>Update generic shift lines for PEV E2</a:t>
            </a:r>
          </a:p>
          <a:p>
            <a:pPr lvl="1">
              <a:tabLst>
                <a:tab pos="1885950" algn="l"/>
              </a:tabLst>
            </a:pPr>
            <a:r>
              <a:rPr lang="en-US" sz="1400" dirty="0"/>
              <a:t>Bugfix post-processing fuel consumption correction bus auxiliaries (in case of no alternator)</a:t>
            </a:r>
          </a:p>
          <a:p>
            <a:pPr lvl="1">
              <a:tabLst>
                <a:tab pos="1885950" algn="l"/>
              </a:tabLst>
            </a:pPr>
            <a:r>
              <a:rPr lang="en-US" sz="1400" dirty="0"/>
              <a:t>Bugfixes PCC for </a:t>
            </a:r>
            <a:r>
              <a:rPr lang="en-US" sz="1400" dirty="0" err="1"/>
              <a:t>xEV</a:t>
            </a:r>
            <a:endParaRPr lang="en-US" sz="1400" dirty="0"/>
          </a:p>
          <a:p>
            <a:pPr lvl="1">
              <a:tabLst>
                <a:tab pos="1885950" algn="l"/>
              </a:tabLst>
            </a:pPr>
            <a:endParaRPr lang="en-US" sz="1400" dirty="0"/>
          </a:p>
          <a:p>
            <a:pPr>
              <a:tabLst>
                <a:tab pos="1885950" algn="l"/>
              </a:tabLst>
            </a:pPr>
            <a:endParaRPr lang="en-US" sz="1600" dirty="0"/>
          </a:p>
          <a:p>
            <a:pPr lvl="1">
              <a:tabLst>
                <a:tab pos="1885950" algn="l"/>
              </a:tabLst>
            </a:pPr>
            <a:endParaRPr lang="en-US" sz="1400" dirty="0"/>
          </a:p>
          <a:p>
            <a:pPr lvl="1">
              <a:tabLst>
                <a:tab pos="1885950" algn="l"/>
              </a:tabLst>
            </a:pPr>
            <a:endParaRPr lang="en-US" sz="1400" dirty="0"/>
          </a:p>
        </p:txBody>
      </p:sp>
    </p:spTree>
    <p:extLst>
      <p:ext uri="{BB962C8B-B14F-4D97-AF65-F5344CB8AC3E}">
        <p14:creationId xmlns:p14="http://schemas.microsoft.com/office/powerpoint/2010/main" val="330715193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0.7.7.2547 Development Version</a:t>
            </a:r>
            <a:br>
              <a:rPr lang="en-US"/>
            </a:br>
            <a:r>
              <a:rPr lang="en-US" sz="1600"/>
              <a:t>December 2021</a:t>
            </a:r>
            <a:endParaRPr lang="en-US" sz="1600" dirty="0"/>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General comments (1/x)</a:t>
            </a:r>
          </a:p>
          <a:p>
            <a:pPr lvl="1">
              <a:tabLst>
                <a:tab pos="1885950" algn="l"/>
              </a:tabLst>
            </a:pPr>
            <a:r>
              <a:rPr lang="en-US" sz="1400" dirty="0"/>
              <a:t>All topics in this section will also be explained in the next </a:t>
            </a:r>
            <a:r>
              <a:rPr lang="en-US" sz="1400" dirty="0" err="1"/>
              <a:t>xEV</a:t>
            </a:r>
            <a:r>
              <a:rPr lang="en-US" sz="1400" dirty="0"/>
              <a:t> workshop #9 on 11.01.2022</a:t>
            </a:r>
            <a:br>
              <a:rPr lang="en-US" sz="1400" dirty="0"/>
            </a:br>
            <a:endParaRPr lang="en-US" sz="1400" dirty="0"/>
          </a:p>
          <a:p>
            <a:pPr lvl="1">
              <a:tabLst>
                <a:tab pos="1885950" algn="l"/>
              </a:tabLst>
            </a:pPr>
            <a:r>
              <a:rPr lang="en-US" sz="1400" dirty="0"/>
              <a:t>Also topics for testing and feedback will be discussed in this workshop.</a:t>
            </a:r>
            <a:br>
              <a:rPr lang="en-US" sz="1400" dirty="0"/>
            </a:br>
            <a:r>
              <a:rPr lang="en-US" sz="1400" dirty="0"/>
              <a:t>Until then, no feedback on the distributed version is expected.</a:t>
            </a:r>
            <a:br>
              <a:rPr lang="en-US" sz="1400" dirty="0"/>
            </a:br>
            <a:endParaRPr lang="en-US" sz="1400" dirty="0"/>
          </a:p>
          <a:p>
            <a:pPr lvl="1">
              <a:tabLst>
                <a:tab pos="1885950" algn="l"/>
              </a:tabLst>
            </a:pPr>
            <a:r>
              <a:rPr lang="en-US" sz="1400" dirty="0"/>
              <a:t>Calculation of overload buffer for EM</a:t>
            </a:r>
          </a:p>
          <a:p>
            <a:pPr lvl="2">
              <a:tabLst>
                <a:tab pos="1885950" algn="l"/>
              </a:tabLst>
            </a:pPr>
            <a:r>
              <a:rPr lang="en-US" sz="1000" dirty="0"/>
              <a:t>Overload buffer is currently calculated with data for lower voltage level only</a:t>
            </a:r>
          </a:p>
          <a:p>
            <a:pPr lvl="2">
              <a:tabLst>
                <a:tab pos="1885950" algn="l"/>
              </a:tabLst>
            </a:pPr>
            <a:r>
              <a:rPr lang="en-US" sz="1000" dirty="0"/>
              <a:t>Update of calculation method based on two voltage levels will be implemented once all details reg. the method are clarified</a:t>
            </a:r>
            <a:br>
              <a:rPr lang="en-US" sz="1000" dirty="0"/>
            </a:br>
            <a:endParaRPr lang="en-US" sz="1000" dirty="0"/>
          </a:p>
          <a:p>
            <a:pPr lvl="1">
              <a:tabLst>
                <a:tab pos="1885950" algn="l"/>
              </a:tabLst>
            </a:pPr>
            <a:r>
              <a:rPr lang="en-US" sz="1400" dirty="0"/>
              <a:t>Propulsion Torque Limits (Vehicle Boosting Limits)</a:t>
            </a:r>
          </a:p>
          <a:p>
            <a:pPr lvl="2">
              <a:tabLst>
                <a:tab pos="1885950" algn="l"/>
              </a:tabLst>
            </a:pPr>
            <a:r>
              <a:rPr lang="en-US" sz="1000" dirty="0"/>
              <a:t>In the rotational speed range from 0 to engine idling speed the full load torque available from the ICE equals the ICE full load torque at engine idling speed due to the modelling of the clutch </a:t>
            </a:r>
            <a:r>
              <a:rPr lang="en-US" sz="1000" dirty="0" err="1"/>
              <a:t>behaviour</a:t>
            </a:r>
            <a:r>
              <a:rPr lang="en-US" sz="1000" dirty="0"/>
              <a:t> during vehicle starts.</a:t>
            </a:r>
          </a:p>
          <a:p>
            <a:pPr lvl="2">
              <a:tabLst>
                <a:tab pos="1885950" algn="l"/>
              </a:tabLst>
            </a:pPr>
            <a:r>
              <a:rPr lang="en-US" sz="1000" dirty="0"/>
              <a:t>Any arbitrary number of values may be declared in between the range of zero and the maximum rotational speed of the ICE full load curve.</a:t>
            </a:r>
          </a:p>
          <a:p>
            <a:pPr lvl="2">
              <a:tabLst>
                <a:tab pos="1885950" algn="l"/>
              </a:tabLst>
            </a:pPr>
            <a:r>
              <a:rPr lang="en-US" sz="1000" dirty="0"/>
              <a:t>Declared values lower than zero are not allowed for the additional torque.</a:t>
            </a:r>
          </a:p>
          <a:p>
            <a:pPr lvl="2">
              <a:tabLst>
                <a:tab pos="1885950" algn="l"/>
              </a:tabLst>
            </a:pPr>
            <a:r>
              <a:rPr lang="en-US" sz="1000" dirty="0"/>
              <a:t>For detailed explanation refer to user manual (“Vehicle Editor – Torque Limits Tab”, “Torque and Speed Limitations”)</a:t>
            </a:r>
            <a:br>
              <a:rPr lang="en-US" sz="1000" dirty="0"/>
            </a:br>
            <a:endParaRPr lang="en-US" sz="1000" dirty="0"/>
          </a:p>
          <a:p>
            <a:pPr lvl="1">
              <a:tabLst>
                <a:tab pos="1885950" algn="l"/>
              </a:tabLst>
            </a:pPr>
            <a:r>
              <a:rPr lang="en-US" sz="1400" dirty="0"/>
              <a:t>Pulse-duration dependency of internal resistance of battery</a:t>
            </a:r>
          </a:p>
          <a:p>
            <a:pPr lvl="2">
              <a:tabLst>
                <a:tab pos="1885950" algn="l"/>
              </a:tabLst>
            </a:pPr>
            <a:r>
              <a:rPr lang="en-US" sz="1000" dirty="0"/>
              <a:t>For detailed explanation refer to user manual</a:t>
            </a:r>
            <a:br>
              <a:rPr lang="en-US" sz="1000" dirty="0"/>
            </a:br>
            <a:endParaRPr lang="en-US" sz="1400" dirty="0"/>
          </a:p>
          <a:p>
            <a:pPr lvl="1">
              <a:tabLst>
                <a:tab pos="1885950" algn="l"/>
              </a:tabLst>
            </a:pPr>
            <a:r>
              <a:rPr lang="en-US" sz="1400" dirty="0"/>
              <a:t>HEV operation strategy method for declaration mode</a:t>
            </a:r>
          </a:p>
          <a:p>
            <a:pPr lvl="2">
              <a:tabLst>
                <a:tab pos="1885950" algn="l"/>
              </a:tabLst>
            </a:pPr>
            <a:r>
              <a:rPr lang="en-US" sz="1000" dirty="0"/>
              <a:t>Method explained in “User Manual/HEV_DECL_method_20211221.pptx” distributed together with VECTO archive</a:t>
            </a:r>
          </a:p>
          <a:p>
            <a:pPr lvl="2">
              <a:tabLst>
                <a:tab pos="1885950" algn="l"/>
              </a:tabLst>
            </a:pPr>
            <a:r>
              <a:rPr lang="en-US" sz="1000" dirty="0"/>
              <a:t>Generic values defined per (vehicle group, mission, payload and usable SOC range) in “User Manual/HEV_Strategy_Parameters.xlsx” distributed together with VECTO archive</a:t>
            </a:r>
          </a:p>
          <a:p>
            <a:pPr lvl="2">
              <a:tabLst>
                <a:tab pos="1885950" algn="l"/>
              </a:tabLst>
            </a:pPr>
            <a:r>
              <a:rPr lang="en-US" sz="1000" dirty="0"/>
              <a:t>For further details refer to distributed material/recording from </a:t>
            </a:r>
            <a:r>
              <a:rPr lang="en-US" sz="1000" dirty="0" err="1"/>
              <a:t>xEV</a:t>
            </a:r>
            <a:r>
              <a:rPr lang="en-US" sz="1000" dirty="0"/>
              <a:t> workshop #8</a:t>
            </a:r>
          </a:p>
          <a:p>
            <a:pPr lvl="1">
              <a:tabLst>
                <a:tab pos="1885950" algn="l"/>
              </a:tabLst>
            </a:pPr>
            <a:endParaRPr lang="en-US" sz="1400" dirty="0"/>
          </a:p>
        </p:txBody>
      </p:sp>
    </p:spTree>
    <p:extLst>
      <p:ext uri="{BB962C8B-B14F-4D97-AF65-F5344CB8AC3E}">
        <p14:creationId xmlns:p14="http://schemas.microsoft.com/office/powerpoint/2010/main" val="27947474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General comments (2/x)</a:t>
            </a:r>
          </a:p>
          <a:p>
            <a:pPr lvl="1">
              <a:tabLst>
                <a:tab pos="1885950" algn="l"/>
              </a:tabLst>
            </a:pPr>
            <a:r>
              <a:rPr lang="en-US" sz="1400" dirty="0"/>
              <a:t>Auxiliaries for PEV</a:t>
            </a:r>
          </a:p>
          <a:p>
            <a:pPr lvl="2">
              <a:tabLst>
                <a:tab pos="1885950" algn="l"/>
              </a:tabLst>
            </a:pPr>
            <a:r>
              <a:rPr lang="en-US" sz="1000" dirty="0"/>
              <a:t>Electric power demand of auxiliaries for both, lorries and buses, need to be parameterized via the “</a:t>
            </a:r>
            <a:r>
              <a:rPr lang="en-US" sz="1000" dirty="0" err="1"/>
              <a:t>BusAux</a:t>
            </a:r>
            <a:r>
              <a:rPr lang="en-US" sz="1000" dirty="0"/>
              <a:t>” GUI window</a:t>
            </a:r>
            <a:br>
              <a:rPr lang="en-US" sz="1000" dirty="0"/>
            </a:br>
            <a:br>
              <a:rPr lang="en-US" sz="1000" dirty="0"/>
            </a:br>
            <a:br>
              <a:rPr lang="en-US" sz="1000" dirty="0"/>
            </a:br>
            <a:br>
              <a:rPr lang="en-US" sz="1000" dirty="0"/>
            </a:br>
            <a:endParaRPr lang="en-US" sz="1000" dirty="0"/>
          </a:p>
          <a:p>
            <a:pPr lvl="2">
              <a:tabLst>
                <a:tab pos="1885950" algn="l"/>
              </a:tabLst>
            </a:pP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br>
              <a:rPr lang="en-US" sz="1000" dirty="0"/>
            </a:br>
            <a:endParaRPr lang="en-US" sz="1000" dirty="0"/>
          </a:p>
          <a:p>
            <a:pPr lvl="1">
              <a:tabLst>
                <a:tab pos="1885950" algn="l"/>
              </a:tabLst>
            </a:pPr>
            <a:r>
              <a:rPr lang="en-US" sz="1400" dirty="0"/>
              <a:t>Gearshift model for PEV</a:t>
            </a:r>
          </a:p>
          <a:p>
            <a:pPr lvl="2">
              <a:tabLst>
                <a:tab pos="1885950" algn="l"/>
              </a:tabLst>
            </a:pPr>
            <a:r>
              <a:rPr lang="en-US" sz="1000" dirty="0"/>
              <a:t>Details explained on next slides</a:t>
            </a:r>
          </a:p>
        </p:txBody>
      </p:sp>
      <p:grpSp>
        <p:nvGrpSpPr>
          <p:cNvPr id="13" name="Gruppieren 12"/>
          <p:cNvGrpSpPr/>
          <p:nvPr/>
        </p:nvGrpSpPr>
        <p:grpSpPr>
          <a:xfrm>
            <a:off x="1047744" y="2188069"/>
            <a:ext cx="7964293" cy="2520000"/>
            <a:chOff x="1047744" y="2188069"/>
            <a:chExt cx="7964293" cy="2520000"/>
          </a:xfrm>
        </p:grpSpPr>
        <p:pic>
          <p:nvPicPr>
            <p:cNvPr id="6" name="Grafik 5"/>
            <p:cNvPicPr>
              <a:picLocks noChangeAspect="1"/>
            </p:cNvPicPr>
            <p:nvPr/>
          </p:nvPicPr>
          <p:blipFill rotWithShape="1">
            <a:blip r:embed="rId2"/>
            <a:srcRect r="53534"/>
            <a:stretch/>
          </p:blipFill>
          <p:spPr>
            <a:xfrm>
              <a:off x="5004049" y="2188069"/>
              <a:ext cx="2510897" cy="2520000"/>
            </a:xfrm>
            <a:prstGeom prst="rect">
              <a:avLst/>
            </a:prstGeom>
          </p:spPr>
        </p:pic>
        <p:grpSp>
          <p:nvGrpSpPr>
            <p:cNvPr id="8" name="Gruppieren 7"/>
            <p:cNvGrpSpPr/>
            <p:nvPr/>
          </p:nvGrpSpPr>
          <p:grpSpPr>
            <a:xfrm>
              <a:off x="1047744" y="2188069"/>
              <a:ext cx="3735535" cy="2520000"/>
              <a:chOff x="1047744" y="2060848"/>
              <a:chExt cx="3735535" cy="2520000"/>
            </a:xfrm>
          </p:grpSpPr>
          <p:pic>
            <p:nvPicPr>
              <p:cNvPr id="5" name="Grafik 4"/>
              <p:cNvPicPr>
                <a:picLocks noChangeAspect="1"/>
              </p:cNvPicPr>
              <p:nvPr/>
            </p:nvPicPr>
            <p:blipFill>
              <a:blip r:embed="rId3"/>
              <a:stretch>
                <a:fillRect/>
              </a:stretch>
            </p:blipFill>
            <p:spPr>
              <a:xfrm>
                <a:off x="1187624" y="2060848"/>
                <a:ext cx="3595655" cy="2520000"/>
              </a:xfrm>
              <a:prstGeom prst="rect">
                <a:avLst/>
              </a:prstGeom>
            </p:spPr>
          </p:pic>
          <p:sp>
            <p:nvSpPr>
              <p:cNvPr id="7" name="Ellipse 6"/>
              <p:cNvSpPr/>
              <p:nvPr/>
            </p:nvSpPr>
            <p:spPr bwMode="auto">
              <a:xfrm>
                <a:off x="1047744" y="3685709"/>
                <a:ext cx="900000" cy="288000"/>
              </a:xfrm>
              <a:prstGeom prst="ellipse">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spAutoFit/>
              </a:bodyPr>
              <a:lstStyle/>
              <a:p>
                <a:pPr marL="0" marR="0" indent="0" algn="ctr" defTabSz="914400" rtl="0" eaLnBrk="1" fontAlgn="base" latinLnBrk="0" hangingPunct="1">
                  <a:lnSpc>
                    <a:spcPct val="100000"/>
                  </a:lnSpc>
                  <a:spcBef>
                    <a:spcPct val="30000"/>
                  </a:spcBef>
                  <a:spcAft>
                    <a:spcPct val="0"/>
                  </a:spcAft>
                  <a:buClrTx/>
                  <a:buSzTx/>
                  <a:buFontTx/>
                  <a:buNone/>
                  <a:tabLst/>
                </a:pPr>
                <a:endParaRPr lang="de-AT" b="0">
                  <a:latin typeface="Arial" pitchFamily="34" charset="0"/>
                </a:endParaRPr>
              </a:p>
            </p:txBody>
          </p:sp>
        </p:grpSp>
        <p:sp>
          <p:nvSpPr>
            <p:cNvPr id="11" name="Legende mit Linie 1 10"/>
            <p:cNvSpPr/>
            <p:nvPr/>
          </p:nvSpPr>
          <p:spPr bwMode="auto">
            <a:xfrm>
              <a:off x="7566631" y="2836141"/>
              <a:ext cx="1445406" cy="338554"/>
            </a:xfrm>
            <a:prstGeom prst="borderCallout1">
              <a:avLst>
                <a:gd name="adj1" fmla="val 18750"/>
                <a:gd name="adj2" fmla="val -8333"/>
                <a:gd name="adj3" fmla="val 70225"/>
                <a:gd name="adj4" fmla="val -65838"/>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30000"/>
                </a:spcBef>
                <a:spcAft>
                  <a:spcPct val="0"/>
                </a:spcAft>
                <a:buClrTx/>
                <a:buSzTx/>
                <a:buFontTx/>
                <a:buNone/>
                <a:tabLst/>
              </a:pPr>
              <a:r>
                <a:rPr lang="de-DE" sz="1100" b="0" dirty="0">
                  <a:latin typeface="Arial" pitchFamily="34" charset="0"/>
                </a:rPr>
                <a:t>Demand </a:t>
              </a:r>
              <a:r>
                <a:rPr lang="de-DE" sz="1100" b="0" dirty="0" err="1">
                  <a:latin typeface="Arial" pitchFamily="34" charset="0"/>
                </a:rPr>
                <a:t>during</a:t>
              </a:r>
              <a:r>
                <a:rPr lang="de-DE" sz="1100" b="0" dirty="0">
                  <a:latin typeface="Arial" pitchFamily="34" charset="0"/>
                </a:rPr>
                <a:t> </a:t>
              </a:r>
              <a:r>
                <a:rPr lang="de-DE" sz="1100" b="0" dirty="0" err="1">
                  <a:latin typeface="Arial" pitchFamily="34" charset="0"/>
                </a:rPr>
                <a:t>vehicle</a:t>
              </a:r>
              <a:r>
                <a:rPr lang="de-DE" sz="1100" b="0" dirty="0">
                  <a:latin typeface="Arial" pitchFamily="34" charset="0"/>
                </a:rPr>
                <a:t> </a:t>
              </a:r>
              <a:r>
                <a:rPr lang="de-DE" sz="1100" b="0" dirty="0" err="1">
                  <a:latin typeface="Arial" pitchFamily="34" charset="0"/>
                </a:rPr>
                <a:t>driving</a:t>
              </a:r>
              <a:endParaRPr lang="de-AT" sz="1100" b="0" dirty="0">
                <a:latin typeface="Arial" pitchFamily="34" charset="0"/>
              </a:endParaRPr>
            </a:p>
          </p:txBody>
        </p:sp>
        <p:sp>
          <p:nvSpPr>
            <p:cNvPr id="12" name="Legende mit Linie 1 11"/>
            <p:cNvSpPr/>
            <p:nvPr/>
          </p:nvSpPr>
          <p:spPr bwMode="auto">
            <a:xfrm>
              <a:off x="7566631" y="3340197"/>
              <a:ext cx="1445406" cy="338554"/>
            </a:xfrm>
            <a:prstGeom prst="borderCallout1">
              <a:avLst>
                <a:gd name="adj1" fmla="val 18750"/>
                <a:gd name="adj2" fmla="val -8333"/>
                <a:gd name="adj3" fmla="val -28416"/>
                <a:gd name="adj4" fmla="val -65839"/>
              </a:avLst>
            </a:prstGeom>
            <a:noFill/>
            <a:ln w="19050" cap="flat" cmpd="sng" algn="ctr">
              <a:solidFill>
                <a:srgbClr val="FF0000"/>
              </a:solidFill>
              <a:prstDash val="solid"/>
              <a:round/>
              <a:headEnd type="none" w="med" len="med"/>
              <a:tailEnd type="none" w="med" len="med"/>
            </a:ln>
            <a:effectLst/>
            <a:extLst/>
          </p:spPr>
          <p:txBody>
            <a:bodyPr vert="horz" wrap="square" lIns="91440" tIns="45720" rIns="91440" bIns="45720" numCol="1" rtlCol="0" anchor="ctr" anchorCtr="0" compatLnSpc="1">
              <a:prstTxWarp prst="textNoShape">
                <a:avLst/>
              </a:prstTxWarp>
              <a:noAutofit/>
            </a:bodyPr>
            <a:lstStyle/>
            <a:p>
              <a:pPr marL="0" marR="0" indent="0" algn="ctr" defTabSz="914400" rtl="0" eaLnBrk="1" fontAlgn="base" latinLnBrk="0" hangingPunct="1">
                <a:lnSpc>
                  <a:spcPct val="100000"/>
                </a:lnSpc>
                <a:spcBef>
                  <a:spcPct val="30000"/>
                </a:spcBef>
                <a:spcAft>
                  <a:spcPct val="0"/>
                </a:spcAft>
                <a:buClrTx/>
                <a:buSzTx/>
                <a:buFontTx/>
                <a:buNone/>
                <a:tabLst/>
              </a:pPr>
              <a:r>
                <a:rPr lang="de-DE" sz="1100" b="0" dirty="0">
                  <a:latin typeface="Arial" pitchFamily="34" charset="0"/>
                </a:rPr>
                <a:t>Demand </a:t>
              </a:r>
              <a:r>
                <a:rPr lang="de-DE" sz="1100" b="0" dirty="0" err="1">
                  <a:latin typeface="Arial" pitchFamily="34" charset="0"/>
                </a:rPr>
                <a:t>during</a:t>
              </a:r>
              <a:r>
                <a:rPr lang="de-DE" sz="1100" b="0" dirty="0">
                  <a:latin typeface="Arial" pitchFamily="34" charset="0"/>
                </a:rPr>
                <a:t> </a:t>
              </a:r>
              <a:r>
                <a:rPr lang="de-DE" sz="1100" b="0" dirty="0" err="1">
                  <a:latin typeface="Arial" pitchFamily="34" charset="0"/>
                </a:rPr>
                <a:t>vehicle</a:t>
              </a:r>
              <a:r>
                <a:rPr lang="de-DE" sz="1100" b="0" dirty="0">
                  <a:latin typeface="Arial" pitchFamily="34" charset="0"/>
                </a:rPr>
                <a:t> standstill</a:t>
              </a:r>
              <a:endParaRPr lang="de-AT" sz="1100" b="0" dirty="0">
                <a:latin typeface="Arial" pitchFamily="34" charset="0"/>
              </a:endParaRPr>
            </a:p>
          </p:txBody>
        </p:sp>
      </p:grpSp>
    </p:spTree>
    <p:extLst>
      <p:ext uri="{BB962C8B-B14F-4D97-AF65-F5344CB8AC3E}">
        <p14:creationId xmlns:p14="http://schemas.microsoft.com/office/powerpoint/2010/main" val="5601945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Grafik 1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3528" y="1743875"/>
            <a:ext cx="5760000" cy="4748827"/>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Gearshift model for PEV (1/x)</a:t>
            </a:r>
          </a:p>
        </p:txBody>
      </p:sp>
      <p:sp>
        <p:nvSpPr>
          <p:cNvPr id="13" name="Textfeld 12"/>
          <p:cNvSpPr txBox="1"/>
          <p:nvPr/>
        </p:nvSpPr>
        <p:spPr>
          <a:xfrm>
            <a:off x="6156175" y="1524988"/>
            <a:ext cx="2987825" cy="4847481"/>
          </a:xfrm>
          <a:prstGeom prst="rect">
            <a:avLst/>
          </a:prstGeom>
          <a:noFill/>
        </p:spPr>
        <p:txBody>
          <a:bodyPr wrap="square" rtlCol="0">
            <a:spAutoFit/>
          </a:bodyPr>
          <a:lstStyle/>
          <a:p>
            <a:pPr marL="285750" indent="-285750" algn="l">
              <a:buFont typeface="Wingdings" panose="05000000000000000000" pitchFamily="2" charset="2"/>
              <a:buChar char="§"/>
            </a:pPr>
            <a:r>
              <a:rPr lang="en-US" sz="1100" b="1" u="sng" dirty="0"/>
              <a:t>Basics:</a:t>
            </a:r>
          </a:p>
          <a:p>
            <a:pPr marL="742950" lvl="1" indent="-285750" algn="l">
              <a:buFont typeface="Wingdings" panose="05000000000000000000" pitchFamily="2" charset="2"/>
              <a:buChar char="§"/>
            </a:pPr>
            <a:r>
              <a:rPr lang="en-US" sz="1000" b="0" dirty="0"/>
              <a:t>Downshift for operation point left of green dot-dashed downshift lines</a:t>
            </a:r>
          </a:p>
          <a:p>
            <a:pPr marL="742950" lvl="1" indent="-285750" algn="l">
              <a:buFont typeface="Wingdings" panose="05000000000000000000" pitchFamily="2" charset="2"/>
              <a:buChar char="§"/>
            </a:pPr>
            <a:r>
              <a:rPr lang="en-US" sz="1000" b="0" dirty="0"/>
              <a:t>Upshift for operation point right of green dot-dashed upshift line</a:t>
            </a:r>
          </a:p>
          <a:p>
            <a:pPr marL="742950" lvl="1" indent="-285750" algn="l">
              <a:buFont typeface="Wingdings" panose="05000000000000000000" pitchFamily="2" charset="2"/>
              <a:buChar char="§"/>
            </a:pPr>
            <a:r>
              <a:rPr lang="en-US" sz="1000" b="0" dirty="0" err="1"/>
              <a:t>EffShift</a:t>
            </a:r>
            <a:r>
              <a:rPr lang="en-US" sz="1000" b="0" dirty="0"/>
              <a:t> method applied for operation point between downshift and upshift lines (refer to user manual) </a:t>
            </a:r>
          </a:p>
          <a:p>
            <a:pPr marL="285750" indent="-285750" algn="l">
              <a:buFont typeface="Wingdings" panose="05000000000000000000" pitchFamily="2" charset="2"/>
              <a:buChar char="§"/>
            </a:pPr>
            <a:r>
              <a:rPr lang="en-US" sz="1100" b="1" u="sng" dirty="0"/>
              <a:t>Driving:</a:t>
            </a:r>
          </a:p>
          <a:p>
            <a:pPr marL="742950" lvl="1" indent="-285750" algn="l">
              <a:buFont typeface="Wingdings" panose="05000000000000000000" pitchFamily="2" charset="2"/>
              <a:buChar char="§"/>
            </a:pPr>
            <a:r>
              <a:rPr lang="en-US" sz="1000" b="0" dirty="0"/>
              <a:t>Maximum downshift speed always located at </a:t>
            </a:r>
            <a:r>
              <a:rPr lang="en-US" sz="1000" dirty="0"/>
              <a:t>n_P80low</a:t>
            </a:r>
            <a:r>
              <a:rPr lang="en-US" sz="1000" b="0" dirty="0"/>
              <a:t> (where 80% of max power is available)</a:t>
            </a:r>
          </a:p>
          <a:p>
            <a:pPr marL="742950" lvl="1" indent="-285750" algn="l">
              <a:buFont typeface="Wingdings" panose="05000000000000000000" pitchFamily="2" charset="2"/>
              <a:buChar char="§"/>
            </a:pPr>
            <a:r>
              <a:rPr lang="en-US" sz="1000" b="0" dirty="0"/>
              <a:t>For EM in de-rating </a:t>
            </a:r>
            <a:r>
              <a:rPr lang="en-US" sz="1000" dirty="0"/>
              <a:t>n_P80low</a:t>
            </a:r>
            <a:r>
              <a:rPr lang="en-US" sz="1000" b="0" dirty="0"/>
              <a:t> is calculated from the de-rated power curve</a:t>
            </a:r>
            <a:endParaRPr lang="en-US" sz="1100" dirty="0"/>
          </a:p>
          <a:p>
            <a:pPr marL="285750" indent="-285750" algn="l">
              <a:buFont typeface="Wingdings" panose="05000000000000000000" pitchFamily="2" charset="2"/>
              <a:buChar char="§"/>
            </a:pPr>
            <a:r>
              <a:rPr lang="en-US" sz="1100" b="1" u="sng" dirty="0"/>
              <a:t>Braking:</a:t>
            </a:r>
          </a:p>
          <a:p>
            <a:pPr marL="742950" lvl="1" indent="-285750" algn="l">
              <a:buFont typeface="Wingdings" panose="05000000000000000000" pitchFamily="2" charset="2"/>
              <a:buChar char="§"/>
            </a:pPr>
            <a:r>
              <a:rPr lang="en-US" sz="1000" b="0" dirty="0" err="1"/>
              <a:t>EffShift</a:t>
            </a:r>
            <a:r>
              <a:rPr lang="en-US" sz="1000" b="0" dirty="0"/>
              <a:t> is suppressed for operation point within red shaded area</a:t>
            </a:r>
            <a:br>
              <a:rPr lang="en-US" sz="1000" b="0" dirty="0"/>
            </a:br>
            <a:r>
              <a:rPr lang="en-US" sz="1000" b="0" dirty="0"/>
              <a:t>(2% below max recuperation power)</a:t>
            </a:r>
          </a:p>
          <a:p>
            <a:pPr marL="742950" lvl="1" indent="-285750" algn="l">
              <a:buFont typeface="Wingdings" panose="05000000000000000000" pitchFamily="2" charset="2"/>
              <a:buChar char="§"/>
            </a:pPr>
            <a:r>
              <a:rPr lang="en-US" sz="1000" b="0" dirty="0"/>
              <a:t>New gear after downshift is selected so that operation point is closest to and above </a:t>
            </a:r>
            <a:r>
              <a:rPr lang="en-US" sz="1000" dirty="0" err="1"/>
              <a:t>n_brake_target_norm</a:t>
            </a:r>
            <a:r>
              <a:rPr lang="en-US" sz="1000" b="0" dirty="0"/>
              <a:t> (or only closest to </a:t>
            </a:r>
            <a:r>
              <a:rPr lang="en-US" sz="1000" dirty="0" err="1"/>
              <a:t>n_brake_target_norm</a:t>
            </a:r>
            <a:r>
              <a:rPr lang="en-US" sz="1000" b="0" dirty="0"/>
              <a:t> in case no operation point with higher speed exists)</a:t>
            </a:r>
          </a:p>
        </p:txBody>
      </p:sp>
    </p:spTree>
    <p:extLst>
      <p:ext uri="{BB962C8B-B14F-4D97-AF65-F5344CB8AC3E}">
        <p14:creationId xmlns:p14="http://schemas.microsoft.com/office/powerpoint/2010/main" val="22515564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3528" y="1743875"/>
            <a:ext cx="5760000" cy="4748827"/>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Gearshift model for PEV (2/x)</a:t>
            </a:r>
          </a:p>
        </p:txBody>
      </p:sp>
      <p:sp>
        <p:nvSpPr>
          <p:cNvPr id="13" name="Textfeld 12"/>
          <p:cNvSpPr txBox="1"/>
          <p:nvPr/>
        </p:nvSpPr>
        <p:spPr>
          <a:xfrm>
            <a:off x="6156175" y="1524988"/>
            <a:ext cx="2987825" cy="1123384"/>
          </a:xfrm>
          <a:prstGeom prst="rect">
            <a:avLst/>
          </a:prstGeom>
          <a:noFill/>
        </p:spPr>
        <p:txBody>
          <a:bodyPr wrap="square" rtlCol="0">
            <a:spAutoFit/>
          </a:bodyPr>
          <a:lstStyle/>
          <a:p>
            <a:pPr marL="285750" indent="-285750" algn="l">
              <a:buFont typeface="Wingdings" panose="05000000000000000000" pitchFamily="2" charset="2"/>
              <a:buChar char="§"/>
            </a:pPr>
            <a:r>
              <a:rPr lang="en-US" sz="1100" b="1" u="sng" dirty="0"/>
              <a:t>All factors in bold red can be tuned via shift parameter file .</a:t>
            </a:r>
            <a:r>
              <a:rPr lang="en-US" sz="1100" b="1" u="sng" dirty="0" err="1"/>
              <a:t>vtcu</a:t>
            </a:r>
            <a:endParaRPr lang="en-US" sz="1100" b="1" u="sng" dirty="0"/>
          </a:p>
          <a:p>
            <a:pPr marL="742950" lvl="1" indent="-285750" algn="l">
              <a:buFont typeface="Wingdings" panose="05000000000000000000" pitchFamily="2" charset="2"/>
              <a:buChar char="§"/>
            </a:pPr>
            <a:r>
              <a:rPr lang="en-US" sz="1000" b="0" dirty="0"/>
              <a:t>Refer to sample file for User Manual/</a:t>
            </a:r>
            <a:r>
              <a:rPr lang="en-US" sz="1000" b="0" dirty="0" err="1"/>
              <a:t>PEV_ShiftParameters.vtcu</a:t>
            </a:r>
            <a:r>
              <a:rPr lang="en-US" sz="1000" b="0" dirty="0"/>
              <a:t> distributed together with VECTO archive</a:t>
            </a:r>
          </a:p>
        </p:txBody>
      </p:sp>
    </p:spTree>
    <p:extLst>
      <p:ext uri="{BB962C8B-B14F-4D97-AF65-F5344CB8AC3E}">
        <p14:creationId xmlns:p14="http://schemas.microsoft.com/office/powerpoint/2010/main" val="203935517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[VECTO-1460] - APT-N Gearbox</a:t>
            </a:r>
          </a:p>
          <a:p>
            <a:pPr lvl="1">
              <a:tabLst>
                <a:tab pos="1885950" algn="l"/>
              </a:tabLst>
            </a:pPr>
            <a:r>
              <a:rPr lang="en-US" sz="1400" dirty="0"/>
              <a:t>[VECTO-1501] - Update EM Map interpolation method</a:t>
            </a:r>
          </a:p>
          <a:p>
            <a:pPr lvl="1">
              <a:tabLst>
                <a:tab pos="1885950" algn="l"/>
              </a:tabLst>
            </a:pPr>
            <a:r>
              <a:rPr lang="en-US" sz="1400" dirty="0"/>
              <a:t>[VECTO-1477] - Update user manual</a:t>
            </a:r>
          </a:p>
          <a:p>
            <a:pPr lvl="1">
              <a:tabLst>
                <a:tab pos="1885950" algn="l"/>
              </a:tabLst>
            </a:pPr>
            <a:r>
              <a:rPr lang="en-US" sz="1400" dirty="0"/>
              <a:t>[VECTO-1383] - E2 PEV, 2-speed AMT: "Failed to find operating point"</a:t>
            </a:r>
          </a:p>
          <a:p>
            <a:pPr lvl="1">
              <a:tabLst>
                <a:tab pos="1885950" algn="l"/>
              </a:tabLst>
            </a:pPr>
            <a:r>
              <a:rPr lang="en-US" sz="1400" dirty="0"/>
              <a:t>[VECTO-1384] - E2 PEV, 2-speed AMT: Downshifts missing</a:t>
            </a:r>
          </a:p>
          <a:p>
            <a:pPr lvl="1">
              <a:tabLst>
                <a:tab pos="1885950" algn="l"/>
              </a:tabLst>
            </a:pPr>
            <a:r>
              <a:rPr lang="en-US" sz="1400" dirty="0"/>
              <a:t>[VECTO-1414] - E2 selects high gear at low speed after take-off, does not reach target acc</a:t>
            </a:r>
          </a:p>
          <a:p>
            <a:pPr lvl="1">
              <a:tabLst>
                <a:tab pos="1885950" algn="l"/>
              </a:tabLst>
            </a:pPr>
            <a:r>
              <a:rPr lang="en-US" sz="1400" dirty="0"/>
              <a:t>[VECTO-1443] - 0.7.5.2356 </a:t>
            </a:r>
            <a:r>
              <a:rPr lang="en-US" sz="1400" dirty="0" err="1"/>
              <a:t>EC_el_final</a:t>
            </a:r>
            <a:r>
              <a:rPr lang="en-US" sz="1400" dirty="0"/>
              <a:t> calculated from REESS terminal signals</a:t>
            </a:r>
          </a:p>
          <a:p>
            <a:pPr lvl="1">
              <a:tabLst>
                <a:tab pos="1885950" algn="l"/>
              </a:tabLst>
            </a:pPr>
            <a:r>
              <a:rPr lang="en-US" sz="1400" dirty="0"/>
              <a:t>[VECTO-1445] - 073.2356, E2 Missing Downshifts, simulation abort</a:t>
            </a:r>
          </a:p>
          <a:p>
            <a:pPr lvl="1">
              <a:tabLst>
                <a:tab pos="1885950" algn="l"/>
              </a:tabLst>
            </a:pPr>
            <a:r>
              <a:rPr lang="en-US" sz="1400" dirty="0"/>
              <a:t>[VECTO-1464] - Engine Off not working with activated PCC (Hybrid Vehicles)</a:t>
            </a:r>
          </a:p>
          <a:p>
            <a:pPr lvl="1">
              <a:tabLst>
                <a:tab pos="1885950" algn="l"/>
              </a:tabLst>
            </a:pPr>
            <a:r>
              <a:rPr lang="en-US" sz="1400" dirty="0"/>
              <a:t>[VECTO-1465] - PEV </a:t>
            </a:r>
            <a:r>
              <a:rPr lang="en-US" sz="1400" dirty="0" err="1"/>
              <a:t>PCCState</a:t>
            </a:r>
            <a:r>
              <a:rPr lang="en-US" sz="1400" dirty="0"/>
              <a:t> oscillates between Interrupt and UseCase1</a:t>
            </a:r>
          </a:p>
          <a:p>
            <a:pPr lvl="1">
              <a:tabLst>
                <a:tab pos="1885950" algn="l"/>
              </a:tabLst>
            </a:pPr>
            <a:r>
              <a:rPr lang="en-US" sz="1400" dirty="0"/>
              <a:t>[VECTO-1467] - PCC HEV Small Spike at end of UseCase1 when Target speed is reached</a:t>
            </a:r>
          </a:p>
          <a:p>
            <a:pPr lvl="1">
              <a:tabLst>
                <a:tab pos="1885950" algn="l"/>
              </a:tabLst>
            </a:pPr>
            <a:r>
              <a:rPr lang="en-US" sz="1400" dirty="0"/>
              <a:t>[VECTO-1468] - EM map interpolation comments</a:t>
            </a:r>
          </a:p>
          <a:p>
            <a:pPr lvl="1">
              <a:tabLst>
                <a:tab pos="1885950" algn="l"/>
              </a:tabLst>
            </a:pPr>
            <a:r>
              <a:rPr lang="en-US" sz="1400" dirty="0"/>
              <a:t>[VECTO-1470] - 076.2463 EM drag torque questions/findings</a:t>
            </a:r>
          </a:p>
          <a:p>
            <a:pPr lvl="1">
              <a:tabLst>
                <a:tab pos="1885950" algn="l"/>
              </a:tabLst>
            </a:pPr>
            <a:r>
              <a:rPr lang="en-US" sz="1400" dirty="0"/>
              <a:t>[VECTO-1482] - Hybrid Vehicle EM speed gets very high, no gearshift</a:t>
            </a:r>
          </a:p>
          <a:p>
            <a:pPr lvl="1">
              <a:tabLst>
                <a:tab pos="1885950" algn="l"/>
              </a:tabLst>
            </a:pPr>
            <a:r>
              <a:rPr lang="en-US" sz="1400" dirty="0"/>
              <a:t>[VECTO-1483] - Job aborting: E4_Group 5 LH_ll_LongHaul_mod5_id_2</a:t>
            </a:r>
          </a:p>
          <a:p>
            <a:pPr lvl="1">
              <a:tabLst>
                <a:tab pos="1885950" algn="l"/>
              </a:tabLst>
            </a:pPr>
            <a:r>
              <a:rPr lang="en-US" sz="1400" dirty="0"/>
              <a:t>[VECTO-1484] - Job aborting: P2_Group5_s2c0_rep_Payload_LongHaul_mod5_id_27</a:t>
            </a:r>
          </a:p>
          <a:p>
            <a:pPr lvl="1">
              <a:tabLst>
                <a:tab pos="1885950" algn="l"/>
              </a:tabLst>
            </a:pPr>
            <a:r>
              <a:rPr lang="en-US" sz="1400" dirty="0"/>
              <a:t>[VECTO-1486] - NG PI fuel type not working with Engine GUI (.</a:t>
            </a:r>
            <a:r>
              <a:rPr lang="en-US" sz="1400" dirty="0" err="1"/>
              <a:t>veng</a:t>
            </a:r>
            <a:r>
              <a:rPr lang="en-US" sz="1400" dirty="0"/>
              <a:t>) in Engineering Mode</a:t>
            </a:r>
          </a:p>
          <a:p>
            <a:pPr lvl="1">
              <a:tabLst>
                <a:tab pos="1885950" algn="l"/>
              </a:tabLst>
            </a:pPr>
            <a:r>
              <a:rPr lang="en-US" sz="1400" dirty="0"/>
              <a:t>[VECTO-1487] - Calculation of EM efficiency during recuperation</a:t>
            </a:r>
          </a:p>
          <a:p>
            <a:pPr lvl="1">
              <a:tabLst>
                <a:tab pos="1885950" algn="l"/>
              </a:tabLst>
            </a:pPr>
            <a:r>
              <a:rPr lang="en-US" sz="1400" dirty="0"/>
              <a:t>[VECTO-1490] - Exceeded max iterations: Operating Point could not be found</a:t>
            </a:r>
          </a:p>
        </p:txBody>
      </p:sp>
    </p:spTree>
    <p:extLst>
      <p:ext uri="{BB962C8B-B14F-4D97-AF65-F5344CB8AC3E}">
        <p14:creationId xmlns:p14="http://schemas.microsoft.com/office/powerpoint/2010/main" val="20248350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0.7.7.2547 Development Version</a:t>
            </a:r>
            <a:br>
              <a:rPr lang="en-US" dirty="0"/>
            </a:br>
            <a:r>
              <a:rPr lang="en-US" sz="1600" dirty="0"/>
              <a:t>December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Detailed Changes/Bugfixes (see </a:t>
            </a:r>
            <a:r>
              <a:rPr lang="en-US" sz="1600" b="1" dirty="0" err="1">
                <a:hlinkClick r:id="rId2"/>
              </a:rPr>
              <a:t>CITnet</a:t>
            </a:r>
            <a:r>
              <a:rPr lang="en-US" sz="1600" b="1" dirty="0">
                <a:hlinkClick r:id="rId2"/>
              </a:rPr>
              <a:t>/JIRA</a:t>
            </a:r>
            <a:r>
              <a:rPr lang="en-US" sz="1600" b="1" dirty="0"/>
              <a:t>)</a:t>
            </a:r>
          </a:p>
          <a:p>
            <a:pPr lvl="1">
              <a:tabLst>
                <a:tab pos="1885950" algn="l"/>
              </a:tabLst>
            </a:pPr>
            <a:r>
              <a:rPr lang="en-US" sz="1400" dirty="0"/>
              <a:t>[VECTO-1491] - Electric Energy Storage Editor does not show values</a:t>
            </a:r>
          </a:p>
          <a:p>
            <a:pPr lvl="1">
              <a:tabLst>
                <a:tab pos="1885950" algn="l"/>
              </a:tabLst>
            </a:pPr>
            <a:r>
              <a:rPr lang="en-US" sz="1400" dirty="0"/>
              <a:t>[VECTO-1499] - Energy balance when ICE is turned on in a P1 hybrid configuration</a:t>
            </a:r>
          </a:p>
          <a:p>
            <a:pPr lvl="1">
              <a:tabLst>
                <a:tab pos="1885950" algn="l"/>
              </a:tabLst>
            </a:pPr>
            <a:r>
              <a:rPr lang="en-US" sz="1400" dirty="0"/>
              <a:t>[VECTO-1514] - </a:t>
            </a:r>
            <a:r>
              <a:rPr lang="en-US" sz="1400" dirty="0" err="1"/>
              <a:t>Modeldata</a:t>
            </a:r>
            <a:r>
              <a:rPr lang="en-US" sz="1400" dirty="0"/>
              <a:t> uses wrong inertia in case multiple EMs are used on a position</a:t>
            </a:r>
          </a:p>
          <a:p>
            <a:pPr lvl="1">
              <a:tabLst>
                <a:tab pos="1885950" algn="l"/>
              </a:tabLst>
            </a:pPr>
            <a:r>
              <a:rPr lang="en-US" sz="1400" dirty="0"/>
              <a:t>[VECTO-1515] - Output in </a:t>
            </a:r>
            <a:r>
              <a:rPr lang="en-US" sz="1400" dirty="0" err="1"/>
              <a:t>vsum</a:t>
            </a:r>
            <a:r>
              <a:rPr lang="en-US" sz="1400" dirty="0"/>
              <a:t> file</a:t>
            </a:r>
          </a:p>
          <a:p>
            <a:pPr lvl="1">
              <a:tabLst>
                <a:tab pos="1885950" algn="l"/>
              </a:tabLst>
            </a:pPr>
            <a:r>
              <a:rPr lang="en-US" sz="1400" dirty="0"/>
              <a:t>[VECTO-1516] - GUI: PEV vehicle, disable hybrid parameters</a:t>
            </a:r>
          </a:p>
          <a:p>
            <a:pPr lvl="1">
              <a:tabLst>
                <a:tab pos="1885950" algn="l"/>
              </a:tabLst>
            </a:pPr>
            <a:r>
              <a:rPr lang="en-US" sz="1400" dirty="0"/>
              <a:t>[VECTO-1489] - Engine-off eco-roll for P1 hybrids</a:t>
            </a:r>
          </a:p>
          <a:p>
            <a:pPr lvl="1">
              <a:tabLst>
                <a:tab pos="1885950" algn="l"/>
              </a:tabLst>
            </a:pPr>
            <a:r>
              <a:rPr lang="en-US" sz="1400" dirty="0"/>
              <a:t>[VECTO-1448] - 075.2356, E2 Selecting high gear in downhill, needs to use wheel brakes</a:t>
            </a:r>
          </a:p>
          <a:p>
            <a:pPr lvl="1">
              <a:tabLst>
                <a:tab pos="1885950" algn="l"/>
              </a:tabLst>
            </a:pPr>
            <a:r>
              <a:rPr lang="en-US" sz="1400" dirty="0"/>
              <a:t>[VECTO-1472] - Do not end PCC if acceleration is still high enough</a:t>
            </a:r>
          </a:p>
          <a:p>
            <a:pPr lvl="1">
              <a:tabLst>
                <a:tab pos="1885950" algn="l"/>
              </a:tabLst>
            </a:pPr>
            <a:r>
              <a:rPr lang="en-US" sz="1400" dirty="0"/>
              <a:t>[VECTO-1473] - Additional </a:t>
            </a:r>
            <a:r>
              <a:rPr lang="en-US" sz="1400" dirty="0" err="1"/>
              <a:t>tyre</a:t>
            </a:r>
            <a:r>
              <a:rPr lang="en-US" sz="1400" dirty="0"/>
              <a:t> dimensions</a:t>
            </a:r>
          </a:p>
          <a:p>
            <a:pPr lvl="1">
              <a:tabLst>
                <a:tab pos="1885950" algn="l"/>
              </a:tabLst>
            </a:pPr>
            <a:r>
              <a:rPr lang="en-US" sz="1400" dirty="0"/>
              <a:t>[VECTO-1476] - Update EM GUI, EM component</a:t>
            </a:r>
          </a:p>
          <a:p>
            <a:pPr lvl="1">
              <a:tabLst>
                <a:tab pos="1885950" algn="l"/>
              </a:tabLst>
            </a:pPr>
            <a:r>
              <a:rPr lang="en-US" sz="1400" dirty="0"/>
              <a:t>[VECTO-1493] - Use </a:t>
            </a:r>
            <a:r>
              <a:rPr lang="en-US" sz="1400" dirty="0" err="1"/>
              <a:t>EngineStartStop</a:t>
            </a:r>
            <a:r>
              <a:rPr lang="en-US" sz="1400" dirty="0"/>
              <a:t> in PCC-Events for Hybrid P1</a:t>
            </a:r>
          </a:p>
          <a:p>
            <a:pPr lvl="1">
              <a:tabLst>
                <a:tab pos="1885950" algn="l"/>
              </a:tabLst>
            </a:pPr>
            <a:r>
              <a:rPr lang="en-US" sz="1400" dirty="0"/>
              <a:t>[VECTO-1498] - Crosswind correction in engineering mode</a:t>
            </a:r>
          </a:p>
          <a:p>
            <a:pPr lvl="1">
              <a:tabLst>
                <a:tab pos="1885950" algn="l"/>
              </a:tabLst>
            </a:pPr>
            <a:r>
              <a:rPr lang="en-US" sz="1400" dirty="0"/>
              <a:t>[VECTO-1508] - EM-Off Losses in .</a:t>
            </a:r>
            <a:r>
              <a:rPr lang="en-US" sz="1400" dirty="0" err="1"/>
              <a:t>vsum</a:t>
            </a:r>
            <a:endParaRPr lang="en-US" sz="1400" dirty="0"/>
          </a:p>
          <a:p>
            <a:pPr lvl="1">
              <a:tabLst>
                <a:tab pos="1885950" algn="l"/>
              </a:tabLst>
            </a:pPr>
            <a:r>
              <a:rPr lang="en-US" sz="1400" dirty="0"/>
              <a:t>[VECTO-1509] - SP Technology "Electric" already contains mechanical power demand</a:t>
            </a:r>
          </a:p>
          <a:p>
            <a:pPr lvl="1">
              <a:tabLst>
                <a:tab pos="1885950" algn="l"/>
              </a:tabLst>
            </a:pPr>
            <a:r>
              <a:rPr lang="en-US" sz="1400" dirty="0"/>
              <a:t>[VECTO-1510] - Remove selection of shift strategy in job dialog</a:t>
            </a:r>
          </a:p>
          <a:p>
            <a:pPr lvl="1">
              <a:tabLst>
                <a:tab pos="1885950" algn="l"/>
              </a:tabLst>
            </a:pPr>
            <a:r>
              <a:rPr lang="en-US" sz="1400" dirty="0"/>
              <a:t>[VECTO-1511] - Error Message for "HEVs and BEVs not supported in Declaration Mode"</a:t>
            </a:r>
          </a:p>
          <a:p>
            <a:pPr lvl="1">
              <a:tabLst>
                <a:tab pos="1885950" algn="l"/>
              </a:tabLst>
            </a:pPr>
            <a:r>
              <a:rPr lang="en-US" sz="1400" dirty="0"/>
              <a:t>[VECTO-1512] - Adapt shift lines for </a:t>
            </a:r>
            <a:r>
              <a:rPr lang="en-US" sz="1400" dirty="0" err="1"/>
              <a:t>xEV</a:t>
            </a:r>
            <a:r>
              <a:rPr lang="en-US" sz="1400" dirty="0"/>
              <a:t> vehicles</a:t>
            </a:r>
          </a:p>
          <a:p>
            <a:pPr lvl="1">
              <a:tabLst>
                <a:tab pos="1885950" algn="l"/>
              </a:tabLst>
            </a:pPr>
            <a:r>
              <a:rPr lang="en-US" sz="1400" dirty="0"/>
              <a:t>[VECTO-1513] - Bus Aux post-processing correction</a:t>
            </a:r>
          </a:p>
          <a:p>
            <a:pPr lvl="1">
              <a:tabLst>
                <a:tab pos="1885950" algn="l"/>
              </a:tabLst>
            </a:pPr>
            <a:r>
              <a:rPr lang="en-US" sz="1400" dirty="0"/>
              <a:t>[VECTO-1481] - New warning message regarding transmission: what does it mean?</a:t>
            </a:r>
          </a:p>
        </p:txBody>
      </p:sp>
    </p:spTree>
    <p:extLst>
      <p:ext uri="{BB962C8B-B14F-4D97-AF65-F5344CB8AC3E}">
        <p14:creationId xmlns:p14="http://schemas.microsoft.com/office/powerpoint/2010/main" val="39459706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0.7.6.2451 Development Version</a:t>
            </a:r>
            <a:br>
              <a:rPr lang="en-US" dirty="0"/>
            </a:br>
            <a:r>
              <a:rPr lang="en-US" sz="1600" dirty="0"/>
              <a:t>September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ADAS for HEV and PEV vehicles</a:t>
            </a:r>
          </a:p>
          <a:p>
            <a:pPr lvl="2">
              <a:tabLst>
                <a:tab pos="1885950" algn="l"/>
              </a:tabLst>
            </a:pPr>
            <a:r>
              <a:rPr lang="en-US" sz="1000" dirty="0"/>
              <a:t>For HEV vehicles interaction of PCC and HEV strategy under further analysis</a:t>
            </a:r>
          </a:p>
          <a:p>
            <a:pPr lvl="1">
              <a:tabLst>
                <a:tab pos="1885950" algn="l"/>
              </a:tabLst>
            </a:pPr>
            <a:r>
              <a:rPr lang="en-US" sz="1400" dirty="0"/>
              <a:t>Update electric motor model: support for different voltage levels</a:t>
            </a:r>
          </a:p>
          <a:p>
            <a:pPr lvl="1">
              <a:tabLst>
                <a:tab pos="1885950" algn="l"/>
              </a:tabLst>
            </a:pPr>
            <a:r>
              <a:rPr lang="en-US" sz="1400" dirty="0"/>
              <a:t>Update battery model: modular battery components</a:t>
            </a:r>
          </a:p>
          <a:p>
            <a:pPr lvl="1">
              <a:tabLst>
                <a:tab pos="1885950" algn="l"/>
              </a:tabLst>
            </a:pPr>
            <a:r>
              <a:rPr lang="en-US" sz="1400" dirty="0"/>
              <a:t>Update battery model: pulse-duration dependent internal resistance</a:t>
            </a:r>
          </a:p>
          <a:p>
            <a:pPr lvl="1">
              <a:tabLst>
                <a:tab pos="1885950" algn="l"/>
              </a:tabLst>
            </a:pPr>
            <a:r>
              <a:rPr lang="en-US" sz="1400" dirty="0"/>
              <a:t>Bugfixes</a:t>
            </a:r>
          </a:p>
          <a:p>
            <a:pPr lvl="1">
              <a:tabLst>
                <a:tab pos="1885950" algn="l"/>
              </a:tabLst>
            </a:pPr>
            <a:endParaRPr lang="en-US" sz="1400" dirty="0"/>
          </a:p>
        </p:txBody>
      </p:sp>
    </p:spTree>
    <p:extLst>
      <p:ext uri="{BB962C8B-B14F-4D97-AF65-F5344CB8AC3E}">
        <p14:creationId xmlns:p14="http://schemas.microsoft.com/office/powerpoint/2010/main" val="7553550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0.7.5.2353 Development Version</a:t>
            </a:r>
            <a:br>
              <a:rPr lang="en-US" dirty="0"/>
            </a:br>
            <a:r>
              <a:rPr lang="en-US" sz="1600" dirty="0"/>
              <a:t>June 2021</a:t>
            </a:r>
          </a:p>
        </p:txBody>
      </p:sp>
      <p:sp>
        <p:nvSpPr>
          <p:cNvPr id="3" name="Inhaltsplatzhalter 2"/>
          <p:cNvSpPr>
            <a:spLocks noGrp="1"/>
          </p:cNvSpPr>
          <p:nvPr>
            <p:ph idx="1"/>
          </p:nvPr>
        </p:nvSpPr>
        <p:spPr>
          <a:xfrm>
            <a:off x="323529" y="1268760"/>
            <a:ext cx="8496943" cy="4824536"/>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Additional Powertrain architectures</a:t>
            </a:r>
          </a:p>
          <a:p>
            <a:pPr lvl="2">
              <a:tabLst>
                <a:tab pos="1885950" algn="l"/>
              </a:tabLst>
            </a:pPr>
            <a:r>
              <a:rPr lang="en-US" sz="1000" dirty="0"/>
              <a:t>P1 AMT and APT-S/P</a:t>
            </a:r>
          </a:p>
          <a:p>
            <a:pPr lvl="2">
              <a:tabLst>
                <a:tab pos="1885950" algn="l"/>
              </a:tabLst>
            </a:pPr>
            <a:r>
              <a:rPr lang="en-US" sz="1000" dirty="0"/>
              <a:t>P2.5 (transmission ratio EM per gear)</a:t>
            </a:r>
          </a:p>
          <a:p>
            <a:pPr lvl="2">
              <a:tabLst>
                <a:tab pos="1885950" algn="l"/>
              </a:tabLst>
            </a:pPr>
            <a:r>
              <a:rPr lang="en-US" sz="1000" dirty="0"/>
              <a:t>P3 &amp; P4 with APT transmissions</a:t>
            </a:r>
          </a:p>
          <a:p>
            <a:pPr lvl="1">
              <a:tabLst>
                <a:tab pos="1885950" algn="l"/>
              </a:tabLst>
            </a:pPr>
            <a:r>
              <a:rPr lang="en-US" sz="1400" dirty="0"/>
              <a:t>Loss-map for electric machine</a:t>
            </a:r>
          </a:p>
          <a:p>
            <a:pPr lvl="1">
              <a:tabLst>
                <a:tab pos="1885950" algn="l"/>
              </a:tabLst>
            </a:pPr>
            <a:r>
              <a:rPr lang="en-US" sz="1400" dirty="0"/>
              <a:t>Bus auxiliaries in engineering mode</a:t>
            </a:r>
          </a:p>
          <a:p>
            <a:pPr lvl="1">
              <a:tabLst>
                <a:tab pos="1885950" algn="l"/>
              </a:tabLst>
            </a:pPr>
            <a:r>
              <a:rPr lang="en-US" sz="1400" dirty="0"/>
              <a:t>Combine Bus auxiliaries with HEV powertrains</a:t>
            </a:r>
          </a:p>
          <a:p>
            <a:pPr lvl="1">
              <a:tabLst>
                <a:tab pos="1885950" algn="l"/>
              </a:tabLst>
            </a:pPr>
            <a:r>
              <a:rPr lang="en-US" sz="1400" dirty="0"/>
              <a:t>Refactoring Engine Stop/Start approach</a:t>
            </a:r>
          </a:p>
          <a:p>
            <a:pPr lvl="2">
              <a:tabLst>
                <a:tab pos="1885950" algn="l"/>
              </a:tabLst>
            </a:pPr>
            <a:r>
              <a:rPr lang="en-US" sz="1000" dirty="0"/>
              <a:t>ICE is always off during simulation, balance missing energy in case ICE is on / ICE is off for all auxiliaries in .</a:t>
            </a:r>
            <a:r>
              <a:rPr lang="en-US" sz="1000" dirty="0" err="1"/>
              <a:t>vmod</a:t>
            </a:r>
            <a:r>
              <a:rPr lang="en-US" sz="1000" dirty="0"/>
              <a:t>.</a:t>
            </a:r>
          </a:p>
          <a:p>
            <a:pPr lvl="2">
              <a:tabLst>
                <a:tab pos="1885950" algn="l"/>
              </a:tabLst>
            </a:pPr>
            <a:r>
              <a:rPr lang="en-US" sz="1000" dirty="0"/>
              <a:t>Correct for missing aux energy in post-processing (not fully implemented in this version)</a:t>
            </a:r>
          </a:p>
          <a:p>
            <a:pPr lvl="1">
              <a:tabLst>
                <a:tab pos="1885950" algn="l"/>
              </a:tabLst>
            </a:pPr>
            <a:r>
              <a:rPr lang="en-US" sz="1400" dirty="0"/>
              <a:t>Added vehicle propulsion limits (relative to ICE max torque)</a:t>
            </a:r>
          </a:p>
          <a:p>
            <a:pPr lvl="2">
              <a:tabLst>
                <a:tab pos="1885950" algn="l"/>
              </a:tabLst>
            </a:pPr>
            <a:r>
              <a:rPr lang="en-US" sz="1000" dirty="0"/>
              <a:t>P2, P3, and P4</a:t>
            </a:r>
          </a:p>
          <a:p>
            <a:pPr lvl="1">
              <a:tabLst>
                <a:tab pos="1885950" algn="l"/>
              </a:tabLst>
            </a:pPr>
            <a:r>
              <a:rPr lang="en-US" sz="1400" dirty="0"/>
              <a:t>Refactored EM model: continuous torque, overload torque as separate inputs</a:t>
            </a:r>
          </a:p>
        </p:txBody>
      </p:sp>
    </p:spTree>
    <p:extLst>
      <p:ext uri="{BB962C8B-B14F-4D97-AF65-F5344CB8AC3E}">
        <p14:creationId xmlns:p14="http://schemas.microsoft.com/office/powerpoint/2010/main" val="32802558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0.7.3.2164 Development Version</a:t>
            </a:r>
            <a:br>
              <a:rPr lang="en-US" dirty="0"/>
            </a:br>
            <a:r>
              <a:rPr lang="en-US" sz="1600" dirty="0"/>
              <a:t>December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Bugfixes in shift strategy for PEV (E2)</a:t>
            </a:r>
          </a:p>
          <a:p>
            <a:pPr lvl="1">
              <a:tabLst>
                <a:tab pos="1885950" algn="l"/>
              </a:tabLst>
            </a:pPr>
            <a:r>
              <a:rPr lang="en-US" sz="1400" dirty="0"/>
              <a:t>Refined electric motor model: model transmission stage of electric machine as individual sub-component instead of transforming the maps. Adapted columns in .</a:t>
            </a:r>
            <a:r>
              <a:rPr lang="en-US" sz="1400" dirty="0" err="1"/>
              <a:t>vmod</a:t>
            </a:r>
            <a:r>
              <a:rPr lang="en-US" sz="1400" dirty="0"/>
              <a:t> and .</a:t>
            </a:r>
            <a:r>
              <a:rPr lang="en-US" sz="1400" dirty="0" err="1"/>
              <a:t>vsum</a:t>
            </a:r>
            <a:r>
              <a:rPr lang="en-US" sz="1400" dirty="0"/>
              <a:t> regarding electric machine. See user manual for details. </a:t>
            </a:r>
          </a:p>
          <a:p>
            <a:pPr lvl="1">
              <a:tabLst>
                <a:tab pos="1885950" algn="l"/>
              </a:tabLst>
            </a:pPr>
            <a:r>
              <a:rPr lang="en-US" sz="1400" dirty="0"/>
              <a:t>Bugfixes </a:t>
            </a:r>
            <a:r>
              <a:rPr lang="en-US" sz="1400" dirty="0" err="1"/>
              <a:t>SuperCap</a:t>
            </a:r>
            <a:r>
              <a:rPr lang="en-US" sz="1400" dirty="0"/>
              <a:t> model</a:t>
            </a:r>
          </a:p>
          <a:p>
            <a:pPr lvl="1">
              <a:tabLst>
                <a:tab pos="1885950" algn="l"/>
              </a:tabLst>
            </a:pPr>
            <a:r>
              <a:rPr lang="en-US" sz="1400" dirty="0"/>
              <a:t>Removed E_REESS from .</a:t>
            </a:r>
            <a:r>
              <a:rPr lang="en-US" sz="1400" dirty="0" err="1"/>
              <a:t>vmod</a:t>
            </a:r>
            <a:r>
              <a:rPr lang="en-US" sz="1400" dirty="0"/>
              <a:t> file, calculate </a:t>
            </a:r>
            <a:r>
              <a:rPr lang="en-US" sz="1400" dirty="0" err="1"/>
              <a:t>delta_E_REESS</a:t>
            </a:r>
            <a:r>
              <a:rPr lang="en-US" sz="1400" dirty="0"/>
              <a:t> from P_REESS in .</a:t>
            </a:r>
            <a:r>
              <a:rPr lang="en-US" sz="1400" dirty="0" err="1"/>
              <a:t>vsum</a:t>
            </a:r>
            <a:r>
              <a:rPr lang="en-US" sz="1400" dirty="0"/>
              <a:t> file</a:t>
            </a:r>
          </a:p>
          <a:p>
            <a:pPr lvl="1">
              <a:tabLst>
                <a:tab pos="1885950" algn="l"/>
              </a:tabLst>
            </a:pPr>
            <a:endParaRPr lang="en-US" sz="1400" dirty="0"/>
          </a:p>
        </p:txBody>
      </p:sp>
    </p:spTree>
    <p:extLst>
      <p:ext uri="{BB962C8B-B14F-4D97-AF65-F5344CB8AC3E}">
        <p14:creationId xmlns:p14="http://schemas.microsoft.com/office/powerpoint/2010/main" val="60014972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0.7.2.2118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400" dirty="0"/>
              <a:t>Implementation of PEV architecture E2 with </a:t>
            </a:r>
            <a:r>
              <a:rPr lang="en-US" sz="1400" dirty="0" err="1"/>
              <a:t>EffShift</a:t>
            </a:r>
            <a:r>
              <a:rPr lang="en-US" sz="1400" dirty="0"/>
              <a:t>-like gearshift strategy</a:t>
            </a:r>
          </a:p>
          <a:p>
            <a:pPr lvl="1">
              <a:tabLst>
                <a:tab pos="1885950" algn="l"/>
              </a:tabLst>
            </a:pPr>
            <a:r>
              <a:rPr lang="en-US" sz="1400" dirty="0"/>
              <a:t>Bugfix REESS Dialog (.</a:t>
            </a:r>
            <a:r>
              <a:rPr lang="en-US" sz="1400" dirty="0" err="1"/>
              <a:t>vimax</a:t>
            </a:r>
            <a:r>
              <a:rPr lang="en-US" sz="1400" dirty="0"/>
              <a:t>)</a:t>
            </a:r>
          </a:p>
          <a:p>
            <a:pPr lvl="1">
              <a:tabLst>
                <a:tab pos="1885950" algn="l"/>
              </a:tabLst>
            </a:pPr>
            <a:r>
              <a:rPr lang="en-US" sz="1400" dirty="0"/>
              <a:t>Bugfix in output of EM overload output in .</a:t>
            </a:r>
            <a:r>
              <a:rPr lang="en-US" sz="1400" dirty="0" err="1"/>
              <a:t>vmod</a:t>
            </a:r>
            <a:r>
              <a:rPr lang="en-US" sz="1400" dirty="0"/>
              <a:t> file </a:t>
            </a:r>
          </a:p>
        </p:txBody>
      </p:sp>
    </p:spTree>
    <p:extLst>
      <p:ext uri="{BB962C8B-B14F-4D97-AF65-F5344CB8AC3E}">
        <p14:creationId xmlns:p14="http://schemas.microsoft.com/office/powerpoint/2010/main" val="34682745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0.7.1.2108 Development Version</a:t>
            </a:r>
            <a:br>
              <a:rPr lang="en-US" dirty="0"/>
            </a:br>
            <a:r>
              <a:rPr lang="en-US" sz="1600" dirty="0"/>
              <a:t>October 2020</a:t>
            </a:r>
          </a:p>
        </p:txBody>
      </p:sp>
      <p:sp>
        <p:nvSpPr>
          <p:cNvPr id="3" name="Inhaltsplatzhalter 2"/>
          <p:cNvSpPr>
            <a:spLocks noGrp="1"/>
          </p:cNvSpPr>
          <p:nvPr>
            <p:ph idx="1"/>
          </p:nvPr>
        </p:nvSpPr>
        <p:spPr>
          <a:xfrm>
            <a:off x="323529" y="1268760"/>
            <a:ext cx="8496943" cy="1728192"/>
          </a:xfr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a:tabLst>
                <a:tab pos="1885950" algn="l"/>
              </a:tabLst>
            </a:pPr>
            <a:r>
              <a:rPr lang="en-US" sz="1600" b="1" dirty="0"/>
              <a:t>Changes</a:t>
            </a:r>
          </a:p>
          <a:p>
            <a:pPr lvl="1">
              <a:tabLst>
                <a:tab pos="1885950" algn="l"/>
              </a:tabLst>
            </a:pPr>
            <a:r>
              <a:rPr lang="en-US" sz="1100" dirty="0"/>
              <a:t>More stable operating point search hybrid strategy</a:t>
            </a:r>
          </a:p>
          <a:p>
            <a:pPr lvl="1">
              <a:tabLst>
                <a:tab pos="1885950" algn="l"/>
              </a:tabLst>
            </a:pPr>
            <a:r>
              <a:rPr lang="en-US" sz="1100" dirty="0"/>
              <a:t>Bugfixes hybrid strategy</a:t>
            </a:r>
          </a:p>
          <a:p>
            <a:pPr lvl="1">
              <a:tabLst>
                <a:tab pos="1885950" algn="l"/>
              </a:tabLst>
            </a:pPr>
            <a:r>
              <a:rPr lang="en-US" sz="1100" dirty="0"/>
              <a:t>Adding Super Cap as REESS </a:t>
            </a:r>
          </a:p>
          <a:p>
            <a:pPr lvl="1">
              <a:tabLst>
                <a:tab pos="1885950" algn="l"/>
              </a:tabLst>
            </a:pPr>
            <a:r>
              <a:rPr lang="en-US" sz="1100" dirty="0"/>
              <a:t>Adding electric machine thermal de-rating</a:t>
            </a:r>
          </a:p>
          <a:p>
            <a:pPr lvl="1">
              <a:tabLst>
                <a:tab pos="1885950" algn="l"/>
              </a:tabLst>
            </a:pPr>
            <a:r>
              <a:rPr lang="en-US" sz="1100" dirty="0"/>
              <a:t>Modified battery model: max charge/discharge current over state of charge</a:t>
            </a:r>
          </a:p>
          <a:p>
            <a:pPr lvl="1">
              <a:tabLst>
                <a:tab pos="1885950" algn="l"/>
              </a:tabLst>
            </a:pPr>
            <a:r>
              <a:rPr lang="en-US" sz="1100" dirty="0"/>
              <a:t>Improvements simulation time hybrid vehicles</a:t>
            </a:r>
          </a:p>
        </p:txBody>
      </p:sp>
      <p:sp>
        <p:nvSpPr>
          <p:cNvPr id="4" name="Textfeld 3">
            <a:extLst>
              <a:ext uri="{FF2B5EF4-FFF2-40B4-BE49-F238E27FC236}">
                <a16:creationId xmlns:a16="http://schemas.microsoft.com/office/drawing/2014/main" id="{11E754D7-A129-4B4B-B6C2-639F4ACFF34D}"/>
              </a:ext>
            </a:extLst>
          </p:cNvPr>
          <p:cNvSpPr txBox="1"/>
          <p:nvPr/>
        </p:nvSpPr>
        <p:spPr>
          <a:xfrm>
            <a:off x="719572" y="3161128"/>
            <a:ext cx="7704856" cy="738664"/>
          </a:xfrm>
          <a:prstGeom prst="rect">
            <a:avLst/>
          </a:prstGeom>
          <a:noFill/>
          <a:ln>
            <a:noFill/>
          </a:ln>
        </p:spPr>
        <p:txBody>
          <a:bodyPr wrap="square" rtlCol="0">
            <a:spAutoFit/>
          </a:bodyPr>
          <a:lstStyle/>
          <a:p>
            <a:pPr algn="l">
              <a:spcBef>
                <a:spcPts val="0"/>
              </a:spcBef>
            </a:pPr>
            <a:r>
              <a:rPr lang="en-US" sz="1400" dirty="0"/>
              <a:t>Note: </a:t>
            </a:r>
            <a:r>
              <a:rPr lang="en-US" sz="1400" b="0" dirty="0"/>
              <a:t>As the model data for electric machine and battery changed from the previous VECTO version for hybrid vehicles it is necessary to open the models and provide the newly added model parameters. </a:t>
            </a:r>
            <a:endParaRPr lang="de-AT" sz="1400" b="0" dirty="0" err="1"/>
          </a:p>
        </p:txBody>
      </p:sp>
    </p:spTree>
    <p:extLst>
      <p:ext uri="{BB962C8B-B14F-4D97-AF65-F5344CB8AC3E}">
        <p14:creationId xmlns:p14="http://schemas.microsoft.com/office/powerpoint/2010/main" val="345397690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0.7.0.2076 Development Version</a:t>
            </a:r>
            <a:br>
              <a:rPr lang="en-US" dirty="0"/>
            </a:br>
            <a:r>
              <a:rPr lang="en-US" sz="1600" dirty="0"/>
              <a:t>September 2020</a:t>
            </a:r>
          </a:p>
        </p:txBody>
      </p:sp>
      <p:sp>
        <p:nvSpPr>
          <p:cNvPr id="3" name="Inhaltsplatzhalter 2"/>
          <p:cNvSpPr>
            <a:spLocks noGrp="1"/>
          </p:cNvSpPr>
          <p:nvPr>
            <p:ph idx="1"/>
          </p:nvPr>
        </p:nvSpPr>
        <p:spPr>
          <a:xfrm>
            <a:off x="323529" y="1268760"/>
            <a:ext cx="8496943" cy="5112568"/>
          </a:xfrm>
        </p:spPr>
        <p:txBody>
          <a:bodyPr/>
          <a:lstStyle/>
          <a:p>
            <a:pPr>
              <a:tabLst>
                <a:tab pos="1885950" algn="l"/>
              </a:tabLst>
            </a:pPr>
            <a:r>
              <a:rPr lang="en-US" sz="1200" b="1" dirty="0"/>
              <a:t>Changes</a:t>
            </a:r>
          </a:p>
          <a:p>
            <a:pPr lvl="1">
              <a:tabLst>
                <a:tab pos="1885950" algn="l"/>
              </a:tabLst>
            </a:pPr>
            <a:r>
              <a:rPr lang="en-US" sz="1000" i="1" dirty="0"/>
              <a:t>This release is the first beta version with capabilities to simulate hybrid and battery electric vehicles</a:t>
            </a:r>
            <a:r>
              <a:rPr lang="en-US" sz="1000" dirty="0"/>
              <a:t>.</a:t>
            </a:r>
          </a:p>
          <a:p>
            <a:pPr lvl="1">
              <a:tabLst>
                <a:tab pos="1885950" algn="l"/>
              </a:tabLst>
            </a:pPr>
            <a:r>
              <a:rPr lang="en-US" sz="1000" dirty="0"/>
              <a:t>It covers powertrain architectures “P2”, “P3”, “P4” for hybrid electric vehicles (HEV) and  “E3”, “E4” for battery electric vehicles (PEV, pure electric vehicles).</a:t>
            </a:r>
          </a:p>
          <a:p>
            <a:pPr lvl="1">
              <a:tabLst>
                <a:tab pos="1885950" algn="l"/>
              </a:tabLst>
            </a:pPr>
            <a:r>
              <a:rPr lang="en-US" sz="1000" dirty="0"/>
              <a:t>The definitions of the powertrain architectures and other input parameters on vehicle level can be found in the document </a:t>
            </a:r>
            <a:r>
              <a:rPr lang="en-US" sz="1000" i="1" dirty="0"/>
              <a:t>Input parameters vehicle level 20200907.docx</a:t>
            </a:r>
            <a:r>
              <a:rPr lang="en-US" sz="1000" dirty="0"/>
              <a:t>. This document is an excerpt of working document 3 of the HDV CO2 Editing board. Items marked in red are not yet featured by the tool and will follow in the next releases. </a:t>
            </a:r>
          </a:p>
          <a:p>
            <a:pPr lvl="1">
              <a:tabLst>
                <a:tab pos="1885950" algn="l"/>
              </a:tabLst>
            </a:pPr>
            <a:r>
              <a:rPr lang="en-US" sz="1000" dirty="0"/>
              <a:t>Known limitations</a:t>
            </a:r>
          </a:p>
          <a:p>
            <a:pPr lvl="2">
              <a:tabLst>
                <a:tab pos="1885950" algn="l"/>
              </a:tabLst>
            </a:pPr>
            <a:r>
              <a:rPr lang="en-US" sz="900" dirty="0"/>
              <a:t>Electric machine system overload feature not available – work in progress</a:t>
            </a:r>
          </a:p>
          <a:p>
            <a:pPr lvl="2">
              <a:tabLst>
                <a:tab pos="1885950" algn="l"/>
              </a:tabLst>
            </a:pPr>
            <a:r>
              <a:rPr lang="en-US" sz="900" dirty="0" err="1"/>
              <a:t>Supercaps</a:t>
            </a:r>
            <a:r>
              <a:rPr lang="en-US" sz="900" dirty="0"/>
              <a:t> not implemented – work in progress</a:t>
            </a:r>
          </a:p>
          <a:p>
            <a:pPr lvl="2">
              <a:tabLst>
                <a:tab pos="1885950" algn="l"/>
              </a:tabLst>
            </a:pPr>
            <a:r>
              <a:rPr lang="en-US" sz="900" dirty="0"/>
              <a:t>Engine Stop Start Utility Factor has to be set to 1 – further discussions in task force needed how UF-approach shall be aligned with hybrid control strategy</a:t>
            </a:r>
          </a:p>
          <a:p>
            <a:pPr lvl="2">
              <a:tabLst>
                <a:tab pos="1885950" algn="l"/>
              </a:tabLst>
            </a:pPr>
            <a:r>
              <a:rPr lang="en-US" sz="900" dirty="0" err="1"/>
              <a:t>P_aux_el</a:t>
            </a:r>
            <a:r>
              <a:rPr lang="en-US" sz="900" dirty="0"/>
              <a:t> are electric auxiliaries connected to the high-voltage system. For hybrid electric vehicles this model parameter shall currently be set to 0. – further discussions in task force needed</a:t>
            </a:r>
          </a:p>
          <a:p>
            <a:pPr lvl="2">
              <a:tabLst>
                <a:tab pos="1885950" algn="l"/>
              </a:tabLst>
            </a:pPr>
            <a:r>
              <a:rPr lang="en-US" sz="900" dirty="0"/>
              <a:t>APTs with HEV – to be implemented</a:t>
            </a:r>
          </a:p>
          <a:p>
            <a:pPr lvl="2">
              <a:tabLst>
                <a:tab pos="1885950" algn="l"/>
              </a:tabLst>
            </a:pPr>
            <a:r>
              <a:rPr lang="en-US" sz="900" dirty="0"/>
              <a:t>Eco-roll and PCC not implemented</a:t>
            </a:r>
          </a:p>
        </p:txBody>
      </p:sp>
    </p:spTree>
    <p:extLst>
      <p:ext uri="{BB962C8B-B14F-4D97-AF65-F5344CB8AC3E}">
        <p14:creationId xmlns:p14="http://schemas.microsoft.com/office/powerpoint/2010/main" val="31508495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0.6.1.1975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a:t>Bugfixes</a:t>
            </a:r>
            <a:r>
              <a:rPr lang="en-US" sz="1600" b="1" dirty="0"/>
              <a:t> </a:t>
            </a:r>
          </a:p>
          <a:p>
            <a:pPr lvl="1">
              <a:tabLst>
                <a:tab pos="1885950" algn="l"/>
              </a:tabLst>
            </a:pPr>
            <a:r>
              <a:rPr lang="en-US" sz="1000" dirty="0"/>
              <a:t>Change passenger density primary vehicle for IU cycle</a:t>
            </a:r>
          </a:p>
          <a:p>
            <a:pPr lvl="1">
              <a:tabLst>
                <a:tab pos="1885950" algn="l"/>
              </a:tabLst>
            </a:pPr>
            <a:r>
              <a:rPr lang="en-US" sz="1000" dirty="0"/>
              <a:t>primary vehicle: ignore TPMLM (to limit payload, do not abort simulation)</a:t>
            </a:r>
          </a:p>
          <a:p>
            <a:pPr lvl="1">
              <a:tabLst>
                <a:tab pos="1885950" algn="l"/>
              </a:tabLst>
            </a:pPr>
            <a:r>
              <a:rPr lang="en-US" sz="1000" dirty="0"/>
              <a:t>completed vehicle: limit total mass with TPMLM (abort simulation)</a:t>
            </a:r>
          </a:p>
          <a:p>
            <a:pPr lvl="1">
              <a:tabLst>
                <a:tab pos="1885950" algn="l"/>
              </a:tabLst>
            </a:pPr>
            <a:r>
              <a:rPr lang="en-US" sz="1000" dirty="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a:t>set alternator gear efficiency to 1 to align with lorries (currently 0.92)</a:t>
            </a:r>
          </a:p>
          <a:p>
            <a:pPr lvl="1">
              <a:tabLst>
                <a:tab pos="1885950" algn="l"/>
              </a:tabLst>
            </a:pPr>
            <a:r>
              <a:rPr lang="en-US" sz="1000" dirty="0"/>
              <a:t>electric system / radio: all vehicles are equipped with radio. modify consumed amps to consider 'usage factor' - updated already in master excel.</a:t>
            </a:r>
          </a:p>
          <a:p>
            <a:pPr lvl="1">
              <a:tabLst>
                <a:tab pos="1885950" algn="l"/>
              </a:tabLst>
            </a:pPr>
            <a:r>
              <a:rPr lang="en-US" sz="1000" dirty="0"/>
              <a:t>Update generic values for primary HF vehicles </a:t>
            </a:r>
            <a:r>
              <a:rPr lang="en-US" sz="1000" dirty="0" err="1"/>
              <a:t>CdxA</a:t>
            </a:r>
            <a:endParaRPr lang="en-US" sz="1000" dirty="0"/>
          </a:p>
          <a:p>
            <a:pPr lvl="1">
              <a:tabLst>
                <a:tab pos="1885950" algn="l"/>
              </a:tabLst>
            </a:pPr>
            <a:r>
              <a:rPr lang="en-US" sz="1000" dirty="0"/>
              <a:t>HVAC: check/correct internal height for coaches (shall be 1.8m)</a:t>
            </a:r>
          </a:p>
          <a:p>
            <a:pPr lvl="1">
              <a:tabLst>
                <a:tab pos="1885950" algn="l"/>
              </a:tabLst>
            </a:pPr>
            <a:r>
              <a:rPr lang="en-US" sz="1000" dirty="0"/>
              <a:t>HVAC: subtract driver compartment from total volume for max cooling capacity passengers</a:t>
            </a:r>
          </a:p>
          <a:p>
            <a:pPr lvl="1">
              <a:tabLst>
                <a:tab pos="1885950" algn="l"/>
              </a:tabLst>
            </a:pPr>
            <a:r>
              <a:rPr lang="en-US" sz="1000" dirty="0"/>
              <a:t>HVAC: add configuration #10, add sanity checks (i.e. if driver AC is provided for configurations #2,</a:t>
            </a:r>
          </a:p>
          <a:p>
            <a:pPr lvl="1">
              <a:tabLst>
                <a:tab pos="1885950" algn="l"/>
              </a:tabLst>
            </a:pPr>
            <a:r>
              <a:rPr lang="en-US" sz="1000" dirty="0"/>
              <a:t>Steering pump power demand: tubing factor only applied for first steered axle (as the additionally steered axles are close to the engine and the distance is not known)</a:t>
            </a:r>
          </a:p>
          <a:p>
            <a:pPr lvl="1">
              <a:tabLst>
                <a:tab pos="1885950" algn="l"/>
              </a:tabLst>
            </a:pPr>
            <a:r>
              <a:rPr lang="en-US" sz="1000" dirty="0"/>
              <a:t>Allow enabling/disabling LAC in declaration mode via GUI (not persistent). Additional input on “Options” tab to set min activation speed</a:t>
            </a:r>
          </a:p>
          <a:p>
            <a:pPr lvl="1">
              <a:tabLst>
                <a:tab pos="1885950" algn="l"/>
              </a:tabLst>
            </a:pPr>
            <a:r>
              <a:rPr lang="en-US" sz="1000" dirty="0"/>
              <a:t>.</a:t>
            </a:r>
            <a:r>
              <a:rPr lang="en-US" sz="1000" dirty="0" err="1"/>
              <a:t>vsum</a:t>
            </a:r>
            <a:r>
              <a:rPr lang="en-US" sz="1000" dirty="0"/>
              <a:t> file: E_AUX_SUM matches sum of individual AUX entries; bugfix writing </a:t>
            </a:r>
            <a:r>
              <a:rPr lang="en-US" sz="1000" dirty="0" err="1"/>
              <a:t>P_busAux_ES_mech</a:t>
            </a:r>
            <a:endParaRPr lang="en-US" sz="1000" dirty="0"/>
          </a:p>
          <a:p>
            <a:pPr lvl="1">
              <a:tabLst>
                <a:tab pos="1885950" algn="l"/>
              </a:tabLst>
            </a:pPr>
            <a:r>
              <a:rPr lang="en-US" sz="1000" dirty="0"/>
              <a:t>Update user manual on VTP cycle file format</a:t>
            </a:r>
          </a:p>
          <a:p>
            <a:pPr lvl="1">
              <a:tabLst>
                <a:tab pos="1885950" algn="l"/>
              </a:tabLst>
            </a:pPr>
            <a:r>
              <a:rPr lang="en-US" sz="1000" dirty="0"/>
              <a:t>APT gearbox (all gears) generic efficiency 0.925</a:t>
            </a:r>
          </a:p>
          <a:p>
            <a:pPr lvl="1">
              <a:tabLst>
                <a:tab pos="1885950" algn="l"/>
              </a:tabLst>
            </a:pPr>
            <a:r>
              <a:rPr lang="en-US" sz="1000" dirty="0"/>
              <a:t>retarder: set factor for generic retarder losses from 0.5 to 1 (i.e., use </a:t>
            </a:r>
            <a:r>
              <a:rPr lang="en-US" sz="1000" dirty="0" err="1"/>
              <a:t>standardvalues</a:t>
            </a:r>
            <a:r>
              <a:rPr lang="en-US" sz="1000" dirty="0"/>
              <a:t>)</a:t>
            </a:r>
          </a:p>
          <a:p>
            <a:pPr lvl="1">
              <a:tabLst>
                <a:tab pos="1885950" algn="l"/>
              </a:tabLst>
            </a:pPr>
            <a:r>
              <a:rPr lang="en-US" sz="1000" dirty="0"/>
              <a:t>VTP engineering mode - </a:t>
            </a:r>
            <a:r>
              <a:rPr lang="en-US" sz="1000" dirty="0" err="1"/>
              <a:t>vsum</a:t>
            </a:r>
            <a:r>
              <a:rPr lang="en-US" sz="1000" dirty="0"/>
              <a:t> actual CF different to declaration mode</a:t>
            </a:r>
          </a:p>
          <a:p>
            <a:pPr>
              <a:tabLst>
                <a:tab pos="1885950" algn="l"/>
              </a:tabLst>
            </a:pPr>
            <a:r>
              <a:rPr lang="en-US" sz="1200" dirty="0"/>
              <a:t>Improvements</a:t>
            </a:r>
          </a:p>
          <a:p>
            <a:pPr lvl="1">
              <a:tabLst>
                <a:tab pos="1885950" algn="l"/>
              </a:tabLst>
            </a:pPr>
            <a:r>
              <a:rPr lang="en-US" sz="1000" dirty="0"/>
              <a:t>Switch GUI to 64bit mode (see VECTO-1270)</a:t>
            </a:r>
          </a:p>
          <a:p>
            <a:pPr lvl="1">
              <a:tabLst>
                <a:tab pos="1885950" algn="l"/>
              </a:tabLst>
            </a:pPr>
            <a:r>
              <a:rPr lang="en-US" sz="1000" dirty="0"/>
              <a:t>New normalization/</a:t>
            </a:r>
            <a:r>
              <a:rPr lang="en-US" sz="1000" dirty="0" err="1"/>
              <a:t>denormalization</a:t>
            </a:r>
            <a:r>
              <a:rPr lang="en-US" sz="1000" dirty="0"/>
              <a:t> method for generic engine FC-Map (see VECTO-1269) </a:t>
            </a:r>
          </a:p>
          <a:p>
            <a:pPr lvl="1">
              <a:tabLst>
                <a:tab pos="1885950" algn="l"/>
              </a:tabLst>
            </a:pPr>
            <a:r>
              <a:rPr lang="en-US" sz="1000" dirty="0"/>
              <a:t>.</a:t>
            </a:r>
            <a:r>
              <a:rPr lang="en-US" sz="1000" dirty="0" err="1"/>
              <a:t>vsum</a:t>
            </a:r>
            <a:r>
              <a:rPr lang="en-US" sz="1000" dirty="0"/>
              <a:t>-file: new entries </a:t>
            </a:r>
            <a:r>
              <a:rPr lang="en-US" sz="1000" dirty="0" err="1"/>
              <a:t>P_ice_fcmap</a:t>
            </a:r>
            <a:r>
              <a:rPr lang="en-US" sz="1000" dirty="0"/>
              <a:t>, </a:t>
            </a:r>
            <a:r>
              <a:rPr lang="en-US" sz="1000" dirty="0" err="1"/>
              <a:t>P_wheel_in</a:t>
            </a:r>
            <a:r>
              <a:rPr lang="en-US" sz="1000" dirty="0"/>
              <a:t>, </a:t>
            </a:r>
            <a:r>
              <a:rPr lang="en-US" sz="1000" dirty="0" err="1"/>
              <a:t>k_vehline</a:t>
            </a:r>
            <a:r>
              <a:rPr lang="en-US" sz="1000" dirty="0"/>
              <a:t> (previous </a:t>
            </a:r>
            <a:r>
              <a:rPr lang="en-US" sz="1000" dirty="0" err="1"/>
              <a:t>k_vehline</a:t>
            </a:r>
            <a:r>
              <a:rPr lang="en-US" sz="1000" dirty="0"/>
              <a:t> is now </a:t>
            </a:r>
            <a:r>
              <a:rPr lang="en-US" sz="1000" dirty="0" err="1"/>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3662797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a:t>Improvements </a:t>
            </a:r>
          </a:p>
          <a:p>
            <a:pPr lvl="1">
              <a:tabLst>
                <a:tab pos="1885950" algn="l"/>
              </a:tabLst>
            </a:pPr>
            <a:r>
              <a:rPr lang="en-US" sz="1600" dirty="0"/>
              <a:t>Declaration mode for complete and completed buses via “factor method”</a:t>
            </a:r>
          </a:p>
          <a:p>
            <a:pPr lvl="1">
              <a:tabLst>
                <a:tab pos="1885950" algn="l"/>
              </a:tabLst>
            </a:pPr>
            <a:r>
              <a:rPr lang="en-US" sz="1600" dirty="0"/>
              <a:t>VTP mode for heavy buses</a:t>
            </a:r>
          </a:p>
          <a:p>
            <a:pPr lvl="1">
              <a:tabLst>
                <a:tab pos="1885950" algn="l"/>
              </a:tabLst>
            </a:pPr>
            <a:r>
              <a:rPr lang="en-US" sz="1600" dirty="0"/>
              <a:t>VTP mode for dual-fuel vehicles (new cycle file required!)</a:t>
            </a:r>
          </a:p>
          <a:p>
            <a:pPr lvl="1">
              <a:tabLst>
                <a:tab pos="1885950" algn="l"/>
              </a:tabLst>
            </a:pPr>
            <a:r>
              <a:rPr lang="en-US" sz="1600" dirty="0"/>
              <a:t>“Single bus” mode with generic data from segmentation table completed vehicle (previous version used generic data from primary vehicle)</a:t>
            </a:r>
          </a:p>
          <a:p>
            <a:pPr lvl="1">
              <a:tabLst>
                <a:tab pos="1885950" algn="l"/>
              </a:tabLst>
            </a:pPr>
            <a:r>
              <a:rPr lang="en-US" sz="1600" dirty="0"/>
              <a:t>Adding highway sections on coach cycle (required for PCC)</a:t>
            </a:r>
          </a:p>
          <a:p>
            <a:pPr lvl="1">
              <a:tabLst>
                <a:tab pos="1885950" algn="l"/>
              </a:tabLst>
            </a:pPr>
            <a:r>
              <a:rPr lang="en-US" sz="1600" dirty="0"/>
              <a:t>New graphical user interface (VECTO3.exe) (</a:t>
            </a:r>
            <a:r>
              <a:rPr lang="en-US" sz="1600" i="1" dirty="0">
                <a:solidFill>
                  <a:schemeClr val="accent2">
                    <a:lumMod val="75000"/>
                  </a:schemeClr>
                </a:solidFill>
              </a:rPr>
              <a:t>alpha version!</a:t>
            </a:r>
            <a:r>
              <a:rPr lang="en-US" sz="1600" dirty="0"/>
              <a:t>)</a:t>
            </a:r>
          </a:p>
          <a:p>
            <a:pPr lvl="2">
              <a:tabLst>
                <a:tab pos="1885950" algn="l"/>
              </a:tabLst>
            </a:pPr>
            <a:r>
              <a:rPr lang="en-US" sz="1200" dirty="0"/>
              <a:t>Creating &amp; editing complete(d) bus XML</a:t>
            </a:r>
          </a:p>
          <a:p>
            <a:pPr lvl="2">
              <a:tabLst>
                <a:tab pos="1885950" algn="l"/>
              </a:tabLst>
            </a:pPr>
            <a:r>
              <a:rPr lang="en-US" sz="1200" dirty="0"/>
              <a:t>Creating &amp; editing complete(d) bus job file (PIF + completed XML)</a:t>
            </a:r>
          </a:p>
          <a:p>
            <a:pPr lvl="2">
              <a:tabLst>
                <a:tab pos="1885950" algn="l"/>
              </a:tabLst>
            </a:pPr>
            <a:r>
              <a:rPr lang="en-US" sz="1200" dirty="0"/>
              <a:t>Creating &amp; editing single bus job file (primary XML + completed XML)</a:t>
            </a:r>
          </a:p>
          <a:p>
            <a:pPr lvl="2">
              <a:tabLst>
                <a:tab pos="1885950" algn="l"/>
              </a:tabLst>
            </a:pPr>
            <a:r>
              <a:rPr lang="en-US" sz="1200" dirty="0"/>
              <a:t>Simulation of all types of VECTO jobs</a:t>
            </a:r>
          </a:p>
          <a:p>
            <a:pPr lvl="2">
              <a:tabLst>
                <a:tab pos="1885950" algn="l"/>
              </a:tabLst>
            </a:pPr>
            <a:r>
              <a:rPr lang="en-US" sz="1200" dirty="0"/>
              <a:t>Currently, other existing job files can not be edited in the new GUI – planned to be extended in future</a:t>
            </a:r>
          </a:p>
          <a:p>
            <a:pPr lvl="2">
              <a:tabLst>
                <a:tab pos="1885950" algn="l"/>
              </a:tabLst>
            </a:pPr>
            <a:r>
              <a:rPr lang="en-US" sz="1200" dirty="0"/>
              <a:t>Functionality similar to currently official VECTO version, for further information see separate user manual on new GUI</a:t>
            </a:r>
          </a:p>
          <a:p>
            <a:pPr lvl="1">
              <a:tabLst>
                <a:tab pos="1885950" algn="l"/>
              </a:tabLst>
            </a:pPr>
            <a:r>
              <a:rPr lang="en-US" sz="1600" dirty="0"/>
              <a:t>XML reports (MRF, CIF, PIF) according to draft Annex IV</a:t>
            </a:r>
          </a:p>
          <a:p>
            <a:pPr lvl="1">
              <a:tabLst>
                <a:tab pos="1885950" algn="l"/>
              </a:tabLst>
            </a:pPr>
            <a:r>
              <a:rPr lang="en-US" sz="1600" i="1" dirty="0">
                <a:solidFill>
                  <a:schemeClr val="accent2">
                    <a:lumMod val="75000"/>
                  </a:schemeClr>
                </a:solidFill>
              </a:rPr>
              <a:t>Expert feature:</a:t>
            </a:r>
            <a:r>
              <a:rPr lang="en-US" sz="1600" dirty="0"/>
              <a:t> allow adding torque converter data to PIF manually (not added by VECTO automatically)  to investigate on generic TC data for APT-P (see generic vehicles for reference)</a:t>
            </a:r>
          </a:p>
          <a:p>
            <a:pPr lvl="1">
              <a:tabLst>
                <a:tab pos="1885950" algn="l"/>
              </a:tabLst>
            </a:pPr>
            <a:r>
              <a:rPr lang="en-US" sz="1600" i="1" dirty="0">
                <a:solidFill>
                  <a:schemeClr val="accent2">
                    <a:lumMod val="75000"/>
                  </a:schemeClr>
                </a:solidFill>
              </a:rPr>
              <a:t>Expert feature: </a:t>
            </a:r>
            <a:r>
              <a:rPr lang="en-US" sz="1600" dirty="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0.6.1.1957 Development Version</a:t>
            </a:r>
            <a:br>
              <a:rPr lang="en-US" dirty="0"/>
            </a:br>
            <a:r>
              <a:rPr lang="en-US" sz="1600" dirty="0"/>
              <a:t>May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heavy buses </a:t>
            </a:r>
          </a:p>
          <a:p>
            <a:pPr lvl="1">
              <a:tabLst>
                <a:tab pos="1885950" algn="l"/>
              </a:tabLst>
            </a:pPr>
            <a:r>
              <a:rPr lang="en-US" sz="1600" dirty="0"/>
              <a:t>Correcting power demand for engine fan</a:t>
            </a:r>
          </a:p>
          <a:p>
            <a:pPr lvl="1">
              <a:tabLst>
                <a:tab pos="1885950" algn="l"/>
              </a:tabLst>
            </a:pPr>
            <a:r>
              <a:rPr lang="en-US" sz="1600" dirty="0"/>
              <a:t>Consider electric auxiliaries (fan, steering pump) as electrical consumer</a:t>
            </a:r>
          </a:p>
          <a:p>
            <a:pPr lvl="1">
              <a:tabLst>
                <a:tab pos="1885950" algn="l"/>
              </a:tabLst>
            </a:pPr>
            <a:r>
              <a:rPr lang="en-US" sz="1600" dirty="0"/>
              <a:t>Correcting power demand pneumatic system with mechanical clutch</a:t>
            </a:r>
          </a:p>
          <a:p>
            <a:pPr lvl="1">
              <a:tabLst>
                <a:tab pos="1885950" algn="l"/>
              </a:tabLst>
            </a:pPr>
            <a:r>
              <a:rPr lang="en-US" sz="1600" dirty="0"/>
              <a:t>Correcting electrical consumers LED bonus</a:t>
            </a:r>
          </a:p>
          <a:p>
            <a:pPr lvl="1">
              <a:tabLst>
                <a:tab pos="1885950" algn="l"/>
              </a:tabLst>
            </a:pPr>
            <a:r>
              <a:rPr lang="en-US" sz="1600" dirty="0"/>
              <a:t>Correction for double compensation of smart electrics (battery &amp; generated vs. consumed)</a:t>
            </a:r>
          </a:p>
          <a:p>
            <a:pPr lvl="1">
              <a:tabLst>
                <a:tab pos="1885950" algn="l"/>
              </a:tabLst>
            </a:pPr>
            <a:r>
              <a:rPr lang="en-US" sz="1600" dirty="0"/>
              <a:t>Correcting passenger count depending on HVAC configuration</a:t>
            </a:r>
          </a:p>
          <a:p>
            <a:pPr>
              <a:tabLst>
                <a:tab pos="1885950" algn="l"/>
              </a:tabLst>
            </a:pPr>
            <a:r>
              <a:rPr lang="en-US" sz="1800" dirty="0" err="1"/>
              <a:t>Bugfixes</a:t>
            </a:r>
            <a:r>
              <a:rPr lang="en-US" sz="1800" dirty="0"/>
              <a:t> medium lorries</a:t>
            </a:r>
          </a:p>
          <a:p>
            <a:pPr lvl="1">
              <a:tabLst>
                <a:tab pos="1885950" algn="l"/>
              </a:tabLst>
            </a:pPr>
            <a:r>
              <a:rPr lang="en-US" sz="1600" dirty="0"/>
              <a:t>New technologies for electric steering pump</a:t>
            </a:r>
          </a:p>
          <a:p>
            <a:pPr lvl="1">
              <a:tabLst>
                <a:tab pos="1885950" algn="l"/>
              </a:tabLst>
            </a:pPr>
            <a:r>
              <a:rPr lang="en-US" sz="1600" dirty="0"/>
              <a:t>New </a:t>
            </a:r>
            <a:r>
              <a:rPr lang="en-US" sz="1600" dirty="0" err="1"/>
              <a:t>tyre</a:t>
            </a:r>
            <a:r>
              <a:rPr lang="en-US" sz="1600" dirty="0"/>
              <a:t> xml supported</a:t>
            </a:r>
          </a:p>
          <a:p>
            <a:pPr lvl="1">
              <a:tabLst>
                <a:tab pos="1885950" algn="l"/>
              </a:tabLst>
            </a:pPr>
            <a:r>
              <a:rPr lang="en-US" sz="1600" dirty="0" err="1"/>
              <a:t>Bugfixes</a:t>
            </a:r>
            <a:r>
              <a:rPr lang="en-US" sz="1600" dirty="0"/>
              <a:t> graphical user interface</a:t>
            </a:r>
          </a:p>
          <a:p>
            <a:pPr lvl="1">
              <a:tabLst>
                <a:tab pos="1885950" algn="l"/>
              </a:tabLst>
            </a:pPr>
            <a:r>
              <a:rPr lang="en-US" sz="1600" dirty="0"/>
              <a:t>New sample </a:t>
            </a:r>
            <a:r>
              <a:rPr lang="en-US" sz="1600"/>
              <a:t>data VTP</a:t>
            </a:r>
            <a:endParaRPr lang="en-US" sz="1600" dirty="0"/>
          </a:p>
        </p:txBody>
      </p:sp>
    </p:spTree>
    <p:extLst>
      <p:ext uri="{BB962C8B-B14F-4D97-AF65-F5344CB8AC3E}">
        <p14:creationId xmlns:p14="http://schemas.microsoft.com/office/powerpoint/2010/main" val="33255105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0.6.0.1908 Development Version</a:t>
            </a:r>
            <a:br>
              <a:rPr lang="en-US" dirty="0"/>
            </a:br>
            <a:r>
              <a:rPr lang="en-US" sz="1600" dirty="0"/>
              <a:t>March.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p>
          <a:p>
            <a:pPr lvl="1">
              <a:tabLst>
                <a:tab pos="1885950" algn="l"/>
              </a:tabLst>
            </a:pPr>
            <a:r>
              <a:rPr lang="en-US" dirty="0"/>
              <a:t>Consider vehicle’s max speed when validating input data, calculating velocity drop during traction interruption </a:t>
            </a:r>
          </a:p>
          <a:p>
            <a:pPr lvl="1">
              <a:tabLst>
                <a:tab pos="1885950" algn="l"/>
              </a:tabLst>
            </a:pPr>
            <a:r>
              <a:rPr lang="en-US" dirty="0"/>
              <a:t>Reading vehicle design speed (85km/h) from segment table (also related to vehicle’s max speed)</a:t>
            </a:r>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exception simulating vehicles in engineering mode</a:t>
            </a:r>
          </a:p>
        </p:txBody>
      </p:sp>
    </p:spTree>
    <p:extLst>
      <p:ext uri="{BB962C8B-B14F-4D97-AF65-F5344CB8AC3E}">
        <p14:creationId xmlns:p14="http://schemas.microsoft.com/office/powerpoint/2010/main" val="31752949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0.6.0.1884 Development Version</a:t>
            </a:r>
            <a:br>
              <a:rPr lang="en-US" dirty="0"/>
            </a:br>
            <a:r>
              <a:rPr lang="en-US" sz="1600" dirty="0"/>
              <a:t>Feb. 2020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matrix, </a:t>
            </a:r>
          </a:p>
          <a:p>
            <a:pPr lvl="1">
              <a:tabLst>
                <a:tab pos="1885950" algn="l"/>
              </a:tabLst>
            </a:pPr>
            <a:r>
              <a:rPr lang="en-US" dirty="0"/>
              <a:t>Support for P0 hybrids in </a:t>
            </a:r>
            <a:r>
              <a:rPr lang="en-US"/>
              <a:t>bus auxiliaries model</a:t>
            </a:r>
            <a:endParaRPr lang="en-US" dirty="0"/>
          </a:p>
          <a:p>
            <a:pPr lvl="1">
              <a:tabLst>
                <a:tab pos="1885950" algn="l"/>
              </a:tabLst>
            </a:pPr>
            <a:r>
              <a:rPr lang="en-US" dirty="0"/>
              <a:t>Support for “primary bus” (declaration mode)</a:t>
            </a:r>
          </a:p>
          <a:p>
            <a:pPr lvl="1">
              <a:tabLst>
                <a:tab pos="1885950" algn="l"/>
              </a:tabLst>
            </a:pPr>
            <a:r>
              <a:rPr lang="en-US" dirty="0"/>
              <a:t>Support for “single bus” – combine input parameters of primary bus and completed bus to a single simulation (no factor method) (declaration mode)</a:t>
            </a:r>
          </a:p>
          <a:p>
            <a:pPr lvl="1">
              <a:tabLst>
                <a:tab pos="1885950" algn="l"/>
              </a:tabLst>
            </a:pPr>
            <a:r>
              <a:rPr lang="en-US" dirty="0"/>
              <a:t>Support for medium lorries</a:t>
            </a:r>
          </a:p>
          <a:p>
            <a:pPr lvl="1">
              <a:tabLst>
                <a:tab pos="1885950" algn="l"/>
              </a:tabLst>
            </a:pPr>
            <a:r>
              <a:rPr lang="en-US" dirty="0"/>
              <a:t>Support for vehicles with front-wheel drive (</a:t>
            </a:r>
            <a:r>
              <a:rPr lang="en-US" dirty="0" err="1"/>
              <a:t>axlegear</a:t>
            </a:r>
            <a:r>
              <a:rPr lang="en-US" dirty="0"/>
              <a:t> included in gearbox)</a:t>
            </a:r>
          </a:p>
          <a:p>
            <a:pPr lvl="1">
              <a:tabLst>
                <a:tab pos="1885950" algn="l"/>
              </a:tabLst>
            </a:pPr>
            <a:r>
              <a:rPr lang="en-US" dirty="0"/>
              <a:t>VTP Mode for medium lorries</a:t>
            </a:r>
          </a:p>
          <a:p>
            <a:pPr lvl="1">
              <a:tabLst>
                <a:tab pos="1885950" algn="l"/>
              </a:tabLst>
            </a:pPr>
            <a:r>
              <a:rPr lang="en-US" dirty="0"/>
              <a:t>New XML schema for new vehicle categories, adapted XML schema for generated reports (MRF, CIF, PIF)</a:t>
            </a:r>
          </a:p>
          <a:p>
            <a:pPr marL="457200" lvl="1" indent="0">
              <a:buNone/>
              <a:tabLst>
                <a:tab pos="1885950" algn="l"/>
              </a:tabLst>
            </a:pPr>
            <a:endParaRPr lang="en-US" sz="1600" dirty="0"/>
          </a:p>
          <a:p>
            <a:pPr marL="457200" lvl="1" indent="0">
              <a:buNone/>
              <a:tabLst>
                <a:tab pos="1885950" algn="l"/>
              </a:tabLst>
            </a:pPr>
            <a:r>
              <a:rPr lang="en-US" sz="1600" dirty="0"/>
              <a:t>This development version includes all features already included in version 0.5.0</a:t>
            </a:r>
          </a:p>
          <a:p>
            <a:pPr lvl="1">
              <a:tabLst>
                <a:tab pos="1885950" algn="l"/>
              </a:tabLst>
            </a:pPr>
            <a:endParaRPr lang="en-US" sz="1400" dirty="0"/>
          </a:p>
        </p:txBody>
      </p:sp>
    </p:spTree>
    <p:extLst>
      <p:ext uri="{BB962C8B-B14F-4D97-AF65-F5344CB8AC3E}">
        <p14:creationId xmlns:p14="http://schemas.microsoft.com/office/powerpoint/2010/main" val="5519250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0.5.0 Development Version</a:t>
            </a:r>
            <a:br>
              <a:rPr lang="en-US" dirty="0"/>
            </a:br>
            <a:r>
              <a:rPr lang="en-US" sz="1600" dirty="0"/>
              <a:t>Dec. 2019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 </a:t>
            </a:r>
            <a:endParaRPr lang="en-US" sz="1800" dirty="0"/>
          </a:p>
          <a:p>
            <a:pPr lvl="1">
              <a:tabLst>
                <a:tab pos="1885950" algn="l"/>
              </a:tabLst>
            </a:pPr>
            <a:r>
              <a:rPr lang="en-US" dirty="0"/>
              <a:t>Adding in-the-loop simulation of advanced driver assistant systems (ADAS)</a:t>
            </a:r>
          </a:p>
          <a:p>
            <a:pPr lvl="2">
              <a:tabLst>
                <a:tab pos="1885950" algn="l"/>
              </a:tabLst>
            </a:pPr>
            <a:r>
              <a:rPr lang="en-US" sz="1200" dirty="0"/>
              <a:t>Engine stop-start during vehicle stop</a:t>
            </a:r>
          </a:p>
          <a:p>
            <a:pPr lvl="2">
              <a:tabLst>
                <a:tab pos="1885950" algn="l"/>
              </a:tabLst>
            </a:pPr>
            <a:r>
              <a:rPr lang="en-US" sz="1200" dirty="0"/>
              <a:t>Eco-roll with and without engine stop</a:t>
            </a:r>
          </a:p>
          <a:p>
            <a:pPr lvl="2">
              <a:tabLst>
                <a:tab pos="1885950" algn="l"/>
              </a:tabLst>
            </a:pPr>
            <a:r>
              <a:rPr lang="en-US" sz="1200" dirty="0"/>
              <a:t>Predictive cruise control: dip coasting, crest coasting</a:t>
            </a:r>
          </a:p>
          <a:p>
            <a:pPr lvl="1">
              <a:tabLst>
                <a:tab pos="1885950" algn="l"/>
              </a:tabLst>
            </a:pPr>
            <a:r>
              <a:rPr lang="en-US" sz="1600" dirty="0"/>
              <a:t>Adding support for dual-fuel vehicles</a:t>
            </a:r>
          </a:p>
          <a:p>
            <a:pPr lvl="1">
              <a:tabLst>
                <a:tab pos="1885950" algn="l"/>
              </a:tabLst>
            </a:pPr>
            <a:r>
              <a:rPr lang="en-US" sz="1600" dirty="0"/>
              <a:t>Adding support for waste- / exhaust-heat recovery systems (electrical and mechanical)</a:t>
            </a:r>
          </a:p>
          <a:p>
            <a:pPr lvl="1">
              <a:tabLst>
                <a:tab pos="1885950" algn="l"/>
              </a:tabLst>
            </a:pPr>
            <a:r>
              <a:rPr lang="en-US" sz="1600" dirty="0"/>
              <a:t>New gear shift strategy (</a:t>
            </a:r>
            <a:r>
              <a:rPr lang="en-US" sz="1600" dirty="0" err="1"/>
              <a:t>EffShift</a:t>
            </a:r>
            <a:r>
              <a:rPr lang="en-US" sz="1600" dirty="0"/>
              <a:t>) for AMT and AT transmissions</a:t>
            </a:r>
          </a:p>
          <a:p>
            <a:pPr marL="457200" lvl="1" indent="0">
              <a:buNone/>
              <a:tabLst>
                <a:tab pos="1885950" algn="l"/>
              </a:tabLst>
            </a:pPr>
            <a:endParaRPr lang="en-US" sz="1600" dirty="0"/>
          </a:p>
          <a:p>
            <a:pPr marL="457200" lvl="1" indent="0">
              <a:buNone/>
              <a:tabLst>
                <a:tab pos="1885950" algn="l"/>
              </a:tabLst>
            </a:pPr>
            <a:r>
              <a:rPr lang="en-US" sz="1600" dirty="0"/>
              <a:t>Details on the new models, model parameters, and new signals in the output are described in the user manual</a:t>
            </a:r>
          </a:p>
          <a:p>
            <a:pPr lvl="1">
              <a:tabLst>
                <a:tab pos="1885950" algn="l"/>
              </a:tabLst>
            </a:pPr>
            <a:endParaRPr lang="en-US" sz="1400" dirty="0"/>
          </a:p>
        </p:txBody>
      </p:sp>
    </p:spTree>
    <p:extLst>
      <p:ext uri="{BB962C8B-B14F-4D97-AF65-F5344CB8AC3E}">
        <p14:creationId xmlns:p14="http://schemas.microsoft.com/office/powerpoint/2010/main" val="199775478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78554793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11687</Words>
  <Application>Microsoft Office PowerPoint</Application>
  <PresentationFormat>Bildschirmpräsentation (4:3)</PresentationFormat>
  <Paragraphs>1113</Paragraphs>
  <Slides>96</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96</vt:i4>
      </vt:variant>
    </vt:vector>
  </HeadingPairs>
  <TitlesOfParts>
    <vt:vector size="103" baseType="lpstr">
      <vt:lpstr>Arial</vt:lpstr>
      <vt:lpstr>Calibri</vt:lpstr>
      <vt:lpstr>Courier New</vt:lpstr>
      <vt:lpstr>Times New Roman</vt:lpstr>
      <vt:lpstr>Verdana</vt:lpstr>
      <vt:lpstr>Wingdings</vt:lpstr>
      <vt:lpstr>Standarddesign</vt:lpstr>
      <vt:lpstr>PowerPoint-Präsentation</vt:lpstr>
      <vt:lpstr>Vecto 0.7.8.xxx Development Version April 2022</vt:lpstr>
      <vt:lpstr>Serial Hybrid Implementation</vt:lpstr>
      <vt:lpstr>Serial Hybrids: GenSet Pre-Processing</vt:lpstr>
      <vt:lpstr>Serial Hybrid Strategy (main principles)</vt:lpstr>
      <vt:lpstr>Serial Hybrids: GenSet</vt:lpstr>
      <vt:lpstr>Serial Hybrid Strategy Parameters</vt:lpstr>
      <vt:lpstr>PowerPoint-Präsentation</vt:lpstr>
      <vt:lpstr>EM: overload buffer calculated from both voltage levels</vt:lpstr>
      <vt:lpstr>Consider gearbox MaxTorque limits for HEV</vt:lpstr>
      <vt:lpstr>Vecto 0.7.8.xxx Development Version April 2022</vt:lpstr>
      <vt:lpstr>Vecto 0.7.8.xxx Development Version April 2022</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0.7.7.2547 Development Version December 2021</vt:lpstr>
      <vt:lpstr>Vecto 0.7.6.2451 Development Version September 2021</vt:lpstr>
      <vt:lpstr>Vecto 0.7.5.2353 Development Version June 2021</vt:lpstr>
      <vt:lpstr>Vecto 0.7.3.2164 Development Version December 2020</vt:lpstr>
      <vt:lpstr>Vecto 0.7.2.2118 Development Version October 2020</vt:lpstr>
      <vt:lpstr>Vecto 0.7.1.2108 Development Version October 2020</vt:lpstr>
      <vt:lpstr>Vecto 0.7.0.2076 Development Version September 2020</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1266</cp:revision>
  <cp:lastPrinted>2013-01-22T12:03:30Z</cp:lastPrinted>
  <dcterms:created xsi:type="dcterms:W3CDTF">2010-01-07T15:28:02Z</dcterms:created>
  <dcterms:modified xsi:type="dcterms:W3CDTF">2022-05-02T11:44:10Z</dcterms:modified>
</cp:coreProperties>
</file>