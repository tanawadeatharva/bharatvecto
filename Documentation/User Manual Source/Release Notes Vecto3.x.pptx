
<file path=[Content_Types].xml><?xml version="1.0" encoding="utf-8"?>
<Types xmlns="http://schemas.openxmlformats.org/package/2006/content-types">
  <Default Extension="png" ContentType="image/png"/>
  <Default Extension="wmf" ContentType="image/x-w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6"/>
  </p:notesMasterIdLst>
  <p:handoutMasterIdLst>
    <p:handoutMasterId r:id="rId37"/>
  </p:handoutMasterIdLst>
  <p:sldIdLst>
    <p:sldId id="575" r:id="rId2"/>
    <p:sldId id="671" r:id="rId3"/>
    <p:sldId id="674" r:id="rId4"/>
    <p:sldId id="673" r:id="rId5"/>
    <p:sldId id="672" r:id="rId6"/>
    <p:sldId id="669" r:id="rId7"/>
    <p:sldId id="670" r:id="rId8"/>
    <p:sldId id="664" r:id="rId9"/>
    <p:sldId id="666" r:id="rId10"/>
    <p:sldId id="667" r:id="rId11"/>
    <p:sldId id="668" r:id="rId12"/>
    <p:sldId id="665" r:id="rId13"/>
    <p:sldId id="663" r:id="rId14"/>
    <p:sldId id="661" r:id="rId15"/>
    <p:sldId id="662" r:id="rId16"/>
    <p:sldId id="657" r:id="rId17"/>
    <p:sldId id="659" r:id="rId18"/>
    <p:sldId id="660" r:id="rId19"/>
    <p:sldId id="656" r:id="rId20"/>
    <p:sldId id="655" r:id="rId21"/>
    <p:sldId id="654" r:id="rId22"/>
    <p:sldId id="653" r:id="rId23"/>
    <p:sldId id="651" r:id="rId24"/>
    <p:sldId id="648" r:id="rId25"/>
    <p:sldId id="649" r:id="rId26"/>
    <p:sldId id="650" r:id="rId27"/>
    <p:sldId id="645" r:id="rId28"/>
    <p:sldId id="647" r:id="rId29"/>
    <p:sldId id="646" r:id="rId30"/>
    <p:sldId id="640" r:id="rId31"/>
    <p:sldId id="641" r:id="rId32"/>
    <p:sldId id="642" r:id="rId33"/>
    <p:sldId id="643" r:id="rId34"/>
    <p:sldId id="644" r:id="rId35"/>
  </p:sldIdLst>
  <p:sldSz cx="9144000" cy="6858000" type="screen4x3"/>
  <p:notesSz cx="6805613" cy="9944100"/>
  <p:defaultTextStyle>
    <a:defPPr>
      <a:defRPr lang="de-AT"/>
    </a:defPPr>
    <a:lvl1pPr algn="ctr" rtl="0" fontAlgn="base">
      <a:spcBef>
        <a:spcPct val="50000"/>
      </a:spcBef>
      <a:spcAft>
        <a:spcPct val="0"/>
      </a:spcAft>
      <a:defRPr sz="1600" b="1" kern="1200">
        <a:solidFill>
          <a:schemeClr val="tx1"/>
        </a:solidFill>
        <a:latin typeface="Arial" charset="0"/>
        <a:ea typeface="+mn-ea"/>
        <a:cs typeface="+mn-cs"/>
      </a:defRPr>
    </a:lvl1pPr>
    <a:lvl2pPr marL="457200" algn="ctr" rtl="0" fontAlgn="base">
      <a:spcBef>
        <a:spcPct val="50000"/>
      </a:spcBef>
      <a:spcAft>
        <a:spcPct val="0"/>
      </a:spcAft>
      <a:defRPr sz="1600" b="1" kern="1200">
        <a:solidFill>
          <a:schemeClr val="tx1"/>
        </a:solidFill>
        <a:latin typeface="Arial" charset="0"/>
        <a:ea typeface="+mn-ea"/>
        <a:cs typeface="+mn-cs"/>
      </a:defRPr>
    </a:lvl2pPr>
    <a:lvl3pPr marL="914400" algn="ctr" rtl="0" fontAlgn="base">
      <a:spcBef>
        <a:spcPct val="50000"/>
      </a:spcBef>
      <a:spcAft>
        <a:spcPct val="0"/>
      </a:spcAft>
      <a:defRPr sz="1600" b="1" kern="1200">
        <a:solidFill>
          <a:schemeClr val="tx1"/>
        </a:solidFill>
        <a:latin typeface="Arial" charset="0"/>
        <a:ea typeface="+mn-ea"/>
        <a:cs typeface="+mn-cs"/>
      </a:defRPr>
    </a:lvl3pPr>
    <a:lvl4pPr marL="1371600" algn="ctr" rtl="0" fontAlgn="base">
      <a:spcBef>
        <a:spcPct val="50000"/>
      </a:spcBef>
      <a:spcAft>
        <a:spcPct val="0"/>
      </a:spcAft>
      <a:defRPr sz="1600" b="1" kern="1200">
        <a:solidFill>
          <a:schemeClr val="tx1"/>
        </a:solidFill>
        <a:latin typeface="Arial" charset="0"/>
        <a:ea typeface="+mn-ea"/>
        <a:cs typeface="+mn-cs"/>
      </a:defRPr>
    </a:lvl4pPr>
    <a:lvl5pPr marL="1828800" algn="ctr" rtl="0" fontAlgn="base">
      <a:spcBef>
        <a:spcPct val="50000"/>
      </a:spcBef>
      <a:spcAft>
        <a:spcPct val="0"/>
      </a:spcAft>
      <a:defRPr sz="1600" b="1" kern="1200">
        <a:solidFill>
          <a:schemeClr val="tx1"/>
        </a:solidFill>
        <a:latin typeface="Arial" charset="0"/>
        <a:ea typeface="+mn-ea"/>
        <a:cs typeface="+mn-cs"/>
      </a:defRPr>
    </a:lvl5pPr>
    <a:lvl6pPr marL="2286000" algn="l" defTabSz="914400" rtl="0" eaLnBrk="1" latinLnBrk="0" hangingPunct="1">
      <a:defRPr sz="1600" b="1" kern="1200">
        <a:solidFill>
          <a:schemeClr val="tx1"/>
        </a:solidFill>
        <a:latin typeface="Arial" charset="0"/>
        <a:ea typeface="+mn-ea"/>
        <a:cs typeface="+mn-cs"/>
      </a:defRPr>
    </a:lvl6pPr>
    <a:lvl7pPr marL="2743200" algn="l" defTabSz="914400" rtl="0" eaLnBrk="1" latinLnBrk="0" hangingPunct="1">
      <a:defRPr sz="1600" b="1" kern="1200">
        <a:solidFill>
          <a:schemeClr val="tx1"/>
        </a:solidFill>
        <a:latin typeface="Arial" charset="0"/>
        <a:ea typeface="+mn-ea"/>
        <a:cs typeface="+mn-cs"/>
      </a:defRPr>
    </a:lvl7pPr>
    <a:lvl8pPr marL="3200400" algn="l" defTabSz="914400" rtl="0" eaLnBrk="1" latinLnBrk="0" hangingPunct="1">
      <a:defRPr sz="1600" b="1" kern="1200">
        <a:solidFill>
          <a:schemeClr val="tx1"/>
        </a:solidFill>
        <a:latin typeface="Arial" charset="0"/>
        <a:ea typeface="+mn-ea"/>
        <a:cs typeface="+mn-cs"/>
      </a:defRPr>
    </a:lvl8pPr>
    <a:lvl9pPr marL="3657600" algn="l" defTabSz="914400" rtl="0" eaLnBrk="1" latinLnBrk="0" hangingPunct="1">
      <a:defRPr sz="1600" b="1"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132">
          <p15:clr>
            <a:srgbClr val="A4A3A4"/>
          </p15:clr>
        </p15:guide>
        <p15:guide id="2" pos="2143">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Hausberger Stefan" initials="H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B3B3"/>
    <a:srgbClr val="FFFFFF"/>
    <a:srgbClr val="FF9900"/>
    <a:srgbClr val="E9EDF4"/>
    <a:srgbClr val="F8F8F8"/>
    <a:srgbClr val="FF6600"/>
    <a:srgbClr val="0066FF"/>
    <a:srgbClr val="FF00FF"/>
    <a:srgbClr val="FF5757"/>
    <a:srgbClr val="E4E4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84" autoAdjust="0"/>
    <p:restoredTop sz="94289" autoAdjust="0"/>
  </p:normalViewPr>
  <p:slideViewPr>
    <p:cSldViewPr>
      <p:cViewPr varScale="1">
        <p:scale>
          <a:sx n="113" d="100"/>
          <a:sy n="113" d="100"/>
        </p:scale>
        <p:origin x="1554" y="114"/>
      </p:cViewPr>
      <p:guideLst>
        <p:guide orient="horz" pos="2160"/>
        <p:guide pos="2880"/>
      </p:guideLst>
    </p:cSldViewPr>
  </p:slideViewPr>
  <p:notesTextViewPr>
    <p:cViewPr>
      <p:scale>
        <a:sx n="100" d="100"/>
        <a:sy n="100" d="100"/>
      </p:scale>
      <p:origin x="0" y="0"/>
    </p:cViewPr>
  </p:notesTextViewPr>
  <p:sorterViewPr>
    <p:cViewPr>
      <p:scale>
        <a:sx n="140" d="100"/>
        <a:sy n="140" d="100"/>
      </p:scale>
      <p:origin x="0" y="0"/>
    </p:cViewPr>
  </p:sorterViewPr>
  <p:notesViewPr>
    <p:cSldViewPr>
      <p:cViewPr varScale="1">
        <p:scale>
          <a:sx n="94" d="100"/>
          <a:sy n="94" d="100"/>
        </p:scale>
        <p:origin x="-3690" y="-96"/>
      </p:cViewPr>
      <p:guideLst>
        <p:guide orient="horz" pos="3132"/>
        <p:guide pos="2143"/>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commentAuthors" Target="commentAuthor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handoutMaster" Target="handoutMasters/handoutMaster1.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l">
              <a:spcBef>
                <a:spcPct val="0"/>
              </a:spcBef>
              <a:defRPr sz="1200" b="0">
                <a:latin typeface="Arial" pitchFamily="34" charset="0"/>
              </a:defRPr>
            </a:lvl1pPr>
          </a:lstStyle>
          <a:p>
            <a:pPr>
              <a:defRPr/>
            </a:pPr>
            <a:endParaRPr lang="de-AT"/>
          </a:p>
        </p:txBody>
      </p:sp>
      <p:sp>
        <p:nvSpPr>
          <p:cNvPr id="52227" name="Rectangle 3"/>
          <p:cNvSpPr>
            <a:spLocks noGrp="1" noChangeArrowheads="1"/>
          </p:cNvSpPr>
          <p:nvPr>
            <p:ph type="dt" sz="quarter"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r">
              <a:spcBef>
                <a:spcPct val="0"/>
              </a:spcBef>
              <a:defRPr sz="1200" b="0">
                <a:latin typeface="Arial" pitchFamily="34" charset="0"/>
              </a:defRPr>
            </a:lvl1pPr>
          </a:lstStyle>
          <a:p>
            <a:pPr>
              <a:defRPr/>
            </a:pPr>
            <a:endParaRPr lang="de-AT"/>
          </a:p>
        </p:txBody>
      </p:sp>
      <p:sp>
        <p:nvSpPr>
          <p:cNvPr id="52229" name="Rectangle 5"/>
          <p:cNvSpPr>
            <a:spLocks noGrp="1" noChangeArrowheads="1"/>
          </p:cNvSpPr>
          <p:nvPr>
            <p:ph type="sldNum" sz="quarter" idx="3"/>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b" anchorCtr="0" compatLnSpc="1">
            <a:prstTxWarp prst="textNoShape">
              <a:avLst/>
            </a:prstTxWarp>
          </a:bodyPr>
          <a:lstStyle>
            <a:lvl1pPr algn="r">
              <a:spcBef>
                <a:spcPct val="0"/>
              </a:spcBef>
              <a:defRPr sz="1200" b="0">
                <a:latin typeface="Arial" pitchFamily="34" charset="0"/>
              </a:defRPr>
            </a:lvl1pPr>
          </a:lstStyle>
          <a:p>
            <a:pPr>
              <a:defRPr/>
            </a:pPr>
            <a:fld id="{D05DC883-6C08-43D1-9D4B-869193C2D549}" type="slidenum">
              <a:rPr lang="de-AT"/>
              <a:pPr>
                <a:defRPr/>
              </a:pPr>
              <a:t>‹Nr.›</a:t>
            </a:fld>
            <a:endParaRPr lang="de-AT"/>
          </a:p>
        </p:txBody>
      </p:sp>
      <p:sp>
        <p:nvSpPr>
          <p:cNvPr id="2" name="Footer Placeholder 1"/>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en-IE"/>
          </a:p>
        </p:txBody>
      </p:sp>
    </p:spTree>
    <p:extLst>
      <p:ext uri="{BB962C8B-B14F-4D97-AF65-F5344CB8AC3E}">
        <p14:creationId xmlns:p14="http://schemas.microsoft.com/office/powerpoint/2010/main" val="1476911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3" name="Rectangle 3"/>
          <p:cNvSpPr>
            <a:spLocks noGrp="1" noChangeArrowheads="1"/>
          </p:cNvSpPr>
          <p:nvPr>
            <p:ph type="dt"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r" defTabSz="956920">
              <a:spcBef>
                <a:spcPct val="0"/>
              </a:spcBef>
              <a:defRPr sz="1300" b="0">
                <a:latin typeface="Arial" pitchFamily="34" charset="0"/>
              </a:defRPr>
            </a:lvl1pPr>
          </a:lstStyle>
          <a:p>
            <a:pPr>
              <a:defRPr/>
            </a:pPr>
            <a:endParaRPr lang="de-AT"/>
          </a:p>
        </p:txBody>
      </p:sp>
      <p:sp>
        <p:nvSpPr>
          <p:cNvPr id="33796" name="Rectangle 4"/>
          <p:cNvSpPr>
            <a:spLocks noGrp="1" noRot="1" noChangeAspect="1" noChangeArrowheads="1" noTextEdit="1"/>
          </p:cNvSpPr>
          <p:nvPr>
            <p:ph type="sldImg" idx="2"/>
          </p:nvPr>
        </p:nvSpPr>
        <p:spPr bwMode="auto">
          <a:xfrm>
            <a:off x="917575" y="746125"/>
            <a:ext cx="4970463" cy="372903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25605" name="Rectangle 5"/>
          <p:cNvSpPr>
            <a:spLocks noGrp="1" noChangeArrowheads="1"/>
          </p:cNvSpPr>
          <p:nvPr>
            <p:ph type="body" sz="quarter" idx="3"/>
          </p:nvPr>
        </p:nvSpPr>
        <p:spPr bwMode="auto">
          <a:xfrm>
            <a:off x="679802" y="4722946"/>
            <a:ext cx="5446010" cy="4474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p>
            <a:pPr lvl="0"/>
            <a:r>
              <a:rPr lang="de-AT" noProof="0" smtClean="0"/>
              <a:t>Textmasterformate durch Klicken bearbeiten</a:t>
            </a:r>
          </a:p>
          <a:p>
            <a:pPr lvl="1"/>
            <a:r>
              <a:rPr lang="de-AT" noProof="0" smtClean="0"/>
              <a:t>Zweite Ebene</a:t>
            </a:r>
          </a:p>
          <a:p>
            <a:pPr lvl="2"/>
            <a:r>
              <a:rPr lang="de-AT" noProof="0" smtClean="0"/>
              <a:t>Dritte Ebene</a:t>
            </a:r>
          </a:p>
          <a:p>
            <a:pPr lvl="3"/>
            <a:r>
              <a:rPr lang="de-AT" noProof="0" smtClean="0"/>
              <a:t>Vierte Ebene</a:t>
            </a:r>
          </a:p>
          <a:p>
            <a:pPr lvl="4"/>
            <a:r>
              <a:rPr lang="de-AT" noProof="0" smtClean="0"/>
              <a:t>Fünfte Ebene</a:t>
            </a:r>
          </a:p>
        </p:txBody>
      </p:sp>
      <p:sp>
        <p:nvSpPr>
          <p:cNvPr id="25606" name="Rectangle 6"/>
          <p:cNvSpPr>
            <a:spLocks noGrp="1" noChangeArrowheads="1"/>
          </p:cNvSpPr>
          <p:nvPr>
            <p:ph type="ftr" sz="quarter" idx="4"/>
          </p:nvPr>
        </p:nvSpPr>
        <p:spPr bwMode="auto">
          <a:xfrm>
            <a:off x="0" y="9445893"/>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7" name="Rectangle 7"/>
          <p:cNvSpPr>
            <a:spLocks noGrp="1" noChangeArrowheads="1"/>
          </p:cNvSpPr>
          <p:nvPr>
            <p:ph type="sldNum" sz="quarter" idx="5"/>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r" defTabSz="956920">
              <a:spcBef>
                <a:spcPct val="0"/>
              </a:spcBef>
              <a:defRPr sz="1300" b="0">
                <a:latin typeface="Arial" pitchFamily="34" charset="0"/>
              </a:defRPr>
            </a:lvl1pPr>
          </a:lstStyle>
          <a:p>
            <a:pPr>
              <a:defRPr/>
            </a:pPr>
            <a:fld id="{8335CF79-0E4B-49EE-B3D5-651E591A0B85}" type="slidenum">
              <a:rPr lang="de-AT"/>
              <a:pPr>
                <a:defRPr/>
              </a:pPr>
              <a:t>‹Nr.›</a:t>
            </a:fld>
            <a:endParaRPr lang="de-AT"/>
          </a:p>
        </p:txBody>
      </p:sp>
    </p:spTree>
    <p:extLst>
      <p:ext uri="{BB962C8B-B14F-4D97-AF65-F5344CB8AC3E}">
        <p14:creationId xmlns:p14="http://schemas.microsoft.com/office/powerpoint/2010/main" val="36704066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9"/>
            <a:ext cx="7772400" cy="1470025"/>
          </a:xfrm>
        </p:spPr>
        <p:txBody>
          <a:bodyPr/>
          <a:lstStyle/>
          <a:p>
            <a:r>
              <a:rPr lang="de-DE" smtClean="0"/>
              <a:t>Titelmasterformat durch Klicken bearbeiten</a:t>
            </a:r>
            <a:endParaRPr lang="de-AT"/>
          </a:p>
        </p:txBody>
      </p:sp>
      <p:sp>
        <p:nvSpPr>
          <p:cNvPr id="3" name="Untertitel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de-DE" smtClean="0"/>
              <a:t>Formatvorlage des Untertitelmasters durch Klicken bearbeiten</a:t>
            </a:r>
            <a:endParaRPr lang="de-AT"/>
          </a:p>
        </p:txBody>
      </p:sp>
    </p:spTree>
    <p:extLst>
      <p:ext uri="{BB962C8B-B14F-4D97-AF65-F5344CB8AC3E}">
        <p14:creationId xmlns:p14="http://schemas.microsoft.com/office/powerpoint/2010/main" val="185707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idx="1"/>
          </p:nvPr>
        </p:nvSpPr>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4212520853"/>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4"/>
            <a:ext cx="7772400" cy="1362075"/>
          </a:xfrm>
        </p:spPr>
        <p:txBody>
          <a:bodyPr anchor="t"/>
          <a:lstStyle>
            <a:lvl1pPr algn="l">
              <a:defRPr sz="4000" b="1" cap="all"/>
            </a:lvl1pPr>
          </a:lstStyle>
          <a:p>
            <a:r>
              <a:rPr lang="de-DE" smtClean="0"/>
              <a:t>Titelmasterformat durch Klicken bearbeiten</a:t>
            </a:r>
            <a:endParaRPr lang="de-AT"/>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de-DE" smtClean="0"/>
              <a:t>Textmasterformat bearbeiten</a:t>
            </a:r>
          </a:p>
        </p:txBody>
      </p:sp>
    </p:spTree>
    <p:extLst>
      <p:ext uri="{BB962C8B-B14F-4D97-AF65-F5344CB8AC3E}">
        <p14:creationId xmlns:p14="http://schemas.microsoft.com/office/powerpoint/2010/main" val="4195738762"/>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sz="half" idx="1"/>
          </p:nvPr>
        </p:nvSpPr>
        <p:spPr>
          <a:xfrm>
            <a:off x="468313" y="1582738"/>
            <a:ext cx="4032250"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Inhaltsplatzhalter 3"/>
          <p:cNvSpPr>
            <a:spLocks noGrp="1"/>
          </p:cNvSpPr>
          <p:nvPr>
            <p:ph sz="half" idx="2"/>
          </p:nvPr>
        </p:nvSpPr>
        <p:spPr>
          <a:xfrm>
            <a:off x="4652965" y="1582738"/>
            <a:ext cx="4033837"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79265139"/>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8229600" cy="1143000"/>
          </a:xfrm>
        </p:spPr>
        <p:txBody>
          <a:bodyPr/>
          <a:lstStyle>
            <a:lvl1pPr>
              <a:defRPr/>
            </a:lvl1pPr>
          </a:lstStyle>
          <a:p>
            <a:r>
              <a:rPr lang="de-DE" smtClean="0"/>
              <a:t>Titelmasterformat durch Klicken bearbeiten</a:t>
            </a:r>
            <a:endParaRPr lang="de-AT"/>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5" name="Textplatzhalter 4"/>
          <p:cNvSpPr>
            <a:spLocks noGrp="1"/>
          </p:cNvSpPr>
          <p:nvPr>
            <p:ph type="body" sz="quarter" idx="3"/>
          </p:nvPr>
        </p:nvSpPr>
        <p:spPr>
          <a:xfrm>
            <a:off x="4645027"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6" name="Inhaltsplatzhalter 5"/>
          <p:cNvSpPr>
            <a:spLocks noGrp="1"/>
          </p:cNvSpPr>
          <p:nvPr>
            <p:ph sz="quarter" idx="4"/>
          </p:nvPr>
        </p:nvSpPr>
        <p:spPr>
          <a:xfrm>
            <a:off x="4645027"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689680628"/>
      </p:ext>
    </p:extLst>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Tree>
    <p:extLst>
      <p:ext uri="{BB962C8B-B14F-4D97-AF65-F5344CB8AC3E}">
        <p14:creationId xmlns:p14="http://schemas.microsoft.com/office/powerpoint/2010/main" val="2085824208"/>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3620478"/>
      </p:ext>
    </p:extLst>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smtClean="0"/>
              <a:t>Titelmasterformat durch Klicken bearbeiten</a:t>
            </a:r>
            <a:endParaRPr lang="de-AT"/>
          </a:p>
        </p:txBody>
      </p:sp>
      <p:sp>
        <p:nvSpPr>
          <p:cNvPr id="3" name="Inhaltsplatzhalter 2"/>
          <p:cNvSpPr>
            <a:spLocks noGrp="1"/>
          </p:cNvSpPr>
          <p:nvPr>
            <p:ph idx="1"/>
          </p:nvPr>
        </p:nvSpPr>
        <p:spPr>
          <a:xfrm>
            <a:off x="3575051" y="273054"/>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Textplatzhalter 3"/>
          <p:cNvSpPr>
            <a:spLocks noGrp="1"/>
          </p:cNvSpPr>
          <p:nvPr>
            <p:ph type="body" sz="half" idx="2"/>
          </p:nvPr>
        </p:nvSpPr>
        <p:spPr>
          <a:xfrm>
            <a:off x="457200" y="1435103"/>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560464882"/>
      </p:ext>
    </p:extLst>
  </p:cSld>
  <p:clrMapOvr>
    <a:masterClrMapping/>
  </p:clrMapOvr>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smtClean="0"/>
              <a:t>Titelmasterformat durch Klicken bearbeiten</a:t>
            </a:r>
            <a:endParaRPr lang="de-AT"/>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de-AT" noProof="0" smtClean="0"/>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144828870"/>
      </p:ext>
    </p:extLst>
  </p:cSld>
  <p:clrMapOvr>
    <a:masterClrMapping/>
  </p:clrMapOvr>
  <p:timing>
    <p:tnLst>
      <p:par>
        <p:cTn id="1" dur="indefinite" restart="never" nodeType="tmRoot"/>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Vertikaler Textplatzhalter 2"/>
          <p:cNvSpPr>
            <a:spLocks noGrp="1"/>
          </p:cNvSpPr>
          <p:nvPr>
            <p:ph type="body" orient="vert" idx="1"/>
          </p:nvPr>
        </p:nvSpPr>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2131937611"/>
      </p:ext>
    </p:extLst>
  </p:cSld>
  <p:clrMapOvr>
    <a:masterClrMapping/>
  </p:clrMapOvr>
  <p:timing>
    <p:tnLst>
      <p:par>
        <p:cTn id="1" dur="indefinite" restart="never" nodeType="tmRoot"/>
      </p:par>
    </p:tn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32575" y="714375"/>
            <a:ext cx="2054225" cy="5411788"/>
          </a:xfrm>
        </p:spPr>
        <p:txBody>
          <a:bodyPr vert="eaVert"/>
          <a:lstStyle/>
          <a:p>
            <a:r>
              <a:rPr lang="de-DE" smtClean="0"/>
              <a:t>Titelmasterformat durch Klicken bearbeiten</a:t>
            </a:r>
            <a:endParaRPr lang="de-AT"/>
          </a:p>
        </p:txBody>
      </p:sp>
      <p:sp>
        <p:nvSpPr>
          <p:cNvPr id="3" name="Vertikaler Textplatzhalter 2"/>
          <p:cNvSpPr>
            <a:spLocks noGrp="1"/>
          </p:cNvSpPr>
          <p:nvPr>
            <p:ph type="body" orient="vert" idx="1"/>
          </p:nvPr>
        </p:nvSpPr>
        <p:spPr>
          <a:xfrm>
            <a:off x="468315" y="714375"/>
            <a:ext cx="6011862" cy="5411788"/>
          </a:xfrm>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3726689706"/>
      </p:ext>
    </p:extLst>
  </p:cSld>
  <p:clrMapOvr>
    <a:masterClrMapping/>
  </p:clrMapOvr>
  <p:timing>
    <p:tnLst>
      <p:par>
        <p:cTn id="1" dur="indefinite" restart="never" nodeType="tmRoot"/>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Inhalt">
    <p:spTree>
      <p:nvGrpSpPr>
        <p:cNvPr id="1" name=""/>
        <p:cNvGrpSpPr/>
        <p:nvPr/>
      </p:nvGrpSpPr>
      <p:grpSpPr>
        <a:xfrm>
          <a:off x="0" y="0"/>
          <a:ext cx="0" cy="0"/>
          <a:chOff x="0" y="0"/>
          <a:chExt cx="0" cy="0"/>
        </a:xfrm>
      </p:grpSpPr>
      <p:sp>
        <p:nvSpPr>
          <p:cNvPr id="2" name="Inhaltsplatzhalter 1"/>
          <p:cNvSpPr>
            <a:spLocks noGrp="1"/>
          </p:cNvSpPr>
          <p:nvPr>
            <p:ph/>
          </p:nvPr>
        </p:nvSpPr>
        <p:spPr>
          <a:xfrm>
            <a:off x="468315" y="714375"/>
            <a:ext cx="8218487" cy="5411788"/>
          </a:xfrm>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5602284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Tabellenplatzhalter 2"/>
          <p:cNvSpPr>
            <a:spLocks noGrp="1"/>
          </p:cNvSpPr>
          <p:nvPr>
            <p:ph type="tbl" idx="1"/>
          </p:nvPr>
        </p:nvSpPr>
        <p:spPr>
          <a:xfrm>
            <a:off x="468315" y="1582738"/>
            <a:ext cx="8218487" cy="4543425"/>
          </a:xfrm>
        </p:spPr>
        <p:txBody>
          <a:bodyPr/>
          <a:lstStyle/>
          <a:p>
            <a:pPr lvl="0"/>
            <a:endParaRPr lang="de-AT" noProof="0" smtClean="0"/>
          </a:p>
        </p:txBody>
      </p:sp>
      <p:sp>
        <p:nvSpPr>
          <p:cNvPr id="4" name="Title 3"/>
          <p:cNvSpPr>
            <a:spLocks noGrp="1"/>
          </p:cNvSpPr>
          <p:nvPr>
            <p:ph type="title"/>
          </p:nvPr>
        </p:nvSpPr>
        <p:spPr/>
        <p:txBody>
          <a:bodyPr/>
          <a:lstStyle/>
          <a:p>
            <a:r>
              <a:rPr lang="en-US" smtClean="0"/>
              <a:t>Click to edit Master title style</a:t>
            </a:r>
            <a:endParaRPr lang="en-IE"/>
          </a:p>
        </p:txBody>
      </p:sp>
    </p:spTree>
    <p:extLst>
      <p:ext uri="{BB962C8B-B14F-4D97-AF65-F5344CB8AC3E}">
        <p14:creationId xmlns:p14="http://schemas.microsoft.com/office/powerpoint/2010/main" val="36589989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4.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image" Target="../media/image3.png"/><Relationship Id="rId2" Type="http://schemas.openxmlformats.org/officeDocument/2006/relationships/slideLayout" Target="../slideLayouts/slideLayout2.xml"/><Relationship Id="rId16" Type="http://schemas.openxmlformats.org/officeDocument/2006/relationships/image" Target="../media/image2.jpe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wmf"/><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0"/>
          <p:cNvSpPr>
            <a:spLocks noChangeShapeType="1"/>
          </p:cNvSpPr>
          <p:nvPr userDrawn="1"/>
        </p:nvSpPr>
        <p:spPr bwMode="auto">
          <a:xfrm>
            <a:off x="0" y="415925"/>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
        <p:nvSpPr>
          <p:cNvPr id="1028" name="Rectangle 22"/>
          <p:cNvSpPr>
            <a:spLocks noGrp="1" noChangeArrowheads="1"/>
          </p:cNvSpPr>
          <p:nvPr>
            <p:ph type="title"/>
          </p:nvPr>
        </p:nvSpPr>
        <p:spPr bwMode="auto">
          <a:xfrm>
            <a:off x="468315" y="714375"/>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endParaRPr lang="de-DE" smtClean="0"/>
          </a:p>
        </p:txBody>
      </p:sp>
      <p:sp>
        <p:nvSpPr>
          <p:cNvPr id="1029" name="Rectangle 23"/>
          <p:cNvSpPr>
            <a:spLocks noGrp="1" noChangeArrowheads="1"/>
          </p:cNvSpPr>
          <p:nvPr>
            <p:ph type="body" idx="1"/>
          </p:nvPr>
        </p:nvSpPr>
        <p:spPr bwMode="auto">
          <a:xfrm>
            <a:off x="468315" y="1582738"/>
            <a:ext cx="8218487" cy="454342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de-AT" smtClean="0"/>
              <a:t>Erste Ebene</a:t>
            </a:r>
          </a:p>
          <a:p>
            <a:pPr lvl="1"/>
            <a:r>
              <a:rPr lang="de-AT" smtClean="0"/>
              <a:t>Zweite Ebene</a:t>
            </a:r>
          </a:p>
          <a:p>
            <a:pPr lvl="2"/>
            <a:r>
              <a:rPr lang="de-AT" smtClean="0"/>
              <a:t>Dritte Ebene</a:t>
            </a:r>
          </a:p>
          <a:p>
            <a:pPr lvl="3"/>
            <a:r>
              <a:rPr lang="de-AT" smtClean="0"/>
              <a:t>Vierte Ebene</a:t>
            </a:r>
          </a:p>
          <a:p>
            <a:pPr lvl="4"/>
            <a:r>
              <a:rPr lang="de-AT" smtClean="0"/>
              <a:t>Fünfte Ebene</a:t>
            </a:r>
          </a:p>
        </p:txBody>
      </p:sp>
      <p:sp>
        <p:nvSpPr>
          <p:cNvPr id="1030" name="Text Box 24"/>
          <p:cNvSpPr txBox="1">
            <a:spLocks noChangeArrowheads="1"/>
          </p:cNvSpPr>
          <p:nvPr userDrawn="1"/>
        </p:nvSpPr>
        <p:spPr bwMode="auto">
          <a:xfrm>
            <a:off x="7996238" y="6599242"/>
            <a:ext cx="925512"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r" eaLnBrk="1" hangingPunct="1">
              <a:spcBef>
                <a:spcPct val="50000"/>
              </a:spcBef>
              <a:defRPr/>
            </a:pPr>
            <a:fld id="{F754889F-290A-4ED1-8905-D84A8ECF4D9C}" type="slidenum">
              <a:rPr lang="de-AT" sz="1000" smtClean="0">
                <a:solidFill>
                  <a:srgbClr val="7D7D7D"/>
                </a:solidFill>
                <a:latin typeface="Verdana" pitchFamily="34" charset="0"/>
              </a:rPr>
              <a:pPr algn="r" eaLnBrk="1" hangingPunct="1">
                <a:spcBef>
                  <a:spcPct val="50000"/>
                </a:spcBef>
                <a:defRPr/>
              </a:pPr>
              <a:t>‹Nr.›</a:t>
            </a:fld>
            <a:endParaRPr lang="de-AT" sz="1000" smtClean="0">
              <a:solidFill>
                <a:srgbClr val="7D7D7D"/>
              </a:solidFill>
              <a:latin typeface="Verdana" pitchFamily="34" charset="0"/>
            </a:endParaRPr>
          </a:p>
        </p:txBody>
      </p:sp>
      <p:sp>
        <p:nvSpPr>
          <p:cNvPr id="1031" name="Rectangle 25"/>
          <p:cNvSpPr>
            <a:spLocks noChangeArrowheads="1"/>
          </p:cNvSpPr>
          <p:nvPr userDrawn="1"/>
        </p:nvSpPr>
        <p:spPr bwMode="auto">
          <a:xfrm>
            <a:off x="0" y="6373813"/>
            <a:ext cx="9144000" cy="215900"/>
          </a:xfrm>
          <a:prstGeom prst="rect">
            <a:avLst/>
          </a:prstGeom>
          <a:solidFill>
            <a:srgbClr val="DDDDDD"/>
          </a:solidFill>
          <a:ln w="63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p>
            <a:pPr algn="l">
              <a:spcBef>
                <a:spcPct val="0"/>
              </a:spcBef>
            </a:pPr>
            <a:endParaRPr lang="en-GB" sz="1200">
              <a:latin typeface="Verdana" pitchFamily="34" charset="0"/>
            </a:endParaRPr>
          </a:p>
        </p:txBody>
      </p:sp>
      <p:pic>
        <p:nvPicPr>
          <p:cNvPr id="1032" name="Picture 26" descr="logo"/>
          <p:cNvPicPr>
            <a:picLocks noChangeAspect="1" noChangeArrowheads="1"/>
          </p:cNvPicPr>
          <p:nvPr userDrawn="1"/>
        </p:nvPicPr>
        <p:blipFill>
          <a:blip r:embed="rId15" cstate="print">
            <a:extLst>
              <a:ext uri="{28A0092B-C50C-407E-A947-70E740481C1C}">
                <a14:useLocalDpi xmlns:a14="http://schemas.microsoft.com/office/drawing/2010/main" val="0"/>
              </a:ext>
            </a:extLst>
          </a:blip>
          <a:srcRect/>
          <a:stretch>
            <a:fillRect/>
          </a:stretch>
        </p:blipFill>
        <p:spPr bwMode="auto">
          <a:xfrm>
            <a:off x="8532442" y="152075"/>
            <a:ext cx="504056" cy="185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33" name="Picture 27" descr="IVT_Logo_klein"/>
          <p:cNvPicPr>
            <a:picLocks noChangeAspect="1" noChangeArrowheads="1"/>
          </p:cNvPicPr>
          <p:nvPr userDrawn="1"/>
        </p:nvPicPr>
        <p:blipFill>
          <a:blip r:embed="rId16" cstate="print">
            <a:extLst>
              <a:ext uri="{28A0092B-C50C-407E-A947-70E740481C1C}">
                <a14:useLocalDpi xmlns:a14="http://schemas.microsoft.com/office/drawing/2010/main" val="0"/>
              </a:ext>
            </a:extLst>
          </a:blip>
          <a:srcRect/>
          <a:stretch>
            <a:fillRect/>
          </a:stretch>
        </p:blipFill>
        <p:spPr bwMode="auto">
          <a:xfrm>
            <a:off x="8100392" y="188640"/>
            <a:ext cx="310830" cy="1493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35" name="Rectangle 29"/>
          <p:cNvSpPr>
            <a:spLocks noChangeAspect="1" noChangeArrowheads="1"/>
          </p:cNvSpPr>
          <p:nvPr userDrawn="1"/>
        </p:nvSpPr>
        <p:spPr bwMode="auto">
          <a:xfrm>
            <a:off x="0" y="6373813"/>
            <a:ext cx="215900" cy="214312"/>
          </a:xfrm>
          <a:prstGeom prst="rect">
            <a:avLst/>
          </a:prstGeom>
          <a:solidFill>
            <a:srgbClr val="F7014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spcBef>
                <a:spcPct val="30000"/>
              </a:spcBef>
            </a:pPr>
            <a:endParaRPr lang="en-GB" sz="2000"/>
          </a:p>
        </p:txBody>
      </p:sp>
      <p:sp>
        <p:nvSpPr>
          <p:cNvPr id="13" name="Text Box 30"/>
          <p:cNvSpPr txBox="1">
            <a:spLocks noChangeArrowheads="1"/>
          </p:cNvSpPr>
          <p:nvPr userDrawn="1"/>
        </p:nvSpPr>
        <p:spPr bwMode="auto">
          <a:xfrm>
            <a:off x="215900" y="6381328"/>
            <a:ext cx="1882924" cy="21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l" eaLnBrk="1" hangingPunct="1">
              <a:spcBef>
                <a:spcPct val="50000"/>
              </a:spcBef>
              <a:defRPr/>
            </a:pPr>
            <a:r>
              <a:rPr lang="en-US" sz="1100" b="0" dirty="0" smtClean="0">
                <a:latin typeface="Verdana" pitchFamily="34" charset="0"/>
              </a:rPr>
              <a:t>VECTO </a:t>
            </a:r>
            <a:r>
              <a:rPr lang="en-US" sz="1100" b="0" baseline="0" dirty="0" smtClean="0">
                <a:latin typeface="Verdana" pitchFamily="34" charset="0"/>
              </a:rPr>
              <a:t>Release Notes</a:t>
            </a:r>
            <a:endParaRPr lang="en-GB" sz="1100" b="0" dirty="0" smtClean="0">
              <a:latin typeface="Verdana" pitchFamily="34" charset="0"/>
            </a:endParaRPr>
          </a:p>
        </p:txBody>
      </p:sp>
      <p:pic>
        <p:nvPicPr>
          <p:cNvPr id="2" name="Picture 2" descr="I:\raphaelluz\VECTO\source\VECTO\User Manual\pics\JRC.png"/>
          <p:cNvPicPr>
            <a:picLocks noChangeAspect="1" noChangeArrowheads="1"/>
          </p:cNvPicPr>
          <p:nvPr userDrawn="1"/>
        </p:nvPicPr>
        <p:blipFill>
          <a:blip r:embed="rId17">
            <a:extLst>
              <a:ext uri="{28A0092B-C50C-407E-A947-70E740481C1C}">
                <a14:useLocalDpi xmlns:a14="http://schemas.microsoft.com/office/drawing/2010/main" val="0"/>
              </a:ext>
            </a:extLst>
          </a:blip>
          <a:srcRect/>
          <a:stretch>
            <a:fillRect/>
          </a:stretch>
        </p:blipFill>
        <p:spPr bwMode="auto">
          <a:xfrm>
            <a:off x="6588224" y="44624"/>
            <a:ext cx="1367520" cy="284378"/>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3" descr="I:\raphaelluz\VECTO\source\VECTO\User Manual\pics\VECTO-small.PNG"/>
          <p:cNvPicPr>
            <a:picLocks noChangeAspect="1" noChangeArrowheads="1"/>
          </p:cNvPicPr>
          <p:nvPr userDrawn="1"/>
        </p:nvPicPr>
        <p:blipFill>
          <a:blip r:embed="rId18">
            <a:extLst>
              <a:ext uri="{28A0092B-C50C-407E-A947-70E740481C1C}">
                <a14:useLocalDpi xmlns:a14="http://schemas.microsoft.com/office/drawing/2010/main" val="0"/>
              </a:ext>
            </a:extLst>
          </a:blip>
          <a:srcRect/>
          <a:stretch>
            <a:fillRect/>
          </a:stretch>
        </p:blipFill>
        <p:spPr bwMode="auto">
          <a:xfrm>
            <a:off x="107504" y="58588"/>
            <a:ext cx="978351" cy="332270"/>
          </a:xfrm>
          <a:prstGeom prst="rect">
            <a:avLst/>
          </a:prstGeom>
          <a:noFill/>
          <a:extLst>
            <a:ext uri="{909E8E84-426E-40DD-AFC4-6F175D3DCCD1}">
              <a14:hiddenFill xmlns:a14="http://schemas.microsoft.com/office/drawing/2010/main">
                <a:solidFill>
                  <a:srgbClr val="FFFFFF"/>
                </a:solidFill>
              </a14:hiddenFill>
            </a:ext>
          </a:extLst>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iming>
    <p:tnLst>
      <p:par>
        <p:cTn id="1" dur="indefinite" restart="never" nodeType="tmRoot"/>
      </p:par>
    </p:tnLst>
  </p:timing>
  <p:txStyles>
    <p:title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p:titleStyle>
    <p:body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ext Box 94"/>
          <p:cNvSpPr txBox="1">
            <a:spLocks noChangeArrowheads="1"/>
          </p:cNvSpPr>
          <p:nvPr/>
        </p:nvSpPr>
        <p:spPr bwMode="auto">
          <a:xfrm>
            <a:off x="539554" y="1052736"/>
            <a:ext cx="8136259" cy="41857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sz="1600" b="1">
                <a:solidFill>
                  <a:schemeClr val="tx1"/>
                </a:solidFill>
                <a:latin typeface="Arial" charset="0"/>
              </a:defRPr>
            </a:lvl1pPr>
            <a:lvl2pPr marL="742950" indent="-285750" eaLnBrk="0" hangingPunct="0">
              <a:defRPr sz="1600" b="1">
                <a:solidFill>
                  <a:schemeClr val="tx1"/>
                </a:solidFill>
                <a:latin typeface="Arial" charset="0"/>
              </a:defRPr>
            </a:lvl2pPr>
            <a:lvl3pPr marL="1143000" indent="-228600" eaLnBrk="0" hangingPunct="0">
              <a:defRPr sz="1600" b="1">
                <a:solidFill>
                  <a:schemeClr val="tx1"/>
                </a:solidFill>
                <a:latin typeface="Arial" charset="0"/>
              </a:defRPr>
            </a:lvl3pPr>
            <a:lvl4pPr marL="1600200" indent="-228600" eaLnBrk="0" hangingPunct="0">
              <a:defRPr sz="1600" b="1">
                <a:solidFill>
                  <a:schemeClr val="tx1"/>
                </a:solidFill>
                <a:latin typeface="Arial" charset="0"/>
              </a:defRPr>
            </a:lvl4pPr>
            <a:lvl5pPr marL="2057400" indent="-228600" eaLnBrk="0" hangingPunct="0">
              <a:defRPr sz="1600" b="1">
                <a:solidFill>
                  <a:schemeClr val="tx1"/>
                </a:solidFill>
                <a:latin typeface="Arial" charset="0"/>
              </a:defRPr>
            </a:lvl5pPr>
            <a:lvl6pPr marL="2514600" indent="-228600" algn="ctr" eaLnBrk="0" fontAlgn="base" hangingPunct="0">
              <a:spcBef>
                <a:spcPct val="50000"/>
              </a:spcBef>
              <a:spcAft>
                <a:spcPct val="0"/>
              </a:spcAft>
              <a:defRPr sz="1600" b="1">
                <a:solidFill>
                  <a:schemeClr val="tx1"/>
                </a:solidFill>
                <a:latin typeface="Arial" charset="0"/>
              </a:defRPr>
            </a:lvl6pPr>
            <a:lvl7pPr marL="2971800" indent="-228600" algn="ctr" eaLnBrk="0" fontAlgn="base" hangingPunct="0">
              <a:spcBef>
                <a:spcPct val="50000"/>
              </a:spcBef>
              <a:spcAft>
                <a:spcPct val="0"/>
              </a:spcAft>
              <a:defRPr sz="1600" b="1">
                <a:solidFill>
                  <a:schemeClr val="tx1"/>
                </a:solidFill>
                <a:latin typeface="Arial" charset="0"/>
              </a:defRPr>
            </a:lvl7pPr>
            <a:lvl8pPr marL="3429000" indent="-228600" algn="ctr" eaLnBrk="0" fontAlgn="base" hangingPunct="0">
              <a:spcBef>
                <a:spcPct val="50000"/>
              </a:spcBef>
              <a:spcAft>
                <a:spcPct val="0"/>
              </a:spcAft>
              <a:defRPr sz="1600" b="1">
                <a:solidFill>
                  <a:schemeClr val="tx1"/>
                </a:solidFill>
                <a:latin typeface="Arial" charset="0"/>
              </a:defRPr>
            </a:lvl8pPr>
            <a:lvl9pPr marL="3886200" indent="-228600" algn="ctr" eaLnBrk="0" fontAlgn="base" hangingPunct="0">
              <a:spcBef>
                <a:spcPct val="50000"/>
              </a:spcBef>
              <a:spcAft>
                <a:spcPct val="0"/>
              </a:spcAft>
              <a:defRPr sz="1600" b="1">
                <a:solidFill>
                  <a:schemeClr val="tx1"/>
                </a:solidFill>
                <a:latin typeface="Arial" charset="0"/>
              </a:defRPr>
            </a:lvl9pPr>
          </a:lstStyle>
          <a:p>
            <a:pPr eaLnBrk="1" hangingPunct="1"/>
            <a:r>
              <a:rPr lang="en-US" sz="3200" dirty="0" smtClean="0">
                <a:solidFill>
                  <a:srgbClr val="990000"/>
                </a:solidFill>
              </a:rPr>
              <a:t>VECTO 3.x</a:t>
            </a:r>
            <a:endParaRPr lang="en-US" sz="3200" dirty="0">
              <a:solidFill>
                <a:srgbClr val="990000"/>
              </a:solidFill>
            </a:endParaRPr>
          </a:p>
          <a:p>
            <a:pPr eaLnBrk="1" hangingPunct="1"/>
            <a:r>
              <a:rPr lang="en-US" sz="2000" dirty="0" smtClean="0">
                <a:solidFill>
                  <a:srgbClr val="990000"/>
                </a:solidFill>
              </a:rPr>
              <a:t>14</a:t>
            </a:r>
            <a:r>
              <a:rPr lang="en-US" sz="2000" dirty="0" smtClean="0">
                <a:solidFill>
                  <a:srgbClr val="990000"/>
                </a:solidFill>
              </a:rPr>
              <a:t>.12.2017</a:t>
            </a:r>
            <a:endParaRPr lang="en-US" sz="2000" dirty="0" smtClean="0">
              <a:solidFill>
                <a:srgbClr val="990000"/>
              </a:solidFill>
            </a:endParaRPr>
          </a:p>
          <a:p>
            <a:pPr eaLnBrk="1" hangingPunct="1"/>
            <a:endParaRPr lang="en-US" sz="2000" dirty="0" smtClean="0">
              <a:solidFill>
                <a:srgbClr val="990000"/>
              </a:solidFill>
            </a:endParaRPr>
          </a:p>
          <a:p>
            <a:pPr eaLnBrk="1" hangingPunct="1"/>
            <a:endParaRPr lang="en-US" sz="2000" dirty="0">
              <a:solidFill>
                <a:srgbClr val="99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r>
              <a:rPr lang="en-US" sz="2400" dirty="0" smtClean="0">
                <a:solidFill>
                  <a:srgbClr val="990000"/>
                </a:solidFill>
              </a:rPr>
              <a:t>Release Notes</a:t>
            </a:r>
            <a:endParaRPr lang="en-US" sz="2400" dirty="0">
              <a:solidFill>
                <a:srgbClr val="990000"/>
              </a:solidFill>
            </a:endParaRP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3770" y="2420888"/>
            <a:ext cx="4176464" cy="1627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13846172"/>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3.2.2.1078</a:t>
            </a:r>
            <a:r>
              <a:rPr lang="en-US" dirty="0"/>
              <a:t/>
            </a:r>
            <a:br>
              <a:rPr lang="en-US" dirty="0"/>
            </a:br>
            <a:r>
              <a:rPr lang="en-US" sz="1600" dirty="0" smtClean="0"/>
              <a:t>2017-12-14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600" b="1" dirty="0" smtClean="0"/>
              <a:t>Improvement</a:t>
            </a:r>
          </a:p>
          <a:p>
            <a:pPr lvl="1">
              <a:tabLst>
                <a:tab pos="1885950" algn="l"/>
              </a:tabLst>
            </a:pPr>
            <a:r>
              <a:rPr lang="en-US" sz="1400" dirty="0">
                <a:ea typeface="+mn-ea"/>
                <a:cs typeface="+mn-cs"/>
              </a:rPr>
              <a:t>[</a:t>
            </a:r>
            <a:r>
              <a:rPr lang="en-US" sz="1400" dirty="0">
                <a:ea typeface="+mn-ea"/>
                <a:cs typeface="+mn-cs"/>
              </a:rPr>
              <a:t>VECTO-618] - Add Hash value of </a:t>
            </a:r>
            <a:r>
              <a:rPr lang="en-US" sz="1400" dirty="0" err="1">
                <a:ea typeface="+mn-ea"/>
                <a:cs typeface="+mn-cs"/>
              </a:rPr>
              <a:t>tyres</a:t>
            </a:r>
            <a:r>
              <a:rPr lang="en-US" sz="1400" dirty="0">
                <a:ea typeface="+mn-ea"/>
                <a:cs typeface="+mn-cs"/>
              </a:rPr>
              <a:t> to manufacturer's record </a:t>
            </a:r>
            <a:r>
              <a:rPr lang="en-US" sz="1400" dirty="0">
                <a:ea typeface="+mn-ea"/>
                <a:cs typeface="+mn-cs"/>
              </a:rPr>
              <a:t>file</a:t>
            </a:r>
          </a:p>
          <a:p>
            <a:pPr lvl="1">
              <a:tabLst>
                <a:tab pos="1885950" algn="l"/>
              </a:tabLst>
            </a:pPr>
            <a:r>
              <a:rPr lang="en-US" sz="1400" dirty="0">
                <a:ea typeface="+mn-ea"/>
                <a:cs typeface="+mn-cs"/>
              </a:rPr>
              <a:t>[VECTO-590</a:t>
            </a:r>
            <a:r>
              <a:rPr lang="en-US" sz="1400" dirty="0">
                <a:ea typeface="+mn-ea"/>
                <a:cs typeface="+mn-cs"/>
              </a:rPr>
              <a:t>] - Handling of hash values: customer's record contains hash of manufacturer's </a:t>
            </a:r>
            <a:r>
              <a:rPr lang="en-US" sz="1400" dirty="0">
                <a:ea typeface="+mn-ea"/>
                <a:cs typeface="+mn-cs"/>
              </a:rPr>
              <a:t>record</a:t>
            </a:r>
          </a:p>
          <a:p>
            <a:pPr lvl="1">
              <a:tabLst>
                <a:tab pos="1885950" algn="l"/>
              </a:tabLst>
            </a:pPr>
            <a:r>
              <a:rPr lang="en-US" sz="1400" dirty="0">
                <a:ea typeface="+mn-ea"/>
                <a:cs typeface="+mn-cs"/>
              </a:rPr>
              <a:t>[VECTO-612</a:t>
            </a:r>
            <a:r>
              <a:rPr lang="en-US" sz="1400" dirty="0">
                <a:ea typeface="+mn-ea"/>
                <a:cs typeface="+mn-cs"/>
              </a:rPr>
              <a:t>] - Continuously changing hashes: Info in GUI of </a:t>
            </a:r>
            <a:r>
              <a:rPr lang="en-US" sz="1400" dirty="0" err="1">
                <a:ea typeface="+mn-ea"/>
                <a:cs typeface="+mn-cs"/>
              </a:rPr>
              <a:t>HashingTool</a:t>
            </a:r>
            <a:endParaRPr lang="en-US" sz="1400" dirty="0">
              <a:ea typeface="+mn-ea"/>
              <a:cs typeface="+mn-cs"/>
            </a:endParaRPr>
          </a:p>
          <a:p>
            <a:pPr lvl="1">
              <a:tabLst>
                <a:tab pos="1885950" algn="l"/>
              </a:tabLst>
            </a:pPr>
            <a:r>
              <a:rPr lang="en-US" sz="1400" dirty="0" smtClean="0">
                <a:ea typeface="+mn-ea"/>
                <a:cs typeface="+mn-cs"/>
              </a:rPr>
              <a:t>[</a:t>
            </a:r>
            <a:r>
              <a:rPr lang="en-US" sz="1400" dirty="0">
                <a:ea typeface="+mn-ea"/>
                <a:cs typeface="+mn-cs"/>
              </a:rPr>
              <a:t>VECTO-560] - Change Mail-Address of general VECTO </a:t>
            </a:r>
            <a:r>
              <a:rPr lang="en-US" sz="1400" dirty="0">
                <a:ea typeface="+mn-ea"/>
                <a:cs typeface="+mn-cs"/>
              </a:rPr>
              <a:t>contact</a:t>
            </a:r>
          </a:p>
          <a:p>
            <a:pPr lvl="1">
              <a:tabLst>
                <a:tab pos="1885950" algn="l"/>
              </a:tabLst>
            </a:pPr>
            <a:r>
              <a:rPr lang="en-US" sz="1400" dirty="0" smtClean="0">
                <a:ea typeface="+mn-ea"/>
                <a:cs typeface="+mn-cs"/>
              </a:rPr>
              <a:t>[</a:t>
            </a:r>
            <a:r>
              <a:rPr lang="en-US" sz="1400" dirty="0">
                <a:ea typeface="+mn-ea"/>
                <a:cs typeface="+mn-cs"/>
              </a:rPr>
              <a:t>VECTO-616] - SI-Unit - display derived unit instead of base </a:t>
            </a:r>
            <a:r>
              <a:rPr lang="en-US" sz="1400" dirty="0">
                <a:ea typeface="+mn-ea"/>
                <a:cs typeface="+mn-cs"/>
              </a:rPr>
              <a:t>units</a:t>
            </a:r>
          </a:p>
          <a:p>
            <a:pPr>
              <a:tabLst>
                <a:tab pos="1885950" algn="l"/>
              </a:tabLst>
            </a:pPr>
            <a:r>
              <a:rPr lang="en-US" sz="1800" b="1" dirty="0" err="1" smtClean="0"/>
              <a:t>Bugfixes</a:t>
            </a:r>
            <a:endParaRPr lang="en-US" sz="1800" b="1" dirty="0" smtClean="0"/>
          </a:p>
          <a:p>
            <a:pPr lvl="1">
              <a:tabLst>
                <a:tab pos="1885950" algn="l"/>
              </a:tabLst>
            </a:pPr>
            <a:r>
              <a:rPr lang="en-US" sz="1400" dirty="0">
                <a:ea typeface="+mn-ea"/>
                <a:cs typeface="+mn-cs"/>
              </a:rPr>
              <a:t>[</a:t>
            </a:r>
            <a:r>
              <a:rPr lang="en-US" sz="1400" dirty="0">
                <a:ea typeface="+mn-ea"/>
                <a:cs typeface="+mn-cs"/>
              </a:rPr>
              <a:t>VECTO-608] - Power balance in EPT-mode not </a:t>
            </a:r>
            <a:r>
              <a:rPr lang="en-US" sz="1400" dirty="0">
                <a:ea typeface="+mn-ea"/>
                <a:cs typeface="+mn-cs"/>
              </a:rPr>
              <a:t>closed</a:t>
            </a:r>
          </a:p>
          <a:p>
            <a:pPr lvl="1">
              <a:tabLst>
                <a:tab pos="1885950" algn="l"/>
              </a:tabLst>
            </a:pPr>
            <a:r>
              <a:rPr lang="en-US" sz="1400" dirty="0">
                <a:ea typeface="+mn-ea"/>
                <a:cs typeface="+mn-cs"/>
              </a:rPr>
              <a:t> [</a:t>
            </a:r>
            <a:r>
              <a:rPr lang="en-US" sz="1400" dirty="0">
                <a:ea typeface="+mn-ea"/>
                <a:cs typeface="+mn-cs"/>
              </a:rPr>
              <a:t>VECTO-611] - Invalid input. Cannot cast </a:t>
            </a:r>
            <a:r>
              <a:rPr lang="en-US" sz="1400" dirty="0" err="1">
                <a:ea typeface="+mn-ea"/>
                <a:cs typeface="+mn-cs"/>
              </a:rPr>
              <a:t>Newtonsoft.Json.Linq.JObject</a:t>
            </a:r>
            <a:r>
              <a:rPr lang="en-US" sz="1400" dirty="0">
                <a:ea typeface="+mn-ea"/>
                <a:cs typeface="+mn-cs"/>
              </a:rPr>
              <a:t> to </a:t>
            </a:r>
            <a:r>
              <a:rPr lang="en-US" sz="1400" dirty="0" err="1">
                <a:ea typeface="+mn-ea"/>
                <a:cs typeface="+mn-cs"/>
              </a:rPr>
              <a:t>Newtonsoft.Json.Linq.Jtoken</a:t>
            </a:r>
            <a:endParaRPr lang="en-US" sz="1400" dirty="0">
              <a:ea typeface="+mn-ea"/>
              <a:cs typeface="+mn-cs"/>
            </a:endParaRPr>
          </a:p>
          <a:p>
            <a:pPr lvl="1">
              <a:tabLst>
                <a:tab pos="1885950" algn="l"/>
              </a:tabLst>
            </a:pPr>
            <a:r>
              <a:rPr lang="en-US" sz="1400" dirty="0" smtClean="0">
                <a:ea typeface="+mn-ea"/>
                <a:cs typeface="+mn-cs"/>
              </a:rPr>
              <a:t>[</a:t>
            </a:r>
            <a:r>
              <a:rPr lang="en-US" sz="1400" dirty="0">
                <a:ea typeface="+mn-ea"/>
                <a:cs typeface="+mn-cs"/>
              </a:rPr>
              <a:t>VECTO-610] - </a:t>
            </a:r>
            <a:r>
              <a:rPr lang="en-US" sz="1400" dirty="0" err="1">
                <a:ea typeface="+mn-ea"/>
                <a:cs typeface="+mn-cs"/>
              </a:rPr>
              <a:t>TyreCertificationNumber</a:t>
            </a:r>
            <a:r>
              <a:rPr lang="en-US" sz="1400" dirty="0">
                <a:ea typeface="+mn-ea"/>
                <a:cs typeface="+mn-cs"/>
              </a:rPr>
              <a:t> missing in Manufacturer </a:t>
            </a:r>
            <a:r>
              <a:rPr lang="en-US" sz="1400" dirty="0">
                <a:ea typeface="+mn-ea"/>
                <a:cs typeface="+mn-cs"/>
              </a:rPr>
              <a:t>Report</a:t>
            </a:r>
          </a:p>
          <a:p>
            <a:pPr lvl="1">
              <a:tabLst>
                <a:tab pos="1885950" algn="l"/>
              </a:tabLst>
            </a:pPr>
            <a:r>
              <a:rPr lang="en-US" sz="1400" dirty="0" smtClean="0">
                <a:ea typeface="+mn-ea"/>
                <a:cs typeface="+mn-cs"/>
              </a:rPr>
              <a:t>[</a:t>
            </a:r>
            <a:r>
              <a:rPr lang="en-US" sz="1400" dirty="0">
                <a:ea typeface="+mn-ea"/>
                <a:cs typeface="+mn-cs"/>
              </a:rPr>
              <a:t>VECTO-613] - Incomplete description of allowed values of </a:t>
            </a:r>
            <a:r>
              <a:rPr lang="en-US" sz="1400" dirty="0" err="1">
                <a:ea typeface="+mn-ea"/>
                <a:cs typeface="+mn-cs"/>
              </a:rPr>
              <a:t>LegislativeClass</a:t>
            </a:r>
            <a:r>
              <a:rPr lang="en-US" sz="1400" dirty="0">
                <a:ea typeface="+mn-ea"/>
                <a:cs typeface="+mn-cs"/>
              </a:rPr>
              <a:t> (p251) in VECTO parameter </a:t>
            </a:r>
            <a:r>
              <a:rPr lang="en-US" sz="1400" dirty="0">
                <a:ea typeface="+mn-ea"/>
                <a:cs typeface="+mn-cs"/>
              </a:rPr>
              <a:t>documentation</a:t>
            </a:r>
          </a:p>
          <a:p>
            <a:pPr>
              <a:tabLst>
                <a:tab pos="1885950" algn="l"/>
              </a:tabLst>
            </a:pPr>
            <a:r>
              <a:rPr lang="en-US" sz="1800" b="1" dirty="0" smtClean="0"/>
              <a:t>Support</a:t>
            </a:r>
          </a:p>
          <a:p>
            <a:pPr lvl="1">
              <a:tabLst>
                <a:tab pos="1885950" algn="l"/>
              </a:tabLst>
            </a:pPr>
            <a:r>
              <a:rPr lang="en-US" sz="1600" b="1" dirty="0" smtClean="0"/>
              <a:t> </a:t>
            </a:r>
            <a:r>
              <a:rPr lang="en-US" sz="1400" dirty="0">
                <a:ea typeface="+mn-ea"/>
                <a:cs typeface="+mn-cs"/>
              </a:rPr>
              <a:t>[</a:t>
            </a:r>
            <a:r>
              <a:rPr lang="en-US" sz="1400" dirty="0">
                <a:ea typeface="+mn-ea"/>
                <a:cs typeface="+mn-cs"/>
              </a:rPr>
              <a:t>VECTO-615] - Error torque interpolation in declaration jobs exported to </a:t>
            </a:r>
            <a:r>
              <a:rPr lang="en-US" sz="1400" dirty="0" err="1" smtClean="0">
                <a:ea typeface="+mn-ea"/>
                <a:cs typeface="+mn-cs"/>
              </a:rPr>
              <a:t>XMLImprovements</a:t>
            </a:r>
            <a:endParaRPr lang="en-US" sz="1400" dirty="0">
              <a:ea typeface="+mn-ea"/>
              <a:cs typeface="+mn-cs"/>
            </a:endParaRPr>
          </a:p>
        </p:txBody>
      </p:sp>
    </p:spTree>
    <p:extLst>
      <p:ext uri="{BB962C8B-B14F-4D97-AF65-F5344CB8AC3E}">
        <p14:creationId xmlns:p14="http://schemas.microsoft.com/office/powerpoint/2010/main" val="3431959675"/>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3.2.1.1054</a:t>
            </a:r>
            <a:r>
              <a:rPr lang="en-US" dirty="0"/>
              <a:t/>
            </a:r>
            <a:br>
              <a:rPr lang="en-US" dirty="0"/>
            </a:br>
            <a:r>
              <a:rPr lang="en-US" sz="1600" dirty="0" smtClean="0"/>
              <a:t>2017-11-20</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1600" b="1" dirty="0" smtClean="0"/>
              <a:t>Improvements</a:t>
            </a:r>
            <a:endParaRPr lang="en-US" sz="1600" b="1" dirty="0"/>
          </a:p>
          <a:p>
            <a:pPr>
              <a:tabLst>
                <a:tab pos="1885950" algn="l"/>
              </a:tabLst>
            </a:pPr>
            <a:r>
              <a:rPr lang="en-US" sz="1400" dirty="0" smtClean="0"/>
              <a:t>[</a:t>
            </a:r>
            <a:r>
              <a:rPr lang="en-US" sz="1400" dirty="0"/>
              <a:t>VECTO-592] - V</a:t>
            </a:r>
            <a:r>
              <a:rPr lang="en-US" sz="1400" dirty="0" smtClean="0"/>
              <a:t>TP </a:t>
            </a:r>
            <a:r>
              <a:rPr lang="en-US" sz="1400" dirty="0"/>
              <a:t>Simulation Mode</a:t>
            </a:r>
          </a:p>
          <a:p>
            <a:pPr>
              <a:tabLst>
                <a:tab pos="1885950" algn="l"/>
              </a:tabLst>
            </a:pPr>
            <a:r>
              <a:rPr lang="en-US" sz="1400" dirty="0" smtClean="0"/>
              <a:t>[</a:t>
            </a:r>
            <a:r>
              <a:rPr lang="en-US" sz="1400" dirty="0"/>
              <a:t>VECTO-605] - Improve simulation </a:t>
            </a:r>
            <a:r>
              <a:rPr lang="en-US" sz="1400" dirty="0" smtClean="0"/>
              <a:t>speed</a:t>
            </a:r>
          </a:p>
          <a:p>
            <a:pPr marL="0" indent="0">
              <a:buNone/>
              <a:tabLst>
                <a:tab pos="1885950" algn="l"/>
              </a:tabLst>
            </a:pPr>
            <a:endParaRPr lang="en-US" sz="1400" dirty="0" smtClean="0"/>
          </a:p>
          <a:p>
            <a:pPr marL="0" indent="0">
              <a:buNone/>
              <a:tabLst>
                <a:tab pos="1885950" algn="l"/>
              </a:tabLst>
            </a:pPr>
            <a:r>
              <a:rPr lang="en-US" sz="1600" b="1" dirty="0" err="1"/>
              <a:t>Bugfixes</a:t>
            </a:r>
            <a:endParaRPr lang="en-US" sz="1600" b="1" dirty="0"/>
          </a:p>
          <a:p>
            <a:pPr>
              <a:tabLst>
                <a:tab pos="1885950" algn="l"/>
              </a:tabLst>
            </a:pPr>
            <a:r>
              <a:rPr lang="en-US" sz="1400" dirty="0" smtClean="0"/>
              <a:t>[</a:t>
            </a:r>
            <a:r>
              <a:rPr lang="en-US" sz="1400" dirty="0"/>
              <a:t>VECTO-602] - Error in simulation without </a:t>
            </a:r>
            <a:r>
              <a:rPr lang="en-US" sz="1400" dirty="0" err="1"/>
              <a:t>airdrag</a:t>
            </a:r>
            <a:r>
              <a:rPr lang="en-US" sz="1400" dirty="0"/>
              <a:t> component</a:t>
            </a:r>
          </a:p>
          <a:p>
            <a:pPr>
              <a:tabLst>
                <a:tab pos="1885950" algn="l"/>
              </a:tabLst>
            </a:pPr>
            <a:r>
              <a:rPr lang="en-US" sz="1400" dirty="0" smtClean="0"/>
              <a:t>[</a:t>
            </a:r>
            <a:r>
              <a:rPr lang="en-US" sz="1400" dirty="0"/>
              <a:t>VECTO-589] - Scheme .xml error</a:t>
            </a:r>
          </a:p>
        </p:txBody>
      </p:sp>
    </p:spTree>
    <p:extLst>
      <p:ext uri="{BB962C8B-B14F-4D97-AF65-F5344CB8AC3E}">
        <p14:creationId xmlns:p14="http://schemas.microsoft.com/office/powerpoint/2010/main" val="3777049187"/>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3"/>
            <a:ext cx="8218487" cy="576064"/>
          </a:xfrm>
        </p:spPr>
        <p:txBody>
          <a:bodyPr/>
          <a:lstStyle/>
          <a:p>
            <a:r>
              <a:rPr lang="en-US" dirty="0" smtClean="0"/>
              <a:t>VTP Simulation Mode</a:t>
            </a:r>
            <a:endParaRPr lang="de-AT" dirty="0"/>
          </a:p>
        </p:txBody>
      </p:sp>
      <p:sp>
        <p:nvSpPr>
          <p:cNvPr id="3" name="Inhaltsplatzhalter 2"/>
          <p:cNvSpPr>
            <a:spLocks noGrp="1"/>
          </p:cNvSpPr>
          <p:nvPr>
            <p:ph idx="1"/>
          </p:nvPr>
        </p:nvSpPr>
        <p:spPr>
          <a:xfrm>
            <a:off x="468315" y="1196752"/>
            <a:ext cx="8218487" cy="5112568"/>
          </a:xfrm>
        </p:spPr>
        <p:txBody>
          <a:bodyPr/>
          <a:lstStyle/>
          <a:p>
            <a:r>
              <a:rPr lang="en-US" sz="1800" dirty="0" smtClean="0"/>
              <a:t>Verification Test Procedure (VTP) Simulation Mode</a:t>
            </a:r>
          </a:p>
          <a:p>
            <a:pPr lvl="1"/>
            <a:r>
              <a:rPr lang="en-US" sz="1600" dirty="0" smtClean="0"/>
              <a:t>Similar to </a:t>
            </a:r>
            <a:r>
              <a:rPr lang="en-US" sz="1600" dirty="0" err="1" smtClean="0"/>
              <a:t>Pwheel</a:t>
            </a:r>
            <a:r>
              <a:rPr lang="en-US" sz="1600" dirty="0" smtClean="0"/>
              <a:t> mode, different cycle format (see user manual)</a:t>
            </a:r>
          </a:p>
          <a:p>
            <a:pPr lvl="1"/>
            <a:r>
              <a:rPr lang="en-US" sz="1600" dirty="0" smtClean="0"/>
              <a:t>Requires:</a:t>
            </a:r>
          </a:p>
          <a:p>
            <a:pPr lvl="2"/>
            <a:r>
              <a:rPr lang="en-US" sz="1200" dirty="0" smtClean="0"/>
              <a:t>Vehicle in declaration mode (XML)</a:t>
            </a:r>
          </a:p>
          <a:p>
            <a:pPr lvl="2"/>
            <a:r>
              <a:rPr lang="en-US" sz="1200" dirty="0" smtClean="0"/>
              <a:t>Measured driving cycle</a:t>
            </a:r>
          </a:p>
          <a:p>
            <a:pPr lvl="2"/>
            <a:r>
              <a:rPr lang="en-US" sz="1200" dirty="0" smtClean="0"/>
              <a:t>Parameters for engine-fan model</a:t>
            </a:r>
          </a:p>
          <a:p>
            <a:pPr lvl="1"/>
            <a:r>
              <a:rPr lang="en-US" sz="1600" dirty="0" smtClean="0"/>
              <a:t>VECTO calculates the gear based on the wheel speed and engine speed (and vehicle parameters) and ignores the gear provided in the driving cycle</a:t>
            </a:r>
          </a:p>
          <a:p>
            <a:pPr lvl="1"/>
            <a:r>
              <a:rPr lang="en-US" sz="1600" dirty="0" smtClean="0"/>
              <a:t>Fuel consumption interpolation is done using the engine speed from the cycle and calculated power demand (to avoid wrong engine speeds due to wrong gear selection)</a:t>
            </a:r>
          </a:p>
          <a:p>
            <a:pPr lvl="1"/>
            <a:r>
              <a:rPr lang="en-US" sz="1600" dirty="0" smtClean="0"/>
              <a:t>Simulation uses all auxiliaries except engine fan</a:t>
            </a:r>
          </a:p>
          <a:p>
            <a:pPr lvl="2"/>
            <a:r>
              <a:rPr lang="en-US" sz="1200" dirty="0" smtClean="0"/>
              <a:t>Engine fan is modeled separately, power demand depends on fan speed (see user manual)</a:t>
            </a:r>
          </a:p>
          <a:p>
            <a:pPr lvl="1"/>
            <a:r>
              <a:rPr lang="en-US" sz="1600" dirty="0" smtClean="0"/>
              <a:t>Auxiliary power selected according to segment table, BUT power demand depends on vehicle speed</a:t>
            </a:r>
          </a:p>
          <a:p>
            <a:pPr lvl="2"/>
            <a:r>
              <a:rPr lang="en-US" sz="1200" dirty="0" smtClean="0"/>
              <a:t>v &lt; 50 km/h: Urban</a:t>
            </a:r>
          </a:p>
          <a:p>
            <a:pPr lvl="2"/>
            <a:r>
              <a:rPr lang="en-US" sz="1200" dirty="0" smtClean="0"/>
              <a:t>50 &lt;= v &lt; 70 km/h: Rural</a:t>
            </a:r>
          </a:p>
          <a:p>
            <a:pPr lvl="2"/>
            <a:r>
              <a:rPr lang="en-US" sz="1200" dirty="0" smtClean="0"/>
              <a:t>v &gt;70 km/h: Long haul</a:t>
            </a:r>
          </a:p>
          <a:p>
            <a:pPr lvl="1"/>
            <a:r>
              <a:rPr lang="en-US" sz="1600" dirty="0" smtClean="0"/>
              <a:t>Gear and fuel consumption in the driving cycle are optional for now, may be used in future versions</a:t>
            </a:r>
            <a:endParaRPr lang="de-AT" sz="1600" dirty="0"/>
          </a:p>
        </p:txBody>
      </p:sp>
    </p:spTree>
    <p:extLst>
      <p:ext uri="{BB962C8B-B14F-4D97-AF65-F5344CB8AC3E}">
        <p14:creationId xmlns:p14="http://schemas.microsoft.com/office/powerpoint/2010/main" val="402578459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3.2.0.1022</a:t>
            </a:r>
            <a:r>
              <a:rPr lang="en-US" dirty="0"/>
              <a:t/>
            </a:r>
            <a:br>
              <a:rPr lang="en-US" dirty="0"/>
            </a:br>
            <a:r>
              <a:rPr lang="en-US" sz="1600" dirty="0" smtClean="0"/>
              <a:t>2017-10-19</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smtClean="0"/>
              <a:t>Bugfixes</a:t>
            </a:r>
            <a:endParaRPr lang="en-US" sz="1600" b="1" dirty="0" smtClean="0"/>
          </a:p>
          <a:p>
            <a:pPr>
              <a:tabLst>
                <a:tab pos="1885950" algn="l"/>
              </a:tabLst>
            </a:pPr>
            <a:r>
              <a:rPr lang="en-US" sz="1400" dirty="0" smtClean="0"/>
              <a:t>[VECTO-585, VECTO-587] – VECTO Simulation aborts when run as WCF Service</a:t>
            </a:r>
            <a:endParaRPr lang="en-US" sz="1400" dirty="0"/>
          </a:p>
          <a:p>
            <a:pPr>
              <a:tabLst>
                <a:tab pos="1885950" algn="l"/>
              </a:tabLst>
            </a:pPr>
            <a:r>
              <a:rPr lang="en-US" sz="1400" dirty="0" smtClean="0"/>
              <a:t>[VECTO-586] – </a:t>
            </a:r>
            <a:r>
              <a:rPr lang="en-US" sz="1400" dirty="0" err="1" smtClean="0"/>
              <a:t>Gearshiftcout</a:t>
            </a:r>
            <a:r>
              <a:rPr lang="en-US" sz="1400" dirty="0" smtClean="0"/>
              <a:t> in reports too high</a:t>
            </a:r>
            <a:endParaRPr lang="en-US" sz="1400" dirty="0"/>
          </a:p>
          <a:p>
            <a:pPr>
              <a:tabLst>
                <a:tab pos="1885950" algn="l"/>
              </a:tabLst>
            </a:pPr>
            <a:r>
              <a:rPr lang="en-US" sz="1400" dirty="0" smtClean="0"/>
              <a:t>[VECTO-573] – Use of old library references </a:t>
            </a:r>
            <a:r>
              <a:rPr lang="en-US" sz="1400" dirty="0" err="1" smtClean="0"/>
              <a:t>.net</a:t>
            </a:r>
            <a:r>
              <a:rPr lang="en-US" sz="1400" dirty="0" smtClean="0"/>
              <a:t> </a:t>
            </a:r>
            <a:r>
              <a:rPr lang="en-US" sz="1400" smtClean="0"/>
              <a:t>framework 2.0</a:t>
            </a:r>
            <a:endParaRPr lang="en-US" sz="1400" dirty="0"/>
          </a:p>
        </p:txBody>
      </p:sp>
    </p:spTree>
    <p:extLst>
      <p:ext uri="{BB962C8B-B14F-4D97-AF65-F5344CB8AC3E}">
        <p14:creationId xmlns:p14="http://schemas.microsoft.com/office/powerpoint/2010/main" val="4269153384"/>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3.2.0.1005</a:t>
            </a:r>
            <a:r>
              <a:rPr lang="en-US" dirty="0"/>
              <a:t/>
            </a:r>
            <a:br>
              <a:rPr lang="en-US" dirty="0"/>
            </a:br>
            <a:r>
              <a:rPr lang="en-US" sz="1600" dirty="0" smtClean="0"/>
              <a:t>2017-10-02</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smtClean="0"/>
              <a:t>Improvements</a:t>
            </a:r>
          </a:p>
          <a:p>
            <a:r>
              <a:rPr lang="en-US" sz="1600" b="1" dirty="0" smtClean="0"/>
              <a:t>Release of </a:t>
            </a:r>
            <a:r>
              <a:rPr lang="en-US" sz="1600" b="1" dirty="0" err="1" smtClean="0"/>
              <a:t>Vecto</a:t>
            </a:r>
            <a:r>
              <a:rPr lang="en-US" sz="1600" b="1" dirty="0" smtClean="0"/>
              <a:t> Hashing Tool</a:t>
            </a:r>
          </a:p>
          <a:p>
            <a:r>
              <a:rPr lang="en-US" sz="1400" dirty="0" smtClean="0"/>
              <a:t>[VECTO-557] Engine speed simulated too high during long stops</a:t>
            </a:r>
          </a:p>
          <a:p>
            <a:endParaRPr lang="en-US" sz="1600" b="1" dirty="0" smtClean="0"/>
          </a:p>
          <a:p>
            <a:pPr marL="0" indent="0">
              <a:buNone/>
            </a:pPr>
            <a:r>
              <a:rPr lang="en-US" sz="1600" b="1" dirty="0" err="1" smtClean="0"/>
              <a:t>Bugfixes</a:t>
            </a:r>
            <a:endParaRPr lang="en-US" sz="1600" b="1" dirty="0" smtClean="0"/>
          </a:p>
          <a:p>
            <a:pPr>
              <a:tabLst>
                <a:tab pos="1885950" algn="l"/>
              </a:tabLst>
            </a:pPr>
            <a:r>
              <a:rPr lang="en-US" sz="1400" dirty="0" smtClean="0"/>
              <a:t>[VECTO-569] - ‘</a:t>
            </a:r>
            <a:r>
              <a:rPr lang="en-US" sz="1400" dirty="0"/>
              <a:t>Engine Retarder’ not correctly recognized as input</a:t>
            </a:r>
          </a:p>
          <a:p>
            <a:pPr>
              <a:tabLst>
                <a:tab pos="1885950" algn="l"/>
              </a:tabLst>
            </a:pPr>
            <a:r>
              <a:rPr lang="en-US" sz="1400" dirty="0" smtClean="0"/>
              <a:t>[VECTO-571] </a:t>
            </a:r>
            <a:r>
              <a:rPr lang="en-US" sz="1400" dirty="0"/>
              <a:t>- </a:t>
            </a:r>
            <a:r>
              <a:rPr lang="en-US" sz="1400" dirty="0" smtClean="0"/>
              <a:t>Customer </a:t>
            </a:r>
            <a:r>
              <a:rPr lang="en-US" sz="1400" dirty="0"/>
              <a:t>Report – wrong output format of </a:t>
            </a:r>
            <a:r>
              <a:rPr lang="en-US" sz="1400" dirty="0" smtClean="0"/>
              <a:t>average </a:t>
            </a:r>
            <a:r>
              <a:rPr lang="en-US" sz="1400" dirty="0"/>
              <a:t>RRC</a:t>
            </a:r>
          </a:p>
          <a:p>
            <a:pPr>
              <a:tabLst>
                <a:tab pos="1885950" algn="l"/>
              </a:tabLst>
            </a:pPr>
            <a:r>
              <a:rPr lang="en-US" sz="1400" dirty="0" smtClean="0"/>
              <a:t>[VECTO-573] </a:t>
            </a:r>
            <a:r>
              <a:rPr lang="en-US" sz="1400" dirty="0"/>
              <a:t>- </a:t>
            </a:r>
            <a:r>
              <a:rPr lang="en-US" sz="1400" dirty="0" smtClean="0"/>
              <a:t>Correction </a:t>
            </a:r>
            <a:r>
              <a:rPr lang="en-US" sz="1400" dirty="0"/>
              <a:t>of displayed units in graph window</a:t>
            </a:r>
          </a:p>
          <a:p>
            <a:pPr>
              <a:tabLst>
                <a:tab pos="1885950" algn="l"/>
              </a:tabLst>
            </a:pPr>
            <a:r>
              <a:rPr lang="en-US" sz="1400" dirty="0" smtClean="0"/>
              <a:t>[VECTO-575] </a:t>
            </a:r>
            <a:r>
              <a:rPr lang="en-US" sz="1400" dirty="0"/>
              <a:t>- </a:t>
            </a:r>
            <a:r>
              <a:rPr lang="en-US" sz="1400" dirty="0" smtClean="0"/>
              <a:t>Correction </a:t>
            </a:r>
            <a:r>
              <a:rPr lang="en-US" sz="1400" dirty="0"/>
              <a:t>of simulation aborts (due to gearbox inertia, </a:t>
            </a:r>
            <a:r>
              <a:rPr lang="en-US" sz="1400" dirty="0" smtClean="0"/>
              <a:t>engineering </a:t>
            </a:r>
            <a:r>
              <a:rPr lang="en-US" sz="1400" dirty="0"/>
              <a:t>mode)</a:t>
            </a:r>
          </a:p>
          <a:p>
            <a:pPr>
              <a:tabLst>
                <a:tab pos="1885950" algn="l"/>
              </a:tabLst>
            </a:pPr>
            <a:r>
              <a:rPr lang="en-US" sz="1400" dirty="0" smtClean="0"/>
              <a:t>[VECTO-577] </a:t>
            </a:r>
            <a:r>
              <a:rPr lang="en-US" sz="1400" dirty="0"/>
              <a:t>- </a:t>
            </a:r>
            <a:r>
              <a:rPr lang="en-US" sz="1400" dirty="0" smtClean="0"/>
              <a:t>Correction </a:t>
            </a:r>
            <a:r>
              <a:rPr lang="en-US" sz="1400" dirty="0"/>
              <a:t>of XML export functionality</a:t>
            </a:r>
          </a:p>
          <a:p>
            <a:pPr>
              <a:tabLst>
                <a:tab pos="1885950" algn="l"/>
              </a:tabLst>
            </a:pPr>
            <a:r>
              <a:rPr lang="en-US" sz="1400" dirty="0" smtClean="0"/>
              <a:t>[VECTO-579] </a:t>
            </a:r>
            <a:r>
              <a:rPr lang="en-US" sz="1400" dirty="0"/>
              <a:t>- </a:t>
            </a:r>
            <a:r>
              <a:rPr lang="en-US" sz="1400" dirty="0" smtClean="0"/>
              <a:t>Bug </a:t>
            </a:r>
            <a:r>
              <a:rPr lang="en-US" sz="1400" dirty="0"/>
              <a:t>fix GUI crashes on invalid input</a:t>
            </a:r>
          </a:p>
          <a:p>
            <a:pPr>
              <a:tabLst>
                <a:tab pos="1885950" algn="l"/>
              </a:tabLst>
            </a:pPr>
            <a:r>
              <a:rPr lang="en-US" sz="1400" dirty="0" smtClean="0"/>
              <a:t>[VECTO-558] </a:t>
            </a:r>
            <a:r>
              <a:rPr lang="en-US" sz="1400" dirty="0"/>
              <a:t>- </a:t>
            </a:r>
            <a:r>
              <a:rPr lang="en-US" sz="1400" dirty="0" smtClean="0"/>
              <a:t>Correction </a:t>
            </a:r>
            <a:r>
              <a:rPr lang="en-US" sz="1400" dirty="0"/>
              <a:t>of output in .</a:t>
            </a:r>
            <a:r>
              <a:rPr lang="en-US" sz="1400" dirty="0" err="1"/>
              <a:t>vsum</a:t>
            </a:r>
            <a:r>
              <a:rPr lang="en-US" sz="1400" dirty="0"/>
              <a:t> file – </a:t>
            </a:r>
            <a:r>
              <a:rPr lang="en-US" sz="1400" dirty="0" err="1" smtClean="0"/>
              <a:t>BFColdHot</a:t>
            </a:r>
            <a:r>
              <a:rPr lang="en-US" sz="1400" dirty="0" smtClean="0"/>
              <a:t> </a:t>
            </a:r>
            <a:r>
              <a:rPr lang="en-US" sz="1400" dirty="0"/>
              <a:t>always 0</a:t>
            </a:r>
          </a:p>
          <a:p>
            <a:pPr>
              <a:tabLst>
                <a:tab pos="1885950" algn="l"/>
              </a:tabLst>
            </a:pPr>
            <a:r>
              <a:rPr lang="en-US" sz="1400" dirty="0" smtClean="0"/>
              <a:t>[VECTO-564] </a:t>
            </a:r>
            <a:r>
              <a:rPr lang="en-US" sz="1400" dirty="0"/>
              <a:t>- </a:t>
            </a:r>
            <a:r>
              <a:rPr lang="en-US" sz="1400" dirty="0" smtClean="0"/>
              <a:t>Bug </a:t>
            </a:r>
            <a:r>
              <a:rPr lang="en-US" sz="1400" dirty="0"/>
              <a:t>fix: correct output of vehicle group in XML report</a:t>
            </a:r>
          </a:p>
          <a:p>
            <a:pPr>
              <a:tabLst>
                <a:tab pos="1885950" algn="l"/>
              </a:tabLst>
            </a:pPr>
            <a:r>
              <a:rPr lang="en-US" sz="1400" dirty="0" smtClean="0"/>
              <a:t>[VECTO-566] </a:t>
            </a:r>
            <a:r>
              <a:rPr lang="en-US" sz="1400" dirty="0"/>
              <a:t>- </a:t>
            </a:r>
            <a:r>
              <a:rPr lang="en-US" sz="1400" dirty="0" smtClean="0"/>
              <a:t>Vehicle </a:t>
            </a:r>
            <a:r>
              <a:rPr lang="en-US" sz="1400" dirty="0"/>
              <a:t>height not correctly read (engineering mode)</a:t>
            </a:r>
          </a:p>
          <a:p>
            <a:pPr>
              <a:tabLst>
                <a:tab pos="1885950" algn="l"/>
              </a:tabLst>
            </a:pPr>
            <a:r>
              <a:rPr lang="en-US" sz="1400" dirty="0" smtClean="0"/>
              <a:t>[VECTO-545] </a:t>
            </a:r>
            <a:r>
              <a:rPr lang="en-US" sz="1400" dirty="0"/>
              <a:t>- </a:t>
            </a:r>
            <a:r>
              <a:rPr lang="en-US" sz="1400" dirty="0" smtClean="0"/>
              <a:t>Update </a:t>
            </a:r>
            <a:r>
              <a:rPr lang="en-US" sz="1400" dirty="0"/>
              <a:t>documentation on Settings dialog</a:t>
            </a:r>
          </a:p>
        </p:txBody>
      </p:sp>
    </p:spTree>
    <p:extLst>
      <p:ext uri="{BB962C8B-B14F-4D97-AF65-F5344CB8AC3E}">
        <p14:creationId xmlns:p14="http://schemas.microsoft.com/office/powerpoint/2010/main" val="3939537437"/>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3.2.0.940</a:t>
            </a:r>
            <a:r>
              <a:rPr lang="en-US" dirty="0"/>
              <a:t/>
            </a:r>
            <a:br>
              <a:rPr lang="en-US" dirty="0"/>
            </a:br>
            <a:r>
              <a:rPr lang="en-US" sz="1600" dirty="0" smtClean="0"/>
              <a:t>2017-07-28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smtClean="0"/>
              <a:t>Bugfixes</a:t>
            </a:r>
            <a:endParaRPr lang="en-US" sz="1600" b="1" dirty="0" smtClean="0"/>
          </a:p>
          <a:p>
            <a:r>
              <a:rPr lang="en-US" sz="1400" dirty="0" smtClean="0"/>
              <a:t>[</a:t>
            </a:r>
            <a:r>
              <a:rPr lang="en-US" sz="1400" dirty="0"/>
              <a:t>VECTO-546] - </a:t>
            </a:r>
            <a:r>
              <a:rPr lang="en-US" sz="1400" dirty="0" err="1"/>
              <a:t>GearboxCertificationOptionType</a:t>
            </a:r>
            <a:r>
              <a:rPr lang="en-US" sz="1400" dirty="0"/>
              <a:t> Option 2 not accepted by VECTO</a:t>
            </a:r>
          </a:p>
          <a:p>
            <a:r>
              <a:rPr lang="en-US" sz="1400" dirty="0" smtClean="0"/>
              <a:t>[</a:t>
            </a:r>
            <a:r>
              <a:rPr lang="en-US" sz="1400" dirty="0"/>
              <a:t>VECTO-547] - Engine Manufacturer and Engine Model are empty in .</a:t>
            </a:r>
            <a:r>
              <a:rPr lang="en-US" sz="1400" dirty="0" err="1"/>
              <a:t>vsum</a:t>
            </a:r>
            <a:r>
              <a:rPr lang="en-US" sz="1400" dirty="0"/>
              <a:t> </a:t>
            </a:r>
          </a:p>
          <a:p>
            <a:r>
              <a:rPr lang="en-US" sz="1400" dirty="0" smtClean="0"/>
              <a:t>[</a:t>
            </a:r>
            <a:r>
              <a:rPr lang="en-US" sz="1400" dirty="0"/>
              <a:t>VECTO-548] - online user manual</a:t>
            </a:r>
          </a:p>
          <a:p>
            <a:r>
              <a:rPr lang="en-US" sz="1400" dirty="0" smtClean="0"/>
              <a:t>[</a:t>
            </a:r>
            <a:r>
              <a:rPr lang="en-US" sz="1400" dirty="0"/>
              <a:t>VECTO-549] - Inconsistent (and wrong) decimal separator in XML output (manufacturer report)</a:t>
            </a:r>
          </a:p>
          <a:p>
            <a:r>
              <a:rPr lang="en-US" sz="1400" dirty="0" smtClean="0"/>
              <a:t>[</a:t>
            </a:r>
            <a:r>
              <a:rPr lang="en-US" sz="1400" dirty="0"/>
              <a:t>VECTO-551] - Average </a:t>
            </a:r>
            <a:r>
              <a:rPr lang="en-US" sz="1400" dirty="0" err="1"/>
              <a:t>Tyre</a:t>
            </a:r>
            <a:r>
              <a:rPr lang="en-US" sz="1400" dirty="0"/>
              <a:t> RRC not in Customer Information File output</a:t>
            </a:r>
          </a:p>
          <a:p>
            <a:r>
              <a:rPr lang="en-US" sz="1400" dirty="0" smtClean="0"/>
              <a:t>[</a:t>
            </a:r>
            <a:r>
              <a:rPr lang="en-US" sz="1400" dirty="0"/>
              <a:t>VECTO-536] - GUI: improvements vehicle dialog (add missing pictures for vehicle categories)</a:t>
            </a:r>
          </a:p>
          <a:p>
            <a:r>
              <a:rPr lang="en-US" sz="1400" dirty="0" smtClean="0"/>
              <a:t>[</a:t>
            </a:r>
            <a:r>
              <a:rPr lang="en-US" sz="1400" dirty="0"/>
              <a:t>VECTO-550] - Allow custom settings for </a:t>
            </a:r>
            <a:r>
              <a:rPr lang="en-US" sz="1400" dirty="0" err="1"/>
              <a:t>AirDensity</a:t>
            </a:r>
            <a:r>
              <a:rPr lang="en-US" sz="1400" dirty="0"/>
              <a:t> in Engineering mode</a:t>
            </a:r>
          </a:p>
          <a:p>
            <a:r>
              <a:rPr lang="en-US" sz="1400" dirty="0" smtClean="0"/>
              <a:t>[</a:t>
            </a:r>
            <a:r>
              <a:rPr lang="en-US" sz="1400" dirty="0"/>
              <a:t>VECTO-552] - set engine rated power, rated speed to computed values from FLD if not provided as input</a:t>
            </a:r>
          </a:p>
        </p:txBody>
      </p:sp>
    </p:spTree>
    <p:extLst>
      <p:ext uri="{BB962C8B-B14F-4D97-AF65-F5344CB8AC3E}">
        <p14:creationId xmlns:p14="http://schemas.microsoft.com/office/powerpoint/2010/main" val="1339374157"/>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VECTO-366] added EMS vehicle configuration, EMS is only simulated when engine rated power &gt; </a:t>
            </a:r>
            <a:r>
              <a:rPr lang="en-US" sz="1400" dirty="0" smtClean="0"/>
              <a:t>300kW</a:t>
            </a:r>
          </a:p>
          <a:p>
            <a:r>
              <a:rPr lang="en-US" sz="1400" dirty="0" smtClean="0"/>
              <a:t>[VECTO-463</a:t>
            </a:r>
            <a:r>
              <a:rPr lang="en-US" sz="1400" dirty="0"/>
              <a:t>] add pneumatic system technology 'vacuum </a:t>
            </a:r>
            <a:r>
              <a:rPr lang="en-US" sz="1400" dirty="0" smtClean="0"/>
              <a:t>pump‘</a:t>
            </a:r>
          </a:p>
          <a:p>
            <a:r>
              <a:rPr lang="en-US" sz="1400" dirty="0" smtClean="0"/>
              <a:t>[</a:t>
            </a:r>
            <a:r>
              <a:rPr lang="en-US" sz="1400" dirty="0"/>
              <a:t>VECTO-465] change RRC value of trailers (declaration mode) from 0.00555 to 0.0055 (due to limits in user interface</a:t>
            </a:r>
            <a:r>
              <a:rPr lang="en-US" sz="1400" dirty="0" smtClean="0"/>
              <a:t>)</a:t>
            </a:r>
          </a:p>
          <a:p>
            <a:r>
              <a:rPr lang="en-US" sz="1400" dirty="0" smtClean="0"/>
              <a:t>[VECTO-477</a:t>
            </a:r>
            <a:r>
              <a:rPr lang="en-US" sz="1400" dirty="0"/>
              <a:t>] AT Gearbox, </a:t>
            </a:r>
            <a:r>
              <a:rPr lang="en-US" sz="1400" dirty="0" err="1"/>
              <a:t>powershift</a:t>
            </a:r>
            <a:r>
              <a:rPr lang="en-US" sz="1400" dirty="0"/>
              <a:t> losses: remove inertia </a:t>
            </a:r>
            <a:r>
              <a:rPr lang="en-US" sz="1400" dirty="0" smtClean="0"/>
              <a:t>factor</a:t>
            </a:r>
          </a:p>
          <a:p>
            <a:r>
              <a:rPr lang="en-US" sz="1400" dirty="0" smtClean="0"/>
              <a:t>[VECTO-471</a:t>
            </a:r>
            <a:r>
              <a:rPr lang="en-US" sz="1400" dirty="0"/>
              <a:t>] update cross-wind correction model: height-dependent wind speed (see Excel spreadsheet in User Manual folder for details</a:t>
            </a:r>
            <a:r>
              <a:rPr lang="en-US" sz="1400" dirty="0" smtClean="0"/>
              <a:t>)</a:t>
            </a:r>
          </a:p>
          <a:p>
            <a:r>
              <a:rPr lang="en-US" sz="1400" dirty="0" smtClean="0"/>
              <a:t>[</a:t>
            </a:r>
            <a:r>
              <a:rPr lang="en-US" sz="1400" dirty="0"/>
              <a:t>VECTO-367] Add Vehicle Design Speed to segmentation </a:t>
            </a:r>
            <a:r>
              <a:rPr lang="en-US" sz="1400" dirty="0" smtClean="0"/>
              <a:t>table</a:t>
            </a:r>
          </a:p>
          <a:p>
            <a:r>
              <a:rPr lang="en-US" sz="1400" dirty="0" smtClean="0"/>
              <a:t>[VECTO-470</a:t>
            </a:r>
            <a:r>
              <a:rPr lang="en-US" sz="1400" dirty="0"/>
              <a:t>] Add XML reading and export </a:t>
            </a:r>
            <a:r>
              <a:rPr lang="en-US" sz="1400" dirty="0" smtClean="0"/>
              <a:t>functionality</a:t>
            </a:r>
          </a:p>
          <a:p>
            <a:r>
              <a:rPr lang="en-US" sz="1400" dirty="0" smtClean="0"/>
              <a:t>[VECTO-486</a:t>
            </a:r>
            <a:r>
              <a:rPr lang="en-US" sz="1400" dirty="0"/>
              <a:t>] Adding hashing </a:t>
            </a:r>
            <a:r>
              <a:rPr lang="en-US" sz="1400" dirty="0" smtClean="0"/>
              <a:t>library</a:t>
            </a:r>
          </a:p>
          <a:p>
            <a:r>
              <a:rPr lang="en-US" sz="1400" dirty="0" smtClean="0"/>
              <a:t>[VECTO-469</a:t>
            </a:r>
            <a:r>
              <a:rPr lang="en-US" sz="1400" dirty="0"/>
              <a:t>] Limit engine max torque (either due to vehicle or gearbox limits), limit gearbox input </a:t>
            </a:r>
            <a:r>
              <a:rPr lang="en-US" sz="1400" dirty="0" smtClean="0"/>
              <a:t>speed</a:t>
            </a:r>
          </a:p>
          <a:p>
            <a:r>
              <a:rPr lang="en-US" sz="1400" dirty="0" smtClean="0"/>
              <a:t>[VECTO-466</a:t>
            </a:r>
            <a:r>
              <a:rPr lang="en-US" sz="1400" dirty="0"/>
              <a:t>] Update vehicle payloads: 10% loaded and reference load are </a:t>
            </a:r>
            <a:r>
              <a:rPr lang="en-US" sz="1400" dirty="0" smtClean="0"/>
              <a:t>simulated</a:t>
            </a:r>
          </a:p>
          <a:p>
            <a:r>
              <a:rPr lang="en-US" sz="1400" dirty="0" smtClean="0"/>
              <a:t>[VECTO-467</a:t>
            </a:r>
            <a:r>
              <a:rPr lang="en-US" sz="1400" dirty="0"/>
              <a:t>] Add generic PTO activation in municipal </a:t>
            </a:r>
            <a:r>
              <a:rPr lang="en-US" sz="1400" dirty="0" smtClean="0"/>
              <a:t>cycle</a:t>
            </a:r>
          </a:p>
          <a:p>
            <a:r>
              <a:rPr lang="en-US" sz="1400" dirty="0" smtClean="0"/>
              <a:t>[VECTO-468</a:t>
            </a:r>
            <a:r>
              <a:rPr lang="en-US" sz="1400" dirty="0"/>
              <a:t>] Add PTO losses (idle) in declaration </a:t>
            </a:r>
            <a:r>
              <a:rPr lang="en-US" sz="1400" dirty="0" smtClean="0"/>
              <a:t>mode</a:t>
            </a:r>
          </a:p>
          <a:p>
            <a:r>
              <a:rPr lang="en-US" sz="1400" dirty="0" smtClean="0"/>
              <a:t>[VECTO-479</a:t>
            </a:r>
            <a:r>
              <a:rPr lang="en-US" sz="1600" dirty="0"/>
              <a:t>] Added PTO option 'only one engaged gearwheel above oil level' with 0 </a:t>
            </a:r>
            <a:r>
              <a:rPr lang="en-US" sz="1600" dirty="0" smtClean="0"/>
              <a:t>losses</a:t>
            </a:r>
            <a:endParaRPr lang="en-US" sz="1600" dirty="0"/>
          </a:p>
        </p:txBody>
      </p:sp>
    </p:spTree>
    <p:extLst>
      <p:ext uri="{BB962C8B-B14F-4D97-AF65-F5344CB8AC3E}">
        <p14:creationId xmlns:p14="http://schemas.microsoft.com/office/powerpoint/2010/main" val="935717193"/>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VECTO-483] Adapt </a:t>
            </a:r>
            <a:r>
              <a:rPr lang="en-US" sz="1400" dirty="0" err="1"/>
              <a:t>CdxA</a:t>
            </a:r>
            <a:r>
              <a:rPr lang="en-US" sz="1400" dirty="0"/>
              <a:t> supplement for </a:t>
            </a:r>
            <a:r>
              <a:rPr lang="en-US" sz="1400"/>
              <a:t>additional </a:t>
            </a:r>
            <a:r>
              <a:rPr lang="en-US" sz="1400" smtClean="0"/>
              <a:t>trailers</a:t>
            </a:r>
            <a:endParaRPr lang="en-US" sz="1400" dirty="0" smtClean="0"/>
          </a:p>
          <a:p>
            <a:r>
              <a:rPr lang="en-US" sz="1400" dirty="0" smtClean="0"/>
              <a:t>[VECTO-494</a:t>
            </a:r>
            <a:r>
              <a:rPr lang="en-US" sz="1400" dirty="0"/>
              <a:t>] Implementation of different fuel </a:t>
            </a:r>
            <a:r>
              <a:rPr lang="en-US" sz="1400" dirty="0" smtClean="0"/>
              <a:t>types</a:t>
            </a:r>
          </a:p>
          <a:p>
            <a:r>
              <a:rPr lang="en-US" sz="1400" dirty="0" smtClean="0"/>
              <a:t>[VECTO-502</a:t>
            </a:r>
            <a:r>
              <a:rPr lang="en-US" sz="1400" dirty="0"/>
              <a:t>] Implementing standard values for air-drag area (if not measured</a:t>
            </a:r>
            <a:r>
              <a:rPr lang="en-US" sz="1400" dirty="0" smtClean="0"/>
              <a:t>)</a:t>
            </a:r>
          </a:p>
          <a:p>
            <a:r>
              <a:rPr lang="en-US" sz="1400" dirty="0" smtClean="0"/>
              <a:t>[</a:t>
            </a:r>
            <a:r>
              <a:rPr lang="en-US" sz="1400" dirty="0"/>
              <a:t>VECTO-501] Implement engine idle speed set in vehicle (must be higher than engine's idle speed value</a:t>
            </a:r>
            <a:r>
              <a:rPr lang="en-US" sz="1400" dirty="0" smtClean="0"/>
              <a:t>)</a:t>
            </a:r>
          </a:p>
          <a:p>
            <a:r>
              <a:rPr lang="en-US" sz="1400" dirty="0" smtClean="0"/>
              <a:t>[</a:t>
            </a:r>
            <a:r>
              <a:rPr lang="en-US" sz="1400" dirty="0"/>
              <a:t>VECTO-504] Adding HVAC technology </a:t>
            </a:r>
            <a:r>
              <a:rPr lang="en-US" sz="1400" dirty="0" smtClean="0"/>
              <a:t>'none‘</a:t>
            </a:r>
          </a:p>
          <a:p>
            <a:r>
              <a:rPr lang="en-US" sz="1400" dirty="0" smtClean="0"/>
              <a:t>[</a:t>
            </a:r>
            <a:r>
              <a:rPr lang="en-US" sz="1400" dirty="0"/>
              <a:t>VECTO-489] Extrapolate gearbox </a:t>
            </a:r>
            <a:r>
              <a:rPr lang="en-US" sz="1400" dirty="0" err="1"/>
              <a:t>lossmaps</a:t>
            </a:r>
            <a:r>
              <a:rPr lang="en-US" sz="1400" dirty="0"/>
              <a:t> (required when torque limitation by gearbox is ignored</a:t>
            </a:r>
            <a:r>
              <a:rPr lang="en-US" sz="1400" dirty="0" smtClean="0"/>
              <a:t>)</a:t>
            </a:r>
          </a:p>
          <a:p>
            <a:r>
              <a:rPr lang="en-US" sz="1400" dirty="0" smtClean="0"/>
              <a:t>[</a:t>
            </a:r>
            <a:r>
              <a:rPr lang="en-US" sz="1400" dirty="0"/>
              <a:t>VECTO-505] Implement AT transmissions in declaration </a:t>
            </a:r>
            <a:r>
              <a:rPr lang="en-US" sz="1400" dirty="0" smtClean="0"/>
              <a:t>mode</a:t>
            </a:r>
          </a:p>
          <a:p>
            <a:r>
              <a:rPr lang="en-US" sz="1400" dirty="0" smtClean="0"/>
              <a:t>[VECTO-507</a:t>
            </a:r>
            <a:r>
              <a:rPr lang="en-US" sz="1400" dirty="0"/>
              <a:t>] Allow to ignore validation of model data when starting a simulation (significant improvement on simulation startup time - about 10s</a:t>
            </a:r>
            <a:r>
              <a:rPr lang="en-US" sz="1400" dirty="0" smtClean="0"/>
              <a:t>)</a:t>
            </a:r>
          </a:p>
          <a:p>
            <a:r>
              <a:rPr lang="en-US" sz="1400" dirty="0" smtClean="0"/>
              <a:t>[</a:t>
            </a:r>
            <a:r>
              <a:rPr lang="en-US" sz="1400" dirty="0"/>
              <a:t>VECTO-506] modified method how torque-converter characteristics in drag is extended. allow drag-values in the input, only add one point at a high speed </a:t>
            </a:r>
            <a:r>
              <a:rPr lang="en-US" sz="1400" dirty="0" smtClean="0"/>
              <a:t>ratio</a:t>
            </a:r>
          </a:p>
          <a:p>
            <a:r>
              <a:rPr lang="en-US" sz="1400" dirty="0" smtClean="0"/>
              <a:t>[VECTO-509</a:t>
            </a:r>
            <a:r>
              <a:rPr lang="en-US" sz="1400" dirty="0"/>
              <a:t>] Add axle-type (vehicle driven, vehicle non-driven, trailer) to </a:t>
            </a:r>
            <a:r>
              <a:rPr lang="en-US" sz="1400" dirty="0" smtClean="0"/>
              <a:t>GUI</a:t>
            </a:r>
          </a:p>
          <a:p>
            <a:r>
              <a:rPr lang="en-US" sz="1400" dirty="0" smtClean="0"/>
              <a:t>[VECTO-511</a:t>
            </a:r>
            <a:r>
              <a:rPr lang="en-US" sz="1400" dirty="0"/>
              <a:t>] Add engine idle speed to Vehicle input form (GUI</a:t>
            </a:r>
            <a:r>
              <a:rPr lang="en-US" sz="1400" dirty="0" smtClean="0"/>
              <a:t>)</a:t>
            </a:r>
          </a:p>
          <a:p>
            <a:r>
              <a:rPr lang="en-US" sz="1400" dirty="0" smtClean="0"/>
              <a:t>[</a:t>
            </a:r>
            <a:r>
              <a:rPr lang="en-US" sz="1400" dirty="0"/>
              <a:t>VECTO-510] Write XML reports (manufacturer, customer information) in declaration </a:t>
            </a:r>
            <a:r>
              <a:rPr lang="en-US" sz="1400" dirty="0" smtClean="0"/>
              <a:t>mode</a:t>
            </a:r>
          </a:p>
          <a:p>
            <a:r>
              <a:rPr lang="en-US" sz="1400" dirty="0" smtClean="0"/>
              <a:t>[VECTO-474</a:t>
            </a:r>
            <a:r>
              <a:rPr lang="en-US" sz="1400" dirty="0"/>
              <a:t>] new driving cycles for Municipal and Regional </a:t>
            </a:r>
            <a:r>
              <a:rPr lang="en-US" sz="1400" dirty="0" smtClean="0"/>
              <a:t>Delivery</a:t>
            </a:r>
            <a:endParaRPr lang="en-US" sz="1400" dirty="0"/>
          </a:p>
        </p:txBody>
      </p:sp>
    </p:spTree>
    <p:extLst>
      <p:ext uri="{BB962C8B-B14F-4D97-AF65-F5344CB8AC3E}">
        <p14:creationId xmlns:p14="http://schemas.microsoft.com/office/powerpoint/2010/main" val="1190642042"/>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VECTO-522] step-up ratio for using torque converter in second gear set to 1.85 for busses (still 1.8 for trucks</a:t>
            </a:r>
            <a:r>
              <a:rPr lang="en-US" sz="1400" dirty="0" smtClean="0"/>
              <a:t>)</a:t>
            </a:r>
          </a:p>
          <a:p>
            <a:r>
              <a:rPr lang="en-US" sz="1400" dirty="0" smtClean="0"/>
              <a:t>[</a:t>
            </a:r>
            <a:r>
              <a:rPr lang="en-US" sz="1400" dirty="0"/>
              <a:t>VECTO-525] remove info-box with max loading in </a:t>
            </a:r>
            <a:r>
              <a:rPr lang="en-US" sz="1400" dirty="0" smtClean="0"/>
              <a:t>GUI</a:t>
            </a:r>
          </a:p>
          <a:p>
            <a:r>
              <a:rPr lang="en-US" sz="1400" dirty="0" smtClean="0"/>
              <a:t>[VECTO-531</a:t>
            </a:r>
            <a:r>
              <a:rPr lang="en-US" sz="1400" dirty="0"/>
              <a:t>] Payload calculation: limit truck payload to the truck's max payload. (earlier versions only limited the total payload of </a:t>
            </a:r>
            <a:r>
              <a:rPr lang="en-US" sz="1400" dirty="0" err="1"/>
              <a:t>truc</a:t>
            </a:r>
            <a:r>
              <a:rPr lang="en-US" sz="1400" dirty="0"/>
              <a:t> + trailer to the total max. payload, i.e. allowed to shifted loading from truck to the trailer</a:t>
            </a:r>
            <a:r>
              <a:rPr lang="en-US" sz="1400" dirty="0" smtClean="0"/>
              <a:t>)</a:t>
            </a:r>
          </a:p>
          <a:p>
            <a:r>
              <a:rPr lang="en-US" sz="1400" dirty="0" smtClean="0"/>
              <a:t>[</a:t>
            </a:r>
            <a:r>
              <a:rPr lang="en-US" sz="1400" dirty="0"/>
              <a:t>VECTO-533] allow second driven axle, </a:t>
            </a:r>
            <a:r>
              <a:rPr lang="en-US" sz="1400" dirty="0" err="1"/>
              <a:t>rdyn</a:t>
            </a:r>
            <a:r>
              <a:rPr lang="en-US" sz="1400" dirty="0"/>
              <a:t> is calculated as average of both driven </a:t>
            </a:r>
            <a:r>
              <a:rPr lang="en-US" sz="1400" dirty="0" smtClean="0"/>
              <a:t>axles</a:t>
            </a:r>
          </a:p>
          <a:p>
            <a:r>
              <a:rPr lang="en-US" sz="1400" dirty="0" smtClean="0"/>
              <a:t>[VECTO-537</a:t>
            </a:r>
            <a:r>
              <a:rPr lang="en-US" sz="1400" dirty="0"/>
              <a:t>] new Suburban driving </a:t>
            </a:r>
            <a:r>
              <a:rPr lang="en-US" sz="1400" dirty="0" smtClean="0"/>
              <a:t>cycles</a:t>
            </a:r>
          </a:p>
          <a:p>
            <a:r>
              <a:rPr lang="en-US" sz="1400" dirty="0" smtClean="0"/>
              <a:t>[VECTO-541</a:t>
            </a:r>
            <a:r>
              <a:rPr lang="en-US" sz="1400" dirty="0"/>
              <a:t>] increase declaration mode PT1 curve to higher speeds (2500 is too low for some engines</a:t>
            </a:r>
            <a:r>
              <a:rPr lang="en-US" sz="1400" dirty="0" smtClean="0"/>
              <a:t>)</a:t>
            </a:r>
          </a:p>
          <a:p>
            <a:r>
              <a:rPr lang="en-US" sz="1400" dirty="0" smtClean="0"/>
              <a:t>[VECTO-542] </a:t>
            </a:r>
            <a:r>
              <a:rPr lang="en-US" sz="1400" dirty="0"/>
              <a:t>reduce </a:t>
            </a:r>
            <a:r>
              <a:rPr lang="en-US" sz="1400" dirty="0" err="1"/>
              <a:t>overspeed</a:t>
            </a:r>
            <a:r>
              <a:rPr lang="en-US" sz="1400" dirty="0"/>
              <a:t> in declaration mode to 2.5km/h</a:t>
            </a:r>
            <a:endParaRPr lang="en-US" sz="1400" dirty="0" smtClean="0"/>
          </a:p>
        </p:txBody>
      </p:sp>
    </p:spTree>
    <p:extLst>
      <p:ext uri="{BB962C8B-B14F-4D97-AF65-F5344CB8AC3E}">
        <p14:creationId xmlns:p14="http://schemas.microsoft.com/office/powerpoint/2010/main" val="1367177659"/>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[VECTO-462] fix: decision if PTO cycle is simulated</a:t>
            </a:r>
          </a:p>
          <a:p>
            <a:r>
              <a:rPr lang="en-US" sz="1400" dirty="0"/>
              <a:t>[VECTO-473] fix: adapt range for validation of torque converter characteristics</a:t>
            </a:r>
          </a:p>
          <a:p>
            <a:r>
              <a:rPr lang="en-US" sz="1400" dirty="0"/>
              <a:t>[VECTO-464] fix: extrapolation of engine full-load curve gives neg. max. torque. Limit engine speed to n95h</a:t>
            </a:r>
          </a:p>
          <a:p>
            <a:r>
              <a:rPr lang="en-US" sz="1400" dirty="0"/>
              <a:t>[VECTO-480] fix: </a:t>
            </a:r>
            <a:r>
              <a:rPr lang="en-US" sz="1400" dirty="0" err="1"/>
              <a:t>a_pos</a:t>
            </a:r>
            <a:r>
              <a:rPr lang="en-US" sz="1400" dirty="0"/>
              <a:t> in .</a:t>
            </a:r>
            <a:r>
              <a:rPr lang="en-US" sz="1400" dirty="0" err="1"/>
              <a:t>vsum</a:t>
            </a:r>
            <a:r>
              <a:rPr lang="en-US" sz="1400" dirty="0"/>
              <a:t> was less than zero</a:t>
            </a:r>
          </a:p>
          <a:p>
            <a:r>
              <a:rPr lang="en-US" sz="1400" dirty="0"/>
              <a:t>[VECTO-487] fix: Duration of PTO cycle was computed incorrectly if PTO cycle does not start at t=0</a:t>
            </a:r>
          </a:p>
          <a:p>
            <a:r>
              <a:rPr lang="en-US" sz="1400" dirty="0"/>
              <a:t>[VECTO-514] fix: sort entries in .</a:t>
            </a:r>
            <a:r>
              <a:rPr lang="en-US" sz="1400" dirty="0" err="1"/>
              <a:t>vsum</a:t>
            </a:r>
            <a:r>
              <a:rPr lang="en-US" sz="1400" dirty="0"/>
              <a:t> numerically, not lexically</a:t>
            </a:r>
          </a:p>
          <a:p>
            <a:r>
              <a:rPr lang="en-US" sz="1400" dirty="0"/>
              <a:t>[VECTO-516] fix: consider </a:t>
            </a:r>
            <a:r>
              <a:rPr lang="en-US" sz="1400" dirty="0" err="1"/>
              <a:t>axlegear</a:t>
            </a:r>
            <a:r>
              <a:rPr lang="en-US" sz="1400" dirty="0"/>
              <a:t> losses for estimation of acceleration after gearshifts</a:t>
            </a:r>
          </a:p>
          <a:p>
            <a:r>
              <a:rPr lang="en-US" sz="1400" dirty="0"/>
              <a:t>[VECTO-517] fix: valid shift polygon was considered invalid when extended to very high torque ranges</a:t>
            </a:r>
          </a:p>
          <a:p>
            <a:r>
              <a:rPr lang="en-US" sz="1400" dirty="0"/>
              <a:t>[VECTO-424] fix: VectoCore.dll could not be found when the current working directory is different to the directory of the vectocmd.exe</a:t>
            </a:r>
          </a:p>
          <a:p>
            <a:r>
              <a:rPr lang="en-US" sz="1400" dirty="0"/>
              <a:t>[VECTO-425] fix: vectocmd.exe - check if the output is redirected, and skip updating of the progress bar when this is the case</a:t>
            </a:r>
          </a:p>
          <a:p>
            <a:r>
              <a:rPr lang="en-US" sz="1400" dirty="0"/>
              <a:t>[VECTO-426] fix: vectocmd.exe - log errors to STDERR</a:t>
            </a:r>
          </a:p>
          <a:p>
            <a:r>
              <a:rPr lang="en-US" sz="1400" dirty="0"/>
              <a:t>[VECTO-519] fix: computation of n95h fails for a valid full-load curve due to numerical inaccuracy. add tolerance when searching for solutions</a:t>
            </a:r>
          </a:p>
          <a:p>
            <a:r>
              <a:rPr lang="en-US" sz="1400" dirty="0"/>
              <a:t>[VECTO-520] fix: </a:t>
            </a:r>
            <a:r>
              <a:rPr lang="en-US" sz="1400" dirty="0" err="1"/>
              <a:t>gearashift</a:t>
            </a:r>
            <a:r>
              <a:rPr lang="en-US" sz="1400" dirty="0"/>
              <a:t> count in </a:t>
            </a:r>
            <a:r>
              <a:rPr lang="en-US" sz="1400" dirty="0" err="1"/>
              <a:t>vsum</a:t>
            </a:r>
            <a:r>
              <a:rPr lang="en-US" sz="1400" dirty="0"/>
              <a:t> is 0</a:t>
            </a:r>
          </a:p>
        </p:txBody>
      </p:sp>
    </p:spTree>
    <p:extLst>
      <p:ext uri="{BB962C8B-B14F-4D97-AF65-F5344CB8AC3E}">
        <p14:creationId xmlns:p14="http://schemas.microsoft.com/office/powerpoint/2010/main" val="2145471729"/>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3.1.2.810</a:t>
            </a:r>
            <a:r>
              <a:rPr lang="en-US" dirty="0"/>
              <a:t/>
            </a:r>
            <a:br>
              <a:rPr lang="en-US" dirty="0"/>
            </a:br>
            <a:r>
              <a:rPr lang="en-US" sz="1600" dirty="0" smtClean="0"/>
              <a:t>2017-01-18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[VECTO-445] Additional columns in </a:t>
            </a:r>
            <a:r>
              <a:rPr lang="en-US" sz="1400" dirty="0" err="1" smtClean="0"/>
              <a:t>vsum</a:t>
            </a:r>
            <a:r>
              <a:rPr lang="en-US" sz="1400" dirty="0" smtClean="0"/>
              <a:t> file</a:t>
            </a:r>
          </a:p>
          <a:p>
            <a:r>
              <a:rPr lang="en-US" sz="1400" dirty="0" smtClean="0"/>
              <a:t>Allow splitting shift losses among multiple simulation intervals</a:t>
            </a:r>
          </a:p>
          <a:p>
            <a:r>
              <a:rPr lang="en-US" sz="1400" dirty="0" smtClean="0"/>
              <a:t>Allow coasting </a:t>
            </a:r>
            <a:r>
              <a:rPr lang="en-US" sz="1400" dirty="0" err="1" smtClean="0"/>
              <a:t>overspeed</a:t>
            </a:r>
            <a:r>
              <a:rPr lang="en-US" sz="1400" dirty="0" smtClean="0"/>
              <a:t> only if vehicle speed &gt; 0</a:t>
            </a:r>
          </a:p>
          <a:p>
            <a:r>
              <a:rPr lang="en-US" sz="1400" dirty="0" smtClean="0"/>
              <a:t>Torque converter: better handling of ‘creeping’ situations</a:t>
            </a:r>
          </a:p>
          <a:p>
            <a:endParaRPr lang="en-US" sz="1400" dirty="0" smtClean="0"/>
          </a:p>
          <a:p>
            <a:pPr marL="0" indent="0">
              <a:buNone/>
            </a:pPr>
            <a:r>
              <a:rPr lang="en-US" sz="1400" b="1" dirty="0" err="1" smtClean="0"/>
              <a:t>Bugfixes</a:t>
            </a:r>
            <a:r>
              <a:rPr lang="en-US" sz="1400" b="1" dirty="0"/>
              <a:t>:</a:t>
            </a:r>
          </a:p>
          <a:p>
            <a:r>
              <a:rPr lang="en-US" sz="1400" dirty="0" smtClean="0"/>
              <a:t>[VECTO-443] </a:t>
            </a:r>
            <a:r>
              <a:rPr lang="en-US" sz="1400" dirty="0" err="1" smtClean="0"/>
              <a:t>Bugfix</a:t>
            </a:r>
            <a:r>
              <a:rPr lang="en-US" sz="1400" dirty="0" smtClean="0"/>
              <a:t> in AMT shift strategy: skip gears not working correctly</a:t>
            </a:r>
          </a:p>
          <a:p>
            <a:endParaRPr lang="en-US" sz="1400" dirty="0"/>
          </a:p>
        </p:txBody>
      </p:sp>
    </p:spTree>
    <p:extLst>
      <p:ext uri="{BB962C8B-B14F-4D97-AF65-F5344CB8AC3E}">
        <p14:creationId xmlns:p14="http://schemas.microsoft.com/office/powerpoint/2010/main" val="4056070644"/>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3.1.2.796</a:t>
            </a:r>
            <a:r>
              <a:rPr lang="en-US" dirty="0"/>
              <a:t/>
            </a:r>
            <a:br>
              <a:rPr lang="en-US" dirty="0"/>
            </a:br>
            <a:r>
              <a:rPr lang="en-US" sz="1600" dirty="0" smtClean="0"/>
              <a:t>2017-03-07</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200" b="1" dirty="0" smtClean="0"/>
              <a:t>Improvements:</a:t>
            </a:r>
          </a:p>
          <a:p>
            <a:r>
              <a:rPr lang="en-US" sz="1200" dirty="0" smtClean="0"/>
              <a:t>[VECTO-405] Adding clutch-losses for AMT/MT gearboxes during drive-off, reduce drive-off distance after stop from 1m to 0.25m, set clutch closing speed (normalized) to 6.5%, changes in clutch model</a:t>
            </a:r>
          </a:p>
          <a:p>
            <a:r>
              <a:rPr lang="en-US" sz="1200" dirty="0" smtClean="0"/>
              <a:t>[VECTO-379] Make GUI more tolerant against missing files. Instead of aborting reading the input data the GUI shows a suffix for missing input files</a:t>
            </a:r>
          </a:p>
          <a:p>
            <a:r>
              <a:rPr lang="en-US" sz="1200" dirty="0" smtClean="0"/>
              <a:t>[VECTO-411] Allow a traction interruption of 0s for AMT/MT gearboxes</a:t>
            </a:r>
          </a:p>
          <a:p>
            <a:r>
              <a:rPr lang="en-US" sz="1200" dirty="0" smtClean="0"/>
              <a:t>[VECTO-408] Gearbox Inertia for AT gearboxes set to 0</a:t>
            </a:r>
          </a:p>
          <a:p>
            <a:r>
              <a:rPr lang="en-US" sz="1200" dirty="0" smtClean="0"/>
              <a:t>[VECTO-419] Adapted error messages, added list of errors</a:t>
            </a:r>
          </a:p>
          <a:p>
            <a:r>
              <a:rPr lang="en-US" sz="1200" dirty="0" smtClean="0"/>
              <a:t>[VECTO-421,VECTO-439] Added volume-related results to </a:t>
            </a:r>
            <a:r>
              <a:rPr lang="en-US" sz="1200" dirty="0" err="1" smtClean="0"/>
              <a:t>vsum</a:t>
            </a:r>
            <a:r>
              <a:rPr lang="en-US" sz="1200" dirty="0" smtClean="0"/>
              <a:t> file (volume is computed based on default bodies)</a:t>
            </a:r>
          </a:p>
          <a:p>
            <a:r>
              <a:rPr lang="en-US" sz="1200" dirty="0" smtClean="0"/>
              <a:t>[] Energy balance (</a:t>
            </a:r>
            <a:r>
              <a:rPr lang="en-US" sz="1200" dirty="0" err="1" smtClean="0"/>
              <a:t>vsum</a:t>
            </a:r>
            <a:r>
              <a:rPr lang="en-US" sz="1200" dirty="0" smtClean="0"/>
              <a:t>) and balance of engine power output and power consumers (</a:t>
            </a:r>
            <a:r>
              <a:rPr lang="en-US" sz="1200" dirty="0" err="1" smtClean="0"/>
              <a:t>vmod</a:t>
            </a:r>
            <a:r>
              <a:rPr lang="en-US" sz="1200" dirty="0" smtClean="0"/>
              <a:t>) level</a:t>
            </a:r>
          </a:p>
          <a:p>
            <a:r>
              <a:rPr lang="en-US" sz="1200" dirty="0" smtClean="0"/>
              <a:t>[VECTO-430] AT shift strategy: upshifts may happen too early</a:t>
            </a:r>
          </a:p>
          <a:p>
            <a:r>
              <a:rPr lang="en-US" sz="1200" dirty="0" smtClean="0"/>
              <a:t>[VECTO-431] AMT shift strategy always started in first gear due to changes in clutch model</a:t>
            </a:r>
          </a:p>
          <a:p>
            <a:r>
              <a:rPr lang="en-US" sz="1200" dirty="0" smtClean="0"/>
              <a:t>[VECTO-433] adapt generic vehicles: use typical WHTC correction factors</a:t>
            </a:r>
          </a:p>
          <a:p>
            <a:r>
              <a:rPr lang="en-US" sz="1200" dirty="0" smtClean="0"/>
              <a:t>[VECTO-437] set vehicle speed at clutch-closed to 1.3 m/s</a:t>
            </a:r>
          </a:p>
          <a:p>
            <a:r>
              <a:rPr lang="en-US" sz="1200" dirty="0" smtClean="0"/>
              <a:t>[VECTO-436] fix simulation aborts with AT gearbox (neg. braking power, unexpected response, underload)</a:t>
            </a:r>
          </a:p>
          <a:p>
            <a:pPr marL="0" indent="0">
              <a:buNone/>
            </a:pPr>
            <a:r>
              <a:rPr lang="en-US" sz="1200" b="1" dirty="0" err="1" smtClean="0"/>
              <a:t>Bugfixes</a:t>
            </a:r>
            <a:r>
              <a:rPr lang="en-US" sz="1200" b="1" dirty="0"/>
              <a:t>:</a:t>
            </a:r>
          </a:p>
          <a:p>
            <a:r>
              <a:rPr lang="en-US" sz="1200" dirty="0" smtClean="0"/>
              <a:t>[VECTO-415] </a:t>
            </a:r>
            <a:r>
              <a:rPr lang="en-US" sz="1200" dirty="0" err="1" smtClean="0"/>
              <a:t>Powershift</a:t>
            </a:r>
            <a:r>
              <a:rPr lang="en-US" sz="1200" dirty="0" smtClean="0"/>
              <a:t> Losses were not considered for AT gearboxes with </a:t>
            </a:r>
            <a:r>
              <a:rPr lang="en-US" sz="1200" dirty="0" err="1" smtClean="0"/>
              <a:t>PowerSplit</a:t>
            </a:r>
            <a:endParaRPr lang="en-US" sz="1200" dirty="0" smtClean="0"/>
          </a:p>
          <a:p>
            <a:r>
              <a:rPr lang="en-US" sz="1200" dirty="0" smtClean="0"/>
              <a:t>[VECTO-416] Measured Speed with gear failed when cycle contained parts with eco-roll (computation of next gear failed)</a:t>
            </a:r>
          </a:p>
          <a:p>
            <a:r>
              <a:rPr lang="en-US" sz="1200" dirty="0" smtClean="0"/>
              <a:t>[VECTO-428] Sum of timeshares adds up to 100%</a:t>
            </a:r>
          </a:p>
          <a:p>
            <a:r>
              <a:rPr lang="en-US" sz="1200" dirty="0" smtClean="0"/>
              <a:t>[VECTO-429] Min Velocity for </a:t>
            </a:r>
            <a:r>
              <a:rPr lang="en-US" sz="1200" dirty="0" err="1" smtClean="0"/>
              <a:t>lookahead</a:t>
            </a:r>
            <a:r>
              <a:rPr lang="en-US" sz="1200" dirty="0" smtClean="0"/>
              <a:t> coasting was not written to JSON file</a:t>
            </a:r>
          </a:p>
          <a:p>
            <a:pPr marL="0" indent="0">
              <a:buNone/>
            </a:pPr>
            <a:endParaRPr lang="en-US" sz="1200" dirty="0" smtClean="0"/>
          </a:p>
        </p:txBody>
      </p:sp>
    </p:spTree>
    <p:extLst>
      <p:ext uri="{BB962C8B-B14F-4D97-AF65-F5344CB8AC3E}">
        <p14:creationId xmlns:p14="http://schemas.microsoft.com/office/powerpoint/2010/main" val="652415552"/>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3.1.1.748</a:t>
            </a:r>
            <a:r>
              <a:rPr lang="en-US" dirty="0"/>
              <a:t/>
            </a:r>
            <a:br>
              <a:rPr lang="en-US" dirty="0"/>
            </a:br>
            <a:r>
              <a:rPr lang="en-US" sz="1600" dirty="0" smtClean="0"/>
              <a:t>2017-01-18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err="1" smtClean="0"/>
              <a:t>Bugfixes</a:t>
            </a:r>
            <a:r>
              <a:rPr lang="en-US" sz="1400" b="1" dirty="0"/>
              <a:t>:</a:t>
            </a:r>
          </a:p>
          <a:p>
            <a:r>
              <a:rPr lang="en-US" sz="1400" dirty="0" smtClean="0"/>
              <a:t>[</a:t>
            </a:r>
            <a:r>
              <a:rPr lang="en-US" sz="1400" dirty="0"/>
              <a:t>VECTO-404] Driving Cycle with PTO </a:t>
            </a:r>
            <a:r>
              <a:rPr lang="en-US" sz="1400" dirty="0" smtClean="0"/>
              <a:t>stopped simulation </a:t>
            </a:r>
            <a:r>
              <a:rPr lang="en-US" sz="1400" dirty="0"/>
              <a:t>after first PTO activation</a:t>
            </a:r>
          </a:p>
        </p:txBody>
      </p:sp>
    </p:spTree>
    <p:extLst>
      <p:ext uri="{BB962C8B-B14F-4D97-AF65-F5344CB8AC3E}">
        <p14:creationId xmlns:p14="http://schemas.microsoft.com/office/powerpoint/2010/main" val="3490509634"/>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a:t>
            </a:r>
            <a:r>
              <a:rPr lang="en-US" smtClean="0"/>
              <a:t>3.1.1.742</a:t>
            </a:r>
            <a:r>
              <a:rPr lang="en-US"/>
              <a:t/>
            </a:r>
            <a:br>
              <a:rPr lang="en-US"/>
            </a:br>
            <a:r>
              <a:rPr lang="en-US" sz="1600" smtClean="0"/>
              <a:t>2017-01-12</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400" b="1" dirty="0" smtClean="0"/>
              <a:t>Improvements:</a:t>
            </a:r>
          </a:p>
          <a:p>
            <a:r>
              <a:rPr lang="en-US" sz="1400" dirty="0" smtClean="0"/>
              <a:t>[VECTO-390, VECTO-400] Adapt engine speed to estimated engine speed after gear shift during traction interruption (double clutching)</a:t>
            </a:r>
          </a:p>
          <a:p>
            <a:r>
              <a:rPr lang="en-US" sz="1400" dirty="0"/>
              <a:t>[VECTO-396, VECTO-388] Add shift losses for AT power shifts</a:t>
            </a:r>
          </a:p>
          <a:p>
            <a:r>
              <a:rPr lang="en-US" sz="1400" dirty="0"/>
              <a:t>[VECTO-389] new gear shift rules for AT gearboxes</a:t>
            </a:r>
          </a:p>
          <a:p>
            <a:r>
              <a:rPr lang="en-US" sz="1400" dirty="0"/>
              <a:t>[VECTO-387] added max input speed for torque converter</a:t>
            </a:r>
          </a:p>
          <a:p>
            <a:r>
              <a:rPr lang="en-US" sz="1400" dirty="0"/>
              <a:t>[VECTO-385] Automatically add generic torque converter data for </a:t>
            </a:r>
            <a:r>
              <a:rPr lang="en-US" sz="1400" dirty="0" smtClean="0"/>
              <a:t>drag</a:t>
            </a:r>
          </a:p>
          <a:p>
            <a:r>
              <a:rPr lang="en-US" sz="1400" dirty="0" smtClean="0"/>
              <a:t>[VECTO-399] Add missions and loadings for vehicle categories 11, 12, and 16 (declaration mode)</a:t>
            </a:r>
          </a:p>
          <a:p>
            <a:r>
              <a:rPr lang="en-US" sz="1400" dirty="0"/>
              <a:t>[VECTO-384] cleanup memory after simulation run</a:t>
            </a:r>
          </a:p>
          <a:p>
            <a:r>
              <a:rPr lang="en-US" sz="1400" dirty="0" smtClean="0"/>
              <a:t>[VECTO-394] new option for </a:t>
            </a:r>
            <a:r>
              <a:rPr lang="en-US" sz="1400" dirty="0" err="1" smtClean="0"/>
              <a:t>vectocmd</a:t>
            </a:r>
            <a:r>
              <a:rPr lang="en-US" sz="1400" dirty="0" smtClean="0"/>
              <a:t> to disable all output</a:t>
            </a:r>
          </a:p>
          <a:p>
            <a:r>
              <a:rPr lang="en-US" sz="1400" dirty="0" smtClean="0"/>
              <a:t>[VECTO-392] make the GUI scale depending on the Windows font size</a:t>
            </a:r>
          </a:p>
          <a:p>
            <a:r>
              <a:rPr lang="en-US" sz="1400" dirty="0" smtClean="0"/>
              <a:t>[VECTO-391] Gearbox output speed and output torque added to .</a:t>
            </a:r>
            <a:r>
              <a:rPr lang="en-US" sz="1400" dirty="0" err="1" smtClean="0"/>
              <a:t>vmod</a:t>
            </a:r>
            <a:r>
              <a:rPr lang="en-US" sz="1400" dirty="0" smtClean="0"/>
              <a:t> files</a:t>
            </a:r>
          </a:p>
          <a:p>
            <a:r>
              <a:rPr lang="en-US" sz="1400" dirty="0" smtClean="0"/>
              <a:t>[VECTO-386] Gearbox window: disable input fields not applicable for the selected gearbox type</a:t>
            </a:r>
          </a:p>
          <a:p>
            <a:pPr marL="0" indent="0">
              <a:buNone/>
            </a:pPr>
            <a:r>
              <a:rPr lang="en-US" sz="1400" b="1" dirty="0" err="1" smtClean="0"/>
              <a:t>Bugfixes</a:t>
            </a:r>
            <a:r>
              <a:rPr lang="en-US" sz="1400" b="1" dirty="0"/>
              <a:t>:</a:t>
            </a:r>
          </a:p>
          <a:p>
            <a:r>
              <a:rPr lang="en-US" sz="1400" dirty="0" smtClean="0"/>
              <a:t>[VECTO-401] Computation of n_95h etc. fails if engine’s max torque is constant 0 </a:t>
            </a:r>
          </a:p>
          <a:p>
            <a:r>
              <a:rPr lang="en-US" sz="1400" dirty="0" smtClean="0"/>
              <a:t>Lookup of </a:t>
            </a:r>
            <a:r>
              <a:rPr lang="en-US" sz="1400" dirty="0" err="1" smtClean="0"/>
              <a:t>Airdrag</a:t>
            </a:r>
            <a:r>
              <a:rPr lang="en-US" sz="1400" dirty="0" smtClean="0"/>
              <a:t> parameters in declaration mode</a:t>
            </a:r>
          </a:p>
          <a:p>
            <a:r>
              <a:rPr lang="en-US" sz="1400" dirty="0" smtClean="0"/>
              <a:t>[VECTO-378] Improved file-handling in AAUX module</a:t>
            </a:r>
            <a:endParaRPr lang="en-US" sz="1400" dirty="0"/>
          </a:p>
        </p:txBody>
      </p:sp>
    </p:spTree>
    <p:extLst>
      <p:ext uri="{BB962C8B-B14F-4D97-AF65-F5344CB8AC3E}">
        <p14:creationId xmlns:p14="http://schemas.microsoft.com/office/powerpoint/2010/main" val="2520835531"/>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3.1.0.683</a:t>
            </a:r>
            <a:r>
              <a:rPr lang="en-US" dirty="0"/>
              <a:t/>
            </a:r>
            <a:br>
              <a:rPr lang="en-US" dirty="0"/>
            </a:br>
            <a:r>
              <a:rPr lang="en-US" sz="1600" dirty="0"/>
              <a:t>2016-11-14</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600" b="1" dirty="0" err="1" smtClean="0"/>
              <a:t>Bugfixes</a:t>
            </a:r>
            <a:r>
              <a:rPr lang="en-US" sz="1600" b="1" dirty="0" smtClean="0"/>
              <a:t>:</a:t>
            </a:r>
          </a:p>
          <a:p>
            <a:r>
              <a:rPr lang="en-US" sz="1600" dirty="0" smtClean="0"/>
              <a:t>[</a:t>
            </a:r>
            <a:r>
              <a:rPr lang="en-US" sz="1600" dirty="0"/>
              <a:t>VECTO-375] Fixed bug when braking during slope change from negative to positive values.</a:t>
            </a:r>
          </a:p>
          <a:p>
            <a:r>
              <a:rPr lang="en-US" sz="1600" dirty="0" smtClean="0"/>
              <a:t>[</a:t>
            </a:r>
            <a:r>
              <a:rPr lang="en-US" sz="1600" dirty="0"/>
              <a:t>VECTO-372] Added check for unusual acceleration/deceleration data which could lead to error when halting.</a:t>
            </a:r>
          </a:p>
          <a:p>
            <a:r>
              <a:rPr lang="en-US" sz="1600" dirty="0" smtClean="0"/>
              <a:t>[</a:t>
            </a:r>
            <a:r>
              <a:rPr lang="en-US" sz="1600" dirty="0"/>
              <a:t>VECTO-371] Added additional behavior to overcome such situations</a:t>
            </a:r>
          </a:p>
          <a:p>
            <a:r>
              <a:rPr lang="en-US" sz="1600" dirty="0" smtClean="0"/>
              <a:t>[</a:t>
            </a:r>
            <a:r>
              <a:rPr lang="en-US" sz="1600" dirty="0"/>
              <a:t>VECTO-370] Added additional behavior to overcome such situations</a:t>
            </a:r>
          </a:p>
          <a:p>
            <a:r>
              <a:rPr lang="en-US" sz="1600" dirty="0" smtClean="0"/>
              <a:t>[</a:t>
            </a:r>
            <a:r>
              <a:rPr lang="en-US" sz="1600" dirty="0"/>
              <a:t>VECTO-369] </a:t>
            </a:r>
            <a:r>
              <a:rPr lang="en-US" sz="1600" dirty="0" err="1"/>
              <a:t>CrosswindCorrection</a:t>
            </a:r>
            <a:r>
              <a:rPr lang="en-US" sz="1600" dirty="0"/>
              <a:t> is now saved and read again from JSON files</a:t>
            </a:r>
          </a:p>
          <a:p>
            <a:r>
              <a:rPr lang="en-US" sz="1600" dirty="0" smtClean="0"/>
              <a:t>[</a:t>
            </a:r>
            <a:r>
              <a:rPr lang="en-US" sz="1600" dirty="0"/>
              <a:t>VECTO-373] WHTC-Engineering correction factor now correctly read/write in JSON files</a:t>
            </a:r>
          </a:p>
          <a:p>
            <a:r>
              <a:rPr lang="en-US" sz="1600" dirty="0" smtClean="0"/>
              <a:t>[</a:t>
            </a:r>
            <a:r>
              <a:rPr lang="en-US" sz="1600" dirty="0"/>
              <a:t>VECTO-368] Fixed validation for specific cases when values are intentionally invalid.</a:t>
            </a:r>
          </a:p>
          <a:p>
            <a:r>
              <a:rPr lang="en-US" sz="1600" dirty="0" smtClean="0"/>
              <a:t>[</a:t>
            </a:r>
            <a:r>
              <a:rPr lang="en-US" sz="1600" dirty="0"/>
              <a:t>VECTO-357] Updated GUI to not show ECO-Roll option to avoid confusion</a:t>
            </a:r>
          </a:p>
          <a:p>
            <a:r>
              <a:rPr lang="en-US" sz="1600" dirty="0" smtClean="0"/>
              <a:t>Fixed </a:t>
            </a:r>
            <a:r>
              <a:rPr lang="en-US" sz="1600" dirty="0"/>
              <a:t>numerous bugs in AT-</a:t>
            </a:r>
            <a:r>
              <a:rPr lang="en-US" sz="1600" dirty="0" err="1"/>
              <a:t>ShiftStrategy</a:t>
            </a:r>
            <a:r>
              <a:rPr lang="en-US" sz="1600" dirty="0"/>
              <a:t> regarding the Torque Converter</a:t>
            </a:r>
          </a:p>
          <a:p>
            <a:r>
              <a:rPr lang="en-US" sz="1600" dirty="0" smtClean="0"/>
              <a:t>Fixed </a:t>
            </a:r>
            <a:r>
              <a:rPr lang="en-US" sz="1600" dirty="0"/>
              <a:t>numerous bugs in </a:t>
            </a:r>
            <a:r>
              <a:rPr lang="en-US" sz="1600" dirty="0" err="1"/>
              <a:t>MeasuredSpeed</a:t>
            </a:r>
            <a:r>
              <a:rPr lang="en-US" sz="1600" dirty="0"/>
              <a:t> Mode (and </a:t>
            </a:r>
            <a:r>
              <a:rPr lang="en-US" sz="1600" dirty="0" err="1"/>
              <a:t>MeasuredSpeed</a:t>
            </a:r>
            <a:r>
              <a:rPr lang="en-US" sz="1600" dirty="0"/>
              <a:t> with Gear) in connection with AT-Gearbox and </a:t>
            </a:r>
            <a:r>
              <a:rPr lang="en-US" sz="1600" dirty="0" err="1"/>
              <a:t>TorqueConverter</a:t>
            </a:r>
            <a:endParaRPr lang="en-US" sz="1600" dirty="0"/>
          </a:p>
          <a:p>
            <a:r>
              <a:rPr lang="en-US" sz="1600" dirty="0" smtClean="0"/>
              <a:t>Fixed </a:t>
            </a:r>
            <a:r>
              <a:rPr lang="en-US" sz="1600" dirty="0"/>
              <a:t>a bug when PTO-Cycle was missing</a:t>
            </a:r>
          </a:p>
          <a:p>
            <a:r>
              <a:rPr lang="en-US" sz="1600" dirty="0" smtClean="0"/>
              <a:t>Corrected </a:t>
            </a:r>
            <a:r>
              <a:rPr lang="en-US" sz="1600" dirty="0"/>
              <a:t>axle loss maps for Generic Vehicles in Declaration Mode to match technical annex</a:t>
            </a:r>
          </a:p>
          <a:p>
            <a:r>
              <a:rPr lang="en-US" sz="1600" dirty="0" smtClean="0"/>
              <a:t>Corrected </a:t>
            </a:r>
            <a:r>
              <a:rPr lang="en-US" sz="1600" dirty="0" err="1"/>
              <a:t>SumFile</a:t>
            </a:r>
            <a:r>
              <a:rPr lang="en-US" sz="1600" dirty="0"/>
              <a:t> Cruise Time Share. </a:t>
            </a:r>
            <a:r>
              <a:rPr lang="en-US" sz="1600" dirty="0" smtClean="0"/>
              <a:t>Added </a:t>
            </a:r>
            <a:r>
              <a:rPr lang="en-US" sz="1600" dirty="0"/>
              <a:t>that timeshares must add up to 100%</a:t>
            </a:r>
          </a:p>
          <a:p>
            <a:pPr marL="0" indent="0">
              <a:buNone/>
            </a:pPr>
            <a:endParaRPr lang="en-US" sz="1600" dirty="0"/>
          </a:p>
        </p:txBody>
      </p:sp>
    </p:spTree>
    <p:extLst>
      <p:ext uri="{BB962C8B-B14F-4D97-AF65-F5344CB8AC3E}">
        <p14:creationId xmlns:p14="http://schemas.microsoft.com/office/powerpoint/2010/main" val="26170151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468315" y="1412776"/>
            <a:ext cx="8496173" cy="4968552"/>
          </a:xfrm>
        </p:spPr>
        <p:txBody>
          <a:bodyPr/>
          <a:lstStyle/>
          <a:p>
            <a:pPr marL="0" indent="0">
              <a:buNone/>
            </a:pPr>
            <a:r>
              <a:rPr lang="en-US" sz="1600" b="1" dirty="0" smtClean="0"/>
              <a:t>Improvements</a:t>
            </a:r>
            <a:r>
              <a:rPr lang="en-US" sz="1600" b="1" dirty="0"/>
              <a:t>:</a:t>
            </a:r>
          </a:p>
          <a:p>
            <a:r>
              <a:rPr lang="en-US" sz="1600" dirty="0" smtClean="0"/>
              <a:t>[</a:t>
            </a:r>
            <a:r>
              <a:rPr lang="en-US" sz="1600" dirty="0"/>
              <a:t>VECTO-355] Updated documentation, added powertrain schematics in chapter "Simulation Models"</a:t>
            </a:r>
          </a:p>
          <a:p>
            <a:r>
              <a:rPr lang="en-US" sz="1600" dirty="0" smtClean="0"/>
              <a:t>[</a:t>
            </a:r>
            <a:r>
              <a:rPr lang="en-US" sz="1600" dirty="0"/>
              <a:t>VECTO-374] Check range for Torque Converter </a:t>
            </a:r>
            <a:r>
              <a:rPr lang="en-US" sz="1600" dirty="0" smtClean="0"/>
              <a:t>speed ratio </a:t>
            </a:r>
            <a:r>
              <a:rPr lang="en-US" sz="1600" dirty="0"/>
              <a:t>input data to be at least </a:t>
            </a:r>
            <a:r>
              <a:rPr lang="en-US" sz="1600" dirty="0" smtClean="0"/>
              <a:t>between </a:t>
            </a:r>
            <a:r>
              <a:rPr lang="en-US" sz="1600" dirty="0"/>
              <a:t>0 and 2.2</a:t>
            </a:r>
          </a:p>
          <a:p>
            <a:r>
              <a:rPr lang="en-US" sz="1600" dirty="0" smtClean="0"/>
              <a:t>Updated </a:t>
            </a:r>
            <a:r>
              <a:rPr lang="en-US" sz="1600" dirty="0"/>
              <a:t>many </a:t>
            </a:r>
            <a:r>
              <a:rPr lang="en-US" sz="1600" dirty="0" smtClean="0"/>
              <a:t>error messages </a:t>
            </a:r>
            <a:r>
              <a:rPr lang="en-US" sz="1600" dirty="0"/>
              <a:t>to be more explicit about the reason of error</a:t>
            </a:r>
          </a:p>
          <a:p>
            <a:r>
              <a:rPr lang="en-US" sz="1600" dirty="0" smtClean="0"/>
              <a:t>Added </a:t>
            </a:r>
            <a:r>
              <a:rPr lang="en-US" sz="1600" dirty="0"/>
              <a:t>"Mission P</a:t>
            </a:r>
            <a:r>
              <a:rPr lang="en-US" sz="1600" dirty="0" smtClean="0"/>
              <a:t>rofiles" </a:t>
            </a:r>
            <a:r>
              <a:rPr lang="en-US" sz="1600" dirty="0"/>
              <a:t>Directory with driving cycles publicly available in the application root directory.</a:t>
            </a:r>
          </a:p>
          <a:p>
            <a:r>
              <a:rPr lang="en-US" sz="1600" dirty="0" smtClean="0"/>
              <a:t>Added </a:t>
            </a:r>
            <a:r>
              <a:rPr lang="en-US" sz="1600" dirty="0"/>
              <a:t>"Declaration" directory with the declaration data files in the application root directory</a:t>
            </a:r>
            <a:r>
              <a:rPr lang="en-US" sz="1600" dirty="0" smtClean="0"/>
              <a:t>.</a:t>
            </a:r>
          </a:p>
          <a:p>
            <a:r>
              <a:rPr lang="en-US" sz="1600" dirty="0" smtClean="0"/>
              <a:t>Added </a:t>
            </a:r>
            <a:r>
              <a:rPr lang="en-US" sz="1600" dirty="0"/>
              <a:t>warning when engine inertia is </a:t>
            </a:r>
            <a:r>
              <a:rPr lang="en-US" sz="1600" dirty="0" smtClean="0"/>
              <a:t>0</a:t>
            </a:r>
          </a:p>
          <a:p>
            <a:r>
              <a:rPr lang="en-US" sz="1600" dirty="0" smtClean="0"/>
              <a:t>Added check that engine speed must not fall below idle speed (even in measured speed mode)</a:t>
            </a:r>
            <a:endParaRPr lang="en-US" sz="1600" dirty="0"/>
          </a:p>
          <a:p>
            <a:r>
              <a:rPr lang="en-US" sz="1600" dirty="0" smtClean="0"/>
              <a:t>Shift </a:t>
            </a:r>
            <a:r>
              <a:rPr lang="en-US" sz="1600" dirty="0"/>
              <a:t>curve validation for AT gearboxes: shift curves may now overlap due to different shift logic in </a:t>
            </a:r>
            <a:r>
              <a:rPr lang="en-US" sz="1600" dirty="0" err="1"/>
              <a:t>AutomaticTransmissions</a:t>
            </a:r>
            <a:r>
              <a:rPr lang="en-US" sz="1600" dirty="0" smtClean="0"/>
              <a:t>.</a:t>
            </a:r>
          </a:p>
          <a:p>
            <a:r>
              <a:rPr lang="en-US" sz="1600" dirty="0" smtClean="0"/>
              <a:t>Updated Crosswind </a:t>
            </a:r>
            <a:r>
              <a:rPr lang="en-US" sz="1600" dirty="0"/>
              <a:t>Coefficients for </a:t>
            </a:r>
            <a:r>
              <a:rPr lang="de-AT" sz="1600" dirty="0" err="1" smtClean="0"/>
              <a:t>Tractor+Semitrailer</a:t>
            </a:r>
            <a:endParaRPr lang="en-US" sz="1600" dirty="0"/>
          </a:p>
          <a:p>
            <a:endParaRPr lang="en-US" sz="1600" dirty="0" smtClean="0"/>
          </a:p>
        </p:txBody>
      </p:sp>
      <p:sp>
        <p:nvSpPr>
          <p:cNvPr id="5" name="Titel 1"/>
          <p:cNvSpPr txBox="1">
            <a:spLocks/>
          </p:cNvSpPr>
          <p:nvPr/>
        </p:nvSpPr>
        <p:spPr bwMode="auto">
          <a:xfrm>
            <a:off x="468315" y="476672"/>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r>
              <a:rPr lang="en-US" kern="0" smtClean="0"/>
              <a:t>Vecto 3.1.0.683</a:t>
            </a:r>
            <a:br>
              <a:rPr lang="en-US" kern="0" smtClean="0"/>
            </a:br>
            <a:r>
              <a:rPr lang="en-US" sz="1600" kern="0" smtClean="0"/>
              <a:t>2016-11-14</a:t>
            </a:r>
            <a:endParaRPr lang="en-US" sz="1600" kern="0" dirty="0"/>
          </a:p>
        </p:txBody>
      </p:sp>
    </p:spTree>
    <p:extLst>
      <p:ext uri="{BB962C8B-B14F-4D97-AF65-F5344CB8AC3E}">
        <p14:creationId xmlns:p14="http://schemas.microsoft.com/office/powerpoint/2010/main" val="75026488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3.1.0.662</a:t>
            </a:r>
            <a:br>
              <a:rPr lang="en-US" dirty="0" smtClean="0"/>
            </a:br>
            <a:r>
              <a:rPr lang="en-US" sz="1600" dirty="0" smtClean="0"/>
              <a:t>2016-10-24</a:t>
            </a:r>
            <a:endParaRPr lang="en-US" sz="1600" dirty="0"/>
          </a:p>
        </p:txBody>
      </p:sp>
      <p:sp>
        <p:nvSpPr>
          <p:cNvPr id="3" name="Inhaltsplatzhalter 2"/>
          <p:cNvSpPr>
            <a:spLocks noGrp="1"/>
          </p:cNvSpPr>
          <p:nvPr>
            <p:ph idx="1"/>
          </p:nvPr>
        </p:nvSpPr>
        <p:spPr>
          <a:xfrm>
            <a:off x="468315" y="1412776"/>
            <a:ext cx="8496173" cy="4968552"/>
          </a:xfrm>
        </p:spPr>
        <p:txBody>
          <a:bodyPr/>
          <a:lstStyle/>
          <a:p>
            <a:r>
              <a:rPr lang="en-US" sz="1800" b="1" dirty="0" err="1" smtClean="0"/>
              <a:t>Bugfixes</a:t>
            </a:r>
            <a:r>
              <a:rPr lang="en-US" sz="1800" dirty="0" smtClean="0"/>
              <a:t>:</a:t>
            </a:r>
          </a:p>
          <a:p>
            <a:pPr lvl="1"/>
            <a:r>
              <a:rPr lang="en-US" sz="1600" dirty="0" smtClean="0"/>
              <a:t>[</a:t>
            </a:r>
            <a:r>
              <a:rPr lang="en-US" sz="1600" dirty="0"/>
              <a:t>VECTO-360] Fixed error during startup of VECTO (loading of DLLs</a:t>
            </a:r>
            <a:r>
              <a:rPr lang="en-US" sz="1600" dirty="0" smtClean="0"/>
              <a:t>).</a:t>
            </a:r>
          </a:p>
          <a:p>
            <a:pPr lvl="1"/>
            <a:r>
              <a:rPr lang="en-US" sz="1600" dirty="0" smtClean="0"/>
              <a:t>[</a:t>
            </a:r>
            <a:r>
              <a:rPr lang="en-US" sz="1600" dirty="0"/>
              <a:t>VECTO-358] Fixed errors during simulation where vehicle unintentionally was driving backwards. Fixed 1Hz-Filter for </a:t>
            </a:r>
            <a:r>
              <a:rPr lang="en-US" sz="1600" dirty="0" err="1"/>
              <a:t>ModFiles</a:t>
            </a:r>
            <a:r>
              <a:rPr lang="en-US" sz="1600" dirty="0"/>
              <a:t> (distance was wrong under certain circumstances, vehicle seemingly jumping back before halt</a:t>
            </a:r>
            <a:r>
              <a:rPr lang="en-US" sz="1600" dirty="0" smtClean="0"/>
              <a:t>)</a:t>
            </a:r>
          </a:p>
          <a:p>
            <a:pPr lvl="1"/>
            <a:r>
              <a:rPr lang="en-US" sz="1600" dirty="0" smtClean="0"/>
              <a:t>[</a:t>
            </a:r>
            <a:r>
              <a:rPr lang="en-US" sz="1600" dirty="0"/>
              <a:t>VECTO-361] Fixed classification of vehicles with GVM of exactly </a:t>
            </a:r>
            <a:r>
              <a:rPr lang="en-US" sz="1600" dirty="0" smtClean="0"/>
              <a:t>7500kg</a:t>
            </a:r>
          </a:p>
          <a:p>
            <a:pPr lvl="1"/>
            <a:r>
              <a:rPr lang="en-US" sz="1600" dirty="0" smtClean="0"/>
              <a:t>[</a:t>
            </a:r>
            <a:r>
              <a:rPr lang="en-US" sz="1600" dirty="0"/>
              <a:t>VECTO-364] Fixed an error in measured speed mode (run aborts</a:t>
            </a:r>
            <a:r>
              <a:rPr lang="en-US" sz="1600" dirty="0" smtClean="0"/>
              <a:t>).</a:t>
            </a:r>
          </a:p>
          <a:p>
            <a:pPr lvl="1"/>
            <a:r>
              <a:rPr lang="en-US" sz="1600" dirty="0" smtClean="0"/>
              <a:t>[</a:t>
            </a:r>
            <a:r>
              <a:rPr lang="en-US" sz="1600" dirty="0"/>
              <a:t>VECTO-363] Compute shift polygons in declaration mode now uses correct boundary for full load </a:t>
            </a:r>
            <a:r>
              <a:rPr lang="en-US" sz="1600" dirty="0" smtClean="0"/>
              <a:t>margin.</a:t>
            </a:r>
          </a:p>
          <a:p>
            <a:pPr lvl="1"/>
            <a:r>
              <a:rPr lang="en-US" sz="1600" dirty="0" smtClean="0"/>
              <a:t>[VECTO-365] Fixed </a:t>
            </a:r>
            <a:r>
              <a:rPr lang="en-US" sz="1600" dirty="0"/>
              <a:t>editing gears in declaration </a:t>
            </a:r>
            <a:r>
              <a:rPr lang="en-US" sz="1600" dirty="0" smtClean="0"/>
              <a:t>mode</a:t>
            </a:r>
          </a:p>
          <a:p>
            <a:r>
              <a:rPr lang="en-US" sz="1800" b="1" dirty="0" smtClean="0"/>
              <a:t>Improvements</a:t>
            </a:r>
            <a:r>
              <a:rPr lang="en-US" sz="1800" dirty="0" smtClean="0"/>
              <a:t>:</a:t>
            </a:r>
          </a:p>
          <a:p>
            <a:pPr lvl="1"/>
            <a:r>
              <a:rPr lang="en-US" sz="1600" dirty="0" smtClean="0"/>
              <a:t>[</a:t>
            </a:r>
            <a:r>
              <a:rPr lang="en-US" sz="1600" dirty="0"/>
              <a:t>VECTO-355] User Manual updated (Screenshots, Descriptions, File Formats, </a:t>
            </a:r>
            <a:r>
              <a:rPr lang="en-US" sz="1600" dirty="0" err="1"/>
              <a:t>Vecto</a:t>
            </a:r>
            <a:r>
              <a:rPr lang="en-US" sz="1600" dirty="0"/>
              <a:t> V2 Comments removed</a:t>
            </a:r>
            <a:r>
              <a:rPr lang="en-US" sz="1600" dirty="0" smtClean="0"/>
              <a:t>).</a:t>
            </a:r>
          </a:p>
          <a:p>
            <a:pPr lvl="1"/>
            <a:r>
              <a:rPr lang="en-US" sz="1600" dirty="0" smtClean="0"/>
              <a:t>[</a:t>
            </a:r>
            <a:r>
              <a:rPr lang="en-US" sz="1600" dirty="0"/>
              <a:t>VECTO-317] Declaration data for Wheel sizes </a:t>
            </a:r>
            <a:r>
              <a:rPr lang="en-US" sz="1600" dirty="0" smtClean="0"/>
              <a:t>updated</a:t>
            </a:r>
          </a:p>
          <a:p>
            <a:pPr lvl="1"/>
            <a:r>
              <a:rPr lang="en-US" sz="1600" dirty="0" smtClean="0"/>
              <a:t>[VECTO-359</a:t>
            </a:r>
            <a:r>
              <a:rPr lang="en-US" sz="1600" dirty="0"/>
              <a:t>] Simplified code regarding PT1 behavior</a:t>
            </a:r>
            <a:r>
              <a:rPr lang="en-US" sz="1600" dirty="0" smtClean="0"/>
              <a:t>.</a:t>
            </a:r>
          </a:p>
          <a:p>
            <a:pPr lvl="1"/>
            <a:r>
              <a:rPr lang="en-US" sz="1600" dirty="0" smtClean="0"/>
              <a:t>[</a:t>
            </a:r>
            <a:r>
              <a:rPr lang="en-US" sz="1600" dirty="0"/>
              <a:t>VECTO-323] PTO-Cycle may now be left empty when not used in driving </a:t>
            </a:r>
            <a:r>
              <a:rPr lang="en-US" sz="1600" dirty="0" smtClean="0"/>
              <a:t>cycle.</a:t>
            </a:r>
          </a:p>
        </p:txBody>
      </p:sp>
    </p:spTree>
    <p:extLst>
      <p:ext uri="{BB962C8B-B14F-4D97-AF65-F5344CB8AC3E}">
        <p14:creationId xmlns:p14="http://schemas.microsoft.com/office/powerpoint/2010/main" val="389272404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smtClean="0"/>
              <a:t>2016-10-14</a:t>
            </a:r>
            <a:endParaRPr lang="en-US" sz="1600" dirty="0"/>
          </a:p>
        </p:txBody>
      </p:sp>
      <p:sp>
        <p:nvSpPr>
          <p:cNvPr id="3" name="Inhaltsplatzhalter 2"/>
          <p:cNvSpPr>
            <a:spLocks noGrp="1"/>
          </p:cNvSpPr>
          <p:nvPr>
            <p:ph idx="1"/>
          </p:nvPr>
        </p:nvSpPr>
        <p:spPr>
          <a:xfrm>
            <a:off x="468315" y="1412776"/>
            <a:ext cx="8496173" cy="4713387"/>
          </a:xfrm>
        </p:spPr>
        <p:txBody>
          <a:bodyPr/>
          <a:lstStyle/>
          <a:p>
            <a:r>
              <a:rPr lang="en-US" dirty="0" smtClean="0"/>
              <a:t>Main Updates</a:t>
            </a:r>
          </a:p>
          <a:p>
            <a:pPr lvl="1"/>
            <a:r>
              <a:rPr lang="en-US" dirty="0" smtClean="0"/>
              <a:t>Removed VECTO Core 2.2</a:t>
            </a:r>
          </a:p>
          <a:p>
            <a:pPr lvl="1"/>
            <a:r>
              <a:rPr lang="en-US" dirty="0" smtClean="0"/>
              <a:t>Refactoring of the User-Interface Backend: loading, saving files and validating user input uses </a:t>
            </a:r>
            <a:r>
              <a:rPr lang="en-US" dirty="0" err="1" smtClean="0"/>
              <a:t>Vecto</a:t>
            </a:r>
            <a:r>
              <a:rPr lang="en-US" dirty="0" smtClean="0"/>
              <a:t> 3 models</a:t>
            </a:r>
          </a:p>
          <a:p>
            <a:pPr lvl="1"/>
            <a:r>
              <a:rPr lang="en-US" dirty="0" smtClean="0"/>
              <a:t>AT-Gearbox Model: differentiate between AT gearbox with serial torque converter and AT gearbox using </a:t>
            </a:r>
            <a:r>
              <a:rPr lang="en-US" dirty="0" err="1" smtClean="0"/>
              <a:t>powersplit</a:t>
            </a:r>
            <a:endParaRPr lang="en-US" dirty="0" smtClean="0"/>
          </a:p>
          <a:p>
            <a:pPr lvl="1"/>
            <a:r>
              <a:rPr lang="en-US" dirty="0" smtClean="0"/>
              <a:t>Numbering of gears with AT gearbox corresponds to mechanical gears, new column </a:t>
            </a:r>
            <a:r>
              <a:rPr lang="en-US" dirty="0" err="1" smtClean="0"/>
              <a:t>TC_locked</a:t>
            </a:r>
            <a:r>
              <a:rPr lang="en-US" dirty="0" smtClean="0"/>
              <a:t> in .</a:t>
            </a:r>
            <a:r>
              <a:rPr lang="en-US" dirty="0" err="1" smtClean="0"/>
              <a:t>vmod</a:t>
            </a:r>
            <a:r>
              <a:rPr lang="en-US" dirty="0" smtClean="0"/>
              <a:t> file to indicate if torque converter is active</a:t>
            </a:r>
          </a:p>
          <a:p>
            <a:pPr lvl="1"/>
            <a:r>
              <a:rPr lang="en-US" dirty="0" smtClean="0"/>
              <a:t>Torque converter gear no longer allowed in input (added by </a:t>
            </a:r>
            <a:r>
              <a:rPr lang="en-US" dirty="0" err="1" smtClean="0"/>
              <a:t>Vecto</a:t>
            </a:r>
            <a:r>
              <a:rPr lang="en-US" dirty="0" smtClean="0"/>
              <a:t> depending on the AT model)</a:t>
            </a:r>
          </a:p>
          <a:p>
            <a:pPr lvl="1"/>
            <a:r>
              <a:rPr lang="en-US" dirty="0" smtClean="0"/>
              <a:t>New implementation of torque converter model (analytic solutions)</a:t>
            </a:r>
          </a:p>
          <a:p>
            <a:pPr lvl="1"/>
            <a:r>
              <a:rPr lang="en-US" dirty="0" smtClean="0"/>
              <a:t>Added PTO option for municipal utility vehicles: PTO idle losses, separate PTO cycle during standstill</a:t>
            </a:r>
          </a:p>
          <a:p>
            <a:pPr lvl="1"/>
            <a:r>
              <a:rPr lang="en-US" dirty="0" smtClean="0"/>
              <a:t>Added </a:t>
            </a:r>
            <a:r>
              <a:rPr lang="en-US" dirty="0" err="1" smtClean="0"/>
              <a:t>Angledrive</a:t>
            </a:r>
            <a:r>
              <a:rPr lang="en-US" dirty="0" smtClean="0"/>
              <a:t> Component</a:t>
            </a:r>
          </a:p>
          <a:p>
            <a:pPr lvl="1"/>
            <a:r>
              <a:rPr lang="en-US" dirty="0" smtClean="0"/>
              <a:t>Option for constant Auxiliary Power Demand in Job-File</a:t>
            </a:r>
            <a:endParaRPr lang="en-US" dirty="0"/>
          </a:p>
        </p:txBody>
      </p:sp>
    </p:spTree>
    <p:extLst>
      <p:ext uri="{BB962C8B-B14F-4D97-AF65-F5344CB8AC3E}">
        <p14:creationId xmlns:p14="http://schemas.microsoft.com/office/powerpoint/2010/main" val="35954454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a:t>2016-10-14</a:t>
            </a:r>
          </a:p>
        </p:txBody>
      </p:sp>
      <p:sp>
        <p:nvSpPr>
          <p:cNvPr id="3" name="Inhaltsplatzhalter 2"/>
          <p:cNvSpPr>
            <a:spLocks noGrp="1"/>
          </p:cNvSpPr>
          <p:nvPr>
            <p:ph idx="1"/>
          </p:nvPr>
        </p:nvSpPr>
        <p:spPr>
          <a:xfrm>
            <a:off x="468315" y="1268760"/>
            <a:ext cx="8496173" cy="4857403"/>
          </a:xfrm>
        </p:spPr>
        <p:txBody>
          <a:bodyPr/>
          <a:lstStyle/>
          <a:p>
            <a:r>
              <a:rPr lang="en-US" dirty="0" smtClean="0"/>
              <a:t>Main Updates (cont.)</a:t>
            </a:r>
          </a:p>
          <a:p>
            <a:pPr lvl="1"/>
            <a:r>
              <a:rPr lang="en-US" dirty="0" smtClean="0"/>
              <a:t>Normalize x/y values before triangulating Delaunay map (transmission loss-maps, fuel consumption loss map)</a:t>
            </a:r>
          </a:p>
          <a:p>
            <a:pPr lvl="1"/>
            <a:r>
              <a:rPr lang="en-US" dirty="0" smtClean="0"/>
              <a:t>Additional fuel consumption correction factor in declaration mode: cold/hot balancing factor</a:t>
            </a:r>
          </a:p>
          <a:p>
            <a:pPr lvl="1"/>
            <a:r>
              <a:rPr lang="en-US" dirty="0" smtClean="0"/>
              <a:t>Added fuel consumption correction factor (WHTC, Cold/Hot balancing, …) in engineering mode</a:t>
            </a:r>
          </a:p>
          <a:p>
            <a:pPr lvl="1"/>
            <a:r>
              <a:rPr lang="en-US" dirty="0" smtClean="0"/>
              <a:t>Update </a:t>
            </a:r>
            <a:r>
              <a:rPr lang="en-US" dirty="0"/>
              <a:t>auxiliaries power demand according to latest </a:t>
            </a:r>
            <a:r>
              <a:rPr lang="en-US" dirty="0" err="1" smtClean="0"/>
              <a:t>whitebook</a:t>
            </a:r>
            <a:endParaRPr lang="en-US" dirty="0" smtClean="0"/>
          </a:p>
          <a:p>
            <a:pPr lvl="1"/>
            <a:r>
              <a:rPr lang="en-US" dirty="0" smtClean="0"/>
              <a:t>Allow multiple steered axles</a:t>
            </a:r>
          </a:p>
          <a:p>
            <a:pPr lvl="1"/>
            <a:r>
              <a:rPr lang="en-US" dirty="0" smtClean="0"/>
              <a:t>Adapted engine idle controller (during declutch) – engine speed decreases faster</a:t>
            </a:r>
          </a:p>
          <a:p>
            <a:pPr lvl="1"/>
            <a:r>
              <a:rPr lang="en-US" dirty="0" smtClean="0"/>
              <a:t>SUM-File: split </a:t>
            </a:r>
            <a:r>
              <a:rPr lang="en-US" dirty="0" err="1" smtClean="0"/>
              <a:t>E_axl_gbx</a:t>
            </a:r>
            <a:r>
              <a:rPr lang="en-US" dirty="0" smtClean="0"/>
              <a:t> into two columns, </a:t>
            </a:r>
            <a:r>
              <a:rPr lang="en-US" dirty="0" err="1" smtClean="0"/>
              <a:t>E_axl</a:t>
            </a:r>
            <a:r>
              <a:rPr lang="en-US" dirty="0" smtClean="0"/>
              <a:t> and </a:t>
            </a:r>
            <a:r>
              <a:rPr lang="en-US" dirty="0" err="1" smtClean="0"/>
              <a:t>E_gbx</a:t>
            </a:r>
            <a:endParaRPr lang="en-US" dirty="0" smtClean="0"/>
          </a:p>
          <a:p>
            <a:pPr lvl="1"/>
            <a:r>
              <a:rPr lang="en-US" dirty="0" smtClean="0"/>
              <a:t>New columns in mod-file: PTO, torque converter</a:t>
            </a:r>
            <a:endParaRPr lang="en-US" dirty="0"/>
          </a:p>
          <a:p>
            <a:pPr lvl="1"/>
            <a:r>
              <a:rPr lang="en-US" dirty="0" smtClean="0"/>
              <a:t>Removed full-load curve per gear, only single value </a:t>
            </a:r>
            <a:r>
              <a:rPr lang="en-US" dirty="0" err="1" smtClean="0"/>
              <a:t>MaxTorque</a:t>
            </a:r>
            <a:endParaRPr lang="en-US" dirty="0" smtClean="0"/>
          </a:p>
          <a:p>
            <a:pPr lvl="1"/>
            <a:r>
              <a:rPr lang="en-US" dirty="0" smtClean="0"/>
              <a:t>Removed rims (dynamic wheel radius depends on wheel type)</a:t>
            </a:r>
          </a:p>
          <a:p>
            <a:pPr lvl="1"/>
            <a:r>
              <a:rPr lang="en-US" dirty="0" smtClean="0"/>
              <a:t>Fixes in AAUX module: open correct file-browser, save selected files</a:t>
            </a:r>
          </a:p>
          <a:p>
            <a:pPr lvl="1"/>
            <a:endParaRPr lang="en-US" dirty="0" smtClean="0"/>
          </a:p>
        </p:txBody>
      </p:sp>
    </p:spTree>
    <p:extLst>
      <p:ext uri="{BB962C8B-B14F-4D97-AF65-F5344CB8AC3E}">
        <p14:creationId xmlns:p14="http://schemas.microsoft.com/office/powerpoint/2010/main" val="300311254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96532" y="476672"/>
            <a:ext cx="8451932" cy="576064"/>
          </a:xfrm>
        </p:spPr>
        <p:txBody>
          <a:bodyPr/>
          <a:lstStyle/>
          <a:p>
            <a:pPr algn="l"/>
            <a:r>
              <a:rPr lang="en-US" dirty="0" smtClean="0"/>
              <a:t>Status quo VECTO software and open issues (Oct. 2016)</a:t>
            </a:r>
            <a:endParaRPr lang="en-US" dirty="0"/>
          </a:p>
        </p:txBody>
      </p:sp>
      <p:sp>
        <p:nvSpPr>
          <p:cNvPr id="3" name="Textfeld 2"/>
          <p:cNvSpPr txBox="1"/>
          <p:nvPr/>
        </p:nvSpPr>
        <p:spPr>
          <a:xfrm>
            <a:off x="323528" y="908720"/>
            <a:ext cx="8496944" cy="400110"/>
          </a:xfrm>
          <a:prstGeom prst="rect">
            <a:avLst/>
          </a:prstGeom>
          <a:noFill/>
        </p:spPr>
        <p:txBody>
          <a:bodyPr wrap="square" rtlCol="0">
            <a:spAutoFit/>
          </a:bodyPr>
          <a:lstStyle/>
          <a:p>
            <a:pPr algn="l"/>
            <a:r>
              <a:rPr lang="de-AT" sz="2000" dirty="0" smtClean="0"/>
              <a:t>Next </a:t>
            </a:r>
            <a:r>
              <a:rPr lang="de-AT" sz="2000" dirty="0" err="1" smtClean="0"/>
              <a:t>issues</a:t>
            </a:r>
            <a:r>
              <a:rPr lang="de-AT" sz="2000" dirty="0" smtClean="0"/>
              <a:t> on </a:t>
            </a:r>
            <a:r>
              <a:rPr lang="de-AT" sz="2000" dirty="0" err="1" smtClean="0"/>
              <a:t>the</a:t>
            </a:r>
            <a:r>
              <a:rPr lang="de-AT" sz="2000" dirty="0" smtClean="0"/>
              <a:t> </a:t>
            </a:r>
            <a:r>
              <a:rPr lang="de-AT" sz="2000" dirty="0" err="1" smtClean="0"/>
              <a:t>to</a:t>
            </a:r>
            <a:r>
              <a:rPr lang="de-AT" sz="2000" dirty="0" smtClean="0"/>
              <a:t> do </a:t>
            </a:r>
            <a:r>
              <a:rPr lang="de-AT" sz="2000" dirty="0" err="1" smtClean="0"/>
              <a:t>list</a:t>
            </a:r>
            <a:endParaRPr lang="de-AT" sz="2000" dirty="0"/>
          </a:p>
        </p:txBody>
      </p:sp>
      <p:sp>
        <p:nvSpPr>
          <p:cNvPr id="7" name="Textfeld 6"/>
          <p:cNvSpPr txBox="1"/>
          <p:nvPr/>
        </p:nvSpPr>
        <p:spPr>
          <a:xfrm>
            <a:off x="539552" y="1484784"/>
            <a:ext cx="8352928" cy="5093702"/>
          </a:xfrm>
          <a:prstGeom prst="rect">
            <a:avLst/>
          </a:prstGeom>
          <a:noFill/>
        </p:spPr>
        <p:txBody>
          <a:bodyPr wrap="square" rtlCol="0">
            <a:spAutoFit/>
          </a:bodyPr>
          <a:lstStyle/>
          <a:p>
            <a:pPr marL="285750" indent="-285750" algn="l">
              <a:buFont typeface="Arial" panose="020B0604020202020204" pitchFamily="34" charset="0"/>
              <a:buChar char="•"/>
            </a:pPr>
            <a:r>
              <a:rPr lang="en-GB" sz="1400" dirty="0" smtClean="0"/>
              <a:t>Further development of the AT model</a:t>
            </a:r>
            <a:br>
              <a:rPr lang="en-GB" sz="1400" dirty="0" smtClean="0"/>
            </a:br>
            <a:r>
              <a:rPr lang="en-GB" sz="1400" b="0" dirty="0" smtClean="0"/>
              <a:t>Consideration of losses during power shifts, update of gear shift logics</a:t>
            </a:r>
          </a:p>
          <a:p>
            <a:pPr marL="285750" indent="-285750" algn="l">
              <a:buFont typeface="Arial" panose="020B0604020202020204" pitchFamily="34" charset="0"/>
              <a:buChar char="•"/>
            </a:pPr>
            <a:r>
              <a:rPr lang="en-GB" sz="1400" dirty="0" smtClean="0"/>
              <a:t>Reimplementation </a:t>
            </a:r>
            <a:r>
              <a:rPr lang="en-GB" sz="1400" dirty="0"/>
              <a:t>of engine stop/start</a:t>
            </a:r>
          </a:p>
          <a:p>
            <a:pPr marL="285750" indent="-285750" algn="l">
              <a:buFont typeface="Arial" panose="020B0604020202020204" pitchFamily="34" charset="0"/>
              <a:buChar char="•"/>
            </a:pPr>
            <a:r>
              <a:rPr lang="en-GB" sz="1400" dirty="0" smtClean="0"/>
              <a:t>Declaration mode: implementation of EMS vehicle configurations</a:t>
            </a:r>
          </a:p>
          <a:p>
            <a:pPr marL="285750" indent="-285750" algn="l">
              <a:buFont typeface="Arial" panose="020B0604020202020204" pitchFamily="34" charset="0"/>
              <a:buChar char="•"/>
            </a:pPr>
            <a:endParaRPr lang="en-GB" sz="1400" dirty="0"/>
          </a:p>
          <a:p>
            <a:pPr algn="l"/>
            <a:r>
              <a:rPr lang="en-GB" sz="1400" u="sng" dirty="0" smtClean="0"/>
              <a:t>Items waiting for decision on methods and resources:</a:t>
            </a:r>
          </a:p>
          <a:p>
            <a:pPr marL="285750" indent="-285750" algn="l">
              <a:buFont typeface="Arial" panose="020B0604020202020204" pitchFamily="34" charset="0"/>
              <a:buChar char="•"/>
            </a:pPr>
            <a:r>
              <a:rPr lang="en-GB" sz="1400" dirty="0" smtClean="0"/>
              <a:t>Update engine data (according to update of Annex II)</a:t>
            </a:r>
            <a:br>
              <a:rPr lang="en-GB" sz="1400" dirty="0" smtClean="0"/>
            </a:br>
            <a:r>
              <a:rPr lang="en-GB" sz="1400" b="0" dirty="0" smtClean="0"/>
              <a:t>Other fuels than diesel, “top torque” feature, correction factor for periodic </a:t>
            </a:r>
            <a:r>
              <a:rPr lang="en-GB" sz="1400" b="0" dirty="0" err="1" smtClean="0"/>
              <a:t>regerating</a:t>
            </a:r>
            <a:r>
              <a:rPr lang="en-GB" sz="1400" b="0" dirty="0" smtClean="0"/>
              <a:t> DPFs</a:t>
            </a:r>
          </a:p>
          <a:p>
            <a:pPr marL="285750" indent="-285750" algn="l">
              <a:buFont typeface="Arial" panose="020B0604020202020204" pitchFamily="34" charset="0"/>
              <a:buChar char="•"/>
            </a:pPr>
            <a:r>
              <a:rPr lang="en-GB" sz="1400" dirty="0" smtClean="0"/>
              <a:t>Declaration mode: </a:t>
            </a:r>
          </a:p>
          <a:p>
            <a:pPr marL="742950" lvl="1" indent="-285750" algn="l">
              <a:spcBef>
                <a:spcPts val="300"/>
              </a:spcBef>
              <a:buFont typeface="Arial" panose="020B0604020202020204" pitchFamily="34" charset="0"/>
              <a:buChar char="•"/>
            </a:pPr>
            <a:r>
              <a:rPr lang="en-GB" sz="1400" dirty="0"/>
              <a:t>Revision of calculated vehicle </a:t>
            </a:r>
            <a:r>
              <a:rPr lang="en-GB" sz="1400" dirty="0" smtClean="0"/>
              <a:t>loads</a:t>
            </a:r>
          </a:p>
          <a:p>
            <a:pPr marL="742950" lvl="1" indent="-285750" algn="l">
              <a:spcBef>
                <a:spcPts val="300"/>
              </a:spcBef>
              <a:buFont typeface="Arial" panose="020B0604020202020204" pitchFamily="34" charset="0"/>
              <a:buChar char="•"/>
            </a:pPr>
            <a:r>
              <a:rPr lang="en-GB" sz="1400" dirty="0" smtClean="0"/>
              <a:t>implementation of refuse cycle (instead “municipal”)</a:t>
            </a:r>
            <a:br>
              <a:rPr lang="en-GB" sz="1400" dirty="0" smtClean="0"/>
            </a:br>
            <a:r>
              <a:rPr lang="en-GB" sz="1400" b="0" dirty="0" smtClean="0"/>
              <a:t>Update of driving cycle, consideration of generic PTO loads during collection part,</a:t>
            </a:r>
            <a:br>
              <a:rPr lang="en-GB" sz="1400" b="0" dirty="0" smtClean="0"/>
            </a:br>
            <a:r>
              <a:rPr lang="en-GB" sz="1400" b="0" dirty="0" smtClean="0"/>
              <a:t>generic body weight and payload</a:t>
            </a:r>
          </a:p>
          <a:p>
            <a:pPr marL="742950" lvl="1" indent="-285750" algn="l">
              <a:spcBef>
                <a:spcPts val="300"/>
              </a:spcBef>
              <a:buFont typeface="Arial" panose="020B0604020202020204" pitchFamily="34" charset="0"/>
              <a:buChar char="•"/>
            </a:pPr>
            <a:r>
              <a:rPr lang="en-GB" sz="1400" dirty="0"/>
              <a:t>VECTO output (approval </a:t>
            </a:r>
            <a:r>
              <a:rPr lang="en-GB" sz="1400" dirty="0" smtClean="0"/>
              <a:t>authorities</a:t>
            </a:r>
            <a:r>
              <a:rPr lang="en-GB" sz="1400" dirty="0"/>
              <a:t>, customer info, monitoring</a:t>
            </a:r>
            <a:r>
              <a:rPr lang="en-GB" sz="1400" dirty="0" smtClean="0"/>
              <a:t>)</a:t>
            </a:r>
          </a:p>
          <a:p>
            <a:pPr marL="742950" lvl="1" indent="-285750" algn="l">
              <a:spcBef>
                <a:spcPts val="300"/>
              </a:spcBef>
              <a:buFont typeface="Arial" panose="020B0604020202020204" pitchFamily="34" charset="0"/>
              <a:buChar char="•"/>
            </a:pPr>
            <a:r>
              <a:rPr lang="en-GB" sz="1400" dirty="0" smtClean="0"/>
              <a:t>Buses</a:t>
            </a:r>
            <a:endParaRPr lang="en-GB" sz="1400" b="0" dirty="0" smtClean="0"/>
          </a:p>
          <a:p>
            <a:pPr marL="285750" indent="-285750" algn="l">
              <a:buFont typeface="Arial" panose="020B0604020202020204" pitchFamily="34" charset="0"/>
              <a:buChar char="•"/>
            </a:pPr>
            <a:r>
              <a:rPr lang="en-GB" sz="1400" dirty="0" smtClean="0"/>
              <a:t>Predictive ADAS</a:t>
            </a:r>
          </a:p>
          <a:p>
            <a:pPr marL="285750" indent="-285750" algn="l">
              <a:buFont typeface="Arial" panose="020B0604020202020204" pitchFamily="34" charset="0"/>
              <a:buChar char="•"/>
            </a:pPr>
            <a:endParaRPr lang="en-GB" sz="1400" dirty="0" smtClean="0"/>
          </a:p>
          <a:p>
            <a:pPr marL="285750" indent="-285750" algn="l">
              <a:buFont typeface="Arial" panose="020B0604020202020204" pitchFamily="34" charset="0"/>
              <a:buChar char="•"/>
            </a:pPr>
            <a:endParaRPr lang="en-GB" sz="1400" dirty="0"/>
          </a:p>
        </p:txBody>
      </p:sp>
    </p:spTree>
    <p:extLst>
      <p:ext uri="{BB962C8B-B14F-4D97-AF65-F5344CB8AC3E}">
        <p14:creationId xmlns:p14="http://schemas.microsoft.com/office/powerpoint/2010/main" val="4139329725"/>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3.0.4.565</a:t>
            </a:r>
            <a:br>
              <a:rPr lang="en-US" dirty="0"/>
            </a:br>
            <a:r>
              <a:rPr lang="en-US" sz="1600" dirty="0"/>
              <a:t>2016-07-19</a:t>
            </a:r>
            <a:endParaRPr lang="en-US" dirty="0"/>
          </a:p>
        </p:txBody>
      </p:sp>
      <p:sp>
        <p:nvSpPr>
          <p:cNvPr id="3" name="Inhaltsplatzhalter 2"/>
          <p:cNvSpPr>
            <a:spLocks noGrp="1"/>
          </p:cNvSpPr>
          <p:nvPr>
            <p:ph idx="1"/>
          </p:nvPr>
        </p:nvSpPr>
        <p:spPr/>
        <p:txBody>
          <a:bodyPr/>
          <a:lstStyle/>
          <a:p>
            <a:r>
              <a:rPr lang="en-US" dirty="0" err="1" smtClean="0"/>
              <a:t>Bugfixes</a:t>
            </a:r>
            <a:endParaRPr lang="en-US" dirty="0"/>
          </a:p>
          <a:p>
            <a:pPr lvl="1"/>
            <a:r>
              <a:rPr lang="en-US" dirty="0" smtClean="0"/>
              <a:t>AAUX </a:t>
            </a:r>
            <a:r>
              <a:rPr lang="en-US" dirty="0"/>
              <a:t>HVAC Dialog does not store path to </a:t>
            </a:r>
            <a:r>
              <a:rPr lang="en-US" dirty="0" err="1"/>
              <a:t>ActuationsMap</a:t>
            </a:r>
            <a:r>
              <a:rPr lang="en-US" dirty="0"/>
              <a:t> and </a:t>
            </a:r>
            <a:r>
              <a:rPr lang="en-US" dirty="0" err="1"/>
              <a:t>SSMSource</a:t>
            </a:r>
            <a:endParaRPr lang="en-US" dirty="0"/>
          </a:p>
          <a:p>
            <a:pPr lvl="1"/>
            <a:r>
              <a:rPr lang="en-US" smtClean="0"/>
              <a:t>GUI</a:t>
            </a:r>
            <a:r>
              <a:rPr lang="en-US" dirty="0"/>
              <a:t>: check for axle loads in declaration mode renders editing dialog useless </a:t>
            </a:r>
          </a:p>
          <a:p>
            <a:pPr lvl="1"/>
            <a:r>
              <a:rPr lang="en-US" dirty="0" err="1" smtClean="0"/>
              <a:t>Vecto</a:t>
            </a:r>
            <a:r>
              <a:rPr lang="en-US" dirty="0" smtClean="0"/>
              <a:t> </a:t>
            </a:r>
            <a:r>
              <a:rPr lang="en-US" dirty="0"/>
              <a:t>2.2: Simulation aborts (</a:t>
            </a:r>
            <a:r>
              <a:rPr lang="en-US" dirty="0" err="1"/>
              <a:t>Vecto</a:t>
            </a:r>
            <a:r>
              <a:rPr lang="en-US" dirty="0"/>
              <a:t> terminates) when simulating </a:t>
            </a:r>
            <a:r>
              <a:rPr lang="en-US" dirty="0" err="1"/>
              <a:t>EngineOnly</a:t>
            </a:r>
            <a:r>
              <a:rPr lang="en-US" dirty="0"/>
              <a:t> cycles</a:t>
            </a:r>
          </a:p>
          <a:p>
            <a:pPr lvl="1"/>
            <a:r>
              <a:rPr lang="en-US" dirty="0" err="1" smtClean="0"/>
              <a:t>Vecto</a:t>
            </a:r>
            <a:r>
              <a:rPr lang="en-US" dirty="0" smtClean="0"/>
              <a:t> </a:t>
            </a:r>
            <a:r>
              <a:rPr lang="en-US" dirty="0"/>
              <a:t>3: Building </a:t>
            </a:r>
            <a:r>
              <a:rPr lang="en-US" dirty="0" err="1"/>
              <a:t>SimulationRun</a:t>
            </a:r>
            <a:r>
              <a:rPr lang="en-US" dirty="0"/>
              <a:t> </a:t>
            </a:r>
            <a:r>
              <a:rPr lang="en-US" dirty="0" err="1"/>
              <a:t>EngineOnly</a:t>
            </a:r>
            <a:r>
              <a:rPr lang="en-US" dirty="0"/>
              <a:t> simulation failed</a:t>
            </a:r>
          </a:p>
        </p:txBody>
      </p:sp>
    </p:spTree>
    <p:extLst>
      <p:ext uri="{BB962C8B-B14F-4D97-AF65-F5344CB8AC3E}">
        <p14:creationId xmlns:p14="http://schemas.microsoft.com/office/powerpoint/2010/main" val="142198208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786383"/>
            <a:ext cx="8218487" cy="482377"/>
          </a:xfrm>
        </p:spPr>
        <p:txBody>
          <a:bodyPr/>
          <a:lstStyle/>
          <a:p>
            <a:r>
              <a:rPr lang="en-US" dirty="0" err="1" smtClean="0"/>
              <a:t>Vecto</a:t>
            </a:r>
            <a:r>
              <a:rPr lang="en-US" dirty="0" smtClean="0"/>
              <a:t> </a:t>
            </a:r>
            <a:r>
              <a:rPr lang="en-US" dirty="0"/>
              <a:t>3.0.4.544</a:t>
            </a:r>
            <a:br>
              <a:rPr lang="en-US" dirty="0"/>
            </a:br>
            <a:r>
              <a:rPr lang="en-US" sz="1600" dirty="0"/>
              <a:t>2016-06-28</a:t>
            </a:r>
            <a:endParaRPr lang="en-US" dirty="0"/>
          </a:p>
        </p:txBody>
      </p:sp>
      <p:sp>
        <p:nvSpPr>
          <p:cNvPr id="3" name="Inhaltsplatzhalter 2"/>
          <p:cNvSpPr>
            <a:spLocks noGrp="1"/>
          </p:cNvSpPr>
          <p:nvPr>
            <p:ph idx="1"/>
          </p:nvPr>
        </p:nvSpPr>
        <p:spPr>
          <a:xfrm>
            <a:off x="539553" y="1628800"/>
            <a:ext cx="8064896" cy="4353347"/>
          </a:xfrm>
        </p:spPr>
        <p:txBody>
          <a:bodyPr/>
          <a:lstStyle/>
          <a:p>
            <a:r>
              <a:rPr lang="en-US" dirty="0" smtClean="0"/>
              <a:t>Main </a:t>
            </a:r>
            <a:r>
              <a:rPr lang="en-US" dirty="0"/>
              <a:t>Updates</a:t>
            </a:r>
          </a:p>
          <a:p>
            <a:pPr lvl="1"/>
            <a:r>
              <a:rPr lang="en-US" dirty="0" smtClean="0"/>
              <a:t>New </a:t>
            </a:r>
            <a:r>
              <a:rPr lang="en-US" dirty="0"/>
              <a:t>gear shift strategy according to White Book </a:t>
            </a:r>
            <a:r>
              <a:rPr lang="en-US" dirty="0" smtClean="0"/>
              <a:t>2016</a:t>
            </a:r>
          </a:p>
          <a:p>
            <a:pPr lvl="1"/>
            <a:r>
              <a:rPr lang="en-US" dirty="0" smtClean="0"/>
              <a:t>New </a:t>
            </a:r>
            <a:r>
              <a:rPr lang="en-US" dirty="0"/>
              <a:t>coasting strategy according to White Book 2016</a:t>
            </a:r>
          </a:p>
          <a:p>
            <a:pPr lvl="1"/>
            <a:r>
              <a:rPr lang="en-US" dirty="0" smtClean="0"/>
              <a:t>New </a:t>
            </a:r>
            <a:r>
              <a:rPr lang="en-US" dirty="0"/>
              <a:t>input parameters (</a:t>
            </a:r>
            <a:r>
              <a:rPr lang="en-US" dirty="0" err="1"/>
              <a:t>enineering</a:t>
            </a:r>
            <a:r>
              <a:rPr lang="en-US" dirty="0"/>
              <a:t> mode) for coasting and gear shift behavior</a:t>
            </a:r>
          </a:p>
          <a:p>
            <a:pPr lvl="1"/>
            <a:r>
              <a:rPr lang="en-US" dirty="0" smtClean="0"/>
              <a:t>Use </a:t>
            </a:r>
            <a:r>
              <a:rPr lang="en-US" dirty="0"/>
              <a:t>SI units in Advanced Auxiliaries Module and compile with strict compiler settings (no implicit casts, etc.)</a:t>
            </a:r>
          </a:p>
          <a:p>
            <a:pPr lvl="1"/>
            <a:r>
              <a:rPr lang="en-US" dirty="0" smtClean="0"/>
              <a:t>Allow </a:t>
            </a:r>
            <a:r>
              <a:rPr lang="en-US" dirty="0"/>
              <a:t>efficiency for transmission losses (in engineering mode)</a:t>
            </a:r>
          </a:p>
          <a:p>
            <a:endParaRPr lang="en-US" dirty="0"/>
          </a:p>
          <a:p>
            <a:r>
              <a:rPr lang="en-US" dirty="0" err="1" smtClean="0"/>
              <a:t>Bugfixes</a:t>
            </a:r>
            <a:endParaRPr lang="en-US" dirty="0"/>
          </a:p>
          <a:p>
            <a:pPr lvl="1"/>
            <a:r>
              <a:rPr lang="en-US" dirty="0" smtClean="0"/>
              <a:t>Auxiliary </a:t>
            </a:r>
            <a:r>
              <a:rPr lang="en-US" dirty="0" err="1"/>
              <a:t>TechList</a:t>
            </a:r>
            <a:r>
              <a:rPr lang="en-US" dirty="0"/>
              <a:t> not read from JSON input data</a:t>
            </a:r>
          </a:p>
          <a:p>
            <a:pPr lvl="1"/>
            <a:r>
              <a:rPr lang="en-US" dirty="0" smtClean="0"/>
              <a:t>Improvements </a:t>
            </a:r>
            <a:r>
              <a:rPr lang="en-US" dirty="0"/>
              <a:t>in driver strategy</a:t>
            </a:r>
          </a:p>
          <a:p>
            <a:pPr lvl="1"/>
            <a:r>
              <a:rPr lang="en-US" dirty="0" err="1" smtClean="0"/>
              <a:t>Bugfixes</a:t>
            </a:r>
            <a:r>
              <a:rPr lang="en-US" dirty="0" smtClean="0"/>
              <a:t> </a:t>
            </a:r>
            <a:r>
              <a:rPr lang="en-US" dirty="0"/>
              <a:t>in </a:t>
            </a:r>
            <a:r>
              <a:rPr lang="en-US" dirty="0" err="1"/>
              <a:t>MeasuredSpeed</a:t>
            </a:r>
            <a:r>
              <a:rPr lang="en-US" dirty="0"/>
              <a:t> mode</a:t>
            </a:r>
            <a:endParaRPr lang="en-US" dirty="0" smtClean="0"/>
          </a:p>
        </p:txBody>
      </p:sp>
    </p:spTree>
    <p:extLst>
      <p:ext uri="{BB962C8B-B14F-4D97-AF65-F5344CB8AC3E}">
        <p14:creationId xmlns:p14="http://schemas.microsoft.com/office/powerpoint/2010/main" val="3997910218"/>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Notes for using </a:t>
            </a:r>
            <a:r>
              <a:rPr lang="en-US" dirty="0" err="1" smtClean="0"/>
              <a:t>Vecto</a:t>
            </a:r>
            <a:r>
              <a:rPr lang="en-US" dirty="0" smtClean="0"/>
              <a:t> 3.x with AAUX (1)</a:t>
            </a:r>
            <a:endParaRPr lang="en-US" dirty="0"/>
          </a:p>
        </p:txBody>
      </p:sp>
      <p:sp>
        <p:nvSpPr>
          <p:cNvPr id="3" name="Inhaltsplatzhalter 2"/>
          <p:cNvSpPr>
            <a:spLocks noGrp="1"/>
          </p:cNvSpPr>
          <p:nvPr>
            <p:ph idx="1"/>
          </p:nvPr>
        </p:nvSpPr>
        <p:spPr/>
        <p:txBody>
          <a:bodyPr/>
          <a:lstStyle/>
          <a:p>
            <a:r>
              <a:rPr lang="en-US" dirty="0" smtClean="0"/>
              <a:t>The </a:t>
            </a:r>
            <a:r>
              <a:rPr lang="en-US" dirty="0" err="1" smtClean="0"/>
              <a:t>AdvancedAuxiliaries</a:t>
            </a:r>
            <a:r>
              <a:rPr lang="en-US" dirty="0" smtClean="0"/>
              <a:t> module requires the number of activations for pneumatic consumers (brakes, doors, kneeling) and the (estimated) total cycle time. This can be configured in the .APAC-file (actuations file). For standard bus/coach cycles (i.e., the cycle file contains “bus” </a:t>
            </a:r>
            <a:r>
              <a:rPr lang="en-US" b="1" dirty="0" smtClean="0"/>
              <a:t>and</a:t>
            </a:r>
            <a:r>
              <a:rPr lang="en-US" dirty="0" smtClean="0"/>
              <a:t> “</a:t>
            </a:r>
            <a:r>
              <a:rPr lang="en-US" dirty="0" err="1" smtClean="0"/>
              <a:t>heavy_urban</a:t>
            </a:r>
            <a:r>
              <a:rPr lang="en-US" dirty="0" smtClean="0"/>
              <a:t>” or “suburban” or “interurban” or “urban”; </a:t>
            </a:r>
            <a:r>
              <a:rPr lang="en-US" b="1" dirty="0" smtClean="0"/>
              <a:t>or</a:t>
            </a:r>
            <a:r>
              <a:rPr lang="en-US" dirty="0" smtClean="0"/>
              <a:t> the cycle contains “coach” (</a:t>
            </a:r>
            <a:r>
              <a:rPr lang="en-US" i="1" dirty="0" smtClean="0"/>
              <a:t>case insensitive</a:t>
            </a:r>
            <a:r>
              <a:rPr lang="en-US" dirty="0" smtClean="0"/>
              <a:t>)) the actuations file already contains the number of activations and the cycle time. For other cycles the filename without extension is used to lookup the activations in the .APAC file (</a:t>
            </a:r>
            <a:r>
              <a:rPr lang="en-US" i="1" dirty="0" smtClean="0"/>
              <a:t>case sensitive</a:t>
            </a:r>
            <a:r>
              <a:rPr lang="en-US" dirty="0" smtClean="0"/>
              <a:t>)</a:t>
            </a:r>
            <a:endParaRPr lang="en-US" dirty="0"/>
          </a:p>
        </p:txBody>
      </p:sp>
    </p:spTree>
    <p:extLst>
      <p:ext uri="{BB962C8B-B14F-4D97-AF65-F5344CB8AC3E}">
        <p14:creationId xmlns:p14="http://schemas.microsoft.com/office/powerpoint/2010/main" val="3750013638"/>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(2)</a:t>
            </a:r>
            <a:endParaRPr lang="en-US" dirty="0"/>
          </a:p>
        </p:txBody>
      </p:sp>
      <p:sp>
        <p:nvSpPr>
          <p:cNvPr id="3" name="Inhaltsplatzhalter 2"/>
          <p:cNvSpPr>
            <a:spLocks noGrp="1"/>
          </p:cNvSpPr>
          <p:nvPr>
            <p:ph idx="1"/>
          </p:nvPr>
        </p:nvSpPr>
        <p:spPr>
          <a:xfrm>
            <a:off x="179511" y="1124744"/>
            <a:ext cx="8856985" cy="5328592"/>
          </a:xfrm>
        </p:spPr>
        <p:txBody>
          <a:bodyPr/>
          <a:lstStyle/>
          <a:p>
            <a:r>
              <a:rPr lang="en-US" dirty="0" err="1" smtClean="0"/>
              <a:t>Vecto</a:t>
            </a:r>
            <a:r>
              <a:rPr lang="en-US" dirty="0" smtClean="0"/>
              <a:t> 3 uses an average auxiliaries load (determined by the AAUX module depending on the settings)</a:t>
            </a:r>
            <a:r>
              <a:rPr lang="en-US" dirty="0"/>
              <a:t> for the </a:t>
            </a:r>
            <a:r>
              <a:rPr lang="en-US" dirty="0" smtClean="0"/>
              <a:t>simulation. The AAUX module computes the fuel consumption in parallel to </a:t>
            </a:r>
            <a:r>
              <a:rPr lang="en-US" dirty="0" err="1" smtClean="0"/>
              <a:t>VectoCore</a:t>
            </a:r>
            <a:r>
              <a:rPr lang="en-US" dirty="0" smtClean="0"/>
              <a:t> and accounts for smart consumers (e.g., alternator, pneumatics, …).</a:t>
            </a:r>
          </a:p>
          <a:p>
            <a:r>
              <a:rPr lang="en-US" dirty="0" smtClean="0"/>
              <a:t>Output</a:t>
            </a:r>
          </a:p>
          <a:p>
            <a:pPr lvl="1"/>
            <a:r>
              <a:rPr lang="en-US" dirty="0" smtClean="0"/>
              <a:t>The .</a:t>
            </a:r>
            <a:r>
              <a:rPr lang="en-US" dirty="0" err="1" smtClean="0"/>
              <a:t>vmod</a:t>
            </a:r>
            <a:r>
              <a:rPr lang="en-US" dirty="0" smtClean="0"/>
              <a:t> file contains both, the fuel consumption calculated by </a:t>
            </a:r>
            <a:r>
              <a:rPr lang="en-US" dirty="0" err="1" smtClean="0"/>
              <a:t>VectoCore</a:t>
            </a:r>
            <a:r>
              <a:rPr lang="en-US" dirty="0" smtClean="0"/>
              <a:t> (per simulation interval) and AAUX (accumulated and per simulation interval).</a:t>
            </a:r>
            <a:br>
              <a:rPr lang="en-US" dirty="0" smtClean="0"/>
            </a:br>
            <a:r>
              <a:rPr lang="en-US" dirty="0" smtClean="0"/>
              <a:t>Columns in .</a:t>
            </a:r>
            <a:r>
              <a:rPr lang="en-US" dirty="0" err="1" smtClean="0"/>
              <a:t>vmod</a:t>
            </a:r>
            <a:r>
              <a:rPr lang="en-US" dirty="0" smtClean="0"/>
              <a:t> file:</a:t>
            </a:r>
          </a:p>
          <a:p>
            <a:pPr lvl="2"/>
            <a:r>
              <a:rPr lang="en-US" dirty="0" err="1"/>
              <a:t>AA_TotalCycleFC_Grams</a:t>
            </a:r>
            <a:r>
              <a:rPr lang="en-US" dirty="0"/>
              <a:t> [g</a:t>
            </a:r>
            <a:r>
              <a:rPr lang="en-US" dirty="0" smtClean="0"/>
              <a:t>]: accumulated fuel consumption as computed by the AAUX model, considering smart consumers</a:t>
            </a:r>
          </a:p>
          <a:p>
            <a:pPr lvl="2"/>
            <a:r>
              <a:rPr lang="en-US" dirty="0" smtClean="0"/>
              <a:t>FC-Map </a:t>
            </a:r>
            <a:r>
              <a:rPr lang="en-US" dirty="0"/>
              <a:t>[</a:t>
            </a:r>
            <a:r>
              <a:rPr lang="en-US" dirty="0" smtClean="0"/>
              <a:t>g/h]: fuel consumption as computed by </a:t>
            </a:r>
            <a:r>
              <a:rPr lang="en-US" dirty="0" err="1" smtClean="0"/>
              <a:t>VectoCore</a:t>
            </a:r>
            <a:r>
              <a:rPr lang="en-US" dirty="0" smtClean="0"/>
              <a:t> interpolating </a:t>
            </a:r>
            <a:r>
              <a:rPr lang="en-US" dirty="0"/>
              <a:t>in the FC-Map, </a:t>
            </a:r>
            <a:r>
              <a:rPr lang="en-US" dirty="0" smtClean="0"/>
              <a:t>using an average base load of auxiliaries</a:t>
            </a:r>
          </a:p>
          <a:p>
            <a:pPr lvl="2"/>
            <a:r>
              <a:rPr lang="en-US" dirty="0" smtClean="0"/>
              <a:t>FC-</a:t>
            </a:r>
            <a:r>
              <a:rPr lang="en-US" dirty="0" err="1" smtClean="0"/>
              <a:t>AUXc</a:t>
            </a:r>
            <a:r>
              <a:rPr lang="en-US" dirty="0" smtClean="0"/>
              <a:t> </a:t>
            </a:r>
            <a:r>
              <a:rPr lang="en-US" dirty="0"/>
              <a:t>[g/h</a:t>
            </a:r>
            <a:r>
              <a:rPr lang="en-US" dirty="0" smtClean="0"/>
              <a:t>]: fuel consumption corrected due to engine stop/start (currently not applicable)</a:t>
            </a:r>
          </a:p>
          <a:p>
            <a:pPr lvl="2"/>
            <a:r>
              <a:rPr lang="en-US" dirty="0" smtClean="0"/>
              <a:t>FC-</a:t>
            </a:r>
            <a:r>
              <a:rPr lang="en-US" dirty="0" err="1" smtClean="0"/>
              <a:t>WHTCc</a:t>
            </a:r>
            <a:r>
              <a:rPr lang="en-US" dirty="0" smtClean="0"/>
              <a:t> </a:t>
            </a:r>
            <a:r>
              <a:rPr lang="en-US" dirty="0"/>
              <a:t>[g/h</a:t>
            </a:r>
            <a:r>
              <a:rPr lang="en-US" dirty="0" smtClean="0"/>
              <a:t>]: WHTC-corrected fuel consumption (not applicable in engineering mode)</a:t>
            </a:r>
          </a:p>
          <a:p>
            <a:pPr lvl="2"/>
            <a:r>
              <a:rPr lang="en-US" dirty="0" smtClean="0"/>
              <a:t>FC-AAUX </a:t>
            </a:r>
            <a:r>
              <a:rPr lang="en-US" dirty="0"/>
              <a:t>[</a:t>
            </a:r>
            <a:r>
              <a:rPr lang="en-US" dirty="0" smtClean="0"/>
              <a:t>g/h]: fuel consumption per simulation interval, derived from </a:t>
            </a:r>
            <a:r>
              <a:rPr lang="en-US" dirty="0" err="1" smtClean="0"/>
              <a:t>AA_TotalCycleFC_Grams</a:t>
            </a:r>
            <a:endParaRPr lang="en-US" dirty="0" smtClean="0"/>
          </a:p>
          <a:p>
            <a:pPr lvl="2"/>
            <a:r>
              <a:rPr lang="en-US" dirty="0" smtClean="0"/>
              <a:t>FC-Final </a:t>
            </a:r>
            <a:r>
              <a:rPr lang="en-US" dirty="0"/>
              <a:t>[g/h</a:t>
            </a:r>
            <a:r>
              <a:rPr lang="en-US" dirty="0" smtClean="0"/>
              <a:t>]: final fuel consumption value with all (applicable) corrections applied (stop/start, WHTC, smart auxiliaries)</a:t>
            </a:r>
          </a:p>
        </p:txBody>
      </p:sp>
    </p:spTree>
    <p:extLst>
      <p:ext uri="{BB962C8B-B14F-4D97-AF65-F5344CB8AC3E}">
        <p14:creationId xmlns:p14="http://schemas.microsoft.com/office/powerpoint/2010/main" val="1949919211"/>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(3)</a:t>
            </a:r>
            <a:endParaRPr lang="en-US" dirty="0"/>
          </a:p>
        </p:txBody>
      </p:sp>
      <p:sp>
        <p:nvSpPr>
          <p:cNvPr id="3" name="Inhaltsplatzhalter 2"/>
          <p:cNvSpPr>
            <a:spLocks noGrp="1"/>
          </p:cNvSpPr>
          <p:nvPr>
            <p:ph idx="1"/>
          </p:nvPr>
        </p:nvSpPr>
        <p:spPr>
          <a:xfrm>
            <a:off x="251521" y="1628800"/>
            <a:ext cx="8640959" cy="4608512"/>
          </a:xfrm>
        </p:spPr>
        <p:txBody>
          <a:bodyPr/>
          <a:lstStyle/>
          <a:p>
            <a:r>
              <a:rPr lang="en-US" dirty="0" smtClean="0"/>
              <a:t>Output .</a:t>
            </a:r>
            <a:r>
              <a:rPr lang="en-US" dirty="0" err="1" smtClean="0"/>
              <a:t>vsum</a:t>
            </a:r>
            <a:endParaRPr lang="en-US" dirty="0" smtClean="0"/>
          </a:p>
          <a:p>
            <a:pPr lvl="1"/>
            <a:r>
              <a:rPr lang="en-US" dirty="0" smtClean="0"/>
              <a:t>Columns in .</a:t>
            </a:r>
            <a:r>
              <a:rPr lang="en-US" dirty="0" err="1" smtClean="0"/>
              <a:t>vsum</a:t>
            </a:r>
            <a:r>
              <a:rPr lang="en-US" dirty="0" smtClean="0"/>
              <a:t> file:</a:t>
            </a:r>
          </a:p>
          <a:p>
            <a:pPr lvl="2"/>
            <a:r>
              <a:rPr lang="en-US" dirty="0" smtClean="0"/>
              <a:t>FC-Map: total fuel consumption as computed by </a:t>
            </a:r>
            <a:r>
              <a:rPr lang="en-US" dirty="0" err="1" smtClean="0"/>
              <a:t>VectoCore</a:t>
            </a:r>
            <a:r>
              <a:rPr lang="en-US" dirty="0" smtClean="0"/>
              <a:t> interpolating in the FC-Map, using an average base load of auxiliaries</a:t>
            </a:r>
          </a:p>
          <a:p>
            <a:pPr lvl="2"/>
            <a:r>
              <a:rPr lang="en-US" dirty="0" smtClean="0"/>
              <a:t>FC-</a:t>
            </a:r>
            <a:r>
              <a:rPr lang="en-US" dirty="0" err="1" smtClean="0"/>
              <a:t>AUXc</a:t>
            </a:r>
            <a:r>
              <a:rPr lang="en-US" dirty="0" smtClean="0"/>
              <a:t>: total fuel consumption corrected due to engine stop/start (currently not applicable)</a:t>
            </a:r>
          </a:p>
          <a:p>
            <a:pPr lvl="2"/>
            <a:r>
              <a:rPr lang="en-US" dirty="0" smtClean="0"/>
              <a:t>FC-</a:t>
            </a:r>
            <a:r>
              <a:rPr lang="en-US" dirty="0" err="1" smtClean="0"/>
              <a:t>WHTCc</a:t>
            </a:r>
            <a:r>
              <a:rPr lang="en-US" dirty="0" smtClean="0"/>
              <a:t>: WHTC-corrected fuel consumption (not applicable in engineering mode)</a:t>
            </a:r>
          </a:p>
          <a:p>
            <a:pPr lvl="2"/>
            <a:r>
              <a:rPr lang="en-US" dirty="0" smtClean="0"/>
              <a:t>FC-AAUX: fuel consumption per simulation interval, derived from </a:t>
            </a:r>
            <a:r>
              <a:rPr lang="en-US" dirty="0" err="1" smtClean="0"/>
              <a:t>AA_TotalCycleFC_Grams</a:t>
            </a:r>
            <a:endParaRPr lang="en-US" dirty="0" smtClean="0"/>
          </a:p>
          <a:p>
            <a:pPr lvl="2"/>
            <a:r>
              <a:rPr lang="en-US" dirty="0" smtClean="0"/>
              <a:t>FC-Final: final fuel consumption value with all (applicable) corrections applied (stop/start, WHTC, smart auxiliaries)</a:t>
            </a:r>
          </a:p>
        </p:txBody>
      </p:sp>
    </p:spTree>
    <p:extLst>
      <p:ext uri="{BB962C8B-B14F-4D97-AF65-F5344CB8AC3E}">
        <p14:creationId xmlns:p14="http://schemas.microsoft.com/office/powerpoint/2010/main" val="120205155"/>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570359"/>
            <a:ext cx="8218487" cy="482377"/>
          </a:xfrm>
        </p:spPr>
        <p:txBody>
          <a:bodyPr/>
          <a:lstStyle/>
          <a:p>
            <a:r>
              <a:rPr lang="en-US" dirty="0" err="1" smtClean="0"/>
              <a:t>Vecto</a:t>
            </a:r>
            <a:r>
              <a:rPr lang="en-US" dirty="0" smtClean="0"/>
              <a:t> </a:t>
            </a:r>
            <a:r>
              <a:rPr lang="en-US" dirty="0"/>
              <a:t>3.0.3.537</a:t>
            </a:r>
            <a:br>
              <a:rPr lang="en-US" dirty="0"/>
            </a:br>
            <a:r>
              <a:rPr lang="en-US" sz="1600" dirty="0"/>
              <a:t>2016-06-21</a:t>
            </a:r>
            <a:endParaRPr lang="en-US" dirty="0"/>
          </a:p>
        </p:txBody>
      </p:sp>
      <p:sp>
        <p:nvSpPr>
          <p:cNvPr id="3" name="Inhaltsplatzhalter 2"/>
          <p:cNvSpPr>
            <a:spLocks noGrp="1"/>
          </p:cNvSpPr>
          <p:nvPr>
            <p:ph idx="1"/>
          </p:nvPr>
        </p:nvSpPr>
        <p:spPr>
          <a:xfrm>
            <a:off x="179512" y="1124744"/>
            <a:ext cx="8784975" cy="4857403"/>
          </a:xfrm>
        </p:spPr>
        <p:txBody>
          <a:bodyPr/>
          <a:lstStyle/>
          <a:p>
            <a:r>
              <a:rPr lang="en-US" dirty="0" smtClean="0"/>
              <a:t>Main Updates</a:t>
            </a:r>
          </a:p>
          <a:p>
            <a:pPr lvl="1"/>
            <a:r>
              <a:rPr lang="en-US" dirty="0" smtClean="0"/>
              <a:t>Plot shift lines as computed according to WB 2016 declaration mode in GUI</a:t>
            </a:r>
          </a:p>
          <a:p>
            <a:r>
              <a:rPr lang="en-US" dirty="0" err="1" smtClean="0"/>
              <a:t>Bugfixes</a:t>
            </a:r>
            <a:endParaRPr lang="en-US" dirty="0" smtClean="0"/>
          </a:p>
          <a:p>
            <a:pPr lvl="1"/>
            <a:r>
              <a:rPr lang="en-US" dirty="0" smtClean="0"/>
              <a:t>GUI: Buttons to add/remove auxiliaries are visible again</a:t>
            </a:r>
          </a:p>
          <a:p>
            <a:pPr lvl="1"/>
            <a:r>
              <a:rPr lang="en-US" dirty="0" smtClean="0"/>
              <a:t>Error in calculation of WHTC correction factor</a:t>
            </a:r>
          </a:p>
          <a:p>
            <a:pPr lvl="1"/>
            <a:r>
              <a:rPr lang="en-US" dirty="0" smtClean="0"/>
              <a:t>Fix: consider gearbox inertia (engineering mode) for searching operating point</a:t>
            </a:r>
          </a:p>
          <a:p>
            <a:pPr lvl="1"/>
            <a:r>
              <a:rPr lang="en-US" dirty="0" smtClean="0"/>
              <a:t>Wrong output of road gradient in measured speed mode (correct gradient for simulation)</a:t>
            </a:r>
          </a:p>
          <a:p>
            <a:pPr lvl="1"/>
            <a:r>
              <a:rPr lang="en-US" dirty="0" smtClean="0"/>
              <a:t>Fuel consumption in .</a:t>
            </a:r>
            <a:r>
              <a:rPr lang="en-US" dirty="0" err="1" smtClean="0"/>
              <a:t>vsum</a:t>
            </a:r>
            <a:r>
              <a:rPr lang="en-US" dirty="0" smtClean="0"/>
              <a:t> file now accounts for </a:t>
            </a:r>
            <a:r>
              <a:rPr lang="en-US" dirty="0" err="1" smtClean="0"/>
              <a:t>AdvancedAuxiliaries</a:t>
            </a:r>
            <a:r>
              <a:rPr lang="en-US" dirty="0" smtClean="0"/>
              <a:t> model</a:t>
            </a:r>
          </a:p>
          <a:p>
            <a:pPr lvl="1"/>
            <a:r>
              <a:rPr lang="en-US" dirty="0" err="1" smtClean="0"/>
              <a:t>GraphDrawer</a:t>
            </a:r>
            <a:r>
              <a:rPr lang="en-US" dirty="0" smtClean="0"/>
              <a:t> (</a:t>
            </a:r>
            <a:r>
              <a:rPr lang="en-US" dirty="0" err="1" smtClean="0"/>
              <a:t>Vecto</a:t>
            </a:r>
            <a:r>
              <a:rPr lang="en-US" dirty="0" smtClean="0"/>
              <a:t>): handle new .</a:t>
            </a:r>
            <a:r>
              <a:rPr lang="en-US" dirty="0" err="1" smtClean="0"/>
              <a:t>vmod</a:t>
            </a:r>
            <a:r>
              <a:rPr lang="en-US" dirty="0" smtClean="0"/>
              <a:t> format of </a:t>
            </a:r>
            <a:r>
              <a:rPr lang="en-US" dirty="0" err="1" smtClean="0"/>
              <a:t>Vecto</a:t>
            </a:r>
            <a:r>
              <a:rPr lang="en-US" dirty="0" smtClean="0"/>
              <a:t> 3</a:t>
            </a:r>
          </a:p>
          <a:p>
            <a:pPr lvl="1"/>
            <a:r>
              <a:rPr lang="en-US" dirty="0" err="1" smtClean="0"/>
              <a:t>AdvancedAuxiliaries</a:t>
            </a:r>
            <a:r>
              <a:rPr lang="en-US" dirty="0" smtClean="0"/>
              <a:t>: language-settings independent input parsing</a:t>
            </a:r>
          </a:p>
          <a:p>
            <a:pPr lvl="1"/>
            <a:r>
              <a:rPr lang="en-US" dirty="0" err="1" smtClean="0"/>
              <a:t>Paux</a:t>
            </a:r>
            <a:r>
              <a:rPr lang="en-US" dirty="0" smtClean="0"/>
              <a:t> was ignored when running </a:t>
            </a:r>
            <a:r>
              <a:rPr lang="en-US" dirty="0" err="1" smtClean="0"/>
              <a:t>Vecto</a:t>
            </a:r>
            <a:r>
              <a:rPr lang="en-US" dirty="0" smtClean="0"/>
              <a:t> 2.2</a:t>
            </a:r>
          </a:p>
          <a:p>
            <a:pPr lvl="1"/>
            <a:r>
              <a:rPr lang="en-US" dirty="0" smtClean="0"/>
              <a:t>Error in massive multithreaded execution</a:t>
            </a:r>
          </a:p>
          <a:p>
            <a:pPr lvl="1"/>
            <a:r>
              <a:rPr lang="en-US" dirty="0" smtClean="0"/>
              <a:t>Fix unhandled response during simulation</a:t>
            </a:r>
          </a:p>
          <a:p>
            <a:pPr lvl="1"/>
            <a:r>
              <a:rPr lang="en-US" dirty="0" smtClean="0"/>
              <a:t>Fix output columns in .</a:t>
            </a:r>
            <a:r>
              <a:rPr lang="en-US" dirty="0" err="1" smtClean="0"/>
              <a:t>vmod</a:t>
            </a:r>
            <a:endParaRPr lang="en-US" dirty="0" smtClean="0"/>
          </a:p>
        </p:txBody>
      </p:sp>
    </p:spTree>
    <p:extLst>
      <p:ext uri="{BB962C8B-B14F-4D97-AF65-F5344CB8AC3E}">
        <p14:creationId xmlns:p14="http://schemas.microsoft.com/office/powerpoint/2010/main" val="4096386672"/>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Vecto</a:t>
            </a:r>
            <a:r>
              <a:rPr lang="en-US" dirty="0" smtClean="0"/>
              <a:t> 3.0.3.495</a:t>
            </a:r>
            <a:r>
              <a:rPr lang="en-US" dirty="0"/>
              <a:t/>
            </a:r>
            <a:br>
              <a:rPr lang="en-US" dirty="0"/>
            </a:br>
            <a:r>
              <a:rPr lang="en-US" sz="1600" dirty="0"/>
              <a:t>2016-05-10</a:t>
            </a:r>
            <a:endParaRPr lang="en-US" dirty="0"/>
          </a:p>
        </p:txBody>
      </p:sp>
      <p:sp>
        <p:nvSpPr>
          <p:cNvPr id="3" name="Inhaltsplatzhalter 2"/>
          <p:cNvSpPr>
            <a:spLocks noGrp="1"/>
          </p:cNvSpPr>
          <p:nvPr>
            <p:ph idx="1"/>
          </p:nvPr>
        </p:nvSpPr>
        <p:spPr/>
        <p:txBody>
          <a:bodyPr/>
          <a:lstStyle/>
          <a:p>
            <a:r>
              <a:rPr lang="en-US" dirty="0" smtClean="0"/>
              <a:t>Main Updates</a:t>
            </a:r>
          </a:p>
          <a:p>
            <a:pPr lvl="1"/>
            <a:r>
              <a:rPr lang="en-US" dirty="0" smtClean="0"/>
              <a:t>Support for Advanced Auxiliaries (Ricardo) in </a:t>
            </a:r>
            <a:r>
              <a:rPr lang="en-US" dirty="0" err="1" smtClean="0"/>
              <a:t>Vecto</a:t>
            </a:r>
            <a:r>
              <a:rPr lang="en-US" dirty="0" smtClean="0"/>
              <a:t> 3.0.3 and </a:t>
            </a:r>
            <a:r>
              <a:rPr lang="en-US" dirty="0" err="1" smtClean="0"/>
              <a:t>Vecto</a:t>
            </a:r>
            <a:r>
              <a:rPr lang="en-US" dirty="0" smtClean="0"/>
              <a:t> 2.2</a:t>
            </a:r>
          </a:p>
          <a:p>
            <a:pPr lvl="1"/>
            <a:r>
              <a:rPr lang="en-US" dirty="0" smtClean="0"/>
              <a:t>Performance improvements</a:t>
            </a:r>
          </a:p>
          <a:p>
            <a:pPr lvl="1"/>
            <a:r>
              <a:rPr lang="en-US" dirty="0" smtClean="0"/>
              <a:t>Gearshift polygons according to WB 2016</a:t>
            </a:r>
          </a:p>
          <a:p>
            <a:pPr lvl="1"/>
            <a:r>
              <a:rPr lang="en-US" dirty="0" smtClean="0"/>
              <a:t>Revision of SUM-data file, changed order of columns, changed column headers</a:t>
            </a:r>
          </a:p>
          <a:p>
            <a:r>
              <a:rPr lang="en-US" dirty="0" err="1" smtClean="0"/>
              <a:t>Bugfixes</a:t>
            </a:r>
            <a:endParaRPr lang="en-US" dirty="0" smtClean="0"/>
          </a:p>
          <a:p>
            <a:pPr lvl="1"/>
            <a:r>
              <a:rPr lang="en-US" dirty="0" smtClean="0"/>
              <a:t>Delaunay Maps: additional check for duplicate input points</a:t>
            </a:r>
          </a:p>
          <a:p>
            <a:pPr lvl="1"/>
            <a:r>
              <a:rPr lang="en-US" dirty="0" smtClean="0"/>
              <a:t>Creation of PDF Report when running multiple jobs at once</a:t>
            </a:r>
          </a:p>
          <a:p>
            <a:pPr lvl="1"/>
            <a:r>
              <a:rPr lang="en-US" dirty="0" smtClean="0"/>
              <a:t>Sanity checks for gear shift lines</a:t>
            </a:r>
          </a:p>
          <a:p>
            <a:pPr lvl="1"/>
            <a:r>
              <a:rPr lang="en-US" dirty="0" smtClean="0"/>
              <a:t>Improvements </a:t>
            </a:r>
            <a:r>
              <a:rPr lang="en-US" dirty="0" err="1" smtClean="0"/>
              <a:t>DriverStrategy</a:t>
            </a:r>
            <a:r>
              <a:rPr lang="en-US" dirty="0" smtClean="0"/>
              <a:t>: handling special cases</a:t>
            </a:r>
            <a:endParaRPr lang="en-US" dirty="0"/>
          </a:p>
        </p:txBody>
      </p:sp>
    </p:spTree>
    <p:extLst>
      <p:ext uri="{BB962C8B-B14F-4D97-AF65-F5344CB8AC3E}">
        <p14:creationId xmlns:p14="http://schemas.microsoft.com/office/powerpoint/2010/main" val="3711734534"/>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1600" y="1049265"/>
            <a:ext cx="7488832" cy="4750785"/>
          </a:xfrm>
          <a:prstGeom prst="rect">
            <a:avLst/>
          </a:prstGeom>
        </p:spPr>
      </p:pic>
      <p:sp>
        <p:nvSpPr>
          <p:cNvPr id="2" name="Titel 1"/>
          <p:cNvSpPr>
            <a:spLocks noGrp="1"/>
          </p:cNvSpPr>
          <p:nvPr>
            <p:ph type="title"/>
          </p:nvPr>
        </p:nvSpPr>
        <p:spPr>
          <a:xfrm>
            <a:off x="468315" y="476672"/>
            <a:ext cx="8218487" cy="681038"/>
          </a:xfrm>
        </p:spPr>
        <p:txBody>
          <a:bodyPr/>
          <a:lstStyle/>
          <a:p>
            <a:r>
              <a:rPr lang="en-US" dirty="0" smtClean="0"/>
              <a:t>Performance Comparison</a:t>
            </a:r>
            <a:endParaRPr lang="en-US" dirty="0"/>
          </a:p>
        </p:txBody>
      </p:sp>
      <p:sp>
        <p:nvSpPr>
          <p:cNvPr id="5" name="Textfeld 4"/>
          <p:cNvSpPr txBox="1"/>
          <p:nvPr/>
        </p:nvSpPr>
        <p:spPr>
          <a:xfrm rot="16200000">
            <a:off x="1160693" y="2848509"/>
            <a:ext cx="684803" cy="261610"/>
          </a:xfrm>
          <a:prstGeom prst="rect">
            <a:avLst/>
          </a:prstGeom>
          <a:noFill/>
          <a:ln>
            <a:noFill/>
          </a:ln>
        </p:spPr>
        <p:txBody>
          <a:bodyPr wrap="none" rtlCol="0">
            <a:spAutoFit/>
          </a:bodyPr>
          <a:lstStyle/>
          <a:p>
            <a:pPr algn="l">
              <a:spcBef>
                <a:spcPts val="0"/>
              </a:spcBef>
            </a:pPr>
            <a:r>
              <a:rPr lang="en-US" sz="1100" b="0" dirty="0" smtClean="0"/>
              <a:t>Time [s]</a:t>
            </a:r>
          </a:p>
        </p:txBody>
      </p:sp>
      <p:sp>
        <p:nvSpPr>
          <p:cNvPr id="6" name="Textfeld 5"/>
          <p:cNvSpPr txBox="1"/>
          <p:nvPr/>
        </p:nvSpPr>
        <p:spPr>
          <a:xfrm>
            <a:off x="89810" y="5764614"/>
            <a:ext cx="8328114" cy="369332"/>
          </a:xfrm>
          <a:prstGeom prst="rect">
            <a:avLst/>
          </a:prstGeom>
          <a:noFill/>
          <a:ln>
            <a:noFill/>
          </a:ln>
        </p:spPr>
        <p:txBody>
          <a:bodyPr wrap="none" rtlCol="0">
            <a:spAutoFit/>
          </a:bodyPr>
          <a:lstStyle/>
          <a:p>
            <a:pPr algn="l">
              <a:spcBef>
                <a:spcPts val="0"/>
              </a:spcBef>
            </a:pPr>
            <a:r>
              <a:rPr lang="en-US" sz="1800" b="0" dirty="0" smtClean="0"/>
              <a:t>Total execution time (15 runs in parallel):  </a:t>
            </a:r>
            <a:r>
              <a:rPr lang="en-US" sz="1800" b="0" dirty="0" err="1" smtClean="0"/>
              <a:t>Vecto</a:t>
            </a:r>
            <a:r>
              <a:rPr lang="en-US" sz="1800" b="0" dirty="0" smtClean="0"/>
              <a:t> 3.0.2: 6min 6s; </a:t>
            </a:r>
            <a:r>
              <a:rPr lang="en-US" sz="1800" dirty="0" err="1" smtClean="0"/>
              <a:t>Vecto</a:t>
            </a:r>
            <a:r>
              <a:rPr lang="en-US" sz="1800" dirty="0" smtClean="0"/>
              <a:t> 3.0.3: 35s</a:t>
            </a:r>
          </a:p>
        </p:txBody>
      </p:sp>
    </p:spTree>
    <p:extLst>
      <p:ext uri="{BB962C8B-B14F-4D97-AF65-F5344CB8AC3E}">
        <p14:creationId xmlns:p14="http://schemas.microsoft.com/office/powerpoint/2010/main" val="532525684"/>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0" y="778669"/>
            <a:ext cx="9144000" cy="34607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pPr eaLnBrk="1" hangingPunct="1"/>
            <a:r>
              <a:rPr lang="en-GB" sz="2800" kern="0" dirty="0" smtClean="0"/>
              <a:t>VECTO </a:t>
            </a:r>
            <a:r>
              <a:rPr lang="en-GB" sz="2800" kern="0" dirty="0"/>
              <a:t>3.0.2</a:t>
            </a:r>
            <a:br>
              <a:rPr lang="en-GB" sz="2800" kern="0" dirty="0"/>
            </a:br>
            <a:r>
              <a:rPr lang="en-GB" sz="1600" kern="0" dirty="0" smtClean="0"/>
              <a:t>2016-03-11</a:t>
            </a:r>
            <a:endParaRPr lang="en-GB" sz="2800" kern="0" dirty="0"/>
          </a:p>
        </p:txBody>
      </p:sp>
      <p:sp>
        <p:nvSpPr>
          <p:cNvPr id="6" name="Textfeld 5"/>
          <p:cNvSpPr txBox="1"/>
          <p:nvPr/>
        </p:nvSpPr>
        <p:spPr>
          <a:xfrm>
            <a:off x="251522" y="1124744"/>
            <a:ext cx="8496944" cy="5206041"/>
          </a:xfrm>
          <a:prstGeom prst="rect">
            <a:avLst/>
          </a:prstGeom>
          <a:noFill/>
          <a:ln>
            <a:noFill/>
          </a:ln>
        </p:spPr>
        <p:txBody>
          <a:bodyPr wrap="square" rtlCol="0">
            <a:spAutoFit/>
          </a:bodyPr>
          <a:lstStyle/>
          <a:p>
            <a:pPr algn="l">
              <a:lnSpc>
                <a:spcPct val="150000"/>
              </a:lnSpc>
              <a:spcBef>
                <a:spcPts val="600"/>
              </a:spcBef>
            </a:pPr>
            <a:r>
              <a:rPr lang="en-GB" sz="2000" dirty="0" smtClean="0"/>
              <a:t>Main updates</a:t>
            </a:r>
          </a:p>
          <a:p>
            <a:pPr marL="342900" indent="-342900" algn="l">
              <a:lnSpc>
                <a:spcPct val="130000"/>
              </a:lnSpc>
              <a:spcBef>
                <a:spcPts val="600"/>
              </a:spcBef>
              <a:buFont typeface="Arial" pitchFamily="34" charset="0"/>
              <a:buChar char="•"/>
            </a:pPr>
            <a:r>
              <a:rPr lang="en-GB" sz="1400" b="0" dirty="0" smtClean="0"/>
              <a:t>New simulation modes: </a:t>
            </a:r>
          </a:p>
          <a:p>
            <a:pPr marL="800100" lvl="1" indent="-342900" algn="l">
              <a:lnSpc>
                <a:spcPct val="130000"/>
              </a:lnSpc>
              <a:spcBef>
                <a:spcPts val="300"/>
              </a:spcBef>
              <a:buFont typeface="Arial" pitchFamily="34" charset="0"/>
              <a:buChar char="•"/>
            </a:pPr>
            <a:r>
              <a:rPr lang="en-GB" sz="1400" b="0" dirty="0" err="1" smtClean="0"/>
              <a:t>Pwheel</a:t>
            </a:r>
            <a:r>
              <a:rPr lang="en-GB" sz="1400" b="0" dirty="0" smtClean="0"/>
              <a:t> (</a:t>
            </a:r>
            <a:r>
              <a:rPr lang="en-GB" sz="1400" b="0" dirty="0" err="1" smtClean="0"/>
              <a:t>SiCo</a:t>
            </a:r>
            <a:r>
              <a:rPr lang="en-GB" sz="1400" b="0" dirty="0" smtClean="0"/>
              <a:t>), </a:t>
            </a:r>
          </a:p>
          <a:p>
            <a:pPr marL="800100" lvl="1" indent="-342900" algn="l">
              <a:lnSpc>
                <a:spcPct val="130000"/>
              </a:lnSpc>
              <a:spcBef>
                <a:spcPts val="300"/>
              </a:spcBef>
              <a:buFont typeface="Arial" pitchFamily="34" charset="0"/>
              <a:buChar char="•"/>
            </a:pPr>
            <a:r>
              <a:rPr lang="en-GB" sz="1400" b="0" dirty="0" smtClean="0"/>
              <a:t>Measured Speed (with/without gear)</a:t>
            </a:r>
          </a:p>
          <a:p>
            <a:pPr marL="800100" lvl="1" indent="-342900" algn="l">
              <a:lnSpc>
                <a:spcPct val="130000"/>
              </a:lnSpc>
              <a:spcBef>
                <a:spcPts val="300"/>
              </a:spcBef>
              <a:buFont typeface="Arial" pitchFamily="34" charset="0"/>
              <a:buChar char="•"/>
            </a:pPr>
            <a:r>
              <a:rPr lang="en-GB" sz="1400" b="0" dirty="0" err="1"/>
              <a:t>v_air</a:t>
            </a:r>
            <a:r>
              <a:rPr lang="en-GB" sz="1400" b="0" dirty="0"/>
              <a:t>/beta cross-wind correction (</a:t>
            </a:r>
            <a:r>
              <a:rPr lang="en-GB" sz="1400" b="0" dirty="0" err="1"/>
              <a:t>vcdb</a:t>
            </a:r>
            <a:r>
              <a:rPr lang="en-GB" sz="1400" b="0" dirty="0"/>
              <a:t>)</a:t>
            </a:r>
            <a:endParaRPr lang="en-GB" sz="1400" b="0" dirty="0" smtClean="0"/>
          </a:p>
          <a:p>
            <a:pPr marL="342900" indent="-342900" algn="l">
              <a:lnSpc>
                <a:spcPct val="130000"/>
              </a:lnSpc>
              <a:spcBef>
                <a:spcPts val="600"/>
              </a:spcBef>
              <a:buFont typeface="Arial" pitchFamily="34" charset="0"/>
              <a:buChar char="•"/>
            </a:pPr>
            <a:r>
              <a:rPr lang="en-US" sz="1400" b="0" dirty="0" smtClean="0"/>
              <a:t>Adaptations </a:t>
            </a:r>
            <a:r>
              <a:rPr lang="en-US" sz="1400" b="0" dirty="0"/>
              <a:t>of powertrain components </a:t>
            </a:r>
            <a:r>
              <a:rPr lang="en-US" sz="1400" b="0" dirty="0" smtClean="0"/>
              <a:t>architecture</a:t>
            </a:r>
          </a:p>
          <a:p>
            <a:pPr marL="800100" lvl="1" indent="-342900" algn="l">
              <a:lnSpc>
                <a:spcPct val="130000"/>
              </a:lnSpc>
              <a:spcBef>
                <a:spcPts val="300"/>
              </a:spcBef>
              <a:buFont typeface="Arial" pitchFamily="34" charset="0"/>
              <a:buChar char="•"/>
            </a:pPr>
            <a:r>
              <a:rPr lang="en-US" sz="1400" b="0" dirty="0" smtClean="0"/>
              <a:t>Move </a:t>
            </a:r>
            <a:r>
              <a:rPr lang="en-US" sz="1400" b="0" dirty="0"/>
              <a:t>wheels inertia from vehicle to </a:t>
            </a:r>
            <a:r>
              <a:rPr lang="en-US" sz="1400" b="0" dirty="0" smtClean="0"/>
              <a:t>wheels</a:t>
            </a:r>
          </a:p>
          <a:p>
            <a:pPr marL="800100" lvl="1" indent="-342900" algn="l">
              <a:lnSpc>
                <a:spcPct val="130000"/>
              </a:lnSpc>
              <a:spcBef>
                <a:spcPts val="300"/>
              </a:spcBef>
              <a:buFont typeface="Arial" pitchFamily="34" charset="0"/>
              <a:buChar char="•"/>
            </a:pPr>
            <a:r>
              <a:rPr lang="en-US" sz="1400" b="0" dirty="0" smtClean="0"/>
              <a:t>Auxiliaries </a:t>
            </a:r>
            <a:r>
              <a:rPr lang="en-US" sz="1400" b="0" dirty="0"/>
              <a:t>no longer connected via clutch to the engine but via a separate </a:t>
            </a:r>
            <a:r>
              <a:rPr lang="en-US" sz="1400" b="0" dirty="0" smtClean="0"/>
              <a:t>port</a:t>
            </a:r>
          </a:p>
          <a:p>
            <a:pPr marL="800100" lvl="1" indent="-342900" algn="l">
              <a:lnSpc>
                <a:spcPct val="130000"/>
              </a:lnSpc>
              <a:spcBef>
                <a:spcPts val="300"/>
              </a:spcBef>
              <a:buFont typeface="Arial" pitchFamily="34" charset="0"/>
              <a:buChar char="•"/>
            </a:pPr>
            <a:r>
              <a:rPr lang="en-US" sz="1400" b="0" dirty="0" smtClean="0"/>
              <a:t>Engine </a:t>
            </a:r>
            <a:r>
              <a:rPr lang="en-US" sz="1400" b="0" dirty="0"/>
              <a:t>checks overload of gearbox and engine </a:t>
            </a:r>
            <a:r>
              <a:rPr lang="en-US" sz="1400" b="0" dirty="0" smtClean="0"/>
              <a:t>overload</a:t>
            </a:r>
          </a:p>
          <a:p>
            <a:pPr marL="342900" indent="-342900" algn="l">
              <a:lnSpc>
                <a:spcPct val="130000"/>
              </a:lnSpc>
              <a:spcBef>
                <a:spcPts val="600"/>
              </a:spcBef>
              <a:buFont typeface="Arial" pitchFamily="34" charset="0"/>
              <a:buChar char="•"/>
            </a:pPr>
            <a:r>
              <a:rPr lang="en-US" sz="1400" b="0" dirty="0" smtClean="0"/>
              <a:t>Fixed </a:t>
            </a:r>
            <a:r>
              <a:rPr lang="en-US" sz="1400" b="0" dirty="0"/>
              <a:t>some driving behavior related issues in </a:t>
            </a:r>
            <a:r>
              <a:rPr lang="en-US" sz="1400" b="0" dirty="0" err="1" smtClean="0"/>
              <a:t>VectoCore</a:t>
            </a:r>
            <a:r>
              <a:rPr lang="en-US" sz="1400" b="0" dirty="0" smtClean="0"/>
              <a:t>:</a:t>
            </a:r>
          </a:p>
          <a:p>
            <a:pPr marL="800100" lvl="1" indent="-342900" algn="l">
              <a:lnSpc>
                <a:spcPct val="130000"/>
              </a:lnSpc>
              <a:spcBef>
                <a:spcPts val="300"/>
              </a:spcBef>
              <a:buFont typeface="Arial" pitchFamily="34" charset="0"/>
              <a:buChar char="•"/>
            </a:pPr>
            <a:r>
              <a:rPr lang="en-US" sz="1400" b="0" dirty="0" smtClean="0"/>
              <a:t>When </a:t>
            </a:r>
            <a:r>
              <a:rPr lang="en-US" sz="1400" b="0" dirty="0"/>
              <a:t>the vehicle comes to a halt during gear shift, instead of aborting the cycle, it tries to drive away again with an appropriate gear</a:t>
            </a:r>
            <a:r>
              <a:rPr lang="en-US" sz="1400" b="0" dirty="0" smtClean="0"/>
              <a:t>.</a:t>
            </a:r>
          </a:p>
          <a:p>
            <a:pPr marL="342900" indent="-342900" algn="l">
              <a:lnSpc>
                <a:spcPct val="130000"/>
              </a:lnSpc>
              <a:spcBef>
                <a:spcPts val="600"/>
              </a:spcBef>
              <a:buFont typeface="Arial" pitchFamily="34" charset="0"/>
              <a:buChar char="•"/>
            </a:pPr>
            <a:r>
              <a:rPr lang="en-US" sz="1400" b="0" dirty="0" err="1" smtClean="0"/>
              <a:t>ModData</a:t>
            </a:r>
            <a:r>
              <a:rPr lang="en-US" sz="1400" b="0" dirty="0" smtClean="0"/>
              <a:t> Format </a:t>
            </a:r>
            <a:r>
              <a:rPr lang="en-US" sz="1400" b="0" dirty="0"/>
              <a:t>changed for better information and </a:t>
            </a:r>
            <a:r>
              <a:rPr lang="en-US" sz="1400" b="0" dirty="0" smtClean="0"/>
              <a:t>clarity</a:t>
            </a:r>
          </a:p>
          <a:p>
            <a:pPr marL="342900" indent="-342900" algn="l">
              <a:lnSpc>
                <a:spcPct val="130000"/>
              </a:lnSpc>
              <a:spcBef>
                <a:spcPts val="600"/>
              </a:spcBef>
              <a:buFont typeface="Arial" pitchFamily="34" charset="0"/>
              <a:buChar char="•"/>
            </a:pPr>
            <a:r>
              <a:rPr lang="en-US" sz="1400" b="0" dirty="0"/>
              <a:t>Added validation of input </a:t>
            </a:r>
            <a:r>
              <a:rPr lang="en-US" sz="1400" b="0" dirty="0" smtClean="0"/>
              <a:t>values (according to latest VectoInputParameters.xls)</a:t>
            </a:r>
          </a:p>
          <a:p>
            <a:pPr marL="342900" indent="-342900" algn="l">
              <a:lnSpc>
                <a:spcPct val="130000"/>
              </a:lnSpc>
              <a:spcBef>
                <a:spcPts val="600"/>
              </a:spcBef>
              <a:buFont typeface="Arial" pitchFamily="34" charset="0"/>
              <a:buChar char="•"/>
            </a:pPr>
            <a:r>
              <a:rPr lang="en-US" sz="1400" b="0" dirty="0" smtClean="0"/>
              <a:t>Various </a:t>
            </a:r>
            <a:r>
              <a:rPr lang="en-US" sz="1400" b="0" dirty="0" err="1" smtClean="0"/>
              <a:t>bugfixes</a:t>
            </a:r>
            <a:endParaRPr lang="en-GB" sz="1400" b="0" dirty="0" smtClean="0"/>
          </a:p>
        </p:txBody>
      </p:sp>
    </p:spTree>
    <p:extLst>
      <p:ext uri="{BB962C8B-B14F-4D97-AF65-F5344CB8AC3E}">
        <p14:creationId xmlns:p14="http://schemas.microsoft.com/office/powerpoint/2010/main" val="2167813828"/>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Pwheel</a:t>
            </a:r>
            <a:r>
              <a:rPr lang="en-US" dirty="0" smtClean="0"/>
              <a:t> (</a:t>
            </a:r>
            <a:r>
              <a:rPr lang="en-US" dirty="0" err="1" smtClean="0"/>
              <a:t>SiCo</a:t>
            </a:r>
            <a:r>
              <a:rPr lang="en-US" dirty="0" smtClean="0"/>
              <a:t>) Mode</a:t>
            </a:r>
            <a:endParaRPr lang="en-US" dirty="0"/>
          </a:p>
        </p:txBody>
      </p:sp>
      <p:sp>
        <p:nvSpPr>
          <p:cNvPr id="3" name="Inhaltsplatzhalter 2"/>
          <p:cNvSpPr>
            <a:spLocks noGrp="1"/>
          </p:cNvSpPr>
          <p:nvPr>
            <p:ph idx="1"/>
          </p:nvPr>
        </p:nvSpPr>
        <p:spPr/>
        <p:txBody>
          <a:bodyPr/>
          <a:lstStyle/>
          <a:p>
            <a:r>
              <a:rPr lang="en-US" dirty="0" smtClean="0"/>
              <a:t>Function as already available in </a:t>
            </a:r>
            <a:r>
              <a:rPr lang="en-US" dirty="0" err="1" smtClean="0"/>
              <a:t>Vecto</a:t>
            </a:r>
            <a:r>
              <a:rPr lang="en-US" dirty="0" smtClean="0"/>
              <a:t> 2.2 also added in </a:t>
            </a:r>
            <a:r>
              <a:rPr lang="en-US" dirty="0" err="1" smtClean="0"/>
              <a:t>Vecto</a:t>
            </a:r>
            <a:r>
              <a:rPr lang="en-US" dirty="0" smtClean="0"/>
              <a:t> 3.0.2</a:t>
            </a:r>
          </a:p>
          <a:p>
            <a:pPr lvl="1"/>
            <a:r>
              <a:rPr lang="en-US" dirty="0" smtClean="0"/>
              <a:t>Driving cycle specifies power at wheel, engine speed, gear, and auxiliary power</a:t>
            </a:r>
          </a:p>
          <a:p>
            <a:pPr lvl="1"/>
            <a:r>
              <a:rPr lang="en-US" dirty="0"/>
              <a:t>No driver model in the simulation.</a:t>
            </a:r>
          </a:p>
          <a:p>
            <a:pPr lvl="1"/>
            <a:r>
              <a:rPr lang="en-US" dirty="0" smtClean="0"/>
              <a:t>The </a:t>
            </a:r>
            <a:r>
              <a:rPr lang="en-US" dirty="0" err="1"/>
              <a:t>Vecto</a:t>
            </a:r>
            <a:r>
              <a:rPr lang="en-US" dirty="0"/>
              <a:t> gear-shift model is overruled.</a:t>
            </a:r>
          </a:p>
          <a:p>
            <a:pPr lvl="1"/>
            <a:r>
              <a:rPr lang="en-US" dirty="0"/>
              <a:t>Function used for </a:t>
            </a:r>
            <a:r>
              <a:rPr lang="en-US" dirty="0" smtClean="0"/>
              <a:t>creating reference results for </a:t>
            </a:r>
            <a:r>
              <a:rPr lang="en-US" dirty="0" err="1" smtClean="0"/>
              <a:t>SiCo</a:t>
            </a:r>
            <a:r>
              <a:rPr lang="en-US" dirty="0" smtClean="0"/>
              <a:t> tests</a:t>
            </a:r>
          </a:p>
          <a:p>
            <a:pPr lvl="1"/>
            <a:r>
              <a:rPr lang="en-US" dirty="0" smtClean="0"/>
              <a:t>For details see user manual: Simulation Models / </a:t>
            </a:r>
            <a:r>
              <a:rPr lang="en-US" dirty="0" err="1" smtClean="0"/>
              <a:t>Pwheel</a:t>
            </a:r>
            <a:r>
              <a:rPr lang="en-US" dirty="0" smtClean="0"/>
              <a:t> Input (</a:t>
            </a:r>
            <a:r>
              <a:rPr lang="en-US" dirty="0" err="1" smtClean="0"/>
              <a:t>SiCo</a:t>
            </a:r>
            <a:r>
              <a:rPr lang="en-US" dirty="0" smtClean="0"/>
              <a:t>)</a:t>
            </a:r>
            <a:endParaRPr lang="en-US" dirty="0"/>
          </a:p>
          <a:p>
            <a:pPr lvl="1"/>
            <a:endParaRPr lang="en-US" dirty="0" smtClean="0"/>
          </a:p>
          <a:p>
            <a:endParaRPr lang="en-US" dirty="0"/>
          </a:p>
        </p:txBody>
      </p:sp>
    </p:spTree>
    <p:extLst>
      <p:ext uri="{BB962C8B-B14F-4D97-AF65-F5344CB8AC3E}">
        <p14:creationId xmlns:p14="http://schemas.microsoft.com/office/powerpoint/2010/main" val="317652222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Measured Speed Mode</a:t>
            </a:r>
            <a:endParaRPr lang="en-US" dirty="0"/>
          </a:p>
        </p:txBody>
      </p:sp>
      <p:sp>
        <p:nvSpPr>
          <p:cNvPr id="3" name="Inhaltsplatzhalter 2"/>
          <p:cNvSpPr>
            <a:spLocks noGrp="1"/>
          </p:cNvSpPr>
          <p:nvPr>
            <p:ph idx="1"/>
          </p:nvPr>
        </p:nvSpPr>
        <p:spPr/>
        <p:txBody>
          <a:bodyPr/>
          <a:lstStyle/>
          <a:p>
            <a:r>
              <a:rPr lang="en-US" dirty="0" smtClean="0"/>
              <a:t>Functionality already available in </a:t>
            </a:r>
            <a:r>
              <a:rPr lang="en-US" dirty="0" err="1" smtClean="0"/>
              <a:t>Vecto</a:t>
            </a:r>
            <a:r>
              <a:rPr lang="en-US" dirty="0" smtClean="0"/>
              <a:t> 2.2 added in </a:t>
            </a:r>
            <a:r>
              <a:rPr lang="en-US" dirty="0" err="1" smtClean="0"/>
              <a:t>Vecto</a:t>
            </a:r>
            <a:r>
              <a:rPr lang="en-US" dirty="0" smtClean="0"/>
              <a:t> 3.0.2</a:t>
            </a:r>
          </a:p>
          <a:p>
            <a:pPr lvl="1"/>
            <a:r>
              <a:rPr lang="en-US" dirty="0" smtClean="0"/>
              <a:t>Driving cycle not defined by target speed but by actual speed. No driver model in the simulation.</a:t>
            </a:r>
          </a:p>
          <a:p>
            <a:pPr lvl="1"/>
            <a:r>
              <a:rPr lang="en-US" dirty="0" smtClean="0"/>
              <a:t>Gear and engine speed can be specified in the driving cycle. In this case the </a:t>
            </a:r>
            <a:r>
              <a:rPr lang="en-US" dirty="0" err="1" smtClean="0"/>
              <a:t>Vecto</a:t>
            </a:r>
            <a:r>
              <a:rPr lang="en-US" dirty="0" smtClean="0"/>
              <a:t> gear-shift model is overruled.</a:t>
            </a:r>
          </a:p>
          <a:p>
            <a:pPr lvl="1"/>
            <a:r>
              <a:rPr lang="en-US" dirty="0" smtClean="0"/>
              <a:t>Function used for “proof of concept” purposes</a:t>
            </a:r>
          </a:p>
          <a:p>
            <a:pPr lvl="1"/>
            <a:r>
              <a:rPr lang="en-US" dirty="0" smtClean="0"/>
              <a:t>For details see user manual: Calculation Modes / Engineering Mode / Measured Speed</a:t>
            </a:r>
            <a:endParaRPr lang="en-US" dirty="0"/>
          </a:p>
        </p:txBody>
      </p:sp>
    </p:spTree>
    <p:extLst>
      <p:ext uri="{BB962C8B-B14F-4D97-AF65-F5344CB8AC3E}">
        <p14:creationId xmlns:p14="http://schemas.microsoft.com/office/powerpoint/2010/main" val="373580889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a:t>
            </a:r>
            <a:r>
              <a:rPr lang="en-US" dirty="0" err="1" smtClean="0"/>
              <a:t>vmod</a:t>
            </a:r>
            <a:r>
              <a:rPr lang="en-US" dirty="0" smtClean="0"/>
              <a:t> File Update</a:t>
            </a:r>
            <a:endParaRPr lang="en-US" dirty="0"/>
          </a:p>
        </p:txBody>
      </p:sp>
      <p:sp>
        <p:nvSpPr>
          <p:cNvPr id="3" name="Inhaltsplatzhalter 2"/>
          <p:cNvSpPr>
            <a:spLocks noGrp="1"/>
          </p:cNvSpPr>
          <p:nvPr>
            <p:ph idx="1"/>
          </p:nvPr>
        </p:nvSpPr>
        <p:spPr/>
        <p:txBody>
          <a:bodyPr/>
          <a:lstStyle/>
          <a:p>
            <a:r>
              <a:rPr lang="en-US" dirty="0"/>
              <a:t>In </a:t>
            </a:r>
            <a:r>
              <a:rPr lang="en-US" dirty="0" err="1"/>
              <a:t>Vecto</a:t>
            </a:r>
            <a:r>
              <a:rPr lang="en-US" dirty="0"/>
              <a:t> 3.0.2 the structure of the modal data output has been revised and re-structured. </a:t>
            </a:r>
            <a:r>
              <a:rPr lang="en-US" dirty="0" err="1"/>
              <a:t>Basicaly</a:t>
            </a:r>
            <a:r>
              <a:rPr lang="en-US" dirty="0"/>
              <a:t> for every powertrain component the .</a:t>
            </a:r>
            <a:r>
              <a:rPr lang="en-US" dirty="0" err="1"/>
              <a:t>vmod</a:t>
            </a:r>
            <a:r>
              <a:rPr lang="en-US" dirty="0"/>
              <a:t> file contains the power at the input shaft and the individual power losses for every component. For the engine the power, torque and engine speed at the output shaft is given along with the internal power and torque used for computing the fuel consumption</a:t>
            </a:r>
            <a:r>
              <a:rPr lang="en-US" dirty="0" smtClean="0"/>
              <a:t>.</a:t>
            </a:r>
          </a:p>
          <a:p>
            <a:r>
              <a:rPr lang="en-US" dirty="0" smtClean="0"/>
              <a:t>For details see the user manual: Input and Output / Modal Results (.</a:t>
            </a:r>
            <a:r>
              <a:rPr lang="en-US" dirty="0" err="1" smtClean="0"/>
              <a:t>vmod</a:t>
            </a:r>
            <a:r>
              <a:rPr lang="en-US" dirty="0" smtClean="0"/>
              <a:t>)</a:t>
            </a:r>
            <a:endParaRPr lang="en-US" dirty="0"/>
          </a:p>
        </p:txBody>
      </p:sp>
    </p:spTree>
    <p:extLst>
      <p:ext uri="{BB962C8B-B14F-4D97-AF65-F5344CB8AC3E}">
        <p14:creationId xmlns:p14="http://schemas.microsoft.com/office/powerpoint/2010/main" val="386975413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Changelog 3.0.2</a:t>
            </a:r>
            <a:endParaRPr lang="en-US" dirty="0"/>
          </a:p>
        </p:txBody>
      </p:sp>
      <p:sp>
        <p:nvSpPr>
          <p:cNvPr id="3" name="Inhaltsplatzhalter 2"/>
          <p:cNvSpPr>
            <a:spLocks noGrp="1"/>
          </p:cNvSpPr>
          <p:nvPr>
            <p:ph idx="1"/>
          </p:nvPr>
        </p:nvSpPr>
        <p:spPr/>
        <p:txBody>
          <a:bodyPr/>
          <a:lstStyle/>
          <a:p>
            <a:r>
              <a:rPr lang="en-US" sz="800" dirty="0"/>
              <a:t>- New simulation modes:</a:t>
            </a:r>
          </a:p>
          <a:p>
            <a:r>
              <a:rPr lang="en-US" sz="800" dirty="0" smtClean="0"/>
              <a:t>+ </a:t>
            </a:r>
            <a:r>
              <a:rPr lang="en-US" sz="800" dirty="0"/>
              <a:t>Measured Speed</a:t>
            </a:r>
          </a:p>
          <a:p>
            <a:r>
              <a:rPr lang="en-US" sz="800" dirty="0" smtClean="0"/>
              <a:t>+ </a:t>
            </a:r>
            <a:r>
              <a:rPr lang="en-US" sz="800" dirty="0"/>
              <a:t>Measured Speed with Gear</a:t>
            </a:r>
          </a:p>
          <a:p>
            <a:r>
              <a:rPr lang="en-US" sz="800" dirty="0" smtClean="0"/>
              <a:t>+ </a:t>
            </a:r>
            <a:r>
              <a:rPr lang="en-US" sz="800" dirty="0" err="1"/>
              <a:t>Pwheel</a:t>
            </a:r>
            <a:r>
              <a:rPr lang="en-US" sz="800" dirty="0"/>
              <a:t> (</a:t>
            </a:r>
            <a:r>
              <a:rPr lang="en-US" sz="800" dirty="0" err="1"/>
              <a:t>SiCo</a:t>
            </a:r>
            <a:r>
              <a:rPr lang="en-US" sz="800" dirty="0"/>
              <a:t>)</a:t>
            </a:r>
          </a:p>
          <a:p>
            <a:r>
              <a:rPr lang="en-US" sz="800" dirty="0"/>
              <a:t>- Adaptations of powertrain components architecture</a:t>
            </a:r>
          </a:p>
          <a:p>
            <a:r>
              <a:rPr lang="en-US" sz="800" dirty="0" smtClean="0"/>
              <a:t>+ </a:t>
            </a:r>
            <a:r>
              <a:rPr lang="en-US" sz="800" dirty="0"/>
              <a:t>Move wheels inertia from vehicle to wheels</a:t>
            </a:r>
          </a:p>
          <a:p>
            <a:r>
              <a:rPr lang="en-US" sz="800" dirty="0" smtClean="0"/>
              <a:t>+ </a:t>
            </a:r>
            <a:r>
              <a:rPr lang="en-US" sz="800" dirty="0"/>
              <a:t>Auxiliaries no longer connected via clutch to the engine but via a separate port</a:t>
            </a:r>
          </a:p>
          <a:p>
            <a:r>
              <a:rPr lang="en-US" sz="800" dirty="0" smtClean="0"/>
              <a:t>+ </a:t>
            </a:r>
            <a:r>
              <a:rPr lang="en-US" sz="800" dirty="0"/>
              <a:t>Engine checks overload of gearbox and engine overload</a:t>
            </a:r>
          </a:p>
          <a:p>
            <a:r>
              <a:rPr lang="en-US" sz="800" dirty="0"/>
              <a:t>- Fixed some driving behavior related issues in </a:t>
            </a:r>
            <a:r>
              <a:rPr lang="en-US" sz="800" dirty="0" err="1"/>
              <a:t>VectoCore</a:t>
            </a:r>
            <a:r>
              <a:rPr lang="en-US" sz="800" dirty="0"/>
              <a:t>:</a:t>
            </a:r>
          </a:p>
          <a:p>
            <a:r>
              <a:rPr lang="en-US" sz="800" dirty="0" smtClean="0"/>
              <a:t>+ </a:t>
            </a:r>
            <a:r>
              <a:rPr lang="en-US" sz="800" dirty="0"/>
              <a:t>When the vehicle comes to a halt during gear shift, instead of aborting the cycle, it tries to drive away again with an appropriate gear.</a:t>
            </a:r>
          </a:p>
          <a:p>
            <a:r>
              <a:rPr lang="en-US" sz="800" dirty="0"/>
              <a:t>- [</a:t>
            </a:r>
            <a:r>
              <a:rPr lang="en-US" sz="800" dirty="0" err="1"/>
              <a:t>ModData</a:t>
            </a:r>
            <a:r>
              <a:rPr lang="en-US" sz="800" dirty="0"/>
              <a:t> Format](#modal-results-.</a:t>
            </a:r>
            <a:r>
              <a:rPr lang="en-US" sz="800" dirty="0" err="1"/>
              <a:t>vmod</a:t>
            </a:r>
            <a:r>
              <a:rPr lang="en-US" sz="800" dirty="0"/>
              <a:t>) changed for better information and clarity</a:t>
            </a:r>
          </a:p>
          <a:p>
            <a:r>
              <a:rPr lang="en-US" sz="800" dirty="0"/>
              <a:t>- Entries in the sum-file are sorted in the same way as in </a:t>
            </a:r>
            <a:r>
              <a:rPr lang="en-US" sz="800" dirty="0" err="1"/>
              <a:t>Vecto</a:t>
            </a:r>
            <a:r>
              <a:rPr lang="en-US" sz="800" dirty="0"/>
              <a:t> 2.2</a:t>
            </a:r>
          </a:p>
          <a:p>
            <a:r>
              <a:rPr lang="en-US" sz="800" dirty="0"/>
              <a:t>- In engineering mode the execution mode (distance-based, time-based measured speed, time-based measured speed with gear, engine only) are detected based on the cycle</a:t>
            </a:r>
          </a:p>
          <a:p>
            <a:r>
              <a:rPr lang="en-US" sz="800" dirty="0"/>
              <a:t>- Added validation of input values</a:t>
            </a:r>
          </a:p>
          <a:p>
            <a:r>
              <a:rPr lang="en-US" sz="800" dirty="0"/>
              <a:t>- Gravity constant set to 9.80665 (NIST standard acceleration for gravity)</a:t>
            </a:r>
          </a:p>
          <a:p>
            <a:r>
              <a:rPr lang="en-US" sz="800" dirty="0"/>
              <a:t>- Improved input data handling: sort input values of full-load curves (engine, </a:t>
            </a:r>
            <a:r>
              <a:rPr lang="en-US" sz="800" dirty="0" err="1"/>
              <a:t>gbx</a:t>
            </a:r>
            <a:r>
              <a:rPr lang="en-US" sz="800" dirty="0"/>
              <a:t>, retarder)</a:t>
            </a:r>
          </a:p>
          <a:p>
            <a:r>
              <a:rPr lang="en-US" sz="800" dirty="0"/>
              <a:t>- Better Integration of </a:t>
            </a:r>
            <a:r>
              <a:rPr lang="en-US" sz="800" dirty="0" err="1"/>
              <a:t>VectoCore</a:t>
            </a:r>
            <a:r>
              <a:rPr lang="en-US" sz="800" dirty="0"/>
              <a:t> into GUI (Notifications and Messages)</a:t>
            </a:r>
          </a:p>
          <a:p>
            <a:r>
              <a:rPr lang="en-US" sz="800" dirty="0"/>
              <a:t>- </a:t>
            </a:r>
            <a:r>
              <a:rPr lang="en-US" sz="800" dirty="0" err="1" smtClean="0"/>
              <a:t>v_air</a:t>
            </a:r>
            <a:r>
              <a:rPr lang="en-US" sz="800" dirty="0" smtClean="0"/>
              <a:t>/beta </a:t>
            </a:r>
            <a:r>
              <a:rPr lang="en-US" sz="800" dirty="0"/>
              <a:t>cross-wind correction (</a:t>
            </a:r>
            <a:r>
              <a:rPr lang="en-US" sz="800" dirty="0" err="1"/>
              <a:t>vcdb</a:t>
            </a:r>
            <a:r>
              <a:rPr lang="en-US" sz="800" dirty="0"/>
              <a:t>) </a:t>
            </a:r>
            <a:r>
              <a:rPr lang="en-US" sz="800" dirty="0" err="1"/>
              <a:t>impemented</a:t>
            </a:r>
            <a:endParaRPr lang="en-US" sz="800" dirty="0"/>
          </a:p>
          <a:p>
            <a:r>
              <a:rPr lang="en-US" sz="800" dirty="0"/>
              <a:t>- For all calculations the averaged values of the current simulation step are used for interpolations in loss-maps.</a:t>
            </a:r>
          </a:p>
          <a:p>
            <a:r>
              <a:rPr lang="en-US" sz="800" dirty="0"/>
              <a:t>- Allow extrapolation of loss maps in engineering mode (warnings)</a:t>
            </a:r>
          </a:p>
          <a:p>
            <a:r>
              <a:rPr lang="en-US" sz="800" dirty="0"/>
              <a:t>- Refactoring of input data handling: separate </a:t>
            </a:r>
            <a:r>
              <a:rPr lang="en-US" sz="800" dirty="0" err="1"/>
              <a:t>InputDataProvider</a:t>
            </a:r>
            <a:r>
              <a:rPr lang="en-US" sz="800" dirty="0"/>
              <a:t> interfaces for model data</a:t>
            </a:r>
          </a:p>
          <a:p>
            <a:r>
              <a:rPr lang="en-US" sz="800" dirty="0"/>
              <a:t>- Refactoring of result handling: separate result container and output writer</a:t>
            </a:r>
          </a:p>
          <a:p>
            <a:r>
              <a:rPr lang="en-US" sz="800" dirty="0"/>
              <a:t>- New Long-Haul driving cycle included</a:t>
            </a:r>
          </a:p>
          <a:p>
            <a:r>
              <a:rPr lang="en-US" sz="800" dirty="0"/>
              <a:t>- User Manual updated for VECTO V3.x</a:t>
            </a:r>
          </a:p>
          <a:p>
            <a:r>
              <a:rPr lang="en-US" sz="800" dirty="0"/>
              <a:t>- Fix: sparse representation of declaration cycles had some missing entries</a:t>
            </a:r>
          </a:p>
          <a:p>
            <a:r>
              <a:rPr lang="en-US" sz="800" dirty="0"/>
              <a:t>- </a:t>
            </a:r>
            <a:r>
              <a:rPr lang="en-US" sz="800" dirty="0" err="1"/>
              <a:t>Bugfix</a:t>
            </a:r>
            <a:r>
              <a:rPr lang="en-US" sz="800" dirty="0"/>
              <a:t>: error in computation of engine's preferred speed </a:t>
            </a:r>
          </a:p>
          <a:p>
            <a:r>
              <a:rPr lang="en-US" sz="800" dirty="0"/>
              <a:t>- </a:t>
            </a:r>
            <a:r>
              <a:rPr lang="en-US" sz="800" dirty="0" err="1"/>
              <a:t>Bugfix</a:t>
            </a:r>
            <a:r>
              <a:rPr lang="en-US" sz="800" dirty="0"/>
              <a:t>: wrong vehicle class lookup</a:t>
            </a:r>
          </a:p>
          <a:p>
            <a:r>
              <a:rPr lang="en-US" sz="800" dirty="0"/>
              <a:t>- </a:t>
            </a:r>
            <a:r>
              <a:rPr lang="en-US" sz="800" dirty="0" err="1"/>
              <a:t>Bugfix</a:t>
            </a:r>
            <a:r>
              <a:rPr lang="en-US" sz="800" dirty="0"/>
              <a:t>: duplicate entries in intersected full-load curves</a:t>
            </a:r>
          </a:p>
          <a:p>
            <a:r>
              <a:rPr lang="en-US" sz="800" dirty="0"/>
              <a:t>- </a:t>
            </a:r>
            <a:r>
              <a:rPr lang="en-US" sz="800" dirty="0" err="1"/>
              <a:t>Bugfix</a:t>
            </a:r>
            <a:r>
              <a:rPr lang="en-US" sz="800" dirty="0"/>
              <a:t>: retarder takes the retarder ratio into account for </a:t>
            </a:r>
            <a:r>
              <a:rPr lang="en-US" sz="800" dirty="0" err="1"/>
              <a:t>lossmap</a:t>
            </a:r>
            <a:r>
              <a:rPr lang="en-US" sz="800" dirty="0"/>
              <a:t> lookup</a:t>
            </a:r>
          </a:p>
          <a:p>
            <a:r>
              <a:rPr lang="en-US" sz="800" dirty="0"/>
              <a:t>- </a:t>
            </a:r>
            <a:r>
              <a:rPr lang="en-US" sz="800" dirty="0" err="1"/>
              <a:t>Bugfix</a:t>
            </a:r>
            <a:r>
              <a:rPr lang="en-US" sz="800" dirty="0"/>
              <a:t>: use unique identifier for jobs in job list</a:t>
            </a:r>
          </a:p>
          <a:p>
            <a:r>
              <a:rPr lang="en-US" sz="800" dirty="0"/>
              <a:t>- </a:t>
            </a:r>
            <a:r>
              <a:rPr lang="en-US" sz="800" dirty="0" err="1"/>
              <a:t>Bugfix</a:t>
            </a:r>
            <a:r>
              <a:rPr lang="en-US" sz="800" dirty="0"/>
              <a:t>: error in </a:t>
            </a:r>
            <a:r>
              <a:rPr lang="en-US" sz="800" dirty="0" err="1"/>
              <a:t>triagulation</a:t>
            </a:r>
            <a:r>
              <a:rPr lang="en-US" sz="800" dirty="0"/>
              <a:t> of fuel consumption map</a:t>
            </a:r>
          </a:p>
        </p:txBody>
      </p:sp>
    </p:spTree>
    <p:extLst>
      <p:ext uri="{BB962C8B-B14F-4D97-AF65-F5344CB8AC3E}">
        <p14:creationId xmlns:p14="http://schemas.microsoft.com/office/powerpoint/2010/main" val="179170135"/>
      </p:ext>
    </p:extLst>
  </p:cSld>
  <p:clrMapOvr>
    <a:masterClrMapping/>
  </p:clrMapOvr>
</p:sld>
</file>

<file path=ppt/theme/theme1.xml><?xml version="1.0" encoding="utf-8"?>
<a:theme xmlns:a="http://schemas.openxmlformats.org/drawingml/2006/main" name="Standard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design">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ctr" anchorCtr="0" compatLnSpc="1">
        <a:prstTxWarp prst="textNoShape">
          <a:avLst/>
        </a:prstTxWarp>
        <a:spAutoFit/>
      </a:bodyPr>
      <a:lstStyle>
        <a:defPPr marL="0" marR="0" indent="0" algn="ctr" defTabSz="914400" rtl="0" eaLnBrk="1" fontAlgn="base" latinLnBrk="0" hangingPunct="1">
          <a:lnSpc>
            <a:spcPct val="100000"/>
          </a:lnSpc>
          <a:spcBef>
            <a:spcPct val="30000"/>
          </a:spcBef>
          <a:spcAft>
            <a:spcPct val="0"/>
          </a:spcAft>
          <a:buClrTx/>
          <a:buSzTx/>
          <a:buFontTx/>
          <a:buNone/>
          <a:tabLst/>
          <a:defRPr b="0">
            <a:latin typeface="Arial" pitchFamily="34" charset="0"/>
          </a:defRPr>
        </a:defPPr>
      </a:lstStyle>
    </a:spDef>
    <a:lnDef>
      <a:spPr bwMode="auto">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ln>
          <a:noFill/>
        </a:ln>
      </a:spPr>
      <a:bodyPr wrap="none" rtlCol="0">
        <a:spAutoFit/>
      </a:bodyPr>
      <a:lstStyle>
        <a:defPPr algn="l">
          <a:spcBef>
            <a:spcPts val="0"/>
          </a:spcBef>
          <a:defRPr sz="1800" b="0" dirty="0" err="1" smtClean="0"/>
        </a:defPPr>
      </a:lstStyle>
    </a:txDef>
  </a:objectDefaults>
  <a:extraClrSchemeLst>
    <a:extraClrScheme>
      <a:clrScheme name="Standard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tandard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tandard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tandard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tandard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tandard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tandard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tandard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tandard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tandard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tandard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tandard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4015</Words>
  <Application>Microsoft Office PowerPoint</Application>
  <PresentationFormat>Bildschirmpräsentation (4:3)</PresentationFormat>
  <Paragraphs>386</Paragraphs>
  <Slides>34</Slides>
  <Notes>0</Notes>
  <HiddenSlides>0</HiddenSlides>
  <MMClips>0</MMClips>
  <ScaleCrop>false</ScaleCrop>
  <HeadingPairs>
    <vt:vector size="6" baseType="variant">
      <vt:variant>
        <vt:lpstr>Verwendete Schriftarten</vt:lpstr>
      </vt:variant>
      <vt:variant>
        <vt:i4>2</vt:i4>
      </vt:variant>
      <vt:variant>
        <vt:lpstr>Design</vt:lpstr>
      </vt:variant>
      <vt:variant>
        <vt:i4>1</vt:i4>
      </vt:variant>
      <vt:variant>
        <vt:lpstr>Folientitel</vt:lpstr>
      </vt:variant>
      <vt:variant>
        <vt:i4>34</vt:i4>
      </vt:variant>
    </vt:vector>
  </HeadingPairs>
  <TitlesOfParts>
    <vt:vector size="37" baseType="lpstr">
      <vt:lpstr>Arial</vt:lpstr>
      <vt:lpstr>Verdana</vt:lpstr>
      <vt:lpstr>Standarddesign</vt:lpstr>
      <vt:lpstr>PowerPoint-Präsentation</vt:lpstr>
      <vt:lpstr>Vecto 3.2.2.1078 2017-12-14</vt:lpstr>
      <vt:lpstr>Vecto 3.2.1.1054 2017-11-20</vt:lpstr>
      <vt:lpstr>VTP Simulation Mode</vt:lpstr>
      <vt:lpstr>Vecto 3.2.0.1022 2017-10-19</vt:lpstr>
      <vt:lpstr>Vecto 3.2.0.1005 2017-10-02</vt:lpstr>
      <vt:lpstr>Vecto 3.2.0.940 2017-07-28</vt:lpstr>
      <vt:lpstr>Vecto 3.2.0.925 2017-07-14</vt:lpstr>
      <vt:lpstr>Vecto 3.2.0.925 2017-07-14</vt:lpstr>
      <vt:lpstr>Vecto 3.2.0.925 2017-07-14</vt:lpstr>
      <vt:lpstr>Vecto 3.2.0.925 2017-07-14</vt:lpstr>
      <vt:lpstr>Vecto 3.1.2.810 2017-01-18</vt:lpstr>
      <vt:lpstr>Vecto 3.1.2.796 2017-03-07</vt:lpstr>
      <vt:lpstr>Vecto 3.1.1.748 2017-01-18</vt:lpstr>
      <vt:lpstr>Vecto 3.1.1.742 2017-01-12</vt:lpstr>
      <vt:lpstr>Vecto 3.1.0.683 2016-11-14</vt:lpstr>
      <vt:lpstr>PowerPoint-Präsentation</vt:lpstr>
      <vt:lpstr>Vecto 3.1.0.662 2016-10-24</vt:lpstr>
      <vt:lpstr>Vecto 3.1.0.652 2016-10-14</vt:lpstr>
      <vt:lpstr>Vecto 3.1.0.652 2016-10-14</vt:lpstr>
      <vt:lpstr>Status quo VECTO software and open issues (Oct. 2016)</vt:lpstr>
      <vt:lpstr>Vecto 3.0.4.565 2016-07-19</vt:lpstr>
      <vt:lpstr>Vecto 3.0.4.544 2016-06-28</vt:lpstr>
      <vt:lpstr>Notes for using Vecto 3.x with AAUX (1)</vt:lpstr>
      <vt:lpstr>Notes for using Vecto 3.x with AAUX (2)</vt:lpstr>
      <vt:lpstr>Notes for using Vecto 3.x with AAUX (3)</vt:lpstr>
      <vt:lpstr>Vecto 3.0.3.537 2016-06-21</vt:lpstr>
      <vt:lpstr>Vecto 3.0.3.495 2016-05-10</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creator>martinrexeis</dc:creator>
  <cp:lastModifiedBy>Quaritsch Markus</cp:lastModifiedBy>
  <cp:revision>1171</cp:revision>
  <cp:lastPrinted>2013-01-22T12:03:30Z</cp:lastPrinted>
  <dcterms:created xsi:type="dcterms:W3CDTF">2010-01-07T15:28:02Z</dcterms:created>
  <dcterms:modified xsi:type="dcterms:W3CDTF">2017-12-14T09:55:31Z</dcterms:modified>
</cp:coreProperties>
</file>