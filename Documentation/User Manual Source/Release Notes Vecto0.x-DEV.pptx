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37"/>
  </p:notesMasterIdLst>
  <p:sldIdLst>
    <p:sldId id="256" r:id="rId2"/>
    <p:sldId id="257" r:id="rId3"/>
    <p:sldId id="1334" r:id="rId4"/>
    <p:sldId id="1332" r:id="rId5"/>
    <p:sldId id="1289" r:id="rId6"/>
    <p:sldId id="1314" r:id="rId7"/>
    <p:sldId id="1315" r:id="rId8"/>
    <p:sldId id="1316" r:id="rId9"/>
    <p:sldId id="1317" r:id="rId10"/>
    <p:sldId id="1318" r:id="rId11"/>
    <p:sldId id="1319" r:id="rId12"/>
    <p:sldId id="1320" r:id="rId13"/>
    <p:sldId id="1321" r:id="rId14"/>
    <p:sldId id="1322" r:id="rId15"/>
    <p:sldId id="1323" r:id="rId16"/>
    <p:sldId id="1324" r:id="rId17"/>
    <p:sldId id="1325" r:id="rId18"/>
    <p:sldId id="1326" r:id="rId19"/>
    <p:sldId id="1327" r:id="rId20"/>
    <p:sldId id="1328" r:id="rId21"/>
    <p:sldId id="1329" r:id="rId22"/>
    <p:sldId id="1330" r:id="rId23"/>
    <p:sldId id="1331" r:id="rId24"/>
    <p:sldId id="1291" r:id="rId25"/>
    <p:sldId id="1292" r:id="rId26"/>
    <p:sldId id="1294" r:id="rId27"/>
    <p:sldId id="1298" r:id="rId28"/>
    <p:sldId id="1299" r:id="rId29"/>
    <p:sldId id="1300" r:id="rId30"/>
    <p:sldId id="1301" r:id="rId31"/>
    <p:sldId id="1302" r:id="rId32"/>
    <p:sldId id="1303" r:id="rId33"/>
    <p:sldId id="1310" r:id="rId34"/>
    <p:sldId id="1311" r:id="rId35"/>
    <p:sldId id="1312" r:id="rId36"/>
  </p:sldIdLst>
  <p:sldSz cx="9144000" cy="6858000" type="screen4x3"/>
  <p:notesSz cx="7772400" cy="100584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9B5D7305-A192-4B1D-99D4-70BE9E08F5C8}">
          <p14:sldIdLst>
            <p14:sldId id="256"/>
            <p14:sldId id="257"/>
            <p14:sldId id="1334"/>
            <p14:sldId id="1332"/>
            <p14:sldId id="1289"/>
            <p14:sldId id="1314"/>
            <p14:sldId id="1315"/>
            <p14:sldId id="1316"/>
            <p14:sldId id="1317"/>
            <p14:sldId id="1318"/>
            <p14:sldId id="1319"/>
            <p14:sldId id="1320"/>
            <p14:sldId id="1321"/>
            <p14:sldId id="1322"/>
            <p14:sldId id="1323"/>
            <p14:sldId id="1324"/>
            <p14:sldId id="1325"/>
            <p14:sldId id="1326"/>
            <p14:sldId id="1327"/>
            <p14:sldId id="1328"/>
            <p14:sldId id="1329"/>
            <p14:sldId id="1330"/>
            <p14:sldId id="1331"/>
            <p14:sldId id="1291"/>
            <p14:sldId id="1292"/>
            <p14:sldId id="1294"/>
            <p14:sldId id="1298"/>
            <p14:sldId id="1299"/>
            <p14:sldId id="1300"/>
            <p14:sldId id="1301"/>
            <p14:sldId id="1302"/>
            <p14:sldId id="1303"/>
            <p14:sldId id="1310"/>
            <p14:sldId id="1311"/>
            <p14:sldId id="1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863A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Helle Formatvorlage 3 - Akz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25" autoAdjust="0"/>
    <p:restoredTop sz="97449" autoAdjust="0"/>
  </p:normalViewPr>
  <p:slideViewPr>
    <p:cSldViewPr snapToGrid="0">
      <p:cViewPr varScale="1">
        <p:scale>
          <a:sx n="82" d="100"/>
          <a:sy n="82" d="100"/>
        </p:scale>
        <p:origin x="1320" y="72"/>
      </p:cViewPr>
      <p:guideLst/>
    </p:cSldViewPr>
  </p:slideViewPr>
  <p:outlineViewPr>
    <p:cViewPr>
      <p:scale>
        <a:sx n="33" d="100"/>
        <a:sy n="33" d="100"/>
      </p:scale>
      <p:origin x="0" y="-1969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390E69D5-8A05-43AD-B5FD-86D96081B052}" type="datetimeFigureOut">
              <a:rPr lang="de-AT" smtClean="0"/>
              <a:t>03.11.2023</a:t>
            </a:fld>
            <a:endParaRPr lang="de-AT"/>
          </a:p>
        </p:txBody>
      </p:sp>
      <p:sp>
        <p:nvSpPr>
          <p:cNvPr id="4" name="Folienbildplatzhalter 3"/>
          <p:cNvSpPr>
            <a:spLocks noGrp="1" noRot="1" noChangeAspect="1"/>
          </p:cNvSpPr>
          <p:nvPr>
            <p:ph type="sldImg" idx="2"/>
          </p:nvPr>
        </p:nvSpPr>
        <p:spPr>
          <a:xfrm>
            <a:off x="1624013" y="1257300"/>
            <a:ext cx="4524375" cy="3394075"/>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B22AFAE4-5478-407A-ACD7-C2281F3DBF0A}" type="slidenum">
              <a:rPr lang="de-AT" smtClean="0"/>
              <a:t>‹Nr.›</a:t>
            </a:fld>
            <a:endParaRPr lang="de-AT"/>
          </a:p>
        </p:txBody>
      </p:sp>
    </p:spTree>
    <p:extLst>
      <p:ext uri="{BB962C8B-B14F-4D97-AF65-F5344CB8AC3E}">
        <p14:creationId xmlns:p14="http://schemas.microsoft.com/office/powerpoint/2010/main" val="750272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0BFB47-DA13-4D49-BABE-915D174A622B}"/>
              </a:ext>
            </a:extLst>
          </p:cNvPr>
          <p:cNvSpPr>
            <a:spLocks noGrp="1"/>
          </p:cNvSpPr>
          <p:nvPr>
            <p:ph type="title"/>
          </p:nvPr>
        </p:nvSpPr>
        <p:spPr/>
        <p:txBody>
          <a:bodyPr/>
          <a:lstStyle>
            <a:lvl1pPr>
              <a:defRPr b="1">
                <a:solidFill>
                  <a:srgbClr val="990000"/>
                </a:solidFill>
              </a:defRPr>
            </a:lvl1pPr>
          </a:lstStyle>
          <a:p>
            <a:r>
              <a:rPr lang="de-DE" dirty="0"/>
              <a:t>Mastertitelformat bearbeiten</a:t>
            </a:r>
            <a:endParaRPr lang="de-AT"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Abschnittsüberschrif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722313" y="1950809"/>
            <a:ext cx="7772400" cy="1362075"/>
          </a:xfrm>
        </p:spPr>
        <p:txBody>
          <a:bodyPr wrap="none" anchor="b"/>
          <a:lstStyle>
            <a:lvl1pPr algn="ctr">
              <a:defRPr lang="en-US" sz="2400" b="1" kern="1200" noProof="0" dirty="0">
                <a:solidFill>
                  <a:srgbClr val="990000"/>
                </a:solidFill>
                <a:latin typeface="+mj-lt"/>
                <a:ea typeface="+mj-ea"/>
                <a:cs typeface="+mj-cs"/>
              </a:defRPr>
            </a:lvl1pPr>
          </a:lstStyle>
          <a:p>
            <a:r>
              <a:rPr lang="en-US" noProof="0" dirty="0"/>
              <a:t>Click to add Title</a:t>
            </a:r>
          </a:p>
        </p:txBody>
      </p:sp>
      <p:sp>
        <p:nvSpPr>
          <p:cNvPr id="3" name="Textplatzhalter 2"/>
          <p:cNvSpPr>
            <a:spLocks noGrp="1"/>
          </p:cNvSpPr>
          <p:nvPr>
            <p:ph type="body" idx="1" hasCustomPrompt="1"/>
          </p:nvPr>
        </p:nvSpPr>
        <p:spPr>
          <a:xfrm>
            <a:off x="722313" y="3602049"/>
            <a:ext cx="7772400" cy="1500187"/>
          </a:xfrm>
        </p:spPr>
        <p:txBody>
          <a:bodyPr wrap="none"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dirty="0"/>
              <a:t>Click to add Text</a:t>
            </a:r>
          </a:p>
        </p:txBody>
      </p:sp>
      <p:sp>
        <p:nvSpPr>
          <p:cNvPr id="6" name="Foliennummernplatzhalter 5"/>
          <p:cNvSpPr>
            <a:spLocks noGrp="1"/>
          </p:cNvSpPr>
          <p:nvPr>
            <p:ph type="sldNum" sz="quarter" idx="12"/>
          </p:nvPr>
        </p:nvSpPr>
        <p:spPr/>
        <p:txBody>
          <a:bodyPr/>
          <a:lstStyle/>
          <a:p>
            <a:fld id="{4B64EC4D-37E3-EF42-B9AB-6337577588CB}" type="slidenum">
              <a:rPr lang="de-DE" smtClean="0"/>
              <a:t>‹Nr.›</a:t>
            </a:fld>
            <a:endParaRPr lang="de-DE"/>
          </a:p>
        </p:txBody>
      </p:sp>
    </p:spTree>
    <p:extLst>
      <p:ext uri="{BB962C8B-B14F-4D97-AF65-F5344CB8AC3E}">
        <p14:creationId xmlns:p14="http://schemas.microsoft.com/office/powerpoint/2010/main" val="208883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el und Inhalt (wid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585333" y="2146171"/>
            <a:ext cx="8229240" cy="3977280"/>
          </a:xfrm>
        </p:spPr>
        <p:txBody>
          <a:bodyPr/>
          <a:lstStyle>
            <a:lvl1pPr>
              <a:defRPr/>
            </a:lvl1pPr>
            <a:lvl2pPr marL="715963" indent="-266700">
              <a:buFont typeface="Wingdings" panose="05000000000000000000" pitchFamily="2" charset="2"/>
              <a:buChar char="§"/>
              <a:defRPr/>
            </a:lvl2pPr>
            <a:lvl3pPr>
              <a:defRPr/>
            </a:lvl3pPr>
            <a:lvl4pPr>
              <a:defRPr/>
            </a:lvl4pPr>
            <a:lvl5pPr>
              <a:defRPr/>
            </a:lvl5pPr>
          </a:lstStyle>
          <a:p>
            <a:pPr lvl="0"/>
            <a:r>
              <a:rPr lang="en-US" noProof="0" dirty="0"/>
              <a:t>Main items</a:t>
            </a:r>
          </a:p>
          <a:p>
            <a:pPr lvl="1"/>
            <a:r>
              <a:rPr lang="en-US" noProof="0" dirty="0"/>
              <a:t>Sub-items</a:t>
            </a:r>
          </a:p>
          <a:p>
            <a:pPr lvl="2"/>
            <a:r>
              <a:rPr lang="en-US" noProof="0" dirty="0"/>
              <a:t>Third layer</a:t>
            </a:r>
          </a:p>
          <a:p>
            <a:pPr lvl="3"/>
            <a:r>
              <a:rPr lang="en-US" noProof="0" dirty="0"/>
              <a:t>Fourth layer</a:t>
            </a:r>
          </a:p>
          <a:p>
            <a:pPr lvl="4"/>
            <a:r>
              <a:rPr lang="en-US" noProof="0" dirty="0"/>
              <a:t>Fifth layer</a:t>
            </a:r>
          </a:p>
        </p:txBody>
      </p:sp>
      <p:sp>
        <p:nvSpPr>
          <p:cNvPr id="6" name="Foliennummernplatzhalter 5"/>
          <p:cNvSpPr>
            <a:spLocks noGrp="1"/>
          </p:cNvSpPr>
          <p:nvPr>
            <p:ph type="sldNum" sz="quarter" idx="12"/>
          </p:nvPr>
        </p:nvSpPr>
        <p:spPr>
          <a:xfrm>
            <a:off x="128133" y="541651"/>
            <a:ext cx="0" cy="0"/>
          </a:xfrm>
        </p:spPr>
        <p:txBody>
          <a:bodyPr/>
          <a:lstStyle>
            <a:lvl1pPr>
              <a:defRPr sz="100">
                <a:solidFill>
                  <a:schemeClr val="bg1"/>
                </a:solidFill>
              </a:defRPr>
            </a:lvl1pPr>
          </a:lstStyle>
          <a:p>
            <a:endParaRPr lang="de-DE" dirty="0"/>
          </a:p>
        </p:txBody>
      </p:sp>
      <p:sp>
        <p:nvSpPr>
          <p:cNvPr id="5" name="Titel 4">
            <a:extLst>
              <a:ext uri="{FF2B5EF4-FFF2-40B4-BE49-F238E27FC236}">
                <a16:creationId xmlns:a16="http://schemas.microsoft.com/office/drawing/2014/main" id="{81462625-91C7-4999-896F-ACE029871690}"/>
              </a:ext>
            </a:extLst>
          </p:cNvPr>
          <p:cNvSpPr>
            <a:spLocks noGrp="1"/>
          </p:cNvSpPr>
          <p:nvPr>
            <p:ph type="title"/>
          </p:nvPr>
        </p:nvSpPr>
        <p:spPr>
          <a:xfrm>
            <a:off x="585333" y="850196"/>
            <a:ext cx="8229240" cy="1144800"/>
          </a:xfrm>
        </p:spPr>
        <p:txBody>
          <a:bodyPr/>
          <a:lstStyle>
            <a:lvl1pPr algn="l" defTabSz="914400" rtl="0" eaLnBrk="1" latinLnBrk="0" hangingPunct="1">
              <a:lnSpc>
                <a:spcPct val="90000"/>
              </a:lnSpc>
              <a:spcBef>
                <a:spcPct val="0"/>
              </a:spcBef>
              <a:buNone/>
              <a:defRPr lang="de-AT" sz="2400" b="1" kern="1200" noProof="0" dirty="0">
                <a:solidFill>
                  <a:srgbClr val="990000"/>
                </a:solidFill>
                <a:latin typeface="+mj-lt"/>
                <a:ea typeface="+mj-ea"/>
                <a:cs typeface="+mj-cs"/>
              </a:defRPr>
            </a:lvl1pPr>
          </a:lstStyle>
          <a:p>
            <a:r>
              <a:rPr lang="de-DE" dirty="0"/>
              <a:t>Mastertitelformat bearbeiten</a:t>
            </a:r>
            <a:endParaRPr lang="de-AT" dirty="0"/>
          </a:p>
        </p:txBody>
      </p:sp>
    </p:spTree>
    <p:extLst>
      <p:ext uri="{BB962C8B-B14F-4D97-AF65-F5344CB8AC3E}">
        <p14:creationId xmlns:p14="http://schemas.microsoft.com/office/powerpoint/2010/main" val="12241437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Line 20"/>
          <p:cNvSpPr/>
          <p:nvPr/>
        </p:nvSpPr>
        <p:spPr>
          <a:xfrm>
            <a:off x="0" y="415800"/>
            <a:ext cx="9144000" cy="360"/>
          </a:xfrm>
          <a:prstGeom prst="line">
            <a:avLst/>
          </a:prstGeom>
          <a:ln w="9525">
            <a:solidFill>
              <a:srgbClr val="000000"/>
            </a:solidFill>
            <a:round/>
          </a:ln>
        </p:spPr>
        <p:style>
          <a:lnRef idx="0">
            <a:scrgbClr r="0" g="0" b="0"/>
          </a:lnRef>
          <a:fillRef idx="0">
            <a:scrgbClr r="0" g="0" b="0"/>
          </a:fillRef>
          <a:effectRef idx="0">
            <a:scrgbClr r="0" g="0" b="0"/>
          </a:effectRef>
          <a:fontRef idx="minor"/>
        </p:style>
      </p:sp>
      <p:sp>
        <p:nvSpPr>
          <p:cNvPr id="45" name="Text Box 24"/>
          <p:cNvSpPr/>
          <p:nvPr/>
        </p:nvSpPr>
        <p:spPr>
          <a:xfrm>
            <a:off x="7996320" y="6599160"/>
            <a:ext cx="924840" cy="2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spcBef>
                <a:spcPts val="499"/>
              </a:spcBef>
              <a:buNone/>
            </a:pPr>
            <a:fld id="{4CE03935-9F1B-40FD-BDE8-AA191BDA0FEB}" type="slidenum">
              <a:rPr lang="de-AT" sz="1000" b="1" strike="noStrike" spc="-1">
                <a:solidFill>
                  <a:srgbClr val="7D7D7D"/>
                </a:solidFill>
                <a:latin typeface="Verdana"/>
                <a:ea typeface="DejaVu Sans"/>
              </a:rPr>
              <a:t>‹Nr.›</a:t>
            </a:fld>
            <a:endParaRPr lang="en-US" sz="1000" b="0" strike="noStrike" spc="-1">
              <a:latin typeface="Arial"/>
            </a:endParaRPr>
          </a:p>
        </p:txBody>
      </p:sp>
      <p:sp>
        <p:nvSpPr>
          <p:cNvPr id="46" name="Text Box 30"/>
          <p:cNvSpPr/>
          <p:nvPr/>
        </p:nvSpPr>
        <p:spPr>
          <a:xfrm>
            <a:off x="144360" y="6627960"/>
            <a:ext cx="1882080" cy="215280"/>
          </a:xfrm>
          <a:prstGeom prst="rect">
            <a:avLst/>
          </a:prstGeom>
          <a:noFill/>
          <a:ln w="0">
            <a:noFill/>
          </a:ln>
        </p:spPr>
        <p:style>
          <a:lnRef idx="0">
            <a:scrgbClr r="0" g="0" b="0"/>
          </a:lnRef>
          <a:fillRef idx="0">
            <a:scrgbClr r="0" g="0" b="0"/>
          </a:fillRef>
          <a:effectRef idx="0">
            <a:scrgbClr r="0" g="0" b="0"/>
          </a:effectRef>
          <a:fontRef idx="minor"/>
        </p:style>
        <p:txBody>
          <a:bodyPr wrap="none" lIns="90000" tIns="39600" rIns="90000" bIns="45000" anchor="ctr">
            <a:noAutofit/>
          </a:bodyPr>
          <a:lstStyle/>
          <a:p>
            <a:pPr>
              <a:lnSpc>
                <a:spcPct val="100000"/>
              </a:lnSpc>
              <a:spcBef>
                <a:spcPts val="550"/>
              </a:spcBef>
              <a:buNone/>
            </a:pPr>
            <a:r>
              <a:rPr lang="en-US" sz="1100" b="0" strike="noStrike" spc="-1">
                <a:solidFill>
                  <a:srgbClr val="000000"/>
                </a:solidFill>
                <a:latin typeface="Verdana"/>
                <a:ea typeface="DejaVu Sans"/>
              </a:rPr>
              <a:t>VECTO Release Notes</a:t>
            </a:r>
            <a:endParaRPr lang="en-US" sz="1100" b="0" strike="noStrike" spc="-1">
              <a:latin typeface="Arial"/>
            </a:endParaRPr>
          </a:p>
        </p:txBody>
      </p:sp>
      <p:pic>
        <p:nvPicPr>
          <p:cNvPr id="47" name="Picture 2"/>
          <p:cNvPicPr/>
          <p:nvPr/>
        </p:nvPicPr>
        <p:blipFill>
          <a:blip r:embed="rId5"/>
          <a:stretch/>
        </p:blipFill>
        <p:spPr>
          <a:xfrm>
            <a:off x="7389360" y="37800"/>
            <a:ext cx="1420560" cy="352080"/>
          </a:xfrm>
          <a:prstGeom prst="rect">
            <a:avLst/>
          </a:prstGeom>
          <a:ln w="0">
            <a:noFill/>
          </a:ln>
        </p:spPr>
      </p:pic>
      <p:pic>
        <p:nvPicPr>
          <p:cNvPr id="48" name="Picture 3" descr="I:\raphaelluz\VECTO\source\VECTO\User Manual\pics\VECTO-small.PNG"/>
          <p:cNvPicPr/>
          <p:nvPr/>
        </p:nvPicPr>
        <p:blipFill>
          <a:blip r:embed="rId6"/>
          <a:stretch/>
        </p:blipFill>
        <p:spPr>
          <a:xfrm>
            <a:off x="107640" y="58680"/>
            <a:ext cx="977760" cy="331560"/>
          </a:xfrm>
          <a:prstGeom prst="rect">
            <a:avLst/>
          </a:prstGeom>
          <a:ln w="0">
            <a:noFill/>
          </a:ln>
        </p:spPr>
      </p:pic>
      <p:sp>
        <p:nvSpPr>
          <p:cNvPr id="49" name="Line 20"/>
          <p:cNvSpPr/>
          <p:nvPr/>
        </p:nvSpPr>
        <p:spPr>
          <a:xfrm>
            <a:off x="0" y="6599160"/>
            <a:ext cx="9144000" cy="360"/>
          </a:xfrm>
          <a:prstGeom prst="line">
            <a:avLst/>
          </a:prstGeom>
          <a:ln w="9525">
            <a:solidFill>
              <a:srgbClr val="000000"/>
            </a:solidFill>
            <a:round/>
          </a:ln>
        </p:spPr>
        <p:style>
          <a:lnRef idx="0">
            <a:scrgbClr r="0" g="0" b="0"/>
          </a:lnRef>
          <a:fillRef idx="0">
            <a:scrgbClr r="0" g="0" b="0"/>
          </a:fillRef>
          <a:effectRef idx="0">
            <a:scrgbClr r="0" g="0" b="0"/>
          </a:effectRef>
          <a:fontRef idx="minor"/>
        </p:style>
      </p:sp>
      <p:sp>
        <p:nvSpPr>
          <p:cNvPr id="5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r>
              <a:rPr lang="en-US" sz="4400" b="0" strike="noStrike" spc="-1" dirty="0">
                <a:latin typeface="Arial"/>
              </a:rPr>
              <a:t>Click to edit the title text format</a:t>
            </a:r>
          </a:p>
        </p:txBody>
      </p:sp>
      <p:sp>
        <p:nvSpPr>
          <p:cNvPr id="51"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hf sldNum="0" hdr="0" ftr="0" dt="0"/>
  <p:txStyles>
    <p:titleStyle>
      <a:lvl1pPr algn="l" defTabSz="914400" rtl="0" eaLnBrk="1" latinLnBrk="0" hangingPunct="1">
        <a:lnSpc>
          <a:spcPct val="90000"/>
        </a:lnSpc>
        <a:spcBef>
          <a:spcPct val="0"/>
        </a:spcBef>
        <a:buNone/>
        <a:defRPr lang="en-US" sz="2400" b="1" kern="1200" dirty="0">
          <a:solidFill>
            <a:srgbClr val="99000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 Box 94"/>
          <p:cNvSpPr/>
          <p:nvPr/>
        </p:nvSpPr>
        <p:spPr>
          <a:xfrm>
            <a:off x="539640" y="1052640"/>
            <a:ext cx="8135640" cy="398425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1599"/>
              </a:spcBef>
              <a:buNone/>
            </a:pPr>
            <a:r>
              <a:rPr lang="en-US" sz="3200" b="1" strike="noStrike" spc="-1" dirty="0">
                <a:solidFill>
                  <a:srgbClr val="990000"/>
                </a:solidFill>
                <a:latin typeface="Arial"/>
                <a:ea typeface="DejaVu Sans"/>
              </a:rPr>
              <a:t>VECTO 4.x </a:t>
            </a:r>
            <a:endParaRPr lang="en-US" sz="3200" b="0" strike="noStrike" spc="-1" dirty="0">
              <a:latin typeface="Arial"/>
            </a:endParaRPr>
          </a:p>
          <a:p>
            <a:pPr algn="ctr">
              <a:lnSpc>
                <a:spcPct val="100000"/>
              </a:lnSpc>
              <a:spcBef>
                <a:spcPts val="1001"/>
              </a:spcBef>
              <a:buNone/>
            </a:pPr>
            <a:endParaRPr lang="en-US" sz="2000" b="0" strike="noStrike" spc="-1" dirty="0">
              <a:latin typeface="Arial"/>
            </a:endParaRPr>
          </a:p>
          <a:p>
            <a:pPr algn="ctr">
              <a:lnSpc>
                <a:spcPct val="100000"/>
              </a:lnSpc>
              <a:spcBef>
                <a:spcPts val="1001"/>
              </a:spcBef>
              <a:buNone/>
            </a:pPr>
            <a:endParaRPr lang="en-US" sz="2000" b="0" strike="noStrike" spc="-1" dirty="0">
              <a:latin typeface="Arial"/>
            </a:endParaRPr>
          </a:p>
          <a:p>
            <a:pPr algn="ctr">
              <a:lnSpc>
                <a:spcPct val="100000"/>
              </a:lnSpc>
              <a:spcBef>
                <a:spcPts val="1001"/>
              </a:spcBef>
              <a:buNone/>
            </a:pPr>
            <a:endParaRPr lang="en-US" sz="20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r>
              <a:rPr lang="en-US" sz="2400" b="1" strike="noStrike" spc="-1" dirty="0">
                <a:solidFill>
                  <a:srgbClr val="990000"/>
                </a:solidFill>
                <a:latin typeface="Arial"/>
                <a:ea typeface="DejaVu Sans"/>
              </a:rPr>
              <a:t>Release Notes</a:t>
            </a:r>
            <a:endParaRPr lang="en-US" sz="2400" b="0" strike="noStrike" spc="-1" dirty="0">
              <a:latin typeface="Arial"/>
            </a:endParaRPr>
          </a:p>
        </p:txBody>
      </p:sp>
      <p:pic>
        <p:nvPicPr>
          <p:cNvPr id="89" name="Picture 2"/>
          <p:cNvPicPr/>
          <p:nvPr/>
        </p:nvPicPr>
        <p:blipFill>
          <a:blip r:embed="rId2"/>
          <a:stretch/>
        </p:blipFill>
        <p:spPr>
          <a:xfrm>
            <a:off x="2483640" y="2421000"/>
            <a:ext cx="4175640" cy="162684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 Box 94"/>
          <p:cNvSpPr/>
          <p:nvPr/>
        </p:nvSpPr>
        <p:spPr>
          <a:xfrm>
            <a:off x="539640" y="1052640"/>
            <a:ext cx="8135640" cy="398425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1599"/>
              </a:spcBef>
              <a:buNone/>
            </a:pPr>
            <a:r>
              <a:rPr lang="en-US" sz="3200" b="1" strike="noStrike" spc="-1" dirty="0">
                <a:solidFill>
                  <a:srgbClr val="990000"/>
                </a:solidFill>
                <a:latin typeface="Arial"/>
                <a:ea typeface="DejaVu Sans"/>
              </a:rPr>
              <a:t>VECTO 0.11.1.3382 Development Version</a:t>
            </a:r>
            <a:endParaRPr lang="en-US" sz="3200" b="0" strike="noStrike" spc="-1" dirty="0">
              <a:latin typeface="Arial"/>
            </a:endParaRPr>
          </a:p>
          <a:p>
            <a:pPr algn="ctr">
              <a:lnSpc>
                <a:spcPct val="100000"/>
              </a:lnSpc>
              <a:spcBef>
                <a:spcPts val="1001"/>
              </a:spcBef>
              <a:buNone/>
            </a:pPr>
            <a:r>
              <a:rPr lang="en-US" sz="2000" b="1" spc="-1" dirty="0">
                <a:solidFill>
                  <a:srgbClr val="990000"/>
                </a:solidFill>
                <a:latin typeface="Arial"/>
                <a:ea typeface="DejaVu Sans"/>
              </a:rPr>
              <a:t>03</a:t>
            </a:r>
            <a:r>
              <a:rPr lang="en-US" sz="2000" b="1" strike="noStrike" spc="-1" dirty="0">
                <a:solidFill>
                  <a:srgbClr val="990000"/>
                </a:solidFill>
                <a:latin typeface="Arial"/>
                <a:ea typeface="DejaVu Sans"/>
              </a:rPr>
              <a:t>.11.2023</a:t>
            </a:r>
            <a:endParaRPr lang="en-US" sz="2000" b="0" strike="noStrike" spc="-1" dirty="0">
              <a:latin typeface="Arial"/>
            </a:endParaRPr>
          </a:p>
          <a:p>
            <a:pPr algn="ctr">
              <a:lnSpc>
                <a:spcPct val="100000"/>
              </a:lnSpc>
              <a:spcBef>
                <a:spcPts val="1001"/>
              </a:spcBef>
              <a:buNone/>
            </a:pPr>
            <a:endParaRPr lang="en-US" sz="2000" b="0" strike="noStrike" spc="-1" dirty="0">
              <a:latin typeface="Arial"/>
            </a:endParaRPr>
          </a:p>
          <a:p>
            <a:pPr algn="ctr">
              <a:lnSpc>
                <a:spcPct val="100000"/>
              </a:lnSpc>
              <a:spcBef>
                <a:spcPts val="1001"/>
              </a:spcBef>
              <a:buNone/>
            </a:pPr>
            <a:endParaRPr lang="en-US" sz="20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r>
              <a:rPr lang="en-US" sz="2400" b="1" strike="noStrike" spc="-1" dirty="0">
                <a:solidFill>
                  <a:srgbClr val="990000"/>
                </a:solidFill>
                <a:latin typeface="Arial"/>
                <a:ea typeface="DejaVu Sans"/>
              </a:rPr>
              <a:t>Release Notes</a:t>
            </a:r>
            <a:endParaRPr lang="en-US" sz="2400" b="0" strike="noStrike" spc="-1" dirty="0">
              <a:latin typeface="Arial"/>
            </a:endParaRPr>
          </a:p>
        </p:txBody>
      </p:sp>
      <p:pic>
        <p:nvPicPr>
          <p:cNvPr id="89" name="Picture 2"/>
          <p:cNvPicPr/>
          <p:nvPr/>
        </p:nvPicPr>
        <p:blipFill>
          <a:blip r:embed="rId2"/>
          <a:stretch/>
        </p:blipFill>
        <p:spPr>
          <a:xfrm>
            <a:off x="2483640" y="2421000"/>
            <a:ext cx="4175640" cy="1626840"/>
          </a:xfrm>
          <a:prstGeom prst="rect">
            <a:avLst/>
          </a:prstGeom>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0D82AF47-E416-42E8-9980-82E54C91F531}"/>
              </a:ext>
            </a:extLst>
          </p:cNvPr>
          <p:cNvSpPr>
            <a:spLocks noGrp="1"/>
          </p:cNvSpPr>
          <p:nvPr>
            <p:ph idx="1"/>
          </p:nvPr>
        </p:nvSpPr>
        <p:spPr/>
        <p:txBody>
          <a:bodyPr>
            <a:normAutofit fontScale="70000" lnSpcReduction="20000"/>
          </a:bodyPr>
          <a:lstStyle/>
          <a:p>
            <a:r>
              <a:rPr lang="en-GB" dirty="0"/>
              <a:t>Changes</a:t>
            </a:r>
          </a:p>
          <a:p>
            <a:pPr lvl="1"/>
            <a:r>
              <a:rPr lang="en-GB" dirty="0"/>
              <a:t>Enabled the usage of multiple Fuel Cell Systems (FCS)</a:t>
            </a:r>
          </a:p>
          <a:p>
            <a:pPr lvl="2"/>
            <a:r>
              <a:rPr lang="en-GB" dirty="0"/>
              <a:t>Up to two FCS Strings</a:t>
            </a:r>
          </a:p>
          <a:p>
            <a:pPr lvl="2"/>
            <a:r>
              <a:rPr lang="en-GB" dirty="0"/>
              <a:t>Up to three FCS in each FCS String</a:t>
            </a:r>
          </a:p>
          <a:p>
            <a:pPr lvl="1"/>
            <a:r>
              <a:rPr lang="en-GB" dirty="0"/>
              <a:t>New naming convention:</a:t>
            </a:r>
          </a:p>
          <a:p>
            <a:pPr lvl="2"/>
            <a:r>
              <a:rPr lang="en-GB" dirty="0"/>
              <a:t>FCS: Single Fuel Cell System, described with </a:t>
            </a:r>
            <a:r>
              <a:rPr lang="en-GB" dirty="0" err="1"/>
              <a:t>MassFlowMap</a:t>
            </a:r>
            <a:r>
              <a:rPr lang="en-GB" dirty="0"/>
              <a:t> (.</a:t>
            </a:r>
            <a:r>
              <a:rPr lang="en-GB" dirty="0" err="1"/>
              <a:t>vfcm</a:t>
            </a:r>
            <a:r>
              <a:rPr lang="en-GB" dirty="0"/>
              <a:t>) and power limits container in the Fuel Cell System File (.</a:t>
            </a:r>
            <a:r>
              <a:rPr lang="en-GB" dirty="0" err="1"/>
              <a:t>vfcc</a:t>
            </a:r>
            <a:r>
              <a:rPr lang="en-GB" dirty="0"/>
              <a:t>).</a:t>
            </a:r>
          </a:p>
          <a:p>
            <a:pPr lvl="2"/>
            <a:r>
              <a:rPr lang="en-GB" dirty="0"/>
              <a:t>FCS String: Defined in the .</a:t>
            </a:r>
            <a:r>
              <a:rPr lang="en-GB" dirty="0" err="1"/>
              <a:t>vveh</a:t>
            </a:r>
            <a:r>
              <a:rPr lang="en-GB" dirty="0"/>
              <a:t> file, can contain up to three identical FCS</a:t>
            </a:r>
          </a:p>
          <a:p>
            <a:pPr lvl="2"/>
            <a:r>
              <a:rPr lang="en-GB" dirty="0"/>
              <a:t>CFCS: Composite Fuel Cell System, a virtual fuel cell system containing up to two FCS String. 	</a:t>
            </a:r>
          </a:p>
          <a:p>
            <a:pPr lvl="1"/>
            <a:r>
              <a:rPr lang="en-GB" dirty="0"/>
              <a:t>Changes in input files due to new naming convention</a:t>
            </a:r>
          </a:p>
          <a:p>
            <a:pPr lvl="1"/>
            <a:r>
              <a:rPr lang="en-GB" dirty="0"/>
              <a:t>Optimized power distribution among FCS Strings and between individual FCS inside a string.(Explained in more detail in the user manual)</a:t>
            </a:r>
          </a:p>
          <a:p>
            <a:pPr lvl="1"/>
            <a:r>
              <a:rPr lang="en-GB" dirty="0"/>
              <a:t>Allow operating a FCS below its minimum power via time splitting</a:t>
            </a:r>
          </a:p>
          <a:p>
            <a:pPr lvl="1"/>
            <a:r>
              <a:rPr lang="en-GB" dirty="0"/>
              <a:t>Removed On/Off – Hysteresis</a:t>
            </a:r>
          </a:p>
          <a:p>
            <a:pPr lvl="1"/>
            <a:r>
              <a:rPr lang="en-GB" dirty="0"/>
              <a:t>Removed Gradient Power Change </a:t>
            </a:r>
          </a:p>
        </p:txBody>
      </p:sp>
      <p:sp>
        <p:nvSpPr>
          <p:cNvPr id="3" name="Titel 2">
            <a:extLst>
              <a:ext uri="{FF2B5EF4-FFF2-40B4-BE49-F238E27FC236}">
                <a16:creationId xmlns:a16="http://schemas.microsoft.com/office/drawing/2014/main" id="{2AD632A2-78BA-415A-9200-59DDDC5E9777}"/>
              </a:ext>
            </a:extLst>
          </p:cNvPr>
          <p:cNvSpPr>
            <a:spLocks noGrp="1"/>
          </p:cNvSpPr>
          <p:nvPr>
            <p:ph type="title"/>
          </p:nvPr>
        </p:nvSpPr>
        <p:spPr/>
        <p:txBody>
          <a:bodyPr/>
          <a:lstStyle/>
          <a:p>
            <a:r>
              <a:rPr lang="en-GB" dirty="0"/>
              <a:t>VECTO 3</a:t>
            </a:r>
            <a:r>
              <a:rPr lang="en-GB" baseline="30000" dirty="0"/>
              <a:t>rd</a:t>
            </a:r>
            <a:r>
              <a:rPr lang="en-GB" dirty="0"/>
              <a:t> Amendment Development Version </a:t>
            </a:r>
            <a:br>
              <a:rPr lang="en-GB" dirty="0"/>
            </a:br>
            <a:r>
              <a:rPr lang="en-GB" dirty="0"/>
              <a:t>03.11.2023</a:t>
            </a:r>
          </a:p>
        </p:txBody>
      </p:sp>
    </p:spTree>
    <p:extLst>
      <p:ext uri="{BB962C8B-B14F-4D97-AF65-F5344CB8AC3E}">
        <p14:creationId xmlns:p14="http://schemas.microsoft.com/office/powerpoint/2010/main" val="1200170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 Box 94"/>
          <p:cNvSpPr/>
          <p:nvPr/>
        </p:nvSpPr>
        <p:spPr>
          <a:xfrm>
            <a:off x="539640" y="1052640"/>
            <a:ext cx="8135640" cy="398425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1599"/>
              </a:spcBef>
              <a:buNone/>
            </a:pPr>
            <a:r>
              <a:rPr lang="en-US" sz="3200" b="1" strike="noStrike" spc="-1" dirty="0">
                <a:solidFill>
                  <a:srgbClr val="990000"/>
                </a:solidFill>
                <a:latin typeface="Arial"/>
                <a:ea typeface="DejaVu Sans"/>
              </a:rPr>
              <a:t>VECTO 0.11.0.3193 Development Version</a:t>
            </a:r>
            <a:endParaRPr lang="en-US" sz="3200" b="0" strike="noStrike" spc="-1" dirty="0">
              <a:latin typeface="Arial"/>
            </a:endParaRPr>
          </a:p>
          <a:p>
            <a:pPr algn="ctr">
              <a:lnSpc>
                <a:spcPct val="100000"/>
              </a:lnSpc>
              <a:spcBef>
                <a:spcPts val="1001"/>
              </a:spcBef>
              <a:buNone/>
            </a:pPr>
            <a:r>
              <a:rPr lang="en-US" sz="2000" b="1" strike="noStrike" spc="-1" dirty="0">
                <a:solidFill>
                  <a:srgbClr val="990000"/>
                </a:solidFill>
                <a:latin typeface="Arial"/>
                <a:ea typeface="DejaVu Sans"/>
              </a:rPr>
              <a:t>29.09.2023</a:t>
            </a:r>
            <a:endParaRPr lang="en-US" sz="2000" b="0" strike="noStrike" spc="-1" dirty="0">
              <a:latin typeface="Arial"/>
            </a:endParaRPr>
          </a:p>
          <a:p>
            <a:pPr algn="ctr">
              <a:lnSpc>
                <a:spcPct val="100000"/>
              </a:lnSpc>
              <a:spcBef>
                <a:spcPts val="1001"/>
              </a:spcBef>
              <a:buNone/>
            </a:pPr>
            <a:endParaRPr lang="en-US" sz="2000" b="0" strike="noStrike" spc="-1" dirty="0">
              <a:latin typeface="Arial"/>
            </a:endParaRPr>
          </a:p>
          <a:p>
            <a:pPr algn="ctr">
              <a:lnSpc>
                <a:spcPct val="100000"/>
              </a:lnSpc>
              <a:spcBef>
                <a:spcPts val="1001"/>
              </a:spcBef>
              <a:buNone/>
            </a:pPr>
            <a:endParaRPr lang="en-US" sz="20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r>
              <a:rPr lang="en-US" sz="2400" b="1" strike="noStrike" spc="-1" dirty="0">
                <a:solidFill>
                  <a:srgbClr val="990000"/>
                </a:solidFill>
                <a:latin typeface="Arial"/>
                <a:ea typeface="DejaVu Sans"/>
              </a:rPr>
              <a:t>Release Notes</a:t>
            </a:r>
            <a:endParaRPr lang="en-US" sz="2400" b="0" strike="noStrike" spc="-1" dirty="0">
              <a:latin typeface="Arial"/>
            </a:endParaRPr>
          </a:p>
        </p:txBody>
      </p:sp>
      <p:pic>
        <p:nvPicPr>
          <p:cNvPr id="89" name="Picture 2"/>
          <p:cNvPicPr/>
          <p:nvPr/>
        </p:nvPicPr>
        <p:blipFill>
          <a:blip r:embed="rId2"/>
          <a:stretch/>
        </p:blipFill>
        <p:spPr>
          <a:xfrm>
            <a:off x="2483640" y="2421000"/>
            <a:ext cx="4175640" cy="1626840"/>
          </a:xfrm>
          <a:prstGeom prst="rect">
            <a:avLst/>
          </a:prstGeom>
          <a:ln w="0">
            <a:noFill/>
          </a:ln>
        </p:spPr>
      </p:pic>
    </p:spTree>
    <p:extLst>
      <p:ext uri="{BB962C8B-B14F-4D97-AF65-F5344CB8AC3E}">
        <p14:creationId xmlns:p14="http://schemas.microsoft.com/office/powerpoint/2010/main" val="262860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722313" y="2320357"/>
            <a:ext cx="7772400" cy="1529991"/>
          </a:xfrm>
        </p:spPr>
        <p:txBody>
          <a:bodyPr anchor="ctr">
            <a:noAutofit/>
          </a:bodyPr>
          <a:lstStyle/>
          <a:p>
            <a:pPr>
              <a:spcBef>
                <a:spcPts val="4200"/>
              </a:spcBef>
            </a:pPr>
            <a:br>
              <a:rPr lang="en-US" sz="2400" b="1" dirty="0"/>
            </a:br>
            <a:r>
              <a:rPr lang="en-US" sz="2400" b="1" dirty="0"/>
              <a:t>First VECTO beta release for the 3rd Amendment </a:t>
            </a:r>
            <a:br>
              <a:rPr lang="en-US" sz="2800" b="1" dirty="0"/>
            </a:br>
            <a:br>
              <a:rPr lang="en-US" sz="2800" b="1" dirty="0"/>
            </a:br>
            <a:r>
              <a:rPr lang="en-US" sz="2000" dirty="0"/>
              <a:t>H2 Internal Combustion Engines </a:t>
            </a:r>
            <a:br>
              <a:rPr lang="en-US" sz="2000" b="1" dirty="0"/>
            </a:br>
            <a:endParaRPr lang="en-US" sz="1600" b="1" dirty="0"/>
          </a:p>
        </p:txBody>
      </p:sp>
      <p:sp>
        <p:nvSpPr>
          <p:cNvPr id="6" name="Textplatzhalter 5"/>
          <p:cNvSpPr>
            <a:spLocks noGrp="1"/>
          </p:cNvSpPr>
          <p:nvPr>
            <p:ph type="body" idx="1"/>
          </p:nvPr>
        </p:nvSpPr>
        <p:spPr>
          <a:xfrm>
            <a:off x="722313" y="4276311"/>
            <a:ext cx="7772400" cy="407616"/>
          </a:xfrm>
        </p:spPr>
        <p:txBody>
          <a:bodyPr anchor="ctr"/>
          <a:lstStyle/>
          <a:p>
            <a:r>
              <a:rPr lang="en-GB"/>
              <a:t>TUG</a:t>
            </a:r>
          </a:p>
        </p:txBody>
      </p:sp>
      <p:sp>
        <p:nvSpPr>
          <p:cNvPr id="4" name="Foliennummernplatzhalter 3"/>
          <p:cNvSpPr>
            <a:spLocks noGrp="1"/>
          </p:cNvSpPr>
          <p:nvPr>
            <p:ph type="sldNum" sz="quarter" idx="12"/>
          </p:nvPr>
        </p:nvSpPr>
        <p:spPr/>
        <p:txBody>
          <a:bodyPr/>
          <a:lstStyle/>
          <a:p>
            <a:fld id="{4B64EC4D-37E3-EF42-B9AB-6337577588CB}" type="slidenum">
              <a:rPr lang="de-DE" smtClean="0"/>
              <a:t>5</a:t>
            </a:fld>
            <a:endParaRPr lang="de-DE"/>
          </a:p>
        </p:txBody>
      </p:sp>
    </p:spTree>
    <p:extLst>
      <p:ext uri="{BB962C8B-B14F-4D97-AF65-F5344CB8AC3E}">
        <p14:creationId xmlns:p14="http://schemas.microsoft.com/office/powerpoint/2010/main" val="1913602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5" y="2137413"/>
            <a:ext cx="8394645" cy="1117207"/>
          </a:xfrm>
        </p:spPr>
        <p:txBody>
          <a:bodyPr/>
          <a:lstStyle/>
          <a:p>
            <a:pPr>
              <a:spcBef>
                <a:spcPts val="1200"/>
              </a:spcBef>
            </a:pPr>
            <a:r>
              <a:rPr lang="en-US" sz="1800" dirty="0"/>
              <a:t>New fuel types implemented </a:t>
            </a:r>
            <a:r>
              <a:rPr lang="pt-BR" sz="1800" dirty="0"/>
              <a:t>„H2 PI“ and „H2 CI“ (i.e. H2-Diesel dual-fuel)</a:t>
            </a:r>
          </a:p>
          <a:p>
            <a:pPr>
              <a:spcBef>
                <a:spcPts val="1200"/>
              </a:spcBef>
            </a:pPr>
            <a:r>
              <a:rPr lang="pt-BR" sz="1800" dirty="0"/>
              <a:t>Well-known ICE input data structure unchanged, no new elements</a:t>
            </a:r>
            <a:endParaRPr lang="en-GB"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6</a:t>
            </a:fld>
            <a:endParaRPr lang="de-DE"/>
          </a:p>
        </p:txBody>
      </p:sp>
      <p:sp>
        <p:nvSpPr>
          <p:cNvPr id="5" name="Titel 4"/>
          <p:cNvSpPr>
            <a:spLocks noGrp="1"/>
          </p:cNvSpPr>
          <p:nvPr>
            <p:ph type="title"/>
          </p:nvPr>
        </p:nvSpPr>
        <p:spPr/>
        <p:txBody>
          <a:bodyPr/>
          <a:lstStyle/>
          <a:p>
            <a:r>
              <a:rPr lang="en-GB" dirty="0"/>
              <a:t>H2 ICE</a:t>
            </a:r>
          </a:p>
        </p:txBody>
      </p:sp>
      <p:pic>
        <p:nvPicPr>
          <p:cNvPr id="3" name="Grafik 2"/>
          <p:cNvPicPr>
            <a:picLocks noChangeAspect="1"/>
          </p:cNvPicPr>
          <p:nvPr/>
        </p:nvPicPr>
        <p:blipFill>
          <a:blip r:embed="rId2"/>
          <a:stretch>
            <a:fillRect/>
          </a:stretch>
        </p:blipFill>
        <p:spPr>
          <a:xfrm>
            <a:off x="622355" y="3073544"/>
            <a:ext cx="4626305" cy="2909278"/>
          </a:xfrm>
          <a:prstGeom prst="rect">
            <a:avLst/>
          </a:prstGeom>
        </p:spPr>
      </p:pic>
      <p:pic>
        <p:nvPicPr>
          <p:cNvPr id="7" name="Grafik 6"/>
          <p:cNvPicPr>
            <a:picLocks noChangeAspect="1"/>
          </p:cNvPicPr>
          <p:nvPr/>
        </p:nvPicPr>
        <p:blipFill>
          <a:blip r:embed="rId3"/>
          <a:stretch>
            <a:fillRect/>
          </a:stretch>
        </p:blipFill>
        <p:spPr>
          <a:xfrm>
            <a:off x="5448212" y="3706904"/>
            <a:ext cx="3369234" cy="783780"/>
          </a:xfrm>
          <a:prstGeom prst="rect">
            <a:avLst/>
          </a:prstGeom>
        </p:spPr>
      </p:pic>
      <p:sp>
        <p:nvSpPr>
          <p:cNvPr id="8" name="Textfeld 7"/>
          <p:cNvSpPr txBox="1"/>
          <p:nvPr/>
        </p:nvSpPr>
        <p:spPr>
          <a:xfrm>
            <a:off x="5764506" y="3301627"/>
            <a:ext cx="2736647" cy="369332"/>
          </a:xfrm>
          <a:prstGeom prst="rect">
            <a:avLst/>
          </a:prstGeom>
          <a:noFill/>
        </p:spPr>
        <p:txBody>
          <a:bodyPr wrap="none" rtlCol="0">
            <a:spAutoFit/>
          </a:bodyPr>
          <a:lstStyle/>
          <a:p>
            <a:r>
              <a:rPr lang="en-GB" dirty="0"/>
              <a:t>Fuel characteristics used</a:t>
            </a:r>
          </a:p>
        </p:txBody>
      </p:sp>
      <p:sp>
        <p:nvSpPr>
          <p:cNvPr id="9" name="Ellipse 8"/>
          <p:cNvSpPr/>
          <p:nvPr/>
        </p:nvSpPr>
        <p:spPr bwMode="auto">
          <a:xfrm>
            <a:off x="598596" y="4328054"/>
            <a:ext cx="900000" cy="519351"/>
          </a:xfrm>
          <a:prstGeom prst="ellipse">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spAutoFit/>
          </a:bodyPr>
          <a:lstStyle/>
          <a:p>
            <a:pPr algn="ctr" fontAlgn="base">
              <a:spcBef>
                <a:spcPct val="30000"/>
              </a:spcBef>
              <a:spcAft>
                <a:spcPct val="0"/>
              </a:spcAft>
            </a:pPr>
            <a:endParaRPr lang="de-AT">
              <a:latin typeface="Arial" pitchFamily="34" charset="0"/>
            </a:endParaRPr>
          </a:p>
        </p:txBody>
      </p:sp>
      <p:sp>
        <p:nvSpPr>
          <p:cNvPr id="10" name="Ellipse 9"/>
          <p:cNvSpPr/>
          <p:nvPr/>
        </p:nvSpPr>
        <p:spPr bwMode="auto">
          <a:xfrm>
            <a:off x="681322" y="3730833"/>
            <a:ext cx="739586" cy="519351"/>
          </a:xfrm>
          <a:prstGeom prst="ellipse">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spAutoFit/>
          </a:bodyPr>
          <a:lstStyle/>
          <a:p>
            <a:pPr algn="ctr" fontAlgn="base">
              <a:spcBef>
                <a:spcPct val="30000"/>
              </a:spcBef>
              <a:spcAft>
                <a:spcPct val="0"/>
              </a:spcAft>
            </a:pPr>
            <a:endParaRPr lang="de-AT">
              <a:latin typeface="Arial" pitchFamily="34" charset="0"/>
            </a:endParaRPr>
          </a:p>
        </p:txBody>
      </p:sp>
      <p:sp>
        <p:nvSpPr>
          <p:cNvPr id="11" name="Pfeil nach rechts 10"/>
          <p:cNvSpPr/>
          <p:nvPr/>
        </p:nvSpPr>
        <p:spPr>
          <a:xfrm>
            <a:off x="424704" y="5119758"/>
            <a:ext cx="549835" cy="27234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2" name="Ellipse 11"/>
          <p:cNvSpPr/>
          <p:nvPr/>
        </p:nvSpPr>
        <p:spPr bwMode="auto">
          <a:xfrm>
            <a:off x="974539" y="5002774"/>
            <a:ext cx="252000" cy="519351"/>
          </a:xfrm>
          <a:prstGeom prst="ellipse">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spAutoFit/>
          </a:bodyPr>
          <a:lstStyle/>
          <a:p>
            <a:pPr algn="ctr" fontAlgn="base">
              <a:spcBef>
                <a:spcPct val="30000"/>
              </a:spcBef>
              <a:spcAft>
                <a:spcPct val="0"/>
              </a:spcAft>
            </a:pPr>
            <a:endParaRPr lang="de-AT">
              <a:latin typeface="Arial" pitchFamily="34" charset="0"/>
            </a:endParaRPr>
          </a:p>
        </p:txBody>
      </p:sp>
    </p:spTree>
    <p:extLst>
      <p:ext uri="{BB962C8B-B14F-4D97-AF65-F5344CB8AC3E}">
        <p14:creationId xmlns:p14="http://schemas.microsoft.com/office/powerpoint/2010/main" val="1112375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722313" y="2320357"/>
            <a:ext cx="7772400" cy="1529991"/>
          </a:xfrm>
        </p:spPr>
        <p:txBody>
          <a:bodyPr anchor="ctr">
            <a:noAutofit/>
          </a:bodyPr>
          <a:lstStyle/>
          <a:p>
            <a:pPr>
              <a:spcBef>
                <a:spcPts val="4200"/>
              </a:spcBef>
            </a:pPr>
            <a:br>
              <a:rPr lang="en-US" sz="2400" b="1" dirty="0"/>
            </a:br>
            <a:r>
              <a:rPr lang="en-US" sz="2400" b="1" dirty="0"/>
              <a:t>First VECTO beta release for the 3rd Amendment </a:t>
            </a:r>
            <a:br>
              <a:rPr lang="en-US" sz="2800" b="1" dirty="0"/>
            </a:br>
            <a:br>
              <a:rPr lang="en-US" sz="2800" b="1" dirty="0"/>
            </a:br>
            <a:r>
              <a:rPr lang="en-US" sz="2000" dirty="0"/>
              <a:t>Fuel Cell Hybrid Vehicles (FCHV)</a:t>
            </a:r>
            <a:br>
              <a:rPr lang="en-US" sz="2000" b="1" dirty="0"/>
            </a:br>
            <a:endParaRPr lang="en-US" sz="1600" b="1" dirty="0"/>
          </a:p>
        </p:txBody>
      </p:sp>
      <p:sp>
        <p:nvSpPr>
          <p:cNvPr id="6" name="Textplatzhalter 5"/>
          <p:cNvSpPr>
            <a:spLocks noGrp="1"/>
          </p:cNvSpPr>
          <p:nvPr>
            <p:ph type="body" idx="1"/>
          </p:nvPr>
        </p:nvSpPr>
        <p:spPr>
          <a:xfrm>
            <a:off x="722313" y="4276311"/>
            <a:ext cx="7772400" cy="407616"/>
          </a:xfrm>
        </p:spPr>
        <p:txBody>
          <a:bodyPr anchor="ctr"/>
          <a:lstStyle/>
          <a:p>
            <a:r>
              <a:rPr lang="en-GB"/>
              <a:t>TUG</a:t>
            </a:r>
          </a:p>
        </p:txBody>
      </p:sp>
    </p:spTree>
    <p:extLst>
      <p:ext uri="{BB962C8B-B14F-4D97-AF65-F5344CB8AC3E}">
        <p14:creationId xmlns:p14="http://schemas.microsoft.com/office/powerpoint/2010/main" val="3522988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4" y="2137413"/>
            <a:ext cx="8521646" cy="2072638"/>
          </a:xfrm>
        </p:spPr>
        <p:txBody>
          <a:bodyPr>
            <a:normAutofit lnSpcReduction="10000"/>
          </a:bodyPr>
          <a:lstStyle/>
          <a:p>
            <a:pPr>
              <a:spcBef>
                <a:spcPts val="1200"/>
              </a:spcBef>
            </a:pPr>
            <a:r>
              <a:rPr lang="en-US" sz="1800" dirty="0"/>
              <a:t>FCHV generic operation strategy (Charge Sustaining Mode) implemented as presented in TF FCS #15 with following basic principle:</a:t>
            </a:r>
          </a:p>
          <a:p>
            <a:pPr lvl="1">
              <a:spcBef>
                <a:spcPts val="1200"/>
              </a:spcBef>
            </a:pPr>
            <a:r>
              <a:rPr lang="en-US" sz="1400" dirty="0"/>
              <a:t>Maximum </a:t>
            </a:r>
            <a:r>
              <a:rPr lang="en-US" sz="1400" dirty="0" err="1"/>
              <a:t>phlegmatisation</a:t>
            </a:r>
            <a:r>
              <a:rPr lang="en-US" sz="1400" dirty="0"/>
              <a:t> of FCS by operation strategy</a:t>
            </a:r>
          </a:p>
          <a:p>
            <a:pPr lvl="1">
              <a:spcBef>
                <a:spcPts val="1200"/>
              </a:spcBef>
            </a:pPr>
            <a:r>
              <a:rPr lang="en-US" sz="1400" dirty="0"/>
              <a:t>FCS needs to provide average electric power demand over longer horizon</a:t>
            </a:r>
          </a:p>
          <a:p>
            <a:pPr lvl="1">
              <a:spcBef>
                <a:spcPts val="1200"/>
              </a:spcBef>
            </a:pPr>
            <a:r>
              <a:rPr lang="en-US" sz="1400" dirty="0"/>
              <a:t>Longest possible averaging horizon depends on battery size</a:t>
            </a:r>
            <a:br>
              <a:rPr lang="en-US" sz="1400" dirty="0"/>
            </a:br>
            <a:r>
              <a:rPr lang="en-US" sz="1400" dirty="0"/>
              <a:t>and specific vehicle-cycle combination</a:t>
            </a:r>
            <a:br>
              <a:rPr lang="en-US" sz="1400" dirty="0"/>
            </a:br>
            <a:r>
              <a:rPr lang="en-US" sz="1400" i="1" dirty="0">
                <a:sym typeface="Wingdings" panose="05000000000000000000" pitchFamily="2" charset="2"/>
              </a:rPr>
              <a:t> </a:t>
            </a:r>
            <a:r>
              <a:rPr lang="en-US" sz="1400" i="1" dirty="0"/>
              <a:t>The smaller the battery or the greater the electric energy demand of the vehicle,</a:t>
            </a:r>
            <a:br>
              <a:rPr lang="en-US" sz="1400" i="1" dirty="0"/>
            </a:br>
            <a:r>
              <a:rPr lang="en-US" sz="1400" i="1" dirty="0"/>
              <a:t>the smaller the averaging horizon will get leading to a more dynamic operation of the FCS.</a:t>
            </a:r>
          </a:p>
          <a:p>
            <a:pPr lvl="1">
              <a:spcBef>
                <a:spcPts val="1200"/>
              </a:spcBef>
            </a:pPr>
            <a:endParaRPr lang="en-US" sz="1400" dirty="0"/>
          </a:p>
        </p:txBody>
      </p:sp>
      <p:sp>
        <p:nvSpPr>
          <p:cNvPr id="4" name="Foliennummernplatzhalter 3"/>
          <p:cNvSpPr>
            <a:spLocks noGrp="1"/>
          </p:cNvSpPr>
          <p:nvPr>
            <p:ph type="sldNum" sz="quarter" idx="12"/>
          </p:nvPr>
        </p:nvSpPr>
        <p:spPr/>
        <p:txBody>
          <a:bodyPr/>
          <a:lstStyle/>
          <a:p>
            <a:fld id="{4B64EC4D-37E3-EF42-B9AB-6337577588CB}" type="slidenum">
              <a:rPr lang="de-DE" smtClean="0"/>
              <a:t>8</a:t>
            </a:fld>
            <a:endParaRPr lang="de-DE"/>
          </a:p>
        </p:txBody>
      </p:sp>
      <p:sp>
        <p:nvSpPr>
          <p:cNvPr id="5" name="Titel 4"/>
          <p:cNvSpPr>
            <a:spLocks noGrp="1"/>
          </p:cNvSpPr>
          <p:nvPr>
            <p:ph type="title"/>
          </p:nvPr>
        </p:nvSpPr>
        <p:spPr/>
        <p:txBody>
          <a:bodyPr/>
          <a:lstStyle/>
          <a:p>
            <a:r>
              <a:rPr lang="en-GB" dirty="0"/>
              <a:t>Fuel cell hybrid vehicles (FCHV) – Op. strategy (1/5)</a:t>
            </a:r>
          </a:p>
        </p:txBody>
      </p:sp>
    </p:spTree>
    <p:extLst>
      <p:ext uri="{BB962C8B-B14F-4D97-AF65-F5344CB8AC3E}">
        <p14:creationId xmlns:p14="http://schemas.microsoft.com/office/powerpoint/2010/main" val="3686100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4" y="2137413"/>
            <a:ext cx="8521646" cy="2072638"/>
          </a:xfrm>
        </p:spPr>
        <p:txBody>
          <a:bodyPr>
            <a:normAutofit fontScale="62500" lnSpcReduction="20000"/>
          </a:bodyPr>
          <a:lstStyle/>
          <a:p>
            <a:pPr>
              <a:spcBef>
                <a:spcPts val="600"/>
              </a:spcBef>
            </a:pPr>
            <a:r>
              <a:rPr lang="en-GB" sz="1600" b="1" dirty="0"/>
              <a:t>Basic approach for implementation of FCS operation in “CS” Mode in 4 steps</a:t>
            </a:r>
          </a:p>
          <a:p>
            <a:pPr marL="792163" lvl="1" indent="-342900">
              <a:spcBef>
                <a:spcPts val="600"/>
              </a:spcBef>
              <a:buFont typeface="+mj-lt"/>
              <a:buAutoNum type="arabicPeriod"/>
            </a:pPr>
            <a:r>
              <a:rPr lang="en-GB" sz="1400" dirty="0"/>
              <a:t>Pre-simulation run as PEV to determine electric power demand for propulsion and auxiliaries</a:t>
            </a:r>
          </a:p>
          <a:p>
            <a:pPr lvl="2">
              <a:spcBef>
                <a:spcPts val="600"/>
              </a:spcBef>
              <a:buFont typeface="+mj-lt"/>
              <a:buAutoNum type="alphaLcParenR"/>
            </a:pPr>
            <a:r>
              <a:rPr lang="en-GB" sz="1200" dirty="0"/>
              <a:t>Power limit of “special” battery defined as sum of respective maximum powers (BAT + FCS)</a:t>
            </a:r>
            <a:br>
              <a:rPr lang="en-GB" sz="1200" dirty="0"/>
            </a:br>
            <a:endParaRPr lang="en-GB" sz="900" dirty="0"/>
          </a:p>
          <a:p>
            <a:pPr marL="792163" lvl="1" indent="-342900">
              <a:spcBef>
                <a:spcPts val="600"/>
              </a:spcBef>
              <a:buFont typeface="+mj-lt"/>
              <a:buAutoNum type="arabicPeriod"/>
            </a:pPr>
            <a:r>
              <a:rPr lang="en-GB" sz="1400" dirty="0"/>
              <a:t>Resulting total electric power from step 1 will be averaged over a certain </a:t>
            </a:r>
            <a:r>
              <a:rPr lang="en-GB" sz="1400" b="1" u="sng" dirty="0"/>
              <a:t>fixed</a:t>
            </a:r>
            <a:r>
              <a:rPr lang="en-GB" sz="1400" dirty="0"/>
              <a:t> window size</a:t>
            </a:r>
            <a:br>
              <a:rPr lang="en-GB" sz="1400" dirty="0"/>
            </a:br>
            <a:r>
              <a:rPr lang="en-GB" sz="1400" dirty="0"/>
              <a:t>which is distance based (details next slide)</a:t>
            </a:r>
          </a:p>
          <a:p>
            <a:pPr lvl="2">
              <a:spcBef>
                <a:spcPts val="600"/>
              </a:spcBef>
              <a:buFont typeface="+mj-lt"/>
              <a:buAutoNum type="alphaLcParenR"/>
            </a:pPr>
            <a:r>
              <a:rPr lang="en-GB" sz="1200" dirty="0"/>
              <a:t>Buffering of energy is limited by battery size, SOC limits min/max are not allowed to be exceeded</a:t>
            </a:r>
          </a:p>
          <a:p>
            <a:pPr lvl="2">
              <a:spcBef>
                <a:spcPts val="600"/>
              </a:spcBef>
              <a:buFont typeface="+mj-lt"/>
              <a:buAutoNum type="alphaLcParenR"/>
            </a:pPr>
            <a:r>
              <a:rPr lang="en-GB" sz="1200" dirty="0"/>
              <a:t>Using largest possible window size without violating SOC limits in any window</a:t>
            </a:r>
          </a:p>
          <a:p>
            <a:pPr lvl="2">
              <a:spcBef>
                <a:spcPts val="600"/>
              </a:spcBef>
              <a:buFont typeface="+mj-lt"/>
              <a:buAutoNum type="alphaLcParenR"/>
            </a:pPr>
            <a:r>
              <a:rPr lang="en-GB" sz="1200" dirty="0"/>
              <a:t>Adaption of start SOC to specific mission in order to maximize usage of battery as buffer</a:t>
            </a:r>
            <a:br>
              <a:rPr lang="en-GB" sz="1200" dirty="0"/>
            </a:br>
            <a:endParaRPr lang="en-GB" sz="900" dirty="0"/>
          </a:p>
          <a:p>
            <a:pPr marL="792163" lvl="1" indent="-342900">
              <a:spcBef>
                <a:spcPts val="600"/>
              </a:spcBef>
              <a:buFont typeface="+mj-lt"/>
              <a:buAutoNum type="arabicPeriod"/>
            </a:pPr>
            <a:r>
              <a:rPr lang="en-GB" sz="1400" dirty="0"/>
              <a:t>Actual simulation run as FCHV in-the-loop where FCS is operated following a fixed power trace</a:t>
            </a:r>
            <a:br>
              <a:rPr lang="en-GB" sz="1400" dirty="0"/>
            </a:br>
            <a:r>
              <a:rPr lang="en-GB" sz="1400" dirty="0"/>
              <a:t>to cover average electric power demand determined from pre-processing in step 2</a:t>
            </a:r>
            <a:br>
              <a:rPr lang="en-GB" sz="1400" dirty="0"/>
            </a:br>
            <a:r>
              <a:rPr lang="en-GB" sz="1400" dirty="0"/>
              <a:t>(battery covers instantaneous deviations from average electric power demand)</a:t>
            </a:r>
            <a:br>
              <a:rPr lang="en-GB" sz="1400" dirty="0"/>
            </a:br>
            <a:endParaRPr lang="en-GB" sz="900" dirty="0"/>
          </a:p>
          <a:p>
            <a:pPr marL="792163" lvl="1" indent="-342900">
              <a:spcBef>
                <a:spcPts val="600"/>
              </a:spcBef>
              <a:buFont typeface="+mj-lt"/>
              <a:buAutoNum type="arabicPeriod"/>
            </a:pPr>
            <a:r>
              <a:rPr lang="el-GR" sz="1400" dirty="0"/>
              <a:t>Δ</a:t>
            </a:r>
            <a:r>
              <a:rPr lang="en-GB" sz="1400" dirty="0"/>
              <a:t>SOC correction in post-processing to account for small deviations from neutral SOC behaviour over cycle (e.g. variations in auxiliary power, small deviations in battery losses etc.)</a:t>
            </a:r>
            <a:endParaRPr lang="en-GB"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9</a:t>
            </a:fld>
            <a:endParaRPr lang="de-DE"/>
          </a:p>
        </p:txBody>
      </p:sp>
      <p:sp>
        <p:nvSpPr>
          <p:cNvPr id="5" name="Titel 4"/>
          <p:cNvSpPr>
            <a:spLocks noGrp="1"/>
          </p:cNvSpPr>
          <p:nvPr>
            <p:ph type="title"/>
          </p:nvPr>
        </p:nvSpPr>
        <p:spPr/>
        <p:txBody>
          <a:bodyPr/>
          <a:lstStyle/>
          <a:p>
            <a:r>
              <a:rPr lang="en-GB" dirty="0"/>
              <a:t>Fuel cell hybrid vehicles (FCHV) – Op. strategy (2/5)</a:t>
            </a:r>
          </a:p>
        </p:txBody>
      </p:sp>
    </p:spTree>
    <p:extLst>
      <p:ext uri="{BB962C8B-B14F-4D97-AF65-F5344CB8AC3E}">
        <p14:creationId xmlns:p14="http://schemas.microsoft.com/office/powerpoint/2010/main" val="136110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4" y="2137413"/>
            <a:ext cx="8521646" cy="1140652"/>
          </a:xfrm>
        </p:spPr>
        <p:txBody>
          <a:bodyPr/>
          <a:lstStyle/>
          <a:p>
            <a:pPr>
              <a:spcBef>
                <a:spcPts val="600"/>
              </a:spcBef>
            </a:pPr>
            <a:r>
              <a:rPr lang="en-US" sz="1600" b="1" dirty="0"/>
              <a:t>Averaging and window size explained (1/2)</a:t>
            </a:r>
          </a:p>
          <a:p>
            <a:pPr lvl="1">
              <a:spcBef>
                <a:spcPts val="600"/>
              </a:spcBef>
            </a:pPr>
            <a:r>
              <a:rPr lang="en-US" sz="1400" dirty="0"/>
              <a:t>The averaging window is placed distance-symmetrically over each actual time step from the pre-simulation</a:t>
            </a:r>
          </a:p>
          <a:p>
            <a:pPr lvl="1">
              <a:spcBef>
                <a:spcPts val="600"/>
              </a:spcBef>
            </a:pPr>
            <a:r>
              <a:rPr lang="en-US" sz="1400" dirty="0"/>
              <a:t>Window size is determined by total distance within window</a:t>
            </a:r>
            <a:br>
              <a:rPr lang="en-US" sz="1400" dirty="0"/>
            </a:br>
            <a:endParaRPr lang="en-US" sz="1400" dirty="0"/>
          </a:p>
        </p:txBody>
      </p:sp>
      <p:sp>
        <p:nvSpPr>
          <p:cNvPr id="4" name="Foliennummernplatzhalter 3"/>
          <p:cNvSpPr>
            <a:spLocks noGrp="1"/>
          </p:cNvSpPr>
          <p:nvPr>
            <p:ph type="sldNum" sz="quarter" idx="12"/>
          </p:nvPr>
        </p:nvSpPr>
        <p:spPr/>
        <p:txBody>
          <a:bodyPr/>
          <a:lstStyle/>
          <a:p>
            <a:fld id="{4B64EC4D-37E3-EF42-B9AB-6337577588CB}" type="slidenum">
              <a:rPr lang="de-DE" smtClean="0"/>
              <a:t>10</a:t>
            </a:fld>
            <a:endParaRPr lang="de-DE"/>
          </a:p>
        </p:txBody>
      </p:sp>
      <p:sp>
        <p:nvSpPr>
          <p:cNvPr id="5" name="Titel 4"/>
          <p:cNvSpPr>
            <a:spLocks noGrp="1"/>
          </p:cNvSpPr>
          <p:nvPr>
            <p:ph type="title"/>
          </p:nvPr>
        </p:nvSpPr>
        <p:spPr/>
        <p:txBody>
          <a:bodyPr/>
          <a:lstStyle/>
          <a:p>
            <a:r>
              <a:rPr lang="en-GB" dirty="0"/>
              <a:t>Fuel cell hybrid vehicles (FCHV) – Op. strategy (3/5)</a:t>
            </a:r>
          </a:p>
        </p:txBody>
      </p:sp>
      <p:sp>
        <p:nvSpPr>
          <p:cNvPr id="7" name="Textfeld 6"/>
          <p:cNvSpPr txBox="1"/>
          <p:nvPr/>
        </p:nvSpPr>
        <p:spPr>
          <a:xfrm>
            <a:off x="5638745" y="3531351"/>
            <a:ext cx="840232" cy="553998"/>
          </a:xfrm>
          <a:prstGeom prst="rect">
            <a:avLst/>
          </a:prstGeom>
          <a:noFill/>
        </p:spPr>
        <p:txBody>
          <a:bodyPr wrap="square" rtlCol="0">
            <a:spAutoFit/>
          </a:bodyPr>
          <a:lstStyle/>
          <a:p>
            <a:pPr algn="ctr"/>
            <a:r>
              <a:rPr lang="de-DE" sz="1200" dirty="0" err="1">
                <a:solidFill>
                  <a:srgbClr val="E31E4D"/>
                </a:solidFill>
              </a:rPr>
              <a:t>distance</a:t>
            </a:r>
            <a:endParaRPr lang="de-DE" dirty="0">
              <a:solidFill>
                <a:srgbClr val="E31E4D"/>
              </a:solidFill>
            </a:endParaRPr>
          </a:p>
          <a:p>
            <a:pPr algn="ctr"/>
            <a:r>
              <a:rPr lang="de-DE" dirty="0">
                <a:solidFill>
                  <a:srgbClr val="E31E4D"/>
                </a:solidFill>
              </a:rPr>
              <a:t>=</a:t>
            </a:r>
            <a:endParaRPr lang="de-AT" dirty="0">
              <a:solidFill>
                <a:srgbClr val="E31E4D"/>
              </a:solidFill>
            </a:endParaRPr>
          </a:p>
        </p:txBody>
      </p:sp>
      <p:cxnSp>
        <p:nvCxnSpPr>
          <p:cNvPr id="8" name="Gerade Verbindung mit Pfeil 7"/>
          <p:cNvCxnSpPr/>
          <p:nvPr/>
        </p:nvCxnSpPr>
        <p:spPr>
          <a:xfrm>
            <a:off x="1052069" y="5219261"/>
            <a:ext cx="663365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Gerade Verbindung mit Pfeil 8"/>
          <p:cNvCxnSpPr/>
          <p:nvPr/>
        </p:nvCxnSpPr>
        <p:spPr>
          <a:xfrm flipV="1">
            <a:off x="1063428" y="4540713"/>
            <a:ext cx="0" cy="6785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feld 9"/>
          <p:cNvSpPr txBox="1"/>
          <p:nvPr/>
        </p:nvSpPr>
        <p:spPr>
          <a:xfrm>
            <a:off x="7652977" y="5087987"/>
            <a:ext cx="837878" cy="261610"/>
          </a:xfrm>
          <a:prstGeom prst="rect">
            <a:avLst/>
          </a:prstGeom>
          <a:noFill/>
        </p:spPr>
        <p:txBody>
          <a:bodyPr wrap="square" rtlCol="0">
            <a:spAutoFit/>
          </a:bodyPr>
          <a:lstStyle/>
          <a:p>
            <a:r>
              <a:rPr lang="de-AT" sz="1100" dirty="0"/>
              <a:t>time</a:t>
            </a:r>
          </a:p>
        </p:txBody>
      </p:sp>
      <p:cxnSp>
        <p:nvCxnSpPr>
          <p:cNvPr id="11" name="Gerader Verbinder 10"/>
          <p:cNvCxnSpPr/>
          <p:nvPr/>
        </p:nvCxnSpPr>
        <p:spPr>
          <a:xfrm>
            <a:off x="1819828" y="5099998"/>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 name="Gerader Verbinder 11"/>
          <p:cNvCxnSpPr/>
          <p:nvPr/>
        </p:nvCxnSpPr>
        <p:spPr>
          <a:xfrm>
            <a:off x="2325298" y="5099998"/>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 name="Gerader Verbinder 12"/>
          <p:cNvCxnSpPr/>
          <p:nvPr/>
        </p:nvCxnSpPr>
        <p:spPr>
          <a:xfrm>
            <a:off x="3853051" y="5099998"/>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 name="Gerader Verbinder 13"/>
          <p:cNvCxnSpPr/>
          <p:nvPr/>
        </p:nvCxnSpPr>
        <p:spPr>
          <a:xfrm>
            <a:off x="4489154" y="5099998"/>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 name="Gerader Verbinder 14"/>
          <p:cNvCxnSpPr/>
          <p:nvPr/>
        </p:nvCxnSpPr>
        <p:spPr>
          <a:xfrm>
            <a:off x="5102536" y="5099998"/>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6" name="Gerader Verbinder 15"/>
          <p:cNvCxnSpPr/>
          <p:nvPr/>
        </p:nvCxnSpPr>
        <p:spPr>
          <a:xfrm>
            <a:off x="5897646" y="5099998"/>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 name="Gerader Verbinder 16"/>
          <p:cNvCxnSpPr/>
          <p:nvPr/>
        </p:nvCxnSpPr>
        <p:spPr>
          <a:xfrm>
            <a:off x="6664379" y="5099998"/>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8" name="Gerader Verbinder 17"/>
          <p:cNvCxnSpPr/>
          <p:nvPr/>
        </p:nvCxnSpPr>
        <p:spPr>
          <a:xfrm>
            <a:off x="7005143" y="5099998"/>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9" name="Textfeld 18"/>
          <p:cNvSpPr txBox="1"/>
          <p:nvPr/>
        </p:nvSpPr>
        <p:spPr>
          <a:xfrm>
            <a:off x="3743607" y="5359865"/>
            <a:ext cx="212319" cy="276999"/>
          </a:xfrm>
          <a:prstGeom prst="rect">
            <a:avLst/>
          </a:prstGeom>
          <a:noFill/>
        </p:spPr>
        <p:txBody>
          <a:bodyPr wrap="square" rtlCol="0">
            <a:spAutoFit/>
          </a:bodyPr>
          <a:lstStyle/>
          <a:p>
            <a:pPr algn="ctr"/>
            <a:r>
              <a:rPr lang="de-DE" sz="1200" dirty="0"/>
              <a:t>t</a:t>
            </a:r>
            <a:endParaRPr lang="de-AT" sz="1200" dirty="0"/>
          </a:p>
        </p:txBody>
      </p:sp>
      <p:sp>
        <p:nvSpPr>
          <p:cNvPr id="20" name="Textfeld 19"/>
          <p:cNvSpPr txBox="1"/>
          <p:nvPr/>
        </p:nvSpPr>
        <p:spPr>
          <a:xfrm>
            <a:off x="4265185" y="5359865"/>
            <a:ext cx="444486" cy="276999"/>
          </a:xfrm>
          <a:prstGeom prst="rect">
            <a:avLst/>
          </a:prstGeom>
          <a:noFill/>
        </p:spPr>
        <p:txBody>
          <a:bodyPr wrap="square" rtlCol="0">
            <a:spAutoFit/>
          </a:bodyPr>
          <a:lstStyle/>
          <a:p>
            <a:pPr algn="ctr"/>
            <a:r>
              <a:rPr lang="de-AT" sz="1200" dirty="0"/>
              <a:t>t+1</a:t>
            </a:r>
          </a:p>
        </p:txBody>
      </p:sp>
      <p:sp>
        <p:nvSpPr>
          <p:cNvPr id="21" name="Textfeld 20"/>
          <p:cNvSpPr txBox="1"/>
          <p:nvPr/>
        </p:nvSpPr>
        <p:spPr>
          <a:xfrm>
            <a:off x="2031452" y="5359865"/>
            <a:ext cx="588198" cy="276999"/>
          </a:xfrm>
          <a:prstGeom prst="rect">
            <a:avLst/>
          </a:prstGeom>
          <a:noFill/>
        </p:spPr>
        <p:txBody>
          <a:bodyPr wrap="square" rtlCol="0">
            <a:spAutoFit/>
          </a:bodyPr>
          <a:lstStyle/>
          <a:p>
            <a:pPr algn="ctr"/>
            <a:r>
              <a:rPr lang="de-AT" sz="1200" dirty="0"/>
              <a:t>t+1-j</a:t>
            </a:r>
          </a:p>
        </p:txBody>
      </p:sp>
      <p:sp>
        <p:nvSpPr>
          <p:cNvPr id="22" name="Textfeld 21"/>
          <p:cNvSpPr txBox="1"/>
          <p:nvPr/>
        </p:nvSpPr>
        <p:spPr>
          <a:xfrm>
            <a:off x="1594136" y="5359865"/>
            <a:ext cx="444486" cy="276999"/>
          </a:xfrm>
          <a:prstGeom prst="rect">
            <a:avLst/>
          </a:prstGeom>
          <a:noFill/>
        </p:spPr>
        <p:txBody>
          <a:bodyPr wrap="square" rtlCol="0">
            <a:spAutoFit/>
          </a:bodyPr>
          <a:lstStyle/>
          <a:p>
            <a:pPr algn="ctr"/>
            <a:r>
              <a:rPr lang="de-AT" sz="1200" dirty="0"/>
              <a:t>t-i</a:t>
            </a:r>
          </a:p>
        </p:txBody>
      </p:sp>
      <p:sp>
        <p:nvSpPr>
          <p:cNvPr id="23" name="Textfeld 22"/>
          <p:cNvSpPr txBox="1"/>
          <p:nvPr/>
        </p:nvSpPr>
        <p:spPr>
          <a:xfrm>
            <a:off x="4880293" y="5359865"/>
            <a:ext cx="444486" cy="276999"/>
          </a:xfrm>
          <a:prstGeom prst="rect">
            <a:avLst/>
          </a:prstGeom>
          <a:noFill/>
        </p:spPr>
        <p:txBody>
          <a:bodyPr wrap="square" rtlCol="0">
            <a:spAutoFit/>
          </a:bodyPr>
          <a:lstStyle/>
          <a:p>
            <a:pPr algn="ctr"/>
            <a:r>
              <a:rPr lang="de-AT" sz="1200" dirty="0"/>
              <a:t>t+2</a:t>
            </a:r>
          </a:p>
        </p:txBody>
      </p:sp>
      <p:sp>
        <p:nvSpPr>
          <p:cNvPr id="24" name="Textfeld 23"/>
          <p:cNvSpPr txBox="1"/>
          <p:nvPr/>
        </p:nvSpPr>
        <p:spPr>
          <a:xfrm>
            <a:off x="5675403" y="5359865"/>
            <a:ext cx="444486" cy="276999"/>
          </a:xfrm>
          <a:prstGeom prst="rect">
            <a:avLst/>
          </a:prstGeom>
          <a:noFill/>
        </p:spPr>
        <p:txBody>
          <a:bodyPr wrap="square" rtlCol="0">
            <a:spAutoFit/>
          </a:bodyPr>
          <a:lstStyle/>
          <a:p>
            <a:pPr algn="ctr"/>
            <a:r>
              <a:rPr lang="de-AT" sz="1200" dirty="0" err="1"/>
              <a:t>t+i</a:t>
            </a:r>
            <a:endParaRPr lang="de-AT" sz="1200" dirty="0"/>
          </a:p>
        </p:txBody>
      </p:sp>
      <p:sp>
        <p:nvSpPr>
          <p:cNvPr id="25" name="Textfeld 24"/>
          <p:cNvSpPr txBox="1"/>
          <p:nvPr/>
        </p:nvSpPr>
        <p:spPr>
          <a:xfrm>
            <a:off x="6351259" y="5359865"/>
            <a:ext cx="625482" cy="276999"/>
          </a:xfrm>
          <a:prstGeom prst="rect">
            <a:avLst/>
          </a:prstGeom>
          <a:noFill/>
        </p:spPr>
        <p:txBody>
          <a:bodyPr wrap="square" rtlCol="0">
            <a:spAutoFit/>
          </a:bodyPr>
          <a:lstStyle/>
          <a:p>
            <a:pPr algn="ctr"/>
            <a:r>
              <a:rPr lang="de-AT" sz="1200" dirty="0"/>
              <a:t>t+1+j</a:t>
            </a:r>
          </a:p>
        </p:txBody>
      </p:sp>
      <p:sp>
        <p:nvSpPr>
          <p:cNvPr id="26" name="Rechteck 25"/>
          <p:cNvSpPr/>
          <p:nvPr/>
        </p:nvSpPr>
        <p:spPr>
          <a:xfrm>
            <a:off x="1825506" y="4796982"/>
            <a:ext cx="4068000" cy="177696"/>
          </a:xfrm>
          <a:prstGeom prst="rect">
            <a:avLst/>
          </a:prstGeom>
          <a:solidFill>
            <a:srgbClr val="92D050"/>
          </a:solidFill>
          <a:ln>
            <a:solidFill>
              <a:srgbClr val="189E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200" dirty="0" err="1"/>
              <a:t>window</a:t>
            </a:r>
            <a:r>
              <a:rPr lang="de-DE" sz="1200" dirty="0"/>
              <a:t> @ t</a:t>
            </a:r>
            <a:endParaRPr lang="de-AT" sz="1200" dirty="0"/>
          </a:p>
        </p:txBody>
      </p:sp>
      <p:sp>
        <p:nvSpPr>
          <p:cNvPr id="27" name="Rechteck 26"/>
          <p:cNvSpPr/>
          <p:nvPr/>
        </p:nvSpPr>
        <p:spPr>
          <a:xfrm>
            <a:off x="2325299" y="4483046"/>
            <a:ext cx="4320000" cy="177696"/>
          </a:xfrm>
          <a:prstGeom prst="rect">
            <a:avLst/>
          </a:prstGeom>
          <a:solidFill>
            <a:schemeClr val="accent1">
              <a:lumMod val="40000"/>
              <a:lumOff val="6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200" dirty="0" err="1"/>
              <a:t>window</a:t>
            </a:r>
            <a:r>
              <a:rPr lang="de-DE" sz="1200" dirty="0"/>
              <a:t> @ t+1</a:t>
            </a:r>
            <a:endParaRPr lang="de-AT" sz="1200" dirty="0"/>
          </a:p>
        </p:txBody>
      </p:sp>
      <p:sp>
        <p:nvSpPr>
          <p:cNvPr id="28" name="Rechteck 27"/>
          <p:cNvSpPr/>
          <p:nvPr/>
        </p:nvSpPr>
        <p:spPr>
          <a:xfrm>
            <a:off x="3188134" y="4164748"/>
            <a:ext cx="3816000" cy="177696"/>
          </a:xfrm>
          <a:prstGeom prst="rect">
            <a:avLst/>
          </a:prstGeom>
          <a:solidFill>
            <a:schemeClr val="accent2">
              <a:lumMod val="40000"/>
              <a:lumOff val="60000"/>
            </a:schemeClr>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200" dirty="0" err="1"/>
              <a:t>window</a:t>
            </a:r>
            <a:r>
              <a:rPr lang="de-DE" sz="1200" dirty="0"/>
              <a:t> @ t+2</a:t>
            </a:r>
            <a:endParaRPr lang="de-AT" sz="1200" dirty="0"/>
          </a:p>
        </p:txBody>
      </p:sp>
      <p:sp>
        <p:nvSpPr>
          <p:cNvPr id="29" name="Textfeld 28"/>
          <p:cNvSpPr txBox="1"/>
          <p:nvPr/>
        </p:nvSpPr>
        <p:spPr>
          <a:xfrm>
            <a:off x="6913904" y="5359865"/>
            <a:ext cx="625482" cy="276999"/>
          </a:xfrm>
          <a:prstGeom prst="rect">
            <a:avLst/>
          </a:prstGeom>
          <a:noFill/>
        </p:spPr>
        <p:txBody>
          <a:bodyPr wrap="square" rtlCol="0">
            <a:spAutoFit/>
          </a:bodyPr>
          <a:lstStyle/>
          <a:p>
            <a:pPr algn="ctr"/>
            <a:r>
              <a:rPr lang="de-AT" sz="1200" dirty="0"/>
              <a:t>t+2+k</a:t>
            </a:r>
          </a:p>
        </p:txBody>
      </p:sp>
      <p:sp>
        <p:nvSpPr>
          <p:cNvPr id="30" name="Gewitterblitz 29"/>
          <p:cNvSpPr/>
          <p:nvPr/>
        </p:nvSpPr>
        <p:spPr>
          <a:xfrm rot="2700000">
            <a:off x="6662248" y="5069128"/>
            <a:ext cx="360000" cy="252000"/>
          </a:xfrm>
          <a:prstGeom prst="lightningBol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cxnSp>
        <p:nvCxnSpPr>
          <p:cNvPr id="31" name="Gerader Verbinder 30"/>
          <p:cNvCxnSpPr/>
          <p:nvPr/>
        </p:nvCxnSpPr>
        <p:spPr>
          <a:xfrm>
            <a:off x="3199495" y="5099998"/>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2" name="Textfeld 31"/>
          <p:cNvSpPr txBox="1"/>
          <p:nvPr/>
        </p:nvSpPr>
        <p:spPr>
          <a:xfrm>
            <a:off x="2886754" y="5359865"/>
            <a:ext cx="625482" cy="276999"/>
          </a:xfrm>
          <a:prstGeom prst="rect">
            <a:avLst/>
          </a:prstGeom>
          <a:noFill/>
        </p:spPr>
        <p:txBody>
          <a:bodyPr wrap="square" rtlCol="0">
            <a:spAutoFit/>
          </a:bodyPr>
          <a:lstStyle/>
          <a:p>
            <a:pPr algn="ctr"/>
            <a:r>
              <a:rPr lang="de-AT" sz="1200" dirty="0"/>
              <a:t>t+2+k</a:t>
            </a:r>
          </a:p>
        </p:txBody>
      </p:sp>
      <p:sp>
        <p:nvSpPr>
          <p:cNvPr id="33" name="Gewitterblitz 32"/>
          <p:cNvSpPr/>
          <p:nvPr/>
        </p:nvSpPr>
        <p:spPr>
          <a:xfrm rot="2700000">
            <a:off x="6110271" y="5069128"/>
            <a:ext cx="360000" cy="252000"/>
          </a:xfrm>
          <a:prstGeom prst="lightningBol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34" name="Gewitterblitz 33"/>
          <p:cNvSpPr/>
          <p:nvPr/>
        </p:nvSpPr>
        <p:spPr>
          <a:xfrm rot="2700000">
            <a:off x="5308249" y="5069128"/>
            <a:ext cx="360000" cy="252000"/>
          </a:xfrm>
          <a:prstGeom prst="lightningBol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35" name="Gewitterblitz 34"/>
          <p:cNvSpPr/>
          <p:nvPr/>
        </p:nvSpPr>
        <p:spPr>
          <a:xfrm rot="2700000">
            <a:off x="3250722" y="5069128"/>
            <a:ext cx="360000" cy="252000"/>
          </a:xfrm>
          <a:prstGeom prst="lightningBol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36" name="Gewitterblitz 35"/>
          <p:cNvSpPr/>
          <p:nvPr/>
        </p:nvSpPr>
        <p:spPr>
          <a:xfrm rot="2700000">
            <a:off x="2585643" y="5069128"/>
            <a:ext cx="360000" cy="252000"/>
          </a:xfrm>
          <a:prstGeom prst="lightningBol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37" name="Gewitterblitz 36"/>
          <p:cNvSpPr/>
          <p:nvPr/>
        </p:nvSpPr>
        <p:spPr>
          <a:xfrm rot="2700000">
            <a:off x="1852754" y="5069128"/>
            <a:ext cx="360000" cy="252000"/>
          </a:xfrm>
          <a:prstGeom prst="lightningBol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cxnSp>
        <p:nvCxnSpPr>
          <p:cNvPr id="38" name="Gerader Verbinder 37"/>
          <p:cNvCxnSpPr/>
          <p:nvPr/>
        </p:nvCxnSpPr>
        <p:spPr>
          <a:xfrm>
            <a:off x="5108215" y="3716318"/>
            <a:ext cx="0" cy="1330553"/>
          </a:xfrm>
          <a:prstGeom prst="line">
            <a:avLst/>
          </a:prstGeom>
          <a:ln w="12700">
            <a:prstDash val="dash"/>
          </a:ln>
          <a:effectLst/>
        </p:spPr>
        <p:style>
          <a:lnRef idx="2">
            <a:schemeClr val="accent1"/>
          </a:lnRef>
          <a:fillRef idx="0">
            <a:schemeClr val="accent1"/>
          </a:fillRef>
          <a:effectRef idx="1">
            <a:schemeClr val="accent1"/>
          </a:effectRef>
          <a:fontRef idx="minor">
            <a:schemeClr val="tx1"/>
          </a:fontRef>
        </p:style>
      </p:cxnSp>
      <p:sp>
        <p:nvSpPr>
          <p:cNvPr id="39" name="Pfeil nach links und rechts 38"/>
          <p:cNvSpPr/>
          <p:nvPr/>
        </p:nvSpPr>
        <p:spPr>
          <a:xfrm>
            <a:off x="5108216" y="3931704"/>
            <a:ext cx="1895919" cy="170385"/>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40" name="Pfeil nach links und rechts 39"/>
          <p:cNvSpPr/>
          <p:nvPr/>
        </p:nvSpPr>
        <p:spPr>
          <a:xfrm>
            <a:off x="3188135" y="3931704"/>
            <a:ext cx="1895919" cy="170385"/>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41" name="Textfeld 40"/>
          <p:cNvSpPr txBox="1"/>
          <p:nvPr/>
        </p:nvSpPr>
        <p:spPr>
          <a:xfrm>
            <a:off x="3739415" y="3527386"/>
            <a:ext cx="840232" cy="553998"/>
          </a:xfrm>
          <a:prstGeom prst="rect">
            <a:avLst/>
          </a:prstGeom>
          <a:noFill/>
        </p:spPr>
        <p:txBody>
          <a:bodyPr wrap="square" rtlCol="0">
            <a:spAutoFit/>
          </a:bodyPr>
          <a:lstStyle/>
          <a:p>
            <a:pPr algn="ctr"/>
            <a:r>
              <a:rPr lang="de-DE" sz="1200" dirty="0" err="1">
                <a:solidFill>
                  <a:srgbClr val="E31E4D"/>
                </a:solidFill>
              </a:rPr>
              <a:t>distance</a:t>
            </a:r>
            <a:endParaRPr lang="de-DE" dirty="0">
              <a:solidFill>
                <a:srgbClr val="E31E4D"/>
              </a:solidFill>
            </a:endParaRPr>
          </a:p>
          <a:p>
            <a:pPr algn="ctr"/>
            <a:r>
              <a:rPr lang="de-DE" dirty="0">
                <a:solidFill>
                  <a:srgbClr val="E31E4D"/>
                </a:solidFill>
              </a:rPr>
              <a:t>=</a:t>
            </a:r>
            <a:endParaRPr lang="de-AT" dirty="0">
              <a:solidFill>
                <a:srgbClr val="E31E4D"/>
              </a:solidFill>
            </a:endParaRPr>
          </a:p>
        </p:txBody>
      </p:sp>
    </p:spTree>
    <p:extLst>
      <p:ext uri="{BB962C8B-B14F-4D97-AF65-F5344CB8AC3E}">
        <p14:creationId xmlns:p14="http://schemas.microsoft.com/office/powerpoint/2010/main" val="1440099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4" y="2137413"/>
            <a:ext cx="8521646" cy="1140652"/>
          </a:xfrm>
        </p:spPr>
        <p:txBody>
          <a:bodyPr/>
          <a:lstStyle/>
          <a:p>
            <a:pPr>
              <a:spcBef>
                <a:spcPts val="600"/>
              </a:spcBef>
            </a:pPr>
            <a:r>
              <a:rPr lang="en-US" sz="1600" b="1" dirty="0"/>
              <a:t>Averaging and window size explained (2/2)</a:t>
            </a:r>
          </a:p>
          <a:p>
            <a:pPr lvl="1">
              <a:spcBef>
                <a:spcPts val="600"/>
              </a:spcBef>
            </a:pPr>
            <a:r>
              <a:rPr lang="en-US" sz="1400" dirty="0"/>
              <a:t>Maximum window size is given by complete cycle, thus cycle is concatenated 3 times in a row</a:t>
            </a:r>
          </a:p>
          <a:p>
            <a:pPr lvl="1">
              <a:spcBef>
                <a:spcPts val="600"/>
              </a:spcBef>
            </a:pPr>
            <a:r>
              <a:rPr lang="en-US" sz="1400" dirty="0"/>
              <a:t>For time steps near the beginning or end of the cycle, the windows expand over the actual cycle and continue at the adjacent parts at the end or beginning.</a:t>
            </a:r>
            <a:br>
              <a:rPr lang="en-US" sz="1400" dirty="0"/>
            </a:br>
            <a:endParaRPr lang="en-US" sz="1400" dirty="0"/>
          </a:p>
        </p:txBody>
      </p:sp>
      <p:sp>
        <p:nvSpPr>
          <p:cNvPr id="4" name="Foliennummernplatzhalter 3"/>
          <p:cNvSpPr>
            <a:spLocks noGrp="1"/>
          </p:cNvSpPr>
          <p:nvPr>
            <p:ph type="sldNum" sz="quarter" idx="12"/>
          </p:nvPr>
        </p:nvSpPr>
        <p:spPr/>
        <p:txBody>
          <a:bodyPr/>
          <a:lstStyle/>
          <a:p>
            <a:fld id="{4B64EC4D-37E3-EF42-B9AB-6337577588CB}" type="slidenum">
              <a:rPr lang="de-DE" smtClean="0"/>
              <a:t>11</a:t>
            </a:fld>
            <a:endParaRPr lang="de-DE"/>
          </a:p>
        </p:txBody>
      </p:sp>
      <p:sp>
        <p:nvSpPr>
          <p:cNvPr id="5" name="Titel 4"/>
          <p:cNvSpPr>
            <a:spLocks noGrp="1"/>
          </p:cNvSpPr>
          <p:nvPr>
            <p:ph type="title"/>
          </p:nvPr>
        </p:nvSpPr>
        <p:spPr/>
        <p:txBody>
          <a:bodyPr/>
          <a:lstStyle/>
          <a:p>
            <a:r>
              <a:rPr lang="en-GB" dirty="0"/>
              <a:t>Fuel cell hybrid vehicles (FCHV) – Op. strategy (4/5)</a:t>
            </a:r>
          </a:p>
        </p:txBody>
      </p:sp>
      <p:sp>
        <p:nvSpPr>
          <p:cNvPr id="42" name="Textfeld 41"/>
          <p:cNvSpPr txBox="1"/>
          <p:nvPr/>
        </p:nvSpPr>
        <p:spPr>
          <a:xfrm>
            <a:off x="8098961" y="5230442"/>
            <a:ext cx="526268" cy="261610"/>
          </a:xfrm>
          <a:prstGeom prst="rect">
            <a:avLst/>
          </a:prstGeom>
          <a:noFill/>
        </p:spPr>
        <p:txBody>
          <a:bodyPr wrap="square" rtlCol="0">
            <a:spAutoFit/>
          </a:bodyPr>
          <a:lstStyle/>
          <a:p>
            <a:r>
              <a:rPr lang="de-AT" sz="1100" dirty="0"/>
              <a:t>time</a:t>
            </a:r>
          </a:p>
        </p:txBody>
      </p:sp>
      <p:pic>
        <p:nvPicPr>
          <p:cNvPr id="43" name="Grafik 42"/>
          <p:cNvPicPr>
            <a:picLocks noChangeAspect="1"/>
          </p:cNvPicPr>
          <p:nvPr/>
        </p:nvPicPr>
        <p:blipFill rotWithShape="1">
          <a:blip r:embed="rId2"/>
          <a:srcRect l="7446" t="8895" r="23873" b="8542"/>
          <a:stretch/>
        </p:blipFill>
        <p:spPr>
          <a:xfrm>
            <a:off x="3148430" y="4045230"/>
            <a:ext cx="2326598" cy="1435019"/>
          </a:xfrm>
          <a:prstGeom prst="rect">
            <a:avLst/>
          </a:prstGeom>
        </p:spPr>
      </p:pic>
      <p:pic>
        <p:nvPicPr>
          <p:cNvPr id="44" name="Grafik 43"/>
          <p:cNvPicPr>
            <a:picLocks noChangeAspect="1"/>
          </p:cNvPicPr>
          <p:nvPr/>
        </p:nvPicPr>
        <p:blipFill rotWithShape="1">
          <a:blip r:embed="rId2"/>
          <a:srcRect l="7446" t="8895" r="23873" b="8542"/>
          <a:stretch/>
        </p:blipFill>
        <p:spPr>
          <a:xfrm>
            <a:off x="5475028" y="4045230"/>
            <a:ext cx="2326598" cy="1435019"/>
          </a:xfrm>
          <a:prstGeom prst="rect">
            <a:avLst/>
          </a:prstGeom>
        </p:spPr>
      </p:pic>
      <p:pic>
        <p:nvPicPr>
          <p:cNvPr id="45" name="Grafik 44"/>
          <p:cNvPicPr>
            <a:picLocks noChangeAspect="1"/>
          </p:cNvPicPr>
          <p:nvPr/>
        </p:nvPicPr>
        <p:blipFill rotWithShape="1">
          <a:blip r:embed="rId2"/>
          <a:srcRect l="7446" t="8895" r="23873" b="8542"/>
          <a:stretch/>
        </p:blipFill>
        <p:spPr>
          <a:xfrm>
            <a:off x="821832" y="4045230"/>
            <a:ext cx="2326598" cy="1435019"/>
          </a:xfrm>
          <a:prstGeom prst="rect">
            <a:avLst/>
          </a:prstGeom>
        </p:spPr>
      </p:pic>
      <p:cxnSp>
        <p:nvCxnSpPr>
          <p:cNvPr id="46" name="Gerade Verbindung mit Pfeil 45"/>
          <p:cNvCxnSpPr/>
          <p:nvPr/>
        </p:nvCxnSpPr>
        <p:spPr>
          <a:xfrm>
            <a:off x="802163" y="5361247"/>
            <a:ext cx="72967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Gerade Verbindung mit Pfeil 46"/>
          <p:cNvCxnSpPr/>
          <p:nvPr/>
        </p:nvCxnSpPr>
        <p:spPr>
          <a:xfrm flipV="1">
            <a:off x="813522" y="3645886"/>
            <a:ext cx="0" cy="17153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Gerader Verbinder 47"/>
          <p:cNvCxnSpPr/>
          <p:nvPr/>
        </p:nvCxnSpPr>
        <p:spPr>
          <a:xfrm>
            <a:off x="3148430" y="3947056"/>
            <a:ext cx="0" cy="1620000"/>
          </a:xfrm>
          <a:prstGeom prst="line">
            <a:avLst/>
          </a:prstGeom>
          <a:ln w="28575">
            <a:solidFill>
              <a:srgbClr val="FF0000"/>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49" name="Gerader Verbinder 48"/>
          <p:cNvCxnSpPr/>
          <p:nvPr/>
        </p:nvCxnSpPr>
        <p:spPr>
          <a:xfrm>
            <a:off x="5475028" y="5298781"/>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0" name="Gerader Verbinder 49"/>
          <p:cNvCxnSpPr/>
          <p:nvPr/>
        </p:nvCxnSpPr>
        <p:spPr>
          <a:xfrm>
            <a:off x="7801626" y="5298781"/>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1" name="Gerader Verbinder 50"/>
          <p:cNvCxnSpPr/>
          <p:nvPr/>
        </p:nvCxnSpPr>
        <p:spPr>
          <a:xfrm>
            <a:off x="821832" y="5298781"/>
            <a:ext cx="0" cy="259866"/>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2" name="Pfeil nach links und rechts 51"/>
          <p:cNvSpPr/>
          <p:nvPr/>
        </p:nvSpPr>
        <p:spPr>
          <a:xfrm>
            <a:off x="821833" y="5440489"/>
            <a:ext cx="2326597" cy="264114"/>
          </a:xfrm>
          <a:prstGeom prst="leftRightArrow">
            <a:avLst>
              <a:gd name="adj1" fmla="val 64382"/>
              <a:gd name="adj2" fmla="val 50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200" dirty="0" err="1"/>
              <a:t>previous</a:t>
            </a:r>
            <a:r>
              <a:rPr lang="de-DE" sz="1200" dirty="0"/>
              <a:t> </a:t>
            </a:r>
            <a:r>
              <a:rPr lang="de-DE" sz="1200" dirty="0" err="1"/>
              <a:t>copy</a:t>
            </a:r>
            <a:r>
              <a:rPr lang="de-DE" sz="1200" dirty="0"/>
              <a:t> </a:t>
            </a:r>
            <a:r>
              <a:rPr lang="de-DE" sz="1200" dirty="0" err="1"/>
              <a:t>of</a:t>
            </a:r>
            <a:r>
              <a:rPr lang="de-DE" sz="1200" dirty="0"/>
              <a:t> </a:t>
            </a:r>
            <a:r>
              <a:rPr lang="de-DE" sz="1200" dirty="0" err="1"/>
              <a:t>cycle</a:t>
            </a:r>
            <a:endParaRPr lang="de-AT" sz="1200" dirty="0"/>
          </a:p>
        </p:txBody>
      </p:sp>
      <p:sp>
        <p:nvSpPr>
          <p:cNvPr id="53" name="Pfeil nach links und rechts 52"/>
          <p:cNvSpPr/>
          <p:nvPr/>
        </p:nvSpPr>
        <p:spPr>
          <a:xfrm>
            <a:off x="3148432" y="5440489"/>
            <a:ext cx="2326597" cy="264114"/>
          </a:xfrm>
          <a:prstGeom prst="leftRightArrow">
            <a:avLst>
              <a:gd name="adj1" fmla="val 64382"/>
              <a:gd name="adj2" fmla="val 50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200" dirty="0" err="1"/>
              <a:t>actual</a:t>
            </a:r>
            <a:r>
              <a:rPr lang="de-DE" sz="1200" dirty="0"/>
              <a:t> </a:t>
            </a:r>
            <a:r>
              <a:rPr lang="de-DE" sz="1200" dirty="0" err="1"/>
              <a:t>cycle</a:t>
            </a:r>
            <a:endParaRPr lang="de-AT" sz="1200" dirty="0"/>
          </a:p>
        </p:txBody>
      </p:sp>
      <p:sp>
        <p:nvSpPr>
          <p:cNvPr id="54" name="Pfeil nach links und rechts 53"/>
          <p:cNvSpPr/>
          <p:nvPr/>
        </p:nvSpPr>
        <p:spPr>
          <a:xfrm>
            <a:off x="5475030" y="5440489"/>
            <a:ext cx="2326597" cy="264114"/>
          </a:xfrm>
          <a:prstGeom prst="leftRightArrow">
            <a:avLst>
              <a:gd name="adj1" fmla="val 64382"/>
              <a:gd name="adj2" fmla="val 50000"/>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200" dirty="0"/>
              <a:t>subsequent </a:t>
            </a:r>
            <a:r>
              <a:rPr lang="de-DE" sz="1200" dirty="0" err="1"/>
              <a:t>copy</a:t>
            </a:r>
            <a:r>
              <a:rPr lang="de-DE" sz="1200" dirty="0"/>
              <a:t> </a:t>
            </a:r>
            <a:r>
              <a:rPr lang="de-DE" sz="1200" dirty="0" err="1"/>
              <a:t>of</a:t>
            </a:r>
            <a:r>
              <a:rPr lang="de-DE" sz="1200" dirty="0"/>
              <a:t> </a:t>
            </a:r>
            <a:r>
              <a:rPr lang="de-DE" sz="1200" dirty="0" err="1"/>
              <a:t>cycle</a:t>
            </a:r>
            <a:endParaRPr lang="de-AT" sz="1200" dirty="0"/>
          </a:p>
        </p:txBody>
      </p:sp>
      <p:sp>
        <p:nvSpPr>
          <p:cNvPr id="55" name="Textfeld 54"/>
          <p:cNvSpPr txBox="1"/>
          <p:nvPr/>
        </p:nvSpPr>
        <p:spPr>
          <a:xfrm>
            <a:off x="528049" y="3369125"/>
            <a:ext cx="564847" cy="261610"/>
          </a:xfrm>
          <a:prstGeom prst="rect">
            <a:avLst/>
          </a:prstGeom>
          <a:noFill/>
        </p:spPr>
        <p:txBody>
          <a:bodyPr wrap="square" rtlCol="0">
            <a:spAutoFit/>
          </a:bodyPr>
          <a:lstStyle/>
          <a:p>
            <a:pPr algn="ctr"/>
            <a:r>
              <a:rPr lang="de-AT" sz="1100" dirty="0" err="1"/>
              <a:t>speed</a:t>
            </a:r>
            <a:endParaRPr lang="de-AT" sz="1100" dirty="0"/>
          </a:p>
        </p:txBody>
      </p:sp>
      <p:sp>
        <p:nvSpPr>
          <p:cNvPr id="56" name="Rechteck 55"/>
          <p:cNvSpPr/>
          <p:nvPr/>
        </p:nvSpPr>
        <p:spPr>
          <a:xfrm>
            <a:off x="3859786" y="3954130"/>
            <a:ext cx="828000" cy="1394417"/>
          </a:xfrm>
          <a:prstGeom prst="rect">
            <a:avLst/>
          </a:prstGeom>
          <a:solidFill>
            <a:schemeClr val="accent4">
              <a:alpha val="30000"/>
            </a:schemeClr>
          </a:solidFill>
          <a:ln>
            <a:solidFill>
              <a:schemeClr val="accent4">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57" name="Rechteck 56"/>
          <p:cNvSpPr/>
          <p:nvPr/>
        </p:nvSpPr>
        <p:spPr>
          <a:xfrm>
            <a:off x="5040649" y="3954130"/>
            <a:ext cx="828000" cy="1394417"/>
          </a:xfrm>
          <a:prstGeom prst="rect">
            <a:avLst/>
          </a:prstGeom>
          <a:solidFill>
            <a:schemeClr val="accent2">
              <a:lumMod val="40000"/>
              <a:lumOff val="60000"/>
              <a:alpha val="30000"/>
            </a:schemeClr>
          </a:solid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58" name="Rechteck 57"/>
          <p:cNvSpPr/>
          <p:nvPr/>
        </p:nvSpPr>
        <p:spPr>
          <a:xfrm>
            <a:off x="2742739" y="3954130"/>
            <a:ext cx="828000" cy="1394417"/>
          </a:xfrm>
          <a:prstGeom prst="rect">
            <a:avLst/>
          </a:prstGeom>
          <a:solidFill>
            <a:schemeClr val="accent1">
              <a:lumMod val="40000"/>
              <a:lumOff val="60000"/>
              <a:alpha val="3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59" name="Textfeld 58"/>
          <p:cNvSpPr txBox="1"/>
          <p:nvPr/>
        </p:nvSpPr>
        <p:spPr>
          <a:xfrm>
            <a:off x="2218300" y="3498145"/>
            <a:ext cx="1442594" cy="461665"/>
          </a:xfrm>
          <a:prstGeom prst="rect">
            <a:avLst/>
          </a:prstGeom>
          <a:noFill/>
        </p:spPr>
        <p:txBody>
          <a:bodyPr wrap="square" rtlCol="0">
            <a:spAutoFit/>
          </a:bodyPr>
          <a:lstStyle/>
          <a:p>
            <a:pPr algn="r"/>
            <a:r>
              <a:rPr lang="de-DE" sz="1200" dirty="0" err="1">
                <a:solidFill>
                  <a:schemeClr val="accent1"/>
                </a:solidFill>
              </a:rPr>
              <a:t>window</a:t>
            </a:r>
            <a:r>
              <a:rPr lang="de-DE" sz="1200" dirty="0">
                <a:solidFill>
                  <a:schemeClr val="accent1"/>
                </a:solidFill>
              </a:rPr>
              <a:t> at </a:t>
            </a:r>
            <a:r>
              <a:rPr lang="de-DE" sz="1200" dirty="0" err="1">
                <a:solidFill>
                  <a:schemeClr val="accent1"/>
                </a:solidFill>
              </a:rPr>
              <a:t>beginning</a:t>
            </a:r>
            <a:r>
              <a:rPr lang="de-DE" sz="1200" dirty="0">
                <a:solidFill>
                  <a:schemeClr val="accent1"/>
                </a:solidFill>
              </a:rPr>
              <a:t> </a:t>
            </a:r>
            <a:r>
              <a:rPr lang="de-DE" sz="1200" dirty="0" err="1">
                <a:solidFill>
                  <a:schemeClr val="accent1"/>
                </a:solidFill>
              </a:rPr>
              <a:t>of</a:t>
            </a:r>
            <a:r>
              <a:rPr lang="de-DE" sz="1200" dirty="0">
                <a:solidFill>
                  <a:schemeClr val="accent1"/>
                </a:solidFill>
              </a:rPr>
              <a:t> </a:t>
            </a:r>
            <a:r>
              <a:rPr lang="de-DE" sz="1200" dirty="0" err="1">
                <a:solidFill>
                  <a:schemeClr val="accent1"/>
                </a:solidFill>
              </a:rPr>
              <a:t>cycle</a:t>
            </a:r>
            <a:endParaRPr lang="de-AT" sz="1200" dirty="0">
              <a:solidFill>
                <a:schemeClr val="accent1"/>
              </a:solidFill>
            </a:endParaRPr>
          </a:p>
        </p:txBody>
      </p:sp>
      <p:sp>
        <p:nvSpPr>
          <p:cNvPr id="60" name="Textfeld 59"/>
          <p:cNvSpPr txBox="1"/>
          <p:nvPr/>
        </p:nvSpPr>
        <p:spPr>
          <a:xfrm>
            <a:off x="3660895" y="3498145"/>
            <a:ext cx="1225783" cy="461665"/>
          </a:xfrm>
          <a:prstGeom prst="rect">
            <a:avLst/>
          </a:prstGeom>
          <a:noFill/>
        </p:spPr>
        <p:txBody>
          <a:bodyPr wrap="square" rtlCol="0">
            <a:spAutoFit/>
          </a:bodyPr>
          <a:lstStyle/>
          <a:p>
            <a:pPr algn="ctr"/>
            <a:r>
              <a:rPr lang="de-DE" sz="1200" dirty="0" err="1">
                <a:solidFill>
                  <a:schemeClr val="accent4"/>
                </a:solidFill>
              </a:rPr>
              <a:t>window</a:t>
            </a:r>
            <a:r>
              <a:rPr lang="de-DE" sz="1200" dirty="0">
                <a:solidFill>
                  <a:schemeClr val="accent4"/>
                </a:solidFill>
              </a:rPr>
              <a:t> in </a:t>
            </a:r>
            <a:r>
              <a:rPr lang="de-DE" sz="1200" dirty="0" err="1">
                <a:solidFill>
                  <a:schemeClr val="accent4"/>
                </a:solidFill>
              </a:rPr>
              <a:t>the</a:t>
            </a:r>
            <a:r>
              <a:rPr lang="de-DE" sz="1200" dirty="0">
                <a:solidFill>
                  <a:schemeClr val="accent4"/>
                </a:solidFill>
              </a:rPr>
              <a:t> </a:t>
            </a:r>
            <a:r>
              <a:rPr lang="de-DE" sz="1200" dirty="0" err="1">
                <a:solidFill>
                  <a:schemeClr val="accent4"/>
                </a:solidFill>
              </a:rPr>
              <a:t>middle</a:t>
            </a:r>
            <a:r>
              <a:rPr lang="de-DE" sz="1200" dirty="0">
                <a:solidFill>
                  <a:schemeClr val="accent4"/>
                </a:solidFill>
              </a:rPr>
              <a:t> </a:t>
            </a:r>
            <a:r>
              <a:rPr lang="de-DE" sz="1200" dirty="0" err="1">
                <a:solidFill>
                  <a:schemeClr val="accent4"/>
                </a:solidFill>
              </a:rPr>
              <a:t>of</a:t>
            </a:r>
            <a:r>
              <a:rPr lang="de-DE" sz="1200" dirty="0">
                <a:solidFill>
                  <a:schemeClr val="accent4"/>
                </a:solidFill>
              </a:rPr>
              <a:t> </a:t>
            </a:r>
            <a:r>
              <a:rPr lang="de-DE" sz="1200" dirty="0" err="1">
                <a:solidFill>
                  <a:schemeClr val="accent4"/>
                </a:solidFill>
              </a:rPr>
              <a:t>cycle</a:t>
            </a:r>
            <a:endParaRPr lang="de-AT" sz="1200" dirty="0">
              <a:solidFill>
                <a:schemeClr val="accent4"/>
              </a:solidFill>
            </a:endParaRPr>
          </a:p>
        </p:txBody>
      </p:sp>
      <p:sp>
        <p:nvSpPr>
          <p:cNvPr id="61" name="Textfeld 60"/>
          <p:cNvSpPr txBox="1"/>
          <p:nvPr/>
        </p:nvSpPr>
        <p:spPr>
          <a:xfrm>
            <a:off x="4976832" y="3498145"/>
            <a:ext cx="1174066" cy="461665"/>
          </a:xfrm>
          <a:prstGeom prst="rect">
            <a:avLst/>
          </a:prstGeom>
          <a:noFill/>
        </p:spPr>
        <p:txBody>
          <a:bodyPr wrap="square" rtlCol="0">
            <a:spAutoFit/>
          </a:bodyPr>
          <a:lstStyle/>
          <a:p>
            <a:r>
              <a:rPr lang="de-DE" sz="1200" dirty="0" err="1">
                <a:solidFill>
                  <a:schemeClr val="accent2"/>
                </a:solidFill>
              </a:rPr>
              <a:t>window</a:t>
            </a:r>
            <a:r>
              <a:rPr lang="de-DE" sz="1200" dirty="0">
                <a:solidFill>
                  <a:schemeClr val="accent2"/>
                </a:solidFill>
              </a:rPr>
              <a:t> at end</a:t>
            </a:r>
            <a:br>
              <a:rPr lang="de-DE" sz="1200" dirty="0">
                <a:solidFill>
                  <a:schemeClr val="accent2"/>
                </a:solidFill>
              </a:rPr>
            </a:br>
            <a:r>
              <a:rPr lang="de-DE" sz="1200" dirty="0" err="1">
                <a:solidFill>
                  <a:schemeClr val="accent2"/>
                </a:solidFill>
              </a:rPr>
              <a:t>of</a:t>
            </a:r>
            <a:r>
              <a:rPr lang="de-DE" sz="1200" dirty="0">
                <a:solidFill>
                  <a:schemeClr val="accent2"/>
                </a:solidFill>
              </a:rPr>
              <a:t> </a:t>
            </a:r>
            <a:r>
              <a:rPr lang="de-DE" sz="1200" dirty="0" err="1">
                <a:solidFill>
                  <a:schemeClr val="accent2"/>
                </a:solidFill>
              </a:rPr>
              <a:t>cycle</a:t>
            </a:r>
            <a:endParaRPr lang="de-AT" sz="1200" dirty="0">
              <a:solidFill>
                <a:schemeClr val="accent2"/>
              </a:solidFill>
            </a:endParaRPr>
          </a:p>
        </p:txBody>
      </p:sp>
      <p:cxnSp>
        <p:nvCxnSpPr>
          <p:cNvPr id="62" name="Gerader Verbinder 61"/>
          <p:cNvCxnSpPr/>
          <p:nvPr/>
        </p:nvCxnSpPr>
        <p:spPr>
          <a:xfrm>
            <a:off x="5475028" y="3947056"/>
            <a:ext cx="0" cy="1620000"/>
          </a:xfrm>
          <a:prstGeom prst="line">
            <a:avLst/>
          </a:prstGeom>
          <a:ln w="28575">
            <a:solidFill>
              <a:srgbClr val="FF0000"/>
            </a:solidFill>
            <a:prstDash val="sysDash"/>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4219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4" y="2137413"/>
            <a:ext cx="8521646" cy="1140652"/>
          </a:xfrm>
        </p:spPr>
        <p:txBody>
          <a:bodyPr>
            <a:normAutofit fontScale="70000" lnSpcReduction="20000"/>
          </a:bodyPr>
          <a:lstStyle/>
          <a:p>
            <a:pPr>
              <a:spcBef>
                <a:spcPts val="600"/>
              </a:spcBef>
            </a:pPr>
            <a:r>
              <a:rPr lang="en-US" sz="1600" b="1" dirty="0"/>
              <a:t>Actual simulation run as FCHV and applicable boundary conditions</a:t>
            </a:r>
          </a:p>
          <a:p>
            <a:pPr lvl="1">
              <a:spcBef>
                <a:spcPts val="600"/>
              </a:spcBef>
            </a:pPr>
            <a:r>
              <a:rPr lang="en-US" sz="1600" dirty="0"/>
              <a:t>In case average power demand over total cycle is higher than FCS maximum power:</a:t>
            </a:r>
            <a:br>
              <a:rPr lang="en-US" sz="1600" dirty="0"/>
            </a:br>
            <a:r>
              <a:rPr lang="en-US" sz="1600" dirty="0">
                <a:sym typeface="Wingdings" panose="05000000000000000000" pitchFamily="2" charset="2"/>
              </a:rPr>
              <a:t> defined error message and simulation is aborted</a:t>
            </a:r>
            <a:br>
              <a:rPr lang="en-US" sz="1600" dirty="0">
                <a:sym typeface="Wingdings" panose="05000000000000000000" pitchFamily="2" charset="2"/>
              </a:rPr>
            </a:br>
            <a:r>
              <a:rPr lang="en-US" sz="1600" dirty="0">
                <a:sym typeface="Wingdings" panose="05000000000000000000" pitchFamily="2" charset="2"/>
              </a:rPr>
              <a:t>(vehicle configuration not reasonable for this mission, should not occur in practice)</a:t>
            </a:r>
            <a:br>
              <a:rPr lang="en-US" sz="1600" dirty="0"/>
            </a:br>
            <a:endParaRPr lang="en-US" sz="1600" dirty="0"/>
          </a:p>
          <a:p>
            <a:pPr lvl="1">
              <a:spcBef>
                <a:spcPts val="600"/>
              </a:spcBef>
            </a:pPr>
            <a:r>
              <a:rPr lang="en-US" sz="1600" dirty="0"/>
              <a:t>In case average power in a certain </a:t>
            </a:r>
            <a:r>
              <a:rPr lang="en-US" sz="1600" dirty="0" err="1"/>
              <a:t>timestep</a:t>
            </a:r>
            <a:r>
              <a:rPr lang="en-US" sz="1600" dirty="0"/>
              <a:t> is lower than FCS minimum power:</a:t>
            </a:r>
            <a:br>
              <a:rPr lang="en-US" sz="1600" dirty="0"/>
            </a:br>
            <a:r>
              <a:rPr lang="en-US" sz="1600" dirty="0">
                <a:sym typeface="Wingdings" panose="05000000000000000000" pitchFamily="2" charset="2"/>
              </a:rPr>
              <a:t> FCS is switched off</a:t>
            </a:r>
            <a:br>
              <a:rPr lang="en-US" sz="1600" dirty="0">
                <a:sym typeface="Wingdings" panose="05000000000000000000" pitchFamily="2" charset="2"/>
              </a:rPr>
            </a:br>
            <a:r>
              <a:rPr lang="en-US" sz="1600" dirty="0">
                <a:sym typeface="Wingdings" panose="05000000000000000000" pitchFamily="2" charset="2"/>
              </a:rPr>
              <a:t> missing energy from FCS for those </a:t>
            </a:r>
            <a:r>
              <a:rPr lang="en-US" sz="1600" dirty="0" err="1">
                <a:sym typeface="Wingdings" panose="05000000000000000000" pitchFamily="2" charset="2"/>
              </a:rPr>
              <a:t>timesteps</a:t>
            </a:r>
            <a:r>
              <a:rPr lang="en-US" sz="1600" dirty="0">
                <a:sym typeface="Wingdings" panose="05000000000000000000" pitchFamily="2" charset="2"/>
              </a:rPr>
              <a:t> will be accounted for in post-processing via </a:t>
            </a:r>
            <a:r>
              <a:rPr lang="el-GR" sz="1600" dirty="0"/>
              <a:t>Δ</a:t>
            </a:r>
            <a:r>
              <a:rPr lang="en-GB" sz="1600" dirty="0"/>
              <a:t>SOC correction </a:t>
            </a:r>
            <a:endParaRPr lang="en-US" sz="1600" dirty="0"/>
          </a:p>
          <a:p>
            <a:endParaRPr lang="en-GB"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12</a:t>
            </a:fld>
            <a:endParaRPr lang="de-DE"/>
          </a:p>
        </p:txBody>
      </p:sp>
      <p:sp>
        <p:nvSpPr>
          <p:cNvPr id="5" name="Titel 4"/>
          <p:cNvSpPr>
            <a:spLocks noGrp="1"/>
          </p:cNvSpPr>
          <p:nvPr>
            <p:ph type="title"/>
          </p:nvPr>
        </p:nvSpPr>
        <p:spPr/>
        <p:txBody>
          <a:bodyPr/>
          <a:lstStyle/>
          <a:p>
            <a:r>
              <a:rPr lang="en-GB" dirty="0"/>
              <a:t>Fuel cell hybrid vehicles (FCHV) – Op. strategy (5/5)</a:t>
            </a:r>
          </a:p>
        </p:txBody>
      </p:sp>
    </p:spTree>
    <p:extLst>
      <p:ext uri="{BB962C8B-B14F-4D97-AF65-F5344CB8AC3E}">
        <p14:creationId xmlns:p14="http://schemas.microsoft.com/office/powerpoint/2010/main" val="3653800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5" y="2137413"/>
            <a:ext cx="8394645" cy="2072638"/>
          </a:xfrm>
        </p:spPr>
        <p:txBody>
          <a:bodyPr/>
          <a:lstStyle/>
          <a:p>
            <a:pPr>
              <a:spcBef>
                <a:spcPts val="1200"/>
              </a:spcBef>
            </a:pPr>
            <a:r>
              <a:rPr lang="en-US" sz="1800" dirty="0"/>
              <a:t>New powertrain type of FCHV added</a:t>
            </a:r>
            <a:r>
              <a:rPr lang="en-GB" sz="1800" dirty="0"/>
              <a:t> to Job Editor</a:t>
            </a:r>
            <a:endParaRPr lang="en-US"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13</a:t>
            </a:fld>
            <a:endParaRPr lang="de-DE"/>
          </a:p>
        </p:txBody>
      </p:sp>
      <p:sp>
        <p:nvSpPr>
          <p:cNvPr id="5" name="Titel 4"/>
          <p:cNvSpPr>
            <a:spLocks noGrp="1"/>
          </p:cNvSpPr>
          <p:nvPr>
            <p:ph type="title"/>
          </p:nvPr>
        </p:nvSpPr>
        <p:spPr/>
        <p:txBody>
          <a:bodyPr/>
          <a:lstStyle/>
          <a:p>
            <a:r>
              <a:rPr lang="en-GB" dirty="0"/>
              <a:t>Fuel cell hybrid vehicles (FCHV) – VECTO features (1/5)</a:t>
            </a:r>
          </a:p>
        </p:txBody>
      </p:sp>
      <p:pic>
        <p:nvPicPr>
          <p:cNvPr id="2" name="Grafik 1"/>
          <p:cNvPicPr>
            <a:picLocks noChangeAspect="1"/>
          </p:cNvPicPr>
          <p:nvPr/>
        </p:nvPicPr>
        <p:blipFill rotWithShape="1">
          <a:blip r:embed="rId2"/>
          <a:srcRect b="36433"/>
          <a:stretch/>
        </p:blipFill>
        <p:spPr>
          <a:xfrm>
            <a:off x="622354" y="2639658"/>
            <a:ext cx="8377736" cy="3217485"/>
          </a:xfrm>
          <a:prstGeom prst="rect">
            <a:avLst/>
          </a:prstGeom>
        </p:spPr>
      </p:pic>
      <p:sp>
        <p:nvSpPr>
          <p:cNvPr id="7" name="Rechteck 6"/>
          <p:cNvSpPr/>
          <p:nvPr/>
        </p:nvSpPr>
        <p:spPr>
          <a:xfrm>
            <a:off x="885090" y="3746456"/>
            <a:ext cx="931986" cy="180000"/>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821949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5" y="2137413"/>
            <a:ext cx="8394645" cy="2072638"/>
          </a:xfrm>
        </p:spPr>
        <p:txBody>
          <a:bodyPr/>
          <a:lstStyle/>
          <a:p>
            <a:pPr>
              <a:spcBef>
                <a:spcPts val="1200"/>
              </a:spcBef>
            </a:pPr>
            <a:r>
              <a:rPr lang="en-US" sz="1800" dirty="0"/>
              <a:t>FCS to be parameterized </a:t>
            </a:r>
            <a:r>
              <a:rPr lang="de-AT" sz="1800" dirty="0"/>
              <a:t>via </a:t>
            </a:r>
            <a:r>
              <a:rPr lang="de-AT" sz="1800" dirty="0" err="1"/>
              <a:t>specific</a:t>
            </a:r>
            <a:r>
              <a:rPr lang="de-AT" sz="1800" dirty="0"/>
              <a:t> „Fuel </a:t>
            </a:r>
            <a:r>
              <a:rPr lang="de-AT" sz="1800" dirty="0" err="1"/>
              <a:t>Cell</a:t>
            </a:r>
            <a:r>
              <a:rPr lang="de-AT" sz="1800" dirty="0"/>
              <a:t> System“ </a:t>
            </a:r>
            <a:r>
              <a:rPr lang="de-AT" sz="1800" dirty="0" err="1"/>
              <a:t>tab</a:t>
            </a:r>
            <a:r>
              <a:rPr lang="de-AT" sz="1800" dirty="0"/>
              <a:t> in „</a:t>
            </a:r>
            <a:r>
              <a:rPr lang="de-AT" sz="1800" dirty="0" err="1"/>
              <a:t>Vehicle</a:t>
            </a:r>
            <a:r>
              <a:rPr lang="de-AT" sz="1800" dirty="0"/>
              <a:t>“ </a:t>
            </a:r>
            <a:r>
              <a:rPr lang="de-AT" sz="1800" dirty="0" err="1"/>
              <a:t>editor</a:t>
            </a:r>
            <a:endParaRPr lang="en-US"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14</a:t>
            </a:fld>
            <a:endParaRPr lang="de-DE"/>
          </a:p>
        </p:txBody>
      </p:sp>
      <p:sp>
        <p:nvSpPr>
          <p:cNvPr id="5" name="Titel 4"/>
          <p:cNvSpPr>
            <a:spLocks noGrp="1"/>
          </p:cNvSpPr>
          <p:nvPr>
            <p:ph type="title"/>
          </p:nvPr>
        </p:nvSpPr>
        <p:spPr/>
        <p:txBody>
          <a:bodyPr/>
          <a:lstStyle/>
          <a:p>
            <a:r>
              <a:rPr lang="en-GB" dirty="0"/>
              <a:t>Fuel cell hybrid vehicles (FCHV) – VECTO features (2/5)</a:t>
            </a:r>
          </a:p>
        </p:txBody>
      </p:sp>
      <p:pic>
        <p:nvPicPr>
          <p:cNvPr id="3" name="Grafik 2"/>
          <p:cNvPicPr>
            <a:picLocks noChangeAspect="1"/>
          </p:cNvPicPr>
          <p:nvPr/>
        </p:nvPicPr>
        <p:blipFill>
          <a:blip r:embed="rId2"/>
          <a:stretch>
            <a:fillRect/>
          </a:stretch>
        </p:blipFill>
        <p:spPr>
          <a:xfrm>
            <a:off x="622354" y="2522183"/>
            <a:ext cx="4852513" cy="3400862"/>
          </a:xfrm>
          <a:prstGeom prst="rect">
            <a:avLst/>
          </a:prstGeom>
        </p:spPr>
      </p:pic>
      <p:sp>
        <p:nvSpPr>
          <p:cNvPr id="9" name="Ellipse 8"/>
          <p:cNvSpPr/>
          <p:nvPr/>
        </p:nvSpPr>
        <p:spPr bwMode="auto">
          <a:xfrm>
            <a:off x="622354" y="3035315"/>
            <a:ext cx="520294" cy="519351"/>
          </a:xfrm>
          <a:prstGeom prst="ellipse">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spAutoFit/>
          </a:bodyPr>
          <a:lstStyle/>
          <a:p>
            <a:pPr algn="ctr" fontAlgn="base">
              <a:spcBef>
                <a:spcPct val="30000"/>
              </a:spcBef>
              <a:spcAft>
                <a:spcPct val="0"/>
              </a:spcAft>
            </a:pPr>
            <a:endParaRPr lang="de-AT">
              <a:latin typeface="Arial" pitchFamily="34" charset="0"/>
            </a:endParaRPr>
          </a:p>
        </p:txBody>
      </p:sp>
      <p:pic>
        <p:nvPicPr>
          <p:cNvPr id="11" name="Grafik 10"/>
          <p:cNvPicPr>
            <a:picLocks noChangeAspect="1"/>
          </p:cNvPicPr>
          <p:nvPr/>
        </p:nvPicPr>
        <p:blipFill>
          <a:blip r:embed="rId3"/>
          <a:stretch>
            <a:fillRect/>
          </a:stretch>
        </p:blipFill>
        <p:spPr>
          <a:xfrm>
            <a:off x="2988366" y="2522183"/>
            <a:ext cx="3457801" cy="3400862"/>
          </a:xfrm>
          <a:prstGeom prst="rect">
            <a:avLst/>
          </a:prstGeom>
        </p:spPr>
      </p:pic>
      <p:sp>
        <p:nvSpPr>
          <p:cNvPr id="10" name="Ellipse 9"/>
          <p:cNvSpPr/>
          <p:nvPr/>
        </p:nvSpPr>
        <p:spPr bwMode="auto">
          <a:xfrm>
            <a:off x="4237650" y="3368545"/>
            <a:ext cx="648000" cy="519351"/>
          </a:xfrm>
          <a:prstGeom prst="ellipse">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spAutoFit/>
          </a:bodyPr>
          <a:lstStyle/>
          <a:p>
            <a:pPr algn="ctr" fontAlgn="base">
              <a:spcBef>
                <a:spcPct val="30000"/>
              </a:spcBef>
              <a:spcAft>
                <a:spcPct val="0"/>
              </a:spcAft>
            </a:pPr>
            <a:endParaRPr lang="de-AT">
              <a:latin typeface="Arial" pitchFamily="34" charset="0"/>
            </a:endParaRPr>
          </a:p>
        </p:txBody>
      </p:sp>
      <p:sp>
        <p:nvSpPr>
          <p:cNvPr id="12" name="Textfeld 11"/>
          <p:cNvSpPr txBox="1"/>
          <p:nvPr/>
        </p:nvSpPr>
        <p:spPr>
          <a:xfrm>
            <a:off x="6670431" y="2522184"/>
            <a:ext cx="2203938" cy="3323987"/>
          </a:xfrm>
          <a:prstGeom prst="rect">
            <a:avLst/>
          </a:prstGeom>
          <a:noFill/>
        </p:spPr>
        <p:txBody>
          <a:bodyPr wrap="square" rtlCol="0">
            <a:spAutoFit/>
          </a:bodyPr>
          <a:lstStyle/>
          <a:p>
            <a:pPr marL="285750" indent="-285750">
              <a:buFont typeface="Wingdings" panose="05000000000000000000" pitchFamily="2" charset="2"/>
              <a:buChar char="§"/>
            </a:pPr>
            <a:r>
              <a:rPr lang="de-AT" sz="1400" dirty="0"/>
              <a:t>Power </a:t>
            </a:r>
            <a:r>
              <a:rPr lang="de-AT" sz="1400" dirty="0" err="1"/>
              <a:t>gradient</a:t>
            </a:r>
            <a:r>
              <a:rPr lang="de-AT" sz="1400" dirty="0"/>
              <a:t> </a:t>
            </a:r>
            <a:r>
              <a:rPr lang="de-AT" sz="1400" dirty="0" err="1"/>
              <a:t>limits</a:t>
            </a:r>
            <a:r>
              <a:rPr lang="de-AT" sz="1400" dirty="0"/>
              <a:t> </a:t>
            </a:r>
            <a:r>
              <a:rPr lang="de-AT" sz="1400" dirty="0" err="1"/>
              <a:t>change</a:t>
            </a:r>
            <a:r>
              <a:rPr lang="de-AT" sz="1400" dirty="0"/>
              <a:t> in FCS power </a:t>
            </a:r>
            <a:r>
              <a:rPr lang="de-AT" sz="1400" dirty="0" err="1"/>
              <a:t>over</a:t>
            </a:r>
            <a:r>
              <a:rPr lang="de-AT" sz="1400" dirty="0"/>
              <a:t> time</a:t>
            </a:r>
            <a:br>
              <a:rPr lang="de-AT" sz="1400" dirty="0"/>
            </a:br>
            <a:endParaRPr lang="de-AT" sz="1400" dirty="0"/>
          </a:p>
          <a:p>
            <a:pPr marL="285750" indent="-285750">
              <a:buFont typeface="Wingdings" panose="05000000000000000000" pitchFamily="2" charset="2"/>
              <a:buChar char="§"/>
            </a:pPr>
            <a:r>
              <a:rPr lang="de-AT" sz="1400" dirty="0"/>
              <a:t>On/off-Hysteresis </a:t>
            </a:r>
            <a:r>
              <a:rPr lang="de-AT" sz="1400" dirty="0" err="1"/>
              <a:t>is</a:t>
            </a:r>
            <a:r>
              <a:rPr lang="de-AT" sz="1400" dirty="0"/>
              <a:t> </a:t>
            </a:r>
            <a:r>
              <a:rPr lang="de-AT" sz="1400" dirty="0" err="1"/>
              <a:t>minimum</a:t>
            </a:r>
            <a:r>
              <a:rPr lang="de-AT" sz="1400" dirty="0"/>
              <a:t> time </a:t>
            </a:r>
            <a:r>
              <a:rPr lang="de-AT" sz="1400" dirty="0" err="1"/>
              <a:t>that</a:t>
            </a:r>
            <a:r>
              <a:rPr lang="de-AT" sz="1400" dirty="0"/>
              <a:t> FCS </a:t>
            </a:r>
            <a:r>
              <a:rPr lang="de-AT" sz="1400" dirty="0" err="1"/>
              <a:t>stays</a:t>
            </a:r>
            <a:r>
              <a:rPr lang="de-AT" sz="1400" dirty="0"/>
              <a:t> off </a:t>
            </a:r>
            <a:r>
              <a:rPr lang="de-AT" sz="1400" dirty="0" err="1"/>
              <a:t>or</a:t>
            </a:r>
            <a:r>
              <a:rPr lang="de-AT" sz="1400" dirty="0"/>
              <a:t> on after </a:t>
            </a:r>
            <a:r>
              <a:rPr lang="de-AT" sz="1400" dirty="0" err="1"/>
              <a:t>state</a:t>
            </a:r>
            <a:r>
              <a:rPr lang="de-AT" sz="1400" dirty="0"/>
              <a:t> </a:t>
            </a:r>
            <a:r>
              <a:rPr lang="de-AT" sz="1400" dirty="0" err="1"/>
              <a:t>change</a:t>
            </a:r>
            <a:r>
              <a:rPr lang="de-AT" sz="1400" dirty="0"/>
              <a:t> </a:t>
            </a:r>
            <a:r>
              <a:rPr lang="de-AT" sz="1400" dirty="0" err="1"/>
              <a:t>occurs</a:t>
            </a:r>
            <a:br>
              <a:rPr lang="de-AT" sz="1400" dirty="0"/>
            </a:br>
            <a:r>
              <a:rPr lang="de-AT" sz="1400" b="1" i="1" dirty="0">
                <a:solidFill>
                  <a:srgbClr val="FF0000"/>
                </a:solidFill>
                <a:sym typeface="Wingdings" panose="05000000000000000000" pitchFamily="2" charset="2"/>
              </a:rPr>
              <a:t> not </a:t>
            </a:r>
            <a:r>
              <a:rPr lang="de-AT" sz="1400" b="1" i="1" dirty="0" err="1">
                <a:solidFill>
                  <a:srgbClr val="FF0000"/>
                </a:solidFill>
                <a:sym typeface="Wingdings" panose="05000000000000000000" pitchFamily="2" charset="2"/>
              </a:rPr>
              <a:t>required</a:t>
            </a:r>
            <a:r>
              <a:rPr lang="de-AT" sz="1400" b="1" i="1" dirty="0">
                <a:solidFill>
                  <a:srgbClr val="FF0000"/>
                </a:solidFill>
                <a:sym typeface="Wingdings" panose="05000000000000000000" pitchFamily="2" charset="2"/>
              </a:rPr>
              <a:t> </a:t>
            </a:r>
            <a:r>
              <a:rPr lang="de-AT" sz="1400" b="1" i="1" dirty="0" err="1">
                <a:solidFill>
                  <a:srgbClr val="FF0000"/>
                </a:solidFill>
                <a:sym typeface="Wingdings" panose="05000000000000000000" pitchFamily="2" charset="2"/>
              </a:rPr>
              <a:t>anymore</a:t>
            </a:r>
            <a:r>
              <a:rPr lang="de-AT" sz="1400" b="1" i="1" dirty="0">
                <a:solidFill>
                  <a:srgbClr val="FF0000"/>
                </a:solidFill>
                <a:sym typeface="Wingdings" panose="05000000000000000000" pitchFamily="2" charset="2"/>
              </a:rPr>
              <a:t> after </a:t>
            </a:r>
            <a:r>
              <a:rPr lang="de-AT" sz="1400" b="1" i="1" dirty="0" err="1">
                <a:solidFill>
                  <a:srgbClr val="FF0000"/>
                </a:solidFill>
                <a:sym typeface="Wingdings" panose="05000000000000000000" pitchFamily="2" charset="2"/>
              </a:rPr>
              <a:t>insights</a:t>
            </a:r>
            <a:r>
              <a:rPr lang="de-AT" sz="1400" b="1" i="1" dirty="0">
                <a:solidFill>
                  <a:srgbClr val="FF0000"/>
                </a:solidFill>
                <a:sym typeface="Wingdings" panose="05000000000000000000" pitchFamily="2" charset="2"/>
              </a:rPr>
              <a:t> </a:t>
            </a:r>
            <a:r>
              <a:rPr lang="de-AT" sz="1400" b="1" i="1" dirty="0" err="1">
                <a:solidFill>
                  <a:srgbClr val="FF0000"/>
                </a:solidFill>
                <a:sym typeface="Wingdings" panose="05000000000000000000" pitchFamily="2" charset="2"/>
              </a:rPr>
              <a:t>gained</a:t>
            </a:r>
            <a:r>
              <a:rPr lang="de-AT" sz="1400" b="1" i="1" dirty="0">
                <a:solidFill>
                  <a:srgbClr val="FF0000"/>
                </a:solidFill>
                <a:sym typeface="Wingdings" panose="05000000000000000000" pitchFamily="2" charset="2"/>
              </a:rPr>
              <a:t> </a:t>
            </a:r>
            <a:r>
              <a:rPr lang="de-AT" sz="1400" b="1" i="1" dirty="0" err="1">
                <a:solidFill>
                  <a:srgbClr val="FF0000"/>
                </a:solidFill>
                <a:sym typeface="Wingdings" panose="05000000000000000000" pitchFamily="2" charset="2"/>
              </a:rPr>
              <a:t>during</a:t>
            </a:r>
            <a:r>
              <a:rPr lang="de-AT" sz="1400" b="1" i="1" dirty="0">
                <a:solidFill>
                  <a:srgbClr val="FF0000"/>
                </a:solidFill>
                <a:sym typeface="Wingdings" panose="05000000000000000000" pitchFamily="2" charset="2"/>
              </a:rPr>
              <a:t> </a:t>
            </a:r>
            <a:r>
              <a:rPr lang="de-AT" sz="1400" b="1" i="1" dirty="0" err="1">
                <a:solidFill>
                  <a:srgbClr val="FF0000"/>
                </a:solidFill>
                <a:sym typeface="Wingdings" panose="05000000000000000000" pitchFamily="2" charset="2"/>
              </a:rPr>
              <a:t>work</a:t>
            </a:r>
            <a:r>
              <a:rPr lang="de-AT" sz="1400" b="1" i="1" dirty="0">
                <a:solidFill>
                  <a:srgbClr val="FF0000"/>
                </a:solidFill>
                <a:sym typeface="Wingdings" panose="05000000000000000000" pitchFamily="2" charset="2"/>
              </a:rPr>
              <a:t> on </a:t>
            </a:r>
            <a:r>
              <a:rPr lang="de-AT" sz="1400" b="1" i="1" dirty="0" err="1">
                <a:solidFill>
                  <a:srgbClr val="FF0000"/>
                </a:solidFill>
                <a:sym typeface="Wingdings" panose="05000000000000000000" pitchFamily="2" charset="2"/>
              </a:rPr>
              <a:t>implementation</a:t>
            </a:r>
            <a:r>
              <a:rPr lang="de-AT" sz="1400" b="1" i="1" dirty="0">
                <a:solidFill>
                  <a:srgbClr val="FF0000"/>
                </a:solidFill>
                <a:sym typeface="Wingdings" panose="05000000000000000000" pitchFamily="2" charset="2"/>
              </a:rPr>
              <a:t> </a:t>
            </a:r>
            <a:r>
              <a:rPr lang="de-AT" sz="1400" b="1" i="1" dirty="0" err="1">
                <a:solidFill>
                  <a:srgbClr val="FF0000"/>
                </a:solidFill>
                <a:sym typeface="Wingdings" panose="05000000000000000000" pitchFamily="2" charset="2"/>
              </a:rPr>
              <a:t>of</a:t>
            </a:r>
            <a:r>
              <a:rPr lang="de-AT" sz="1400" b="1" i="1" dirty="0">
                <a:solidFill>
                  <a:srgbClr val="FF0000"/>
                </a:solidFill>
                <a:sym typeface="Wingdings" panose="05000000000000000000" pitchFamily="2" charset="2"/>
              </a:rPr>
              <a:t> multiple FCS</a:t>
            </a:r>
            <a:endParaRPr lang="de-AT" sz="1400" b="1" i="1" dirty="0">
              <a:solidFill>
                <a:srgbClr val="FF0000"/>
              </a:solidFill>
            </a:endParaRPr>
          </a:p>
        </p:txBody>
      </p:sp>
      <p:cxnSp>
        <p:nvCxnSpPr>
          <p:cNvPr id="14" name="Gewinkelter Verbinder 13"/>
          <p:cNvCxnSpPr/>
          <p:nvPr/>
        </p:nvCxnSpPr>
        <p:spPr>
          <a:xfrm rot="10800000" flipV="1">
            <a:off x="4736123" y="2662604"/>
            <a:ext cx="1988028" cy="1213337"/>
          </a:xfrm>
          <a:prstGeom prst="bentConnector3">
            <a:avLst>
              <a:gd name="adj1" fmla="val 6533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Gewinkelter Verbinder 14"/>
          <p:cNvCxnSpPr/>
          <p:nvPr/>
        </p:nvCxnSpPr>
        <p:spPr>
          <a:xfrm rot="10800000" flipV="1">
            <a:off x="4736125" y="3521877"/>
            <a:ext cx="2004651" cy="52404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Gerader Verbinder 7"/>
          <p:cNvCxnSpPr/>
          <p:nvPr/>
        </p:nvCxnSpPr>
        <p:spPr>
          <a:xfrm>
            <a:off x="3095329" y="4015055"/>
            <a:ext cx="1621936" cy="6993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8" name="Gerader Verbinder 17"/>
          <p:cNvCxnSpPr/>
          <p:nvPr/>
        </p:nvCxnSpPr>
        <p:spPr>
          <a:xfrm flipV="1">
            <a:off x="3095329" y="4011269"/>
            <a:ext cx="1621936" cy="549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 name="Gerader Verbinder 19"/>
          <p:cNvCxnSpPr/>
          <p:nvPr/>
        </p:nvCxnSpPr>
        <p:spPr>
          <a:xfrm>
            <a:off x="6988292" y="3447103"/>
            <a:ext cx="1709358" cy="107910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3" name="Gerader Verbinder 22"/>
          <p:cNvCxnSpPr/>
          <p:nvPr/>
        </p:nvCxnSpPr>
        <p:spPr>
          <a:xfrm flipV="1">
            <a:off x="7004916" y="3447104"/>
            <a:ext cx="1616570" cy="99155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3679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5" y="2137413"/>
            <a:ext cx="8394645" cy="2072638"/>
          </a:xfrm>
        </p:spPr>
        <p:txBody>
          <a:bodyPr/>
          <a:lstStyle/>
          <a:p>
            <a:pPr>
              <a:spcBef>
                <a:spcPts val="1200"/>
              </a:spcBef>
            </a:pPr>
            <a:r>
              <a:rPr lang="en-US" sz="1800" dirty="0"/>
              <a:t>FCS to be parameterized </a:t>
            </a:r>
            <a:r>
              <a:rPr lang="de-AT" sz="1800" dirty="0"/>
              <a:t>via </a:t>
            </a:r>
            <a:r>
              <a:rPr lang="de-AT" sz="1800" dirty="0" err="1"/>
              <a:t>specific</a:t>
            </a:r>
            <a:r>
              <a:rPr lang="de-AT" sz="1800" dirty="0"/>
              <a:t> „Fuel </a:t>
            </a:r>
            <a:r>
              <a:rPr lang="de-AT" sz="1800" dirty="0" err="1"/>
              <a:t>Cell</a:t>
            </a:r>
            <a:r>
              <a:rPr lang="de-AT" sz="1800" dirty="0"/>
              <a:t> System“ </a:t>
            </a:r>
            <a:r>
              <a:rPr lang="de-AT" sz="1800" dirty="0" err="1"/>
              <a:t>tab</a:t>
            </a:r>
            <a:r>
              <a:rPr lang="de-AT" sz="1800" dirty="0"/>
              <a:t> in „</a:t>
            </a:r>
            <a:r>
              <a:rPr lang="de-AT" sz="1800" dirty="0" err="1"/>
              <a:t>Vehicle</a:t>
            </a:r>
            <a:r>
              <a:rPr lang="de-AT" sz="1800" dirty="0"/>
              <a:t>“ </a:t>
            </a:r>
            <a:r>
              <a:rPr lang="de-AT" sz="1800" dirty="0" err="1"/>
              <a:t>editor</a:t>
            </a:r>
            <a:endParaRPr lang="en-US"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15</a:t>
            </a:fld>
            <a:endParaRPr lang="de-DE"/>
          </a:p>
        </p:txBody>
      </p:sp>
      <p:sp>
        <p:nvSpPr>
          <p:cNvPr id="5" name="Titel 4"/>
          <p:cNvSpPr>
            <a:spLocks noGrp="1"/>
          </p:cNvSpPr>
          <p:nvPr>
            <p:ph type="title"/>
          </p:nvPr>
        </p:nvSpPr>
        <p:spPr/>
        <p:txBody>
          <a:bodyPr/>
          <a:lstStyle/>
          <a:p>
            <a:r>
              <a:rPr lang="en-GB" dirty="0"/>
              <a:t>Fuel cell hybrid vehicles (FCHV) – VECTO features (3/5)</a:t>
            </a:r>
          </a:p>
        </p:txBody>
      </p:sp>
      <p:pic>
        <p:nvPicPr>
          <p:cNvPr id="7" name="Grafik 6"/>
          <p:cNvPicPr>
            <a:picLocks noChangeAspect="1"/>
          </p:cNvPicPr>
          <p:nvPr/>
        </p:nvPicPr>
        <p:blipFill>
          <a:blip r:embed="rId2"/>
          <a:stretch>
            <a:fillRect/>
          </a:stretch>
        </p:blipFill>
        <p:spPr>
          <a:xfrm>
            <a:off x="5185219" y="2522184"/>
            <a:ext cx="3831780" cy="1806001"/>
          </a:xfrm>
          <a:prstGeom prst="rect">
            <a:avLst/>
          </a:prstGeom>
        </p:spPr>
      </p:pic>
      <p:pic>
        <p:nvPicPr>
          <p:cNvPr id="16" name="Grafik 15"/>
          <p:cNvPicPr>
            <a:picLocks noChangeAspect="1"/>
          </p:cNvPicPr>
          <p:nvPr/>
        </p:nvPicPr>
        <p:blipFill rotWithShape="1">
          <a:blip r:embed="rId3"/>
          <a:srcRect b="27102"/>
          <a:stretch/>
        </p:blipFill>
        <p:spPr>
          <a:xfrm>
            <a:off x="622355" y="2522184"/>
            <a:ext cx="3457801" cy="2479175"/>
          </a:xfrm>
          <a:prstGeom prst="rect">
            <a:avLst/>
          </a:prstGeom>
        </p:spPr>
      </p:pic>
      <p:pic>
        <p:nvPicPr>
          <p:cNvPr id="2" name="Grafik 1"/>
          <p:cNvPicPr>
            <a:picLocks noChangeAspect="1"/>
          </p:cNvPicPr>
          <p:nvPr/>
        </p:nvPicPr>
        <p:blipFill>
          <a:blip r:embed="rId4"/>
          <a:stretch>
            <a:fillRect/>
          </a:stretch>
        </p:blipFill>
        <p:spPr>
          <a:xfrm>
            <a:off x="1124811" y="4647575"/>
            <a:ext cx="3330107" cy="1100483"/>
          </a:xfrm>
          <a:prstGeom prst="rect">
            <a:avLst/>
          </a:prstGeom>
        </p:spPr>
      </p:pic>
      <p:sp>
        <p:nvSpPr>
          <p:cNvPr id="17" name="Rechteck 16"/>
          <p:cNvSpPr/>
          <p:nvPr/>
        </p:nvSpPr>
        <p:spPr>
          <a:xfrm>
            <a:off x="709243" y="4231226"/>
            <a:ext cx="2379788" cy="144000"/>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cxnSp>
        <p:nvCxnSpPr>
          <p:cNvPr id="21" name="Gewinkelter Verbinder 20"/>
          <p:cNvCxnSpPr>
            <a:stCxn id="17" idx="1"/>
            <a:endCxn id="2" idx="1"/>
          </p:cNvCxnSpPr>
          <p:nvPr/>
        </p:nvCxnSpPr>
        <p:spPr>
          <a:xfrm rot="10800000" flipH="1" flipV="1">
            <a:off x="709243" y="4303226"/>
            <a:ext cx="415567" cy="894590"/>
          </a:xfrm>
          <a:prstGeom prst="bentConnector3">
            <a:avLst>
              <a:gd name="adj1" fmla="val -55009"/>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feld 21"/>
          <p:cNvSpPr txBox="1"/>
          <p:nvPr/>
        </p:nvSpPr>
        <p:spPr>
          <a:xfrm rot="16200000">
            <a:off x="-299390" y="4552665"/>
            <a:ext cx="1176078" cy="430887"/>
          </a:xfrm>
          <a:prstGeom prst="rect">
            <a:avLst/>
          </a:prstGeom>
          <a:noFill/>
        </p:spPr>
        <p:txBody>
          <a:bodyPr wrap="square" rtlCol="0">
            <a:spAutoFit/>
          </a:bodyPr>
          <a:lstStyle/>
          <a:p>
            <a:pPr algn="ctr"/>
            <a:r>
              <a:rPr lang="de-AT" sz="1100" b="1" dirty="0">
                <a:solidFill>
                  <a:srgbClr val="FF0000"/>
                </a:solidFill>
              </a:rPr>
              <a:t>Double-</a:t>
            </a:r>
            <a:r>
              <a:rPr lang="de-AT" sz="1100" b="1" dirty="0" err="1">
                <a:solidFill>
                  <a:srgbClr val="FF0000"/>
                </a:solidFill>
              </a:rPr>
              <a:t>click</a:t>
            </a:r>
            <a:r>
              <a:rPr lang="de-AT" sz="1100" b="1" dirty="0">
                <a:solidFill>
                  <a:srgbClr val="FF0000"/>
                </a:solidFill>
              </a:rPr>
              <a:t> </a:t>
            </a:r>
            <a:r>
              <a:rPr lang="de-AT" sz="1100" b="1" dirty="0" err="1">
                <a:solidFill>
                  <a:srgbClr val="FF0000"/>
                </a:solidFill>
              </a:rPr>
              <a:t>or</a:t>
            </a:r>
            <a:r>
              <a:rPr lang="de-AT" sz="1100" b="1" dirty="0">
                <a:solidFill>
                  <a:srgbClr val="FF0000"/>
                </a:solidFill>
              </a:rPr>
              <a:t> „+“</a:t>
            </a:r>
          </a:p>
        </p:txBody>
      </p:sp>
      <p:sp>
        <p:nvSpPr>
          <p:cNvPr id="23" name="Rechteck 22"/>
          <p:cNvSpPr/>
          <p:nvPr/>
        </p:nvSpPr>
        <p:spPr>
          <a:xfrm>
            <a:off x="1168520" y="4852548"/>
            <a:ext cx="720000" cy="180000"/>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cxnSp>
        <p:nvCxnSpPr>
          <p:cNvPr id="25" name="Gewinkelter Verbinder 24"/>
          <p:cNvCxnSpPr>
            <a:stCxn id="23" idx="3"/>
            <a:endCxn id="7" idx="1"/>
          </p:cNvCxnSpPr>
          <p:nvPr/>
        </p:nvCxnSpPr>
        <p:spPr>
          <a:xfrm flipV="1">
            <a:off x="1888521" y="3425184"/>
            <a:ext cx="3296699" cy="1517364"/>
          </a:xfrm>
          <a:prstGeom prst="bentConnector3">
            <a:avLst>
              <a:gd name="adj1" fmla="val 83426"/>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Ellipse 26"/>
          <p:cNvSpPr/>
          <p:nvPr/>
        </p:nvSpPr>
        <p:spPr bwMode="auto">
          <a:xfrm>
            <a:off x="1836822" y="4906262"/>
            <a:ext cx="625025" cy="519351"/>
          </a:xfrm>
          <a:prstGeom prst="ellipse">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spAutoFit/>
          </a:bodyPr>
          <a:lstStyle/>
          <a:p>
            <a:pPr algn="ctr" fontAlgn="base">
              <a:spcBef>
                <a:spcPct val="30000"/>
              </a:spcBef>
              <a:spcAft>
                <a:spcPct val="0"/>
              </a:spcAft>
            </a:pPr>
            <a:endParaRPr lang="de-AT">
              <a:latin typeface="Arial" pitchFamily="34" charset="0"/>
            </a:endParaRPr>
          </a:p>
        </p:txBody>
      </p:sp>
      <p:sp>
        <p:nvSpPr>
          <p:cNvPr id="28" name="Textfeld 27"/>
          <p:cNvSpPr txBox="1"/>
          <p:nvPr/>
        </p:nvSpPr>
        <p:spPr>
          <a:xfrm>
            <a:off x="1561294" y="5253669"/>
            <a:ext cx="1176078" cy="430887"/>
          </a:xfrm>
          <a:prstGeom prst="rect">
            <a:avLst/>
          </a:prstGeom>
          <a:noFill/>
        </p:spPr>
        <p:txBody>
          <a:bodyPr wrap="square" rtlCol="0">
            <a:spAutoFit/>
          </a:bodyPr>
          <a:lstStyle/>
          <a:p>
            <a:pPr algn="ctr"/>
            <a:r>
              <a:rPr lang="de-AT" sz="1100" b="1" dirty="0">
                <a:solidFill>
                  <a:srgbClr val="FF0000"/>
                </a:solidFill>
              </a:rPr>
              <a:t>Limited </a:t>
            </a:r>
            <a:r>
              <a:rPr lang="de-AT" sz="1100" b="1" dirty="0" err="1">
                <a:solidFill>
                  <a:srgbClr val="FF0000"/>
                </a:solidFill>
              </a:rPr>
              <a:t>to</a:t>
            </a:r>
            <a:r>
              <a:rPr lang="de-AT" sz="1100" b="1" dirty="0">
                <a:solidFill>
                  <a:srgbClr val="FF0000"/>
                </a:solidFill>
              </a:rPr>
              <a:t> 1</a:t>
            </a:r>
          </a:p>
          <a:p>
            <a:pPr algn="ctr"/>
            <a:r>
              <a:rPr lang="de-AT" sz="1100" b="1" dirty="0" err="1">
                <a:solidFill>
                  <a:srgbClr val="FF0000"/>
                </a:solidFill>
              </a:rPr>
              <a:t>for</a:t>
            </a:r>
            <a:r>
              <a:rPr lang="de-AT" sz="1100" b="1" dirty="0">
                <a:solidFill>
                  <a:srgbClr val="FF0000"/>
                </a:solidFill>
              </a:rPr>
              <a:t> </a:t>
            </a:r>
            <a:r>
              <a:rPr lang="de-AT" sz="1100" b="1" dirty="0" err="1">
                <a:solidFill>
                  <a:srgbClr val="FF0000"/>
                </a:solidFill>
              </a:rPr>
              <a:t>this</a:t>
            </a:r>
            <a:r>
              <a:rPr lang="de-AT" sz="1100" b="1" dirty="0">
                <a:solidFill>
                  <a:srgbClr val="FF0000"/>
                </a:solidFill>
              </a:rPr>
              <a:t> </a:t>
            </a:r>
            <a:r>
              <a:rPr lang="de-AT" sz="1100" b="1" dirty="0" err="1">
                <a:solidFill>
                  <a:srgbClr val="FF0000"/>
                </a:solidFill>
              </a:rPr>
              <a:t>release</a:t>
            </a:r>
            <a:endParaRPr lang="de-AT" sz="1100" b="1" dirty="0">
              <a:solidFill>
                <a:srgbClr val="FF0000"/>
              </a:solidFill>
            </a:endParaRPr>
          </a:p>
        </p:txBody>
      </p:sp>
      <p:sp>
        <p:nvSpPr>
          <p:cNvPr id="29" name="Textfeld 28"/>
          <p:cNvSpPr txBox="1"/>
          <p:nvPr/>
        </p:nvSpPr>
        <p:spPr>
          <a:xfrm>
            <a:off x="5166928" y="4438655"/>
            <a:ext cx="3850071" cy="1169551"/>
          </a:xfrm>
          <a:prstGeom prst="rect">
            <a:avLst/>
          </a:prstGeom>
          <a:noFill/>
        </p:spPr>
        <p:txBody>
          <a:bodyPr wrap="square" rtlCol="0">
            <a:spAutoFit/>
          </a:bodyPr>
          <a:lstStyle/>
          <a:p>
            <a:pPr marL="285750" indent="-285750">
              <a:buFont typeface="Wingdings" panose="05000000000000000000" pitchFamily="2" charset="2"/>
              <a:buChar char="§"/>
            </a:pPr>
            <a:r>
              <a:rPr lang="en-GB" sz="1400" dirty="0"/>
              <a:t>Max / min power limits operation range of FCS component</a:t>
            </a:r>
            <a:br>
              <a:rPr lang="en-GB" sz="1400" dirty="0"/>
            </a:br>
            <a:endParaRPr lang="en-GB" sz="1400" dirty="0"/>
          </a:p>
          <a:p>
            <a:pPr marL="285750" indent="-285750">
              <a:buFont typeface="Wingdings" panose="05000000000000000000" pitchFamily="2" charset="2"/>
              <a:buChar char="§"/>
            </a:pPr>
            <a:r>
              <a:rPr lang="en-GB" sz="1400" dirty="0"/>
              <a:t>FCS mass flow map needs to cover the indicated range</a:t>
            </a:r>
          </a:p>
        </p:txBody>
      </p:sp>
    </p:spTree>
    <p:extLst>
      <p:ext uri="{BB962C8B-B14F-4D97-AF65-F5344CB8AC3E}">
        <p14:creationId xmlns:p14="http://schemas.microsoft.com/office/powerpoint/2010/main" val="314744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5" y="2137413"/>
            <a:ext cx="8394645" cy="2072638"/>
          </a:xfrm>
        </p:spPr>
        <p:txBody>
          <a:bodyPr/>
          <a:lstStyle/>
          <a:p>
            <a:pPr>
              <a:spcBef>
                <a:spcPts val="1200"/>
              </a:spcBef>
            </a:pPr>
            <a:r>
              <a:rPr lang="en-US" sz="1800" dirty="0"/>
              <a:t>FCS to be parameterized </a:t>
            </a:r>
            <a:r>
              <a:rPr lang="de-AT" sz="1800" dirty="0"/>
              <a:t>via </a:t>
            </a:r>
            <a:r>
              <a:rPr lang="de-AT" sz="1800" dirty="0" err="1"/>
              <a:t>specific</a:t>
            </a:r>
            <a:r>
              <a:rPr lang="de-AT" sz="1800" dirty="0"/>
              <a:t> „Fuel </a:t>
            </a:r>
            <a:r>
              <a:rPr lang="de-AT" sz="1800" dirty="0" err="1"/>
              <a:t>Cell</a:t>
            </a:r>
            <a:r>
              <a:rPr lang="de-AT" sz="1800" dirty="0"/>
              <a:t> System“ </a:t>
            </a:r>
            <a:r>
              <a:rPr lang="de-AT" sz="1800" dirty="0" err="1"/>
              <a:t>tab</a:t>
            </a:r>
            <a:r>
              <a:rPr lang="de-AT" sz="1800" dirty="0"/>
              <a:t> in „</a:t>
            </a:r>
            <a:r>
              <a:rPr lang="de-AT" sz="1800" dirty="0" err="1"/>
              <a:t>Vehicle</a:t>
            </a:r>
            <a:r>
              <a:rPr lang="de-AT" sz="1800" dirty="0"/>
              <a:t>“ </a:t>
            </a:r>
            <a:r>
              <a:rPr lang="de-AT" sz="1800" dirty="0" err="1"/>
              <a:t>editor</a:t>
            </a:r>
            <a:endParaRPr lang="en-US"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16</a:t>
            </a:fld>
            <a:endParaRPr lang="de-DE"/>
          </a:p>
        </p:txBody>
      </p:sp>
      <p:sp>
        <p:nvSpPr>
          <p:cNvPr id="5" name="Titel 4"/>
          <p:cNvSpPr>
            <a:spLocks noGrp="1"/>
          </p:cNvSpPr>
          <p:nvPr>
            <p:ph type="title"/>
          </p:nvPr>
        </p:nvSpPr>
        <p:spPr/>
        <p:txBody>
          <a:bodyPr/>
          <a:lstStyle/>
          <a:p>
            <a:r>
              <a:rPr lang="en-GB" dirty="0"/>
              <a:t>Fuel cell hybrid vehicles (FCHV) – VECTO features (4/5)</a:t>
            </a:r>
          </a:p>
        </p:txBody>
      </p:sp>
      <p:pic>
        <p:nvPicPr>
          <p:cNvPr id="3" name="Grafik 2"/>
          <p:cNvPicPr>
            <a:picLocks noChangeAspect="1"/>
          </p:cNvPicPr>
          <p:nvPr/>
        </p:nvPicPr>
        <p:blipFill>
          <a:blip r:embed="rId2"/>
          <a:stretch>
            <a:fillRect/>
          </a:stretch>
        </p:blipFill>
        <p:spPr>
          <a:xfrm>
            <a:off x="5879123" y="4552485"/>
            <a:ext cx="2267077" cy="1332842"/>
          </a:xfrm>
          <a:prstGeom prst="rect">
            <a:avLst/>
          </a:prstGeom>
        </p:spPr>
      </p:pic>
      <p:pic>
        <p:nvPicPr>
          <p:cNvPr id="18" name="Grafik 17"/>
          <p:cNvPicPr>
            <a:picLocks noChangeAspect="1"/>
          </p:cNvPicPr>
          <p:nvPr/>
        </p:nvPicPr>
        <p:blipFill>
          <a:blip r:embed="rId3"/>
          <a:stretch>
            <a:fillRect/>
          </a:stretch>
        </p:blipFill>
        <p:spPr>
          <a:xfrm>
            <a:off x="622354" y="2632654"/>
            <a:ext cx="3831780" cy="1806001"/>
          </a:xfrm>
          <a:prstGeom prst="rect">
            <a:avLst/>
          </a:prstGeom>
        </p:spPr>
      </p:pic>
      <p:sp>
        <p:nvSpPr>
          <p:cNvPr id="19" name="Rechteck 18"/>
          <p:cNvSpPr/>
          <p:nvPr/>
        </p:nvSpPr>
        <p:spPr>
          <a:xfrm>
            <a:off x="652234" y="3741154"/>
            <a:ext cx="1881790" cy="144000"/>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cxnSp>
        <p:nvCxnSpPr>
          <p:cNvPr id="9" name="Gewinkelter Verbinder 8"/>
          <p:cNvCxnSpPr>
            <a:stCxn id="19" idx="2"/>
            <a:endCxn id="3" idx="1"/>
          </p:cNvCxnSpPr>
          <p:nvPr/>
        </p:nvCxnSpPr>
        <p:spPr>
          <a:xfrm rot="16200000" flipH="1">
            <a:off x="3069249" y="2409034"/>
            <a:ext cx="1333752" cy="428599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feld 25"/>
          <p:cNvSpPr txBox="1"/>
          <p:nvPr/>
        </p:nvSpPr>
        <p:spPr>
          <a:xfrm>
            <a:off x="4642338" y="2697129"/>
            <a:ext cx="4501662" cy="1815882"/>
          </a:xfrm>
          <a:prstGeom prst="rect">
            <a:avLst/>
          </a:prstGeom>
          <a:noFill/>
        </p:spPr>
        <p:txBody>
          <a:bodyPr wrap="square" rtlCol="0">
            <a:spAutoFit/>
          </a:bodyPr>
          <a:lstStyle/>
          <a:p>
            <a:r>
              <a:rPr lang="en-GB" sz="1400" b="1" dirty="0"/>
              <a:t>Input data structure for FCS H2 mass flow map</a:t>
            </a:r>
            <a:br>
              <a:rPr lang="en-GB" sz="1400" b="1" dirty="0"/>
            </a:br>
            <a:endParaRPr lang="en-GB" sz="800" b="1" dirty="0"/>
          </a:p>
          <a:p>
            <a:pPr marL="285750" indent="-285750">
              <a:lnSpc>
                <a:spcPct val="150000"/>
              </a:lnSpc>
              <a:buFont typeface="Wingdings" panose="05000000000000000000" pitchFamily="2" charset="2"/>
              <a:buChar char="§"/>
            </a:pPr>
            <a:r>
              <a:rPr lang="en-GB" sz="1400" dirty="0"/>
              <a:t>CSV file format</a:t>
            </a:r>
          </a:p>
          <a:p>
            <a:pPr marL="742950" lvl="1" indent="-285750">
              <a:lnSpc>
                <a:spcPct val="150000"/>
              </a:lnSpc>
              <a:buFont typeface="Wingdings" panose="05000000000000000000" pitchFamily="2" charset="2"/>
              <a:buChar char="§"/>
            </a:pPr>
            <a:r>
              <a:rPr lang="en-GB" sz="1200" dirty="0"/>
              <a:t>1</a:t>
            </a:r>
            <a:r>
              <a:rPr lang="en-GB" sz="1200" baseline="30000" dirty="0"/>
              <a:t>st</a:t>
            </a:r>
            <a:r>
              <a:rPr lang="en-GB" sz="1200" dirty="0"/>
              <a:t> column: Electric power output of FCS in [kW]</a:t>
            </a:r>
          </a:p>
          <a:p>
            <a:pPr marL="742950" lvl="1" indent="-285750">
              <a:lnSpc>
                <a:spcPct val="150000"/>
              </a:lnSpc>
              <a:buFont typeface="Wingdings" panose="05000000000000000000" pitchFamily="2" charset="2"/>
              <a:buChar char="§"/>
            </a:pPr>
            <a:r>
              <a:rPr lang="en-GB" sz="1200" dirty="0"/>
              <a:t>2</a:t>
            </a:r>
            <a:r>
              <a:rPr lang="en-GB" sz="1200" baseline="30000" dirty="0"/>
              <a:t>nd</a:t>
            </a:r>
            <a:r>
              <a:rPr lang="en-GB" sz="1200" dirty="0"/>
              <a:t> column: H2 mass flow in [g/h]</a:t>
            </a:r>
            <a:br>
              <a:rPr lang="en-GB" sz="1200" dirty="0"/>
            </a:br>
            <a:endParaRPr lang="en-GB" sz="600" dirty="0"/>
          </a:p>
          <a:p>
            <a:pPr marL="285750" indent="-285750">
              <a:buFont typeface="Wingdings" panose="05000000000000000000" pitchFamily="2" charset="2"/>
              <a:buChar char="§"/>
            </a:pPr>
            <a:r>
              <a:rPr lang="en-GB" sz="1200" b="1" i="1" dirty="0"/>
              <a:t>FCS component efficiency should also include DC/DC converter (as this is part of component test procedure)!</a:t>
            </a:r>
          </a:p>
        </p:txBody>
      </p:sp>
      <p:sp>
        <p:nvSpPr>
          <p:cNvPr id="11" name="Textfeld 10"/>
          <p:cNvSpPr txBox="1"/>
          <p:nvPr/>
        </p:nvSpPr>
        <p:spPr>
          <a:xfrm rot="20188245">
            <a:off x="5932064" y="5049629"/>
            <a:ext cx="1922210" cy="338554"/>
          </a:xfrm>
          <a:prstGeom prst="rect">
            <a:avLst/>
          </a:prstGeom>
          <a:noFill/>
        </p:spPr>
        <p:txBody>
          <a:bodyPr wrap="square" rtlCol="0">
            <a:spAutoFit/>
          </a:bodyPr>
          <a:lstStyle/>
          <a:p>
            <a:pPr algn="ctr"/>
            <a:r>
              <a:rPr lang="de-AT" sz="1600" b="1" dirty="0" err="1">
                <a:solidFill>
                  <a:schemeClr val="accent1">
                    <a:lumMod val="60000"/>
                    <a:lumOff val="40000"/>
                  </a:schemeClr>
                </a:solidFill>
              </a:rPr>
              <a:t>Example</a:t>
            </a:r>
            <a:r>
              <a:rPr lang="de-AT" sz="1600" b="1" dirty="0">
                <a:solidFill>
                  <a:schemeClr val="accent1">
                    <a:lumMod val="60000"/>
                    <a:lumOff val="40000"/>
                  </a:schemeClr>
                </a:solidFill>
              </a:rPr>
              <a:t> </a:t>
            </a:r>
            <a:r>
              <a:rPr lang="de-AT" sz="1600" b="1" dirty="0" err="1">
                <a:solidFill>
                  <a:schemeClr val="accent1">
                    <a:lumMod val="60000"/>
                    <a:lumOff val="40000"/>
                  </a:schemeClr>
                </a:solidFill>
              </a:rPr>
              <a:t>data</a:t>
            </a:r>
            <a:endParaRPr lang="de-AT" sz="1600" b="1" dirty="0">
              <a:solidFill>
                <a:schemeClr val="accent1">
                  <a:lumMod val="60000"/>
                  <a:lumOff val="40000"/>
                </a:schemeClr>
              </a:solidFill>
            </a:endParaRPr>
          </a:p>
        </p:txBody>
      </p:sp>
    </p:spTree>
    <p:extLst>
      <p:ext uri="{BB962C8B-B14F-4D97-AF65-F5344CB8AC3E}">
        <p14:creationId xmlns:p14="http://schemas.microsoft.com/office/powerpoint/2010/main" val="2112544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5" y="2137413"/>
            <a:ext cx="8394645" cy="1017560"/>
          </a:xfrm>
        </p:spPr>
        <p:txBody>
          <a:bodyPr/>
          <a:lstStyle/>
          <a:p>
            <a:pPr>
              <a:tabLst>
                <a:tab pos="1885950" algn="l"/>
              </a:tabLst>
            </a:pPr>
            <a:r>
              <a:rPr lang="en-US" sz="1800" dirty="0"/>
              <a:t>Parameterization of auxiliaries for FCHV</a:t>
            </a:r>
          </a:p>
          <a:p>
            <a:pPr lvl="1">
              <a:tabLst>
                <a:tab pos="1885950" algn="l"/>
              </a:tabLst>
            </a:pPr>
            <a:r>
              <a:rPr lang="en-US" sz="1600" dirty="0"/>
              <a:t>Electric power demand of auxiliaries for both, lorries and buses, need to be parameterized via the “Bus Auxiliaries” GUI window</a:t>
            </a:r>
          </a:p>
          <a:p>
            <a:pPr lvl="1">
              <a:tabLst>
                <a:tab pos="1885950" algn="l"/>
              </a:tabLst>
            </a:pPr>
            <a:endParaRPr lang="en-US" sz="1600" dirty="0"/>
          </a:p>
        </p:txBody>
      </p:sp>
      <p:sp>
        <p:nvSpPr>
          <p:cNvPr id="4" name="Foliennummernplatzhalter 3"/>
          <p:cNvSpPr>
            <a:spLocks noGrp="1"/>
          </p:cNvSpPr>
          <p:nvPr>
            <p:ph type="sldNum" sz="quarter" idx="12"/>
          </p:nvPr>
        </p:nvSpPr>
        <p:spPr/>
        <p:txBody>
          <a:bodyPr/>
          <a:lstStyle/>
          <a:p>
            <a:fld id="{4B64EC4D-37E3-EF42-B9AB-6337577588CB}" type="slidenum">
              <a:rPr lang="de-DE" smtClean="0"/>
              <a:t>17</a:t>
            </a:fld>
            <a:endParaRPr lang="de-DE"/>
          </a:p>
        </p:txBody>
      </p:sp>
      <p:sp>
        <p:nvSpPr>
          <p:cNvPr id="5" name="Titel 4"/>
          <p:cNvSpPr>
            <a:spLocks noGrp="1"/>
          </p:cNvSpPr>
          <p:nvPr>
            <p:ph type="title"/>
          </p:nvPr>
        </p:nvSpPr>
        <p:spPr/>
        <p:txBody>
          <a:bodyPr/>
          <a:lstStyle/>
          <a:p>
            <a:r>
              <a:rPr lang="en-GB" dirty="0"/>
              <a:t>Fuel cell hybrid vehicles (FCHV) – VECTO features (5/5)</a:t>
            </a:r>
          </a:p>
        </p:txBody>
      </p:sp>
      <p:grpSp>
        <p:nvGrpSpPr>
          <p:cNvPr id="2" name="Gruppieren 1"/>
          <p:cNvGrpSpPr/>
          <p:nvPr/>
        </p:nvGrpSpPr>
        <p:grpSpPr>
          <a:xfrm>
            <a:off x="777894" y="3071077"/>
            <a:ext cx="7964293" cy="2861056"/>
            <a:chOff x="777893" y="2213827"/>
            <a:chExt cx="7964293" cy="2861056"/>
          </a:xfrm>
        </p:grpSpPr>
        <p:pic>
          <p:nvPicPr>
            <p:cNvPr id="22" name="Grafik 21"/>
            <p:cNvPicPr>
              <a:picLocks noChangeAspect="1"/>
            </p:cNvPicPr>
            <p:nvPr/>
          </p:nvPicPr>
          <p:blipFill>
            <a:blip r:embed="rId2"/>
            <a:stretch>
              <a:fillRect/>
            </a:stretch>
          </p:blipFill>
          <p:spPr>
            <a:xfrm>
              <a:off x="917773" y="2554884"/>
              <a:ext cx="3595655" cy="2519999"/>
            </a:xfrm>
            <a:prstGeom prst="rect">
              <a:avLst/>
            </a:prstGeom>
          </p:spPr>
        </p:pic>
        <p:pic>
          <p:nvPicPr>
            <p:cNvPr id="11" name="Grafik 10"/>
            <p:cNvPicPr>
              <a:picLocks noChangeAspect="1"/>
            </p:cNvPicPr>
            <p:nvPr/>
          </p:nvPicPr>
          <p:blipFill rotWithShape="1">
            <a:blip r:embed="rId3"/>
            <a:srcRect r="53534"/>
            <a:stretch/>
          </p:blipFill>
          <p:spPr>
            <a:xfrm>
              <a:off x="4734198" y="2552930"/>
              <a:ext cx="2510897" cy="2520000"/>
            </a:xfrm>
            <a:prstGeom prst="rect">
              <a:avLst/>
            </a:prstGeom>
          </p:spPr>
        </p:pic>
        <p:sp>
          <p:nvSpPr>
            <p:cNvPr id="16" name="Ellipse 15"/>
            <p:cNvSpPr/>
            <p:nvPr/>
          </p:nvSpPr>
          <p:spPr bwMode="auto">
            <a:xfrm>
              <a:off x="777893" y="4062116"/>
              <a:ext cx="900000" cy="519351"/>
            </a:xfrm>
            <a:prstGeom prst="ellipse">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spAutoFit/>
            </a:bodyPr>
            <a:lstStyle/>
            <a:p>
              <a:pPr algn="ctr" fontAlgn="base">
                <a:spcBef>
                  <a:spcPct val="30000"/>
                </a:spcBef>
                <a:spcAft>
                  <a:spcPct val="0"/>
                </a:spcAft>
              </a:pPr>
              <a:endParaRPr lang="de-AT">
                <a:latin typeface="Arial" pitchFamily="34" charset="0"/>
              </a:endParaRPr>
            </a:p>
          </p:txBody>
        </p:sp>
        <p:sp>
          <p:nvSpPr>
            <p:cNvPr id="13" name="Legende mit Linie 1 12"/>
            <p:cNvSpPr/>
            <p:nvPr/>
          </p:nvSpPr>
          <p:spPr bwMode="auto">
            <a:xfrm>
              <a:off x="7296780" y="3201002"/>
              <a:ext cx="1445406" cy="338554"/>
            </a:xfrm>
            <a:prstGeom prst="borderCallout1">
              <a:avLst>
                <a:gd name="adj1" fmla="val 18750"/>
                <a:gd name="adj2" fmla="val -8333"/>
                <a:gd name="adj3" fmla="val 70225"/>
                <a:gd name="adj4" fmla="val -65838"/>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noAutofit/>
            </a:bodyPr>
            <a:lstStyle/>
            <a:p>
              <a:pPr algn="ctr" fontAlgn="base">
                <a:spcBef>
                  <a:spcPct val="30000"/>
                </a:spcBef>
                <a:spcAft>
                  <a:spcPct val="0"/>
                </a:spcAft>
              </a:pPr>
              <a:r>
                <a:rPr lang="de-DE" sz="1100" dirty="0">
                  <a:latin typeface="Arial" pitchFamily="34" charset="0"/>
                </a:rPr>
                <a:t>Demand </a:t>
              </a:r>
              <a:r>
                <a:rPr lang="de-DE" sz="1100" dirty="0" err="1">
                  <a:latin typeface="Arial" pitchFamily="34" charset="0"/>
                </a:rPr>
                <a:t>during</a:t>
              </a:r>
              <a:r>
                <a:rPr lang="de-DE" sz="1100" dirty="0">
                  <a:latin typeface="Arial" pitchFamily="34" charset="0"/>
                </a:rPr>
                <a:t> </a:t>
              </a:r>
              <a:r>
                <a:rPr lang="de-DE" sz="1100" dirty="0" err="1">
                  <a:latin typeface="Arial" pitchFamily="34" charset="0"/>
                </a:rPr>
                <a:t>vehicle</a:t>
              </a:r>
              <a:r>
                <a:rPr lang="de-DE" sz="1100" dirty="0">
                  <a:latin typeface="Arial" pitchFamily="34" charset="0"/>
                </a:rPr>
                <a:t> </a:t>
              </a:r>
              <a:r>
                <a:rPr lang="de-DE" sz="1100" dirty="0" err="1">
                  <a:latin typeface="Arial" pitchFamily="34" charset="0"/>
                </a:rPr>
                <a:t>driving</a:t>
              </a:r>
              <a:endParaRPr lang="de-AT" sz="1100" dirty="0">
                <a:latin typeface="Arial" pitchFamily="34" charset="0"/>
              </a:endParaRPr>
            </a:p>
          </p:txBody>
        </p:sp>
        <p:sp>
          <p:nvSpPr>
            <p:cNvPr id="14" name="Legende mit Linie 1 13"/>
            <p:cNvSpPr/>
            <p:nvPr/>
          </p:nvSpPr>
          <p:spPr bwMode="auto">
            <a:xfrm>
              <a:off x="7296780" y="3705058"/>
              <a:ext cx="1445406" cy="338554"/>
            </a:xfrm>
            <a:prstGeom prst="borderCallout1">
              <a:avLst>
                <a:gd name="adj1" fmla="val 18750"/>
                <a:gd name="adj2" fmla="val -8333"/>
                <a:gd name="adj3" fmla="val -28416"/>
                <a:gd name="adj4" fmla="val -65839"/>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noAutofit/>
            </a:bodyPr>
            <a:lstStyle/>
            <a:p>
              <a:pPr algn="ctr" fontAlgn="base">
                <a:spcBef>
                  <a:spcPct val="30000"/>
                </a:spcBef>
                <a:spcAft>
                  <a:spcPct val="0"/>
                </a:spcAft>
              </a:pPr>
              <a:r>
                <a:rPr lang="de-DE" sz="1100" dirty="0">
                  <a:latin typeface="Arial" pitchFamily="34" charset="0"/>
                </a:rPr>
                <a:t>Demand </a:t>
              </a:r>
              <a:r>
                <a:rPr lang="de-DE" sz="1100" dirty="0" err="1">
                  <a:latin typeface="Arial" pitchFamily="34" charset="0"/>
                </a:rPr>
                <a:t>during</a:t>
              </a:r>
              <a:r>
                <a:rPr lang="de-DE" sz="1100" dirty="0">
                  <a:latin typeface="Arial" pitchFamily="34" charset="0"/>
                </a:rPr>
                <a:t> </a:t>
              </a:r>
              <a:r>
                <a:rPr lang="de-DE" sz="1100" dirty="0" err="1">
                  <a:latin typeface="Arial" pitchFamily="34" charset="0"/>
                </a:rPr>
                <a:t>vehicle</a:t>
              </a:r>
              <a:r>
                <a:rPr lang="de-DE" sz="1100" dirty="0">
                  <a:latin typeface="Arial" pitchFamily="34" charset="0"/>
                </a:rPr>
                <a:t> standstill</a:t>
              </a:r>
              <a:endParaRPr lang="de-AT" sz="1100" dirty="0">
                <a:latin typeface="Arial" pitchFamily="34" charset="0"/>
              </a:endParaRPr>
            </a:p>
          </p:txBody>
        </p:sp>
        <p:cxnSp>
          <p:nvCxnSpPr>
            <p:cNvPr id="17" name="Gewinkelter Verbinder 16"/>
            <p:cNvCxnSpPr/>
            <p:nvPr/>
          </p:nvCxnSpPr>
          <p:spPr>
            <a:xfrm>
              <a:off x="3970944" y="2554884"/>
              <a:ext cx="678232" cy="972000"/>
            </a:xfrm>
            <a:prstGeom prst="bentConnector3">
              <a:avLst>
                <a:gd name="adj1" fmla="val 66964"/>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0" name="Geschweifte Klammer links 19"/>
            <p:cNvSpPr/>
            <p:nvPr/>
          </p:nvSpPr>
          <p:spPr>
            <a:xfrm>
              <a:off x="4697140" y="3365616"/>
              <a:ext cx="151391" cy="313221"/>
            </a:xfrm>
            <a:prstGeom prst="leftBrace">
              <a:avLst/>
            </a:prstGeom>
            <a:noFill/>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21" name="Textfeld 20"/>
            <p:cNvSpPr txBox="1"/>
            <p:nvPr/>
          </p:nvSpPr>
          <p:spPr>
            <a:xfrm>
              <a:off x="2831824" y="2213827"/>
              <a:ext cx="1484296" cy="667265"/>
            </a:xfrm>
            <a:prstGeom prst="rect">
              <a:avLst/>
            </a:prstGeom>
            <a:solidFill>
              <a:schemeClr val="accent2"/>
            </a:solidFill>
          </p:spPr>
          <p:txBody>
            <a:bodyPr wrap="square" rtlCol="0">
              <a:noAutofit/>
            </a:bodyPr>
            <a:lstStyle/>
            <a:p>
              <a:r>
                <a:rPr lang="de-AT" sz="800" b="1" i="1" dirty="0">
                  <a:solidFill>
                    <a:schemeClr val="bg1"/>
                  </a:solidFill>
                </a:rPr>
                <a:t>INFO: </a:t>
              </a:r>
              <a:r>
                <a:rPr lang="de-AT" sz="800" b="1" i="1" dirty="0" err="1">
                  <a:solidFill>
                    <a:schemeClr val="bg1"/>
                  </a:solidFill>
                </a:rPr>
                <a:t>Electric</a:t>
              </a:r>
              <a:r>
                <a:rPr lang="de-AT" sz="800" b="1" i="1" dirty="0">
                  <a:solidFill>
                    <a:schemeClr val="bg1"/>
                  </a:solidFill>
                </a:rPr>
                <a:t> </a:t>
              </a:r>
              <a:r>
                <a:rPr lang="de-AT" sz="800" b="1" i="1" dirty="0" err="1">
                  <a:solidFill>
                    <a:schemeClr val="bg1"/>
                  </a:solidFill>
                </a:rPr>
                <a:t>aux</a:t>
              </a:r>
              <a:r>
                <a:rPr lang="de-AT" sz="800" b="1" i="1" dirty="0">
                  <a:solidFill>
                    <a:schemeClr val="bg1"/>
                  </a:solidFill>
                </a:rPr>
                <a:t> power </a:t>
              </a:r>
              <a:r>
                <a:rPr lang="de-AT" sz="800" b="1" i="1" dirty="0" err="1">
                  <a:solidFill>
                    <a:schemeClr val="bg1"/>
                  </a:solidFill>
                </a:rPr>
                <a:t>demand</a:t>
              </a:r>
              <a:r>
                <a:rPr lang="de-AT" sz="800" b="1" i="1" dirty="0">
                  <a:solidFill>
                    <a:schemeClr val="bg1"/>
                  </a:solidFill>
                </a:rPr>
                <a:t> </a:t>
              </a:r>
              <a:r>
                <a:rPr lang="de-AT" sz="800" b="1" i="1" dirty="0" err="1">
                  <a:solidFill>
                    <a:schemeClr val="bg1"/>
                  </a:solidFill>
                </a:rPr>
                <a:t>is</a:t>
              </a:r>
              <a:r>
                <a:rPr lang="de-AT" sz="800" b="1" i="1" dirty="0">
                  <a:solidFill>
                    <a:schemeClr val="bg1"/>
                  </a:solidFill>
                </a:rPr>
                <a:t> </a:t>
              </a:r>
              <a:r>
                <a:rPr lang="de-AT" sz="800" b="1" i="1" dirty="0" err="1">
                  <a:solidFill>
                    <a:schemeClr val="bg1"/>
                  </a:solidFill>
                </a:rPr>
                <a:t>calculated</a:t>
              </a:r>
              <a:r>
                <a:rPr lang="de-AT" sz="800" b="1" i="1" dirty="0">
                  <a:solidFill>
                    <a:schemeClr val="bg1"/>
                  </a:solidFill>
                </a:rPr>
                <a:t> </a:t>
              </a:r>
              <a:r>
                <a:rPr lang="de-AT" sz="800" b="1" i="1" dirty="0" err="1">
                  <a:solidFill>
                    <a:schemeClr val="bg1"/>
                  </a:solidFill>
                </a:rPr>
                <a:t>by</a:t>
              </a:r>
              <a:r>
                <a:rPr lang="de-AT" sz="800" b="1" i="1" dirty="0">
                  <a:solidFill>
                    <a:schemeClr val="bg1"/>
                  </a:solidFill>
                </a:rPr>
                <a:t> </a:t>
              </a:r>
              <a:r>
                <a:rPr lang="de-AT" sz="800" b="1" i="1" dirty="0" err="1">
                  <a:solidFill>
                    <a:schemeClr val="bg1"/>
                  </a:solidFill>
                </a:rPr>
                <a:t>multiplying</a:t>
              </a:r>
              <a:r>
                <a:rPr lang="de-AT" sz="800" b="1" i="1" dirty="0">
                  <a:solidFill>
                    <a:schemeClr val="bg1"/>
                  </a:solidFill>
                </a:rPr>
                <a:t> </a:t>
              </a:r>
              <a:r>
                <a:rPr lang="de-AT" sz="800" b="1" i="1" dirty="0" err="1">
                  <a:solidFill>
                    <a:schemeClr val="bg1"/>
                  </a:solidFill>
                </a:rPr>
                <a:t>the</a:t>
              </a:r>
              <a:r>
                <a:rPr lang="de-AT" sz="800" b="1" i="1" dirty="0">
                  <a:solidFill>
                    <a:schemeClr val="bg1"/>
                  </a:solidFill>
                </a:rPr>
                <a:t> </a:t>
              </a:r>
              <a:r>
                <a:rPr lang="de-AT" sz="800" b="1" i="1" dirty="0" err="1">
                  <a:solidFill>
                    <a:schemeClr val="bg1"/>
                  </a:solidFill>
                </a:rPr>
                <a:t>specified</a:t>
              </a:r>
              <a:r>
                <a:rPr lang="de-AT" sz="800" b="1" i="1" dirty="0">
                  <a:solidFill>
                    <a:schemeClr val="bg1"/>
                  </a:solidFill>
                </a:rPr>
                <a:t> </a:t>
              </a:r>
              <a:r>
                <a:rPr lang="de-AT" sz="800" b="1" i="1" dirty="0" err="1">
                  <a:solidFill>
                    <a:schemeClr val="bg1"/>
                  </a:solidFill>
                </a:rPr>
                <a:t>current</a:t>
              </a:r>
              <a:r>
                <a:rPr lang="de-AT" sz="800" b="1" i="1" dirty="0">
                  <a:solidFill>
                    <a:schemeClr val="bg1"/>
                  </a:solidFill>
                </a:rPr>
                <a:t> </a:t>
              </a:r>
              <a:r>
                <a:rPr lang="de-AT" sz="800" b="1" i="1" dirty="0" err="1">
                  <a:solidFill>
                    <a:schemeClr val="bg1"/>
                  </a:solidFill>
                </a:rPr>
                <a:t>values</a:t>
              </a:r>
              <a:r>
                <a:rPr lang="de-AT" sz="800" b="1" i="1" dirty="0">
                  <a:solidFill>
                    <a:schemeClr val="bg1"/>
                  </a:solidFill>
                </a:rPr>
                <a:t> </a:t>
              </a:r>
              <a:r>
                <a:rPr lang="de-AT" sz="800" b="1" i="1" dirty="0" err="1">
                  <a:solidFill>
                    <a:schemeClr val="bg1"/>
                  </a:solidFill>
                </a:rPr>
                <a:t>by</a:t>
              </a:r>
              <a:r>
                <a:rPr lang="de-AT" sz="800" b="1" i="1" dirty="0">
                  <a:solidFill>
                    <a:schemeClr val="bg1"/>
                  </a:solidFill>
                </a:rPr>
                <a:t> a </a:t>
              </a:r>
              <a:r>
                <a:rPr lang="de-AT" sz="800" b="1" i="1" dirty="0" err="1">
                  <a:solidFill>
                    <a:schemeClr val="bg1"/>
                  </a:solidFill>
                </a:rPr>
                <a:t>voltage</a:t>
              </a:r>
              <a:r>
                <a:rPr lang="de-AT" sz="800" b="1" i="1" dirty="0">
                  <a:solidFill>
                    <a:schemeClr val="bg1"/>
                  </a:solidFill>
                </a:rPr>
                <a:t> </a:t>
              </a:r>
              <a:r>
                <a:rPr lang="de-AT" sz="800" b="1" i="1" dirty="0" err="1">
                  <a:solidFill>
                    <a:schemeClr val="bg1"/>
                  </a:solidFill>
                </a:rPr>
                <a:t>of</a:t>
              </a:r>
              <a:r>
                <a:rPr lang="de-AT" sz="800" b="1" i="1" dirty="0">
                  <a:solidFill>
                    <a:schemeClr val="bg1"/>
                  </a:solidFill>
                </a:rPr>
                <a:t> 28.3V</a:t>
              </a:r>
            </a:p>
          </p:txBody>
        </p:sp>
      </p:grpSp>
    </p:spTree>
    <p:extLst>
      <p:ext uri="{BB962C8B-B14F-4D97-AF65-F5344CB8AC3E}">
        <p14:creationId xmlns:p14="http://schemas.microsoft.com/office/powerpoint/2010/main" val="551003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p:cNvSpPr>
            <a:spLocks noGrp="1"/>
          </p:cNvSpPr>
          <p:nvPr>
            <p:ph idx="1"/>
          </p:nvPr>
        </p:nvSpPr>
        <p:spPr/>
        <p:txBody>
          <a:bodyPr>
            <a:normAutofit fontScale="92500" lnSpcReduction="20000"/>
          </a:bodyPr>
          <a:lstStyle/>
          <a:p>
            <a:r>
              <a:rPr lang="en-US" dirty="0"/>
              <a:t>Exemplary results for VECTO Group 2 12-ton rigid lorry</a:t>
            </a:r>
            <a:br>
              <a:rPr lang="en-US" dirty="0"/>
            </a:br>
            <a:r>
              <a:rPr lang="en-US" dirty="0"/>
              <a:t>(9.5 ton actual mass) on following slides</a:t>
            </a:r>
          </a:p>
          <a:p>
            <a:r>
              <a:rPr lang="en-GB" dirty="0"/>
              <a:t>Simulation in VECTO Urban Delivery Cycle</a:t>
            </a:r>
          </a:p>
          <a:p>
            <a:pPr lvl="1"/>
            <a:r>
              <a:rPr lang="en-GB" sz="1600" dirty="0"/>
              <a:t>Average electric power demand around 22 kW</a:t>
            </a:r>
          </a:p>
          <a:p>
            <a:r>
              <a:rPr lang="en-GB" dirty="0"/>
              <a:t>FCHV powertrain specifications:</a:t>
            </a:r>
          </a:p>
          <a:p>
            <a:pPr lvl="1"/>
            <a:r>
              <a:rPr lang="en-GB" sz="1600" dirty="0"/>
              <a:t>100 kW FCS max power</a:t>
            </a:r>
          </a:p>
          <a:p>
            <a:pPr lvl="1"/>
            <a:r>
              <a:rPr lang="en-GB" sz="1600" dirty="0"/>
              <a:t>following variants of battery:</a:t>
            </a:r>
          </a:p>
          <a:p>
            <a:pPr lvl="2"/>
            <a:r>
              <a:rPr lang="en-GB" sz="1400" dirty="0"/>
              <a:t>5 kWh</a:t>
            </a:r>
          </a:p>
          <a:p>
            <a:pPr lvl="2"/>
            <a:r>
              <a:rPr lang="en-GB" sz="1400" dirty="0"/>
              <a:t>10 kWh</a:t>
            </a:r>
          </a:p>
          <a:p>
            <a:pPr lvl="2"/>
            <a:r>
              <a:rPr lang="en-GB" sz="1400" dirty="0"/>
              <a:t>20 kWh</a:t>
            </a:r>
          </a:p>
          <a:p>
            <a:r>
              <a:rPr lang="en-GB" dirty="0"/>
              <a:t>Resulting speed profile was exactly the same for all different configurations</a:t>
            </a:r>
          </a:p>
          <a:p>
            <a:pPr lvl="1"/>
            <a:endParaRPr lang="en-GB" dirty="0"/>
          </a:p>
          <a:p>
            <a:endParaRPr lang="de-AT" dirty="0"/>
          </a:p>
        </p:txBody>
      </p:sp>
      <p:sp>
        <p:nvSpPr>
          <p:cNvPr id="4" name="Foliennummernplatzhalter 3"/>
          <p:cNvSpPr>
            <a:spLocks noGrp="1"/>
          </p:cNvSpPr>
          <p:nvPr>
            <p:ph type="sldNum" sz="quarter" idx="12"/>
          </p:nvPr>
        </p:nvSpPr>
        <p:spPr/>
        <p:txBody>
          <a:bodyPr/>
          <a:lstStyle/>
          <a:p>
            <a:fld id="{4B64EC4D-37E3-EF42-B9AB-6337577588CB}" type="slidenum">
              <a:rPr lang="de-DE" smtClean="0"/>
              <a:t>18</a:t>
            </a:fld>
            <a:endParaRPr lang="de-DE"/>
          </a:p>
        </p:txBody>
      </p:sp>
      <p:sp>
        <p:nvSpPr>
          <p:cNvPr id="5" name="Titel 4"/>
          <p:cNvSpPr>
            <a:spLocks noGrp="1"/>
          </p:cNvSpPr>
          <p:nvPr>
            <p:ph type="title"/>
          </p:nvPr>
        </p:nvSpPr>
        <p:spPr/>
        <p:txBody>
          <a:bodyPr/>
          <a:lstStyle/>
          <a:p>
            <a:r>
              <a:rPr lang="en-GB" dirty="0"/>
              <a:t>FCHV – Examples for generic operation strategy (1/5)</a:t>
            </a:r>
          </a:p>
        </p:txBody>
      </p:sp>
    </p:spTree>
    <p:extLst>
      <p:ext uri="{BB962C8B-B14F-4D97-AF65-F5344CB8AC3E}">
        <p14:creationId xmlns:p14="http://schemas.microsoft.com/office/powerpoint/2010/main" val="804381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p:cNvPicPr>
            <a:picLocks noChangeAspect="1"/>
          </p:cNvPicPr>
          <p:nvPr/>
        </p:nvPicPr>
        <p:blipFill>
          <a:blip r:embed="rId2"/>
          <a:stretch>
            <a:fillRect/>
          </a:stretch>
        </p:blipFill>
        <p:spPr>
          <a:xfrm>
            <a:off x="622354" y="2031304"/>
            <a:ext cx="5970305" cy="3969446"/>
          </a:xfrm>
          <a:prstGeom prst="rect">
            <a:avLst/>
          </a:prstGeom>
        </p:spPr>
      </p:pic>
      <p:sp>
        <p:nvSpPr>
          <p:cNvPr id="4" name="Foliennummernplatzhalter 3"/>
          <p:cNvSpPr>
            <a:spLocks noGrp="1"/>
          </p:cNvSpPr>
          <p:nvPr>
            <p:ph type="sldNum" sz="quarter" idx="12"/>
          </p:nvPr>
        </p:nvSpPr>
        <p:spPr/>
        <p:txBody>
          <a:bodyPr/>
          <a:lstStyle/>
          <a:p>
            <a:fld id="{4B64EC4D-37E3-EF42-B9AB-6337577588CB}" type="slidenum">
              <a:rPr lang="de-DE" smtClean="0"/>
              <a:t>19</a:t>
            </a:fld>
            <a:endParaRPr lang="de-DE"/>
          </a:p>
        </p:txBody>
      </p:sp>
      <p:sp>
        <p:nvSpPr>
          <p:cNvPr id="5" name="Titel 4"/>
          <p:cNvSpPr>
            <a:spLocks noGrp="1"/>
          </p:cNvSpPr>
          <p:nvPr>
            <p:ph type="title"/>
          </p:nvPr>
        </p:nvSpPr>
        <p:spPr/>
        <p:txBody>
          <a:bodyPr/>
          <a:lstStyle/>
          <a:p>
            <a:r>
              <a:rPr lang="en-GB" dirty="0"/>
              <a:t>FCHV – Examples for generic operation strategy (2/5)</a:t>
            </a:r>
          </a:p>
        </p:txBody>
      </p:sp>
      <p:sp>
        <p:nvSpPr>
          <p:cNvPr id="7" name="Textfeld 6"/>
          <p:cNvSpPr txBox="1"/>
          <p:nvPr/>
        </p:nvSpPr>
        <p:spPr>
          <a:xfrm>
            <a:off x="6670431" y="2031305"/>
            <a:ext cx="2346568" cy="2800767"/>
          </a:xfrm>
          <a:prstGeom prst="rect">
            <a:avLst/>
          </a:prstGeom>
          <a:noFill/>
        </p:spPr>
        <p:txBody>
          <a:bodyPr wrap="square" rtlCol="0">
            <a:spAutoFit/>
          </a:bodyPr>
          <a:lstStyle/>
          <a:p>
            <a:pPr marL="285750" indent="-285750">
              <a:buFont typeface="Wingdings" panose="05000000000000000000" pitchFamily="2" charset="2"/>
              <a:buChar char="§"/>
            </a:pPr>
            <a:r>
              <a:rPr lang="en-GB" sz="1400" b="1" dirty="0"/>
              <a:t>The lower the buffer size, the more dynamic the FCS operation gets</a:t>
            </a:r>
            <a:br>
              <a:rPr lang="en-GB" sz="1400" dirty="0"/>
            </a:br>
            <a:endParaRPr lang="en-GB" sz="1400" dirty="0"/>
          </a:p>
          <a:p>
            <a:pPr marL="285750" indent="-285750">
              <a:buFont typeface="Wingdings" panose="05000000000000000000" pitchFamily="2" charset="2"/>
              <a:buChar char="§"/>
            </a:pPr>
            <a:r>
              <a:rPr lang="en-GB" sz="1400" i="1" dirty="0"/>
              <a:t>Exactly same speed profile for all variants</a:t>
            </a:r>
            <a:br>
              <a:rPr lang="en-GB" sz="1400" i="1" dirty="0"/>
            </a:br>
            <a:endParaRPr lang="en-GB" sz="1400" i="1" dirty="0"/>
          </a:p>
          <a:p>
            <a:pPr marL="285750" indent="-285750">
              <a:buFont typeface="Wingdings" panose="05000000000000000000" pitchFamily="2" charset="2"/>
              <a:buChar char="§"/>
            </a:pPr>
            <a:r>
              <a:rPr lang="en-GB" sz="1400" dirty="0"/>
              <a:t>Averaging window sizes determined:</a:t>
            </a:r>
          </a:p>
          <a:p>
            <a:pPr marL="742950" lvl="1" indent="-285750">
              <a:buFont typeface="Wingdings" panose="05000000000000000000" pitchFamily="2" charset="2"/>
              <a:buChar char="§"/>
            </a:pPr>
            <a:r>
              <a:rPr lang="en-GB" sz="1200" dirty="0"/>
              <a:t>5 kWh: 6 km</a:t>
            </a:r>
          </a:p>
          <a:p>
            <a:pPr marL="742950" lvl="1" indent="-285750">
              <a:buFont typeface="Wingdings" panose="05000000000000000000" pitchFamily="2" charset="2"/>
              <a:buChar char="§"/>
            </a:pPr>
            <a:r>
              <a:rPr lang="en-GB" sz="1200" dirty="0"/>
              <a:t>10 kWh: 37.5 km</a:t>
            </a:r>
          </a:p>
          <a:p>
            <a:pPr marL="742950" lvl="1" indent="-285750">
              <a:buFont typeface="Wingdings" panose="05000000000000000000" pitchFamily="2" charset="2"/>
              <a:buChar char="§"/>
            </a:pPr>
            <a:r>
              <a:rPr lang="en-GB" sz="1200" dirty="0"/>
              <a:t>20 kWh: 100 km</a:t>
            </a:r>
          </a:p>
        </p:txBody>
      </p:sp>
      <p:sp>
        <p:nvSpPr>
          <p:cNvPr id="9" name="Textfeld 8"/>
          <p:cNvSpPr txBox="1"/>
          <p:nvPr/>
        </p:nvSpPr>
        <p:spPr>
          <a:xfrm>
            <a:off x="3874476" y="3954504"/>
            <a:ext cx="709241" cy="630942"/>
          </a:xfrm>
          <a:prstGeom prst="rect">
            <a:avLst/>
          </a:prstGeom>
          <a:noFill/>
        </p:spPr>
        <p:txBody>
          <a:bodyPr wrap="square" rtlCol="0">
            <a:spAutoFit/>
          </a:bodyPr>
          <a:lstStyle/>
          <a:p>
            <a:pPr>
              <a:lnSpc>
                <a:spcPts val="1400"/>
              </a:lnSpc>
            </a:pPr>
            <a:r>
              <a:rPr lang="de-AT" sz="1100" dirty="0">
                <a:solidFill>
                  <a:schemeClr val="accent5"/>
                </a:solidFill>
              </a:rPr>
              <a:t>5 kWh</a:t>
            </a:r>
            <a:endParaRPr lang="de-AT" sz="1100" dirty="0">
              <a:solidFill>
                <a:schemeClr val="accent3"/>
              </a:solidFill>
            </a:endParaRPr>
          </a:p>
          <a:p>
            <a:pPr>
              <a:lnSpc>
                <a:spcPts val="1400"/>
              </a:lnSpc>
            </a:pPr>
            <a:r>
              <a:rPr lang="de-AT" sz="1100" dirty="0">
                <a:solidFill>
                  <a:srgbClr val="FFFF00"/>
                </a:solidFill>
              </a:rPr>
              <a:t>10 kWh</a:t>
            </a:r>
          </a:p>
          <a:p>
            <a:pPr>
              <a:lnSpc>
                <a:spcPts val="1400"/>
              </a:lnSpc>
            </a:pPr>
            <a:r>
              <a:rPr lang="de-AT" sz="1100" dirty="0">
                <a:solidFill>
                  <a:schemeClr val="accent3"/>
                </a:solidFill>
              </a:rPr>
              <a:t>20 kWh</a:t>
            </a:r>
            <a:endParaRPr lang="de-AT" sz="1100" dirty="0">
              <a:solidFill>
                <a:srgbClr val="00B0F0"/>
              </a:solidFill>
            </a:endParaRPr>
          </a:p>
        </p:txBody>
      </p:sp>
      <p:pic>
        <p:nvPicPr>
          <p:cNvPr id="11" name="Grafik 10"/>
          <p:cNvPicPr>
            <a:picLocks noChangeAspect="1"/>
          </p:cNvPicPr>
          <p:nvPr/>
        </p:nvPicPr>
        <p:blipFill>
          <a:blip r:embed="rId3"/>
          <a:stretch>
            <a:fillRect/>
          </a:stretch>
        </p:blipFill>
        <p:spPr>
          <a:xfrm>
            <a:off x="4486790" y="3498539"/>
            <a:ext cx="1456810" cy="1035102"/>
          </a:xfrm>
          <a:prstGeom prst="rect">
            <a:avLst/>
          </a:prstGeom>
        </p:spPr>
      </p:pic>
      <p:sp>
        <p:nvSpPr>
          <p:cNvPr id="8" name="Textfeld 7"/>
          <p:cNvSpPr txBox="1"/>
          <p:nvPr/>
        </p:nvSpPr>
        <p:spPr>
          <a:xfrm>
            <a:off x="2883079" y="3985505"/>
            <a:ext cx="1089342" cy="553998"/>
          </a:xfrm>
          <a:prstGeom prst="rect">
            <a:avLst/>
          </a:prstGeom>
          <a:noFill/>
        </p:spPr>
        <p:txBody>
          <a:bodyPr wrap="square" rtlCol="0">
            <a:spAutoFit/>
          </a:bodyPr>
          <a:lstStyle/>
          <a:p>
            <a:pPr>
              <a:lnSpc>
                <a:spcPts val="1200"/>
              </a:lnSpc>
            </a:pPr>
            <a:r>
              <a:rPr lang="de-AT" sz="900" b="1" dirty="0">
                <a:solidFill>
                  <a:schemeClr val="bg1"/>
                </a:solidFill>
              </a:rPr>
              <a:t>Fuel </a:t>
            </a:r>
            <a:r>
              <a:rPr lang="de-AT" sz="900" b="1" dirty="0" err="1">
                <a:solidFill>
                  <a:schemeClr val="bg1"/>
                </a:solidFill>
              </a:rPr>
              <a:t>cell</a:t>
            </a:r>
            <a:r>
              <a:rPr lang="de-AT" sz="900" b="1" dirty="0">
                <a:solidFill>
                  <a:schemeClr val="bg1"/>
                </a:solidFill>
              </a:rPr>
              <a:t> power </a:t>
            </a:r>
            <a:r>
              <a:rPr lang="de-AT" sz="900" b="1" dirty="0" err="1">
                <a:solidFill>
                  <a:schemeClr val="bg1"/>
                </a:solidFill>
              </a:rPr>
              <a:t>for</a:t>
            </a:r>
            <a:r>
              <a:rPr lang="de-AT" sz="900" b="1" dirty="0">
                <a:solidFill>
                  <a:schemeClr val="bg1"/>
                </a:solidFill>
              </a:rPr>
              <a:t> different </a:t>
            </a:r>
            <a:r>
              <a:rPr lang="de-AT" sz="900" b="1" dirty="0" err="1">
                <a:solidFill>
                  <a:schemeClr val="bg1"/>
                </a:solidFill>
              </a:rPr>
              <a:t>battery</a:t>
            </a:r>
            <a:r>
              <a:rPr lang="de-AT" sz="900" b="1" dirty="0">
                <a:solidFill>
                  <a:schemeClr val="bg1"/>
                </a:solidFill>
              </a:rPr>
              <a:t> </a:t>
            </a:r>
            <a:r>
              <a:rPr lang="de-AT" sz="900" b="1" dirty="0" err="1">
                <a:solidFill>
                  <a:schemeClr val="bg1"/>
                </a:solidFill>
              </a:rPr>
              <a:t>sizes</a:t>
            </a:r>
            <a:endParaRPr lang="de-AT" sz="900" b="1" dirty="0">
              <a:solidFill>
                <a:schemeClr val="bg1"/>
              </a:solidFill>
            </a:endParaRPr>
          </a:p>
        </p:txBody>
      </p:sp>
      <p:sp>
        <p:nvSpPr>
          <p:cNvPr id="2" name="Geschweifte Klammer links 1"/>
          <p:cNvSpPr/>
          <p:nvPr/>
        </p:nvSpPr>
        <p:spPr>
          <a:xfrm>
            <a:off x="3819477" y="3984450"/>
            <a:ext cx="114572" cy="540000"/>
          </a:xfrm>
          <a:prstGeom prst="leftBrace">
            <a:avLst/>
          </a:prstGeom>
          <a:ln>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Tree>
    <p:extLst>
      <p:ext uri="{BB962C8B-B14F-4D97-AF65-F5344CB8AC3E}">
        <p14:creationId xmlns:p14="http://schemas.microsoft.com/office/powerpoint/2010/main" val="3684862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stretch>
            <a:fillRect/>
          </a:stretch>
        </p:blipFill>
        <p:spPr>
          <a:xfrm>
            <a:off x="622354" y="2031304"/>
            <a:ext cx="5941664" cy="3961109"/>
          </a:xfrm>
          <a:prstGeom prst="rect">
            <a:avLst/>
          </a:prstGeom>
        </p:spPr>
      </p:pic>
      <p:sp>
        <p:nvSpPr>
          <p:cNvPr id="4" name="Foliennummernplatzhalter 3"/>
          <p:cNvSpPr>
            <a:spLocks noGrp="1"/>
          </p:cNvSpPr>
          <p:nvPr>
            <p:ph type="sldNum" sz="quarter" idx="12"/>
          </p:nvPr>
        </p:nvSpPr>
        <p:spPr/>
        <p:txBody>
          <a:bodyPr/>
          <a:lstStyle/>
          <a:p>
            <a:fld id="{4B64EC4D-37E3-EF42-B9AB-6337577588CB}" type="slidenum">
              <a:rPr lang="de-DE" smtClean="0"/>
              <a:t>20</a:t>
            </a:fld>
            <a:endParaRPr lang="de-DE"/>
          </a:p>
        </p:txBody>
      </p:sp>
      <p:sp>
        <p:nvSpPr>
          <p:cNvPr id="5" name="Titel 4"/>
          <p:cNvSpPr>
            <a:spLocks noGrp="1"/>
          </p:cNvSpPr>
          <p:nvPr>
            <p:ph type="title"/>
          </p:nvPr>
        </p:nvSpPr>
        <p:spPr/>
        <p:txBody>
          <a:bodyPr/>
          <a:lstStyle/>
          <a:p>
            <a:r>
              <a:rPr lang="en-GB" dirty="0"/>
              <a:t>FCHV – Examples for generic operation strategy (3/5)</a:t>
            </a:r>
          </a:p>
        </p:txBody>
      </p:sp>
      <p:sp>
        <p:nvSpPr>
          <p:cNvPr id="7" name="Textfeld 6"/>
          <p:cNvSpPr txBox="1"/>
          <p:nvPr/>
        </p:nvSpPr>
        <p:spPr>
          <a:xfrm>
            <a:off x="6670431" y="2031304"/>
            <a:ext cx="2346568" cy="2893100"/>
          </a:xfrm>
          <a:prstGeom prst="rect">
            <a:avLst/>
          </a:prstGeom>
          <a:noFill/>
        </p:spPr>
        <p:txBody>
          <a:bodyPr wrap="square" rtlCol="0">
            <a:spAutoFit/>
          </a:bodyPr>
          <a:lstStyle/>
          <a:p>
            <a:pPr marL="285750" indent="-285750">
              <a:buFont typeface="Wingdings" panose="05000000000000000000" pitchFamily="2" charset="2"/>
              <a:buChar char="§"/>
            </a:pPr>
            <a:r>
              <a:rPr lang="en-US" sz="1400" b="1" dirty="0"/>
              <a:t>Battery covers instantaneous deviations from average electric power demand</a:t>
            </a:r>
            <a:br>
              <a:rPr lang="en-US" sz="1400" b="1" dirty="0"/>
            </a:br>
            <a:endParaRPr lang="en-US" sz="1400" b="1" dirty="0"/>
          </a:p>
          <a:p>
            <a:pPr marL="285750" indent="-285750">
              <a:buFont typeface="Wingdings" panose="05000000000000000000" pitchFamily="2" charset="2"/>
              <a:buChar char="§"/>
            </a:pPr>
            <a:r>
              <a:rPr lang="en-US" sz="1400" b="1" dirty="0"/>
              <a:t>Average electric power demand (i.e. FCS power) constant for the setting shown with 20 kWh REESS size</a:t>
            </a:r>
            <a:br>
              <a:rPr lang="en-GB" sz="1400" dirty="0"/>
            </a:br>
            <a:endParaRPr lang="en-GB" sz="1400" i="1" dirty="0"/>
          </a:p>
        </p:txBody>
      </p:sp>
      <p:pic>
        <p:nvPicPr>
          <p:cNvPr id="8" name="Grafik 7"/>
          <p:cNvPicPr>
            <a:picLocks noChangeAspect="1"/>
          </p:cNvPicPr>
          <p:nvPr/>
        </p:nvPicPr>
        <p:blipFill>
          <a:blip r:embed="rId3"/>
          <a:stretch>
            <a:fillRect/>
          </a:stretch>
        </p:blipFill>
        <p:spPr>
          <a:xfrm>
            <a:off x="5023340" y="5008147"/>
            <a:ext cx="1222130" cy="737263"/>
          </a:xfrm>
          <a:prstGeom prst="rect">
            <a:avLst/>
          </a:prstGeom>
        </p:spPr>
      </p:pic>
      <p:sp>
        <p:nvSpPr>
          <p:cNvPr id="9" name="Textfeld 8"/>
          <p:cNvSpPr txBox="1"/>
          <p:nvPr/>
        </p:nvSpPr>
        <p:spPr>
          <a:xfrm>
            <a:off x="4062050" y="5401425"/>
            <a:ext cx="1089342" cy="400110"/>
          </a:xfrm>
          <a:prstGeom prst="rect">
            <a:avLst/>
          </a:prstGeom>
          <a:noFill/>
        </p:spPr>
        <p:txBody>
          <a:bodyPr wrap="square" rtlCol="0">
            <a:spAutoFit/>
          </a:bodyPr>
          <a:lstStyle/>
          <a:p>
            <a:pPr>
              <a:lnSpc>
                <a:spcPts val="1200"/>
              </a:lnSpc>
            </a:pPr>
            <a:r>
              <a:rPr lang="de-AT" sz="900" b="1" dirty="0" err="1">
                <a:solidFill>
                  <a:srgbClr val="00B0F0"/>
                </a:solidFill>
              </a:rPr>
              <a:t>Battery</a:t>
            </a:r>
            <a:r>
              <a:rPr lang="de-AT" sz="900" b="1" dirty="0">
                <a:solidFill>
                  <a:srgbClr val="00B0F0"/>
                </a:solidFill>
              </a:rPr>
              <a:t> power</a:t>
            </a:r>
          </a:p>
          <a:p>
            <a:pPr>
              <a:lnSpc>
                <a:spcPts val="1200"/>
              </a:lnSpc>
            </a:pPr>
            <a:r>
              <a:rPr lang="de-AT" sz="900" b="1" dirty="0">
                <a:solidFill>
                  <a:schemeClr val="accent3"/>
                </a:solidFill>
              </a:rPr>
              <a:t>Fuel </a:t>
            </a:r>
            <a:r>
              <a:rPr lang="de-AT" sz="900" b="1" dirty="0" err="1">
                <a:solidFill>
                  <a:schemeClr val="accent3"/>
                </a:solidFill>
              </a:rPr>
              <a:t>cell</a:t>
            </a:r>
            <a:r>
              <a:rPr lang="de-AT" sz="900" b="1" dirty="0">
                <a:solidFill>
                  <a:schemeClr val="accent3"/>
                </a:solidFill>
              </a:rPr>
              <a:t> power</a:t>
            </a:r>
          </a:p>
        </p:txBody>
      </p:sp>
    </p:spTree>
    <p:extLst>
      <p:ext uri="{BB962C8B-B14F-4D97-AF65-F5344CB8AC3E}">
        <p14:creationId xmlns:p14="http://schemas.microsoft.com/office/powerpoint/2010/main" val="1119538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2"/>
          <a:stretch>
            <a:fillRect/>
          </a:stretch>
        </p:blipFill>
        <p:spPr>
          <a:xfrm>
            <a:off x="622354" y="2031304"/>
            <a:ext cx="5952376" cy="3969446"/>
          </a:xfrm>
          <a:prstGeom prst="rect">
            <a:avLst/>
          </a:prstGeom>
        </p:spPr>
      </p:pic>
      <p:sp>
        <p:nvSpPr>
          <p:cNvPr id="4" name="Foliennummernplatzhalter 3"/>
          <p:cNvSpPr>
            <a:spLocks noGrp="1"/>
          </p:cNvSpPr>
          <p:nvPr>
            <p:ph type="sldNum" sz="quarter" idx="12"/>
          </p:nvPr>
        </p:nvSpPr>
        <p:spPr/>
        <p:txBody>
          <a:bodyPr/>
          <a:lstStyle/>
          <a:p>
            <a:fld id="{4B64EC4D-37E3-EF42-B9AB-6337577588CB}" type="slidenum">
              <a:rPr lang="de-DE" smtClean="0"/>
              <a:t>21</a:t>
            </a:fld>
            <a:endParaRPr lang="de-DE"/>
          </a:p>
        </p:txBody>
      </p:sp>
      <p:sp>
        <p:nvSpPr>
          <p:cNvPr id="5" name="Titel 4"/>
          <p:cNvSpPr>
            <a:spLocks noGrp="1"/>
          </p:cNvSpPr>
          <p:nvPr>
            <p:ph type="title"/>
          </p:nvPr>
        </p:nvSpPr>
        <p:spPr/>
        <p:txBody>
          <a:bodyPr/>
          <a:lstStyle/>
          <a:p>
            <a:r>
              <a:rPr lang="en-GB" dirty="0"/>
              <a:t>FCHV – Examples for generic operation strategy (4/5)</a:t>
            </a:r>
          </a:p>
        </p:txBody>
      </p:sp>
      <p:sp>
        <p:nvSpPr>
          <p:cNvPr id="7" name="Textfeld 6"/>
          <p:cNvSpPr txBox="1"/>
          <p:nvPr/>
        </p:nvSpPr>
        <p:spPr>
          <a:xfrm>
            <a:off x="6670431" y="2031305"/>
            <a:ext cx="2346568" cy="3323987"/>
          </a:xfrm>
          <a:prstGeom prst="rect">
            <a:avLst/>
          </a:prstGeom>
          <a:noFill/>
        </p:spPr>
        <p:txBody>
          <a:bodyPr wrap="square" rtlCol="0">
            <a:spAutoFit/>
          </a:bodyPr>
          <a:lstStyle/>
          <a:p>
            <a:pPr marL="285750" indent="-285750">
              <a:buFont typeface="Wingdings" panose="05000000000000000000" pitchFamily="2" charset="2"/>
              <a:buChar char="§"/>
            </a:pPr>
            <a:r>
              <a:rPr lang="en-US" sz="1400" b="1" dirty="0"/>
              <a:t>Using largest possible window size without violating SOC limits in any window</a:t>
            </a:r>
            <a:br>
              <a:rPr lang="en-US" sz="1400" b="1" dirty="0"/>
            </a:br>
            <a:r>
              <a:rPr lang="en-US" sz="1400" b="1" dirty="0">
                <a:sym typeface="Wingdings" panose="05000000000000000000" pitchFamily="2" charset="2"/>
              </a:rPr>
              <a:t> maximizing of battery buffer usage</a:t>
            </a:r>
            <a:br>
              <a:rPr lang="en-US" sz="1400" b="1" dirty="0">
                <a:sym typeface="Wingdings" panose="05000000000000000000" pitchFamily="2" charset="2"/>
              </a:rPr>
            </a:br>
            <a:endParaRPr lang="en-US" sz="1400" b="1" dirty="0"/>
          </a:p>
          <a:p>
            <a:pPr marL="285750" indent="-285750">
              <a:buFont typeface="Wingdings" panose="05000000000000000000" pitchFamily="2" charset="2"/>
              <a:buChar char="§"/>
            </a:pPr>
            <a:r>
              <a:rPr lang="en-GB" sz="1400" i="1" dirty="0"/>
              <a:t>Exactly same speed profile for all variants</a:t>
            </a:r>
            <a:br>
              <a:rPr lang="en-GB" sz="1400" i="1" dirty="0"/>
            </a:br>
            <a:endParaRPr lang="en-GB" sz="1400" i="1" dirty="0"/>
          </a:p>
          <a:p>
            <a:pPr marL="285750" indent="-285750">
              <a:buFont typeface="Wingdings" panose="05000000000000000000" pitchFamily="2" charset="2"/>
              <a:buChar char="§"/>
            </a:pPr>
            <a:r>
              <a:rPr lang="en-GB" sz="1400" i="1" dirty="0"/>
              <a:t>SOC limits are Engineering settings, no </a:t>
            </a:r>
            <a:r>
              <a:rPr lang="en-GB" sz="1400" i="1" dirty="0" err="1"/>
              <a:t>connex</a:t>
            </a:r>
            <a:r>
              <a:rPr lang="en-GB" sz="1400" i="1" dirty="0"/>
              <a:t> to generic limits used in Declaration Mode</a:t>
            </a:r>
          </a:p>
        </p:txBody>
      </p:sp>
      <p:sp>
        <p:nvSpPr>
          <p:cNvPr id="9" name="Textfeld 8"/>
          <p:cNvSpPr txBox="1"/>
          <p:nvPr/>
        </p:nvSpPr>
        <p:spPr>
          <a:xfrm>
            <a:off x="4767681" y="5342852"/>
            <a:ext cx="709241" cy="506485"/>
          </a:xfrm>
          <a:prstGeom prst="rect">
            <a:avLst/>
          </a:prstGeom>
          <a:noFill/>
        </p:spPr>
        <p:txBody>
          <a:bodyPr wrap="square" rtlCol="0">
            <a:spAutoFit/>
          </a:bodyPr>
          <a:lstStyle/>
          <a:p>
            <a:pPr>
              <a:lnSpc>
                <a:spcPts val="1100"/>
              </a:lnSpc>
            </a:pPr>
            <a:r>
              <a:rPr lang="de-AT" sz="900" dirty="0">
                <a:solidFill>
                  <a:schemeClr val="accent5"/>
                </a:solidFill>
              </a:rPr>
              <a:t>5 kWh</a:t>
            </a:r>
            <a:endParaRPr lang="de-AT" sz="900" dirty="0">
              <a:solidFill>
                <a:schemeClr val="accent3"/>
              </a:solidFill>
            </a:endParaRPr>
          </a:p>
          <a:p>
            <a:pPr>
              <a:lnSpc>
                <a:spcPts val="1100"/>
              </a:lnSpc>
            </a:pPr>
            <a:r>
              <a:rPr lang="de-AT" sz="900" dirty="0">
                <a:solidFill>
                  <a:schemeClr val="accent3"/>
                </a:solidFill>
              </a:rPr>
              <a:t>10 kWh</a:t>
            </a:r>
          </a:p>
          <a:p>
            <a:pPr>
              <a:lnSpc>
                <a:spcPts val="1100"/>
              </a:lnSpc>
            </a:pPr>
            <a:r>
              <a:rPr lang="de-AT" sz="900" dirty="0">
                <a:solidFill>
                  <a:srgbClr val="00B0F0"/>
                </a:solidFill>
              </a:rPr>
              <a:t>20 kWh</a:t>
            </a:r>
          </a:p>
        </p:txBody>
      </p:sp>
      <p:pic>
        <p:nvPicPr>
          <p:cNvPr id="10" name="Grafik 9"/>
          <p:cNvPicPr>
            <a:picLocks noChangeAspect="1"/>
          </p:cNvPicPr>
          <p:nvPr/>
        </p:nvPicPr>
        <p:blipFill>
          <a:blip r:embed="rId3"/>
          <a:stretch>
            <a:fillRect/>
          </a:stretch>
        </p:blipFill>
        <p:spPr>
          <a:xfrm>
            <a:off x="5273167" y="5034140"/>
            <a:ext cx="1033462" cy="748562"/>
          </a:xfrm>
          <a:prstGeom prst="rect">
            <a:avLst/>
          </a:prstGeom>
        </p:spPr>
      </p:pic>
      <p:cxnSp>
        <p:nvCxnSpPr>
          <p:cNvPr id="12" name="Gerader Verbinder 11"/>
          <p:cNvCxnSpPr/>
          <p:nvPr/>
        </p:nvCxnSpPr>
        <p:spPr>
          <a:xfrm>
            <a:off x="1002325" y="3731394"/>
            <a:ext cx="5304305"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15" name="Gerader Verbinder 14"/>
          <p:cNvCxnSpPr/>
          <p:nvPr/>
        </p:nvCxnSpPr>
        <p:spPr>
          <a:xfrm>
            <a:off x="1002324" y="5598083"/>
            <a:ext cx="2700000"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17" name="Textfeld 16"/>
          <p:cNvSpPr txBox="1"/>
          <p:nvPr/>
        </p:nvSpPr>
        <p:spPr>
          <a:xfrm>
            <a:off x="1644303" y="3480914"/>
            <a:ext cx="1366080" cy="276999"/>
          </a:xfrm>
          <a:prstGeom prst="rect">
            <a:avLst/>
          </a:prstGeom>
          <a:noFill/>
        </p:spPr>
        <p:txBody>
          <a:bodyPr wrap="none" rtlCol="0">
            <a:spAutoFit/>
          </a:bodyPr>
          <a:lstStyle/>
          <a:p>
            <a:pPr algn="ctr"/>
            <a:r>
              <a:rPr lang="de-AT" sz="1200" b="1" dirty="0" err="1">
                <a:solidFill>
                  <a:srgbClr val="F70146"/>
                </a:solidFill>
              </a:rPr>
              <a:t>Upper</a:t>
            </a:r>
            <a:r>
              <a:rPr lang="de-AT" sz="1200" b="1" dirty="0">
                <a:solidFill>
                  <a:srgbClr val="F70146"/>
                </a:solidFill>
              </a:rPr>
              <a:t> SOC </a:t>
            </a:r>
            <a:r>
              <a:rPr lang="de-AT" sz="1200" b="1" dirty="0" err="1">
                <a:solidFill>
                  <a:srgbClr val="F70146"/>
                </a:solidFill>
              </a:rPr>
              <a:t>limit</a:t>
            </a:r>
            <a:endParaRPr lang="de-AT" sz="1200" b="1" dirty="0">
              <a:solidFill>
                <a:srgbClr val="F70146"/>
              </a:solidFill>
            </a:endParaRPr>
          </a:p>
        </p:txBody>
      </p:sp>
      <p:sp>
        <p:nvSpPr>
          <p:cNvPr id="18" name="Textfeld 17"/>
          <p:cNvSpPr txBox="1"/>
          <p:nvPr/>
        </p:nvSpPr>
        <p:spPr>
          <a:xfrm>
            <a:off x="907676" y="5367678"/>
            <a:ext cx="1375698" cy="276999"/>
          </a:xfrm>
          <a:prstGeom prst="rect">
            <a:avLst/>
          </a:prstGeom>
          <a:noFill/>
        </p:spPr>
        <p:txBody>
          <a:bodyPr wrap="none" rtlCol="0">
            <a:spAutoFit/>
          </a:bodyPr>
          <a:lstStyle/>
          <a:p>
            <a:pPr algn="ctr"/>
            <a:r>
              <a:rPr lang="de-AT" sz="1200" b="1" dirty="0" err="1">
                <a:solidFill>
                  <a:srgbClr val="F70146"/>
                </a:solidFill>
              </a:rPr>
              <a:t>Lower</a:t>
            </a:r>
            <a:r>
              <a:rPr lang="de-AT" sz="1200" b="1" dirty="0">
                <a:solidFill>
                  <a:srgbClr val="F70146"/>
                </a:solidFill>
              </a:rPr>
              <a:t> SOC </a:t>
            </a:r>
            <a:r>
              <a:rPr lang="de-AT" sz="1200" b="1" dirty="0" err="1">
                <a:solidFill>
                  <a:srgbClr val="F70146"/>
                </a:solidFill>
              </a:rPr>
              <a:t>limit</a:t>
            </a:r>
            <a:endParaRPr lang="de-AT" sz="1200" b="1" dirty="0">
              <a:solidFill>
                <a:srgbClr val="F70146"/>
              </a:solidFill>
            </a:endParaRPr>
          </a:p>
        </p:txBody>
      </p:sp>
      <p:sp>
        <p:nvSpPr>
          <p:cNvPr id="13" name="Textfeld 12"/>
          <p:cNvSpPr txBox="1"/>
          <p:nvPr/>
        </p:nvSpPr>
        <p:spPr>
          <a:xfrm>
            <a:off x="3722214" y="5303553"/>
            <a:ext cx="1089342" cy="553998"/>
          </a:xfrm>
          <a:prstGeom prst="rect">
            <a:avLst/>
          </a:prstGeom>
          <a:noFill/>
        </p:spPr>
        <p:txBody>
          <a:bodyPr wrap="square" rtlCol="0">
            <a:spAutoFit/>
          </a:bodyPr>
          <a:lstStyle/>
          <a:p>
            <a:pPr>
              <a:lnSpc>
                <a:spcPts val="1200"/>
              </a:lnSpc>
            </a:pPr>
            <a:r>
              <a:rPr lang="de-AT" sz="900" b="1" dirty="0">
                <a:solidFill>
                  <a:schemeClr val="bg1"/>
                </a:solidFill>
              </a:rPr>
              <a:t>SOC </a:t>
            </a:r>
            <a:r>
              <a:rPr lang="de-AT" sz="900" b="1" dirty="0" err="1">
                <a:solidFill>
                  <a:schemeClr val="bg1"/>
                </a:solidFill>
              </a:rPr>
              <a:t>for</a:t>
            </a:r>
            <a:r>
              <a:rPr lang="de-AT" sz="900" b="1" dirty="0">
                <a:solidFill>
                  <a:schemeClr val="bg1"/>
                </a:solidFill>
              </a:rPr>
              <a:t> different </a:t>
            </a:r>
            <a:r>
              <a:rPr lang="de-AT" sz="900" b="1" dirty="0" err="1">
                <a:solidFill>
                  <a:schemeClr val="bg1"/>
                </a:solidFill>
              </a:rPr>
              <a:t>battery</a:t>
            </a:r>
            <a:r>
              <a:rPr lang="de-AT" sz="900" b="1" dirty="0">
                <a:solidFill>
                  <a:schemeClr val="bg1"/>
                </a:solidFill>
              </a:rPr>
              <a:t> </a:t>
            </a:r>
            <a:r>
              <a:rPr lang="de-AT" sz="900" b="1" dirty="0" err="1">
                <a:solidFill>
                  <a:schemeClr val="bg1"/>
                </a:solidFill>
              </a:rPr>
              <a:t>sizes</a:t>
            </a:r>
            <a:endParaRPr lang="de-AT" sz="900" b="1" dirty="0">
              <a:solidFill>
                <a:schemeClr val="bg1"/>
              </a:solidFill>
            </a:endParaRPr>
          </a:p>
        </p:txBody>
      </p:sp>
      <p:sp>
        <p:nvSpPr>
          <p:cNvPr id="14" name="Geschweifte Klammer links 13"/>
          <p:cNvSpPr/>
          <p:nvPr/>
        </p:nvSpPr>
        <p:spPr>
          <a:xfrm>
            <a:off x="4717232" y="5413866"/>
            <a:ext cx="114572" cy="360000"/>
          </a:xfrm>
          <a:prstGeom prst="leftBrace">
            <a:avLst/>
          </a:prstGeom>
          <a:ln>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Tree>
    <p:extLst>
      <p:ext uri="{BB962C8B-B14F-4D97-AF65-F5344CB8AC3E}">
        <p14:creationId xmlns:p14="http://schemas.microsoft.com/office/powerpoint/2010/main" val="2583762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a:blip r:embed="rId2"/>
          <a:stretch>
            <a:fillRect/>
          </a:stretch>
        </p:blipFill>
        <p:spPr>
          <a:xfrm>
            <a:off x="622354" y="2025994"/>
            <a:ext cx="5963929" cy="3974756"/>
          </a:xfrm>
          <a:prstGeom prst="rect">
            <a:avLst/>
          </a:prstGeom>
        </p:spPr>
      </p:pic>
      <p:sp>
        <p:nvSpPr>
          <p:cNvPr id="4" name="Foliennummernplatzhalter 3"/>
          <p:cNvSpPr>
            <a:spLocks noGrp="1"/>
          </p:cNvSpPr>
          <p:nvPr>
            <p:ph type="sldNum" sz="quarter" idx="12"/>
          </p:nvPr>
        </p:nvSpPr>
        <p:spPr/>
        <p:txBody>
          <a:bodyPr/>
          <a:lstStyle/>
          <a:p>
            <a:fld id="{4B64EC4D-37E3-EF42-B9AB-6337577588CB}" type="slidenum">
              <a:rPr lang="de-DE" smtClean="0"/>
              <a:t>22</a:t>
            </a:fld>
            <a:endParaRPr lang="de-DE"/>
          </a:p>
        </p:txBody>
      </p:sp>
      <p:sp>
        <p:nvSpPr>
          <p:cNvPr id="5" name="Titel 4"/>
          <p:cNvSpPr>
            <a:spLocks noGrp="1"/>
          </p:cNvSpPr>
          <p:nvPr>
            <p:ph type="title"/>
          </p:nvPr>
        </p:nvSpPr>
        <p:spPr/>
        <p:txBody>
          <a:bodyPr/>
          <a:lstStyle/>
          <a:p>
            <a:r>
              <a:rPr lang="en-GB" dirty="0"/>
              <a:t>FCHV – Examples for generic operation strategy (5/5)</a:t>
            </a:r>
          </a:p>
        </p:txBody>
      </p:sp>
      <p:sp>
        <p:nvSpPr>
          <p:cNvPr id="7" name="Textfeld 6"/>
          <p:cNvSpPr txBox="1"/>
          <p:nvPr/>
        </p:nvSpPr>
        <p:spPr>
          <a:xfrm>
            <a:off x="6670431" y="2031305"/>
            <a:ext cx="2346568" cy="2246769"/>
          </a:xfrm>
          <a:prstGeom prst="rect">
            <a:avLst/>
          </a:prstGeom>
          <a:noFill/>
        </p:spPr>
        <p:txBody>
          <a:bodyPr wrap="square" rtlCol="0">
            <a:spAutoFit/>
          </a:bodyPr>
          <a:lstStyle/>
          <a:p>
            <a:pPr marL="285750" indent="-285750">
              <a:buFont typeface="Wingdings" panose="05000000000000000000" pitchFamily="2" charset="2"/>
              <a:buChar char="§"/>
            </a:pPr>
            <a:r>
              <a:rPr lang="en-US" sz="1400" b="1" dirty="0"/>
              <a:t>Adaption of start SOC to specific mission in order to maximize usage of battery as buffer</a:t>
            </a:r>
            <a:br>
              <a:rPr lang="en-US" sz="1400" b="1" dirty="0"/>
            </a:br>
            <a:r>
              <a:rPr lang="en-US" sz="1400" b="1" dirty="0"/>
              <a:t>(detail from previous graph)</a:t>
            </a:r>
            <a:br>
              <a:rPr lang="en-GB" sz="1400" dirty="0"/>
            </a:br>
            <a:endParaRPr lang="en-GB" sz="1400" dirty="0"/>
          </a:p>
          <a:p>
            <a:pPr marL="285750" indent="-285750">
              <a:buFont typeface="Wingdings" panose="05000000000000000000" pitchFamily="2" charset="2"/>
              <a:buChar char="§"/>
            </a:pPr>
            <a:r>
              <a:rPr lang="en-GB" sz="1400" i="1" dirty="0"/>
              <a:t>Exactly same speed profile for all variants</a:t>
            </a:r>
          </a:p>
        </p:txBody>
      </p:sp>
      <p:sp>
        <p:nvSpPr>
          <p:cNvPr id="9" name="Textfeld 8"/>
          <p:cNvSpPr txBox="1"/>
          <p:nvPr/>
        </p:nvSpPr>
        <p:spPr>
          <a:xfrm>
            <a:off x="4767681" y="5342852"/>
            <a:ext cx="709241" cy="506485"/>
          </a:xfrm>
          <a:prstGeom prst="rect">
            <a:avLst/>
          </a:prstGeom>
          <a:noFill/>
        </p:spPr>
        <p:txBody>
          <a:bodyPr wrap="square" rtlCol="0">
            <a:spAutoFit/>
          </a:bodyPr>
          <a:lstStyle/>
          <a:p>
            <a:pPr>
              <a:lnSpc>
                <a:spcPts val="1100"/>
              </a:lnSpc>
            </a:pPr>
            <a:r>
              <a:rPr lang="de-AT" sz="900" dirty="0">
                <a:solidFill>
                  <a:schemeClr val="accent5"/>
                </a:solidFill>
              </a:rPr>
              <a:t>5 kWh</a:t>
            </a:r>
            <a:endParaRPr lang="de-AT" sz="900" dirty="0">
              <a:solidFill>
                <a:schemeClr val="accent3"/>
              </a:solidFill>
            </a:endParaRPr>
          </a:p>
          <a:p>
            <a:pPr>
              <a:lnSpc>
                <a:spcPts val="1100"/>
              </a:lnSpc>
            </a:pPr>
            <a:r>
              <a:rPr lang="de-AT" sz="900" dirty="0">
                <a:solidFill>
                  <a:schemeClr val="accent3"/>
                </a:solidFill>
              </a:rPr>
              <a:t>10 kWh</a:t>
            </a:r>
          </a:p>
          <a:p>
            <a:pPr>
              <a:lnSpc>
                <a:spcPts val="1100"/>
              </a:lnSpc>
            </a:pPr>
            <a:r>
              <a:rPr lang="de-AT" sz="900" dirty="0">
                <a:solidFill>
                  <a:srgbClr val="00B0F0"/>
                </a:solidFill>
              </a:rPr>
              <a:t>20 kWh</a:t>
            </a:r>
          </a:p>
        </p:txBody>
      </p:sp>
      <p:pic>
        <p:nvPicPr>
          <p:cNvPr id="10" name="Grafik 9"/>
          <p:cNvPicPr>
            <a:picLocks noChangeAspect="1"/>
          </p:cNvPicPr>
          <p:nvPr/>
        </p:nvPicPr>
        <p:blipFill>
          <a:blip r:embed="rId3"/>
          <a:stretch>
            <a:fillRect/>
          </a:stretch>
        </p:blipFill>
        <p:spPr>
          <a:xfrm>
            <a:off x="5273167" y="5034140"/>
            <a:ext cx="1033462" cy="748562"/>
          </a:xfrm>
          <a:prstGeom prst="rect">
            <a:avLst/>
          </a:prstGeom>
        </p:spPr>
      </p:pic>
      <p:sp>
        <p:nvSpPr>
          <p:cNvPr id="11" name="Ellipse 10"/>
          <p:cNvSpPr/>
          <p:nvPr/>
        </p:nvSpPr>
        <p:spPr bwMode="auto">
          <a:xfrm rot="5400000">
            <a:off x="921893" y="3753698"/>
            <a:ext cx="900000" cy="519351"/>
          </a:xfrm>
          <a:prstGeom prst="ellipse">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spAutoFit/>
          </a:bodyPr>
          <a:lstStyle/>
          <a:p>
            <a:pPr algn="ctr" fontAlgn="base">
              <a:spcBef>
                <a:spcPct val="30000"/>
              </a:spcBef>
              <a:spcAft>
                <a:spcPct val="0"/>
              </a:spcAft>
            </a:pPr>
            <a:endParaRPr lang="de-AT">
              <a:latin typeface="Arial" pitchFamily="34" charset="0"/>
            </a:endParaRPr>
          </a:p>
        </p:txBody>
      </p:sp>
      <p:sp>
        <p:nvSpPr>
          <p:cNvPr id="6" name="Textfeld 5"/>
          <p:cNvSpPr txBox="1"/>
          <p:nvPr/>
        </p:nvSpPr>
        <p:spPr>
          <a:xfrm rot="16200000">
            <a:off x="326267" y="3874873"/>
            <a:ext cx="1552028" cy="276999"/>
          </a:xfrm>
          <a:prstGeom prst="rect">
            <a:avLst/>
          </a:prstGeom>
          <a:noFill/>
        </p:spPr>
        <p:txBody>
          <a:bodyPr wrap="none" rtlCol="0">
            <a:spAutoFit/>
          </a:bodyPr>
          <a:lstStyle/>
          <a:p>
            <a:pPr algn="ctr"/>
            <a:r>
              <a:rPr lang="de-AT" sz="1200" b="1" dirty="0" err="1">
                <a:solidFill>
                  <a:srgbClr val="FF0000"/>
                </a:solidFill>
              </a:rPr>
              <a:t>Adapted</a:t>
            </a:r>
            <a:r>
              <a:rPr lang="de-AT" sz="1200" b="1" dirty="0">
                <a:solidFill>
                  <a:srgbClr val="FF0000"/>
                </a:solidFill>
              </a:rPr>
              <a:t> </a:t>
            </a:r>
            <a:r>
              <a:rPr lang="de-AT" sz="1200" b="1" dirty="0" err="1">
                <a:solidFill>
                  <a:srgbClr val="FF0000"/>
                </a:solidFill>
              </a:rPr>
              <a:t>start</a:t>
            </a:r>
            <a:r>
              <a:rPr lang="de-AT" sz="1200" b="1" dirty="0">
                <a:solidFill>
                  <a:srgbClr val="FF0000"/>
                </a:solidFill>
              </a:rPr>
              <a:t> SOC</a:t>
            </a:r>
          </a:p>
        </p:txBody>
      </p:sp>
      <p:sp>
        <p:nvSpPr>
          <p:cNvPr id="12" name="Textfeld 11"/>
          <p:cNvSpPr txBox="1"/>
          <p:nvPr/>
        </p:nvSpPr>
        <p:spPr>
          <a:xfrm>
            <a:off x="3722214" y="5303553"/>
            <a:ext cx="1089342" cy="553998"/>
          </a:xfrm>
          <a:prstGeom prst="rect">
            <a:avLst/>
          </a:prstGeom>
          <a:noFill/>
        </p:spPr>
        <p:txBody>
          <a:bodyPr wrap="square" rtlCol="0">
            <a:spAutoFit/>
          </a:bodyPr>
          <a:lstStyle/>
          <a:p>
            <a:pPr>
              <a:lnSpc>
                <a:spcPts val="1200"/>
              </a:lnSpc>
            </a:pPr>
            <a:r>
              <a:rPr lang="de-AT" sz="900" b="1" dirty="0">
                <a:solidFill>
                  <a:schemeClr val="bg1"/>
                </a:solidFill>
              </a:rPr>
              <a:t>SOC </a:t>
            </a:r>
            <a:r>
              <a:rPr lang="de-AT" sz="900" b="1" dirty="0" err="1">
                <a:solidFill>
                  <a:schemeClr val="bg1"/>
                </a:solidFill>
              </a:rPr>
              <a:t>for</a:t>
            </a:r>
            <a:r>
              <a:rPr lang="de-AT" sz="900" b="1" dirty="0">
                <a:solidFill>
                  <a:schemeClr val="bg1"/>
                </a:solidFill>
              </a:rPr>
              <a:t> different </a:t>
            </a:r>
            <a:r>
              <a:rPr lang="de-AT" sz="900" b="1" dirty="0" err="1">
                <a:solidFill>
                  <a:schemeClr val="bg1"/>
                </a:solidFill>
              </a:rPr>
              <a:t>battery</a:t>
            </a:r>
            <a:r>
              <a:rPr lang="de-AT" sz="900" b="1" dirty="0">
                <a:solidFill>
                  <a:schemeClr val="bg1"/>
                </a:solidFill>
              </a:rPr>
              <a:t> </a:t>
            </a:r>
            <a:r>
              <a:rPr lang="de-AT" sz="900" b="1" dirty="0" err="1">
                <a:solidFill>
                  <a:schemeClr val="bg1"/>
                </a:solidFill>
              </a:rPr>
              <a:t>sizes</a:t>
            </a:r>
            <a:endParaRPr lang="de-AT" sz="900" b="1" dirty="0">
              <a:solidFill>
                <a:schemeClr val="bg1"/>
              </a:solidFill>
            </a:endParaRPr>
          </a:p>
        </p:txBody>
      </p:sp>
      <p:sp>
        <p:nvSpPr>
          <p:cNvPr id="13" name="Geschweifte Klammer links 12"/>
          <p:cNvSpPr/>
          <p:nvPr/>
        </p:nvSpPr>
        <p:spPr>
          <a:xfrm>
            <a:off x="4717232" y="5413866"/>
            <a:ext cx="114572" cy="360000"/>
          </a:xfrm>
          <a:prstGeom prst="leftBrace">
            <a:avLst/>
          </a:prstGeom>
          <a:ln>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Tree>
    <p:extLst>
      <p:ext uri="{BB962C8B-B14F-4D97-AF65-F5344CB8AC3E}">
        <p14:creationId xmlns:p14="http://schemas.microsoft.com/office/powerpoint/2010/main" val="2672170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622354" y="2137413"/>
            <a:ext cx="8521646" cy="2072638"/>
          </a:xfrm>
        </p:spPr>
        <p:txBody>
          <a:bodyPr>
            <a:normAutofit fontScale="40000" lnSpcReduction="20000"/>
          </a:bodyPr>
          <a:lstStyle/>
          <a:p>
            <a:pPr>
              <a:spcBef>
                <a:spcPts val="1200"/>
              </a:spcBef>
            </a:pPr>
            <a:r>
              <a:rPr lang="en-US" sz="1800" dirty="0"/>
              <a:t>Release to be distributed via VECTO-DEV mailing list end of September</a:t>
            </a:r>
          </a:p>
          <a:p>
            <a:pPr lvl="1">
              <a:spcBef>
                <a:spcPts val="1200"/>
              </a:spcBef>
            </a:pPr>
            <a:r>
              <a:rPr lang="en-US" sz="1600" dirty="0"/>
              <a:t>Basic description of FCHV features will also be added to VECTO release notes</a:t>
            </a:r>
          </a:p>
          <a:p>
            <a:pPr lvl="1">
              <a:spcBef>
                <a:spcPts val="1200"/>
              </a:spcBef>
            </a:pPr>
            <a:r>
              <a:rPr lang="en-US" sz="1600" dirty="0"/>
              <a:t>Some example vehicles will be provided</a:t>
            </a:r>
          </a:p>
          <a:p>
            <a:pPr>
              <a:spcBef>
                <a:spcPts val="1200"/>
              </a:spcBef>
            </a:pPr>
            <a:r>
              <a:rPr lang="en-US" sz="1800" dirty="0"/>
              <a:t>Current release restricted to one single FCS component</a:t>
            </a:r>
          </a:p>
          <a:p>
            <a:pPr>
              <a:spcBef>
                <a:spcPts val="1200"/>
              </a:spcBef>
            </a:pPr>
            <a:r>
              <a:rPr lang="en-US" sz="1800" b="1" dirty="0">
                <a:solidFill>
                  <a:srgbClr val="FF0000"/>
                </a:solidFill>
              </a:rPr>
              <a:t>Updated release end of October will be able to handle:</a:t>
            </a:r>
          </a:p>
          <a:p>
            <a:pPr lvl="1">
              <a:spcBef>
                <a:spcPts val="1200"/>
              </a:spcBef>
            </a:pPr>
            <a:r>
              <a:rPr lang="en-US" sz="1800" dirty="0"/>
              <a:t>multiple FCS configurations as presented in TF FCS #17</a:t>
            </a:r>
          </a:p>
          <a:p>
            <a:pPr lvl="2">
              <a:spcBef>
                <a:spcPts val="1200"/>
              </a:spcBef>
            </a:pPr>
            <a:r>
              <a:rPr lang="en-US" sz="1600" dirty="0"/>
              <a:t>Maximum 2x3 configuration</a:t>
            </a:r>
            <a:br>
              <a:rPr lang="en-US" sz="1600" dirty="0"/>
            </a:br>
            <a:r>
              <a:rPr lang="en-US" sz="1200" dirty="0"/>
              <a:t>i.e. 2 different FCS with a maximum number of 3 identical systems for each of the 2 different ones</a:t>
            </a:r>
            <a:endParaRPr lang="en-US" sz="1600" dirty="0"/>
          </a:p>
          <a:p>
            <a:pPr lvl="1">
              <a:spcBef>
                <a:spcPts val="1200"/>
              </a:spcBef>
            </a:pPr>
            <a:r>
              <a:rPr lang="en-US" sz="1800" dirty="0"/>
              <a:t>Special provisions for handling power demands below minimum FCS power</a:t>
            </a:r>
          </a:p>
          <a:p>
            <a:pPr lvl="1">
              <a:spcBef>
                <a:spcPts val="1200"/>
              </a:spcBef>
            </a:pPr>
            <a:r>
              <a:rPr lang="en-US" sz="1800" dirty="0"/>
              <a:t>IMC feature combined with FCHV</a:t>
            </a:r>
          </a:p>
          <a:p>
            <a:pPr>
              <a:spcBef>
                <a:spcPts val="1200"/>
              </a:spcBef>
            </a:pPr>
            <a:endParaRPr lang="en-US" sz="1800" dirty="0"/>
          </a:p>
          <a:p>
            <a:pPr>
              <a:spcBef>
                <a:spcPts val="1200"/>
              </a:spcBef>
            </a:pPr>
            <a:endParaRPr lang="en-GB"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23</a:t>
            </a:fld>
            <a:endParaRPr lang="de-DE"/>
          </a:p>
        </p:txBody>
      </p:sp>
      <p:sp>
        <p:nvSpPr>
          <p:cNvPr id="5" name="Titel 4"/>
          <p:cNvSpPr>
            <a:spLocks noGrp="1"/>
          </p:cNvSpPr>
          <p:nvPr>
            <p:ph type="title"/>
          </p:nvPr>
        </p:nvSpPr>
        <p:spPr/>
        <p:txBody>
          <a:bodyPr/>
          <a:lstStyle/>
          <a:p>
            <a:r>
              <a:rPr lang="en-GB" dirty="0"/>
              <a:t>Fuel cell hybrid vehicles (FCHV)  - Comments</a:t>
            </a:r>
          </a:p>
        </p:txBody>
      </p:sp>
    </p:spTree>
    <p:extLst>
      <p:ext uri="{BB962C8B-B14F-4D97-AF65-F5344CB8AC3E}">
        <p14:creationId xmlns:p14="http://schemas.microsoft.com/office/powerpoint/2010/main" val="428543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722313" y="2320357"/>
            <a:ext cx="7772400" cy="1529991"/>
          </a:xfrm>
        </p:spPr>
        <p:txBody>
          <a:bodyPr anchor="ctr">
            <a:noAutofit/>
          </a:bodyPr>
          <a:lstStyle/>
          <a:p>
            <a:pPr>
              <a:spcBef>
                <a:spcPts val="4200"/>
              </a:spcBef>
            </a:pPr>
            <a:br>
              <a:rPr lang="en-US" sz="2400" b="1" dirty="0"/>
            </a:br>
            <a:r>
              <a:rPr lang="en-US" sz="2400" b="1" dirty="0"/>
              <a:t>First VECTO beta release for the 3rd Amendment </a:t>
            </a:r>
            <a:br>
              <a:rPr lang="en-US" sz="2800" b="1" dirty="0"/>
            </a:br>
            <a:br>
              <a:rPr lang="en-US" sz="2800" b="1" dirty="0"/>
            </a:br>
            <a:r>
              <a:rPr lang="en-US" sz="2000" dirty="0"/>
              <a:t>Vehicles with In-Motion Charging Features</a:t>
            </a:r>
            <a:br>
              <a:rPr lang="en-US" sz="2000" b="1" dirty="0"/>
            </a:br>
            <a:endParaRPr lang="en-US" sz="1600" b="1" dirty="0"/>
          </a:p>
        </p:txBody>
      </p:sp>
      <p:sp>
        <p:nvSpPr>
          <p:cNvPr id="6" name="Textplatzhalter 5"/>
          <p:cNvSpPr>
            <a:spLocks noGrp="1"/>
          </p:cNvSpPr>
          <p:nvPr>
            <p:ph type="body" idx="1"/>
          </p:nvPr>
        </p:nvSpPr>
        <p:spPr>
          <a:xfrm>
            <a:off x="722313" y="4276311"/>
            <a:ext cx="7772400" cy="407616"/>
          </a:xfrm>
        </p:spPr>
        <p:txBody>
          <a:bodyPr anchor="ctr"/>
          <a:lstStyle/>
          <a:p>
            <a:r>
              <a:rPr lang="en-GB"/>
              <a:t>TUG</a:t>
            </a:r>
          </a:p>
        </p:txBody>
      </p:sp>
      <p:sp>
        <p:nvSpPr>
          <p:cNvPr id="4" name="Foliennummernplatzhalter 3"/>
          <p:cNvSpPr>
            <a:spLocks noGrp="1"/>
          </p:cNvSpPr>
          <p:nvPr>
            <p:ph type="sldNum" sz="quarter" idx="12"/>
          </p:nvPr>
        </p:nvSpPr>
        <p:spPr/>
        <p:txBody>
          <a:bodyPr/>
          <a:lstStyle/>
          <a:p>
            <a:fld id="{4B64EC4D-37E3-EF42-B9AB-6337577588CB}" type="slidenum">
              <a:rPr lang="de-DE" smtClean="0"/>
              <a:t>24</a:t>
            </a:fld>
            <a:endParaRPr lang="de-DE"/>
          </a:p>
        </p:txBody>
      </p:sp>
    </p:spTree>
    <p:extLst>
      <p:ext uri="{BB962C8B-B14F-4D97-AF65-F5344CB8AC3E}">
        <p14:creationId xmlns:p14="http://schemas.microsoft.com/office/powerpoint/2010/main" val="34320195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p:txBody>
          <a:bodyPr/>
          <a:lstStyle/>
          <a:p>
            <a:pPr>
              <a:spcBef>
                <a:spcPts val="1200"/>
              </a:spcBef>
            </a:pPr>
            <a:r>
              <a:rPr lang="en-US" sz="1800"/>
              <a:t>One of the tasks of the pre-development project for the 3</a:t>
            </a:r>
            <a:r>
              <a:rPr lang="en-US" sz="1800" baseline="30000"/>
              <a:t>rd</a:t>
            </a:r>
            <a:r>
              <a:rPr lang="en-US" sz="1800"/>
              <a:t> Amendment was to analyse different systems for in-use charging of electric vehicles</a:t>
            </a:r>
          </a:p>
          <a:p>
            <a:pPr marL="792163" lvl="1" indent="-342900">
              <a:spcBef>
                <a:spcPts val="600"/>
              </a:spcBef>
              <a:buFont typeface="+mj-lt"/>
              <a:buAutoNum type="arabicParenBoth"/>
            </a:pPr>
            <a:r>
              <a:rPr lang="en-US" sz="1600"/>
              <a:t>State of the art</a:t>
            </a:r>
          </a:p>
          <a:p>
            <a:pPr marL="792163" lvl="1" indent="-342900">
              <a:spcBef>
                <a:spcPts val="600"/>
              </a:spcBef>
              <a:buFont typeface="+mj-lt"/>
              <a:buAutoNum type="arabicParenBoth"/>
            </a:pPr>
            <a:r>
              <a:rPr lang="en-US" sz="1600"/>
              <a:t>Relevance and possible paths of implementation to Regulation (EU) 2017/2400</a:t>
            </a:r>
          </a:p>
          <a:p>
            <a:pPr marL="792163" lvl="1" indent="-342900">
              <a:spcBef>
                <a:spcPts val="600"/>
              </a:spcBef>
              <a:buFont typeface="+mj-lt"/>
              <a:buAutoNum type="arabicParenBoth"/>
            </a:pPr>
            <a:r>
              <a:rPr lang="en-US" sz="1600"/>
              <a:t>Functional prototype</a:t>
            </a:r>
          </a:p>
          <a:p>
            <a:pPr>
              <a:spcBef>
                <a:spcPts val="1200"/>
              </a:spcBef>
            </a:pPr>
            <a:r>
              <a:rPr lang="en-US" sz="1800"/>
              <a:t>The analyses and proposals for (1) and (2) were presented and discussed with stakeholders in five stakeholder meetings (Oct 2021, Dec 2021, Jan 2022, Jun 2022 and Sept 2022).</a:t>
            </a:r>
          </a:p>
          <a:p>
            <a:pPr>
              <a:spcBef>
                <a:spcPts val="1200"/>
              </a:spcBef>
            </a:pPr>
            <a:r>
              <a:rPr lang="en-US" sz="1800"/>
              <a:t>The following slides summarise the most important principles and present the functional prototype</a:t>
            </a:r>
          </a:p>
          <a:p>
            <a:pPr>
              <a:spcBef>
                <a:spcPts val="1200"/>
              </a:spcBef>
            </a:pPr>
            <a:endParaRPr lang="en-GB" sz="1800"/>
          </a:p>
        </p:txBody>
      </p:sp>
      <p:sp>
        <p:nvSpPr>
          <p:cNvPr id="4" name="Foliennummernplatzhalter 3"/>
          <p:cNvSpPr>
            <a:spLocks noGrp="1"/>
          </p:cNvSpPr>
          <p:nvPr>
            <p:ph type="sldNum" sz="quarter" idx="12"/>
          </p:nvPr>
        </p:nvSpPr>
        <p:spPr/>
        <p:txBody>
          <a:bodyPr/>
          <a:lstStyle/>
          <a:p>
            <a:fld id="{4B64EC4D-37E3-EF42-B9AB-6337577588CB}" type="slidenum">
              <a:rPr lang="de-DE" smtClean="0"/>
              <a:t>25</a:t>
            </a:fld>
            <a:endParaRPr lang="de-DE"/>
          </a:p>
        </p:txBody>
      </p:sp>
      <p:sp>
        <p:nvSpPr>
          <p:cNvPr id="5" name="Titel 4"/>
          <p:cNvSpPr>
            <a:spLocks noGrp="1"/>
          </p:cNvSpPr>
          <p:nvPr>
            <p:ph type="title"/>
          </p:nvPr>
        </p:nvSpPr>
        <p:spPr/>
        <p:txBody>
          <a:bodyPr/>
          <a:lstStyle/>
          <a:p>
            <a:r>
              <a:rPr lang="en-GB"/>
              <a:t>Vehicles with In-Motion Charging (IMC) features (1/11)</a:t>
            </a:r>
          </a:p>
        </p:txBody>
      </p:sp>
    </p:spTree>
    <p:extLst>
      <p:ext uri="{BB962C8B-B14F-4D97-AF65-F5344CB8AC3E}">
        <p14:creationId xmlns:p14="http://schemas.microsoft.com/office/powerpoint/2010/main" val="1057959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p:txBody>
          <a:bodyPr/>
          <a:lstStyle/>
          <a:p>
            <a:pPr>
              <a:spcBef>
                <a:spcPts val="1200"/>
              </a:spcBef>
            </a:pPr>
            <a:r>
              <a:rPr lang="en-US" sz="1800"/>
              <a:t>Reference point for results regarding electric energy consumption</a:t>
            </a:r>
          </a:p>
          <a:p>
            <a:pPr>
              <a:spcBef>
                <a:spcPts val="1200"/>
              </a:spcBef>
            </a:pPr>
            <a:endParaRPr lang="en-GB" sz="1800"/>
          </a:p>
        </p:txBody>
      </p:sp>
      <p:sp>
        <p:nvSpPr>
          <p:cNvPr id="4" name="Foliennummernplatzhalter 3"/>
          <p:cNvSpPr>
            <a:spLocks noGrp="1"/>
          </p:cNvSpPr>
          <p:nvPr>
            <p:ph type="sldNum" sz="quarter" idx="12"/>
          </p:nvPr>
        </p:nvSpPr>
        <p:spPr/>
        <p:txBody>
          <a:bodyPr/>
          <a:lstStyle/>
          <a:p>
            <a:fld id="{4B64EC4D-37E3-EF42-B9AB-6337577588CB}" type="slidenum">
              <a:rPr lang="de-DE" smtClean="0"/>
              <a:t>26</a:t>
            </a:fld>
            <a:endParaRPr lang="de-DE"/>
          </a:p>
        </p:txBody>
      </p:sp>
      <p:sp>
        <p:nvSpPr>
          <p:cNvPr id="5" name="Titel 4"/>
          <p:cNvSpPr>
            <a:spLocks noGrp="1"/>
          </p:cNvSpPr>
          <p:nvPr>
            <p:ph type="title"/>
          </p:nvPr>
        </p:nvSpPr>
        <p:spPr/>
        <p:txBody>
          <a:bodyPr/>
          <a:lstStyle/>
          <a:p>
            <a:r>
              <a:rPr lang="en-GB"/>
              <a:t>Vehicles with In-Motion Charging (IMC) features (2/11)</a:t>
            </a:r>
          </a:p>
        </p:txBody>
      </p:sp>
      <p:pic>
        <p:nvPicPr>
          <p:cNvPr id="2" name="Grafik 1"/>
          <p:cNvPicPr>
            <a:picLocks noChangeAspect="1"/>
          </p:cNvPicPr>
          <p:nvPr/>
        </p:nvPicPr>
        <p:blipFill>
          <a:blip r:embed="rId2"/>
          <a:stretch>
            <a:fillRect/>
          </a:stretch>
        </p:blipFill>
        <p:spPr>
          <a:xfrm>
            <a:off x="622355" y="2740978"/>
            <a:ext cx="4998481" cy="2888344"/>
          </a:xfrm>
          <a:prstGeom prst="rect">
            <a:avLst/>
          </a:prstGeom>
        </p:spPr>
      </p:pic>
      <p:sp>
        <p:nvSpPr>
          <p:cNvPr id="3" name="Textfeld 2"/>
          <p:cNvSpPr txBox="1"/>
          <p:nvPr/>
        </p:nvSpPr>
        <p:spPr>
          <a:xfrm>
            <a:off x="5566229" y="2707822"/>
            <a:ext cx="3501570" cy="2262158"/>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GB" sz="1400"/>
              <a:t>Principle applied already for the 2</a:t>
            </a:r>
            <a:r>
              <a:rPr lang="en-GB" sz="1400" baseline="30000"/>
              <a:t>nd</a:t>
            </a:r>
            <a:r>
              <a:rPr lang="en-GB" sz="1400"/>
              <a:t> amendment</a:t>
            </a:r>
          </a:p>
          <a:p>
            <a:pPr marL="285750" indent="-285750">
              <a:spcBef>
                <a:spcPts val="600"/>
              </a:spcBef>
              <a:buFont typeface="Arial" panose="020B0604020202020204" pitchFamily="34" charset="0"/>
              <a:buChar char="•"/>
            </a:pPr>
            <a:r>
              <a:rPr lang="en-GB" sz="1400"/>
              <a:t>Consequences for the 3</a:t>
            </a:r>
            <a:r>
              <a:rPr lang="en-GB" sz="1400" baseline="30000"/>
              <a:t>rd</a:t>
            </a:r>
            <a:r>
              <a:rPr lang="en-GB" sz="1400"/>
              <a:t> amendment</a:t>
            </a:r>
          </a:p>
          <a:p>
            <a:pPr marL="536575" lvl="1" indent="-180975">
              <a:spcBef>
                <a:spcPts val="600"/>
              </a:spcBef>
              <a:buFont typeface="Arial" panose="020B0604020202020204" pitchFamily="34" charset="0"/>
              <a:buChar char="•"/>
            </a:pPr>
            <a:r>
              <a:rPr lang="en-GB" sz="1400"/>
              <a:t>Stationary charging: minor improvements to the Annex (max. charging power)</a:t>
            </a:r>
          </a:p>
          <a:p>
            <a:pPr marL="536575" lvl="1" indent="-180975">
              <a:spcBef>
                <a:spcPts val="600"/>
              </a:spcBef>
              <a:buFont typeface="Arial" panose="020B0604020202020204" pitchFamily="34" charset="0"/>
              <a:buChar char="•"/>
            </a:pPr>
            <a:r>
              <a:rPr lang="en-GB" sz="1400"/>
              <a:t>In-motion charging: Requires model extension and separate provisions in the Annex </a:t>
            </a:r>
          </a:p>
        </p:txBody>
      </p:sp>
    </p:spTree>
    <p:extLst>
      <p:ext uri="{BB962C8B-B14F-4D97-AF65-F5344CB8AC3E}">
        <p14:creationId xmlns:p14="http://schemas.microsoft.com/office/powerpoint/2010/main" val="3868543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p:txBody>
          <a:bodyPr/>
          <a:lstStyle/>
          <a:p>
            <a:pPr>
              <a:spcBef>
                <a:spcPts val="1200"/>
              </a:spcBef>
            </a:pPr>
            <a:r>
              <a:rPr lang="en-US" sz="1800"/>
              <a:t>Modelling in VECTO - Overview</a:t>
            </a:r>
          </a:p>
          <a:p>
            <a:pPr lvl="1">
              <a:spcBef>
                <a:spcPts val="600"/>
              </a:spcBef>
            </a:pPr>
            <a:r>
              <a:rPr lang="en-US" sz="1600" b="1" i="1"/>
              <a:t>Driving with “direct feed”</a:t>
            </a:r>
            <a:r>
              <a:rPr lang="en-US" sz="1600"/>
              <a:t> incorporated to simulations of “charge depleting” mode by postprocessing (no additional sim time, no additional definitions etc.) (</a:t>
            </a:r>
            <a:r>
              <a:rPr lang="en-US" sz="1600">
                <a:solidFill>
                  <a:srgbClr val="7030A0"/>
                </a:solidFill>
              </a:rPr>
              <a:t>DECL</a:t>
            </a:r>
            <a:r>
              <a:rPr lang="en-US" sz="1600"/>
              <a:t>)</a:t>
            </a:r>
            <a:br>
              <a:rPr lang="en-US" sz="1600"/>
            </a:br>
            <a:r>
              <a:rPr lang="en-US" sz="1600">
                <a:solidFill>
                  <a:srgbClr val="0070C0"/>
                </a:solidFill>
                <a:sym typeface="Wingdings" panose="05000000000000000000" pitchFamily="2" charset="2"/>
              </a:rPr>
              <a:t> higher utility factor / share of electric driving for OVC-HEV</a:t>
            </a:r>
            <a:br>
              <a:rPr lang="en-US" sz="1600">
                <a:solidFill>
                  <a:srgbClr val="0070C0"/>
                </a:solidFill>
                <a:sym typeface="Wingdings" panose="05000000000000000000" pitchFamily="2" charset="2"/>
              </a:rPr>
            </a:br>
            <a:r>
              <a:rPr lang="en-US" sz="1600">
                <a:solidFill>
                  <a:srgbClr val="0070C0"/>
                </a:solidFill>
                <a:sym typeface="Wingdings" panose="05000000000000000000" pitchFamily="2" charset="2"/>
              </a:rPr>
              <a:t> (slightly) lower battery internal losses</a:t>
            </a:r>
            <a:endParaRPr lang="en-US" sz="1600"/>
          </a:p>
          <a:p>
            <a:pPr lvl="1">
              <a:spcBef>
                <a:spcPts val="600"/>
              </a:spcBef>
            </a:pPr>
            <a:r>
              <a:rPr lang="en-US" sz="1600" b="1" i="1"/>
              <a:t>Charging of batteries by IMC </a:t>
            </a:r>
            <a:r>
              <a:rPr lang="en-US" sz="1600"/>
              <a:t>handled by postprocessing (</a:t>
            </a:r>
            <a:r>
              <a:rPr lang="en-US" sz="1600">
                <a:solidFill>
                  <a:srgbClr val="7030A0"/>
                </a:solidFill>
              </a:rPr>
              <a:t>DECL</a:t>
            </a:r>
            <a:r>
              <a:rPr lang="en-US" sz="1600"/>
              <a:t>)</a:t>
            </a:r>
            <a:br>
              <a:rPr lang="en-GB" sz="1600"/>
            </a:br>
            <a:r>
              <a:rPr lang="en-GB" sz="1600">
                <a:solidFill>
                  <a:srgbClr val="0070C0"/>
                </a:solidFill>
                <a:sym typeface="Wingdings" panose="05000000000000000000" pitchFamily="2" charset="2"/>
              </a:rPr>
              <a:t> </a:t>
            </a:r>
            <a:r>
              <a:rPr lang="en-US" sz="1600">
                <a:solidFill>
                  <a:srgbClr val="0070C0"/>
                </a:solidFill>
                <a:sym typeface="Wingdings" panose="05000000000000000000" pitchFamily="2" charset="2"/>
              </a:rPr>
              <a:t>higher utility factor / share of electric driving for OVC-HEV</a:t>
            </a:r>
          </a:p>
          <a:p>
            <a:pPr lvl="1">
              <a:spcBef>
                <a:spcPts val="600"/>
              </a:spcBef>
            </a:pPr>
            <a:r>
              <a:rPr lang="en-US" sz="1600" b="1" i="1">
                <a:sym typeface="Wingdings" panose="05000000000000000000" pitchFamily="2" charset="2"/>
              </a:rPr>
              <a:t>Impact on air drag </a:t>
            </a:r>
            <a:r>
              <a:rPr lang="en-US" sz="1600">
                <a:sym typeface="Wingdings" panose="05000000000000000000" pitchFamily="2" charset="2"/>
              </a:rPr>
              <a:t>incorporated to in-the loop simulation via a mission average share “active” (which applies either to motorway sections or to the total cycle) (</a:t>
            </a:r>
            <a:r>
              <a:rPr lang="en-US" sz="1600">
                <a:solidFill>
                  <a:srgbClr val="7030A0"/>
                </a:solidFill>
                <a:sym typeface="Wingdings" panose="05000000000000000000" pitchFamily="2" charset="2"/>
              </a:rPr>
              <a:t>ENG, DECL</a:t>
            </a:r>
            <a:r>
              <a:rPr lang="en-US" sz="1600">
                <a:sym typeface="Wingdings" panose="05000000000000000000" pitchFamily="2" charset="2"/>
              </a:rPr>
              <a:t>)</a:t>
            </a:r>
          </a:p>
          <a:p>
            <a:pPr lvl="1">
              <a:spcBef>
                <a:spcPts val="600"/>
              </a:spcBef>
            </a:pPr>
            <a:r>
              <a:rPr lang="en-US" sz="1600" b="1" i="1"/>
              <a:t>No direct influence on the “electric ranges"</a:t>
            </a:r>
            <a:r>
              <a:rPr lang="en-US" sz="1600"/>
              <a:t>, i.e. these are also only calculated on the basis of the usable battery capacity (</a:t>
            </a:r>
            <a:r>
              <a:rPr lang="en-US" sz="1600">
                <a:solidFill>
                  <a:srgbClr val="7030A0"/>
                </a:solidFill>
              </a:rPr>
              <a:t>DECL</a:t>
            </a:r>
            <a:r>
              <a:rPr lang="en-US" sz="1600"/>
              <a:t>)</a:t>
            </a:r>
          </a:p>
        </p:txBody>
      </p:sp>
      <p:sp>
        <p:nvSpPr>
          <p:cNvPr id="4" name="Foliennummernplatzhalter 3"/>
          <p:cNvSpPr>
            <a:spLocks noGrp="1"/>
          </p:cNvSpPr>
          <p:nvPr>
            <p:ph type="sldNum" sz="quarter" idx="12"/>
          </p:nvPr>
        </p:nvSpPr>
        <p:spPr/>
        <p:txBody>
          <a:bodyPr/>
          <a:lstStyle/>
          <a:p>
            <a:fld id="{4B64EC4D-37E3-EF42-B9AB-6337577588CB}" type="slidenum">
              <a:rPr lang="de-DE" smtClean="0"/>
              <a:t>27</a:t>
            </a:fld>
            <a:endParaRPr lang="de-DE"/>
          </a:p>
        </p:txBody>
      </p:sp>
      <p:sp>
        <p:nvSpPr>
          <p:cNvPr id="5" name="Titel 4"/>
          <p:cNvSpPr>
            <a:spLocks noGrp="1"/>
          </p:cNvSpPr>
          <p:nvPr>
            <p:ph type="title"/>
          </p:nvPr>
        </p:nvSpPr>
        <p:spPr/>
        <p:txBody>
          <a:bodyPr/>
          <a:lstStyle/>
          <a:p>
            <a:r>
              <a:rPr lang="en-GB"/>
              <a:t>Vehicles with In-Motion Charging (IMC) features (3/11)</a:t>
            </a:r>
          </a:p>
        </p:txBody>
      </p:sp>
      <p:sp>
        <p:nvSpPr>
          <p:cNvPr id="7" name="Textfeld 6"/>
          <p:cNvSpPr txBox="1"/>
          <p:nvPr/>
        </p:nvSpPr>
        <p:spPr>
          <a:xfrm>
            <a:off x="0" y="5563883"/>
            <a:ext cx="8128000" cy="246221"/>
          </a:xfrm>
          <a:prstGeom prst="rect">
            <a:avLst/>
          </a:prstGeom>
          <a:noFill/>
        </p:spPr>
        <p:txBody>
          <a:bodyPr wrap="square" rtlCol="0">
            <a:spAutoFit/>
          </a:bodyPr>
          <a:lstStyle/>
          <a:p>
            <a:r>
              <a:rPr lang="en-GB" sz="1000">
                <a:solidFill>
                  <a:srgbClr val="7030A0"/>
                </a:solidFill>
              </a:rPr>
              <a:t>DECL / ENG: Effect visible in Declaration Mode / Engineering Mode</a:t>
            </a:r>
          </a:p>
        </p:txBody>
      </p:sp>
      <p:sp>
        <p:nvSpPr>
          <p:cNvPr id="2" name="Rechteck 1"/>
          <p:cNvSpPr/>
          <p:nvPr/>
        </p:nvSpPr>
        <p:spPr>
          <a:xfrm>
            <a:off x="0" y="5754566"/>
            <a:ext cx="4572000" cy="246221"/>
          </a:xfrm>
          <a:prstGeom prst="rect">
            <a:avLst/>
          </a:prstGeom>
        </p:spPr>
        <p:txBody>
          <a:bodyPr>
            <a:spAutoFit/>
          </a:bodyPr>
          <a:lstStyle/>
          <a:p>
            <a:r>
              <a:rPr lang="en-GB" sz="1000" i="1"/>
              <a:t>Report with detailed documentation to be published soon</a:t>
            </a:r>
            <a:endParaRPr lang="en-GB" sz="1000"/>
          </a:p>
        </p:txBody>
      </p:sp>
    </p:spTree>
    <p:extLst>
      <p:ext uri="{BB962C8B-B14F-4D97-AF65-F5344CB8AC3E}">
        <p14:creationId xmlns:p14="http://schemas.microsoft.com/office/powerpoint/2010/main" val="985264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p:txBody>
          <a:bodyPr/>
          <a:lstStyle/>
          <a:p>
            <a:pPr>
              <a:spcBef>
                <a:spcPts val="1200"/>
              </a:spcBef>
            </a:pPr>
            <a:r>
              <a:rPr lang="en-US" sz="1800"/>
              <a:t>Modelling in VECTO – Calculations of electric energy consumption at battery terminals</a:t>
            </a:r>
          </a:p>
        </p:txBody>
      </p:sp>
      <p:sp>
        <p:nvSpPr>
          <p:cNvPr id="4" name="Foliennummernplatzhalter 3"/>
          <p:cNvSpPr>
            <a:spLocks noGrp="1"/>
          </p:cNvSpPr>
          <p:nvPr>
            <p:ph type="sldNum" sz="quarter" idx="12"/>
          </p:nvPr>
        </p:nvSpPr>
        <p:spPr/>
        <p:txBody>
          <a:bodyPr/>
          <a:lstStyle/>
          <a:p>
            <a:fld id="{4B64EC4D-37E3-EF42-B9AB-6337577588CB}" type="slidenum">
              <a:rPr lang="de-DE" smtClean="0"/>
              <a:t>28</a:t>
            </a:fld>
            <a:endParaRPr lang="de-DE"/>
          </a:p>
        </p:txBody>
      </p:sp>
      <p:sp>
        <p:nvSpPr>
          <p:cNvPr id="5" name="Titel 4"/>
          <p:cNvSpPr>
            <a:spLocks noGrp="1"/>
          </p:cNvSpPr>
          <p:nvPr>
            <p:ph type="title"/>
          </p:nvPr>
        </p:nvSpPr>
        <p:spPr/>
        <p:txBody>
          <a:bodyPr/>
          <a:lstStyle/>
          <a:p>
            <a:r>
              <a:rPr lang="en-GB"/>
              <a:t>Vehicles with In-Motion Charging (IMC) features (4/11)</a:t>
            </a:r>
          </a:p>
        </p:txBody>
      </p:sp>
      <p:pic>
        <p:nvPicPr>
          <p:cNvPr id="2" name="Grafik 1"/>
          <p:cNvPicPr>
            <a:picLocks noChangeAspect="1"/>
          </p:cNvPicPr>
          <p:nvPr/>
        </p:nvPicPr>
        <p:blipFill>
          <a:blip r:embed="rId2"/>
          <a:stretch>
            <a:fillRect/>
          </a:stretch>
        </p:blipFill>
        <p:spPr>
          <a:xfrm>
            <a:off x="4368800" y="3068434"/>
            <a:ext cx="4567123" cy="1890737"/>
          </a:xfrm>
          <a:prstGeom prst="rect">
            <a:avLst/>
          </a:prstGeom>
        </p:spPr>
      </p:pic>
      <p:sp>
        <p:nvSpPr>
          <p:cNvPr id="3" name="Textfeld 2"/>
          <p:cNvSpPr txBox="1"/>
          <p:nvPr/>
        </p:nvSpPr>
        <p:spPr>
          <a:xfrm>
            <a:off x="1" y="5467749"/>
            <a:ext cx="6270172" cy="461665"/>
          </a:xfrm>
          <a:prstGeom prst="rect">
            <a:avLst/>
          </a:prstGeom>
          <a:noFill/>
        </p:spPr>
        <p:txBody>
          <a:bodyPr wrap="square" rtlCol="0">
            <a:spAutoFit/>
          </a:bodyPr>
          <a:lstStyle/>
          <a:p>
            <a:r>
              <a:rPr lang="en-GB" sz="1200" i="1"/>
              <a:t>Calculation examples see Task3_Masterexcel_OVC_IMC.xlsx as distributed with ppt</a:t>
            </a:r>
            <a:br>
              <a:rPr lang="en-GB" sz="1200" i="1"/>
            </a:br>
            <a:r>
              <a:rPr lang="en-GB" sz="1200" i="1"/>
              <a:t>Report with detailed documentation to be published soon</a:t>
            </a:r>
          </a:p>
        </p:txBody>
      </p:sp>
      <p:sp>
        <p:nvSpPr>
          <p:cNvPr id="7" name="Textfeld 6"/>
          <p:cNvSpPr txBox="1"/>
          <p:nvPr/>
        </p:nvSpPr>
        <p:spPr>
          <a:xfrm>
            <a:off x="5762170" y="2778908"/>
            <a:ext cx="4274458" cy="246221"/>
          </a:xfrm>
          <a:prstGeom prst="rect">
            <a:avLst/>
          </a:prstGeom>
          <a:noFill/>
        </p:spPr>
        <p:txBody>
          <a:bodyPr wrap="square" rtlCol="0">
            <a:spAutoFit/>
          </a:bodyPr>
          <a:lstStyle/>
          <a:p>
            <a:r>
              <a:rPr lang="en-GB" sz="1000">
                <a:solidFill>
                  <a:srgbClr val="7030A0"/>
                </a:solidFill>
              </a:rPr>
              <a:t>Lila terms: new elements introduced for IMC modelling</a:t>
            </a:r>
          </a:p>
        </p:txBody>
      </p:sp>
      <p:pic>
        <p:nvPicPr>
          <p:cNvPr id="9" name="Grafik 8"/>
          <p:cNvPicPr/>
          <p:nvPr/>
        </p:nvPicPr>
        <p:blipFill>
          <a:blip r:embed="rId3"/>
          <a:stretch>
            <a:fillRect/>
          </a:stretch>
        </p:blipFill>
        <p:spPr>
          <a:xfrm>
            <a:off x="694145" y="2783148"/>
            <a:ext cx="3274263" cy="2374606"/>
          </a:xfrm>
          <a:prstGeom prst="rect">
            <a:avLst/>
          </a:prstGeom>
        </p:spPr>
      </p:pic>
    </p:spTree>
    <p:extLst>
      <p:ext uri="{BB962C8B-B14F-4D97-AF65-F5344CB8AC3E}">
        <p14:creationId xmlns:p14="http://schemas.microsoft.com/office/powerpoint/2010/main" val="465331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p:txBody>
          <a:bodyPr/>
          <a:lstStyle/>
          <a:p>
            <a:pPr>
              <a:spcBef>
                <a:spcPts val="1200"/>
              </a:spcBef>
            </a:pPr>
            <a:r>
              <a:rPr lang="en-US" sz="1800"/>
              <a:t>Modelling in VECTO – Current proposals for Declaration Mode</a:t>
            </a:r>
          </a:p>
        </p:txBody>
      </p:sp>
      <p:sp>
        <p:nvSpPr>
          <p:cNvPr id="4" name="Foliennummernplatzhalter 3"/>
          <p:cNvSpPr>
            <a:spLocks noGrp="1"/>
          </p:cNvSpPr>
          <p:nvPr>
            <p:ph type="sldNum" sz="quarter" idx="12"/>
          </p:nvPr>
        </p:nvSpPr>
        <p:spPr/>
        <p:txBody>
          <a:bodyPr/>
          <a:lstStyle/>
          <a:p>
            <a:fld id="{4B64EC4D-37E3-EF42-B9AB-6337577588CB}" type="slidenum">
              <a:rPr lang="de-DE" smtClean="0"/>
              <a:t>29</a:t>
            </a:fld>
            <a:endParaRPr lang="de-DE"/>
          </a:p>
        </p:txBody>
      </p:sp>
      <p:sp>
        <p:nvSpPr>
          <p:cNvPr id="5" name="Titel 4"/>
          <p:cNvSpPr>
            <a:spLocks noGrp="1"/>
          </p:cNvSpPr>
          <p:nvPr>
            <p:ph type="title"/>
          </p:nvPr>
        </p:nvSpPr>
        <p:spPr/>
        <p:txBody>
          <a:bodyPr/>
          <a:lstStyle/>
          <a:p>
            <a:r>
              <a:rPr lang="en-GB"/>
              <a:t>Vehicles with In-Motion Charging (IMC) features (5/11)</a:t>
            </a:r>
          </a:p>
        </p:txBody>
      </p:sp>
      <p:sp>
        <p:nvSpPr>
          <p:cNvPr id="3" name="Textfeld 2"/>
          <p:cNvSpPr txBox="1"/>
          <p:nvPr/>
        </p:nvSpPr>
        <p:spPr>
          <a:xfrm>
            <a:off x="4593101" y="5570868"/>
            <a:ext cx="3985953" cy="276999"/>
          </a:xfrm>
          <a:prstGeom prst="rect">
            <a:avLst/>
          </a:prstGeom>
          <a:noFill/>
        </p:spPr>
        <p:txBody>
          <a:bodyPr wrap="square" rtlCol="0">
            <a:spAutoFit/>
          </a:bodyPr>
          <a:lstStyle/>
          <a:p>
            <a:r>
              <a:rPr lang="en-GB" sz="1200" i="1">
                <a:solidFill>
                  <a:srgbClr val="7030A0"/>
                </a:solidFill>
              </a:rPr>
              <a:t>Lila: to be worked out for the 3</a:t>
            </a:r>
            <a:r>
              <a:rPr lang="en-GB" sz="1200" i="1" baseline="30000">
                <a:solidFill>
                  <a:srgbClr val="7030A0"/>
                </a:solidFill>
              </a:rPr>
              <a:t>rd</a:t>
            </a:r>
            <a:r>
              <a:rPr lang="en-GB" sz="1200" i="1">
                <a:solidFill>
                  <a:srgbClr val="7030A0"/>
                </a:solidFill>
              </a:rPr>
              <a:t> amendment</a:t>
            </a:r>
          </a:p>
        </p:txBody>
      </p:sp>
      <p:graphicFrame>
        <p:nvGraphicFramePr>
          <p:cNvPr id="8" name="Tabelle 7"/>
          <p:cNvGraphicFramePr>
            <a:graphicFrameLocks noGrp="1"/>
          </p:cNvGraphicFramePr>
          <p:nvPr>
            <p:extLst/>
          </p:nvPr>
        </p:nvGraphicFramePr>
        <p:xfrm>
          <a:off x="897190" y="2533649"/>
          <a:ext cx="7971038" cy="2826684"/>
        </p:xfrm>
        <a:graphic>
          <a:graphicData uri="http://schemas.openxmlformats.org/drawingml/2006/table">
            <a:tbl>
              <a:tblPr firstRow="1" firstCol="1" bandRow="1">
                <a:tableStyleId>{21E4AEA4-8DFA-4A89-87EB-49C32662AFE0}</a:tableStyleId>
              </a:tblPr>
              <a:tblGrid>
                <a:gridCol w="1145583">
                  <a:extLst>
                    <a:ext uri="{9D8B030D-6E8A-4147-A177-3AD203B41FA5}">
                      <a16:colId xmlns:a16="http://schemas.microsoft.com/office/drawing/2014/main" val="2492321384"/>
                    </a:ext>
                  </a:extLst>
                </a:gridCol>
                <a:gridCol w="851700">
                  <a:extLst>
                    <a:ext uri="{9D8B030D-6E8A-4147-A177-3AD203B41FA5}">
                      <a16:colId xmlns:a16="http://schemas.microsoft.com/office/drawing/2014/main" val="2372302937"/>
                    </a:ext>
                  </a:extLst>
                </a:gridCol>
                <a:gridCol w="827158">
                  <a:extLst>
                    <a:ext uri="{9D8B030D-6E8A-4147-A177-3AD203B41FA5}">
                      <a16:colId xmlns:a16="http://schemas.microsoft.com/office/drawing/2014/main" val="2678848159"/>
                    </a:ext>
                  </a:extLst>
                </a:gridCol>
                <a:gridCol w="880818">
                  <a:extLst>
                    <a:ext uri="{9D8B030D-6E8A-4147-A177-3AD203B41FA5}">
                      <a16:colId xmlns:a16="http://schemas.microsoft.com/office/drawing/2014/main" val="51302555"/>
                    </a:ext>
                  </a:extLst>
                </a:gridCol>
                <a:gridCol w="4265779">
                  <a:extLst>
                    <a:ext uri="{9D8B030D-6E8A-4147-A177-3AD203B41FA5}">
                      <a16:colId xmlns:a16="http://schemas.microsoft.com/office/drawing/2014/main" val="1713474923"/>
                    </a:ext>
                  </a:extLst>
                </a:gridCol>
              </a:tblGrid>
              <a:tr h="182414">
                <a:tc rowSpan="2">
                  <a:txBody>
                    <a:bodyPr/>
                    <a:lstStyle/>
                    <a:p>
                      <a:pPr algn="ctr">
                        <a:lnSpc>
                          <a:spcPct val="120000"/>
                        </a:lnSpc>
                        <a:spcAft>
                          <a:spcPts val="0"/>
                        </a:spcAft>
                      </a:pPr>
                      <a:r>
                        <a:rPr lang="en-GB" sz="1200" b="1" kern="1200">
                          <a:effectLst/>
                        </a:rPr>
                        <a:t>In-motion charging “technology”</a:t>
                      </a:r>
                      <a:endParaRPr lang="de-AT" sz="1200" b="1">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gridSpan="3">
                  <a:txBody>
                    <a:bodyPr/>
                    <a:lstStyle/>
                    <a:p>
                      <a:pPr algn="ctr">
                        <a:lnSpc>
                          <a:spcPct val="120000"/>
                        </a:lnSpc>
                        <a:spcAft>
                          <a:spcPts val="0"/>
                        </a:spcAft>
                      </a:pPr>
                      <a:r>
                        <a:rPr lang="en-GB" sz="1200" kern="1200">
                          <a:effectLst/>
                        </a:rPr>
                        <a:t>Relevance</a:t>
                      </a:r>
                      <a:endParaRPr lang="de-AT" sz="120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hMerge="1">
                  <a:txBody>
                    <a:bodyPr/>
                    <a:lstStyle/>
                    <a:p>
                      <a:endParaRPr lang="en-GB"/>
                    </a:p>
                  </a:txBody>
                  <a:tcPr/>
                </a:tc>
                <a:tc hMerge="1">
                  <a:txBody>
                    <a:bodyPr/>
                    <a:lstStyle/>
                    <a:p>
                      <a:endParaRPr lang="en-GB"/>
                    </a:p>
                  </a:txBody>
                  <a:tcPr/>
                </a:tc>
                <a:tc rowSpan="2">
                  <a:txBody>
                    <a:bodyPr/>
                    <a:lstStyle/>
                    <a:p>
                      <a:pPr algn="ctr">
                        <a:lnSpc>
                          <a:spcPct val="120000"/>
                        </a:lnSpc>
                        <a:spcAft>
                          <a:spcPts val="0"/>
                        </a:spcAft>
                      </a:pPr>
                      <a:r>
                        <a:rPr lang="en-GB" sz="1200" kern="1200">
                          <a:effectLst/>
                        </a:rPr>
                        <a:t>Proposal for definition in Regulation (EU) 2017/2400</a:t>
                      </a:r>
                      <a:endParaRPr lang="de-AT" sz="120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extLst>
                  <a:ext uri="{0D108BD9-81ED-4DB2-BD59-A6C34878D82A}">
                    <a16:rowId xmlns:a16="http://schemas.microsoft.com/office/drawing/2014/main" val="178633619"/>
                  </a:ext>
                </a:extLst>
              </a:tr>
              <a:tr h="362001">
                <a:tc vMerge="1">
                  <a:txBody>
                    <a:bodyPr/>
                    <a:lstStyle/>
                    <a:p>
                      <a:endParaRPr lang="en-GB"/>
                    </a:p>
                  </a:txBody>
                  <a:tcPr/>
                </a:tc>
                <a:tc>
                  <a:txBody>
                    <a:bodyPr/>
                    <a:lstStyle/>
                    <a:p>
                      <a:pPr algn="ctr">
                        <a:lnSpc>
                          <a:spcPct val="120000"/>
                        </a:lnSpc>
                        <a:spcAft>
                          <a:spcPts val="0"/>
                        </a:spcAft>
                      </a:pPr>
                      <a:r>
                        <a:rPr lang="en-GB" sz="1050" b="1" kern="1200">
                          <a:effectLst/>
                        </a:rPr>
                        <a:t>Heavy lorries</a:t>
                      </a:r>
                      <a:endParaRPr lang="de-AT" sz="1050" b="1">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b="1" kern="1200">
                          <a:effectLst/>
                        </a:rPr>
                        <a:t>Heavy buses</a:t>
                      </a:r>
                      <a:endParaRPr lang="de-AT" sz="1050" b="1">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b="1" kern="1200">
                          <a:effectLst/>
                        </a:rPr>
                        <a:t>Medium lorries</a:t>
                      </a:r>
                      <a:endParaRPr lang="de-AT" sz="1050" b="1">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vMerge="1">
                  <a:txBody>
                    <a:bodyPr/>
                    <a:lstStyle/>
                    <a:p>
                      <a:endParaRPr lang="en-GB"/>
                    </a:p>
                  </a:txBody>
                  <a:tcPr/>
                </a:tc>
                <a:extLst>
                  <a:ext uri="{0D108BD9-81ED-4DB2-BD59-A6C34878D82A}">
                    <a16:rowId xmlns:a16="http://schemas.microsoft.com/office/drawing/2014/main" val="2946160156"/>
                  </a:ext>
                </a:extLst>
              </a:tr>
              <a:tr h="483163">
                <a:tc>
                  <a:txBody>
                    <a:bodyPr/>
                    <a:lstStyle/>
                    <a:p>
                      <a:pPr algn="l">
                        <a:lnSpc>
                          <a:spcPct val="120000"/>
                        </a:lnSpc>
                        <a:spcAft>
                          <a:spcPts val="0"/>
                        </a:spcAft>
                      </a:pPr>
                      <a:r>
                        <a:rPr lang="en-GB" sz="1200" kern="1200">
                          <a:effectLst/>
                          <a:latin typeface="Times New Roman" panose="02020603050405020304" pitchFamily="18" charset="0"/>
                          <a:cs typeface="Times New Roman" panose="02020603050405020304" pitchFamily="18" charset="0"/>
                        </a:rPr>
                        <a:t>Overhead pantograph</a:t>
                      </a:r>
                      <a:endParaRPr lang="de-AT"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Yes</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Yes</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No</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l">
                        <a:lnSpc>
                          <a:spcPct val="120000"/>
                        </a:lnSpc>
                        <a:spcAft>
                          <a:spcPts val="0"/>
                        </a:spcAft>
                      </a:pPr>
                      <a:r>
                        <a:rPr lang="en-GB" sz="1050" kern="1200">
                          <a:solidFill>
                            <a:srgbClr val="7030A0"/>
                          </a:solidFill>
                          <a:effectLst/>
                          <a:latin typeface="Times" panose="02020603060405020304" pitchFamily="18" charset="0"/>
                        </a:rPr>
                        <a:t>Vehicle equipped with overhead pantograph for connection with overhead catenary infrastructure as regulated by </a:t>
                      </a:r>
                      <a:r>
                        <a:rPr lang="en-GB" sz="1050" i="1" kern="1200">
                          <a:solidFill>
                            <a:srgbClr val="7030A0"/>
                          </a:solidFill>
                          <a:effectLst/>
                          <a:latin typeface="Times" panose="02020603060405020304" pitchFamily="18" charset="0"/>
                        </a:rPr>
                        <a:t>standard tbd</a:t>
                      </a:r>
                      <a:endParaRPr lang="de-AT" sz="1050">
                        <a:solidFill>
                          <a:srgbClr val="7030A0"/>
                        </a:solidFill>
                        <a:effectLst/>
                        <a:latin typeface="Times" panose="02020603060405020304" pitchFamily="18" charset="0"/>
                      </a:endParaRPr>
                    </a:p>
                    <a:p>
                      <a:pPr algn="l">
                        <a:lnSpc>
                          <a:spcPct val="120000"/>
                        </a:lnSpc>
                        <a:spcAft>
                          <a:spcPts val="0"/>
                        </a:spcAft>
                      </a:pPr>
                      <a:r>
                        <a:rPr lang="en-GB" sz="1050" kern="1200">
                          <a:solidFill>
                            <a:srgbClr val="7030A0"/>
                          </a:solidFill>
                          <a:effectLst/>
                          <a:latin typeface="Times" panose="02020603060405020304" pitchFamily="18" charset="0"/>
                        </a:rPr>
                        <a:t>and which is not overhead trolley.</a:t>
                      </a:r>
                      <a:endParaRPr lang="de-AT" sz="1050">
                        <a:solidFill>
                          <a:srgbClr val="7030A0"/>
                        </a:solidFill>
                        <a:effectLst/>
                        <a:latin typeface="Times" panose="02020603060405020304" pitchFamily="18" charset="0"/>
                        <a:ea typeface="Times New Roman" panose="02020603050405020304" pitchFamily="18" charset="0"/>
                        <a:cs typeface="Times New Roman" panose="02020603050405020304" pitchFamily="18" charset="0"/>
                      </a:endParaRPr>
                    </a:p>
                  </a:txBody>
                  <a:tcPr marL="28281" marR="28281" marT="28281" marB="28281" anchor="ctr"/>
                </a:tc>
                <a:extLst>
                  <a:ext uri="{0D108BD9-81ED-4DB2-BD59-A6C34878D82A}">
                    <a16:rowId xmlns:a16="http://schemas.microsoft.com/office/drawing/2014/main" val="4061993461"/>
                  </a:ext>
                </a:extLst>
              </a:tr>
              <a:tr h="336510">
                <a:tc>
                  <a:txBody>
                    <a:bodyPr/>
                    <a:lstStyle/>
                    <a:p>
                      <a:pPr algn="l">
                        <a:lnSpc>
                          <a:spcPct val="120000"/>
                        </a:lnSpc>
                        <a:spcAft>
                          <a:spcPts val="0"/>
                        </a:spcAft>
                      </a:pPr>
                      <a:r>
                        <a:rPr lang="en-GB" sz="1200" kern="1200">
                          <a:effectLst/>
                          <a:latin typeface="Times New Roman" panose="02020603050405020304" pitchFamily="18" charset="0"/>
                          <a:cs typeface="Times New Roman" panose="02020603050405020304" pitchFamily="18" charset="0"/>
                        </a:rPr>
                        <a:t>Overhead trolley</a:t>
                      </a:r>
                      <a:endParaRPr lang="de-AT"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No</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Yes</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No</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l">
                        <a:lnSpc>
                          <a:spcPct val="120000"/>
                        </a:lnSpc>
                        <a:spcAft>
                          <a:spcPts val="0"/>
                        </a:spcAft>
                      </a:pPr>
                      <a:r>
                        <a:rPr lang="en-GB" sz="1050">
                          <a:solidFill>
                            <a:srgbClr val="7030A0"/>
                          </a:solidFill>
                          <a:effectLst/>
                          <a:latin typeface="Times" panose="02020603060405020304" pitchFamily="18" charset="0"/>
                        </a:rPr>
                        <a:t>Vehicle equipped with poles for connection with overhead catenary infrastructure as regulated in Annex 12 to UN Regulation 107 revision 8. </a:t>
                      </a:r>
                      <a:endParaRPr lang="de-AT" sz="1050">
                        <a:solidFill>
                          <a:srgbClr val="7030A0"/>
                        </a:solidFill>
                        <a:effectLst/>
                        <a:latin typeface="Times" panose="02020603060405020304" pitchFamily="18" charset="0"/>
                        <a:ea typeface="Times New Roman" panose="02020603050405020304" pitchFamily="18" charset="0"/>
                        <a:cs typeface="Times New Roman" panose="02020603050405020304" pitchFamily="18" charset="0"/>
                      </a:endParaRPr>
                    </a:p>
                  </a:txBody>
                  <a:tcPr marL="28281" marR="28281" marT="28281" marB="28281"/>
                </a:tc>
                <a:extLst>
                  <a:ext uri="{0D108BD9-81ED-4DB2-BD59-A6C34878D82A}">
                    <a16:rowId xmlns:a16="http://schemas.microsoft.com/office/drawing/2014/main" val="3457649429"/>
                  </a:ext>
                </a:extLst>
              </a:tr>
              <a:tr h="336510">
                <a:tc>
                  <a:txBody>
                    <a:bodyPr/>
                    <a:lstStyle/>
                    <a:p>
                      <a:pPr algn="l">
                        <a:lnSpc>
                          <a:spcPct val="120000"/>
                        </a:lnSpc>
                        <a:spcAft>
                          <a:spcPts val="0"/>
                        </a:spcAft>
                      </a:pPr>
                      <a:r>
                        <a:rPr lang="en-GB" sz="1200" kern="1200">
                          <a:effectLst/>
                          <a:latin typeface="Times New Roman" panose="02020603050405020304" pitchFamily="18" charset="0"/>
                          <a:cs typeface="Times New Roman" panose="02020603050405020304" pitchFamily="18" charset="0"/>
                        </a:rPr>
                        <a:t>Ground-rail</a:t>
                      </a:r>
                      <a:endParaRPr lang="de-AT"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Yes</a:t>
                      </a:r>
                      <a:r>
                        <a:rPr lang="en-GB" sz="1050" kern="1200" baseline="30000">
                          <a:effectLst/>
                        </a:rPr>
                        <a:t>1</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Yes</a:t>
                      </a:r>
                      <a:r>
                        <a:rPr lang="en-GB" sz="1050" kern="1200" baseline="30000">
                          <a:effectLst/>
                        </a:rPr>
                        <a:t>1</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Yes</a:t>
                      </a:r>
                      <a:r>
                        <a:rPr lang="en-GB" sz="1050" kern="1200" baseline="30000">
                          <a:effectLst/>
                        </a:rPr>
                        <a:t>1</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l">
                        <a:lnSpc>
                          <a:spcPct val="120000"/>
                        </a:lnSpc>
                        <a:spcAft>
                          <a:spcPts val="0"/>
                        </a:spcAft>
                      </a:pPr>
                      <a:r>
                        <a:rPr lang="en-GB" sz="1050">
                          <a:solidFill>
                            <a:srgbClr val="7030A0"/>
                          </a:solidFill>
                          <a:effectLst/>
                          <a:latin typeface="Times" panose="02020603060405020304" pitchFamily="18" charset="0"/>
                        </a:rPr>
                        <a:t>Charging technology that conductively transfers the electrical energy to the vehicle through rails embedded in or on top of the road surface.</a:t>
                      </a:r>
                      <a:endParaRPr lang="de-AT" sz="1050">
                        <a:solidFill>
                          <a:srgbClr val="7030A0"/>
                        </a:solidFill>
                        <a:effectLst/>
                        <a:latin typeface="Times" panose="02020603060405020304" pitchFamily="18" charset="0"/>
                        <a:ea typeface="Times New Roman" panose="02020603050405020304" pitchFamily="18" charset="0"/>
                        <a:cs typeface="Times New Roman" panose="02020603050405020304" pitchFamily="18" charset="0"/>
                      </a:endParaRPr>
                    </a:p>
                  </a:txBody>
                  <a:tcPr marL="28281" marR="28281" marT="28281" marB="28281"/>
                </a:tc>
                <a:extLst>
                  <a:ext uri="{0D108BD9-81ED-4DB2-BD59-A6C34878D82A}">
                    <a16:rowId xmlns:a16="http://schemas.microsoft.com/office/drawing/2014/main" val="832335128"/>
                  </a:ext>
                </a:extLst>
              </a:tr>
              <a:tr h="483163">
                <a:tc>
                  <a:txBody>
                    <a:bodyPr/>
                    <a:lstStyle/>
                    <a:p>
                      <a:pPr algn="l">
                        <a:lnSpc>
                          <a:spcPct val="120000"/>
                        </a:lnSpc>
                        <a:spcAft>
                          <a:spcPts val="0"/>
                        </a:spcAft>
                      </a:pPr>
                      <a:r>
                        <a:rPr lang="en-GB" sz="1200" kern="1200">
                          <a:effectLst/>
                          <a:latin typeface="Times New Roman" panose="02020603050405020304" pitchFamily="18" charset="0"/>
                          <a:cs typeface="Times New Roman" panose="02020603050405020304" pitchFamily="18" charset="0"/>
                        </a:rPr>
                        <a:t>Wireless</a:t>
                      </a:r>
                      <a:endParaRPr lang="de-AT"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Yes</a:t>
                      </a:r>
                      <a:r>
                        <a:rPr lang="en-GB" sz="1050" kern="1200" baseline="30000">
                          <a:effectLst/>
                        </a:rPr>
                        <a:t>1</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Yes</a:t>
                      </a:r>
                      <a:r>
                        <a:rPr lang="en-GB" sz="1050" kern="1200" baseline="30000">
                          <a:effectLst/>
                        </a:rPr>
                        <a:t>1</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ctr">
                        <a:lnSpc>
                          <a:spcPct val="120000"/>
                        </a:lnSpc>
                        <a:spcAft>
                          <a:spcPts val="0"/>
                        </a:spcAft>
                      </a:pPr>
                      <a:r>
                        <a:rPr lang="en-GB" sz="1050" kern="1200">
                          <a:effectLst/>
                        </a:rPr>
                        <a:t>Yes</a:t>
                      </a:r>
                      <a:r>
                        <a:rPr lang="en-GB" sz="1050" kern="1200" baseline="30000">
                          <a:effectLst/>
                        </a:rPr>
                        <a:t>1</a:t>
                      </a:r>
                      <a:endParaRPr lang="de-AT" sz="1050">
                        <a:effectLst/>
                        <a:latin typeface="Arial" panose="020B0604020202020204" pitchFamily="34" charset="0"/>
                        <a:ea typeface="Times New Roman" panose="02020603050405020304" pitchFamily="18" charset="0"/>
                        <a:cs typeface="Times New Roman" panose="02020603050405020304" pitchFamily="18" charset="0"/>
                      </a:endParaRPr>
                    </a:p>
                  </a:txBody>
                  <a:tcPr marL="28281" marR="28281" marT="28281" marB="28281" anchor="ctr"/>
                </a:tc>
                <a:tc>
                  <a:txBody>
                    <a:bodyPr/>
                    <a:lstStyle/>
                    <a:p>
                      <a:pPr algn="l">
                        <a:lnSpc>
                          <a:spcPct val="120000"/>
                        </a:lnSpc>
                        <a:spcAft>
                          <a:spcPts val="0"/>
                        </a:spcAft>
                      </a:pPr>
                      <a:r>
                        <a:rPr lang="en-GB" sz="1050">
                          <a:solidFill>
                            <a:srgbClr val="7030A0"/>
                          </a:solidFill>
                          <a:effectLst/>
                          <a:latin typeface="Times" panose="02020603060405020304" pitchFamily="18" charset="0"/>
                        </a:rPr>
                        <a:t>Charging technology that inductively transfers the electrical energy to the vehicle through devices embedded in or on top of the road surface providing magnetic fields as they are specified IEC 61980.</a:t>
                      </a:r>
                      <a:endParaRPr lang="de-AT" sz="1050">
                        <a:solidFill>
                          <a:srgbClr val="7030A0"/>
                        </a:solidFill>
                        <a:effectLst/>
                        <a:latin typeface="Times" panose="02020603060405020304" pitchFamily="18" charset="0"/>
                        <a:ea typeface="Times New Roman" panose="02020603050405020304" pitchFamily="18" charset="0"/>
                        <a:cs typeface="Times New Roman" panose="02020603050405020304" pitchFamily="18" charset="0"/>
                      </a:endParaRPr>
                    </a:p>
                  </a:txBody>
                  <a:tcPr marL="28281" marR="28281" marT="28281" marB="28281"/>
                </a:tc>
                <a:extLst>
                  <a:ext uri="{0D108BD9-81ED-4DB2-BD59-A6C34878D82A}">
                    <a16:rowId xmlns:a16="http://schemas.microsoft.com/office/drawing/2014/main" val="4169245873"/>
                  </a:ext>
                </a:extLst>
              </a:tr>
            </a:tbl>
          </a:graphicData>
        </a:graphic>
      </p:graphicFrame>
      <p:sp>
        <p:nvSpPr>
          <p:cNvPr id="2" name="Rechteck 1"/>
          <p:cNvSpPr/>
          <p:nvPr/>
        </p:nvSpPr>
        <p:spPr>
          <a:xfrm>
            <a:off x="897190" y="5541938"/>
            <a:ext cx="2565562" cy="400110"/>
          </a:xfrm>
          <a:prstGeom prst="rect">
            <a:avLst/>
          </a:prstGeom>
        </p:spPr>
        <p:txBody>
          <a:bodyPr wrap="square">
            <a:spAutoFit/>
          </a:bodyPr>
          <a:lstStyle/>
          <a:p>
            <a:r>
              <a:rPr lang="en-GB" sz="1000" baseline="30000">
                <a:latin typeface="Arial" panose="020B0604020202020204" pitchFamily="34" charset="0"/>
                <a:ea typeface="Times New Roman" panose="02020603050405020304" pitchFamily="18" charset="0"/>
              </a:rPr>
              <a:t>1 </a:t>
            </a:r>
            <a:r>
              <a:rPr lang="en-GB" sz="1000">
                <a:latin typeface="Arial" panose="020B0604020202020204" pitchFamily="34" charset="0"/>
                <a:ea typeface="Times New Roman" panose="02020603050405020304" pitchFamily="18" charset="0"/>
              </a:rPr>
              <a:t>Only Potential niche applications are conceivable. </a:t>
            </a:r>
            <a:endParaRPr lang="en-GB" sz="1000"/>
          </a:p>
        </p:txBody>
      </p:sp>
    </p:spTree>
    <p:extLst>
      <p:ext uri="{BB962C8B-B14F-4D97-AF65-F5344CB8AC3E}">
        <p14:creationId xmlns:p14="http://schemas.microsoft.com/office/powerpoint/2010/main" val="2246147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p:txBody>
          <a:bodyPr/>
          <a:lstStyle/>
          <a:p>
            <a:pPr>
              <a:spcBef>
                <a:spcPts val="1200"/>
              </a:spcBef>
            </a:pPr>
            <a:r>
              <a:rPr lang="en-US" sz="1800"/>
              <a:t>Modelling in VECTO – Proposal for IMC infrastructure availability</a:t>
            </a:r>
          </a:p>
        </p:txBody>
      </p:sp>
      <p:sp>
        <p:nvSpPr>
          <p:cNvPr id="4" name="Foliennummernplatzhalter 3"/>
          <p:cNvSpPr>
            <a:spLocks noGrp="1"/>
          </p:cNvSpPr>
          <p:nvPr>
            <p:ph type="sldNum" sz="quarter" idx="12"/>
          </p:nvPr>
        </p:nvSpPr>
        <p:spPr/>
        <p:txBody>
          <a:bodyPr/>
          <a:lstStyle/>
          <a:p>
            <a:fld id="{4B64EC4D-37E3-EF42-B9AB-6337577588CB}" type="slidenum">
              <a:rPr lang="de-DE" smtClean="0"/>
              <a:t>30</a:t>
            </a:fld>
            <a:endParaRPr lang="de-DE"/>
          </a:p>
        </p:txBody>
      </p:sp>
      <p:sp>
        <p:nvSpPr>
          <p:cNvPr id="5" name="Titel 4"/>
          <p:cNvSpPr>
            <a:spLocks noGrp="1"/>
          </p:cNvSpPr>
          <p:nvPr>
            <p:ph type="title"/>
          </p:nvPr>
        </p:nvSpPr>
        <p:spPr/>
        <p:txBody>
          <a:bodyPr/>
          <a:lstStyle/>
          <a:p>
            <a:r>
              <a:rPr lang="en-GB"/>
              <a:t>Vehicles with In-Motion Charging (IMC) features (6/11)</a:t>
            </a:r>
          </a:p>
        </p:txBody>
      </p:sp>
      <p:pic>
        <p:nvPicPr>
          <p:cNvPr id="2" name="Grafik 1"/>
          <p:cNvPicPr>
            <a:picLocks noChangeAspect="1"/>
          </p:cNvPicPr>
          <p:nvPr/>
        </p:nvPicPr>
        <p:blipFill>
          <a:blip r:embed="rId2"/>
          <a:stretch>
            <a:fillRect/>
          </a:stretch>
        </p:blipFill>
        <p:spPr>
          <a:xfrm>
            <a:off x="853791" y="2678794"/>
            <a:ext cx="3893515" cy="2917147"/>
          </a:xfrm>
          <a:prstGeom prst="rect">
            <a:avLst/>
          </a:prstGeom>
        </p:spPr>
      </p:pic>
      <p:pic>
        <p:nvPicPr>
          <p:cNvPr id="7" name="Grafik 6"/>
          <p:cNvPicPr>
            <a:picLocks noChangeAspect="1"/>
          </p:cNvPicPr>
          <p:nvPr/>
        </p:nvPicPr>
        <p:blipFill>
          <a:blip r:embed="rId3"/>
          <a:stretch>
            <a:fillRect/>
          </a:stretch>
        </p:blipFill>
        <p:spPr>
          <a:xfrm>
            <a:off x="4864354" y="2678794"/>
            <a:ext cx="3888208" cy="2917147"/>
          </a:xfrm>
          <a:prstGeom prst="rect">
            <a:avLst/>
          </a:prstGeom>
        </p:spPr>
      </p:pic>
      <p:sp>
        <p:nvSpPr>
          <p:cNvPr id="9" name="Textfeld 8"/>
          <p:cNvSpPr txBox="1"/>
          <p:nvPr/>
        </p:nvSpPr>
        <p:spPr>
          <a:xfrm>
            <a:off x="1669892" y="2450192"/>
            <a:ext cx="2261310" cy="276999"/>
          </a:xfrm>
          <a:prstGeom prst="rect">
            <a:avLst/>
          </a:prstGeom>
          <a:noFill/>
        </p:spPr>
        <p:txBody>
          <a:bodyPr wrap="square" rtlCol="0">
            <a:spAutoFit/>
          </a:bodyPr>
          <a:lstStyle/>
          <a:p>
            <a:pPr algn="ctr"/>
            <a:r>
              <a:rPr lang="en-GB" sz="1200" b="1"/>
              <a:t>Overhead - Pantograph</a:t>
            </a:r>
          </a:p>
        </p:txBody>
      </p:sp>
      <p:sp>
        <p:nvSpPr>
          <p:cNvPr id="10" name="Textfeld 9"/>
          <p:cNvSpPr txBox="1"/>
          <p:nvPr/>
        </p:nvSpPr>
        <p:spPr>
          <a:xfrm>
            <a:off x="5683559" y="2446562"/>
            <a:ext cx="2261310" cy="276999"/>
          </a:xfrm>
          <a:prstGeom prst="rect">
            <a:avLst/>
          </a:prstGeom>
          <a:noFill/>
        </p:spPr>
        <p:txBody>
          <a:bodyPr wrap="square" rtlCol="0">
            <a:spAutoFit/>
          </a:bodyPr>
          <a:lstStyle/>
          <a:p>
            <a:pPr algn="ctr"/>
            <a:r>
              <a:rPr lang="en-GB" sz="1200" b="1"/>
              <a:t>Overhead - Trolley</a:t>
            </a:r>
          </a:p>
        </p:txBody>
      </p:sp>
    </p:spTree>
    <p:extLst>
      <p:ext uri="{BB962C8B-B14F-4D97-AF65-F5344CB8AC3E}">
        <p14:creationId xmlns:p14="http://schemas.microsoft.com/office/powerpoint/2010/main" val="1232686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p:txBody>
          <a:bodyPr/>
          <a:lstStyle/>
          <a:p>
            <a:pPr>
              <a:spcBef>
                <a:spcPts val="1200"/>
              </a:spcBef>
            </a:pPr>
            <a:r>
              <a:rPr lang="en-US" sz="1800"/>
              <a:t>Modelling in VECTO – Proposal for IMC infrastructure availability</a:t>
            </a:r>
          </a:p>
        </p:txBody>
      </p:sp>
      <p:sp>
        <p:nvSpPr>
          <p:cNvPr id="4" name="Foliennummernplatzhalter 3"/>
          <p:cNvSpPr>
            <a:spLocks noGrp="1"/>
          </p:cNvSpPr>
          <p:nvPr>
            <p:ph type="sldNum" sz="quarter" idx="12"/>
          </p:nvPr>
        </p:nvSpPr>
        <p:spPr/>
        <p:txBody>
          <a:bodyPr/>
          <a:lstStyle/>
          <a:p>
            <a:fld id="{4B64EC4D-37E3-EF42-B9AB-6337577588CB}" type="slidenum">
              <a:rPr lang="de-DE" smtClean="0"/>
              <a:t>31</a:t>
            </a:fld>
            <a:endParaRPr lang="de-DE"/>
          </a:p>
        </p:txBody>
      </p:sp>
      <p:sp>
        <p:nvSpPr>
          <p:cNvPr id="5" name="Titel 4"/>
          <p:cNvSpPr>
            <a:spLocks noGrp="1"/>
          </p:cNvSpPr>
          <p:nvPr>
            <p:ph type="title"/>
          </p:nvPr>
        </p:nvSpPr>
        <p:spPr/>
        <p:txBody>
          <a:bodyPr/>
          <a:lstStyle/>
          <a:p>
            <a:r>
              <a:rPr lang="en-GB"/>
              <a:t>Vehicles with In-Motion Charging (IMC) features (7/11)</a:t>
            </a:r>
          </a:p>
        </p:txBody>
      </p:sp>
      <p:sp>
        <p:nvSpPr>
          <p:cNvPr id="9" name="Textfeld 8"/>
          <p:cNvSpPr txBox="1"/>
          <p:nvPr/>
        </p:nvSpPr>
        <p:spPr>
          <a:xfrm>
            <a:off x="1669892" y="2450192"/>
            <a:ext cx="2261310" cy="276999"/>
          </a:xfrm>
          <a:prstGeom prst="rect">
            <a:avLst/>
          </a:prstGeom>
          <a:noFill/>
        </p:spPr>
        <p:txBody>
          <a:bodyPr wrap="square" rtlCol="0">
            <a:spAutoFit/>
          </a:bodyPr>
          <a:lstStyle/>
          <a:p>
            <a:pPr algn="ctr"/>
            <a:r>
              <a:rPr lang="en-GB" sz="1200" b="1"/>
              <a:t>Ground rail + Wireless</a:t>
            </a:r>
          </a:p>
        </p:txBody>
      </p:sp>
      <p:pic>
        <p:nvPicPr>
          <p:cNvPr id="3" name="Grafik 2"/>
          <p:cNvPicPr>
            <a:picLocks noChangeAspect="1"/>
          </p:cNvPicPr>
          <p:nvPr/>
        </p:nvPicPr>
        <p:blipFill>
          <a:blip r:embed="rId2"/>
          <a:stretch>
            <a:fillRect/>
          </a:stretch>
        </p:blipFill>
        <p:spPr>
          <a:xfrm>
            <a:off x="844303" y="2727191"/>
            <a:ext cx="3912489" cy="2932367"/>
          </a:xfrm>
          <a:prstGeom prst="rect">
            <a:avLst/>
          </a:prstGeom>
        </p:spPr>
      </p:pic>
    </p:spTree>
    <p:extLst>
      <p:ext uri="{BB962C8B-B14F-4D97-AF65-F5344CB8AC3E}">
        <p14:creationId xmlns:p14="http://schemas.microsoft.com/office/powerpoint/2010/main" val="2874883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p:txBody>
          <a:bodyPr/>
          <a:lstStyle/>
          <a:p>
            <a:pPr>
              <a:spcBef>
                <a:spcPts val="1200"/>
              </a:spcBef>
            </a:pPr>
            <a:r>
              <a:rPr lang="en-US" sz="1800"/>
              <a:t>Modelling in VECTO – Further proposed assumptions</a:t>
            </a:r>
          </a:p>
          <a:p>
            <a:pPr lvl="1">
              <a:spcBef>
                <a:spcPts val="600"/>
              </a:spcBef>
            </a:pPr>
            <a:r>
              <a:rPr lang="en-US" sz="1600"/>
              <a:t>Battery charging during mission</a:t>
            </a:r>
          </a:p>
          <a:p>
            <a:pPr lvl="2">
              <a:spcBef>
                <a:spcPts val="300"/>
              </a:spcBef>
            </a:pPr>
            <a:r>
              <a:rPr lang="en-US" sz="1400"/>
              <a:t>50% of usable battery capacity via “SOC lift” by IMC</a:t>
            </a:r>
          </a:p>
          <a:p>
            <a:pPr lvl="2">
              <a:spcBef>
                <a:spcPts val="300"/>
              </a:spcBef>
            </a:pPr>
            <a:r>
              <a:rPr lang="en-US" sz="1400"/>
              <a:t>No further stationary charging</a:t>
            </a:r>
          </a:p>
          <a:p>
            <a:pPr lvl="1">
              <a:spcBef>
                <a:spcPts val="600"/>
              </a:spcBef>
            </a:pPr>
            <a:r>
              <a:rPr lang="en-US" sz="1600"/>
              <a:t>Air drag</a:t>
            </a:r>
          </a:p>
          <a:p>
            <a:pPr lvl="2">
              <a:spcBef>
                <a:spcPts val="300"/>
              </a:spcBef>
            </a:pPr>
            <a:r>
              <a:rPr lang="en-US" sz="1400"/>
              <a:t>Considered only for “Overhead – pantograph”</a:t>
            </a:r>
          </a:p>
          <a:p>
            <a:pPr lvl="2">
              <a:spcBef>
                <a:spcPts val="300"/>
              </a:spcBef>
            </a:pPr>
            <a:r>
              <a:rPr lang="en-US" sz="1400"/>
              <a:t>ΔCdxA = 0.6 m² for the shares in the mission where IMC is available</a:t>
            </a:r>
          </a:p>
        </p:txBody>
      </p:sp>
      <p:sp>
        <p:nvSpPr>
          <p:cNvPr id="4" name="Foliennummernplatzhalter 3"/>
          <p:cNvSpPr>
            <a:spLocks noGrp="1"/>
          </p:cNvSpPr>
          <p:nvPr>
            <p:ph type="sldNum" sz="quarter" idx="12"/>
          </p:nvPr>
        </p:nvSpPr>
        <p:spPr/>
        <p:txBody>
          <a:bodyPr/>
          <a:lstStyle/>
          <a:p>
            <a:fld id="{4B64EC4D-37E3-EF42-B9AB-6337577588CB}" type="slidenum">
              <a:rPr lang="de-DE" smtClean="0"/>
              <a:t>32</a:t>
            </a:fld>
            <a:endParaRPr lang="de-DE"/>
          </a:p>
        </p:txBody>
      </p:sp>
      <p:sp>
        <p:nvSpPr>
          <p:cNvPr id="5" name="Titel 4"/>
          <p:cNvSpPr>
            <a:spLocks noGrp="1"/>
          </p:cNvSpPr>
          <p:nvPr>
            <p:ph type="title"/>
          </p:nvPr>
        </p:nvSpPr>
        <p:spPr/>
        <p:txBody>
          <a:bodyPr/>
          <a:lstStyle/>
          <a:p>
            <a:r>
              <a:rPr lang="en-GB"/>
              <a:t>Vehicles with In-Motion Charging (IMC) features (8/11)</a:t>
            </a:r>
          </a:p>
        </p:txBody>
      </p:sp>
    </p:spTree>
    <p:extLst>
      <p:ext uri="{BB962C8B-B14F-4D97-AF65-F5344CB8AC3E}">
        <p14:creationId xmlns:p14="http://schemas.microsoft.com/office/powerpoint/2010/main" val="3700992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18C3C27C-E68D-4C29-AE6C-BD1617F3D828}"/>
              </a:ext>
            </a:extLst>
          </p:cNvPr>
          <p:cNvPicPr>
            <a:picLocks noChangeAspect="1"/>
          </p:cNvPicPr>
          <p:nvPr/>
        </p:nvPicPr>
        <p:blipFill>
          <a:blip r:embed="rId2"/>
          <a:stretch>
            <a:fillRect/>
          </a:stretch>
        </p:blipFill>
        <p:spPr>
          <a:xfrm>
            <a:off x="622355" y="2603460"/>
            <a:ext cx="4145145" cy="2549911"/>
          </a:xfrm>
          <a:prstGeom prst="rect">
            <a:avLst/>
          </a:prstGeom>
        </p:spPr>
      </p:pic>
      <p:sp>
        <p:nvSpPr>
          <p:cNvPr id="6" name="Inhaltsplatzhalter 5"/>
          <p:cNvSpPr>
            <a:spLocks noGrp="1"/>
          </p:cNvSpPr>
          <p:nvPr>
            <p:ph idx="1"/>
          </p:nvPr>
        </p:nvSpPr>
        <p:spPr/>
        <p:txBody>
          <a:bodyPr/>
          <a:lstStyle/>
          <a:p>
            <a:pPr>
              <a:spcBef>
                <a:spcPts val="1200"/>
              </a:spcBef>
            </a:pPr>
            <a:r>
              <a:rPr lang="en-US" sz="1800" dirty="0"/>
              <a:t>Inputs in Graphical User Interface (ENG)</a:t>
            </a:r>
          </a:p>
          <a:p>
            <a:pPr marL="0" indent="0">
              <a:spcBef>
                <a:spcPts val="1200"/>
              </a:spcBef>
              <a:buNone/>
            </a:pPr>
            <a:endParaRPr lang="en-US" sz="1800" dirty="0"/>
          </a:p>
          <a:p>
            <a:pPr marL="0" indent="0">
              <a:spcBef>
                <a:spcPts val="1200"/>
              </a:spcBef>
              <a:buNone/>
            </a:pPr>
            <a:endParaRPr lang="en-GB"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33</a:t>
            </a:fld>
            <a:endParaRPr lang="de-DE"/>
          </a:p>
        </p:txBody>
      </p:sp>
      <p:sp>
        <p:nvSpPr>
          <p:cNvPr id="5" name="Titel 4"/>
          <p:cNvSpPr>
            <a:spLocks noGrp="1"/>
          </p:cNvSpPr>
          <p:nvPr>
            <p:ph type="title"/>
          </p:nvPr>
        </p:nvSpPr>
        <p:spPr/>
        <p:txBody>
          <a:bodyPr/>
          <a:lstStyle/>
          <a:p>
            <a:r>
              <a:rPr lang="en-GB"/>
              <a:t>Vehicles with In-Motion Charging (IMC) features (9/11)</a:t>
            </a:r>
          </a:p>
        </p:txBody>
      </p:sp>
      <p:sp>
        <p:nvSpPr>
          <p:cNvPr id="7" name="Textfeld 6"/>
          <p:cNvSpPr txBox="1"/>
          <p:nvPr/>
        </p:nvSpPr>
        <p:spPr>
          <a:xfrm>
            <a:off x="5256325" y="3891221"/>
            <a:ext cx="3653214" cy="1354217"/>
          </a:xfrm>
          <a:prstGeom prst="rect">
            <a:avLst/>
          </a:prstGeom>
          <a:noFill/>
        </p:spPr>
        <p:txBody>
          <a:bodyPr wrap="square" rtlCol="0">
            <a:spAutoFit/>
          </a:bodyPr>
          <a:lstStyle/>
          <a:p>
            <a:pPr>
              <a:spcBef>
                <a:spcPts val="600"/>
              </a:spcBef>
            </a:pPr>
            <a:r>
              <a:rPr lang="en-US" sz="1200" b="1">
                <a:solidFill>
                  <a:srgbClr val="0066FF"/>
                </a:solidFill>
              </a:rPr>
              <a:t>Attention!</a:t>
            </a:r>
          </a:p>
          <a:p>
            <a:pPr marL="171450" indent="-171450">
              <a:spcBef>
                <a:spcPts val="600"/>
              </a:spcBef>
              <a:buFont typeface="Arial" panose="020B0604020202020204" pitchFamily="34" charset="0"/>
              <a:buChar char="•"/>
            </a:pPr>
            <a:r>
              <a:rPr lang="en-US" sz="1200">
                <a:solidFill>
                  <a:srgbClr val="0066FF"/>
                </a:solidFill>
              </a:rPr>
              <a:t>Working with ENG mode simulations for IMC features requires detailed knowledge of the proposed approach (</a:t>
            </a:r>
            <a:r>
              <a:rPr lang="en-US" sz="1200" dirty="0">
                <a:solidFill>
                  <a:srgbClr val="0066FF"/>
                </a:solidFill>
              </a:rPr>
              <a:t>mainly for </a:t>
            </a:r>
            <a:r>
              <a:rPr lang="en-US" sz="1200">
                <a:solidFill>
                  <a:srgbClr val="0066FF"/>
                </a:solidFill>
              </a:rPr>
              <a:t>developers)</a:t>
            </a:r>
          </a:p>
          <a:p>
            <a:pPr marL="171450" indent="-171450">
              <a:spcBef>
                <a:spcPts val="600"/>
              </a:spcBef>
              <a:buFont typeface="Arial" panose="020B0604020202020204" pitchFamily="34" charset="0"/>
              <a:buChar char="•"/>
            </a:pPr>
            <a:r>
              <a:rPr lang="en-US" sz="1200">
                <a:solidFill>
                  <a:srgbClr val="0066FF"/>
                </a:solidFill>
              </a:rPr>
              <a:t>For checking of regulatory impact DECL </a:t>
            </a:r>
            <a:r>
              <a:rPr lang="en-US" sz="1200" dirty="0">
                <a:solidFill>
                  <a:srgbClr val="0066FF"/>
                </a:solidFill>
              </a:rPr>
              <a:t>mode </a:t>
            </a:r>
            <a:r>
              <a:rPr lang="en-US" sz="1200">
                <a:solidFill>
                  <a:srgbClr val="0066FF"/>
                </a:solidFill>
              </a:rPr>
              <a:t>testing recommended!</a:t>
            </a:r>
            <a:endParaRPr lang="en-GB" sz="1200" dirty="0">
              <a:solidFill>
                <a:srgbClr val="0066FF"/>
              </a:solidFill>
            </a:endParaRPr>
          </a:p>
        </p:txBody>
      </p:sp>
      <p:cxnSp>
        <p:nvCxnSpPr>
          <p:cNvPr id="10" name="Gerade Verbindung mit Pfeil 9">
            <a:extLst>
              <a:ext uri="{FF2B5EF4-FFF2-40B4-BE49-F238E27FC236}">
                <a16:creationId xmlns:a16="http://schemas.microsoft.com/office/drawing/2014/main" id="{3C9010B5-9956-4DC9-A46A-363E673F875E}"/>
              </a:ext>
            </a:extLst>
          </p:cNvPr>
          <p:cNvCxnSpPr>
            <a:cxnSpLocks/>
          </p:cNvCxnSpPr>
          <p:nvPr/>
        </p:nvCxnSpPr>
        <p:spPr>
          <a:xfrm flipH="1">
            <a:off x="2843490" y="2945623"/>
            <a:ext cx="2412837" cy="932793"/>
          </a:xfrm>
          <a:prstGeom prst="straightConnector1">
            <a:avLst/>
          </a:prstGeom>
          <a:ln>
            <a:solidFill>
              <a:srgbClr val="0066FF"/>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Textfeld 11">
            <a:extLst>
              <a:ext uri="{FF2B5EF4-FFF2-40B4-BE49-F238E27FC236}">
                <a16:creationId xmlns:a16="http://schemas.microsoft.com/office/drawing/2014/main" id="{D490093B-42DF-468B-96D7-92FCB2F018DB}"/>
              </a:ext>
            </a:extLst>
          </p:cNvPr>
          <p:cNvSpPr txBox="1"/>
          <p:nvPr/>
        </p:nvSpPr>
        <p:spPr>
          <a:xfrm>
            <a:off x="5256325" y="2717021"/>
            <a:ext cx="3236686" cy="461665"/>
          </a:xfrm>
          <a:prstGeom prst="rect">
            <a:avLst/>
          </a:prstGeom>
          <a:noFill/>
        </p:spPr>
        <p:txBody>
          <a:bodyPr wrap="square" rtlCol="0">
            <a:spAutoFit/>
          </a:bodyPr>
          <a:lstStyle/>
          <a:p>
            <a:r>
              <a:rPr lang="en-US" sz="1200" dirty="0">
                <a:solidFill>
                  <a:srgbClr val="0066FF"/>
                </a:solidFill>
              </a:rPr>
              <a:t>New tab in “VEH Editor” for HEV and PEV vehicles</a:t>
            </a:r>
            <a:endParaRPr lang="en-GB" sz="1200" dirty="0">
              <a:solidFill>
                <a:srgbClr val="0066FF"/>
              </a:solidFill>
            </a:endParaRPr>
          </a:p>
        </p:txBody>
      </p:sp>
    </p:spTree>
    <p:extLst>
      <p:ext uri="{BB962C8B-B14F-4D97-AF65-F5344CB8AC3E}">
        <p14:creationId xmlns:p14="http://schemas.microsoft.com/office/powerpoint/2010/main" val="2869124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CD7C672C-2441-4BA6-A6E2-0335BA8C76F8}"/>
              </a:ext>
            </a:extLst>
          </p:cNvPr>
          <p:cNvPicPr>
            <a:picLocks noChangeAspect="1"/>
          </p:cNvPicPr>
          <p:nvPr/>
        </p:nvPicPr>
        <p:blipFill>
          <a:blip r:embed="rId2"/>
          <a:stretch>
            <a:fillRect/>
          </a:stretch>
        </p:blipFill>
        <p:spPr>
          <a:xfrm>
            <a:off x="622354" y="2804180"/>
            <a:ext cx="4290548" cy="2148471"/>
          </a:xfrm>
          <a:prstGeom prst="rect">
            <a:avLst/>
          </a:prstGeom>
        </p:spPr>
      </p:pic>
      <p:sp>
        <p:nvSpPr>
          <p:cNvPr id="6" name="Inhaltsplatzhalter 5"/>
          <p:cNvSpPr>
            <a:spLocks noGrp="1"/>
          </p:cNvSpPr>
          <p:nvPr>
            <p:ph idx="1"/>
          </p:nvPr>
        </p:nvSpPr>
        <p:spPr/>
        <p:txBody>
          <a:bodyPr/>
          <a:lstStyle/>
          <a:p>
            <a:pPr>
              <a:spcBef>
                <a:spcPts val="1200"/>
              </a:spcBef>
            </a:pPr>
            <a:r>
              <a:rPr lang="en-US" sz="1800" dirty="0"/>
              <a:t>Inputs in Graphical User Interface (DECL)</a:t>
            </a:r>
          </a:p>
          <a:p>
            <a:pPr marL="0" indent="0">
              <a:spcBef>
                <a:spcPts val="1200"/>
              </a:spcBef>
              <a:buNone/>
            </a:pPr>
            <a:endParaRPr lang="en-US" sz="1800" dirty="0"/>
          </a:p>
          <a:p>
            <a:pPr marL="0" indent="0">
              <a:spcBef>
                <a:spcPts val="1200"/>
              </a:spcBef>
              <a:buNone/>
            </a:pPr>
            <a:endParaRPr lang="en-GB"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34</a:t>
            </a:fld>
            <a:endParaRPr lang="de-DE"/>
          </a:p>
        </p:txBody>
      </p:sp>
      <p:sp>
        <p:nvSpPr>
          <p:cNvPr id="5" name="Titel 4"/>
          <p:cNvSpPr>
            <a:spLocks noGrp="1"/>
          </p:cNvSpPr>
          <p:nvPr>
            <p:ph type="title"/>
          </p:nvPr>
        </p:nvSpPr>
        <p:spPr/>
        <p:txBody>
          <a:bodyPr/>
          <a:lstStyle/>
          <a:p>
            <a:r>
              <a:rPr lang="en-GB"/>
              <a:t>Vehicles with In-Motion Charging (IMC) features (10/11)</a:t>
            </a:r>
          </a:p>
        </p:txBody>
      </p:sp>
      <p:cxnSp>
        <p:nvCxnSpPr>
          <p:cNvPr id="8" name="Gerade Verbindung mit Pfeil 7">
            <a:extLst>
              <a:ext uri="{FF2B5EF4-FFF2-40B4-BE49-F238E27FC236}">
                <a16:creationId xmlns:a16="http://schemas.microsoft.com/office/drawing/2014/main" id="{75B81BBD-6EDE-4130-A011-65A778D0AE88}"/>
              </a:ext>
            </a:extLst>
          </p:cNvPr>
          <p:cNvCxnSpPr>
            <a:cxnSpLocks/>
          </p:cNvCxnSpPr>
          <p:nvPr/>
        </p:nvCxnSpPr>
        <p:spPr>
          <a:xfrm flipH="1">
            <a:off x="3386230" y="3228791"/>
            <a:ext cx="1616424" cy="1072016"/>
          </a:xfrm>
          <a:prstGeom prst="straightConnector1">
            <a:avLst/>
          </a:prstGeom>
          <a:ln>
            <a:solidFill>
              <a:srgbClr val="0066FF"/>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Textfeld 8">
            <a:extLst>
              <a:ext uri="{FF2B5EF4-FFF2-40B4-BE49-F238E27FC236}">
                <a16:creationId xmlns:a16="http://schemas.microsoft.com/office/drawing/2014/main" id="{76DB7AED-0349-4568-AFF0-42A5E2540D36}"/>
              </a:ext>
            </a:extLst>
          </p:cNvPr>
          <p:cNvSpPr txBox="1"/>
          <p:nvPr/>
        </p:nvSpPr>
        <p:spPr>
          <a:xfrm>
            <a:off x="5002653" y="3100479"/>
            <a:ext cx="3797124" cy="1200329"/>
          </a:xfrm>
          <a:prstGeom prst="rect">
            <a:avLst/>
          </a:prstGeom>
          <a:noFill/>
        </p:spPr>
        <p:txBody>
          <a:bodyPr wrap="square" rtlCol="0">
            <a:spAutoFit/>
          </a:bodyPr>
          <a:lstStyle/>
          <a:p>
            <a:r>
              <a:rPr lang="en-US" sz="1200" dirty="0">
                <a:solidFill>
                  <a:srgbClr val="0066FF"/>
                </a:solidFill>
              </a:rPr>
              <a:t>Dropdown Menu with pre-defined technologies</a:t>
            </a:r>
          </a:p>
          <a:p>
            <a:pPr marL="628650" lvl="1" indent="-171450">
              <a:buFont typeface="Arial" panose="020B0604020202020204" pitchFamily="34" charset="0"/>
              <a:buChar char="•"/>
            </a:pPr>
            <a:r>
              <a:rPr lang="en-US" sz="1200" dirty="0">
                <a:solidFill>
                  <a:srgbClr val="0066FF"/>
                </a:solidFill>
              </a:rPr>
              <a:t>None</a:t>
            </a:r>
          </a:p>
          <a:p>
            <a:pPr marL="628650" lvl="1" indent="-171450">
              <a:buFont typeface="Arial" panose="020B0604020202020204" pitchFamily="34" charset="0"/>
              <a:buChar char="•"/>
            </a:pPr>
            <a:r>
              <a:rPr lang="en-US" sz="1200" dirty="0">
                <a:solidFill>
                  <a:srgbClr val="0066FF"/>
                </a:solidFill>
              </a:rPr>
              <a:t>Overhead Pantograph</a:t>
            </a:r>
          </a:p>
          <a:p>
            <a:pPr marL="628650" lvl="1" indent="-171450">
              <a:buFont typeface="Arial" panose="020B0604020202020204" pitchFamily="34" charset="0"/>
              <a:buChar char="•"/>
            </a:pPr>
            <a:r>
              <a:rPr lang="en-US" sz="1200" dirty="0">
                <a:solidFill>
                  <a:srgbClr val="0066FF"/>
                </a:solidFill>
              </a:rPr>
              <a:t>Overhead Trolley</a:t>
            </a:r>
          </a:p>
          <a:p>
            <a:pPr marL="628650" lvl="1" indent="-171450">
              <a:buFont typeface="Arial" panose="020B0604020202020204" pitchFamily="34" charset="0"/>
              <a:buChar char="•"/>
            </a:pPr>
            <a:r>
              <a:rPr lang="en-US" sz="1200" dirty="0">
                <a:solidFill>
                  <a:srgbClr val="0066FF"/>
                </a:solidFill>
              </a:rPr>
              <a:t>Ground Rail</a:t>
            </a:r>
          </a:p>
          <a:p>
            <a:pPr marL="628650" lvl="1" indent="-171450">
              <a:buFont typeface="Arial" panose="020B0604020202020204" pitchFamily="34" charset="0"/>
              <a:buChar char="•"/>
            </a:pPr>
            <a:r>
              <a:rPr lang="en-US" sz="1200" dirty="0">
                <a:solidFill>
                  <a:srgbClr val="0066FF"/>
                </a:solidFill>
              </a:rPr>
              <a:t>Wireless</a:t>
            </a:r>
          </a:p>
        </p:txBody>
      </p:sp>
    </p:spTree>
    <p:extLst>
      <p:ext uri="{BB962C8B-B14F-4D97-AF65-F5344CB8AC3E}">
        <p14:creationId xmlns:p14="http://schemas.microsoft.com/office/powerpoint/2010/main" val="618069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p:txBody>
          <a:bodyPr/>
          <a:lstStyle/>
          <a:p>
            <a:pPr>
              <a:spcBef>
                <a:spcPts val="1200"/>
              </a:spcBef>
            </a:pPr>
            <a:r>
              <a:rPr lang="en-US" sz="1600" dirty="0"/>
              <a:t>Example vehicle models will be distributed with the release (located in “\Generic vehicles”)</a:t>
            </a:r>
          </a:p>
          <a:p>
            <a:pPr>
              <a:spcBef>
                <a:spcPts val="1200"/>
              </a:spcBef>
            </a:pPr>
            <a:r>
              <a:rPr lang="en-US" sz="1600" dirty="0"/>
              <a:t>Base specs example models</a:t>
            </a:r>
          </a:p>
          <a:p>
            <a:pPr lvl="1">
              <a:spcBef>
                <a:spcPts val="600"/>
              </a:spcBef>
            </a:pPr>
            <a:r>
              <a:rPr lang="en-US" sz="1200" dirty="0"/>
              <a:t>Group 5 / HEV P2 / OVC: </a:t>
            </a:r>
            <a:r>
              <a:rPr lang="en-US" sz="1200" dirty="0" err="1"/>
              <a:t>P</a:t>
            </a:r>
            <a:r>
              <a:rPr lang="en-US" sz="1200" baseline="-25000" dirty="0" err="1"/>
              <a:t>cont_EM</a:t>
            </a:r>
            <a:r>
              <a:rPr lang="en-US" sz="1200" dirty="0"/>
              <a:t>: 200kW | </a:t>
            </a:r>
            <a:r>
              <a:rPr lang="en-US" sz="1200" dirty="0" err="1"/>
              <a:t>E</a:t>
            </a:r>
            <a:r>
              <a:rPr lang="en-US" sz="1200" baseline="-25000" dirty="0" err="1"/>
              <a:t>Reess</a:t>
            </a:r>
            <a:r>
              <a:rPr lang="en-US" sz="1200" dirty="0"/>
              <a:t>: 120kWh nominal</a:t>
            </a:r>
          </a:p>
          <a:p>
            <a:pPr lvl="1">
              <a:spcBef>
                <a:spcPts val="600"/>
              </a:spcBef>
            </a:pPr>
            <a:r>
              <a:rPr lang="en-US" sz="1200" dirty="0"/>
              <a:t>Group 5 / PEV: </a:t>
            </a:r>
            <a:r>
              <a:rPr lang="en-US" sz="1200" dirty="0" err="1"/>
              <a:t>P</a:t>
            </a:r>
            <a:r>
              <a:rPr lang="en-US" sz="1200" baseline="-25000" dirty="0" err="1"/>
              <a:t>cont_EM</a:t>
            </a:r>
            <a:r>
              <a:rPr lang="en-US" sz="1200" dirty="0"/>
              <a:t>: 325kW | </a:t>
            </a:r>
            <a:r>
              <a:rPr lang="en-US" sz="1200" dirty="0" err="1"/>
              <a:t>E</a:t>
            </a:r>
            <a:r>
              <a:rPr lang="en-US" sz="1200" baseline="-25000" dirty="0" err="1"/>
              <a:t>Reess</a:t>
            </a:r>
            <a:r>
              <a:rPr lang="en-US" sz="1200" dirty="0"/>
              <a:t>: 170kWh nominal</a:t>
            </a:r>
          </a:p>
          <a:p>
            <a:pPr>
              <a:spcBef>
                <a:spcPts val="1200"/>
              </a:spcBef>
            </a:pPr>
            <a:r>
              <a:rPr lang="en-US" sz="1600" dirty="0"/>
              <a:t>Example results: Long haul with rep payload</a:t>
            </a:r>
            <a:br>
              <a:rPr lang="en-US" sz="1400" dirty="0"/>
            </a:br>
            <a:r>
              <a:rPr lang="en-US" sz="1200" dirty="0"/>
              <a:t>Comparison results “w/o” and “w/” pantograph with similar other vehicle specs like mass</a:t>
            </a:r>
          </a:p>
          <a:p>
            <a:pPr lvl="1">
              <a:spcBef>
                <a:spcPts val="1200"/>
              </a:spcBef>
            </a:pPr>
            <a:r>
              <a:rPr lang="en-US" sz="1200" dirty="0"/>
              <a:t>Group 5 / P2 / OVC </a:t>
            </a:r>
            <a:r>
              <a:rPr lang="en-US" sz="1200" dirty="0">
                <a:solidFill>
                  <a:srgbClr val="0066FF"/>
                </a:solidFill>
              </a:rPr>
              <a:t>w/o</a:t>
            </a:r>
            <a:r>
              <a:rPr lang="en-US" sz="1200" dirty="0"/>
              <a:t> pantograph: UF = 0.149; CO2</a:t>
            </a:r>
            <a:r>
              <a:rPr lang="en-US" sz="1200" baseline="-25000" dirty="0"/>
              <a:t>weighted</a:t>
            </a:r>
            <a:r>
              <a:rPr lang="en-US" sz="1200" dirty="0"/>
              <a:t> = 692.2 g/km</a:t>
            </a:r>
            <a:endParaRPr lang="en-US" sz="1200" dirty="0">
              <a:solidFill>
                <a:srgbClr val="FF0000"/>
              </a:solidFill>
            </a:endParaRPr>
          </a:p>
          <a:p>
            <a:pPr lvl="1">
              <a:spcBef>
                <a:spcPts val="600"/>
              </a:spcBef>
            </a:pPr>
            <a:r>
              <a:rPr lang="en-US" sz="1200" dirty="0"/>
              <a:t>Group 5 / P2 / OVC </a:t>
            </a:r>
            <a:r>
              <a:rPr lang="en-US" sz="1200" dirty="0">
                <a:solidFill>
                  <a:schemeClr val="accent4"/>
                </a:solidFill>
              </a:rPr>
              <a:t>w/</a:t>
            </a:r>
            <a:r>
              <a:rPr lang="en-US" sz="1200" dirty="0"/>
              <a:t> pantograph: UF = 0.660; CO2</a:t>
            </a:r>
            <a:r>
              <a:rPr lang="en-US" sz="1200" baseline="-25000" dirty="0"/>
              <a:t>weighted</a:t>
            </a:r>
            <a:r>
              <a:rPr lang="en-US" sz="1200" dirty="0"/>
              <a:t> = 347.1 g/km  </a:t>
            </a:r>
            <a:r>
              <a:rPr lang="en-US" sz="1200" b="1" dirty="0">
                <a:sym typeface="Wingdings" panose="05000000000000000000" pitchFamily="2" charset="2"/>
              </a:rPr>
              <a:t> -50% CO2</a:t>
            </a:r>
            <a:endParaRPr lang="en-US" sz="1200" b="1" dirty="0">
              <a:solidFill>
                <a:srgbClr val="FF0000"/>
              </a:solidFill>
              <a:sym typeface="Wingdings" panose="05000000000000000000" pitchFamily="2" charset="2"/>
            </a:endParaRPr>
          </a:p>
          <a:p>
            <a:pPr lvl="1">
              <a:spcBef>
                <a:spcPts val="600"/>
              </a:spcBef>
            </a:pPr>
            <a:endParaRPr lang="en-US" sz="1200" dirty="0"/>
          </a:p>
          <a:p>
            <a:pPr lvl="1">
              <a:spcBef>
                <a:spcPts val="600"/>
              </a:spcBef>
            </a:pPr>
            <a:r>
              <a:rPr lang="en-US" sz="1200" dirty="0"/>
              <a:t>Group 5 / PEV </a:t>
            </a:r>
            <a:r>
              <a:rPr lang="en-US" sz="1200" dirty="0">
                <a:solidFill>
                  <a:srgbClr val="0066FF"/>
                </a:solidFill>
              </a:rPr>
              <a:t>w/o</a:t>
            </a:r>
            <a:r>
              <a:rPr lang="en-US" sz="1200" dirty="0"/>
              <a:t> pantograph: </a:t>
            </a:r>
            <a:r>
              <a:rPr lang="en-US" sz="1200" dirty="0" err="1"/>
              <a:t>EC</a:t>
            </a:r>
            <a:r>
              <a:rPr lang="en-US" sz="1200" baseline="-25000" dirty="0" err="1"/>
              <a:t>el</a:t>
            </a:r>
            <a:r>
              <a:rPr lang="en-US" sz="1200" dirty="0"/>
              <a:t> = 1.262 kWh/km</a:t>
            </a:r>
            <a:endParaRPr lang="en-US" sz="1200" dirty="0">
              <a:solidFill>
                <a:srgbClr val="FF0000"/>
              </a:solidFill>
            </a:endParaRPr>
          </a:p>
          <a:p>
            <a:pPr lvl="1">
              <a:spcBef>
                <a:spcPts val="600"/>
              </a:spcBef>
            </a:pPr>
            <a:r>
              <a:rPr lang="en-US" sz="1200" dirty="0"/>
              <a:t>Group 5 / PEV </a:t>
            </a:r>
            <a:r>
              <a:rPr lang="en-US" sz="1200" dirty="0">
                <a:solidFill>
                  <a:srgbClr val="00B050"/>
                </a:solidFill>
              </a:rPr>
              <a:t>w/</a:t>
            </a:r>
            <a:r>
              <a:rPr lang="en-US" sz="1200" dirty="0"/>
              <a:t> pantograph: </a:t>
            </a:r>
            <a:r>
              <a:rPr lang="en-US" sz="1200" dirty="0" err="1"/>
              <a:t>EC</a:t>
            </a:r>
            <a:r>
              <a:rPr lang="en-US" sz="1200" baseline="-25000" dirty="0" err="1"/>
              <a:t>el</a:t>
            </a:r>
            <a:r>
              <a:rPr lang="en-US" sz="1200" dirty="0"/>
              <a:t> = 1.297 kWh/km </a:t>
            </a:r>
            <a:r>
              <a:rPr lang="en-US" sz="1200" dirty="0">
                <a:sym typeface="Wingdings" panose="05000000000000000000" pitchFamily="2" charset="2"/>
              </a:rPr>
              <a:t> +2.8% </a:t>
            </a:r>
            <a:r>
              <a:rPr lang="en-US" sz="1200" dirty="0" err="1"/>
              <a:t>EC</a:t>
            </a:r>
            <a:r>
              <a:rPr lang="en-US" sz="1200" baseline="-25000" dirty="0" err="1"/>
              <a:t>el</a:t>
            </a:r>
            <a:endParaRPr lang="en-US" sz="1200" dirty="0">
              <a:solidFill>
                <a:srgbClr val="FF0000"/>
              </a:solidFill>
              <a:sym typeface="Wingdings" panose="05000000000000000000" pitchFamily="2" charset="2"/>
            </a:endParaRPr>
          </a:p>
          <a:p>
            <a:pPr lvl="1">
              <a:spcBef>
                <a:spcPts val="600"/>
              </a:spcBef>
            </a:pPr>
            <a:endParaRPr lang="en-US" sz="1200" dirty="0"/>
          </a:p>
          <a:p>
            <a:pPr lvl="1">
              <a:spcBef>
                <a:spcPts val="600"/>
              </a:spcBef>
            </a:pPr>
            <a:endParaRPr lang="en-US" sz="1200" dirty="0"/>
          </a:p>
          <a:p>
            <a:pPr marL="0" indent="0">
              <a:spcBef>
                <a:spcPts val="1200"/>
              </a:spcBef>
              <a:buNone/>
            </a:pPr>
            <a:endParaRPr lang="en-US" sz="1800" dirty="0"/>
          </a:p>
          <a:p>
            <a:pPr marL="0" indent="0">
              <a:spcBef>
                <a:spcPts val="1200"/>
              </a:spcBef>
              <a:buNone/>
            </a:pPr>
            <a:endParaRPr lang="en-GB"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35</a:t>
            </a:fld>
            <a:endParaRPr lang="de-DE"/>
          </a:p>
        </p:txBody>
      </p:sp>
      <p:sp>
        <p:nvSpPr>
          <p:cNvPr id="5" name="Titel 4"/>
          <p:cNvSpPr>
            <a:spLocks noGrp="1"/>
          </p:cNvSpPr>
          <p:nvPr>
            <p:ph type="title"/>
          </p:nvPr>
        </p:nvSpPr>
        <p:spPr/>
        <p:txBody>
          <a:bodyPr/>
          <a:lstStyle/>
          <a:p>
            <a:r>
              <a:rPr lang="en-GB"/>
              <a:t>Vehicles with In-Motion Charging (IMC) features (11/11)</a:t>
            </a:r>
          </a:p>
        </p:txBody>
      </p:sp>
    </p:spTree>
    <p:extLst>
      <p:ext uri="{BB962C8B-B14F-4D97-AF65-F5344CB8AC3E}">
        <p14:creationId xmlns:p14="http://schemas.microsoft.com/office/powerpoint/2010/main" val="265665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2585</Words>
  <Application>Microsoft Office PowerPoint</Application>
  <PresentationFormat>Bildschirmpräsentation (4:3)</PresentationFormat>
  <Paragraphs>310</Paragraphs>
  <Slides>35</Slides>
  <Notes>0</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35</vt:i4>
      </vt:variant>
    </vt:vector>
  </HeadingPairs>
  <TitlesOfParts>
    <vt:vector size="44" baseType="lpstr">
      <vt:lpstr>Arial</vt:lpstr>
      <vt:lpstr>Calibri</vt:lpstr>
      <vt:lpstr>DejaVu Sans</vt:lpstr>
      <vt:lpstr>Symbol</vt:lpstr>
      <vt:lpstr>Times</vt:lpstr>
      <vt:lpstr>Times New Roman</vt:lpstr>
      <vt:lpstr>Verdana</vt:lpstr>
      <vt:lpstr>Wingdings</vt:lpstr>
      <vt:lpstr>Office Theme</vt:lpstr>
      <vt:lpstr>PowerPoint-Präsentation</vt:lpstr>
      <vt:lpstr>PowerPoint-Präsentation</vt:lpstr>
      <vt:lpstr>VECTO 3rd Amendment Development Version  03.11.2023</vt:lpstr>
      <vt:lpstr>PowerPoint-Präsentation</vt:lpstr>
      <vt:lpstr> First VECTO beta release for the 3rd Amendment   H2 Internal Combustion Engines  </vt:lpstr>
      <vt:lpstr>H2 ICE</vt:lpstr>
      <vt:lpstr> First VECTO beta release for the 3rd Amendment   Fuel Cell Hybrid Vehicles (FCHV) </vt:lpstr>
      <vt:lpstr>Fuel cell hybrid vehicles (FCHV) – Op. strategy (1/5)</vt:lpstr>
      <vt:lpstr>Fuel cell hybrid vehicles (FCHV) – Op. strategy (2/5)</vt:lpstr>
      <vt:lpstr>Fuel cell hybrid vehicles (FCHV) – Op. strategy (3/5)</vt:lpstr>
      <vt:lpstr>Fuel cell hybrid vehicles (FCHV) – Op. strategy (4/5)</vt:lpstr>
      <vt:lpstr>Fuel cell hybrid vehicles (FCHV) – Op. strategy (5/5)</vt:lpstr>
      <vt:lpstr>Fuel cell hybrid vehicles (FCHV) – VECTO features (1/5)</vt:lpstr>
      <vt:lpstr>Fuel cell hybrid vehicles (FCHV) – VECTO features (2/5)</vt:lpstr>
      <vt:lpstr>Fuel cell hybrid vehicles (FCHV) – VECTO features (3/5)</vt:lpstr>
      <vt:lpstr>Fuel cell hybrid vehicles (FCHV) – VECTO features (4/5)</vt:lpstr>
      <vt:lpstr>Fuel cell hybrid vehicles (FCHV) – VECTO features (5/5)</vt:lpstr>
      <vt:lpstr>FCHV – Examples for generic operation strategy (1/5)</vt:lpstr>
      <vt:lpstr>FCHV – Examples for generic operation strategy (2/5)</vt:lpstr>
      <vt:lpstr>FCHV – Examples for generic operation strategy (3/5)</vt:lpstr>
      <vt:lpstr>FCHV – Examples for generic operation strategy (4/5)</vt:lpstr>
      <vt:lpstr>FCHV – Examples for generic operation strategy (5/5)</vt:lpstr>
      <vt:lpstr>Fuel cell hybrid vehicles (FCHV)  - Comments</vt:lpstr>
      <vt:lpstr> First VECTO beta release for the 3rd Amendment   Vehicles with In-Motion Charging Features </vt:lpstr>
      <vt:lpstr>Vehicles with In-Motion Charging (IMC) features (1/11)</vt:lpstr>
      <vt:lpstr>Vehicles with In-Motion Charging (IMC) features (2/11)</vt:lpstr>
      <vt:lpstr>Vehicles with In-Motion Charging (IMC) features (3/11)</vt:lpstr>
      <vt:lpstr>Vehicles with In-Motion Charging (IMC) features (4/11)</vt:lpstr>
      <vt:lpstr>Vehicles with In-Motion Charging (IMC) features (5/11)</vt:lpstr>
      <vt:lpstr>Vehicles with In-Motion Charging (IMC) features (6/11)</vt:lpstr>
      <vt:lpstr>Vehicles with In-Motion Charging (IMC) features (7/11)</vt:lpstr>
      <vt:lpstr>Vehicles with In-Motion Charging (IMC) features (8/11)</vt:lpstr>
      <vt:lpstr>Vehicles with In-Motion Charging (IMC) features (9/11)</vt:lpstr>
      <vt:lpstr>Vehicles with In-Motion Charging (IMC) features (10/11)</vt:lpstr>
      <vt:lpstr>Vehicles with In-Motion Charging (IMC) features (11/11)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subject/>
  <dc:creator>martinrexeis</dc:creator>
  <dc:description/>
  <cp:lastModifiedBy>Martini Harald</cp:lastModifiedBy>
  <cp:revision>1364</cp:revision>
  <cp:lastPrinted>2013-01-22T12:03:30Z</cp:lastPrinted>
  <dcterms:created xsi:type="dcterms:W3CDTF">2010-01-07T15:28:02Z</dcterms:created>
  <dcterms:modified xsi:type="dcterms:W3CDTF">2023-11-03T08:08:33Z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Bildschirmpräsentation (4:3)</vt:lpwstr>
  </property>
  <property fmtid="{D5CDD505-2E9C-101B-9397-08002B2CF9AE}" pid="3" name="Slides">
    <vt:i4>113</vt:i4>
  </property>
</Properties>
</file>